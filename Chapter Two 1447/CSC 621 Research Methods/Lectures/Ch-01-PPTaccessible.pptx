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2"/>
  </p:notesMasterIdLst>
  <p:handoutMasterIdLst>
    <p:handoutMasterId r:id="rId33"/>
  </p:handoutMasterIdLst>
  <p:sldIdLst>
    <p:sldId id="335" r:id="rId3"/>
    <p:sldId id="307" r:id="rId4"/>
    <p:sldId id="308" r:id="rId5"/>
    <p:sldId id="336"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pos="272" userDrawn="1">
          <p15:clr>
            <a:srgbClr val="A4A3A4"/>
          </p15:clr>
        </p15:guide>
        <p15:guide id="5" pos="5488" userDrawn="1">
          <p15:clr>
            <a:srgbClr val="A4A3A4"/>
          </p15:clr>
        </p15:guide>
        <p15:guide id="6" orient="horz" pos="4088" userDrawn="1">
          <p15:clr>
            <a:srgbClr val="A4A3A4"/>
          </p15:clr>
        </p15:guide>
        <p15:guide id="7" orient="horz" pos="799" userDrawn="1">
          <p15:clr>
            <a:srgbClr val="A4A3A4"/>
          </p15:clr>
        </p15:guide>
        <p15:guide id="10"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76023" autoAdjust="0"/>
  </p:normalViewPr>
  <p:slideViewPr>
    <p:cSldViewPr snapToGrid="0" snapToObjects="1">
      <p:cViewPr varScale="1">
        <p:scale>
          <a:sx n="83" d="100"/>
          <a:sy n="83" d="100"/>
        </p:scale>
        <p:origin x="2238" y="90"/>
      </p:cViewPr>
      <p:guideLst>
        <p:guide orient="horz" pos="2160"/>
        <p:guide pos="2880"/>
        <p:guide pos="272"/>
        <p:guide pos="5488"/>
        <p:guide orient="horz" pos="4088"/>
        <p:guide orient="horz" pos="799"/>
        <p:guide orient="horz" pos="482"/>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1.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11/8/2021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details of the diagram are as follows: the center of the diagram reads research is a cyclical process. The seven steps of the process are as follows: step 1, the researcher begins with a problem, an unanswered question, related to a topic of interest and concern; step 2, the researcher clearly and specifically articulates the goal of the research endeavor; step 3, the researcher often divides the principal problem into more manageable sub-problems; step 4, the researcher identified assumptions, and possible also hypotheses, that underlie the research effort; step 5, the researcher develops a specific plan for addressing the problem and its sub-problems; step 6, the researcher collects, organizes, and analyses data related to the problem and its sub-problems; and step 7, the researcher interprets the meaning of the data as they relate to the problem and its sub-problem.</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93223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2070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24247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9784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703A8090-3141-40F8-8CFF-D98CD0548A3A}"/>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4583"/>
            <a:ext cx="8272252" cy="1144347"/>
          </a:xfrm>
        </p:spPr>
        <p:txBody>
          <a:bodyPr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66705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0805" y="2218522"/>
            <a:ext cx="3247505" cy="4051069"/>
          </a:xfrm>
          <a:prstGeom prst="rect">
            <a:avLst/>
          </a:prstGeom>
        </p:spPr>
      </p:pic>
      <p:sp>
        <p:nvSpPr>
          <p:cNvPr id="4" name="Text Placeholder 3"/>
          <p:cNvSpPr>
            <a:spLocks noGrp="1"/>
          </p:cNvSpPr>
          <p:nvPr>
            <p:ph type="body" idx="2"/>
          </p:nvPr>
        </p:nvSpPr>
        <p:spPr>
          <a:xfrm>
            <a:off x="4580630" y="2871974"/>
            <a:ext cx="1777038"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1</a:t>
            </a:r>
          </a:p>
        </p:txBody>
      </p:sp>
      <p:sp>
        <p:nvSpPr>
          <p:cNvPr id="5" name="Text Placeholder 4"/>
          <p:cNvSpPr>
            <a:spLocks noGrp="1"/>
          </p:cNvSpPr>
          <p:nvPr>
            <p:ph type="body" idx="3"/>
          </p:nvPr>
        </p:nvSpPr>
        <p:spPr>
          <a:xfrm>
            <a:off x="4580628" y="3668904"/>
            <a:ext cx="4131571" cy="713460"/>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The Nature and Tools of Research</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652" y="301888"/>
            <a:ext cx="8275548" cy="590349"/>
          </a:xfrm>
        </p:spPr>
        <p:txBody>
          <a:bodyPr wrap="square" lIns="0" tIns="18000" rIns="0" bIns="18000" anchor="t" anchorCtr="0">
            <a:spAutoFit/>
          </a:bodyPr>
          <a:lstStyle/>
          <a:p>
            <a:pPr lvl="0">
              <a:spcBef>
                <a:spcPct val="0"/>
              </a:spcBef>
              <a:buClrTx/>
            </a:pPr>
            <a:r>
              <a:rPr lang="en-US" sz="3600" kern="1200" dirty="0">
                <a:latin typeface="Arial (Headings)"/>
                <a:ea typeface="+mj-ea"/>
                <a:cs typeface="Times New Roman" panose="02020603050405020304" pitchFamily="18" charset="0"/>
              </a:rPr>
              <a:t>Research is </a:t>
            </a:r>
            <a:r>
              <a:rPr lang="en-US" sz="2800" kern="1200" dirty="0">
                <a:latin typeface="Arial (Headings)"/>
                <a:ea typeface="+mj-ea"/>
                <a:cs typeface="Times New Roman" panose="02020603050405020304" pitchFamily="18" charset="0"/>
              </a:rPr>
              <a:t>(1 of 2)</a:t>
            </a:r>
          </a:p>
        </p:txBody>
      </p:sp>
      <p:sp>
        <p:nvSpPr>
          <p:cNvPr id="3" name="Text Placeholder 2"/>
          <p:cNvSpPr>
            <a:spLocks noGrp="1"/>
          </p:cNvSpPr>
          <p:nvPr>
            <p:ph type="body" idx="1"/>
          </p:nvPr>
        </p:nvSpPr>
        <p:spPr>
          <a:xfrm>
            <a:off x="431800" y="1274621"/>
            <a:ext cx="8280400" cy="3044867"/>
          </a:xfrm>
        </p:spPr>
        <p:txBody>
          <a:bodyPr wrap="square" lIns="0" tIns="18000" rIns="0" bIns="18000">
            <a:spAutoFit/>
          </a:bodyPr>
          <a:lstStyle/>
          <a:p>
            <a:pPr marL="254203" indent="-256032">
              <a:spcAft>
                <a:spcPct val="0"/>
              </a:spcAft>
              <a:buSzPts val="2400"/>
            </a:pPr>
            <a:r>
              <a:rPr lang="en-US" sz="2400" kern="1200" dirty="0">
                <a:solidFill>
                  <a:srgbClr val="000000"/>
                </a:solidFill>
                <a:latin typeface="Arial" panose="020B0604020202020204" pitchFamily="34" charset="0"/>
                <a:cs typeface="Arial" panose="020B0604020202020204" pitchFamily="34" charset="0"/>
              </a:rPr>
              <a:t>NOT merely:</a:t>
            </a:r>
            <a:endParaRPr lang="en-US" altLang="en-US" sz="2400" kern="1200" dirty="0">
              <a:solidFill>
                <a:srgbClr val="000000"/>
              </a:solidFill>
              <a:latin typeface="Arial" panose="020B0604020202020204" pitchFamily="34" charset="0"/>
              <a:cs typeface="Arial" panose="020B0604020202020204" pitchFamily="34" charset="0"/>
            </a:endParaRP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gathering information.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rummaging around for hard-to-locate information.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transporting facts from one location to another.</a:t>
            </a:r>
          </a:p>
          <a:p>
            <a:pPr marL="254203"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“Research” is a word that is used loosely in everyday conversation and therefore must be defined clearly for professional use.</a:t>
            </a:r>
          </a:p>
        </p:txBody>
      </p:sp>
    </p:spTree>
    <p:extLst>
      <p:ext uri="{BB962C8B-B14F-4D97-AF65-F5344CB8AC3E}">
        <p14:creationId xmlns:p14="http://schemas.microsoft.com/office/powerpoint/2010/main" val="163974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652" y="301896"/>
            <a:ext cx="8275548" cy="590349"/>
          </a:xfrm>
        </p:spPr>
        <p:txBody>
          <a:bodyPr wrap="square" lIns="0" tIns="18000" rIns="0" bIns="18000" anchor="t" anchorCtr="0">
            <a:spAutoFit/>
          </a:bodyPr>
          <a:lstStyle/>
          <a:p>
            <a:pPr lvl="0">
              <a:spcBef>
                <a:spcPct val="0"/>
              </a:spcBef>
              <a:buClrTx/>
            </a:pPr>
            <a:r>
              <a:rPr lang="en-US" sz="3600" kern="1200" dirty="0">
                <a:ea typeface="+mj-ea"/>
                <a:cs typeface="Times New Roman" panose="02020603050405020304" pitchFamily="18" charset="0"/>
              </a:rPr>
              <a:t>Research is </a:t>
            </a:r>
            <a:r>
              <a:rPr lang="en-US" sz="28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57200" y="1284893"/>
            <a:ext cx="8229600" cy="3606560"/>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 systematic process of</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Collecting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Analyzing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Interpreting information (data)</a:t>
            </a:r>
          </a:p>
          <a:p>
            <a:pPr marL="255651" lvl="0" indent="-255651">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Goal: increase our understanding of a phenomenon about which we are interested or concerned</a:t>
            </a:r>
          </a:p>
          <a:p>
            <a:pPr marL="255651" lvl="0" indent="-255651">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Our focus is on </a:t>
            </a:r>
            <a:r>
              <a:rPr lang="en-US" altLang="en-US" sz="2400" b="1" kern="1200" dirty="0">
                <a:solidFill>
                  <a:srgbClr val="000000"/>
                </a:solidFill>
                <a:latin typeface="Arial" panose="020B0604020202020204" pitchFamily="34" charset="0"/>
                <a:cs typeface="Arial" panose="020B0604020202020204" pitchFamily="34" charset="0"/>
              </a:rPr>
              <a:t>formal research</a:t>
            </a:r>
            <a:r>
              <a:rPr lang="en-US" altLang="en-US" sz="2400" kern="1200" dirty="0">
                <a:solidFill>
                  <a:srgbClr val="000000"/>
                </a:solidFill>
                <a:latin typeface="Arial" panose="020B0604020202020204" pitchFamily="34" charset="0"/>
                <a:cs typeface="Arial" panose="020B0604020202020204" pitchFamily="34" charset="0"/>
              </a:rPr>
              <a:t>, or research intended to be communicated to a scientific community</a:t>
            </a:r>
          </a:p>
        </p:txBody>
      </p:sp>
    </p:spTree>
    <p:extLst>
      <p:ext uri="{BB962C8B-B14F-4D97-AF65-F5344CB8AC3E}">
        <p14:creationId xmlns:p14="http://schemas.microsoft.com/office/powerpoint/2010/main" val="1295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652" y="302400"/>
            <a:ext cx="8275548"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Research is a Cyclical Process</a:t>
            </a:r>
          </a:p>
        </p:txBody>
      </p:sp>
      <p:pic>
        <p:nvPicPr>
          <p:cNvPr id="7" name="Picture Placeholder 6" descr="A diagram shows the seven steps in the research process.&#10;Long description is available in notes, press F6.">
            <a:extLst>
              <a:ext uri="{FF2B5EF4-FFF2-40B4-BE49-F238E27FC236}">
                <a16:creationId xmlns:a16="http://schemas.microsoft.com/office/drawing/2014/main" id="{97FA419E-9698-4DB9-8204-F807205C6117}"/>
              </a:ext>
            </a:extLst>
          </p:cNvPr>
          <p:cNvPicPr>
            <a:picLocks noGrp="1" noChangeAspect="1"/>
          </p:cNvPicPr>
          <p:nvPr>
            <p:ph type="pic" sz="quarter" idx="11"/>
          </p:nvPr>
        </p:nvPicPr>
        <p:blipFill>
          <a:blip r:embed="rId3"/>
          <a:stretch>
            <a:fillRect/>
          </a:stretch>
        </p:blipFill>
        <p:spPr>
          <a:xfrm>
            <a:off x="2065606" y="1275774"/>
            <a:ext cx="5029200" cy="5038725"/>
          </a:xfrm>
          <a:prstGeom prst="rect">
            <a:avLst/>
          </a:prstGeom>
        </p:spPr>
      </p:pic>
    </p:spTree>
    <p:extLst>
      <p:ext uri="{BB962C8B-B14F-4D97-AF65-F5344CB8AC3E}">
        <p14:creationId xmlns:p14="http://schemas.microsoft.com/office/powerpoint/2010/main" val="149860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9"/>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Iterative Steps</a:t>
            </a:r>
          </a:p>
        </p:txBody>
      </p:sp>
      <p:sp>
        <p:nvSpPr>
          <p:cNvPr id="3" name="Text Placeholder 2"/>
          <p:cNvSpPr>
            <a:spLocks noGrp="1"/>
          </p:cNvSpPr>
          <p:nvPr>
            <p:ph type="body" idx="1"/>
          </p:nvPr>
        </p:nvSpPr>
        <p:spPr>
          <a:xfrm>
            <a:off x="457200" y="1284887"/>
            <a:ext cx="8229600" cy="4293453"/>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Identify a question or problem (unanswered question)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Articulate a goal</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Divide the principal problem into more manageable subproblems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Identify hypotheses and assumptions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Develop a specific plan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Collect, organize, and analyze data</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Interpret the data as they relate to the problem</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37126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6"/>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Assumption</a:t>
            </a:r>
          </a:p>
        </p:txBody>
      </p:sp>
      <p:sp>
        <p:nvSpPr>
          <p:cNvPr id="3" name="Text Placeholder 2"/>
          <p:cNvSpPr>
            <a:spLocks noGrp="1"/>
          </p:cNvSpPr>
          <p:nvPr>
            <p:ph type="body" idx="1"/>
          </p:nvPr>
        </p:nvSpPr>
        <p:spPr>
          <a:xfrm>
            <a:off x="457200" y="1284893"/>
            <a:ext cx="8229600" cy="2967923"/>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An assumption is: Condition that is taken for granted.</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Two general assumptions that underlie most research projects: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phenomenon under investigation is somewhat lawful and predictable.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Cause-and-effect relationships can account for certain patterns observed in the phenomenon.</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4820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3"/>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Hypothesis </a:t>
            </a:r>
            <a:r>
              <a:rPr lang="en-US" altLang="en-US" sz="2800" kern="1200" dirty="0">
                <a:ea typeface="+mj-ea"/>
                <a:cs typeface="Times New Roman" panose="02020603050405020304" pitchFamily="18" charset="0"/>
              </a:rPr>
              <a:t>(1 of 2)</a:t>
            </a:r>
            <a:endParaRPr lang="en-US" sz="28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4124176"/>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 hypothesis is: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 logical supposition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 reasonable guess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An educated conjecture</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Provides a tentative explanation for a phenomenon under investigation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May direct thinking to possible sources of information necessary to resolve the research problem and its subproblems</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78667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6"/>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Hypothesis </a:t>
            </a:r>
            <a:r>
              <a:rPr lang="en-US" altLang="en-US" sz="2800" kern="1200" dirty="0">
                <a:ea typeface="+mj-ea"/>
                <a:cs typeface="Times New Roman" panose="02020603050405020304" pitchFamily="18" charset="0"/>
              </a:rPr>
              <a:t>(2 of 2)</a:t>
            </a:r>
            <a:endParaRPr lang="en-US" sz="28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1284898"/>
            <a:ext cx="8229600" cy="2075371"/>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Hypotheses are not unique to research. Just imagine any time you’ve made a “guess” about the cause of some phenomenon.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Hypotheses that are proposed prior to any data collection are called a </a:t>
            </a:r>
            <a:r>
              <a:rPr lang="en-US" altLang="en-US" sz="2400" b="1" kern="1200" dirty="0">
                <a:solidFill>
                  <a:srgbClr val="000000"/>
                </a:solidFill>
                <a:latin typeface="Arial" panose="020B0604020202020204" pitchFamily="34" charset="0"/>
                <a:ea typeface="+mn-ea"/>
                <a:cs typeface="Arial" panose="020B0604020202020204" pitchFamily="34" charset="0"/>
              </a:rPr>
              <a:t>priori </a:t>
            </a:r>
            <a:r>
              <a:rPr lang="en-US" altLang="en-US" sz="2400" kern="1200" dirty="0">
                <a:solidFill>
                  <a:srgbClr val="000000"/>
                </a:solidFill>
                <a:latin typeface="Arial" panose="020B0604020202020204" pitchFamily="34" charset="0"/>
                <a:ea typeface="+mn-ea"/>
                <a:cs typeface="Arial" panose="020B0604020202020204" pitchFamily="34" charset="0"/>
              </a:rPr>
              <a:t>hypotheses.</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1521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4"/>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Types of Research</a:t>
            </a:r>
          </a:p>
        </p:txBody>
      </p:sp>
      <p:sp>
        <p:nvSpPr>
          <p:cNvPr id="11" name="Text Placeholder 10"/>
          <p:cNvSpPr>
            <a:spLocks noGrp="1"/>
          </p:cNvSpPr>
          <p:nvPr>
            <p:ph type="body" idx="1"/>
          </p:nvPr>
        </p:nvSpPr>
        <p:spPr>
          <a:xfrm>
            <a:off x="457200" y="1284896"/>
            <a:ext cx="8229600" cy="4983860"/>
          </a:xfrm>
        </p:spPr>
        <p:txBody>
          <a:bodyPr lIns="0" tIns="18000" rIns="0" bIns="18000">
            <a:spAutoFit/>
          </a:bodyPr>
          <a:lstStyle/>
          <a:p>
            <a:r>
              <a:rPr lang="en-US" sz="2400" dirty="0">
                <a:latin typeface="Arial" panose="020B0604020202020204" pitchFamily="34" charset="0"/>
                <a:cs typeface="Arial" panose="020B0604020202020204" pitchFamily="34" charset="0"/>
              </a:rPr>
              <a:t>Quantitative Research</a:t>
            </a:r>
          </a:p>
          <a:p>
            <a:pPr lvl="1"/>
            <a:r>
              <a:rPr lang="en-US" sz="2400" dirty="0">
                <a:latin typeface="Arial" panose="020B0604020202020204" pitchFamily="34" charset="0"/>
                <a:cs typeface="Arial" panose="020B0604020202020204" pitchFamily="34" charset="0"/>
              </a:rPr>
              <a:t>Involves looking at amounts, or quantities, of one or more variables of interest</a:t>
            </a:r>
          </a:p>
          <a:p>
            <a:r>
              <a:rPr lang="en-US" sz="2400" dirty="0">
                <a:latin typeface="Arial" panose="020B0604020202020204" pitchFamily="34" charset="0"/>
                <a:cs typeface="Arial" panose="020B0604020202020204" pitchFamily="34" charset="0"/>
              </a:rPr>
              <a:t>Qualitative Research</a:t>
            </a:r>
          </a:p>
          <a:p>
            <a:pPr lvl="1"/>
            <a:r>
              <a:rPr lang="en-US" sz="2400" dirty="0">
                <a:latin typeface="Arial" panose="020B0604020202020204" pitchFamily="34" charset="0"/>
                <a:cs typeface="Arial" panose="020B0604020202020204" pitchFamily="34" charset="0"/>
              </a:rPr>
              <a:t>Involves looking at characteristics, or qualities, that cannot be entirely reduced to numerical values</a:t>
            </a:r>
          </a:p>
          <a:p>
            <a:r>
              <a:rPr lang="en-US" sz="2400" dirty="0">
                <a:latin typeface="Arial" panose="020B0604020202020204" pitchFamily="34" charset="0"/>
                <a:cs typeface="Arial" panose="020B0604020202020204" pitchFamily="34" charset="0"/>
              </a:rPr>
              <a:t>Mixed Method Research</a:t>
            </a:r>
          </a:p>
          <a:p>
            <a:pPr lvl="1"/>
            <a:r>
              <a:rPr lang="en-US" sz="2400" dirty="0">
                <a:latin typeface="Arial" panose="020B0604020202020204" pitchFamily="34" charset="0"/>
                <a:cs typeface="Arial" panose="020B0604020202020204" pitchFamily="34" charset="0"/>
              </a:rPr>
              <a:t>Uses a combination of quantitative and qualitative methods</a:t>
            </a:r>
          </a:p>
          <a:p>
            <a:r>
              <a:rPr lang="en-US" sz="2400" dirty="0">
                <a:latin typeface="Arial" panose="020B0604020202020204" pitchFamily="34" charset="0"/>
                <a:cs typeface="Arial" panose="020B0604020202020204" pitchFamily="34" charset="0"/>
              </a:rPr>
              <a:t>Action Research</a:t>
            </a:r>
          </a:p>
          <a:p>
            <a:pPr lvl="1"/>
            <a:r>
              <a:rPr lang="en-US" sz="2400" dirty="0">
                <a:latin typeface="Arial" panose="020B0604020202020204" pitchFamily="34" charset="0"/>
                <a:cs typeface="Arial" panose="020B0604020202020204" pitchFamily="34" charset="0"/>
              </a:rPr>
              <a:t>Focused on outcomes for the practitioner</a:t>
            </a:r>
          </a:p>
        </p:txBody>
      </p:sp>
    </p:spTree>
    <p:extLst>
      <p:ext uri="{BB962C8B-B14F-4D97-AF65-F5344CB8AC3E}">
        <p14:creationId xmlns:p14="http://schemas.microsoft.com/office/powerpoint/2010/main" val="936683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4"/>
            <a:ext cx="8229600" cy="1144347"/>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Philosophical Orientations Toward Research </a:t>
            </a:r>
            <a:r>
              <a:rPr lang="en-US" altLang="en-US" sz="2800" kern="1200" dirty="0">
                <a:ea typeface="+mj-ea"/>
                <a:cs typeface="Times New Roman" panose="02020603050405020304" pitchFamily="18" charset="0"/>
              </a:rPr>
              <a:t>(1 of 3)</a:t>
            </a:r>
          </a:p>
        </p:txBody>
      </p:sp>
      <p:sp>
        <p:nvSpPr>
          <p:cNvPr id="3" name="Text Placeholder 2"/>
          <p:cNvSpPr>
            <a:spLocks noGrp="1"/>
          </p:cNvSpPr>
          <p:nvPr>
            <p:ph type="body" idx="1"/>
          </p:nvPr>
        </p:nvSpPr>
        <p:spPr>
          <a:xfrm>
            <a:off x="457200" y="1852446"/>
            <a:ext cx="8229600" cy="3337255"/>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Positivism</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with appropriate measurement tools, scientists can objectively uncover absolute, undeniable truths about cause-and-effect relationships within the physical world and human experience.</a:t>
            </a:r>
          </a:p>
          <a:p>
            <a:pPr marL="255651" lvl="0" indent="-255651">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Postpositivism</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true objectivity in seeking absolute truths can be an elusive goal and researchers bring biases to their work.</a:t>
            </a:r>
          </a:p>
        </p:txBody>
      </p:sp>
    </p:spTree>
    <p:extLst>
      <p:ext uri="{BB962C8B-B14F-4D97-AF65-F5344CB8AC3E}">
        <p14:creationId xmlns:p14="http://schemas.microsoft.com/office/powerpoint/2010/main" val="3065515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3"/>
            <a:ext cx="8229600" cy="1144347"/>
          </a:xfrm>
        </p:spPr>
        <p:txBody>
          <a:bodyPr lIns="0" tIns="18000" rIns="0" bIns="18000">
            <a:spAutoFit/>
          </a:bodyPr>
          <a:lstStyle/>
          <a:p>
            <a:pPr lvl="0">
              <a:spcBef>
                <a:spcPct val="0"/>
              </a:spcBef>
              <a:buClrTx/>
            </a:pPr>
            <a:r>
              <a:rPr lang="en-US" altLang="en-US" sz="3600" kern="1200" dirty="0">
                <a:cs typeface="Times New Roman" panose="02020603050405020304" pitchFamily="18" charset="0"/>
              </a:rPr>
              <a:t>Philosophical Orientations Toward Research </a:t>
            </a:r>
            <a:r>
              <a:rPr lang="en-US" altLang="en-US" sz="2800" kern="1200" dirty="0">
                <a:cs typeface="Times New Roman" panose="02020603050405020304" pitchFamily="18" charset="0"/>
              </a:rPr>
              <a:t>(2 of 3)</a:t>
            </a:r>
            <a:endParaRPr lang="en-US" altLang="en-US" sz="28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1862955"/>
            <a:ext cx="8229600" cy="296792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Constructivism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no absolute truth — the “realities” researchers identify are simply human-created perceptions and interpretations.</a:t>
            </a:r>
          </a:p>
          <a:p>
            <a:pPr marL="255651" lvl="0" indent="-255651">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Phenomenology</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focus is entirely on how human beings </a:t>
            </a:r>
            <a:r>
              <a:rPr lang="en-US" sz="2400" b="1" kern="1200" dirty="0">
                <a:solidFill>
                  <a:srgbClr val="000000"/>
                </a:solidFill>
                <a:latin typeface="Arial" panose="020B0604020202020204" pitchFamily="34" charset="0"/>
                <a:cs typeface="Arial" panose="020B0604020202020204" pitchFamily="34" charset="0"/>
              </a:rPr>
              <a:t>experience </a:t>
            </a:r>
            <a:r>
              <a:rPr lang="en-US" sz="2400" kern="1200" dirty="0">
                <a:solidFill>
                  <a:srgbClr val="000000"/>
                </a:solidFill>
                <a:latin typeface="Arial" panose="020B0604020202020204" pitchFamily="34" charset="0"/>
                <a:cs typeface="Arial" panose="020B0604020202020204" pitchFamily="34" charset="0"/>
              </a:rPr>
              <a:t>themselves and their world as they go through life.</a:t>
            </a:r>
          </a:p>
        </p:txBody>
      </p:sp>
    </p:spTree>
    <p:extLst>
      <p:ext uri="{BB962C8B-B14F-4D97-AF65-F5344CB8AC3E}">
        <p14:creationId xmlns:p14="http://schemas.microsoft.com/office/powerpoint/2010/main" val="125744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5"/>
            <a:ext cx="8229600" cy="1144347"/>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Philosophical Orientations Toward Research </a:t>
            </a:r>
            <a:r>
              <a:rPr lang="en-US" altLang="en-US" sz="2800" kern="1200" dirty="0">
                <a:ea typeface="+mj-ea"/>
                <a:cs typeface="Times New Roman" panose="02020603050405020304" pitchFamily="18" charset="0"/>
              </a:rPr>
              <a:t>(3 of 3)</a:t>
            </a:r>
          </a:p>
        </p:txBody>
      </p:sp>
      <p:sp>
        <p:nvSpPr>
          <p:cNvPr id="3" name="Text Placeholder 2"/>
          <p:cNvSpPr>
            <a:spLocks noGrp="1"/>
          </p:cNvSpPr>
          <p:nvPr>
            <p:ph type="body" idx="1"/>
          </p:nvPr>
        </p:nvSpPr>
        <p:spPr>
          <a:xfrm>
            <a:off x="457200" y="1862955"/>
            <a:ext cx="8229600" cy="240623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Pragmatism/realism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absolute truths may actually exist—even if they are exceedingly difficult to discover.</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human beings’ self-constructed beliefs about phenomena are legitimate objects of study in their own right.</a:t>
            </a:r>
            <a:endParaRPr lang="en-US" alt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09315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1"/>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Tools of Research</a:t>
            </a:r>
          </a:p>
        </p:txBody>
      </p:sp>
      <p:sp>
        <p:nvSpPr>
          <p:cNvPr id="3" name="Text Placeholder 2"/>
          <p:cNvSpPr>
            <a:spLocks noGrp="1"/>
          </p:cNvSpPr>
          <p:nvPr>
            <p:ph type="body" idx="1"/>
          </p:nvPr>
        </p:nvSpPr>
        <p:spPr>
          <a:xfrm>
            <a:off x="457200" y="1284892"/>
            <a:ext cx="8229600" cy="4136366"/>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Specific mechanisms or strategies used to collect, manipulate, or interpret data</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library and its resources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Computer technology</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Measurement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Statistics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Language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human mind</a:t>
            </a:r>
          </a:p>
          <a:p>
            <a:pPr marL="254203" indent="-256032">
              <a:spcAft>
                <a:spcPct val="0"/>
              </a:spcAft>
              <a:buSzPts val="2400"/>
            </a:pPr>
            <a:r>
              <a:rPr lang="en-US" sz="2400" kern="1200" dirty="0">
                <a:solidFill>
                  <a:srgbClr val="000000"/>
                </a:solidFill>
                <a:latin typeface="Arial" panose="020B0604020202020204" pitchFamily="34" charset="0"/>
                <a:cs typeface="Arial" panose="020B0604020202020204" pitchFamily="34" charset="0"/>
              </a:rPr>
              <a:t>Methodology dictates the tools the researcher selects</a:t>
            </a:r>
          </a:p>
        </p:txBody>
      </p:sp>
    </p:spTree>
    <p:extLst>
      <p:ext uri="{BB962C8B-B14F-4D97-AF65-F5344CB8AC3E}">
        <p14:creationId xmlns:p14="http://schemas.microsoft.com/office/powerpoint/2010/main" val="3085044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1"/>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Library and its Resources</a:t>
            </a:r>
          </a:p>
        </p:txBody>
      </p:sp>
      <p:sp>
        <p:nvSpPr>
          <p:cNvPr id="3" name="Text Placeholder 2"/>
          <p:cNvSpPr>
            <a:spLocks noGrp="1"/>
          </p:cNvSpPr>
          <p:nvPr>
            <p:ph type="body" idx="1"/>
          </p:nvPr>
        </p:nvSpPr>
        <p:spPr>
          <a:xfrm>
            <a:off x="457200" y="1284898"/>
            <a:ext cx="8229600" cy="2267732"/>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Access to books, microforms, C</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Ds, D</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Ds, online databases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Fast and efficient means of locating and accessing information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Access to library holdings around the world</a:t>
            </a:r>
          </a:p>
        </p:txBody>
      </p:sp>
    </p:spTree>
    <p:extLst>
      <p:ext uri="{BB962C8B-B14F-4D97-AF65-F5344CB8AC3E}">
        <p14:creationId xmlns:p14="http://schemas.microsoft.com/office/powerpoint/2010/main" val="326642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Computer Technology is Used for</a:t>
            </a:r>
          </a:p>
        </p:txBody>
      </p:sp>
      <p:sp>
        <p:nvSpPr>
          <p:cNvPr id="3" name="Text Placeholder 2"/>
          <p:cNvSpPr>
            <a:spLocks noGrp="1"/>
          </p:cNvSpPr>
          <p:nvPr>
            <p:ph type="body" idx="1"/>
          </p:nvPr>
        </p:nvSpPr>
        <p:spPr>
          <a:xfrm>
            <a:off x="457200" y="1284895"/>
            <a:ext cx="8229600" cy="4485813"/>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Generating and organizing ideas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Scheduling, structuring, and coordinating projects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Finding literature</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Networking with others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Storing and analyzing data</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Writing, editing, formatting</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Producing graphics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Presenting results</a:t>
            </a:r>
          </a:p>
        </p:txBody>
      </p:sp>
    </p:spTree>
    <p:extLst>
      <p:ext uri="{BB962C8B-B14F-4D97-AF65-F5344CB8AC3E}">
        <p14:creationId xmlns:p14="http://schemas.microsoft.com/office/powerpoint/2010/main" val="1637228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0"/>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Measurement</a:t>
            </a:r>
          </a:p>
        </p:txBody>
      </p:sp>
      <p:sp>
        <p:nvSpPr>
          <p:cNvPr id="3" name="Text Placeholder 2"/>
          <p:cNvSpPr>
            <a:spLocks noGrp="1"/>
          </p:cNvSpPr>
          <p:nvPr>
            <p:ph type="body" idx="1"/>
          </p:nvPr>
        </p:nvSpPr>
        <p:spPr>
          <a:xfrm>
            <a:off x="457200" y="1284896"/>
            <a:ext cx="8229600" cy="4322140"/>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Usually used in quantitative research</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More difficult for qualitative research</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Common instruments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Scales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Rulers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Stopwatches</a:t>
            </a:r>
          </a:p>
          <a:p>
            <a:pPr marL="255651" lvl="0" indent="-255651">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Specialized instruments</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Telescope</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t>
            </a:r>
            <a:r>
              <a:rPr lang="en-US" altLang="en-US" sz="100" kern="1200" dirty="0">
                <a:solidFill>
                  <a:srgbClr val="000000"/>
                </a:solidFill>
                <a:latin typeface="Arial" panose="020B0604020202020204" pitchFamily="34" charset="0"/>
                <a:cs typeface="Arial" panose="020B0604020202020204" pitchFamily="34" charset="0"/>
              </a:rPr>
              <a:t> </a:t>
            </a:r>
            <a:r>
              <a:rPr lang="en-US" altLang="en-US" sz="2400" kern="1200" dirty="0">
                <a:solidFill>
                  <a:srgbClr val="000000"/>
                </a:solidFill>
                <a:latin typeface="Arial" panose="020B0604020202020204" pitchFamily="34" charset="0"/>
                <a:cs typeface="Arial" panose="020B0604020202020204" pitchFamily="34" charset="0"/>
              </a:rPr>
              <a:t>R</a:t>
            </a:r>
            <a:r>
              <a:rPr lang="en-US" altLang="en-US" sz="100" kern="1200" dirty="0">
                <a:solidFill>
                  <a:srgbClr val="000000"/>
                </a:solidFill>
                <a:latin typeface="Arial" panose="020B0604020202020204" pitchFamily="34" charset="0"/>
                <a:cs typeface="Arial" panose="020B0604020202020204" pitchFamily="34" charset="0"/>
              </a:rPr>
              <a:t> </a:t>
            </a:r>
            <a:r>
              <a:rPr lang="en-US" altLang="en-US" sz="2400" kern="1200" dirty="0">
                <a:solidFill>
                  <a:srgbClr val="000000"/>
                </a:solidFill>
                <a:latin typeface="Arial" panose="020B0604020202020204" pitchFamily="34" charset="0"/>
                <a:cs typeface="Arial" panose="020B0604020202020204" pitchFamily="34" charset="0"/>
              </a:rPr>
              <a:t>I</a:t>
            </a:r>
            <a:endParaRPr lang="en-US" sz="24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0590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9"/>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Main Functions of Statistics</a:t>
            </a:r>
            <a:endParaRPr lang="en-US" sz="36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1284894"/>
            <a:ext cx="8229600" cy="2598591"/>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Describe the data</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Descriptive statistics summarize the general nature of the data obtained</a:t>
            </a:r>
          </a:p>
          <a:p>
            <a:pPr marL="255651" lvl="0" indent="-255651">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Draw inferences from the data</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Inferential statistics help the researcher make decisions about the data</a:t>
            </a:r>
            <a:endParaRPr lang="en-US" sz="24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162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Language as a Tool</a:t>
            </a:r>
          </a:p>
        </p:txBody>
      </p:sp>
      <p:sp>
        <p:nvSpPr>
          <p:cNvPr id="3" name="Text Placeholder 2"/>
          <p:cNvSpPr>
            <a:spLocks noGrp="1"/>
          </p:cNvSpPr>
          <p:nvPr>
            <p:ph type="body" idx="1"/>
          </p:nvPr>
        </p:nvSpPr>
        <p:spPr>
          <a:xfrm>
            <a:off x="457200" y="1284897"/>
            <a:ext cx="8229600" cy="2190788"/>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Allows us to communicate and think more effectively</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reduces complexity of the world</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allows abstraction of the environment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enhances the power of thought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facilitates generalizations and drawing inferences</a:t>
            </a:r>
          </a:p>
        </p:txBody>
      </p:sp>
    </p:spTree>
    <p:extLst>
      <p:ext uri="{BB962C8B-B14F-4D97-AF65-F5344CB8AC3E}">
        <p14:creationId xmlns:p14="http://schemas.microsoft.com/office/powerpoint/2010/main" val="247195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5"/>
            <a:ext cx="8229600" cy="1144347"/>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Communicating Effectively through Writing </a:t>
            </a:r>
            <a:r>
              <a:rPr lang="en-US" altLang="en-US" sz="2800" kern="1200" dirty="0">
                <a:ea typeface="+mj-ea"/>
                <a:cs typeface="Times New Roman" panose="02020603050405020304" pitchFamily="18" charset="0"/>
              </a:rPr>
              <a:t>(1 of 2)</a:t>
            </a:r>
          </a:p>
        </p:txBody>
      </p:sp>
      <p:sp>
        <p:nvSpPr>
          <p:cNvPr id="3" name="Text Placeholder 2"/>
          <p:cNvSpPr>
            <a:spLocks noGrp="1"/>
          </p:cNvSpPr>
          <p:nvPr>
            <p:ph type="body" idx="1"/>
          </p:nvPr>
        </p:nvSpPr>
        <p:spPr>
          <a:xfrm>
            <a:off x="457200" y="1989075"/>
            <a:ext cx="8229600" cy="3391116"/>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Be specific and precise: Say exactly what you mean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Keep your primary objective in mind at all times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Provide an overview of what you will be discussing</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Organize ideas into categories by using headings and subheadings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Use concrete examples to make abstract ideas more understandable</a:t>
            </a:r>
          </a:p>
        </p:txBody>
      </p:sp>
    </p:spTree>
    <p:extLst>
      <p:ext uri="{BB962C8B-B14F-4D97-AF65-F5344CB8AC3E}">
        <p14:creationId xmlns:p14="http://schemas.microsoft.com/office/powerpoint/2010/main" val="4090438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6"/>
            <a:ext cx="8229600" cy="1144347"/>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Communicating Effectively through Writing </a:t>
            </a:r>
            <a:r>
              <a:rPr lang="en-US" altLang="en-US" sz="28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57200" y="1968056"/>
            <a:ext cx="8229600" cy="3429588"/>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Use figures and tables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Regularly summarize what you’ve said</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Anticipate having to write multiple drafts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Check your final draft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Grammar</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Punctuation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Spelling</a:t>
            </a:r>
          </a:p>
        </p:txBody>
      </p:sp>
    </p:spTree>
    <p:extLst>
      <p:ext uri="{BB962C8B-B14F-4D97-AF65-F5344CB8AC3E}">
        <p14:creationId xmlns:p14="http://schemas.microsoft.com/office/powerpoint/2010/main" val="1797209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3"/>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Using the Tools in Word-Processing Software </a:t>
            </a:r>
            <a:r>
              <a:rPr lang="en-US" sz="2800" kern="1200" dirty="0">
                <a:ea typeface="+mj-ea"/>
                <a:cs typeface="Times New Roman" panose="02020603050405020304" pitchFamily="18" charset="0"/>
              </a:rPr>
              <a:t>(1 of 2)</a:t>
            </a:r>
          </a:p>
        </p:txBody>
      </p:sp>
      <p:sp>
        <p:nvSpPr>
          <p:cNvPr id="3" name="Text Placeholder 2"/>
          <p:cNvSpPr>
            <a:spLocks noGrp="1"/>
          </p:cNvSpPr>
          <p:nvPr>
            <p:ph type="body" idx="1"/>
          </p:nvPr>
        </p:nvSpPr>
        <p:spPr>
          <a:xfrm>
            <a:off x="457200" y="2041630"/>
            <a:ext cx="8229600" cy="404723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Beyond the basic tools of word-processing software, the following are also quite helpful:</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Outlining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Setting headers and footers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Creating tables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Inserting graphics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Creating footnotes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Using international alphabets and characters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Tracking changes</a:t>
            </a:r>
          </a:p>
        </p:txBody>
      </p:sp>
    </p:spTree>
    <p:extLst>
      <p:ext uri="{BB962C8B-B14F-4D97-AF65-F5344CB8AC3E}">
        <p14:creationId xmlns:p14="http://schemas.microsoft.com/office/powerpoint/2010/main" val="2633958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4"/>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Using the Tools in Word-Processing Software </a:t>
            </a:r>
            <a:r>
              <a:rPr lang="en-US" sz="28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57200" y="1999587"/>
            <a:ext cx="8229600" cy="248317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General recommendations for using a word-processor effectively: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Save and backup your document frequently.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Use spell checker and grammar checker but don’t rely on them exclusively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Print out a paper copy for final proofreading and editing</a:t>
            </a:r>
          </a:p>
        </p:txBody>
      </p:sp>
    </p:spTree>
    <p:extLst>
      <p:ext uri="{BB962C8B-B14F-4D97-AF65-F5344CB8AC3E}">
        <p14:creationId xmlns:p14="http://schemas.microsoft.com/office/powerpoint/2010/main" val="2347388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5"/>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The Human Mind </a:t>
            </a:r>
            <a:r>
              <a:rPr lang="en-US" sz="2800" kern="1200" dirty="0">
                <a:ea typeface="+mj-ea"/>
                <a:cs typeface="Times New Roman" panose="02020603050405020304" pitchFamily="18" charset="0"/>
              </a:rPr>
              <a:t>(1 of 5)</a:t>
            </a:r>
          </a:p>
        </p:txBody>
      </p:sp>
      <p:sp>
        <p:nvSpPr>
          <p:cNvPr id="3" name="Text Placeholder 2"/>
          <p:cNvSpPr>
            <a:spLocks noGrp="1"/>
          </p:cNvSpPr>
          <p:nvPr>
            <p:ph type="body" idx="1"/>
          </p:nvPr>
        </p:nvSpPr>
        <p:spPr>
          <a:xfrm>
            <a:off x="457200" y="1284891"/>
            <a:ext cx="8229600" cy="3314172"/>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The most important tool in the researcher’s toolbox</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Used for critical thinking</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Evaluates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Accuracy</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credibility</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worth of information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lines of reasoning</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16118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5"/>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The Human Mind </a:t>
            </a:r>
            <a:r>
              <a:rPr lang="en-US" sz="2800" kern="1200" dirty="0">
                <a:ea typeface="+mj-ea"/>
                <a:cs typeface="Times New Roman" panose="02020603050405020304" pitchFamily="18" charset="0"/>
              </a:rPr>
              <a:t>(2 of 5)</a:t>
            </a:r>
          </a:p>
        </p:txBody>
      </p:sp>
      <p:sp>
        <p:nvSpPr>
          <p:cNvPr id="3" name="Text Placeholder 2"/>
          <p:cNvSpPr>
            <a:spLocks noGrp="1"/>
          </p:cNvSpPr>
          <p:nvPr>
            <p:ph type="body" idx="1"/>
          </p:nvPr>
        </p:nvSpPr>
        <p:spPr>
          <a:xfrm>
            <a:off x="457200" y="1284895"/>
            <a:ext cx="8229600" cy="2637064"/>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Evaluation may take a variety of forms: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verbal reasoning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argument analysis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probabilistic reasoning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decision making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hypothesis testing</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48763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The Human Mind </a:t>
            </a:r>
            <a:r>
              <a:rPr lang="en-US" sz="2800" kern="1200" dirty="0">
                <a:ea typeface="+mj-ea"/>
                <a:cs typeface="Times New Roman" panose="02020603050405020304" pitchFamily="18" charset="0"/>
              </a:rPr>
              <a:t>(3 of 5)</a:t>
            </a:r>
          </a:p>
        </p:txBody>
      </p:sp>
      <p:sp>
        <p:nvSpPr>
          <p:cNvPr id="3" name="Text Placeholder 2"/>
          <p:cNvSpPr>
            <a:spLocks noGrp="1"/>
          </p:cNvSpPr>
          <p:nvPr>
            <p:ph type="body" idx="1"/>
          </p:nvPr>
        </p:nvSpPr>
        <p:spPr>
          <a:xfrm>
            <a:off x="457200" y="1284897"/>
            <a:ext cx="8229600" cy="4303949"/>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Deductive logic</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Begins with one or more premises, statements or assumptions that the researcher initially takes to be true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Valuable for generating research hypotheses and testing theories</a:t>
            </a:r>
          </a:p>
          <a:p>
            <a:pPr marL="256032" indent="-256032">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Inductive reasoning</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Begins with an observation (sample)</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Observation then used to draw conclusions about entire classes of objects or events (population)</a:t>
            </a:r>
            <a:endParaRPr lang="en-US" sz="24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5810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8"/>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The Human Mind </a:t>
            </a:r>
            <a:r>
              <a:rPr lang="en-US" sz="2800" kern="1200" dirty="0">
                <a:ea typeface="+mj-ea"/>
                <a:cs typeface="Times New Roman" panose="02020603050405020304" pitchFamily="18" charset="0"/>
              </a:rPr>
              <a:t>(4 of 5)</a:t>
            </a:r>
          </a:p>
        </p:txBody>
      </p:sp>
      <p:sp>
        <p:nvSpPr>
          <p:cNvPr id="3" name="Text Placeholder 2"/>
          <p:cNvSpPr>
            <a:spLocks noGrp="1"/>
          </p:cNvSpPr>
          <p:nvPr>
            <p:ph type="body" idx="1"/>
          </p:nvPr>
        </p:nvSpPr>
        <p:spPr>
          <a:xfrm>
            <a:off x="457200" y="1284894"/>
            <a:ext cx="8229600" cy="3198756"/>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Scientific method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Process of collecting &amp; analyzing data systematically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Involves thinking actively and intentionally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Yields hypotheses</a:t>
            </a:r>
          </a:p>
          <a:p>
            <a:pPr marL="255651" lvl="0" indent="-255651">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Theory Building</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An organized body of concepts and principles</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Intended to explain a particular phenomenon</a:t>
            </a:r>
          </a:p>
        </p:txBody>
      </p:sp>
    </p:spTree>
    <p:extLst>
      <p:ext uri="{BB962C8B-B14F-4D97-AF65-F5344CB8AC3E}">
        <p14:creationId xmlns:p14="http://schemas.microsoft.com/office/powerpoint/2010/main" val="2943549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6"/>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The Human Mind </a:t>
            </a:r>
            <a:r>
              <a:rPr lang="en-US" sz="2800" kern="1200" dirty="0">
                <a:ea typeface="+mj-ea"/>
                <a:cs typeface="Times New Roman" panose="02020603050405020304" pitchFamily="18" charset="0"/>
              </a:rPr>
              <a:t>(5 of 5)</a:t>
            </a:r>
          </a:p>
        </p:txBody>
      </p:sp>
      <p:sp>
        <p:nvSpPr>
          <p:cNvPr id="3" name="Text Placeholder 2"/>
          <p:cNvSpPr>
            <a:spLocks noGrp="1"/>
          </p:cNvSpPr>
          <p:nvPr>
            <p:ph type="body" idx="1"/>
          </p:nvPr>
        </p:nvSpPr>
        <p:spPr>
          <a:xfrm>
            <a:off x="457200" y="1284893"/>
            <a:ext cx="8229600" cy="2637064"/>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Collaboration with other minds</a:t>
            </a:r>
          </a:p>
          <a:p>
            <a:pPr marL="740664"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Increases variety of</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Perspectives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Backgrounds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Areas of expertise</a:t>
            </a:r>
          </a:p>
          <a:p>
            <a:pPr marL="740664" lvl="1">
              <a:spcAft>
                <a:spcPct val="0"/>
              </a:spcAft>
              <a:buSzPts val="2400"/>
            </a:pPr>
            <a:r>
              <a:rPr lang="en-US" sz="2400" kern="1200" dirty="0">
                <a:solidFill>
                  <a:srgbClr val="000000"/>
                </a:solidFill>
                <a:latin typeface="Arial" panose="020B0604020202020204" pitchFamily="34" charset="0"/>
                <a:cs typeface="Arial" panose="020B0604020202020204" pitchFamily="34" charset="0"/>
              </a:rPr>
              <a:t>May reduce bias</a:t>
            </a:r>
          </a:p>
        </p:txBody>
      </p:sp>
    </p:spTree>
    <p:extLst>
      <p:ext uri="{BB962C8B-B14F-4D97-AF65-F5344CB8AC3E}">
        <p14:creationId xmlns:p14="http://schemas.microsoft.com/office/powerpoint/2010/main" val="910092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altLang="en-US" sz="3600" kern="1200" dirty="0">
                <a:ea typeface="+mj-ea"/>
                <a:cs typeface="Times New Roman" panose="02020603050405020304" pitchFamily="18" charset="0"/>
              </a:rPr>
              <a:t>Exploring Research in Your Field</a:t>
            </a:r>
          </a:p>
        </p:txBody>
      </p:sp>
      <p:sp>
        <p:nvSpPr>
          <p:cNvPr id="3" name="Text Placeholder 2"/>
          <p:cNvSpPr>
            <a:spLocks noGrp="1"/>
          </p:cNvSpPr>
          <p:nvPr>
            <p:ph type="body" idx="1"/>
          </p:nvPr>
        </p:nvSpPr>
        <p:spPr>
          <a:xfrm>
            <a:off x="457200" y="1284897"/>
            <a:ext cx="8229600" cy="3414199"/>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Juried (or </a:t>
            </a:r>
            <a:r>
              <a:rPr lang="en-US" altLang="en-US" sz="2400" b="1" kern="1200" dirty="0">
                <a:solidFill>
                  <a:srgbClr val="000000"/>
                </a:solidFill>
                <a:latin typeface="Arial" panose="020B0604020202020204" pitchFamily="34" charset="0"/>
                <a:ea typeface="+mn-ea"/>
                <a:cs typeface="Arial" panose="020B0604020202020204" pitchFamily="34" charset="0"/>
              </a:rPr>
              <a:t>refereed</a:t>
            </a:r>
            <a:r>
              <a:rPr lang="en-US" altLang="en-US" sz="2400" kern="1200" dirty="0">
                <a:solidFill>
                  <a:srgbClr val="000000"/>
                </a:solidFill>
                <a:latin typeface="Arial" panose="020B0604020202020204" pitchFamily="34" charset="0"/>
                <a:ea typeface="+mn-ea"/>
                <a:cs typeface="Arial" panose="020B0604020202020204" pitchFamily="34" charset="0"/>
              </a:rPr>
              <a:t>) research report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Judged by experts in the field and deemed to be of sufficient quality and importance to warrant publication.</a:t>
            </a:r>
          </a:p>
          <a:p>
            <a:pPr marL="255651" lvl="0" indent="-255651">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Nonjuried (or </a:t>
            </a:r>
            <a:r>
              <a:rPr lang="en-US" altLang="en-US" sz="2400" b="1" kern="1200" dirty="0">
                <a:solidFill>
                  <a:srgbClr val="000000"/>
                </a:solidFill>
                <a:latin typeface="Arial" panose="020B0604020202020204" pitchFamily="34" charset="0"/>
                <a:cs typeface="Arial" panose="020B0604020202020204" pitchFamily="34" charset="0"/>
              </a:rPr>
              <a:t>nonrefereed</a:t>
            </a:r>
            <a:r>
              <a:rPr lang="en-US" altLang="en-US" sz="2400" kern="1200" dirty="0">
                <a:solidFill>
                  <a:srgbClr val="000000"/>
                </a:solidFill>
                <a:latin typeface="Arial" panose="020B0604020202020204" pitchFamily="34" charset="0"/>
                <a:cs typeface="Arial" panose="020B0604020202020204" pitchFamily="34" charset="0"/>
              </a:rPr>
              <a:t>) report</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Appears in a journal or on the Internet without having been reviewed or selected by experts.</a:t>
            </a:r>
          </a:p>
          <a:p>
            <a:pPr marL="741553" lvl="1" indent="-284353">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Some nonjuried reports are excellent, but others may not be.</a:t>
            </a:r>
          </a:p>
        </p:txBody>
      </p:sp>
    </p:spTree>
    <p:extLst>
      <p:ext uri="{BB962C8B-B14F-4D97-AF65-F5344CB8AC3E}">
        <p14:creationId xmlns:p14="http://schemas.microsoft.com/office/powerpoint/2010/main" val="1259572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0259"/>
            <a:ext cx="827225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1470256-12FB-4A41-A18B-7243165B8558}"/>
</file>

<file path=customXml/itemProps2.xml><?xml version="1.0" encoding="utf-8"?>
<ds:datastoreItem xmlns:ds="http://schemas.openxmlformats.org/officeDocument/2006/customXml" ds:itemID="{269E87FD-E8D2-45A7-A5ED-A269109E03BE}"/>
</file>

<file path=customXml/itemProps3.xml><?xml version="1.0" encoding="utf-8"?>
<ds:datastoreItem xmlns:ds="http://schemas.openxmlformats.org/officeDocument/2006/customXml" ds:itemID="{0C3B4065-BC6E-4B2F-B57B-6A3A00E589E1}"/>
</file>

<file path=docProps/app.xml><?xml version="1.0" encoding="utf-8"?>
<Properties xmlns="http://schemas.openxmlformats.org/officeDocument/2006/extended-properties" xmlns:vt="http://schemas.openxmlformats.org/officeDocument/2006/docPropsVTypes">
  <TotalTime>8436</TotalTime>
  <Words>1453</Words>
  <Application>Microsoft Office PowerPoint</Application>
  <PresentationFormat>On-screen Show (4:3)</PresentationFormat>
  <Paragraphs>189</Paragraphs>
  <Slides>29</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Arial (Headings)</vt:lpstr>
      <vt:lpstr>Noto Sans Symbols</vt:lpstr>
      <vt:lpstr>Times New Roman</vt:lpstr>
      <vt:lpstr>Verdana</vt:lpstr>
      <vt:lpstr>508 Lecture</vt:lpstr>
      <vt:lpstr>1_508 Lecture</vt:lpstr>
      <vt:lpstr>Practical Research: Planning and Design</vt:lpstr>
      <vt:lpstr>Research is (1 of 2)</vt:lpstr>
      <vt:lpstr>Research is (2 of 2)</vt:lpstr>
      <vt:lpstr>Research is a Cyclical Process</vt:lpstr>
      <vt:lpstr>Iterative Steps</vt:lpstr>
      <vt:lpstr>Assumption</vt:lpstr>
      <vt:lpstr>Hypothesis (1 of 2)</vt:lpstr>
      <vt:lpstr>Hypothesis (2 of 2)</vt:lpstr>
      <vt:lpstr>Types of Research</vt:lpstr>
      <vt:lpstr>Philosophical Orientations Toward Research (1 of 3)</vt:lpstr>
      <vt:lpstr>Philosophical Orientations Toward Research (2 of 3)</vt:lpstr>
      <vt:lpstr>Philosophical Orientations Toward Research (3 of 3)</vt:lpstr>
      <vt:lpstr>Tools of Research</vt:lpstr>
      <vt:lpstr>Library and its Resources</vt:lpstr>
      <vt:lpstr>Computer Technology is Used for</vt:lpstr>
      <vt:lpstr>Measurement</vt:lpstr>
      <vt:lpstr>Main Functions of Statistics</vt:lpstr>
      <vt:lpstr>Language as a Tool</vt:lpstr>
      <vt:lpstr>Communicating Effectively through Writing (1 of 2)</vt:lpstr>
      <vt:lpstr>Communicating Effectively through Writing (2 of 2)</vt:lpstr>
      <vt:lpstr>Using the Tools in Word-Processing Software (1 of 2)</vt:lpstr>
      <vt:lpstr>Using the Tools in Word-Processing Software (2 of 2)</vt:lpstr>
      <vt:lpstr>The Human Mind (1 of 5)</vt:lpstr>
      <vt:lpstr>The Human Mind (2 of 5)</vt:lpstr>
      <vt:lpstr>The Human Mind (3 of 5)</vt:lpstr>
      <vt:lpstr>The Human Mind (4 of 5)</vt:lpstr>
      <vt:lpstr>The Human Mind (5 of 5)</vt:lpstr>
      <vt:lpstr>Exploring Research in Your Field</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1</dc:title>
  <dc:subject>TED/Careers</dc:subject>
  <dc:creator>Leedy and Ormrod</dc:creator>
  <cp:keywords>Practical Research</cp:keywords>
  <cp:lastModifiedBy>Shankar Ganeshan</cp:lastModifiedBy>
  <cp:revision>960</cp:revision>
  <dcterms:modified xsi:type="dcterms:W3CDTF">2021-11-08T01:49:56Z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