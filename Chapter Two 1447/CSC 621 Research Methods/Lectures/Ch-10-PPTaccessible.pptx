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Slides/notesSlide1.xml" ContentType="application/vnd.openxmlformats-officedocument.presentationml.notesSlide+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1"/>
  </p:notesMasterIdLst>
  <p:handoutMasterIdLst>
    <p:handoutMasterId r:id="rId22"/>
  </p:handoutMasterIdLst>
  <p:sldIdLst>
    <p:sldId id="335" r:id="rId3"/>
    <p:sldId id="307" r:id="rId4"/>
    <p:sldId id="308" r:id="rId5"/>
    <p:sldId id="310" r:id="rId6"/>
    <p:sldId id="336" r:id="rId7"/>
    <p:sldId id="311" r:id="rId8"/>
    <p:sldId id="312" r:id="rId9"/>
    <p:sldId id="337" r:id="rId10"/>
    <p:sldId id="313" r:id="rId11"/>
    <p:sldId id="338" r:id="rId12"/>
    <p:sldId id="340" r:id="rId13"/>
    <p:sldId id="315" r:id="rId14"/>
    <p:sldId id="316" r:id="rId15"/>
    <p:sldId id="341" r:id="rId16"/>
    <p:sldId id="318" r:id="rId17"/>
    <p:sldId id="342" r:id="rId18"/>
    <p:sldId id="343" r:id="rId19"/>
    <p:sldId id="334" r:id="rId2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4" pos="226" userDrawn="1">
          <p15:clr>
            <a:srgbClr val="A4A3A4"/>
          </p15:clr>
        </p15:guide>
        <p15:guide id="5" pos="5488" userDrawn="1">
          <p15:clr>
            <a:srgbClr val="A4A3A4"/>
          </p15:clr>
        </p15:guide>
        <p15:guide id="6" orient="horz" pos="4088" userDrawn="1">
          <p15:clr>
            <a:srgbClr val="A4A3A4"/>
          </p15:clr>
        </p15:guide>
        <p15:guide id="7" orient="horz" pos="482" userDrawn="1">
          <p15:clr>
            <a:srgbClr val="A4A3A4"/>
          </p15:clr>
        </p15:guide>
        <p15:guide id="10" orient="horz" pos="27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30" autoAdjust="0"/>
    <p:restoredTop sz="95256" autoAdjust="0"/>
  </p:normalViewPr>
  <p:slideViewPr>
    <p:cSldViewPr snapToGrid="0" snapToObjects="1">
      <p:cViewPr varScale="1">
        <p:scale>
          <a:sx n="82" d="100"/>
          <a:sy n="82" d="100"/>
        </p:scale>
        <p:origin x="1476" y="96"/>
      </p:cViewPr>
      <p:guideLst>
        <p:guide orient="horz" pos="2160"/>
        <p:guide pos="2880"/>
        <p:guide pos="226"/>
        <p:guide pos="5488"/>
        <p:guide orient="horz" pos="4088"/>
        <p:guide orient="horz" pos="482"/>
        <p:guide orient="horz" pos="278"/>
      </p:guideLst>
    </p:cSldViewPr>
  </p:slideViewPr>
  <p:outlineViewPr>
    <p:cViewPr>
      <p:scale>
        <a:sx n="33" d="100"/>
        <a:sy n="33" d="100"/>
      </p:scale>
      <p:origin x="0" y="-11126"/>
    </p:cViewPr>
  </p:outlineViewPr>
  <p:notesTextViewPr>
    <p:cViewPr>
      <p:scale>
        <a:sx n="125" d="100"/>
        <a:sy n="125"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ommentAuthors" Target="commentAuthors.xml"/><Relationship Id="rId28" Type="http://schemas.openxmlformats.org/officeDocument/2006/relationships/customXml" Target="../customXml/item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openxmlformats.org/officeDocument/2006/relationships/tableStyles" Target="tableStyles.xml"/><Relationship Id="rId30"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10/23/2021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 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50298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4CBB54A-3ADF-4B42-A676-D66841A7CBE6}"/>
              </a:ext>
            </a:extLst>
          </p:cNvPr>
          <p:cNvSpPr>
            <a:spLocks noGrp="1"/>
          </p:cNvSpPr>
          <p:nvPr>
            <p:ph sz="quarter" idx="10"/>
          </p:nvPr>
        </p:nvSpPr>
        <p:spPr>
          <a:xfrm>
            <a:off x="1811338" y="2033588"/>
            <a:ext cx="4418012" cy="1395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143D67E2-7630-4A76-8A6E-4D3A9AF910FD}"/>
              </a:ext>
            </a:extLst>
          </p:cNvPr>
          <p:cNvSpPr>
            <a:spLocks noGrp="1"/>
          </p:cNvSpPr>
          <p:nvPr>
            <p:ph type="pic" sz="quarter" idx="11"/>
          </p:nvPr>
        </p:nvSpPr>
        <p:spPr>
          <a:xfrm>
            <a:off x="2127250" y="4149725"/>
            <a:ext cx="4418013" cy="1200150"/>
          </a:xfrm>
        </p:spPr>
        <p:txBody>
          <a:bodyPr/>
          <a:lstStyle/>
          <a:p>
            <a:endParaRPr lang="en-US"/>
          </a:p>
        </p:txBody>
      </p:sp>
    </p:spTree>
    <p:extLst>
      <p:ext uri="{BB962C8B-B14F-4D97-AF65-F5344CB8AC3E}">
        <p14:creationId xmlns:p14="http://schemas.microsoft.com/office/powerpoint/2010/main" val="207088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4794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3" name="Picture Placeholder 2">
            <a:extLst>
              <a:ext uri="{FF2B5EF4-FFF2-40B4-BE49-F238E27FC236}">
                <a16:creationId xmlns:a16="http://schemas.microsoft.com/office/drawing/2014/main" id="{A7B86D8D-7E57-4733-AA5A-C6136254BFEA}"/>
              </a:ext>
            </a:extLst>
          </p:cNvPr>
          <p:cNvSpPr>
            <a:spLocks noGrp="1"/>
          </p:cNvSpPr>
          <p:nvPr>
            <p:ph type="pic" sz="quarter" idx="14"/>
          </p:nvPr>
        </p:nvSpPr>
        <p:spPr>
          <a:xfrm>
            <a:off x="735013" y="2495550"/>
            <a:ext cx="3546475" cy="1119188"/>
          </a:xfrm>
        </p:spPr>
        <p:txBody>
          <a:bodyPr/>
          <a:lstStyle/>
          <a:p>
            <a:endParaRPr lang="en-US"/>
          </a:p>
        </p:txBody>
      </p:sp>
      <p:sp>
        <p:nvSpPr>
          <p:cNvPr id="5" name="Picture Placeholder 4">
            <a:extLst>
              <a:ext uri="{FF2B5EF4-FFF2-40B4-BE49-F238E27FC236}">
                <a16:creationId xmlns:a16="http://schemas.microsoft.com/office/drawing/2014/main" id="{32D9E9EB-3E4C-472F-A7BA-98CFA5350DD9}"/>
              </a:ext>
            </a:extLst>
          </p:cNvPr>
          <p:cNvSpPr>
            <a:spLocks noGrp="1"/>
          </p:cNvSpPr>
          <p:nvPr>
            <p:ph type="pic" sz="quarter" idx="15"/>
          </p:nvPr>
        </p:nvSpPr>
        <p:spPr>
          <a:xfrm>
            <a:off x="717550" y="4095750"/>
            <a:ext cx="3657600" cy="954088"/>
          </a:xfrm>
        </p:spPr>
        <p:txBody>
          <a:bodyPr/>
          <a:lstStyle/>
          <a:p>
            <a:endParaRPr lang="en-US"/>
          </a:p>
        </p:txBody>
      </p:sp>
    </p:spTree>
    <p:extLst>
      <p:ext uri="{BB962C8B-B14F-4D97-AF65-F5344CB8AC3E}">
        <p14:creationId xmlns:p14="http://schemas.microsoft.com/office/powerpoint/2010/main" val="1242476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IN"/>
          </a:p>
        </p:txBody>
      </p:sp>
      <p:sp>
        <p:nvSpPr>
          <p:cNvPr id="3" name="Date Placeholder 2"/>
          <p:cNvSpPr>
            <a:spLocks noGrp="1"/>
          </p:cNvSpPr>
          <p:nvPr>
            <p:ph type="dt" idx="1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97843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Text Placeholder 5"/>
          <p:cNvSpPr txBox="1">
            <a:spLocks/>
          </p:cNvSpPr>
          <p:nvPr userDrawn="1"/>
        </p:nvSpPr>
        <p:spPr>
          <a:xfrm>
            <a:off x="2773680" y="6451421"/>
            <a:ext cx="5986222" cy="221018"/>
          </a:xfrm>
          <a:prstGeom prst="rect">
            <a:avLst/>
          </a:prstGeom>
        </p:spPr>
        <p:txBody>
          <a:bodyPr lIns="0" tIns="18000" rIns="0" bIns="18000" anchor="ctr">
            <a:spAutoFit/>
          </a:bodyP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pic>
        <p:nvPicPr>
          <p:cNvPr id="16" name="Picture Placeholder 12" descr="Pearson Logo">
            <a:extLst>
              <a:ext uri="{FF2B5EF4-FFF2-40B4-BE49-F238E27FC236}">
                <a16:creationId xmlns:a16="http://schemas.microsoft.com/office/drawing/2014/main" id="{703A8090-3141-40F8-8CFF-D98CD0548A3A}"/>
              </a:ext>
            </a:extLst>
          </p:cNvPr>
          <p:cNvPicPr>
            <a:picLocks noChangeAspect="1"/>
          </p:cNvPicPr>
          <p:nvPr userDrawn="1"/>
        </p:nvPicPr>
        <p:blipFill>
          <a:blip r:embed="rId14"/>
          <a:stretch>
            <a:fillRect/>
          </a:stretch>
        </p:blipFill>
        <p:spPr>
          <a:xfrm>
            <a:off x="441719" y="6436570"/>
            <a:ext cx="914400" cy="276225"/>
          </a:xfrm>
          <a:prstGeom prst="rect">
            <a:avLst/>
          </a:prstGeom>
        </p:spPr>
      </p:pic>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70" r:id="rId4"/>
    <p:sldLayoutId id="2147483668" r:id="rId5"/>
    <p:sldLayoutId id="2147483669" r:id="rId6"/>
    <p:sldLayoutId id="2147483651" r:id="rId7"/>
    <p:sldLayoutId id="2147483654" r:id="rId8"/>
    <p:sldLayoutId id="2147483655" r:id="rId9"/>
    <p:sldLayoutId id="2147483656" r:id="rId10"/>
    <p:sldLayoutId id="2147483667" r:id="rId11"/>
    <p:sldLayoutId id="2147483657"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Headings)"/>
          <a:ea typeface="Arial (Headings)"/>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5" r:id="rId2"/>
    <p:sldLayoutId id="2147483694"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Headings)"/>
          <a:ea typeface="Arial (Headings)"/>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775" y="314583"/>
            <a:ext cx="8353425" cy="1144347"/>
          </a:xfrm>
        </p:spPr>
        <p:txBody>
          <a:bodyPr wrap="square" lIns="0" tIns="18000" rIns="0" bIns="18000" anchor="t" anchorCtr="0">
            <a:spAutoFit/>
          </a:bodyPr>
          <a:lstStyle/>
          <a:p>
            <a:r>
              <a:rPr lang="en-US" sz="3600" dirty="0">
                <a:latin typeface="+mj-lt"/>
                <a:cs typeface="Times New Roman" panose="02020603050405020304" pitchFamily="18" charset="0"/>
              </a:rPr>
              <a:t>Practical Research: Planning and Design</a:t>
            </a:r>
            <a:endParaRPr lang="en-US" sz="3600" dirty="0">
              <a:solidFill>
                <a:schemeClr val="tx2"/>
              </a:solidFill>
              <a:latin typeface="+mj-lt"/>
              <a:cs typeface="Times New Roman" panose="02020603050405020304" pitchFamily="18" charset="0"/>
            </a:endParaRPr>
          </a:p>
        </p:txBody>
      </p:sp>
      <p:sp>
        <p:nvSpPr>
          <p:cNvPr id="3" name="Text Placeholder 2"/>
          <p:cNvSpPr>
            <a:spLocks noGrp="1"/>
          </p:cNvSpPr>
          <p:nvPr>
            <p:ph type="body" idx="1"/>
          </p:nvPr>
        </p:nvSpPr>
        <p:spPr>
          <a:xfrm>
            <a:off x="439948" y="1667053"/>
            <a:ext cx="8272252" cy="344128"/>
          </a:xfrm>
        </p:spPr>
        <p:txBody>
          <a:bodyPr wrap="square" lIns="0" tIns="18000" rIns="0" bIns="18000" anchor="t" anchorCtr="0">
            <a:spAutoFit/>
          </a:bodyPr>
          <a:lstStyle/>
          <a:p>
            <a:r>
              <a:rPr lang="en-US" dirty="0">
                <a:latin typeface="Arial" panose="020B0604020202020204" pitchFamily="34" charset="0"/>
                <a:cs typeface="Arial" panose="020B0604020202020204" pitchFamily="34" charset="0"/>
              </a:rPr>
              <a:t>Twelfth Edition</a:t>
            </a:r>
          </a:p>
        </p:txBody>
      </p:sp>
      <p:pic>
        <p:nvPicPr>
          <p:cNvPr id="11" name="Picture Placeholder 10" descr="Front Cover: Practical Research: Planning and Design Twelfth Edition by Leedy and Ormrod.">
            <a:extLst>
              <a:ext uri="{FF2B5EF4-FFF2-40B4-BE49-F238E27FC236}">
                <a16:creationId xmlns:a16="http://schemas.microsoft.com/office/drawing/2014/main" id="{3404E0E7-E186-4457-B728-08F8E7ADD930}"/>
              </a:ext>
            </a:extLst>
          </p:cNvPr>
          <p:cNvPicPr>
            <a:picLocks noGrp="1" noChangeAspect="1"/>
          </p:cNvPicPr>
          <p:nvPr>
            <p:ph type="pic" sz="quarter" idx="14"/>
          </p:nvPr>
        </p:nvPicPr>
        <p:blipFill>
          <a:blip r:embed="rId3"/>
          <a:stretch>
            <a:fillRect/>
          </a:stretch>
        </p:blipFill>
        <p:spPr>
          <a:xfrm>
            <a:off x="440805" y="2218522"/>
            <a:ext cx="3247505" cy="4051069"/>
          </a:xfrm>
          <a:prstGeom prst="rect">
            <a:avLst/>
          </a:prstGeom>
        </p:spPr>
      </p:pic>
      <p:sp>
        <p:nvSpPr>
          <p:cNvPr id="4" name="Text Placeholder 3"/>
          <p:cNvSpPr>
            <a:spLocks noGrp="1"/>
          </p:cNvSpPr>
          <p:nvPr>
            <p:ph type="body" idx="2"/>
          </p:nvPr>
        </p:nvSpPr>
        <p:spPr>
          <a:xfrm>
            <a:off x="4580629" y="2871974"/>
            <a:ext cx="2065099" cy="498016"/>
          </a:xfrm>
        </p:spPr>
        <p:txBody>
          <a:bodyPr wrap="square" lIns="0" tIns="18000" rIns="0" bIns="18000" anchor="t" anchorCtr="0">
            <a:spAutoFit/>
          </a:bodyPr>
          <a:lstStyle/>
          <a:p>
            <a:pPr lvl="0"/>
            <a:r>
              <a:rPr lang="en-US" dirty="0">
                <a:latin typeface="Arial" panose="020B0604020202020204" pitchFamily="34" charset="0"/>
                <a:cs typeface="Arial" panose="020B0604020202020204" pitchFamily="34" charset="0"/>
              </a:rPr>
              <a:t>Chapter 10</a:t>
            </a:r>
          </a:p>
        </p:txBody>
      </p:sp>
      <p:sp>
        <p:nvSpPr>
          <p:cNvPr id="5" name="Text Placeholder 4"/>
          <p:cNvSpPr>
            <a:spLocks noGrp="1"/>
          </p:cNvSpPr>
          <p:nvPr>
            <p:ph type="body" idx="3"/>
          </p:nvPr>
        </p:nvSpPr>
        <p:spPr>
          <a:xfrm>
            <a:off x="4580628" y="3668904"/>
            <a:ext cx="4131571" cy="713460"/>
          </a:xfrm>
        </p:spPr>
        <p:txBody>
          <a:bodyPr wrap="square" lIns="0" tIns="18000" rIns="0" bIns="18000">
            <a:spAutoFit/>
          </a:bodyPr>
          <a:lstStyle/>
          <a:p>
            <a:r>
              <a:rPr lang="en-US" altLang="en-US" dirty="0">
                <a:latin typeface="Arial" panose="020B0604020202020204" pitchFamily="34" charset="0"/>
                <a:cs typeface="Arial" panose="020B0604020202020204" pitchFamily="34" charset="0"/>
              </a:rPr>
              <a:t>Action Research and Participatory Designs</a:t>
            </a:r>
          </a:p>
        </p:txBody>
      </p:sp>
      <p:pic>
        <p:nvPicPr>
          <p:cNvPr id="13" name="Picture Placeholder 12" descr="Pearson Logo">
            <a:extLst>
              <a:ext uri="{FF2B5EF4-FFF2-40B4-BE49-F238E27FC236}">
                <a16:creationId xmlns:a16="http://schemas.microsoft.com/office/drawing/2014/main" id="{B1452051-097A-4E47-A9C4-A6DFE1F8F6A1}"/>
              </a:ext>
            </a:extLst>
          </p:cNvPr>
          <p:cNvPicPr>
            <a:picLocks noGrp="1" noChangeAspect="1"/>
          </p:cNvPicPr>
          <p:nvPr>
            <p:ph type="pic" sz="quarter" idx="15"/>
          </p:nvPr>
        </p:nvPicPr>
        <p:blipFill>
          <a:blip r:embed="rId4"/>
          <a:stretch>
            <a:fillRect/>
          </a:stretch>
        </p:blipFill>
        <p:spPr>
          <a:xfrm>
            <a:off x="441719" y="6436570"/>
            <a:ext cx="914400" cy="276225"/>
          </a:xfrm>
          <a:prstGeom prst="rect">
            <a:avLst/>
          </a:prstGeom>
        </p:spPr>
      </p:pic>
      <p:sp>
        <p:nvSpPr>
          <p:cNvPr id="6" name="Text Placeholder 5"/>
          <p:cNvSpPr>
            <a:spLocks noGrp="1"/>
          </p:cNvSpPr>
          <p:nvPr>
            <p:ph type="body" idx="13"/>
          </p:nvPr>
        </p:nvSpPr>
        <p:spPr>
          <a:xfrm>
            <a:off x="2772000" y="6451200"/>
            <a:ext cx="5986800" cy="221018"/>
          </a:xfrm>
        </p:spPr>
        <p:txBody>
          <a:bodyPr lIns="0" tIns="18000" rIns="0" bIns="18000" anchor="ctr">
            <a:spAutoFit/>
          </a:body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spTree>
    <p:extLst>
      <p:ext uri="{BB962C8B-B14F-4D97-AF65-F5344CB8AC3E}">
        <p14:creationId xmlns:p14="http://schemas.microsoft.com/office/powerpoint/2010/main" val="1361234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775" y="301888"/>
            <a:ext cx="8353425" cy="1144347"/>
          </a:xfrm>
        </p:spPr>
        <p:txBody>
          <a:bodyPr wrap="square" lIns="0" tIns="18000" rIns="0" bIns="18000" anchor="t" anchorCtr="0">
            <a:spAutoFit/>
          </a:bodyPr>
          <a:lstStyle/>
          <a:p>
            <a:pPr lvl="0">
              <a:spcBef>
                <a:spcPct val="0"/>
              </a:spcBef>
              <a:buClrTx/>
            </a:pPr>
            <a:r>
              <a:rPr lang="en-US" altLang="en-US" sz="3600" kern="1200" dirty="0">
                <a:latin typeface="+mj-lt"/>
                <a:cs typeface="Times New Roman" panose="02020603050405020304" pitchFamily="18" charset="0"/>
              </a:rPr>
              <a:t>Action Research and Participatory Designs</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58775" y="1878782"/>
            <a:ext cx="8353425" cy="2252343"/>
          </a:xfrm>
        </p:spPr>
        <p:txBody>
          <a:bodyPr wrap="square" lIns="0" tIns="18000" rIns="0" bIns="18000">
            <a:spAutoFit/>
          </a:bodyPr>
          <a:lstStyle/>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The terms </a:t>
            </a:r>
            <a:r>
              <a:rPr lang="en-US" altLang="en-US" sz="2400" b="1" kern="1200" dirty="0">
                <a:solidFill>
                  <a:srgbClr val="000000"/>
                </a:solidFill>
                <a:latin typeface="Arial" panose="020B0604020202020204" pitchFamily="34" charset="0"/>
                <a:cs typeface="Arial" panose="020B0604020202020204" pitchFamily="34" charset="0"/>
              </a:rPr>
              <a:t>action research </a:t>
            </a:r>
            <a:r>
              <a:rPr lang="en-US" altLang="en-US" sz="2400" kern="1200" dirty="0">
                <a:solidFill>
                  <a:srgbClr val="000000"/>
                </a:solidFill>
                <a:latin typeface="Arial" panose="020B0604020202020204" pitchFamily="34" charset="0"/>
                <a:cs typeface="Arial" panose="020B0604020202020204" pitchFamily="34" charset="0"/>
              </a:rPr>
              <a:t>and </a:t>
            </a:r>
            <a:r>
              <a:rPr lang="en-US" altLang="en-US" sz="2400" b="1" kern="1200" dirty="0">
                <a:solidFill>
                  <a:srgbClr val="000000"/>
                </a:solidFill>
                <a:latin typeface="Arial" panose="020B0604020202020204" pitchFamily="34" charset="0"/>
                <a:cs typeface="Arial" panose="020B0604020202020204" pitchFamily="34" charset="0"/>
              </a:rPr>
              <a:t>participatory action research</a:t>
            </a:r>
            <a:r>
              <a:rPr lang="en-US" altLang="en-US" sz="2400" kern="1200" dirty="0">
                <a:solidFill>
                  <a:srgbClr val="000000"/>
                </a:solidFill>
                <a:latin typeface="Arial" panose="020B0604020202020204" pitchFamily="34" charset="0"/>
                <a:cs typeface="Arial" panose="020B0604020202020204" pitchFamily="34" charset="0"/>
              </a:rPr>
              <a:t> refer to types of inquiry that aim to use research not just to describe or understand an issue or problem but also to take action and make concrete changes and transformations in conditions, resources, practices, and/or policy.</a:t>
            </a:r>
          </a:p>
        </p:txBody>
      </p:sp>
    </p:spTree>
    <p:extLst>
      <p:ext uri="{BB962C8B-B14F-4D97-AF65-F5344CB8AC3E}">
        <p14:creationId xmlns:p14="http://schemas.microsoft.com/office/powerpoint/2010/main" val="1639749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775" y="301896"/>
            <a:ext cx="8353425" cy="590349"/>
          </a:xfrm>
        </p:spPr>
        <p:txBody>
          <a:bodyPr wrap="square" lIns="0" tIns="18000" rIns="0" bIns="18000" anchor="t" anchorCtr="0">
            <a:spAutoFit/>
          </a:bodyPr>
          <a:lstStyle/>
          <a:p>
            <a:pPr lvl="0">
              <a:spcBef>
                <a:spcPct val="0"/>
              </a:spcBef>
              <a:buClrTx/>
            </a:pPr>
            <a:r>
              <a:rPr lang="en-US" sz="3600" kern="1200" dirty="0">
                <a:latin typeface="+mj-lt"/>
                <a:cs typeface="Times New Roman" panose="02020603050405020304" pitchFamily="18" charset="0"/>
              </a:rPr>
              <a:t>Action-Oriented Models and Designs</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58775" y="1284893"/>
            <a:ext cx="8328025" cy="3298783"/>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Many designs fall under the umbrella of “action-oriented research”.</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Action research conducted by teachers (a.k.a., </a:t>
            </a:r>
            <a:r>
              <a:rPr lang="en-US" sz="2400" b="1" kern="1200" dirty="0">
                <a:solidFill>
                  <a:srgbClr val="000000"/>
                </a:solidFill>
                <a:latin typeface="Arial" panose="020B0604020202020204" pitchFamily="34" charset="0"/>
                <a:cs typeface="Arial" panose="020B0604020202020204" pitchFamily="34" charset="0"/>
              </a:rPr>
              <a:t>teacher research</a:t>
            </a:r>
            <a:r>
              <a:rPr lang="en-US" sz="2400" kern="1200" dirty="0">
                <a:solidFill>
                  <a:srgbClr val="000000"/>
                </a:solidFill>
                <a:latin typeface="Arial" panose="020B0604020202020204" pitchFamily="34" charset="0"/>
                <a:cs typeface="Arial" panose="020B0604020202020204" pitchFamily="34" charset="0"/>
              </a:rPr>
              <a:t>)</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Design-based research (</a:t>
            </a:r>
            <a:r>
              <a:rPr lang="en-US" sz="2400" kern="1200" spc="-300" dirty="0">
                <a:solidFill>
                  <a:srgbClr val="000000"/>
                </a:solidFill>
                <a:latin typeface="Arial" panose="020B0604020202020204" pitchFamily="34" charset="0"/>
                <a:cs typeface="Arial" panose="020B0604020202020204" pitchFamily="34" charset="0"/>
              </a:rPr>
              <a:t>D B </a:t>
            </a:r>
            <a:r>
              <a:rPr lang="en-US" sz="2400" kern="1200" dirty="0">
                <a:solidFill>
                  <a:srgbClr val="000000"/>
                </a:solidFill>
                <a:latin typeface="Arial" panose="020B0604020202020204" pitchFamily="34" charset="0"/>
                <a:cs typeface="Arial" panose="020B0604020202020204" pitchFamily="34" charset="0"/>
              </a:rPr>
              <a:t>R)</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Participatory action research (</a:t>
            </a:r>
            <a:r>
              <a:rPr lang="en-US" sz="2400" kern="1200" spc="-300" dirty="0">
                <a:solidFill>
                  <a:srgbClr val="000000"/>
                </a:solidFill>
                <a:latin typeface="Arial" panose="020B0604020202020204" pitchFamily="34" charset="0"/>
                <a:cs typeface="Arial" panose="020B0604020202020204" pitchFamily="34" charset="0"/>
              </a:rPr>
              <a:t>P A R </a:t>
            </a:r>
            <a:r>
              <a:rPr lang="en-US" sz="2400" kern="1200" dirty="0">
                <a:solidFill>
                  <a:srgbClr val="000000"/>
                </a:solidFill>
                <a:latin typeface="Arial" panose="020B0604020202020204" pitchFamily="34" charset="0"/>
                <a:cs typeface="Arial" panose="020B0604020202020204" pitchFamily="34" charset="0"/>
              </a:rPr>
              <a:t>T) and youth participatory action research (</a:t>
            </a:r>
            <a:r>
              <a:rPr lang="en-US" sz="2400" kern="1200" spc="-300" dirty="0">
                <a:solidFill>
                  <a:srgbClr val="000000"/>
                </a:solidFill>
                <a:latin typeface="Arial" panose="020B0604020202020204" pitchFamily="34" charset="0"/>
                <a:cs typeface="Arial" panose="020B0604020202020204" pitchFamily="34" charset="0"/>
              </a:rPr>
              <a:t>Y P A </a:t>
            </a:r>
            <a:r>
              <a:rPr lang="en-US" sz="2400" kern="1200" dirty="0">
                <a:solidFill>
                  <a:srgbClr val="000000"/>
                </a:solidFill>
                <a:latin typeface="Arial" panose="020B0604020202020204" pitchFamily="34" charset="0"/>
                <a:cs typeface="Arial" panose="020B0604020202020204" pitchFamily="34" charset="0"/>
              </a:rPr>
              <a:t>R)</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Community-based research designs</a:t>
            </a:r>
          </a:p>
        </p:txBody>
      </p:sp>
    </p:spTree>
    <p:extLst>
      <p:ext uri="{BB962C8B-B14F-4D97-AF65-F5344CB8AC3E}">
        <p14:creationId xmlns:p14="http://schemas.microsoft.com/office/powerpoint/2010/main" val="129539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523" y="301889"/>
            <a:ext cx="8328025" cy="590349"/>
          </a:xfrm>
        </p:spPr>
        <p:txBody>
          <a:bodyPr wrap="square" lIns="0" tIns="18000" rIns="0" bIns="18000">
            <a:spAutoFit/>
          </a:bodyPr>
          <a:lstStyle/>
          <a:p>
            <a:pPr lvl="0">
              <a:spcBef>
                <a:spcPct val="0"/>
              </a:spcBef>
              <a:buClrTx/>
            </a:pPr>
            <a:r>
              <a:rPr lang="en-US" sz="3200" kern="1200" dirty="0">
                <a:latin typeface="+mj-lt"/>
                <a:cs typeface="Times New Roman" panose="02020603050405020304" pitchFamily="18" charset="0"/>
              </a:rPr>
              <a:t>Action Research/Teacher Research</a:t>
            </a:r>
            <a:r>
              <a:rPr lang="en-US" sz="3600" kern="1200" dirty="0">
                <a:latin typeface="+mj-lt"/>
                <a:cs typeface="Times New Roman" panose="02020603050405020304" pitchFamily="18" charset="0"/>
              </a:rPr>
              <a:t> </a:t>
            </a:r>
            <a:r>
              <a:rPr lang="en-US" sz="2400" kern="1200" dirty="0">
                <a:latin typeface="+mj-lt"/>
                <a:cs typeface="Times New Roman" panose="02020603050405020304" pitchFamily="18" charset="0"/>
              </a:rPr>
              <a:t>(1 of 2)</a:t>
            </a:r>
            <a:endParaRPr lang="en-US" sz="24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58775" y="1284887"/>
            <a:ext cx="8328025" cy="3006395"/>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Action research is often conducted by practicing teachers and others interested in educational outcomes. (Thus the term, </a:t>
            </a:r>
            <a:r>
              <a:rPr lang="en-US" sz="2400" b="1" kern="1200" dirty="0">
                <a:solidFill>
                  <a:srgbClr val="000000"/>
                </a:solidFill>
                <a:latin typeface="Arial" panose="020B0604020202020204" pitchFamily="34" charset="0"/>
                <a:cs typeface="Arial" panose="020B0604020202020204" pitchFamily="34" charset="0"/>
              </a:rPr>
              <a:t>teacher research</a:t>
            </a:r>
            <a:r>
              <a:rPr lang="en-US" sz="2400" i="1" kern="1200" dirty="0">
                <a:solidFill>
                  <a:srgbClr val="000000"/>
                </a:solidFill>
                <a:latin typeface="Arial" panose="020B0604020202020204" pitchFamily="34" charset="0"/>
                <a:cs typeface="Arial" panose="020B0604020202020204" pitchFamily="34" charset="0"/>
              </a:rPr>
              <a:t>.</a:t>
            </a:r>
            <a:r>
              <a:rPr lang="en-US" sz="2400" kern="1200" dirty="0">
                <a:solidFill>
                  <a:srgbClr val="000000"/>
                </a:solidFill>
                <a:latin typeface="Arial" panose="020B0604020202020204" pitchFamily="34" charset="0"/>
                <a:cs typeface="Arial" panose="020B0604020202020204" pitchFamily="34" charset="0"/>
              </a:rPr>
              <a:t>)</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This type of research involves a systematic investigation of an issue or topic of interest in the context of education.</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Action research is not conducted </a:t>
            </a:r>
            <a:r>
              <a:rPr lang="en-US" sz="2400" b="1" kern="1200" dirty="0">
                <a:solidFill>
                  <a:srgbClr val="000000"/>
                </a:solidFill>
                <a:latin typeface="Arial" panose="020B0604020202020204" pitchFamily="34" charset="0"/>
                <a:cs typeface="Arial" panose="020B0604020202020204" pitchFamily="34" charset="0"/>
              </a:rPr>
              <a:t>on </a:t>
            </a:r>
            <a:r>
              <a:rPr lang="en-US" sz="2400" kern="1200" dirty="0">
                <a:solidFill>
                  <a:srgbClr val="000000"/>
                </a:solidFill>
                <a:latin typeface="Arial" panose="020B0604020202020204" pitchFamily="34" charset="0"/>
                <a:cs typeface="Arial" panose="020B0604020202020204" pitchFamily="34" charset="0"/>
              </a:rPr>
              <a:t>or </a:t>
            </a:r>
            <a:r>
              <a:rPr lang="en-US" sz="2400" b="1" kern="1200" dirty="0">
                <a:solidFill>
                  <a:srgbClr val="000000"/>
                </a:solidFill>
                <a:latin typeface="Arial" panose="020B0604020202020204" pitchFamily="34" charset="0"/>
                <a:cs typeface="Arial" panose="020B0604020202020204" pitchFamily="34" charset="0"/>
              </a:rPr>
              <a:t>about </a:t>
            </a:r>
            <a:r>
              <a:rPr lang="en-US" sz="2400" kern="1200" dirty="0">
                <a:solidFill>
                  <a:srgbClr val="000000"/>
                </a:solidFill>
                <a:latin typeface="Arial" panose="020B0604020202020204" pitchFamily="34" charset="0"/>
                <a:cs typeface="Arial" panose="020B0604020202020204" pitchFamily="34" charset="0"/>
              </a:rPr>
              <a:t>teachers, but rather teachers conduct this research </a:t>
            </a:r>
            <a:r>
              <a:rPr lang="en-US" sz="2400" b="1" kern="1200" dirty="0">
                <a:solidFill>
                  <a:srgbClr val="000000"/>
                </a:solidFill>
                <a:latin typeface="Arial" panose="020B0604020202020204" pitchFamily="34" charset="0"/>
                <a:cs typeface="Arial" panose="020B0604020202020204" pitchFamily="34" charset="0"/>
              </a:rPr>
              <a:t>for themselves</a:t>
            </a:r>
            <a:r>
              <a:rPr lang="en-US" sz="2400" kern="1200" dirty="0">
                <a:solidFill>
                  <a:srgbClr val="00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737126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524" y="294282"/>
            <a:ext cx="8328024" cy="590349"/>
          </a:xfrm>
        </p:spPr>
        <p:txBody>
          <a:bodyPr wrap="square" lIns="0" tIns="18000" rIns="0" bIns="18000">
            <a:spAutoFit/>
          </a:bodyPr>
          <a:lstStyle/>
          <a:p>
            <a:pPr lvl="0">
              <a:spcBef>
                <a:spcPct val="0"/>
              </a:spcBef>
              <a:buClrTx/>
            </a:pPr>
            <a:r>
              <a:rPr lang="en-US" sz="3200" kern="1200" dirty="0">
                <a:latin typeface="+mj-lt"/>
                <a:cs typeface="Times New Roman" panose="02020603050405020304" pitchFamily="18" charset="0"/>
              </a:rPr>
              <a:t>Action Research/Teacher Research</a:t>
            </a:r>
            <a:r>
              <a:rPr lang="en-US" sz="3600" kern="1200" dirty="0">
                <a:latin typeface="+mj-lt"/>
                <a:cs typeface="Times New Roman" panose="02020603050405020304" pitchFamily="18" charset="0"/>
              </a:rPr>
              <a:t> </a:t>
            </a:r>
            <a:r>
              <a:rPr lang="en-US" sz="2400" kern="1200" dirty="0">
                <a:latin typeface="+mj-lt"/>
                <a:cs typeface="Times New Roman" panose="02020603050405020304" pitchFamily="18" charset="0"/>
              </a:rPr>
              <a:t>(2 of 2)</a:t>
            </a:r>
            <a:endParaRPr lang="en-US" sz="2400" kern="1200" dirty="0">
              <a:latin typeface="+mj-lt"/>
              <a:ea typeface="+mj-ea"/>
              <a:cs typeface="Times New Roman" panose="02020603050405020304" pitchFamily="18" charset="0"/>
            </a:endParaRPr>
          </a:p>
        </p:txBody>
      </p:sp>
      <p:sp>
        <p:nvSpPr>
          <p:cNvPr id="7" name="Content Placeholder 6">
            <a:extLst>
              <a:ext uri="{FF2B5EF4-FFF2-40B4-BE49-F238E27FC236}">
                <a16:creationId xmlns:a16="http://schemas.microsoft.com/office/drawing/2014/main" id="{0A9FFB96-5270-4C80-8B82-5B6145E7F5C4}"/>
              </a:ext>
            </a:extLst>
          </p:cNvPr>
          <p:cNvSpPr>
            <a:spLocks noGrp="1"/>
          </p:cNvSpPr>
          <p:nvPr>
            <p:ph sz="quarter" idx="13"/>
          </p:nvPr>
        </p:nvSpPr>
        <p:spPr>
          <a:xfrm>
            <a:off x="358776" y="1276104"/>
            <a:ext cx="8328024" cy="405683"/>
          </a:xfrm>
        </p:spPr>
        <p:txBody>
          <a:bodyPr wrap="square" lIns="0" tIns="18000" rIns="0" bIns="18000">
            <a:spAutoFit/>
          </a:bodyPr>
          <a:lstStyle/>
          <a:p>
            <a:r>
              <a:rPr lang="en-US" sz="2400" dirty="0">
                <a:latin typeface="Arial" panose="020B0604020202020204" pitchFamily="34" charset="0"/>
                <a:cs typeface="Arial" panose="020B0604020202020204" pitchFamily="34" charset="0"/>
              </a:rPr>
              <a:t>Four steps in action research:</a:t>
            </a:r>
            <a:endParaRPr lang="en-IN" sz="24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6471AE92-7166-4734-BDDE-3281B191E7DC}"/>
              </a:ext>
            </a:extLst>
          </p:cNvPr>
          <p:cNvSpPr>
            <a:spLocks noGrp="1"/>
          </p:cNvSpPr>
          <p:nvPr>
            <p:ph sz="quarter" idx="14"/>
          </p:nvPr>
        </p:nvSpPr>
        <p:spPr>
          <a:xfrm>
            <a:off x="358776" y="1787010"/>
            <a:ext cx="8331200" cy="2829424"/>
          </a:xfrm>
        </p:spPr>
        <p:txBody>
          <a:bodyPr wrap="square" lIns="0" tIns="18000" rIns="0" bIns="18000">
            <a:spAutoFit/>
          </a:bodyPr>
          <a:lstStyle/>
          <a:p>
            <a:pPr marL="944550" lvl="1" indent="-457200">
              <a:spcBef>
                <a:spcPts val="1500"/>
              </a:spcBef>
              <a:buFont typeface="+mj-lt"/>
              <a:buAutoNum type="arabicPeriod"/>
            </a:pPr>
            <a:r>
              <a:rPr lang="en-US" sz="2400" dirty="0">
                <a:latin typeface="Arial" panose="020B0604020202020204" pitchFamily="34" charset="0"/>
                <a:cs typeface="Arial" panose="020B0604020202020204" pitchFamily="34" charset="0"/>
              </a:rPr>
              <a:t>Determine a research question that, when answered, can yield concrete strategies in the here and now.</a:t>
            </a:r>
          </a:p>
          <a:p>
            <a:pPr marL="944550" lvl="1" indent="-457200">
              <a:spcBef>
                <a:spcPts val="1500"/>
              </a:spcBef>
              <a:buFont typeface="+mj-lt"/>
              <a:buAutoNum type="arabicPeriod"/>
            </a:pPr>
            <a:r>
              <a:rPr lang="en-US" sz="2400" dirty="0">
                <a:latin typeface="Arial" panose="020B0604020202020204" pitchFamily="34" charset="0"/>
                <a:cs typeface="Arial" panose="020B0604020202020204" pitchFamily="34" charset="0"/>
              </a:rPr>
              <a:t>Collect data that might help to answer that question.</a:t>
            </a:r>
          </a:p>
          <a:p>
            <a:pPr marL="944550" lvl="1" indent="-457200">
              <a:spcBef>
                <a:spcPts val="1500"/>
              </a:spcBef>
              <a:buFont typeface="+mj-lt"/>
              <a:buAutoNum type="arabicPeriod"/>
            </a:pPr>
            <a:r>
              <a:rPr lang="en-US" sz="2400" dirty="0">
                <a:latin typeface="Arial" panose="020B0604020202020204" pitchFamily="34" charset="0"/>
                <a:cs typeface="Arial" panose="020B0604020202020204" pitchFamily="34" charset="0"/>
              </a:rPr>
              <a:t>Analyze and interpret the data relative to the research question.</a:t>
            </a:r>
          </a:p>
          <a:p>
            <a:pPr marL="944550" lvl="1" indent="-457200">
              <a:spcBef>
                <a:spcPts val="1500"/>
              </a:spcBef>
              <a:buFont typeface="+mj-lt"/>
              <a:buAutoNum type="arabicPeriod"/>
            </a:pPr>
            <a:r>
              <a:rPr lang="en-US" sz="2400" dirty="0">
                <a:latin typeface="Arial" panose="020B0604020202020204" pitchFamily="34" charset="0"/>
                <a:cs typeface="Arial" panose="020B0604020202020204" pitchFamily="34" charset="0"/>
              </a:rPr>
              <a:t>Develop a plan for research.</a:t>
            </a:r>
            <a:endParaRPr lang="en-IN" sz="2400" dirty="0">
              <a:latin typeface="Arial" panose="020B0604020202020204" pitchFamily="34" charset="0"/>
              <a:cs typeface="Arial" panose="020B0604020202020204" pitchFamily="34" charset="0"/>
            </a:endParaRPr>
          </a:p>
        </p:txBody>
      </p:sp>
      <p:sp>
        <p:nvSpPr>
          <p:cNvPr id="9" name="Content Placeholder 8">
            <a:extLst>
              <a:ext uri="{FF2B5EF4-FFF2-40B4-BE49-F238E27FC236}">
                <a16:creationId xmlns:a16="http://schemas.microsoft.com/office/drawing/2014/main" id="{EF4BD43F-257C-4760-8BE3-05E3853A8E28}"/>
              </a:ext>
            </a:extLst>
          </p:cNvPr>
          <p:cNvSpPr>
            <a:spLocks noGrp="1"/>
          </p:cNvSpPr>
          <p:nvPr>
            <p:ph sz="quarter" idx="15"/>
          </p:nvPr>
        </p:nvSpPr>
        <p:spPr>
          <a:xfrm>
            <a:off x="358776" y="4667658"/>
            <a:ext cx="8328024" cy="1706039"/>
          </a:xfrm>
        </p:spPr>
        <p:txBody>
          <a:bodyPr wrap="square" lIns="0" tIns="18000" rIns="0" bIns="18000">
            <a:spAutoFit/>
          </a:bodyPr>
          <a:lstStyle/>
          <a:p>
            <a:r>
              <a:rPr lang="en-US" sz="2400" dirty="0">
                <a:latin typeface="Arial" panose="020B0604020202020204" pitchFamily="34" charset="0"/>
                <a:cs typeface="Arial" panose="020B0604020202020204" pitchFamily="34" charset="0"/>
              </a:rPr>
              <a:t>A key component of action research is finishing up with a </a:t>
            </a:r>
            <a:r>
              <a:rPr lang="en-US" sz="2400" b="1" dirty="0">
                <a:latin typeface="Arial" panose="020B0604020202020204" pitchFamily="34" charset="0"/>
                <a:cs typeface="Arial" panose="020B0604020202020204" pitchFamily="34" charset="0"/>
              </a:rPr>
              <a:t>concrete plan</a:t>
            </a:r>
            <a:r>
              <a:rPr lang="en-US" sz="2400" dirty="0">
                <a:latin typeface="Arial" panose="020B0604020202020204" pitchFamily="34" charset="0"/>
                <a:cs typeface="Arial" panose="020B0604020202020204" pitchFamily="34" charset="0"/>
              </a:rPr>
              <a:t> regarding how to solve the problem at hand.</a:t>
            </a:r>
          </a:p>
          <a:p>
            <a:r>
              <a:rPr lang="en-US" sz="2400" dirty="0">
                <a:latin typeface="Arial" panose="020B0604020202020204" pitchFamily="34" charset="0"/>
                <a:cs typeface="Arial" panose="020B0604020202020204" pitchFamily="34" charset="0"/>
              </a:rPr>
              <a:t>It is important to remember that the results should be teacher oriented!</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8361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523" y="301886"/>
            <a:ext cx="8328025" cy="590349"/>
          </a:xfrm>
        </p:spPr>
        <p:txBody>
          <a:bodyPr wrap="square" lIns="0" tIns="18000" rIns="0" bIns="18000">
            <a:spAutoFit/>
          </a:bodyPr>
          <a:lstStyle/>
          <a:p>
            <a:pPr lvl="0">
              <a:spcBef>
                <a:spcPct val="0"/>
              </a:spcBef>
              <a:buClrTx/>
            </a:pPr>
            <a:r>
              <a:rPr lang="en-US" sz="3600" kern="1200" dirty="0">
                <a:latin typeface="+mj-lt"/>
                <a:cs typeface="Times New Roman" panose="02020603050405020304" pitchFamily="18" charset="0"/>
              </a:rPr>
              <a:t>Design-Based Research</a:t>
            </a:r>
            <a:endParaRPr lang="en-US" sz="36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58775" y="1284893"/>
            <a:ext cx="8328025" cy="5045415"/>
          </a:xfrm>
        </p:spPr>
        <p:txBody>
          <a:bodyPr wrap="square" lIns="0" tIns="18000" rIns="0" bIns="18000">
            <a:spAutoFit/>
          </a:bodyPr>
          <a:lstStyle/>
          <a:p>
            <a:pPr marL="358775" lvl="0" indent="-358775">
              <a:spcAft>
                <a:spcPct val="0"/>
              </a:spcAft>
              <a:tabLst/>
            </a:pPr>
            <a:r>
              <a:rPr lang="en-US" sz="2400" kern="1200" dirty="0">
                <a:solidFill>
                  <a:srgbClr val="000000"/>
                </a:solidFill>
                <a:latin typeface="Arial" panose="020B0604020202020204" pitchFamily="34" charset="0"/>
                <a:cs typeface="Arial" panose="020B0604020202020204" pitchFamily="34" charset="0"/>
              </a:rPr>
              <a:t>Emerged from the field of educational technology and other learning sciences.</a:t>
            </a:r>
          </a:p>
          <a:p>
            <a:pPr marL="358775" lvl="0" indent="-358775">
              <a:spcAft>
                <a:spcPct val="0"/>
              </a:spcAft>
              <a:tabLst/>
            </a:pPr>
            <a:r>
              <a:rPr lang="en-US" sz="2400" kern="1200" dirty="0">
                <a:solidFill>
                  <a:srgbClr val="000000"/>
                </a:solidFill>
                <a:latin typeface="Arial" panose="020B0604020202020204" pitchFamily="34" charset="0"/>
                <a:cs typeface="Arial" panose="020B0604020202020204" pitchFamily="34" charset="0"/>
              </a:rPr>
              <a:t>Aims to produce theories and knowledge about learning and teaching that are grounding in real-life contexts.</a:t>
            </a:r>
          </a:p>
          <a:p>
            <a:pPr marL="358775" lvl="0" indent="-358775">
              <a:spcAft>
                <a:spcPct val="0"/>
              </a:spcAft>
              <a:tabLst/>
            </a:pPr>
            <a:r>
              <a:rPr lang="en-US" sz="2400" kern="1200" dirty="0">
                <a:solidFill>
                  <a:srgbClr val="000000"/>
                </a:solidFill>
                <a:latin typeface="Arial" panose="020B0604020202020204" pitchFamily="34" charset="0"/>
                <a:cs typeface="Arial" panose="020B0604020202020204" pitchFamily="34" charset="0"/>
              </a:rPr>
              <a:t>Involves manipulating real-life contexts in particular ways and conducting and refining experiments and interventions so that researchers can make evidence-based claims about learning.</a:t>
            </a:r>
          </a:p>
          <a:p>
            <a:pPr marL="358775" lvl="0" indent="-358775">
              <a:spcAft>
                <a:spcPct val="0"/>
              </a:spcAft>
              <a:tabLst/>
            </a:pPr>
            <a:r>
              <a:rPr lang="en-US" sz="2400" kern="1200" dirty="0">
                <a:solidFill>
                  <a:srgbClr val="000000"/>
                </a:solidFill>
                <a:latin typeface="Arial" panose="020B0604020202020204" pitchFamily="34" charset="0"/>
                <a:cs typeface="Arial" panose="020B0604020202020204" pitchFamily="34" charset="0"/>
              </a:rPr>
              <a:t>Example: Development of instructional software that can help middle school students learn how to control for confounding variables when confounding simple physics experiments.</a:t>
            </a:r>
          </a:p>
        </p:txBody>
      </p:sp>
    </p:spTree>
    <p:extLst>
      <p:ext uri="{BB962C8B-B14F-4D97-AF65-F5344CB8AC3E}">
        <p14:creationId xmlns:p14="http://schemas.microsoft.com/office/powerpoint/2010/main" val="4148202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775" y="287910"/>
            <a:ext cx="8328025" cy="1698345"/>
          </a:xfrm>
        </p:spPr>
        <p:txBody>
          <a:bodyPr wrap="square" lIns="0" tIns="18000" rIns="0" bIns="18000">
            <a:spAutoFit/>
          </a:bodyPr>
          <a:lstStyle/>
          <a:p>
            <a:pPr lvl="0">
              <a:spcBef>
                <a:spcPct val="0"/>
              </a:spcBef>
              <a:buClrTx/>
            </a:pPr>
            <a:r>
              <a:rPr lang="en-US" sz="3600" kern="1200" dirty="0">
                <a:latin typeface="+mj-lt"/>
                <a:cs typeface="Times New Roman" panose="02020603050405020304" pitchFamily="18" charset="0"/>
              </a:rPr>
              <a:t>Participatory Action Research (</a:t>
            </a:r>
            <a:r>
              <a:rPr lang="en-US" sz="3600" kern="1200" spc="-500" dirty="0">
                <a:latin typeface="+mj-lt"/>
                <a:cs typeface="Times New Roman" panose="02020603050405020304" pitchFamily="18" charset="0"/>
              </a:rPr>
              <a:t>P A </a:t>
            </a:r>
            <a:r>
              <a:rPr lang="en-US" sz="3600" kern="1200" dirty="0">
                <a:latin typeface="+mj-lt"/>
                <a:cs typeface="Times New Roman" panose="02020603050405020304" pitchFamily="18" charset="0"/>
              </a:rPr>
              <a:t>R) Youth Participatory Action Research (</a:t>
            </a:r>
            <a:r>
              <a:rPr lang="en-US" sz="3600" kern="1200" spc="-500" dirty="0">
                <a:latin typeface="+mj-lt"/>
                <a:cs typeface="Times New Roman" panose="02020603050405020304" pitchFamily="18" charset="0"/>
              </a:rPr>
              <a:t>Y P A </a:t>
            </a:r>
            <a:r>
              <a:rPr lang="en-US" sz="3600" kern="1200" dirty="0">
                <a:latin typeface="+mj-lt"/>
                <a:cs typeface="Times New Roman" panose="02020603050405020304" pitchFamily="18" charset="0"/>
              </a:rPr>
              <a:t>R) </a:t>
            </a:r>
            <a:r>
              <a:rPr lang="en-US" sz="2800" kern="1200" dirty="0">
                <a:latin typeface="+mj-lt"/>
                <a:cs typeface="Times New Roman" panose="02020603050405020304" pitchFamily="18" charset="0"/>
              </a:rPr>
              <a:t>(1 of 2)</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58775" y="2346245"/>
            <a:ext cx="8328025" cy="3575782"/>
          </a:xfrm>
        </p:spPr>
        <p:txBody>
          <a:bodyPr wrap="square" lIns="0" tIns="18000" rIns="0" bIns="18000">
            <a:spAutoFit/>
          </a:bodyPr>
          <a:lstStyle/>
          <a:p>
            <a:pPr marL="358775" lvl="0" indent="-358775">
              <a:spcAft>
                <a:spcPct val="0"/>
              </a:spcAft>
              <a:tabLst/>
            </a:pPr>
            <a:r>
              <a:rPr lang="en-US" sz="2000" kern="1200" dirty="0">
                <a:solidFill>
                  <a:srgbClr val="000000"/>
                </a:solidFill>
                <a:latin typeface="Arial" panose="020B0604020202020204" pitchFamily="34" charset="0"/>
                <a:cs typeface="Arial" panose="020B0604020202020204" pitchFamily="34" charset="0"/>
              </a:rPr>
              <a:t>Action-oriented approach to research rooted in the theory of Paulo Freire</a:t>
            </a:r>
          </a:p>
          <a:p>
            <a:pPr marL="358775" lvl="0" indent="-358775">
              <a:spcAft>
                <a:spcPct val="0"/>
              </a:spcAft>
              <a:tabLst/>
            </a:pPr>
            <a:r>
              <a:rPr lang="en-US" sz="2000" kern="1200" dirty="0">
                <a:solidFill>
                  <a:srgbClr val="000000"/>
                </a:solidFill>
                <a:latin typeface="Arial" panose="020B0604020202020204" pitchFamily="34" charset="0"/>
                <a:cs typeface="Arial" panose="020B0604020202020204" pitchFamily="34" charset="0"/>
              </a:rPr>
              <a:t>Rooted in problem-posing education with the generative themes of students’ lives are the basis for instruction</a:t>
            </a:r>
          </a:p>
          <a:p>
            <a:pPr marL="358775" lvl="0" indent="-358775">
              <a:spcAft>
                <a:spcPct val="0"/>
              </a:spcAft>
              <a:tabLst/>
            </a:pPr>
            <a:r>
              <a:rPr lang="en-US" sz="2000" kern="1200" dirty="0">
                <a:solidFill>
                  <a:srgbClr val="000000"/>
                </a:solidFill>
                <a:latin typeface="Arial" panose="020B0604020202020204" pitchFamily="34" charset="0"/>
                <a:cs typeface="Arial" panose="020B0604020202020204" pitchFamily="34" charset="0"/>
              </a:rPr>
              <a:t>Involves collaboration from inception to implementation between researchers and those typically considered “subjects” of research</a:t>
            </a:r>
          </a:p>
          <a:p>
            <a:pPr marL="358775" lvl="0" indent="-358775">
              <a:spcAft>
                <a:spcPct val="0"/>
              </a:spcAft>
              <a:tabLst/>
            </a:pPr>
            <a:r>
              <a:rPr lang="en-US" sz="2000" kern="1200" dirty="0">
                <a:solidFill>
                  <a:srgbClr val="000000"/>
                </a:solidFill>
                <a:latin typeface="Arial" panose="020B0604020202020204" pitchFamily="34" charset="0"/>
                <a:cs typeface="Arial" panose="020B0604020202020204" pitchFamily="34" charset="0"/>
              </a:rPr>
              <a:t>Research members share leadership throughout the process</a:t>
            </a:r>
          </a:p>
          <a:p>
            <a:pPr marL="358775" lvl="0" indent="-358775">
              <a:spcAft>
                <a:spcPct val="0"/>
              </a:spcAft>
              <a:tabLst/>
            </a:pPr>
            <a:r>
              <a:rPr lang="en-US" sz="2000" kern="1200" dirty="0">
                <a:solidFill>
                  <a:srgbClr val="000000"/>
                </a:solidFill>
                <a:latin typeface="Arial" panose="020B0604020202020204" pitchFamily="34" charset="0"/>
                <a:cs typeface="Arial" panose="020B0604020202020204" pitchFamily="34" charset="0"/>
              </a:rPr>
              <a:t>Reflection and praxis oriented, with an end goal of making transformative changes in social conditions</a:t>
            </a:r>
          </a:p>
        </p:txBody>
      </p:sp>
    </p:spTree>
    <p:extLst>
      <p:ext uri="{BB962C8B-B14F-4D97-AF65-F5344CB8AC3E}">
        <p14:creationId xmlns:p14="http://schemas.microsoft.com/office/powerpoint/2010/main" val="2878667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775" y="287910"/>
            <a:ext cx="8328025" cy="1698345"/>
          </a:xfrm>
        </p:spPr>
        <p:txBody>
          <a:bodyPr wrap="square" lIns="0" tIns="18000" rIns="0" bIns="18000">
            <a:spAutoFit/>
          </a:bodyPr>
          <a:lstStyle/>
          <a:p>
            <a:pPr lvl="0">
              <a:spcBef>
                <a:spcPct val="0"/>
              </a:spcBef>
              <a:buClrTx/>
            </a:pPr>
            <a:r>
              <a:rPr lang="en-US" sz="3600" kern="1200" dirty="0">
                <a:latin typeface="+mj-lt"/>
                <a:cs typeface="Times New Roman" panose="02020603050405020304" pitchFamily="18" charset="0"/>
              </a:rPr>
              <a:t>Participatory Action Research (</a:t>
            </a:r>
            <a:r>
              <a:rPr lang="en-US" sz="3600" kern="1200" spc="-500" dirty="0">
                <a:latin typeface="+mj-lt"/>
                <a:cs typeface="Times New Roman" panose="02020603050405020304" pitchFamily="18" charset="0"/>
              </a:rPr>
              <a:t>P A </a:t>
            </a:r>
            <a:r>
              <a:rPr lang="en-US" sz="3600" kern="1200" dirty="0">
                <a:latin typeface="+mj-lt"/>
                <a:cs typeface="Times New Roman" panose="02020603050405020304" pitchFamily="18" charset="0"/>
              </a:rPr>
              <a:t>R) Youth Participatory Action Research (</a:t>
            </a:r>
            <a:r>
              <a:rPr lang="en-US" sz="3600" kern="1200" spc="-500" dirty="0">
                <a:latin typeface="+mj-lt"/>
                <a:cs typeface="Times New Roman" panose="02020603050405020304" pitchFamily="18" charset="0"/>
              </a:rPr>
              <a:t>Y P A </a:t>
            </a:r>
            <a:r>
              <a:rPr lang="en-US" sz="3600" kern="1200" dirty="0">
                <a:latin typeface="+mj-lt"/>
                <a:cs typeface="Times New Roman" panose="02020603050405020304" pitchFamily="18" charset="0"/>
              </a:rPr>
              <a:t>R) </a:t>
            </a:r>
            <a:r>
              <a:rPr lang="en-US" sz="2800" kern="1200" dirty="0">
                <a:latin typeface="+mj-lt"/>
                <a:cs typeface="Times New Roman" panose="02020603050405020304" pitchFamily="18" charset="0"/>
              </a:rPr>
              <a:t>(2 of 2)</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58775" y="2346245"/>
            <a:ext cx="8328025" cy="3937419"/>
          </a:xfrm>
        </p:spPr>
        <p:txBody>
          <a:bodyPr wrap="square" lIns="0" tIns="18000" rIns="0" bIns="18000">
            <a:spAutoFit/>
          </a:bodyPr>
          <a:lstStyle/>
          <a:p>
            <a:pPr marL="255651" lvl="0" indent="-255651">
              <a:spcAft>
                <a:spcPct val="0"/>
              </a:spcAft>
              <a:tabLst/>
            </a:pPr>
            <a:r>
              <a:rPr lang="en-US" sz="2400" kern="1200" dirty="0">
                <a:solidFill>
                  <a:srgbClr val="000000"/>
                </a:solidFill>
                <a:latin typeface="Arial" panose="020B0604020202020204" pitchFamily="34" charset="0"/>
                <a:cs typeface="Arial" panose="020B0604020202020204" pitchFamily="34" charset="0"/>
              </a:rPr>
              <a:t>Youth Participatory Action (</a:t>
            </a:r>
            <a:r>
              <a:rPr lang="en-US" sz="2400" kern="1200" spc="-300" dirty="0">
                <a:solidFill>
                  <a:srgbClr val="000000"/>
                </a:solidFill>
                <a:latin typeface="Arial" panose="020B0604020202020204" pitchFamily="34" charset="0"/>
                <a:cs typeface="Arial" panose="020B0604020202020204" pitchFamily="34" charset="0"/>
              </a:rPr>
              <a:t>Y P A </a:t>
            </a:r>
            <a:r>
              <a:rPr lang="en-US" sz="2400" kern="1200" dirty="0">
                <a:solidFill>
                  <a:srgbClr val="000000"/>
                </a:solidFill>
                <a:latin typeface="Arial" panose="020B0604020202020204" pitchFamily="34" charset="0"/>
                <a:cs typeface="Arial" panose="020B0604020202020204" pitchFamily="34" charset="0"/>
              </a:rPr>
              <a:t>R) adds the element of involving young people as co-researchers</a:t>
            </a:r>
          </a:p>
          <a:p>
            <a:pPr marL="255651" lvl="0" indent="-255651">
              <a:spcAft>
                <a:spcPct val="0"/>
              </a:spcAft>
              <a:tabLst/>
            </a:pPr>
            <a:r>
              <a:rPr lang="en-US" sz="2400" kern="1200" spc="-300" dirty="0">
                <a:solidFill>
                  <a:srgbClr val="000000"/>
                </a:solidFill>
                <a:latin typeface="Arial" panose="020B0604020202020204" pitchFamily="34" charset="0"/>
                <a:cs typeface="Arial" panose="020B0604020202020204" pitchFamily="34" charset="0"/>
              </a:rPr>
              <a:t>Y P A </a:t>
            </a:r>
            <a:r>
              <a:rPr lang="en-US" sz="2400" kern="1200" dirty="0">
                <a:solidFill>
                  <a:srgbClr val="000000"/>
                </a:solidFill>
                <a:latin typeface="Arial" panose="020B0604020202020204" pitchFamily="34" charset="0"/>
                <a:cs typeface="Arial" panose="020B0604020202020204" pitchFamily="34" charset="0"/>
              </a:rPr>
              <a:t>R is a useful instructional tool in classrooms or community settings</a:t>
            </a:r>
          </a:p>
          <a:p>
            <a:pPr marL="255651" lvl="0" indent="-255651">
              <a:spcAft>
                <a:spcPct val="0"/>
              </a:spcAft>
              <a:tabLst/>
            </a:pPr>
            <a:r>
              <a:rPr lang="en-US" sz="2400" kern="1200" dirty="0">
                <a:solidFill>
                  <a:srgbClr val="000000"/>
                </a:solidFill>
                <a:latin typeface="Arial" panose="020B0604020202020204" pitchFamily="34" charset="0"/>
                <a:cs typeface="Arial" panose="020B0604020202020204" pitchFamily="34" charset="0"/>
              </a:rPr>
              <a:t>Acquisition of academic skills is often a focus of </a:t>
            </a:r>
            <a:r>
              <a:rPr lang="en-US" sz="2400" kern="1200" spc="-300" dirty="0">
                <a:solidFill>
                  <a:srgbClr val="000000"/>
                </a:solidFill>
                <a:latin typeface="Arial" panose="020B0604020202020204" pitchFamily="34" charset="0"/>
                <a:cs typeface="Arial" panose="020B0604020202020204" pitchFamily="34" charset="0"/>
              </a:rPr>
              <a:t>Y P A </a:t>
            </a:r>
            <a:r>
              <a:rPr lang="en-US" sz="2400" kern="1200" dirty="0">
                <a:solidFill>
                  <a:srgbClr val="000000"/>
                </a:solidFill>
                <a:latin typeface="Arial" panose="020B0604020202020204" pitchFamily="34" charset="0"/>
                <a:cs typeface="Arial" panose="020B0604020202020204" pitchFamily="34" charset="0"/>
              </a:rPr>
              <a:t>R</a:t>
            </a:r>
          </a:p>
          <a:p>
            <a:pPr marL="255651" lvl="0" indent="-255651">
              <a:spcAft>
                <a:spcPct val="0"/>
              </a:spcAft>
              <a:tabLst/>
            </a:pPr>
            <a:r>
              <a:rPr lang="en-US" sz="2400" kern="1200" spc="-300" dirty="0">
                <a:solidFill>
                  <a:srgbClr val="000000"/>
                </a:solidFill>
                <a:latin typeface="Arial" panose="020B0604020202020204" pitchFamily="34" charset="0"/>
                <a:cs typeface="Arial" panose="020B0604020202020204" pitchFamily="34" charset="0"/>
              </a:rPr>
              <a:t>P A </a:t>
            </a:r>
            <a:r>
              <a:rPr lang="en-US" sz="2400" kern="1200" dirty="0">
                <a:solidFill>
                  <a:srgbClr val="000000"/>
                </a:solidFill>
                <a:latin typeface="Arial" panose="020B0604020202020204" pitchFamily="34" charset="0"/>
                <a:cs typeface="Arial" panose="020B0604020202020204" pitchFamily="34" charset="0"/>
              </a:rPr>
              <a:t>R and </a:t>
            </a:r>
            <a:r>
              <a:rPr lang="en-US" sz="2400" kern="1200" spc="-300" dirty="0">
                <a:solidFill>
                  <a:srgbClr val="000000"/>
                </a:solidFill>
                <a:latin typeface="Arial" panose="020B0604020202020204" pitchFamily="34" charset="0"/>
                <a:cs typeface="Arial" panose="020B0604020202020204" pitchFamily="34" charset="0"/>
              </a:rPr>
              <a:t>Y P A </a:t>
            </a:r>
            <a:r>
              <a:rPr lang="en-US" sz="2400" kern="1200" dirty="0">
                <a:solidFill>
                  <a:srgbClr val="000000"/>
                </a:solidFill>
                <a:latin typeface="Arial" panose="020B0604020202020204" pitchFamily="34" charset="0"/>
                <a:cs typeface="Arial" panose="020B0604020202020204" pitchFamily="34" charset="0"/>
              </a:rPr>
              <a:t>R are not without some challenges including their non-traditional approach which counters the notion of academic researchers maintaining complete control of a study</a:t>
            </a:r>
          </a:p>
        </p:txBody>
      </p:sp>
    </p:spTree>
    <p:extLst>
      <p:ext uri="{BB962C8B-B14F-4D97-AF65-F5344CB8AC3E}">
        <p14:creationId xmlns:p14="http://schemas.microsoft.com/office/powerpoint/2010/main" val="1831054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523" y="289897"/>
            <a:ext cx="8328025" cy="1144347"/>
          </a:xfrm>
        </p:spPr>
        <p:txBody>
          <a:bodyPr wrap="square" lIns="0" tIns="18000" rIns="0" bIns="18000">
            <a:spAutoFit/>
          </a:bodyPr>
          <a:lstStyle/>
          <a:p>
            <a:pPr lvl="0">
              <a:spcBef>
                <a:spcPct val="0"/>
              </a:spcBef>
              <a:buClrTx/>
            </a:pPr>
            <a:r>
              <a:rPr lang="en-US" sz="3600" kern="1200" dirty="0">
                <a:latin typeface="+mj-lt"/>
                <a:cs typeface="Times New Roman" panose="02020603050405020304" pitchFamily="18" charset="0"/>
              </a:rPr>
              <a:t>Community-Based Research (</a:t>
            </a:r>
            <a:r>
              <a:rPr lang="en-US" sz="3600" kern="1200" spc="-500" dirty="0">
                <a:latin typeface="+mj-lt"/>
                <a:cs typeface="Times New Roman" panose="02020603050405020304" pitchFamily="18" charset="0"/>
              </a:rPr>
              <a:t>C B </a:t>
            </a:r>
            <a:r>
              <a:rPr lang="en-US" sz="3600" kern="1200" dirty="0">
                <a:latin typeface="+mj-lt"/>
                <a:cs typeface="Times New Roman" panose="02020603050405020304" pitchFamily="18" charset="0"/>
              </a:rPr>
              <a:t>R) Models </a:t>
            </a:r>
            <a:r>
              <a:rPr lang="en-US" sz="2800" kern="1200" dirty="0">
                <a:latin typeface="+mj-lt"/>
                <a:cs typeface="Times New Roman" panose="02020603050405020304" pitchFamily="18" charset="0"/>
              </a:rPr>
              <a:t>(1 of 2)</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73523" y="1970702"/>
            <a:ext cx="8328025" cy="3706587"/>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Usually bound in a particular community setting and involve developing partnerships with community organizations and groups</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Many models are premised on the beliefs that:</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communities are a storehouse of resources and knowledge</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community members possess significant expertise and skills that can provide insights on key community issues and problems</a:t>
            </a:r>
          </a:p>
        </p:txBody>
      </p:sp>
    </p:spTree>
    <p:extLst>
      <p:ext uri="{BB962C8B-B14F-4D97-AF65-F5344CB8AC3E}">
        <p14:creationId xmlns:p14="http://schemas.microsoft.com/office/powerpoint/2010/main" val="3415216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523" y="289897"/>
            <a:ext cx="8328025" cy="1144347"/>
          </a:xfrm>
        </p:spPr>
        <p:txBody>
          <a:bodyPr wrap="square" lIns="0" tIns="18000" rIns="0" bIns="18000">
            <a:spAutoFit/>
          </a:bodyPr>
          <a:lstStyle/>
          <a:p>
            <a:pPr lvl="0">
              <a:spcBef>
                <a:spcPct val="0"/>
              </a:spcBef>
              <a:buClrTx/>
            </a:pPr>
            <a:r>
              <a:rPr lang="en-US" sz="3600" kern="1200" dirty="0">
                <a:latin typeface="+mj-lt"/>
                <a:cs typeface="Times New Roman" panose="02020603050405020304" pitchFamily="18" charset="0"/>
              </a:rPr>
              <a:t>Community-Based Research (</a:t>
            </a:r>
            <a:r>
              <a:rPr lang="en-US" sz="3600" kern="1200" spc="-500" dirty="0">
                <a:latin typeface="+mj-lt"/>
                <a:cs typeface="Times New Roman" panose="02020603050405020304" pitchFamily="18" charset="0"/>
              </a:rPr>
              <a:t>C B </a:t>
            </a:r>
            <a:r>
              <a:rPr lang="en-US" sz="3600" kern="1200" dirty="0">
                <a:latin typeface="+mj-lt"/>
                <a:cs typeface="Times New Roman" panose="02020603050405020304" pitchFamily="18" charset="0"/>
              </a:rPr>
              <a:t>R) Models </a:t>
            </a:r>
            <a:r>
              <a:rPr lang="en-US" sz="2800" kern="1200" dirty="0">
                <a:latin typeface="+mj-lt"/>
                <a:cs typeface="Times New Roman" panose="02020603050405020304" pitchFamily="18" charset="0"/>
              </a:rPr>
              <a:t>(2 of 2)</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73523" y="1970702"/>
            <a:ext cx="8328025" cy="1744511"/>
          </a:xfrm>
        </p:spPr>
        <p:txBody>
          <a:bodyPr wrap="square" lIns="0" tIns="18000" rIns="0" bIns="18000">
            <a:spAutoFit/>
          </a:bodyPr>
          <a:lstStyle/>
          <a:p>
            <a:pPr marL="358775" lvl="0" indent="-358775">
              <a:spcAft>
                <a:spcPct val="0"/>
              </a:spcAft>
              <a:buSzPts val="2400"/>
              <a:tabLst>
                <a:tab pos="358775" algn="l"/>
              </a:tabLst>
            </a:pPr>
            <a:r>
              <a:rPr lang="en-US" sz="2400" kern="1200" dirty="0">
                <a:solidFill>
                  <a:srgbClr val="000000"/>
                </a:solidFill>
                <a:latin typeface="Arial" panose="020B0604020202020204" pitchFamily="34" charset="0"/>
                <a:cs typeface="Arial" panose="020B0604020202020204" pitchFamily="34" charset="0"/>
              </a:rPr>
              <a:t>Sub-models of community-based research include:</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course-based action </a:t>
            </a:r>
            <a:r>
              <a:rPr lang="en-US" sz="2400" kern="1200" dirty="0">
                <a:solidFill>
                  <a:srgbClr val="000000"/>
                </a:solidFill>
                <a:latin typeface="Arial" panose="020B0604020202020204" pitchFamily="34" charset="0"/>
                <a:ea typeface="+mn-ea"/>
                <a:cs typeface="Arial" panose="020B0604020202020204" pitchFamily="34" charset="0"/>
              </a:rPr>
              <a:t>research (C</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B</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A</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R)</a:t>
            </a:r>
            <a:endParaRPr lang="en-US" sz="2400" kern="1200" dirty="0">
              <a:solidFill>
                <a:srgbClr val="000000"/>
              </a:solidFill>
              <a:latin typeface="Arial" panose="020B0604020202020204" pitchFamily="34" charset="0"/>
              <a:cs typeface="Arial" panose="020B0604020202020204" pitchFamily="34" charset="0"/>
            </a:endParaRP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community-based participatory </a:t>
            </a:r>
            <a:r>
              <a:rPr lang="en-US" sz="2400" kern="1200" dirty="0">
                <a:solidFill>
                  <a:srgbClr val="000000"/>
                </a:solidFill>
                <a:latin typeface="Arial" panose="020B0604020202020204" pitchFamily="34" charset="0"/>
                <a:ea typeface="+mn-ea"/>
                <a:cs typeface="Arial" panose="020B0604020202020204" pitchFamily="34" charset="0"/>
              </a:rPr>
              <a:t>research (C</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B</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P</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R)</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community-based qualitative </a:t>
            </a:r>
            <a:r>
              <a:rPr lang="en-US" sz="2400" kern="1200" dirty="0">
                <a:solidFill>
                  <a:srgbClr val="000000"/>
                </a:solidFill>
                <a:latin typeface="Arial" panose="020B0604020202020204" pitchFamily="34" charset="0"/>
                <a:ea typeface="+mn-ea"/>
                <a:cs typeface="Arial" panose="020B0604020202020204" pitchFamily="34" charset="0"/>
              </a:rPr>
              <a:t>research (C</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B</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Q</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R)</a:t>
            </a:r>
            <a:endParaRPr lang="en-US" sz="2400" kern="12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7421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776" y="323060"/>
            <a:ext cx="8328024" cy="559572"/>
          </a:xfrm>
        </p:spPr>
        <p:txBody>
          <a:bodyPr wrap="square" lIns="0" tIns="18000" rIns="0" bIns="18000">
            <a:spAutoFit/>
          </a:bodyPr>
          <a:lstStyle/>
          <a:p>
            <a:pPr lvl="0">
              <a:spcBef>
                <a:spcPct val="0"/>
              </a:spcBef>
              <a:buClrTx/>
            </a:pPr>
            <a:r>
              <a:rPr lang="en-US" kern="1200" dirty="0">
                <a:latin typeface="+mj-lt"/>
                <a:ea typeface="+mj-ea"/>
                <a:cs typeface="Times New Roman" panose="02020603050405020304" pitchFamily="18" charset="0"/>
              </a:rPr>
              <a:t>Course-Based Action Research (</a:t>
            </a:r>
            <a:r>
              <a:rPr lang="en-US" kern="1200" spc="-500" dirty="0">
                <a:latin typeface="+mj-lt"/>
                <a:ea typeface="+mj-ea"/>
                <a:cs typeface="Times New Roman" panose="02020603050405020304" pitchFamily="18" charset="0"/>
              </a:rPr>
              <a:t>C B A </a:t>
            </a:r>
            <a:r>
              <a:rPr lang="en-US" kern="1200" dirty="0">
                <a:latin typeface="+mj-lt"/>
                <a:ea typeface="+mj-ea"/>
                <a:cs typeface="Times New Roman" panose="02020603050405020304" pitchFamily="18" charset="0"/>
              </a:rPr>
              <a:t>R)</a:t>
            </a:r>
          </a:p>
        </p:txBody>
      </p:sp>
      <p:sp>
        <p:nvSpPr>
          <p:cNvPr id="7" name="Content Placeholder 6">
            <a:extLst>
              <a:ext uri="{FF2B5EF4-FFF2-40B4-BE49-F238E27FC236}">
                <a16:creationId xmlns:a16="http://schemas.microsoft.com/office/drawing/2014/main" id="{0A9FFB96-5270-4C80-8B82-5B6145E7F5C4}"/>
              </a:ext>
            </a:extLst>
          </p:cNvPr>
          <p:cNvSpPr>
            <a:spLocks noGrp="1"/>
          </p:cNvSpPr>
          <p:nvPr>
            <p:ph sz="quarter" idx="13"/>
          </p:nvPr>
        </p:nvSpPr>
        <p:spPr>
          <a:xfrm>
            <a:off x="358776" y="1276104"/>
            <a:ext cx="8328024" cy="1898400"/>
          </a:xfrm>
        </p:spPr>
        <p:txBody>
          <a:bodyPr wrap="square" lIns="0" tIns="18000" rIns="0" bIns="18000">
            <a:spAutoFit/>
          </a:bodyPr>
          <a:lstStyle/>
          <a:p>
            <a:r>
              <a:rPr lang="en-US" sz="2400" dirty="0">
                <a:latin typeface="Arial" panose="020B0604020202020204" pitchFamily="34" charset="0"/>
                <a:cs typeface="Arial" panose="020B0604020202020204" pitchFamily="34" charset="0"/>
              </a:rPr>
              <a:t>Integrates community-based research and participatory action research</a:t>
            </a:r>
          </a:p>
          <a:p>
            <a:r>
              <a:rPr lang="en-US" sz="2400" dirty="0">
                <a:latin typeface="Arial" panose="020B0604020202020204" pitchFamily="34" charset="0"/>
                <a:cs typeface="Arial" panose="020B0604020202020204" pitchFamily="34" charset="0"/>
              </a:rPr>
              <a:t>Collaborative in nature: </a:t>
            </a:r>
            <a:r>
              <a:rPr lang="en-US" sz="2400">
                <a:latin typeface="Arial" panose="020B0604020202020204" pitchFamily="34" charset="0"/>
                <a:cs typeface="Arial" panose="020B0604020202020204" pitchFamily="34" charset="0"/>
              </a:rPr>
              <a:t>students + faculty </a:t>
            </a:r>
            <a:r>
              <a:rPr lang="en-US" sz="2400" dirty="0">
                <a:latin typeface="Arial" panose="020B0604020202020204" pitchFamily="34" charset="0"/>
                <a:cs typeface="Arial" panose="020B0604020202020204" pitchFamily="34" charset="0"/>
              </a:rPr>
              <a:t>+</a:t>
            </a:r>
            <a:r>
              <a:rPr lang="en-US" sz="240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community</a:t>
            </a:r>
          </a:p>
          <a:p>
            <a:r>
              <a:rPr lang="en-US" sz="2400" kern="1200" dirty="0">
                <a:solidFill>
                  <a:srgbClr val="000000"/>
                </a:solidFill>
                <a:latin typeface="Arial" panose="020B0604020202020204" pitchFamily="34" charset="0"/>
                <a:ea typeface="+mn-ea"/>
                <a:cs typeface="Arial" panose="020B0604020202020204" pitchFamily="34" charset="0"/>
              </a:rPr>
              <a:t>Two key goals of C</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B</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A</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R:</a:t>
            </a:r>
            <a:endParaRPr lang="en-IN" sz="24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6471AE92-7166-4734-BDDE-3281B191E7DC}"/>
              </a:ext>
            </a:extLst>
          </p:cNvPr>
          <p:cNvSpPr>
            <a:spLocks noGrp="1"/>
          </p:cNvSpPr>
          <p:nvPr>
            <p:ph sz="quarter" idx="14"/>
          </p:nvPr>
        </p:nvSpPr>
        <p:spPr>
          <a:xfrm>
            <a:off x="358776" y="3226701"/>
            <a:ext cx="8331200" cy="1706039"/>
          </a:xfrm>
        </p:spPr>
        <p:txBody>
          <a:bodyPr wrap="square" lIns="0" tIns="18000" rIns="0" bIns="18000">
            <a:spAutoFit/>
          </a:bodyPr>
          <a:lstStyle/>
          <a:p>
            <a:pPr marL="808038" lvl="1" indent="-447675">
              <a:spcBef>
                <a:spcPts val="1500"/>
              </a:spcBef>
              <a:buFont typeface="+mj-lt"/>
              <a:buAutoNum type="arabicPeriod"/>
            </a:pPr>
            <a:r>
              <a:rPr lang="en-US" sz="2400" dirty="0">
                <a:latin typeface="Arial" panose="020B0604020202020204" pitchFamily="34" charset="0"/>
                <a:cs typeface="Arial" panose="020B0604020202020204" pitchFamily="34" charset="0"/>
              </a:rPr>
              <a:t>Foster a commitment to social justice on the part of both students and faculty</a:t>
            </a:r>
          </a:p>
          <a:p>
            <a:pPr marL="808038" lvl="1" indent="-447675">
              <a:spcBef>
                <a:spcPts val="1500"/>
              </a:spcBef>
              <a:buFont typeface="+mj-lt"/>
              <a:buAutoNum type="arabicPeriod"/>
            </a:pPr>
            <a:r>
              <a:rPr lang="en-US" sz="2400" dirty="0">
                <a:latin typeface="Arial" panose="020B0604020202020204" pitchFamily="34" charset="0"/>
                <a:cs typeface="Arial" panose="020B0604020202020204" pitchFamily="34" charset="0"/>
              </a:rPr>
              <a:t>Strengthen connections between the university and the community</a:t>
            </a:r>
          </a:p>
        </p:txBody>
      </p:sp>
    </p:spTree>
    <p:extLst>
      <p:ext uri="{BB962C8B-B14F-4D97-AF65-F5344CB8AC3E}">
        <p14:creationId xmlns:p14="http://schemas.microsoft.com/office/powerpoint/2010/main" val="2276681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775" y="294424"/>
            <a:ext cx="8328025" cy="1144347"/>
          </a:xfrm>
        </p:spPr>
        <p:txBody>
          <a:bodyPr wrap="square" lIns="0" tIns="18000" rIns="0" bIns="18000">
            <a:spAutoFit/>
          </a:bodyPr>
          <a:lstStyle/>
          <a:p>
            <a:pPr lvl="0">
              <a:spcBef>
                <a:spcPct val="0"/>
              </a:spcBef>
              <a:buClrTx/>
            </a:pPr>
            <a:r>
              <a:rPr lang="en-US" sz="3600" kern="1200" dirty="0">
                <a:latin typeface="+mj-lt"/>
                <a:cs typeface="Times New Roman" panose="02020603050405020304" pitchFamily="18" charset="0"/>
              </a:rPr>
              <a:t>Community-Based Participatory Research</a:t>
            </a:r>
            <a:endParaRPr lang="en-US" alt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58775" y="1852446"/>
            <a:ext cx="8328025" cy="2637064"/>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Employs a collaborative, partnership approach to conducing research</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Acknowledges communities for their strengths and resources</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Is built upon the notion of shared ownership that should yield relevant and useful findings for the community</a:t>
            </a:r>
          </a:p>
        </p:txBody>
      </p:sp>
    </p:spTree>
    <p:extLst>
      <p:ext uri="{BB962C8B-B14F-4D97-AF65-F5344CB8AC3E}">
        <p14:creationId xmlns:p14="http://schemas.microsoft.com/office/powerpoint/2010/main" val="3065515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775" y="294423"/>
            <a:ext cx="8328025" cy="1144347"/>
          </a:xfrm>
        </p:spPr>
        <p:txBody>
          <a:bodyPr wrap="square" lIns="0" tIns="18000" rIns="0" bIns="18000">
            <a:spAutoFit/>
          </a:bodyPr>
          <a:lstStyle/>
          <a:p>
            <a:pPr lvl="0">
              <a:spcBef>
                <a:spcPct val="0"/>
              </a:spcBef>
              <a:buClrTx/>
            </a:pPr>
            <a:r>
              <a:rPr lang="en-US" sz="3600" kern="1200" dirty="0">
                <a:latin typeface="+mj-lt"/>
                <a:cs typeface="Times New Roman" panose="02020603050405020304" pitchFamily="18" charset="0"/>
              </a:rPr>
              <a:t>Community-Based Qualitative Research</a:t>
            </a:r>
            <a:endParaRPr lang="en-US" alt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58775" y="1764981"/>
            <a:ext cx="8328025" cy="4653000"/>
          </a:xfrm>
        </p:spPr>
        <p:txBody>
          <a:bodyPr wrap="square" lIns="0" tIns="18000" rIns="0" bIns="18000">
            <a:spAutoFit/>
          </a:bodyPr>
          <a:lstStyle/>
          <a:p>
            <a:pPr marL="255651" lvl="0" indent="-255651">
              <a:spcAft>
                <a:spcPct val="0"/>
              </a:spcAft>
              <a:tabLst/>
            </a:pPr>
            <a:r>
              <a:rPr lang="en-US" sz="2000" kern="1200" dirty="0">
                <a:solidFill>
                  <a:srgbClr val="000000"/>
                </a:solidFill>
                <a:latin typeface="Arial" panose="020B0604020202020204" pitchFamily="34" charset="0"/>
                <a:cs typeface="Arial" panose="020B0604020202020204" pitchFamily="34" charset="0"/>
              </a:rPr>
              <a:t>Uses qualitative methodology to investigate and address issues and problems in particular community settings</a:t>
            </a:r>
          </a:p>
          <a:p>
            <a:pPr marL="255651" lvl="0" indent="-255651">
              <a:spcAft>
                <a:spcPct val="0"/>
              </a:spcAft>
              <a:tabLst/>
            </a:pPr>
            <a:r>
              <a:rPr lang="en-US" sz="2000" kern="1200" dirty="0">
                <a:solidFill>
                  <a:srgbClr val="000000"/>
                </a:solidFill>
                <a:latin typeface="Arial" panose="020B0604020202020204" pitchFamily="34" charset="0"/>
                <a:cs typeface="Arial" panose="020B0604020202020204" pitchFamily="34" charset="0"/>
              </a:rPr>
              <a:t>Collaborative with shared leadership</a:t>
            </a:r>
          </a:p>
          <a:p>
            <a:pPr marL="255651" lvl="0" indent="-255651">
              <a:spcAft>
                <a:spcPct val="0"/>
              </a:spcAft>
              <a:tabLst/>
            </a:pPr>
            <a:r>
              <a:rPr lang="en-US" sz="2000" kern="1200" dirty="0">
                <a:solidFill>
                  <a:srgbClr val="000000"/>
                </a:solidFill>
                <a:latin typeface="Arial" panose="020B0604020202020204" pitchFamily="34" charset="0"/>
                <a:cs typeface="Arial" panose="020B0604020202020204" pitchFamily="34" charset="0"/>
              </a:rPr>
              <a:t>Intended to be a transformative process for academic researchers and community co-researchers</a:t>
            </a:r>
          </a:p>
          <a:p>
            <a:pPr marL="255651" lvl="0" indent="-255651">
              <a:spcAft>
                <a:spcPct val="0"/>
              </a:spcAft>
              <a:tabLst/>
            </a:pPr>
            <a:r>
              <a:rPr lang="en-US" sz="2000" kern="1200" dirty="0">
                <a:solidFill>
                  <a:srgbClr val="000000"/>
                </a:solidFill>
                <a:latin typeface="Arial" panose="020B0604020202020204" pitchFamily="34" charset="0"/>
                <a:cs typeface="Arial" panose="020B0604020202020204" pitchFamily="34" charset="0"/>
              </a:rPr>
              <a:t>Usually begin with </a:t>
            </a:r>
            <a:r>
              <a:rPr lang="en-US" sz="2000" b="1" kern="1200" dirty="0">
                <a:solidFill>
                  <a:srgbClr val="000000"/>
                </a:solidFill>
                <a:latin typeface="Arial" panose="020B0604020202020204" pitchFamily="34" charset="0"/>
                <a:cs typeface="Arial" panose="020B0604020202020204" pitchFamily="34" charset="0"/>
              </a:rPr>
              <a:t>orienting experiences</a:t>
            </a:r>
            <a:r>
              <a:rPr lang="en-US" sz="2000" kern="1200" dirty="0">
                <a:solidFill>
                  <a:srgbClr val="000000"/>
                </a:solidFill>
                <a:latin typeface="Arial" panose="020B0604020202020204" pitchFamily="34" charset="0"/>
                <a:cs typeface="Arial" panose="020B0604020202020204" pitchFamily="34" charset="0"/>
              </a:rPr>
              <a:t> that:</a:t>
            </a:r>
          </a:p>
          <a:p>
            <a:pPr marL="741553" lvl="1" indent="-284353">
              <a:spcAft>
                <a:spcPct val="0"/>
              </a:spcAft>
            </a:pPr>
            <a:r>
              <a:rPr lang="en-US" sz="2000" kern="1200" dirty="0">
                <a:solidFill>
                  <a:srgbClr val="000000"/>
                </a:solidFill>
                <a:latin typeface="Arial" panose="020B0604020202020204" pitchFamily="34" charset="0"/>
                <a:cs typeface="Arial" panose="020B0604020202020204" pitchFamily="34" charset="0"/>
              </a:rPr>
              <a:t>help academic researchers learn about the community and pertinent issues</a:t>
            </a:r>
          </a:p>
          <a:p>
            <a:pPr marL="741553" lvl="1" indent="-284353">
              <a:spcAft>
                <a:spcPct val="0"/>
              </a:spcAft>
            </a:pPr>
            <a:r>
              <a:rPr lang="en-US" sz="2000" kern="1200" dirty="0">
                <a:solidFill>
                  <a:srgbClr val="000000"/>
                </a:solidFill>
                <a:latin typeface="Arial" panose="020B0604020202020204" pitchFamily="34" charset="0"/>
                <a:cs typeface="Arial" panose="020B0604020202020204" pitchFamily="34" charset="0"/>
              </a:rPr>
              <a:t>provide opportunities for dialogue between academic researchers and community partners</a:t>
            </a:r>
          </a:p>
          <a:p>
            <a:pPr marL="255651" lvl="0" indent="-255651">
              <a:spcAft>
                <a:spcPct val="0"/>
              </a:spcAft>
              <a:tabLst/>
            </a:pPr>
            <a:r>
              <a:rPr lang="en-US" sz="2000" kern="1200" dirty="0">
                <a:solidFill>
                  <a:srgbClr val="000000"/>
                </a:solidFill>
                <a:latin typeface="Arial" panose="020B0604020202020204" pitchFamily="34" charset="0"/>
                <a:cs typeface="Arial" panose="020B0604020202020204" pitchFamily="34" charset="0"/>
              </a:rPr>
              <a:t>As with all community models, a significant time commitment is required!</a:t>
            </a:r>
          </a:p>
        </p:txBody>
      </p:sp>
    </p:spTree>
    <p:extLst>
      <p:ext uri="{BB962C8B-B14F-4D97-AF65-F5344CB8AC3E}">
        <p14:creationId xmlns:p14="http://schemas.microsoft.com/office/powerpoint/2010/main" val="125744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776" y="294765"/>
            <a:ext cx="8328024" cy="1144347"/>
          </a:xfrm>
        </p:spPr>
        <p:txBody>
          <a:bodyPr wrap="square" lIns="0" tIns="18000" rIns="0" bIns="18000">
            <a:spAutoFit/>
          </a:bodyPr>
          <a:lstStyle/>
          <a:p>
            <a:pPr lvl="0">
              <a:spcBef>
                <a:spcPct val="0"/>
              </a:spcBef>
              <a:buClrTx/>
            </a:pPr>
            <a:r>
              <a:rPr lang="en-US" sz="3600" kern="1200" dirty="0">
                <a:latin typeface="+mj-lt"/>
                <a:cs typeface="Times New Roman" panose="02020603050405020304" pitchFamily="18" charset="0"/>
              </a:rPr>
              <a:t>Data Collection and Analysis in Action Research</a:t>
            </a:r>
            <a:endParaRPr lang="en-US" sz="3600" kern="1200" dirty="0">
              <a:latin typeface="+mj-lt"/>
              <a:ea typeface="+mj-ea"/>
              <a:cs typeface="Times New Roman" panose="02020603050405020304" pitchFamily="18" charset="0"/>
            </a:endParaRPr>
          </a:p>
        </p:txBody>
      </p:sp>
      <p:sp>
        <p:nvSpPr>
          <p:cNvPr id="7" name="Content Placeholder 6">
            <a:extLst>
              <a:ext uri="{FF2B5EF4-FFF2-40B4-BE49-F238E27FC236}">
                <a16:creationId xmlns:a16="http://schemas.microsoft.com/office/drawing/2014/main" id="{0A9FFB96-5270-4C80-8B82-5B6145E7F5C4}"/>
              </a:ext>
            </a:extLst>
          </p:cNvPr>
          <p:cNvSpPr>
            <a:spLocks noGrp="1"/>
          </p:cNvSpPr>
          <p:nvPr>
            <p:ph sz="quarter" idx="13"/>
          </p:nvPr>
        </p:nvSpPr>
        <p:spPr>
          <a:xfrm>
            <a:off x="358776" y="1830583"/>
            <a:ext cx="8328024" cy="1144347"/>
          </a:xfrm>
        </p:spPr>
        <p:txBody>
          <a:bodyPr wrap="square" lIns="0" tIns="18000" rIns="0" bIns="18000">
            <a:spAutoFit/>
          </a:bodyPr>
          <a:lstStyle/>
          <a:p>
            <a:pPr>
              <a:spcBef>
                <a:spcPts val="600"/>
              </a:spcBef>
            </a:pPr>
            <a:r>
              <a:rPr lang="en-US" sz="2400" dirty="0">
                <a:latin typeface="Arial" panose="020B0604020202020204" pitchFamily="34" charset="0"/>
                <a:cs typeface="Arial" panose="020B0604020202020204" pitchFamily="34" charset="0"/>
              </a:rPr>
              <a:t>Data collection for action-oriented research is similar to data collection in other designs. The following are key components:</a:t>
            </a:r>
          </a:p>
        </p:txBody>
      </p:sp>
      <p:sp>
        <p:nvSpPr>
          <p:cNvPr id="8" name="Content Placeholder 7">
            <a:extLst>
              <a:ext uri="{FF2B5EF4-FFF2-40B4-BE49-F238E27FC236}">
                <a16:creationId xmlns:a16="http://schemas.microsoft.com/office/drawing/2014/main" id="{6471AE92-7166-4734-BDDE-3281B191E7DC}"/>
              </a:ext>
            </a:extLst>
          </p:cNvPr>
          <p:cNvSpPr>
            <a:spLocks noGrp="1"/>
          </p:cNvSpPr>
          <p:nvPr>
            <p:ph sz="quarter" idx="14"/>
          </p:nvPr>
        </p:nvSpPr>
        <p:spPr>
          <a:xfrm>
            <a:off x="358776" y="3129427"/>
            <a:ext cx="8331200" cy="1667567"/>
          </a:xfrm>
        </p:spPr>
        <p:txBody>
          <a:bodyPr wrap="square" lIns="0" tIns="18000" rIns="0" bIns="18000">
            <a:spAutoFit/>
          </a:bodyPr>
          <a:lstStyle/>
          <a:p>
            <a:pPr marL="622300" lvl="1" indent="-349250">
              <a:buFont typeface="+mj-lt"/>
              <a:buAutoNum type="arabicPeriod"/>
            </a:pPr>
            <a:r>
              <a:rPr lang="en-US" sz="2400" dirty="0">
                <a:latin typeface="Arial" panose="020B0604020202020204" pitchFamily="34" charset="0"/>
                <a:cs typeface="Arial" panose="020B0604020202020204" pitchFamily="34" charset="0"/>
              </a:rPr>
              <a:t>Data-collection strategies are emergent.</a:t>
            </a:r>
          </a:p>
          <a:p>
            <a:pPr marL="622300" lvl="1" indent="-349250">
              <a:buFont typeface="+mj-lt"/>
              <a:buAutoNum type="arabicPeriod"/>
            </a:pPr>
            <a:r>
              <a:rPr lang="en-US" sz="2400" dirty="0">
                <a:latin typeface="Arial" panose="020B0604020202020204" pitchFamily="34" charset="0"/>
                <a:cs typeface="Arial" panose="020B0604020202020204" pitchFamily="34" charset="0"/>
              </a:rPr>
              <a:t>Data collection is iterative.</a:t>
            </a:r>
          </a:p>
          <a:p>
            <a:pPr marL="622300" lvl="1" indent="-349250">
              <a:buFont typeface="+mj-lt"/>
              <a:buAutoNum type="arabicPeriod"/>
            </a:pPr>
            <a:r>
              <a:rPr lang="en-US" sz="2400" dirty="0">
                <a:latin typeface="Arial" panose="020B0604020202020204" pitchFamily="34" charset="0"/>
                <a:cs typeface="Arial" panose="020B0604020202020204" pitchFamily="34" charset="0"/>
              </a:rPr>
              <a:t>Data collection is collaborative and ultimately the result of a coordinated group effort.</a:t>
            </a:r>
          </a:p>
        </p:txBody>
      </p:sp>
    </p:spTree>
    <p:extLst>
      <p:ext uri="{BB962C8B-B14F-4D97-AF65-F5344CB8AC3E}">
        <p14:creationId xmlns:p14="http://schemas.microsoft.com/office/powerpoint/2010/main" val="2912898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523" y="288325"/>
            <a:ext cx="8328025" cy="1144347"/>
          </a:xfrm>
        </p:spPr>
        <p:txBody>
          <a:bodyPr wrap="square" lIns="0" tIns="18000" rIns="0" bIns="18000">
            <a:spAutoFit/>
          </a:bodyPr>
          <a:lstStyle/>
          <a:p>
            <a:pPr lvl="0">
              <a:spcBef>
                <a:spcPct val="0"/>
              </a:spcBef>
              <a:buClrTx/>
            </a:pPr>
            <a:r>
              <a:rPr lang="en-US" sz="3600" kern="1200" dirty="0">
                <a:latin typeface="+mj-lt"/>
                <a:cs typeface="Times New Roman" panose="02020603050405020304" pitchFamily="18" charset="0"/>
              </a:rPr>
              <a:t>Disseminating the Findings of Action Research Projects</a:t>
            </a:r>
            <a:endParaRPr lang="en-US" sz="36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73523" y="1889054"/>
            <a:ext cx="8328025" cy="3375727"/>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The dissemination of the findings of action research projects is similar to other forms of research dissemination. The following are common methods of dissemination:</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Journals and books</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Conferences and Symposia</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Public forums and events</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Program resources and materials</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Advocacy and activism</a:t>
            </a:r>
          </a:p>
        </p:txBody>
      </p:sp>
    </p:spTree>
    <p:extLst>
      <p:ext uri="{BB962C8B-B14F-4D97-AF65-F5344CB8AC3E}">
        <p14:creationId xmlns:p14="http://schemas.microsoft.com/office/powerpoint/2010/main" val="3085044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524" y="289745"/>
            <a:ext cx="8328024" cy="1144347"/>
          </a:xfrm>
        </p:spPr>
        <p:txBody>
          <a:bodyPr wrap="square" lIns="0" tIns="18000" rIns="0" bIns="18000">
            <a:spAutoFit/>
          </a:bodyPr>
          <a:lstStyle/>
          <a:p>
            <a:pPr lvl="0">
              <a:spcBef>
                <a:spcPct val="0"/>
              </a:spcBef>
              <a:buClrTx/>
            </a:pPr>
            <a:r>
              <a:rPr lang="en-US" sz="3600" kern="1200" dirty="0">
                <a:latin typeface="+mj-lt"/>
                <a:cs typeface="Times New Roman" panose="02020603050405020304" pitchFamily="18" charset="0"/>
              </a:rPr>
              <a:t>Planning and Conducting an Effective Community Forum </a:t>
            </a:r>
            <a:r>
              <a:rPr lang="en-US" sz="2800" kern="1200" dirty="0">
                <a:latin typeface="+mj-lt"/>
                <a:cs typeface="Times New Roman" panose="02020603050405020304" pitchFamily="18" charset="0"/>
              </a:rPr>
              <a:t>(1 of 2)</a:t>
            </a:r>
            <a:endParaRPr lang="en-US" sz="3600" kern="1200" dirty="0">
              <a:latin typeface="+mj-lt"/>
              <a:ea typeface="+mj-ea"/>
              <a:cs typeface="Times New Roman" panose="02020603050405020304" pitchFamily="18" charset="0"/>
            </a:endParaRPr>
          </a:p>
        </p:txBody>
      </p:sp>
      <p:sp>
        <p:nvSpPr>
          <p:cNvPr id="7" name="Content Placeholder 6">
            <a:extLst>
              <a:ext uri="{FF2B5EF4-FFF2-40B4-BE49-F238E27FC236}">
                <a16:creationId xmlns:a16="http://schemas.microsoft.com/office/drawing/2014/main" id="{0A9FFB96-5270-4C80-8B82-5B6145E7F5C4}"/>
              </a:ext>
            </a:extLst>
          </p:cNvPr>
          <p:cNvSpPr>
            <a:spLocks noGrp="1"/>
          </p:cNvSpPr>
          <p:nvPr>
            <p:ph sz="quarter" idx="13"/>
          </p:nvPr>
        </p:nvSpPr>
        <p:spPr>
          <a:xfrm>
            <a:off x="373524" y="1830583"/>
            <a:ext cx="8328024" cy="1144347"/>
          </a:xfrm>
        </p:spPr>
        <p:txBody>
          <a:bodyPr wrap="square" lIns="0" tIns="18000" rIns="0" bIns="18000">
            <a:spAutoFit/>
          </a:bodyPr>
          <a:lstStyle/>
          <a:p>
            <a:pPr>
              <a:spcBef>
                <a:spcPts val="600"/>
              </a:spcBef>
            </a:pPr>
            <a:r>
              <a:rPr lang="en-US" sz="2400" dirty="0">
                <a:latin typeface="Arial" panose="020B0604020202020204" pitchFamily="34" charset="0"/>
                <a:cs typeface="Arial" panose="020B0604020202020204" pitchFamily="34" charset="0"/>
              </a:rPr>
              <a:t>Like other forms of research, community based research takes a great deal of planning. Consider these suggestions for organizing a successful community forum:</a:t>
            </a:r>
          </a:p>
        </p:txBody>
      </p:sp>
      <p:sp>
        <p:nvSpPr>
          <p:cNvPr id="8" name="Content Placeholder 7">
            <a:extLst>
              <a:ext uri="{FF2B5EF4-FFF2-40B4-BE49-F238E27FC236}">
                <a16:creationId xmlns:a16="http://schemas.microsoft.com/office/drawing/2014/main" id="{6471AE92-7166-4734-BDDE-3281B191E7DC}"/>
              </a:ext>
            </a:extLst>
          </p:cNvPr>
          <p:cNvSpPr>
            <a:spLocks noGrp="1"/>
          </p:cNvSpPr>
          <p:nvPr>
            <p:ph sz="quarter" idx="14"/>
          </p:nvPr>
        </p:nvSpPr>
        <p:spPr>
          <a:xfrm>
            <a:off x="373524" y="3144175"/>
            <a:ext cx="8331200" cy="2560119"/>
          </a:xfrm>
        </p:spPr>
        <p:txBody>
          <a:bodyPr wrap="square" lIns="0" tIns="18000" rIns="0" bIns="18000">
            <a:spAutoFit/>
          </a:bodyPr>
          <a:lstStyle/>
          <a:p>
            <a:pPr marL="622300" lvl="1" indent="-349250">
              <a:buFont typeface="+mj-lt"/>
              <a:buAutoNum type="arabicPeriod"/>
            </a:pPr>
            <a:r>
              <a:rPr lang="en-US" sz="2400" dirty="0">
                <a:latin typeface="Arial" panose="020B0604020202020204" pitchFamily="34" charset="0"/>
                <a:cs typeface="Arial" panose="020B0604020202020204" pitchFamily="34" charset="0"/>
              </a:rPr>
              <a:t>Meet with co-researchers and community partners in advance to co-plan the event</a:t>
            </a:r>
          </a:p>
          <a:p>
            <a:pPr marL="622300" lvl="1" indent="-349250">
              <a:buFont typeface="+mj-lt"/>
              <a:buAutoNum type="arabicPeriod"/>
            </a:pPr>
            <a:r>
              <a:rPr lang="en-US" sz="2400" dirty="0">
                <a:latin typeface="Arial" panose="020B0604020202020204" pitchFamily="34" charset="0"/>
                <a:cs typeface="Arial" panose="020B0604020202020204" pitchFamily="34" charset="0"/>
              </a:rPr>
              <a:t>Identify an appropriate location</a:t>
            </a:r>
          </a:p>
          <a:p>
            <a:pPr marL="622300" lvl="1" indent="-349250">
              <a:buFont typeface="+mj-lt"/>
              <a:buAutoNum type="arabicPeriod"/>
            </a:pPr>
            <a:r>
              <a:rPr lang="en-US" sz="2400" dirty="0">
                <a:latin typeface="Arial" panose="020B0604020202020204" pitchFamily="34" charset="0"/>
                <a:cs typeface="Arial" panose="020B0604020202020204" pitchFamily="34" charset="0"/>
              </a:rPr>
              <a:t>Widely publicize the event</a:t>
            </a:r>
          </a:p>
          <a:p>
            <a:pPr marL="622300" lvl="1" indent="-349250">
              <a:buFont typeface="+mj-lt"/>
              <a:buAutoNum type="arabicPeriod"/>
            </a:pPr>
            <a:r>
              <a:rPr lang="en-US" sz="2400" dirty="0">
                <a:latin typeface="Arial" panose="020B0604020202020204" pitchFamily="34" charset="0"/>
                <a:cs typeface="Arial" panose="020B0604020202020204" pitchFamily="34" charset="0"/>
              </a:rPr>
              <a:t>Create a visual presentation</a:t>
            </a:r>
          </a:p>
          <a:p>
            <a:pPr marL="622300" lvl="1" indent="-349250">
              <a:buFont typeface="+mj-lt"/>
              <a:buAutoNum type="arabicPeriod"/>
            </a:pPr>
            <a:r>
              <a:rPr lang="en-US" sz="2400" dirty="0">
                <a:latin typeface="Arial" panose="020B0604020202020204" pitchFamily="34" charset="0"/>
                <a:cs typeface="Arial" panose="020B0604020202020204" pitchFamily="34" charset="0"/>
              </a:rPr>
              <a:t>Prepare handouts</a:t>
            </a:r>
          </a:p>
        </p:txBody>
      </p:sp>
    </p:spTree>
    <p:extLst>
      <p:ext uri="{BB962C8B-B14F-4D97-AF65-F5344CB8AC3E}">
        <p14:creationId xmlns:p14="http://schemas.microsoft.com/office/powerpoint/2010/main" val="699922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524" y="289745"/>
            <a:ext cx="8328024" cy="1144347"/>
          </a:xfrm>
        </p:spPr>
        <p:txBody>
          <a:bodyPr wrap="square" lIns="0" tIns="18000" rIns="0" bIns="18000">
            <a:spAutoFit/>
          </a:bodyPr>
          <a:lstStyle/>
          <a:p>
            <a:pPr lvl="0">
              <a:spcBef>
                <a:spcPct val="0"/>
              </a:spcBef>
              <a:buClrTx/>
            </a:pPr>
            <a:r>
              <a:rPr lang="en-US" sz="3600" kern="1200" dirty="0">
                <a:latin typeface="+mj-lt"/>
                <a:cs typeface="Times New Roman" panose="02020603050405020304" pitchFamily="18" charset="0"/>
              </a:rPr>
              <a:t>Planning and Conducting an Effective Community Forum </a:t>
            </a:r>
            <a:r>
              <a:rPr lang="en-US" sz="2800" kern="1200" dirty="0">
                <a:latin typeface="+mj-lt"/>
                <a:cs typeface="Times New Roman" panose="02020603050405020304" pitchFamily="18" charset="0"/>
              </a:rPr>
              <a:t>(2 of 2)</a:t>
            </a:r>
            <a:endParaRPr lang="en-US" sz="3600" kern="1200" dirty="0">
              <a:latin typeface="+mj-lt"/>
              <a:ea typeface="+mj-ea"/>
              <a:cs typeface="Times New Roman" panose="02020603050405020304" pitchFamily="18" charset="0"/>
            </a:endParaRPr>
          </a:p>
        </p:txBody>
      </p:sp>
      <p:sp>
        <p:nvSpPr>
          <p:cNvPr id="7" name="Content Placeholder 6">
            <a:extLst>
              <a:ext uri="{FF2B5EF4-FFF2-40B4-BE49-F238E27FC236}">
                <a16:creationId xmlns:a16="http://schemas.microsoft.com/office/drawing/2014/main" id="{0A9FFB96-5270-4C80-8B82-5B6145E7F5C4}"/>
              </a:ext>
            </a:extLst>
          </p:cNvPr>
          <p:cNvSpPr>
            <a:spLocks noGrp="1"/>
          </p:cNvSpPr>
          <p:nvPr>
            <p:ph sz="quarter" idx="13"/>
          </p:nvPr>
        </p:nvSpPr>
        <p:spPr>
          <a:xfrm>
            <a:off x="373524" y="1830583"/>
            <a:ext cx="8328024" cy="1144347"/>
          </a:xfrm>
        </p:spPr>
        <p:txBody>
          <a:bodyPr wrap="square" lIns="0" tIns="18000" rIns="0" bIns="18000">
            <a:spAutoFit/>
          </a:bodyPr>
          <a:lstStyle/>
          <a:p>
            <a:pPr>
              <a:spcBef>
                <a:spcPts val="600"/>
              </a:spcBef>
            </a:pPr>
            <a:r>
              <a:rPr lang="en-US" sz="2400" dirty="0">
                <a:latin typeface="Arial" panose="020B0604020202020204" pitchFamily="34" charset="0"/>
                <a:cs typeface="Arial" panose="020B0604020202020204" pitchFamily="34" charset="0"/>
              </a:rPr>
              <a:t>Like other forms of research, community based research takes a great deal of planning. Consider these suggestions for organizing a successful community forum:</a:t>
            </a:r>
          </a:p>
        </p:txBody>
      </p:sp>
      <p:sp>
        <p:nvSpPr>
          <p:cNvPr id="8" name="Content Placeholder 7">
            <a:extLst>
              <a:ext uri="{FF2B5EF4-FFF2-40B4-BE49-F238E27FC236}">
                <a16:creationId xmlns:a16="http://schemas.microsoft.com/office/drawing/2014/main" id="{6471AE92-7166-4734-BDDE-3281B191E7DC}"/>
              </a:ext>
            </a:extLst>
          </p:cNvPr>
          <p:cNvSpPr>
            <a:spLocks noGrp="1"/>
          </p:cNvSpPr>
          <p:nvPr>
            <p:ph sz="quarter" idx="14"/>
          </p:nvPr>
        </p:nvSpPr>
        <p:spPr>
          <a:xfrm>
            <a:off x="373524" y="3144175"/>
            <a:ext cx="8331200" cy="2113843"/>
          </a:xfrm>
        </p:spPr>
        <p:txBody>
          <a:bodyPr wrap="square" lIns="0" tIns="18000" rIns="0" bIns="18000">
            <a:spAutoFit/>
          </a:bodyPr>
          <a:lstStyle/>
          <a:p>
            <a:pPr marL="622300" lvl="1" indent="-349250">
              <a:buFont typeface="+mj-lt"/>
              <a:buAutoNum type="arabicPeriod" startAt="6"/>
            </a:pPr>
            <a:r>
              <a:rPr lang="en-US" sz="2400" dirty="0">
                <a:latin typeface="Arial" panose="020B0604020202020204" pitchFamily="34" charset="0"/>
                <a:cs typeface="Arial" panose="020B0604020202020204" pitchFamily="34" charset="0"/>
              </a:rPr>
              <a:t>Provide refreshments, such as beverages and light snacks</a:t>
            </a:r>
          </a:p>
          <a:p>
            <a:pPr marL="622300" lvl="1" indent="-349250">
              <a:buFont typeface="+mj-lt"/>
              <a:buAutoNum type="arabicPeriod" startAt="6"/>
            </a:pPr>
            <a:r>
              <a:rPr lang="en-US" sz="2400" dirty="0">
                <a:latin typeface="Arial" panose="020B0604020202020204" pitchFamily="34" charset="0"/>
                <a:cs typeface="Arial" panose="020B0604020202020204" pitchFamily="34" charset="0"/>
              </a:rPr>
              <a:t>Provide any appropriate resources for attendees</a:t>
            </a:r>
          </a:p>
          <a:p>
            <a:pPr marL="622300" lvl="1" indent="-349250">
              <a:buFont typeface="+mj-lt"/>
              <a:buAutoNum type="arabicPeriod" startAt="6"/>
            </a:pPr>
            <a:r>
              <a:rPr lang="en-US" sz="2400" dirty="0">
                <a:latin typeface="Arial" panose="020B0604020202020204" pitchFamily="34" charset="0"/>
                <a:cs typeface="Arial" panose="020B0604020202020204" pitchFamily="34" charset="0"/>
              </a:rPr>
              <a:t>Allow sufficient time for questions and dialogue</a:t>
            </a:r>
          </a:p>
          <a:p>
            <a:pPr marL="622300" lvl="1" indent="-349250">
              <a:buFont typeface="+mj-lt"/>
              <a:buAutoNum type="arabicPeriod" startAt="6"/>
            </a:pPr>
            <a:r>
              <a:rPr lang="en-US" sz="2400" dirty="0">
                <a:latin typeface="Arial" panose="020B0604020202020204" pitchFamily="34" charset="0"/>
                <a:cs typeface="Arial" panose="020B0604020202020204" pitchFamily="34" charset="0"/>
              </a:rPr>
              <a:t>Consider making the event available on the Internet</a:t>
            </a:r>
          </a:p>
        </p:txBody>
      </p:sp>
    </p:spTree>
    <p:extLst>
      <p:ext uri="{BB962C8B-B14F-4D97-AF65-F5344CB8AC3E}">
        <p14:creationId xmlns:p14="http://schemas.microsoft.com/office/powerpoint/2010/main" val="3163485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208" y="310259"/>
            <a:ext cx="8345992" cy="590349"/>
          </a:xfrm>
        </p:spPr>
        <p:txBody>
          <a:bodyPr wrap="square" lIns="0" tIns="18000" rIns="0" bIns="18000" anchor="t" anchorCtr="0">
            <a:spAutoFit/>
          </a:bodyPr>
          <a:lstStyle/>
          <a:p>
            <a:pPr lvl="0">
              <a:spcBef>
                <a:spcPct val="0"/>
              </a:spcBef>
              <a:buClrTx/>
            </a:pPr>
            <a:r>
              <a:rPr lang="en-US" altLang="en-US" sz="3600" kern="1200" dirty="0">
                <a:ea typeface="+mj-ea"/>
                <a:cs typeface="Times New Roman" panose="02020603050405020304" pitchFamily="18" charset="0"/>
              </a:rPr>
              <a:t>Copyright</a:t>
            </a:r>
            <a:endParaRPr lang="en-US" altLang="en-US" sz="3600" b="0" kern="1200" dirty="0">
              <a:ea typeface="+mj-ea"/>
              <a:cs typeface="Times New Roman" panose="02020603050405020304" pitchFamily="18" charset="0"/>
            </a:endParaRPr>
          </a:p>
        </p:txBody>
      </p:sp>
      <p:pic>
        <p:nvPicPr>
          <p:cNvPr id="8" name="Picture Placeholder 7" descr="Warning">
            <a:extLst>
              <a:ext uri="{FF2B5EF4-FFF2-40B4-BE49-F238E27FC236}">
                <a16:creationId xmlns:a16="http://schemas.microsoft.com/office/drawing/2014/main" id="{C123DBB5-E2DD-466E-A3FB-A327E5D9CB4D}"/>
              </a:ext>
            </a:extLst>
          </p:cNvPr>
          <p:cNvPicPr>
            <a:picLocks noGrp="1" noChangeAspect="1"/>
          </p:cNvPicPr>
          <p:nvPr>
            <p:ph type="pic" sz="quarter" idx="11"/>
          </p:nvPr>
        </p:nvPicPr>
        <p:blipFill>
          <a:blip r:embed="rId2"/>
          <a:stretch>
            <a:fillRect/>
          </a:stretch>
        </p:blipFill>
        <p:spPr>
          <a:xfrm>
            <a:off x="565268" y="2718488"/>
            <a:ext cx="1276350" cy="1438275"/>
          </a:xfrm>
          <a:prstGeom prst="rect">
            <a:avLst/>
          </a:prstGeom>
        </p:spPr>
      </p:pic>
      <p:sp>
        <p:nvSpPr>
          <p:cNvPr id="6" name="Content Placeholder 2">
            <a:extLst>
              <a:ext uri="{FF2B5EF4-FFF2-40B4-BE49-F238E27FC236}">
                <a16:creationId xmlns:a16="http://schemas.microsoft.com/office/drawing/2014/main" id="{0DAE52C9-82A2-4E0A-BF89-DC1F4086C3EF}"/>
              </a:ext>
            </a:extLst>
          </p:cNvPr>
          <p:cNvSpPr>
            <a:spLocks noGrp="1"/>
          </p:cNvSpPr>
          <p:nvPr>
            <p:ph sz="quarter" idx="10"/>
          </p:nvPr>
        </p:nvSpPr>
        <p:spPr>
          <a:xfrm>
            <a:off x="2096216" y="1826558"/>
            <a:ext cx="6614274" cy="3260978"/>
          </a:xfrm>
        </p:spPr>
        <p:style>
          <a:lnRef idx="2">
            <a:schemeClr val="dk1"/>
          </a:lnRef>
          <a:fillRef idx="1">
            <a:schemeClr val="lt1"/>
          </a:fillRef>
          <a:effectRef idx="0">
            <a:schemeClr val="dk1"/>
          </a:effectRef>
          <a:fontRef idx="minor">
            <a:schemeClr val="dk1"/>
          </a:fontRef>
        </p:style>
        <p:txBody>
          <a:bodyPr wrap="square" lIns="273600" tIns="273600" rIns="273600" bIns="273600">
            <a:spAutoFit/>
          </a:bodyPr>
          <a:lstStyle/>
          <a:p>
            <a:pPr marL="432" indent="0">
              <a:buNone/>
            </a:pPr>
            <a:r>
              <a:rPr lang="en-US" b="1" dirty="0">
                <a:latin typeface="Arial" panose="020B0604020202020204" pitchFamily="34" charset="0"/>
                <a:cs typeface="Arial" panose="020B0604020202020204" pitchFamily="34" charset="0"/>
              </a:rPr>
              <a:t>This work is protected by United States copyright laws and is</a:t>
            </a:r>
            <a:r>
              <a:rPr lang="en-US" b="1" baseline="0"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4756594"/>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2" ma:contentTypeDescription="Create a new document." ma:contentTypeScope="" ma:versionID="9ee3781bcb6633d132c89161492bb118">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3e430f46b92204fb5a3381a429c4dbe"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0DC30AD-7494-4F30-864B-88E116A7537A}"/>
</file>

<file path=customXml/itemProps2.xml><?xml version="1.0" encoding="utf-8"?>
<ds:datastoreItem xmlns:ds="http://schemas.openxmlformats.org/officeDocument/2006/customXml" ds:itemID="{291EBF3B-E311-401C-8124-D7CFF4610610}"/>
</file>

<file path=customXml/itemProps3.xml><?xml version="1.0" encoding="utf-8"?>
<ds:datastoreItem xmlns:ds="http://schemas.openxmlformats.org/officeDocument/2006/customXml" ds:itemID="{C1D226F1-33EA-44F2-AAFE-865BA3EF271B}"/>
</file>

<file path=docProps/app.xml><?xml version="1.0" encoding="utf-8"?>
<Properties xmlns="http://schemas.openxmlformats.org/officeDocument/2006/extended-properties" xmlns:vt="http://schemas.openxmlformats.org/officeDocument/2006/docPropsVTypes">
  <TotalTime>8527</TotalTime>
  <Words>1250</Words>
  <Application>Microsoft Office PowerPoint</Application>
  <PresentationFormat>On-screen Show (4:3)</PresentationFormat>
  <Paragraphs>101</Paragraphs>
  <Slides>18</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18</vt:i4>
      </vt:variant>
    </vt:vector>
  </HeadingPairs>
  <TitlesOfParts>
    <vt:vector size="25" baseType="lpstr">
      <vt:lpstr>Arial</vt:lpstr>
      <vt:lpstr>Arial (Headings)</vt:lpstr>
      <vt:lpstr>Noto Sans Symbols</vt:lpstr>
      <vt:lpstr>Times New Roman</vt:lpstr>
      <vt:lpstr>Verdana</vt:lpstr>
      <vt:lpstr>508 Lecture</vt:lpstr>
      <vt:lpstr>1_508 Lecture</vt:lpstr>
      <vt:lpstr>Practical Research: Planning and Design</vt:lpstr>
      <vt:lpstr>Action Research and Participatory Designs</vt:lpstr>
      <vt:lpstr>Action-Oriented Models and Designs</vt:lpstr>
      <vt:lpstr>Action Research/Teacher Research (1 of 2)</vt:lpstr>
      <vt:lpstr>Action Research/Teacher Research (2 of 2)</vt:lpstr>
      <vt:lpstr>Design-Based Research</vt:lpstr>
      <vt:lpstr>Participatory Action Research (P A R) Youth Participatory Action Research (Y P A R) (1 of 2)</vt:lpstr>
      <vt:lpstr>Participatory Action Research (P A R) Youth Participatory Action Research (Y P A R) (2 of 2)</vt:lpstr>
      <vt:lpstr>Community-Based Research (C B R) Models (1 of 2)</vt:lpstr>
      <vt:lpstr>Community-Based Research (C B R) Models (2 of 2)</vt:lpstr>
      <vt:lpstr>Course-Based Action Research (C B A R)</vt:lpstr>
      <vt:lpstr>Community-Based Participatory Research</vt:lpstr>
      <vt:lpstr>Community-Based Qualitative Research</vt:lpstr>
      <vt:lpstr>Data Collection and Analysis in Action Research</vt:lpstr>
      <vt:lpstr>Disseminating the Findings of Action Research Projects</vt:lpstr>
      <vt:lpstr>Planning and Conducting an Effective Community Forum (1 of 2)</vt:lpstr>
      <vt:lpstr>Planning and Conducting an Effective Community Forum (2 of 2)</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Practical Research: Planning and Design, Twelfth Edition, Chapter 10</dc:title>
  <dc:subject>TED/Careers</dc:subject>
  <dc:creator>Leedy and Ormrod</dc:creator>
  <cp:keywords>Practical Research</cp:keywords>
  <cp:lastModifiedBy>Arthideepa Karunakaran, Integra-PDY, IN</cp:lastModifiedBy>
  <cp:revision>1004</cp:revision>
  <dcterms:modified xsi:type="dcterms:W3CDTF">2021-10-23T06:56:38Z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y fmtid="{D5CDD505-2E9C-101B-9397-08002B2CF9AE}" pid="8" name="ContentTypeId">
    <vt:lpwstr>0x01010086D90B95B22DD945BDFF45EB84A5E21C</vt:lpwstr>
  </property>
</Properties>
</file>