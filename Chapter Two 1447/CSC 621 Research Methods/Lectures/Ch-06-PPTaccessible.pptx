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2"/>
  </p:notesMasterIdLst>
  <p:handoutMasterIdLst>
    <p:handoutMasterId r:id="rId53"/>
  </p:handoutMasterIdLst>
  <p:sldIdLst>
    <p:sldId id="356"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5" r:id="rId5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59" userDrawn="1">
          <p15:clr>
            <a:srgbClr val="A4A3A4"/>
          </p15:clr>
        </p15:guide>
        <p15:guide id="5" orient="horz" pos="300" userDrawn="1">
          <p15:clr>
            <a:srgbClr val="A4A3A4"/>
          </p15:clr>
        </p15:guide>
        <p15:guide id="6" orient="horz" pos="4088" userDrawn="1">
          <p15:clr>
            <a:srgbClr val="A4A3A4"/>
          </p15:clr>
        </p15:guide>
        <p15:guide id="7" orient="horz" pos="913" userDrawn="1">
          <p15:clr>
            <a:srgbClr val="A4A3A4"/>
          </p15:clr>
        </p15:guide>
        <p15:guide id="8" pos="249" userDrawn="1">
          <p15:clr>
            <a:srgbClr val="A4A3A4"/>
          </p15:clr>
        </p15:guide>
        <p15:guide id="9"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84561" autoAdjust="0"/>
  </p:normalViewPr>
  <p:slideViewPr>
    <p:cSldViewPr snapToGrid="0" snapToObjects="1">
      <p:cViewPr varScale="1">
        <p:scale>
          <a:sx n="73" d="100"/>
          <a:sy n="73" d="100"/>
        </p:scale>
        <p:origin x="1098" y="60"/>
      </p:cViewPr>
      <p:guideLst>
        <p:guide orient="horz" pos="2160"/>
        <p:guide pos="2880"/>
        <p:guide orient="horz" pos="459"/>
        <p:guide orient="horz" pos="300"/>
        <p:guide orient="horz" pos="4088"/>
        <p:guide orient="horz" pos="913"/>
        <p:guide pos="249"/>
        <p:guide pos="5488"/>
      </p:guideLst>
    </p:cSldViewPr>
  </p:slideViewPr>
  <p:outlineViewPr>
    <p:cViewPr>
      <p:scale>
        <a:sx n="33" d="100"/>
        <a:sy n="33" d="100"/>
      </p:scale>
      <p:origin x="0" y="-2094"/>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customXml" Target="../customXml/item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ustomXml" Target="../customXml/item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331CB7C-510D-4CFC-901E-E863A0A29757}"/>
              </a:ext>
            </a:extLst>
          </p:cNvPr>
          <p:cNvSpPr>
            <a:spLocks noGrp="1"/>
          </p:cNvSpPr>
          <p:nvPr>
            <p:ph sz="quarter" idx="10"/>
          </p:nvPr>
        </p:nvSpPr>
        <p:spPr>
          <a:xfrm>
            <a:off x="1990725" y="2324100"/>
            <a:ext cx="5033963" cy="1436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A09347AE-7B18-44B9-A7A2-E00052F4811C}"/>
              </a:ext>
            </a:extLst>
          </p:cNvPr>
          <p:cNvSpPr>
            <a:spLocks noGrp="1"/>
          </p:cNvSpPr>
          <p:nvPr>
            <p:ph type="pic" sz="quarter" idx="11"/>
          </p:nvPr>
        </p:nvSpPr>
        <p:spPr>
          <a:xfrm>
            <a:off x="1905000" y="4425950"/>
            <a:ext cx="5273675" cy="1231900"/>
          </a:xfrm>
        </p:spPr>
        <p:txBody>
          <a:bodyPr/>
          <a:lstStyle/>
          <a:p>
            <a:endParaRPr lang="en-US"/>
          </a:p>
        </p:txBody>
      </p:sp>
    </p:spTree>
    <p:extLst>
      <p:ext uri="{BB962C8B-B14F-4D97-AF65-F5344CB8AC3E}">
        <p14:creationId xmlns:p14="http://schemas.microsoft.com/office/powerpoint/2010/main" val="443894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27541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52760D6A-39EE-442F-AA32-B3A8F4BE0867}"/>
              </a:ext>
            </a:extLst>
          </p:cNvPr>
          <p:cNvSpPr>
            <a:spLocks noGrp="1"/>
          </p:cNvSpPr>
          <p:nvPr>
            <p:ph type="pic" sz="quarter" idx="14"/>
          </p:nvPr>
        </p:nvSpPr>
        <p:spPr>
          <a:xfrm>
            <a:off x="922338" y="2632075"/>
            <a:ext cx="3530600" cy="1462088"/>
          </a:xfrm>
        </p:spPr>
        <p:txBody>
          <a:bodyPr/>
          <a:lstStyle/>
          <a:p>
            <a:endParaRPr lang="en-US"/>
          </a:p>
        </p:txBody>
      </p:sp>
      <p:sp>
        <p:nvSpPr>
          <p:cNvPr id="5" name="Picture Placeholder 4">
            <a:extLst>
              <a:ext uri="{FF2B5EF4-FFF2-40B4-BE49-F238E27FC236}">
                <a16:creationId xmlns:a16="http://schemas.microsoft.com/office/drawing/2014/main" id="{BE5684DE-C32B-4DD2-9E1D-D84C086E8EC8}"/>
              </a:ext>
            </a:extLst>
          </p:cNvPr>
          <p:cNvSpPr>
            <a:spLocks noGrp="1"/>
          </p:cNvSpPr>
          <p:nvPr>
            <p:ph type="pic" sz="quarter" idx="15"/>
          </p:nvPr>
        </p:nvSpPr>
        <p:spPr>
          <a:xfrm>
            <a:off x="922338" y="4486275"/>
            <a:ext cx="3649662" cy="717550"/>
          </a:xfrm>
        </p:spPr>
        <p:txBody>
          <a:bodyPr/>
          <a:lstStyle/>
          <a:p>
            <a:endParaRPr lang="en-US"/>
          </a:p>
        </p:txBody>
      </p:sp>
    </p:spTree>
    <p:extLst>
      <p:ext uri="{BB962C8B-B14F-4D97-AF65-F5344CB8AC3E}">
        <p14:creationId xmlns:p14="http://schemas.microsoft.com/office/powerpoint/2010/main" val="111728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BE4C2583-A0C0-4725-9745-18F228E36ABB}"/>
              </a:ext>
            </a:extLst>
          </p:cNvPr>
          <p:cNvPicPr>
            <a:picLocks noChangeAspect="1"/>
          </p:cNvPicPr>
          <p:nvPr userDrawn="1"/>
        </p:nvPicPr>
        <p:blipFill>
          <a:blip r:embed="rId14"/>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9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39948" y="1889814"/>
            <a:ext cx="3572256" cy="4456176"/>
          </a:xfrm>
          <a:prstGeom prst="rect">
            <a:avLst/>
          </a:prstGeom>
        </p:spPr>
      </p:pic>
      <p:sp>
        <p:nvSpPr>
          <p:cNvPr id="4" name="Text Placeholder 3"/>
          <p:cNvSpPr>
            <a:spLocks noGrp="1"/>
          </p:cNvSpPr>
          <p:nvPr>
            <p:ph type="body" idx="2"/>
          </p:nvPr>
        </p:nvSpPr>
        <p:spPr>
          <a:xfrm>
            <a:off x="4580628" y="2937288"/>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6</a:t>
            </a:r>
          </a:p>
        </p:txBody>
      </p:sp>
      <p:sp>
        <p:nvSpPr>
          <p:cNvPr id="5" name="Text Placeholder 4"/>
          <p:cNvSpPr>
            <a:spLocks noGrp="1"/>
          </p:cNvSpPr>
          <p:nvPr>
            <p:ph type="body" idx="3"/>
          </p:nvPr>
        </p:nvSpPr>
        <p:spPr>
          <a:xfrm>
            <a:off x="4580630" y="3493695"/>
            <a:ext cx="4131570"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Descriptive Research</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928603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Descriptive Research Designs</a:t>
            </a:r>
          </a:p>
        </p:txBody>
      </p:sp>
      <p:sp>
        <p:nvSpPr>
          <p:cNvPr id="3" name="Text Placeholder 2"/>
          <p:cNvSpPr>
            <a:spLocks noGrp="1"/>
          </p:cNvSpPr>
          <p:nvPr>
            <p:ph type="body" idx="1"/>
          </p:nvPr>
        </p:nvSpPr>
        <p:spPr>
          <a:xfrm>
            <a:off x="395288" y="1457325"/>
            <a:ext cx="8310562" cy="2090760"/>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Observation studies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Correlational research</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Developmental design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Survey research</a:t>
            </a:r>
          </a:p>
        </p:txBody>
      </p:sp>
    </p:spTree>
    <p:extLst>
      <p:ext uri="{BB962C8B-B14F-4D97-AF65-F5344CB8AC3E}">
        <p14:creationId xmlns:p14="http://schemas.microsoft.com/office/powerpoint/2010/main" val="3488136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31056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Quantitative Observation Studies</a:t>
            </a:r>
          </a:p>
        </p:txBody>
      </p:sp>
      <p:sp>
        <p:nvSpPr>
          <p:cNvPr id="3" name="Text Placeholder 2"/>
          <p:cNvSpPr>
            <a:spLocks noGrp="1"/>
          </p:cNvSpPr>
          <p:nvPr>
            <p:ph type="body" idx="1"/>
          </p:nvPr>
        </p:nvSpPr>
        <p:spPr>
          <a:xfrm>
            <a:off x="404812" y="1457325"/>
            <a:ext cx="8307388" cy="265245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Involve humans, other animals, plants, nonliving objects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Focus is limited, pre-specified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Quantify behavior</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Require planning, attention to detail, and time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Provide a quantitative alternative to qualitative approaches</a:t>
            </a:r>
          </a:p>
        </p:txBody>
      </p:sp>
    </p:spTree>
    <p:extLst>
      <p:ext uri="{BB962C8B-B14F-4D97-AF65-F5344CB8AC3E}">
        <p14:creationId xmlns:p14="http://schemas.microsoft.com/office/powerpoint/2010/main" val="311903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31691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Maintaining Objectivity in Observation Studies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990725"/>
            <a:ext cx="8316912" cy="1859928"/>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Define the behavior precisely and concretely</a:t>
            </a:r>
          </a:p>
          <a:p>
            <a:pPr lvl="1"/>
            <a:r>
              <a:rPr lang="en-US" sz="2400" dirty="0">
                <a:latin typeface="Arial" panose="020B0604020202020204" pitchFamily="34" charset="0"/>
                <a:cs typeface="Arial" panose="020B0604020202020204" pitchFamily="34" charset="0"/>
              </a:rPr>
              <a:t>Should be easily recognized</a:t>
            </a:r>
          </a:p>
          <a:p>
            <a:r>
              <a:rPr lang="en-US" sz="2400" dirty="0">
                <a:latin typeface="Arial" panose="020B0604020202020204" pitchFamily="34" charset="0"/>
                <a:cs typeface="Arial" panose="020B0604020202020204" pitchFamily="34" charset="0"/>
              </a:rPr>
              <a:t>Divide the observation period into small segments</a:t>
            </a:r>
          </a:p>
          <a:p>
            <a:pPr lvl="1"/>
            <a:r>
              <a:rPr lang="en-US" sz="2400" dirty="0">
                <a:latin typeface="Arial" panose="020B0604020202020204" pitchFamily="34" charset="0"/>
                <a:cs typeface="Arial" panose="020B0604020202020204" pitchFamily="34" charset="0"/>
              </a:rPr>
              <a:t>Record whether the behavior does or does not occur</a:t>
            </a:r>
          </a:p>
        </p:txBody>
      </p:sp>
    </p:spTree>
    <p:extLst>
      <p:ext uri="{BB962C8B-B14F-4D97-AF65-F5344CB8AC3E}">
        <p14:creationId xmlns:p14="http://schemas.microsoft.com/office/powerpoint/2010/main" val="2449598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31691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Maintaining Objectivity in Observation Studies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7" y="1990725"/>
            <a:ext cx="8320087" cy="2152315"/>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Use a rating scale to evaluate the behavior in terms of specific dimensions</a:t>
            </a:r>
          </a:p>
          <a:p>
            <a:pPr lvl="1"/>
            <a:r>
              <a:rPr lang="en-US" sz="2400" dirty="0">
                <a:latin typeface="Arial" panose="020B0604020202020204" pitchFamily="34" charset="0"/>
                <a:cs typeface="Arial" panose="020B0604020202020204" pitchFamily="34" charset="0"/>
              </a:rPr>
              <a:t>Have people rate the same behavior independently</a:t>
            </a:r>
          </a:p>
          <a:p>
            <a:r>
              <a:rPr lang="en-US" sz="2400" dirty="0">
                <a:latin typeface="Arial" panose="020B0604020202020204" pitchFamily="34" charset="0"/>
                <a:cs typeface="Arial" panose="020B0604020202020204" pitchFamily="34" charset="0"/>
              </a:rPr>
              <a:t>Train the raters to use specific criteria until consistent ratings are obtained</a:t>
            </a:r>
          </a:p>
        </p:txBody>
      </p:sp>
    </p:spTree>
    <p:extLst>
      <p:ext uri="{BB962C8B-B14F-4D97-AF65-F5344CB8AC3E}">
        <p14:creationId xmlns:p14="http://schemas.microsoft.com/office/powerpoint/2010/main" val="1343603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Correlational Research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457325"/>
            <a:ext cx="8316912" cy="2075371"/>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Examines the extent to which differences in one variable are related to differences in other variables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Researchers gather data about two or more characteristics for a particular group to see if these characteristics are interrelated</a:t>
            </a:r>
          </a:p>
        </p:txBody>
      </p:sp>
    </p:spTree>
    <p:extLst>
      <p:ext uri="{BB962C8B-B14F-4D97-AF65-F5344CB8AC3E}">
        <p14:creationId xmlns:p14="http://schemas.microsoft.com/office/powerpoint/2010/main" val="263386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Correlational Research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1457325"/>
            <a:ext cx="8316912" cy="1336708"/>
          </a:xfrm>
        </p:spPr>
        <p:txBody>
          <a:bodyPr wrap="square" lIns="0" tIns="18000" rIns="0" bIns="18000">
            <a:spAutoFit/>
          </a:bodyPr>
          <a:lstStyle/>
          <a:p>
            <a:pPr marL="255651" lvl="0" indent="-255651">
              <a:spcAft>
                <a:spcPct val="0"/>
              </a:spcAft>
              <a:buSzPts val="2400"/>
              <a:tabLst/>
            </a:pPr>
            <a:r>
              <a:rPr lang="en-US" altLang="en-US" sz="2400" b="1" kern="1200" dirty="0">
                <a:solidFill>
                  <a:srgbClr val="000000"/>
                </a:solidFill>
                <a:latin typeface="Arial" panose="020B0604020202020204" pitchFamily="34" charset="0"/>
                <a:ea typeface="+mn-ea"/>
                <a:cs typeface="Arial" panose="020B0604020202020204" pitchFamily="34" charset="0"/>
              </a:rPr>
              <a:t>Scatter plots </a:t>
            </a:r>
            <a:r>
              <a:rPr lang="en-US" altLang="en-US" sz="2400" kern="1200" dirty="0">
                <a:solidFill>
                  <a:srgbClr val="000000"/>
                </a:solidFill>
                <a:latin typeface="Arial" panose="020B0604020202020204" pitchFamily="34" charset="0"/>
                <a:ea typeface="+mn-ea"/>
                <a:cs typeface="Arial" panose="020B0604020202020204" pitchFamily="34" charset="0"/>
              </a:rPr>
              <a:t>show the overall pattern and describe the interrelationship</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Correlation does not, in and of itself, indicate causation</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4117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Developmental Designs</a:t>
            </a:r>
          </a:p>
        </p:txBody>
      </p:sp>
      <p:sp>
        <p:nvSpPr>
          <p:cNvPr id="3" name="Text Placeholder 2"/>
          <p:cNvSpPr>
            <a:spLocks noGrp="1"/>
          </p:cNvSpPr>
          <p:nvPr>
            <p:ph type="body" idx="1"/>
          </p:nvPr>
        </p:nvSpPr>
        <p:spPr>
          <a:xfrm>
            <a:off x="395288" y="1457325"/>
            <a:ext cx="8316912" cy="2598591"/>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Cross-sectional study</a:t>
            </a:r>
          </a:p>
          <a:p>
            <a:pPr lvl="1"/>
            <a:r>
              <a:rPr lang="en-US" sz="2400" dirty="0">
                <a:latin typeface="Arial" panose="020B0604020202020204" pitchFamily="34" charset="0"/>
                <a:cs typeface="Arial" panose="020B0604020202020204" pitchFamily="34" charset="0"/>
              </a:rPr>
              <a:t>people from several different groups are sampled and compared</a:t>
            </a:r>
          </a:p>
          <a:p>
            <a:r>
              <a:rPr lang="en-US" sz="2400" dirty="0">
                <a:latin typeface="Arial" panose="020B0604020202020204" pitchFamily="34" charset="0"/>
                <a:cs typeface="Arial" panose="020B0604020202020204" pitchFamily="34" charset="0"/>
              </a:rPr>
              <a:t>Longitudinal study</a:t>
            </a:r>
          </a:p>
          <a:p>
            <a:pPr lvl="1"/>
            <a:r>
              <a:rPr lang="en-US" sz="2400" dirty="0">
                <a:latin typeface="Arial" panose="020B0604020202020204" pitchFamily="34" charset="0"/>
                <a:cs typeface="Arial" panose="020B0604020202020204" pitchFamily="34" charset="0"/>
              </a:rPr>
              <a:t>a single group of people is followed over time, and data are collected at various times</a:t>
            </a:r>
          </a:p>
        </p:txBody>
      </p:sp>
    </p:spTree>
    <p:extLst>
      <p:ext uri="{BB962C8B-B14F-4D97-AF65-F5344CB8AC3E}">
        <p14:creationId xmlns:p14="http://schemas.microsoft.com/office/powerpoint/2010/main" val="670776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316912" cy="1144347"/>
          </a:xfrm>
        </p:spPr>
        <p:txBody>
          <a:bodyPr wrap="square" lIns="0" tIns="18000" rIns="0" bIns="18000">
            <a:spAutoFit/>
          </a:bodyPr>
          <a:lstStyle/>
          <a:p>
            <a:pPr lvl="0">
              <a:spcBef>
                <a:spcPct val="0"/>
              </a:spcBef>
              <a:buClrTx/>
            </a:pPr>
            <a:r>
              <a:rPr lang="en-US" sz="3600" kern="1200" dirty="0">
                <a:solidFill>
                  <a:schemeClr val="tx2"/>
                </a:solidFill>
                <a:latin typeface="+mj-lt"/>
                <a:ea typeface="+mj-ea"/>
                <a:cs typeface="Times New Roman" panose="02020603050405020304" pitchFamily="18" charset="0"/>
              </a:rPr>
              <a:t>Pros and Cons: Cross-Sectional V</a:t>
            </a:r>
            <a:r>
              <a:rPr lang="en-US" sz="100" kern="1200" dirty="0">
                <a:solidFill>
                  <a:schemeClr val="bg1"/>
                </a:solidFill>
                <a:latin typeface="+mj-lt"/>
                <a:ea typeface="+mj-ea"/>
                <a:cs typeface="Times New Roman" panose="02020603050405020304" pitchFamily="18" charset="0"/>
              </a:rPr>
              <a:t>ersu</a:t>
            </a:r>
            <a:r>
              <a:rPr lang="en-US" sz="3600" kern="1200" dirty="0">
                <a:solidFill>
                  <a:schemeClr val="tx2"/>
                </a:solidFill>
                <a:latin typeface="+mj-lt"/>
                <a:ea typeface="+mj-ea"/>
                <a:cs typeface="Times New Roman" panose="02020603050405020304" pitchFamily="18" charset="0"/>
              </a:rPr>
              <a:t>s. Longitudinal Study </a:t>
            </a:r>
            <a:r>
              <a:rPr lang="en-US" sz="2800" kern="1200" dirty="0">
                <a:solidFill>
                  <a:schemeClr val="tx2"/>
                </a:solidFill>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7" y="2152650"/>
            <a:ext cx="8320087" cy="2560119"/>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Cross-sectional studies:</a:t>
            </a:r>
          </a:p>
          <a:p>
            <a:pPr lvl="1"/>
            <a:r>
              <a:rPr lang="en-US" sz="2400" dirty="0">
                <a:latin typeface="Arial" panose="020B0604020202020204" pitchFamily="34" charset="0"/>
                <a:cs typeface="Arial" panose="020B0604020202020204" pitchFamily="34" charset="0"/>
              </a:rPr>
              <a:t>Pro</a:t>
            </a:r>
          </a:p>
          <a:p>
            <a:pPr lvl="2"/>
            <a:r>
              <a:rPr lang="en-US" sz="2400" dirty="0">
                <a:latin typeface="Arial" panose="020B0604020202020204" pitchFamily="34" charset="0"/>
                <a:cs typeface="Arial" panose="020B0604020202020204" pitchFamily="34" charset="0"/>
              </a:rPr>
              <a:t>All the data can be collected at one time</a:t>
            </a:r>
          </a:p>
          <a:p>
            <a:pPr lvl="1"/>
            <a:r>
              <a:rPr lang="en-US" sz="2400" dirty="0">
                <a:latin typeface="Arial" panose="020B0604020202020204" pitchFamily="34" charset="0"/>
                <a:cs typeface="Arial" panose="020B0604020202020204" pitchFamily="34" charset="0"/>
              </a:rPr>
              <a:t>Con</a:t>
            </a:r>
          </a:p>
          <a:p>
            <a:pPr lvl="2"/>
            <a:r>
              <a:rPr lang="en-US" sz="2400" dirty="0">
                <a:latin typeface="Arial" panose="020B0604020202020204" pitchFamily="34" charset="0"/>
                <a:cs typeface="Arial" panose="020B0604020202020204" pitchFamily="34" charset="0"/>
              </a:rPr>
              <a:t>Different populations may represent different life experiences (threat to internal validity)</a:t>
            </a:r>
          </a:p>
        </p:txBody>
      </p:sp>
    </p:spTree>
    <p:extLst>
      <p:ext uri="{BB962C8B-B14F-4D97-AF65-F5344CB8AC3E}">
        <p14:creationId xmlns:p14="http://schemas.microsoft.com/office/powerpoint/2010/main" val="384987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316912" cy="1144347"/>
          </a:xfrm>
        </p:spPr>
        <p:txBody>
          <a:bodyPr wrap="square" lIns="0" tIns="18000" rIns="0" bIns="18000">
            <a:spAutoFit/>
          </a:bodyPr>
          <a:lstStyle/>
          <a:p>
            <a:pPr lvl="0">
              <a:spcBef>
                <a:spcPct val="0"/>
              </a:spcBef>
              <a:buClrTx/>
            </a:pPr>
            <a:r>
              <a:rPr lang="en-US" sz="3600" kern="1200" dirty="0">
                <a:solidFill>
                  <a:schemeClr val="tx2"/>
                </a:solidFill>
                <a:latin typeface="+mj-lt"/>
                <a:ea typeface="+mj-ea"/>
                <a:cs typeface="Times New Roman" panose="02020603050405020304" pitchFamily="18" charset="0"/>
              </a:rPr>
              <a:t>Pros and Cons: Cross-Sectional V</a:t>
            </a:r>
            <a:r>
              <a:rPr lang="en-US" sz="100" kern="1200" dirty="0">
                <a:solidFill>
                  <a:schemeClr val="bg1"/>
                </a:solidFill>
                <a:latin typeface="+mj-lt"/>
                <a:ea typeface="+mj-ea"/>
                <a:cs typeface="Times New Roman" panose="02020603050405020304" pitchFamily="18" charset="0"/>
              </a:rPr>
              <a:t>ersu</a:t>
            </a:r>
            <a:r>
              <a:rPr lang="en-US" sz="3600" kern="1200" dirty="0">
                <a:solidFill>
                  <a:schemeClr val="tx2"/>
                </a:solidFill>
                <a:latin typeface="+mj-lt"/>
                <a:ea typeface="+mj-ea"/>
                <a:cs typeface="Times New Roman" panose="02020603050405020304" pitchFamily="18" charset="0"/>
              </a:rPr>
              <a:t>s. Longitudinal Study </a:t>
            </a:r>
            <a:r>
              <a:rPr lang="en-US" sz="2800" kern="1200" dirty="0">
                <a:solidFill>
                  <a:schemeClr val="tx2"/>
                </a:solidFill>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2152650"/>
            <a:ext cx="8316912" cy="3375727"/>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Longitudinal studies:</a:t>
            </a:r>
          </a:p>
          <a:p>
            <a:pPr lvl="1"/>
            <a:r>
              <a:rPr lang="en-US" sz="2400" dirty="0">
                <a:latin typeface="Arial" panose="020B0604020202020204" pitchFamily="34" charset="0"/>
                <a:cs typeface="Arial" panose="020B0604020202020204" pitchFamily="34" charset="0"/>
              </a:rPr>
              <a:t>Pro</a:t>
            </a:r>
          </a:p>
          <a:p>
            <a:pPr lvl="2"/>
            <a:r>
              <a:rPr lang="en-US" sz="2400" dirty="0">
                <a:latin typeface="Arial" panose="020B0604020202020204" pitchFamily="34" charset="0"/>
                <a:cs typeface="Arial" panose="020B0604020202020204" pitchFamily="34" charset="0"/>
              </a:rPr>
              <a:t>Correlations between characteristics at different times can be computed</a:t>
            </a:r>
          </a:p>
          <a:p>
            <a:pPr lvl="1"/>
            <a:r>
              <a:rPr lang="en-US" sz="2400" dirty="0">
                <a:latin typeface="Arial" panose="020B0604020202020204" pitchFamily="34" charset="0"/>
                <a:cs typeface="Arial" panose="020B0604020202020204" pitchFamily="34" charset="0"/>
              </a:rPr>
              <a:t>Con</a:t>
            </a:r>
          </a:p>
          <a:p>
            <a:pPr lvl="2"/>
            <a:r>
              <a:rPr lang="en-US" sz="2400" dirty="0">
                <a:latin typeface="Arial" panose="020B0604020202020204" pitchFamily="34" charset="0"/>
                <a:cs typeface="Arial" panose="020B0604020202020204" pitchFamily="34" charset="0"/>
              </a:rPr>
              <a:t>Participants may be lost to follow-up</a:t>
            </a:r>
          </a:p>
          <a:p>
            <a:pPr lvl="2"/>
            <a:r>
              <a:rPr lang="en-US" sz="2400" dirty="0">
                <a:latin typeface="Arial" panose="020B0604020202020204" pitchFamily="34" charset="0"/>
                <a:cs typeface="Arial" panose="020B0604020202020204" pitchFamily="34" charset="0"/>
              </a:rPr>
              <a:t>Characteristic being measured may change because participants have experience with the instrument</a:t>
            </a:r>
          </a:p>
        </p:txBody>
      </p:sp>
    </p:spTree>
    <p:extLst>
      <p:ext uri="{BB962C8B-B14F-4D97-AF65-F5344CB8AC3E}">
        <p14:creationId xmlns:p14="http://schemas.microsoft.com/office/powerpoint/2010/main" val="377072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31056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Compromise: Cohort-Sequential Design</a:t>
            </a:r>
          </a:p>
        </p:txBody>
      </p:sp>
      <p:sp>
        <p:nvSpPr>
          <p:cNvPr id="3" name="Text Placeholder 2"/>
          <p:cNvSpPr>
            <a:spLocks noGrp="1"/>
          </p:cNvSpPr>
          <p:nvPr>
            <p:ph type="body" idx="1"/>
          </p:nvPr>
        </p:nvSpPr>
        <p:spPr>
          <a:xfrm>
            <a:off x="395288" y="2152650"/>
            <a:ext cx="8310562" cy="356808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Addresses weaknesses of longitudinal and cross-sectional designs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Includes two or more age groups (the cross-sectional piece), followed over a period of time (the longitudinal piece)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Allows calculation of correlations between measures taken at two different time periods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Predictions can be made across time</a:t>
            </a:r>
          </a:p>
        </p:txBody>
      </p:sp>
    </p:spTree>
    <p:extLst>
      <p:ext uri="{BB962C8B-B14F-4D97-AF65-F5344CB8AC3E}">
        <p14:creationId xmlns:p14="http://schemas.microsoft.com/office/powerpoint/2010/main" val="386584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Experience-Sampling Methods (</a:t>
            </a:r>
            <a:r>
              <a:rPr lang="en-US" sz="3600" kern="1200" spc="-500" dirty="0">
                <a:latin typeface="+mj-lt"/>
                <a:ea typeface="+mj-ea"/>
                <a:cs typeface="Times New Roman" panose="02020603050405020304" pitchFamily="18" charset="0"/>
              </a:rPr>
              <a:t>E S </a:t>
            </a:r>
            <a:r>
              <a:rPr lang="en-US" sz="3600" kern="1200" dirty="0">
                <a:latin typeface="+mj-lt"/>
                <a:ea typeface="+mj-ea"/>
                <a:cs typeface="Times New Roman" panose="02020603050405020304" pitchFamily="18" charset="0"/>
              </a:rPr>
              <a:t>M)</a:t>
            </a:r>
          </a:p>
        </p:txBody>
      </p:sp>
      <p:sp>
        <p:nvSpPr>
          <p:cNvPr id="3" name="Text Placeholder 2"/>
          <p:cNvSpPr>
            <a:spLocks noGrp="1"/>
          </p:cNvSpPr>
          <p:nvPr>
            <p:ph type="body" idx="1"/>
          </p:nvPr>
        </p:nvSpPr>
        <p:spPr>
          <a:xfrm>
            <a:off x="395287" y="1457325"/>
            <a:ext cx="8320087" cy="4185731"/>
          </a:xfrm>
        </p:spPr>
        <p:txBody>
          <a:bodyPr wrap="square" lIns="0" tIns="18000" rIns="0" bIns="18000">
            <a:spAutoFit/>
          </a:bodyPr>
          <a:lstStyle/>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An experience-sampling method (E</a:t>
            </a:r>
            <a:r>
              <a:rPr lang="en-US" sz="100" kern="1200" dirty="0">
                <a:solidFill>
                  <a:srgbClr val="000000"/>
                </a:solidFill>
                <a:latin typeface="Arial" panose="020B0604020202020204" pitchFamily="34" charset="0"/>
                <a:ea typeface="+mn-ea"/>
                <a:cs typeface="Arial" panose="020B0604020202020204" pitchFamily="34" charset="0"/>
              </a:rPr>
              <a:t> </a:t>
            </a:r>
            <a:r>
              <a:rPr lang="en-US" sz="2000" kern="1200" dirty="0">
                <a:solidFill>
                  <a:srgbClr val="000000"/>
                </a:solidFill>
                <a:latin typeface="Arial" panose="020B0604020202020204" pitchFamily="34" charset="0"/>
                <a:ea typeface="+mn-ea"/>
                <a:cs typeface="Arial" panose="020B0604020202020204" pitchFamily="34" charset="0"/>
              </a:rPr>
              <a:t>S</a:t>
            </a:r>
            <a:r>
              <a:rPr lang="en-US" sz="100" kern="1200" dirty="0">
                <a:solidFill>
                  <a:srgbClr val="000000"/>
                </a:solidFill>
                <a:latin typeface="Arial" panose="020B0604020202020204" pitchFamily="34" charset="0"/>
                <a:ea typeface="+mn-ea"/>
                <a:cs typeface="Arial" panose="020B0604020202020204" pitchFamily="34" charset="0"/>
              </a:rPr>
              <a:t> </a:t>
            </a:r>
            <a:r>
              <a:rPr lang="en-US" sz="2000" kern="1200" dirty="0">
                <a:solidFill>
                  <a:srgbClr val="000000"/>
                </a:solidFill>
                <a:latin typeface="Arial" panose="020B0604020202020204" pitchFamily="34" charset="0"/>
                <a:ea typeface="+mn-ea"/>
                <a:cs typeface="Arial" panose="020B0604020202020204" pitchFamily="34" charset="0"/>
              </a:rPr>
              <a:t>M) is an approach in which a researcher collects frequent and ongoing data about people as they live their normal, everyday lives</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Successfully used in both quantitative and qualitative projects</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Advantages of E</a:t>
            </a:r>
            <a:r>
              <a:rPr lang="en-US" sz="100" kern="1200" dirty="0">
                <a:solidFill>
                  <a:srgbClr val="000000"/>
                </a:solidFill>
                <a:latin typeface="Arial" panose="020B0604020202020204" pitchFamily="34" charset="0"/>
                <a:ea typeface="+mn-ea"/>
                <a:cs typeface="Arial" panose="020B0604020202020204" pitchFamily="34" charset="0"/>
              </a:rPr>
              <a:t> </a:t>
            </a:r>
            <a:r>
              <a:rPr lang="en-US" sz="2000" kern="1200" dirty="0">
                <a:solidFill>
                  <a:srgbClr val="000000"/>
                </a:solidFill>
                <a:latin typeface="Arial" panose="020B0604020202020204" pitchFamily="34" charset="0"/>
                <a:ea typeface="+mn-ea"/>
                <a:cs typeface="Arial" panose="020B0604020202020204" pitchFamily="34" charset="0"/>
              </a:rPr>
              <a:t>S</a:t>
            </a:r>
            <a:r>
              <a:rPr lang="en-US" sz="100" kern="1200" dirty="0">
                <a:solidFill>
                  <a:srgbClr val="000000"/>
                </a:solidFill>
                <a:latin typeface="Arial" panose="020B0604020202020204" pitchFamily="34" charset="0"/>
                <a:ea typeface="+mn-ea"/>
                <a:cs typeface="Arial" panose="020B0604020202020204" pitchFamily="34" charset="0"/>
              </a:rPr>
              <a:t> </a:t>
            </a:r>
            <a:r>
              <a:rPr lang="en-US" sz="2000" kern="1200" dirty="0">
                <a:solidFill>
                  <a:srgbClr val="000000"/>
                </a:solidFill>
                <a:latin typeface="Arial" panose="020B0604020202020204" pitchFamily="34" charset="0"/>
                <a:ea typeface="+mn-ea"/>
                <a:cs typeface="Arial" panose="020B0604020202020204" pitchFamily="34" charset="0"/>
              </a:rPr>
              <a:t>M methods:</a:t>
            </a:r>
          </a:p>
          <a:p>
            <a:pPr marL="741553" lvl="1" indent="-284353">
              <a:spcAft>
                <a:spcPct val="0"/>
              </a:spcAft>
            </a:pPr>
            <a:r>
              <a:rPr lang="en-US" sz="2000" kern="1200" dirty="0">
                <a:solidFill>
                  <a:srgbClr val="000000"/>
                </a:solidFill>
                <a:latin typeface="Arial" panose="020B0604020202020204" pitchFamily="34" charset="0"/>
                <a:ea typeface="+mn-ea"/>
                <a:cs typeface="Arial" panose="020B0604020202020204" pitchFamily="34" charset="0"/>
              </a:rPr>
              <a:t>Potential for increased accuracy and validity of assessments</a:t>
            </a:r>
          </a:p>
          <a:p>
            <a:pPr marL="741553" lvl="1" indent="-284353">
              <a:spcAft>
                <a:spcPct val="0"/>
              </a:spcAft>
            </a:pPr>
            <a:r>
              <a:rPr lang="en-US" sz="2000" kern="1200" dirty="0">
                <a:solidFill>
                  <a:srgbClr val="000000"/>
                </a:solidFill>
                <a:latin typeface="Arial" panose="020B0604020202020204" pitchFamily="34" charset="0"/>
                <a:ea typeface="+mn-ea"/>
                <a:cs typeface="Arial" panose="020B0604020202020204" pitchFamily="34" charset="0"/>
              </a:rPr>
              <a:t>Researcher gains data that might be useful in determining test-retest reliability.</a:t>
            </a:r>
          </a:p>
          <a:p>
            <a:pPr marL="741553" lvl="1" indent="-284353">
              <a:spcAft>
                <a:spcPct val="0"/>
              </a:spcAft>
            </a:pPr>
            <a:r>
              <a:rPr lang="en-US" sz="2000" kern="1200" dirty="0">
                <a:solidFill>
                  <a:srgbClr val="000000"/>
                </a:solidFill>
                <a:latin typeface="Arial" panose="020B0604020202020204" pitchFamily="34" charset="0"/>
                <a:ea typeface="+mn-ea"/>
                <a:cs typeface="Arial" panose="020B0604020202020204" pitchFamily="34" charset="0"/>
              </a:rPr>
              <a:t>Useful if the researcher wants to collect longitudinal data as a means of investigating any short-term changes in characteristic as environmental or behavioral variables change</a:t>
            </a:r>
          </a:p>
        </p:txBody>
      </p:sp>
    </p:spTree>
    <p:extLst>
      <p:ext uri="{BB962C8B-B14F-4D97-AF65-F5344CB8AC3E}">
        <p14:creationId xmlns:p14="http://schemas.microsoft.com/office/powerpoint/2010/main" val="3168973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3169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Survey Research</a:t>
            </a:r>
          </a:p>
        </p:txBody>
      </p:sp>
      <p:sp>
        <p:nvSpPr>
          <p:cNvPr id="3" name="Text Placeholder 2"/>
          <p:cNvSpPr>
            <a:spLocks noGrp="1"/>
          </p:cNvSpPr>
          <p:nvPr>
            <p:ph type="body" idx="1"/>
          </p:nvPr>
        </p:nvSpPr>
        <p:spPr>
          <a:xfrm>
            <a:off x="395288" y="1457325"/>
            <a:ext cx="8316911" cy="3568088"/>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Goal is to learn about a large population by surveying a sample of that population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Also called a </a:t>
            </a:r>
            <a:r>
              <a:rPr lang="en-US" altLang="en-US" sz="2400" b="1" kern="1200" dirty="0">
                <a:solidFill>
                  <a:srgbClr val="000000"/>
                </a:solidFill>
                <a:latin typeface="Arial" panose="020B0604020202020204" pitchFamily="34" charset="0"/>
                <a:ea typeface="+mn-ea"/>
                <a:cs typeface="Arial" panose="020B0604020202020204" pitchFamily="34" charset="0"/>
              </a:rPr>
              <a:t>descriptive survey </a:t>
            </a:r>
            <a:r>
              <a:rPr lang="en-US" altLang="en-US" sz="2400" kern="1200" dirty="0">
                <a:solidFill>
                  <a:srgbClr val="000000"/>
                </a:solidFill>
                <a:latin typeface="Arial" panose="020B0604020202020204" pitchFamily="34" charset="0"/>
                <a:ea typeface="+mn-ea"/>
                <a:cs typeface="Arial" panose="020B0604020202020204" pitchFamily="34" charset="0"/>
              </a:rPr>
              <a:t>or </a:t>
            </a:r>
            <a:r>
              <a:rPr lang="en-US" altLang="en-US" sz="2400" b="1" kern="1200" dirty="0">
                <a:solidFill>
                  <a:srgbClr val="000000"/>
                </a:solidFill>
                <a:latin typeface="Arial" panose="020B0604020202020204" pitchFamily="34" charset="0"/>
                <a:ea typeface="+mn-ea"/>
                <a:cs typeface="Arial" panose="020B0604020202020204" pitchFamily="34" charset="0"/>
              </a:rPr>
              <a:t>normative survey</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Simple design – researcher poses a series of questions, quantifies responses, and draws inferences about a population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Captures a fleeting moment of time — extrapolation can be made about a longer period of time</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6079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Types of Survey Research</a:t>
            </a:r>
          </a:p>
        </p:txBody>
      </p:sp>
      <p:sp>
        <p:nvSpPr>
          <p:cNvPr id="3" name="Text Placeholder 2"/>
          <p:cNvSpPr>
            <a:spLocks noGrp="1"/>
          </p:cNvSpPr>
          <p:nvPr>
            <p:ph type="body" idx="1"/>
          </p:nvPr>
        </p:nvSpPr>
        <p:spPr>
          <a:xfrm>
            <a:off x="395288" y="1457325"/>
            <a:ext cx="8291512" cy="3645032"/>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Interview</a:t>
            </a:r>
          </a:p>
          <a:p>
            <a:pPr lvl="1"/>
            <a:r>
              <a:rPr lang="en-US" sz="2400" dirty="0">
                <a:latin typeface="Arial" panose="020B0604020202020204" pitchFamily="34" charset="0"/>
                <a:cs typeface="Arial" panose="020B0604020202020204" pitchFamily="34" charset="0"/>
              </a:rPr>
              <a:t>Structured or semi-structured</a:t>
            </a:r>
          </a:p>
          <a:p>
            <a:pPr lvl="1"/>
            <a:r>
              <a:rPr lang="en-US" sz="2400" dirty="0">
                <a:latin typeface="Arial" panose="020B0604020202020204" pitchFamily="34" charset="0"/>
                <a:cs typeface="Arial" panose="020B0604020202020204" pitchFamily="34" charset="0"/>
              </a:rPr>
              <a:t>Face-to-face, telephone, video conference</a:t>
            </a:r>
          </a:p>
          <a:p>
            <a:pPr lvl="1"/>
            <a:r>
              <a:rPr lang="en-US" sz="2400" dirty="0">
                <a:latin typeface="Arial" panose="020B0604020202020204" pitchFamily="34" charset="0"/>
                <a:cs typeface="Arial" panose="020B0604020202020204" pitchFamily="34" charset="0"/>
              </a:rPr>
              <a:t>High response rate</a:t>
            </a:r>
          </a:p>
          <a:p>
            <a:r>
              <a:rPr lang="en-US" sz="2400" dirty="0">
                <a:latin typeface="Arial" panose="020B0604020202020204" pitchFamily="34" charset="0"/>
                <a:cs typeface="Arial" panose="020B0604020202020204" pitchFamily="34" charset="0"/>
              </a:rPr>
              <a:t>Questionnaire</a:t>
            </a:r>
          </a:p>
          <a:p>
            <a:pPr lvl="1"/>
            <a:r>
              <a:rPr lang="en-US" sz="2400" dirty="0">
                <a:latin typeface="Arial" panose="020B0604020202020204" pitchFamily="34" charset="0"/>
                <a:cs typeface="Arial" panose="020B0604020202020204" pitchFamily="34" charset="0"/>
              </a:rPr>
              <a:t>Paper-and-pencil or computerized</a:t>
            </a:r>
          </a:p>
          <a:p>
            <a:pPr lvl="1"/>
            <a:r>
              <a:rPr lang="en-US" sz="2400" dirty="0">
                <a:latin typeface="Arial" panose="020B0604020202020204" pitchFamily="34" charset="0"/>
                <a:cs typeface="Arial" panose="020B0604020202020204" pitchFamily="34" charset="0"/>
              </a:rPr>
              <a:t>Low return rate</a:t>
            </a:r>
          </a:p>
          <a:p>
            <a:pPr lvl="1"/>
            <a:r>
              <a:rPr lang="en-US" sz="2400" dirty="0">
                <a:latin typeface="Arial" panose="020B0604020202020204" pitchFamily="34" charset="0"/>
                <a:cs typeface="Arial" panose="020B0604020202020204" pitchFamily="34" charset="0"/>
              </a:rPr>
              <a:t>Assurance of remaining anonymous</a:t>
            </a:r>
          </a:p>
        </p:txBody>
      </p:sp>
    </p:spTree>
    <p:extLst>
      <p:ext uri="{BB962C8B-B14F-4D97-AF65-F5344CB8AC3E}">
        <p14:creationId xmlns:p14="http://schemas.microsoft.com/office/powerpoint/2010/main" val="828670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Data Collection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457325"/>
            <a:ext cx="8291512" cy="22677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Checklist: a list of behaviors, characteristics, or other entities under investigation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Limited information: observed or not observed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Rating scale: used to evaluate a behavior, attitude etc. on a continuum (“never” to “always”)</a:t>
            </a:r>
          </a:p>
        </p:txBody>
      </p:sp>
    </p:spTree>
    <p:extLst>
      <p:ext uri="{BB962C8B-B14F-4D97-AF65-F5344CB8AC3E}">
        <p14:creationId xmlns:p14="http://schemas.microsoft.com/office/powerpoint/2010/main" val="2435452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Data Collection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1457325"/>
            <a:ext cx="8291512" cy="2229260"/>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May be ordinal or interval scale</a:t>
            </a:r>
          </a:p>
          <a:p>
            <a:pPr lvl="1"/>
            <a:r>
              <a:rPr lang="en-US" sz="2400" dirty="0">
                <a:latin typeface="Arial" panose="020B0604020202020204" pitchFamily="34" charset="0"/>
                <a:cs typeface="Arial" panose="020B0604020202020204" pitchFamily="34" charset="0"/>
              </a:rPr>
              <a:t>People may not interpret scale the same way</a:t>
            </a:r>
          </a:p>
          <a:p>
            <a:r>
              <a:rPr lang="en-US" sz="2400" dirty="0">
                <a:latin typeface="Arial" panose="020B0604020202020204" pitchFamily="34" charset="0"/>
                <a:cs typeface="Arial" panose="020B0604020202020204" pitchFamily="34" charset="0"/>
              </a:rPr>
              <a:t>Rubric: two or more rating scales, with concrete descriptions of behavior for each scale point</a:t>
            </a:r>
          </a:p>
          <a:p>
            <a:pPr lvl="1"/>
            <a:r>
              <a:rPr lang="en-US" sz="2400" dirty="0">
                <a:latin typeface="Arial" panose="020B0604020202020204" pitchFamily="34" charset="0"/>
                <a:cs typeface="Arial" panose="020B0604020202020204" pitchFamily="34" charset="0"/>
              </a:rPr>
              <a:t>Scales may not address the same things</a:t>
            </a:r>
          </a:p>
        </p:txBody>
      </p:sp>
    </p:spTree>
    <p:extLst>
      <p:ext uri="{BB962C8B-B14F-4D97-AF65-F5344CB8AC3E}">
        <p14:creationId xmlns:p14="http://schemas.microsoft.com/office/powerpoint/2010/main" val="1720659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Computerizing Observations</a:t>
            </a:r>
          </a:p>
        </p:txBody>
      </p:sp>
      <p:sp>
        <p:nvSpPr>
          <p:cNvPr id="3" name="Text Placeholder 2"/>
          <p:cNvSpPr>
            <a:spLocks noGrp="1"/>
          </p:cNvSpPr>
          <p:nvPr>
            <p:ph type="body" idx="1"/>
          </p:nvPr>
        </p:nvSpPr>
        <p:spPr>
          <a:xfrm>
            <a:off x="395288" y="1457325"/>
            <a:ext cx="8291512" cy="152906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 a computer to record what you see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 a spreadsheet to organize the data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Consider software specific to your purpose</a:t>
            </a:r>
          </a:p>
        </p:txBody>
      </p:sp>
    </p:spTree>
    <p:extLst>
      <p:ext uri="{BB962C8B-B14F-4D97-AF65-F5344CB8AC3E}">
        <p14:creationId xmlns:p14="http://schemas.microsoft.com/office/powerpoint/2010/main" val="3620637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29151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Conducting Interviews in a Quantitative Study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2105025"/>
            <a:ext cx="8291512" cy="3021784"/>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Ask questions that help answer the research question</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Write questions with quantifiable answers (numerical codes)</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Restrict questions to a single idea</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asking a few questions to elicit qualitative data</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Use a computer to streamline the process</a:t>
            </a:r>
          </a:p>
        </p:txBody>
      </p:sp>
    </p:spTree>
    <p:extLst>
      <p:ext uri="{BB962C8B-B14F-4D97-AF65-F5344CB8AC3E}">
        <p14:creationId xmlns:p14="http://schemas.microsoft.com/office/powerpoint/2010/main" val="2250602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29151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Conducting Interviews in a Quantitative Study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2095500"/>
            <a:ext cx="8291511" cy="3021784"/>
          </a:xfrm>
        </p:spPr>
        <p:txBody>
          <a:bodyPr wrap="square" lIns="0" tIns="18000" rIns="0" bIns="18000">
            <a:spAutoFit/>
          </a:bodyPr>
          <a:lstStyle/>
          <a:p>
            <a:pPr marL="432054" lvl="0" indent="-432054">
              <a:spcAft>
                <a:spcPct val="0"/>
              </a:spcAft>
              <a:buSzPts val="2400"/>
              <a:buFont typeface="+mj-lt"/>
              <a:buAutoNum type="arabicPeriod" startAt="6"/>
              <a:tabLst/>
            </a:pPr>
            <a:r>
              <a:rPr lang="en-US" sz="2400" kern="1200" dirty="0">
                <a:solidFill>
                  <a:srgbClr val="000000"/>
                </a:solidFill>
                <a:latin typeface="Arial" panose="020B0604020202020204" pitchFamily="34" charset="0"/>
                <a:ea typeface="+mn-ea"/>
                <a:cs typeface="Arial" panose="020B0604020202020204" pitchFamily="34" charset="0"/>
              </a:rPr>
              <a:t>Conduct pilot test(s)</a:t>
            </a:r>
          </a:p>
          <a:p>
            <a:pPr marL="432054" lvl="0" indent="-432054">
              <a:spcAft>
                <a:spcPct val="0"/>
              </a:spcAft>
              <a:buSzPts val="2400"/>
              <a:buFont typeface="+mj-lt"/>
              <a:buAutoNum type="arabicPeriod" startAt="6"/>
              <a:tabLst/>
            </a:pPr>
            <a:r>
              <a:rPr lang="en-US" sz="2400" kern="1200" dirty="0">
                <a:solidFill>
                  <a:srgbClr val="000000"/>
                </a:solidFill>
                <a:latin typeface="Arial" panose="020B0604020202020204" pitchFamily="34" charset="0"/>
                <a:ea typeface="+mn-ea"/>
                <a:cs typeface="Arial" panose="020B0604020202020204" pitchFamily="34" charset="0"/>
              </a:rPr>
              <a:t>Introduce yourself and explain the purpose of the study</a:t>
            </a:r>
          </a:p>
          <a:p>
            <a:pPr marL="432054" lvl="0" indent="-432054">
              <a:spcAft>
                <a:spcPct val="0"/>
              </a:spcAft>
              <a:buSzPts val="2400"/>
              <a:buFont typeface="+mj-lt"/>
              <a:buAutoNum type="arabicPeriod" startAt="6"/>
              <a:tabLst/>
            </a:pPr>
            <a:r>
              <a:rPr lang="en-US" sz="2400" kern="1200" dirty="0">
                <a:solidFill>
                  <a:srgbClr val="000000"/>
                </a:solidFill>
                <a:latin typeface="Arial" panose="020B0604020202020204" pitchFamily="34" charset="0"/>
                <a:ea typeface="+mn-ea"/>
                <a:cs typeface="Arial" panose="020B0604020202020204" pitchFamily="34" charset="0"/>
              </a:rPr>
              <a:t>Be sure participants offer informed consent in writing</a:t>
            </a:r>
          </a:p>
          <a:p>
            <a:pPr marL="432054" lvl="0" indent="-432054">
              <a:spcAft>
                <a:spcPct val="0"/>
              </a:spcAft>
              <a:buSzPts val="2400"/>
              <a:buFont typeface="+mj-lt"/>
              <a:buAutoNum type="arabicPeriod" startAt="6"/>
              <a:tabLst/>
            </a:pPr>
            <a:r>
              <a:rPr lang="en-US" sz="2400" kern="1200" dirty="0">
                <a:solidFill>
                  <a:srgbClr val="000000"/>
                </a:solidFill>
                <a:latin typeface="Arial" panose="020B0604020202020204" pitchFamily="34" charset="0"/>
                <a:ea typeface="+mn-ea"/>
                <a:cs typeface="Arial" panose="020B0604020202020204" pitchFamily="34" charset="0"/>
              </a:rPr>
              <a:t>Ask controversial questions in the latter part of the interview</a:t>
            </a:r>
          </a:p>
          <a:p>
            <a:pPr marL="432054" lvl="0" indent="-432054">
              <a:spcAft>
                <a:spcPct val="0"/>
              </a:spcAft>
              <a:buSzPts val="2400"/>
              <a:buFont typeface="+mj-lt"/>
              <a:buAutoNum type="arabicPeriod" startAt="6"/>
              <a:tabLst/>
            </a:pPr>
            <a:r>
              <a:rPr lang="en-US" sz="2400" kern="1200" dirty="0">
                <a:solidFill>
                  <a:srgbClr val="000000"/>
                </a:solidFill>
                <a:latin typeface="Arial" panose="020B0604020202020204" pitchFamily="34" charset="0"/>
                <a:ea typeface="+mn-ea"/>
                <a:cs typeface="Arial" panose="020B0604020202020204" pitchFamily="34" charset="0"/>
              </a:rPr>
              <a:t>Seek clarifying information as needed</a:t>
            </a:r>
          </a:p>
        </p:txBody>
      </p:sp>
    </p:spTree>
    <p:extLst>
      <p:ext uri="{BB962C8B-B14F-4D97-AF65-F5344CB8AC3E}">
        <p14:creationId xmlns:p14="http://schemas.microsoft.com/office/powerpoint/2010/main" val="2469830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Constructing a Questionnaire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395288" y="1457325"/>
            <a:ext cx="8291512" cy="2090760"/>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Keep it short</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Keep the respondent’s task simple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Provide specific instructions</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Use simple, clear, unambiguous language</a:t>
            </a:r>
          </a:p>
        </p:txBody>
      </p:sp>
    </p:spTree>
    <p:extLst>
      <p:ext uri="{BB962C8B-B14F-4D97-AF65-F5344CB8AC3E}">
        <p14:creationId xmlns:p14="http://schemas.microsoft.com/office/powerpoint/2010/main" val="2275478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Constructing a Questionnaire </a:t>
            </a:r>
            <a:r>
              <a:rPr lang="en-US" sz="28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395288" y="1457325"/>
            <a:ext cx="8291512" cy="3198756"/>
          </a:xfrm>
        </p:spPr>
        <p:txBody>
          <a:bodyPr wrap="square" lIns="0" tIns="18000" rIns="0" bIns="18000">
            <a:spAutoFit/>
          </a:bodyPr>
          <a:lstStyle/>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Give a rationale for any item for which the purpose is unclear</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Check for unwarranted assumptions implicit in the question</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Word your questions in ways that don’t give clues about preferred or more desirable responses</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Determine in advance how you will code the responses</a:t>
            </a:r>
          </a:p>
        </p:txBody>
      </p:sp>
    </p:spTree>
    <p:extLst>
      <p:ext uri="{BB962C8B-B14F-4D97-AF65-F5344CB8AC3E}">
        <p14:creationId xmlns:p14="http://schemas.microsoft.com/office/powerpoint/2010/main" val="3265589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Constructing a Questionnaire </a:t>
            </a:r>
            <a:r>
              <a:rPr lang="en-US" sz="28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395288" y="1457325"/>
            <a:ext cx="8291512" cy="3198756"/>
          </a:xfrm>
        </p:spPr>
        <p:txBody>
          <a:bodyPr wrap="square" lIns="0" tIns="18000" rIns="0" bIns="18000">
            <a:spAutoFit/>
          </a:bodyPr>
          <a:lstStyle/>
          <a:p>
            <a:pPr marL="432054" lvl="0" indent="-432054">
              <a:spcAft>
                <a:spcPct val="0"/>
              </a:spcAft>
              <a:buSzPts val="2400"/>
              <a:buFont typeface="+mj-lt"/>
              <a:buAutoNum type="arabicPeriod" startAt="9"/>
              <a:tabLst/>
            </a:pPr>
            <a:r>
              <a:rPr lang="en-US" sz="2400" kern="1200" dirty="0">
                <a:solidFill>
                  <a:srgbClr val="000000"/>
                </a:solidFill>
                <a:latin typeface="Arial" panose="020B0604020202020204" pitchFamily="34" charset="0"/>
                <a:ea typeface="+mn-ea"/>
                <a:cs typeface="Arial" panose="020B0604020202020204" pitchFamily="34" charset="0"/>
              </a:rPr>
              <a:t>Check for consistency</a:t>
            </a:r>
          </a:p>
          <a:p>
            <a:pPr marL="432054" lvl="0" indent="-432054">
              <a:spcAft>
                <a:spcPct val="0"/>
              </a:spcAft>
              <a:buSzPts val="2400"/>
              <a:buFont typeface="+mj-lt"/>
              <a:buAutoNum type="arabicPeriod" startAt="9"/>
              <a:tabLst/>
            </a:pPr>
            <a:r>
              <a:rPr lang="en-US" sz="2400" kern="1200" dirty="0">
                <a:solidFill>
                  <a:srgbClr val="000000"/>
                </a:solidFill>
                <a:latin typeface="Arial" panose="020B0604020202020204" pitchFamily="34" charset="0"/>
                <a:ea typeface="+mn-ea"/>
                <a:cs typeface="Arial" panose="020B0604020202020204" pitchFamily="34" charset="0"/>
              </a:rPr>
              <a:t>Conduct one or more pilot tests to determine the validity of your questionnaire</a:t>
            </a:r>
          </a:p>
          <a:p>
            <a:pPr marL="432054" lvl="0" indent="-432054">
              <a:spcAft>
                <a:spcPct val="0"/>
              </a:spcAft>
              <a:buSzPts val="2400"/>
              <a:buFont typeface="+mj-lt"/>
              <a:buAutoNum type="arabicPeriod" startAt="9"/>
              <a:tabLst/>
            </a:pPr>
            <a:r>
              <a:rPr lang="en-US" sz="2400" kern="1200" dirty="0">
                <a:solidFill>
                  <a:srgbClr val="000000"/>
                </a:solidFill>
                <a:latin typeface="Arial" panose="020B0604020202020204" pitchFamily="34" charset="0"/>
                <a:ea typeface="+mn-ea"/>
                <a:cs typeface="Arial" panose="020B0604020202020204" pitchFamily="34" charset="0"/>
              </a:rPr>
              <a:t>Scrutinize the almost-final product to make sure it addresses your needs</a:t>
            </a:r>
          </a:p>
          <a:p>
            <a:pPr marL="432054" lvl="0" indent="-432054">
              <a:spcAft>
                <a:spcPct val="0"/>
              </a:spcAft>
              <a:buSzPts val="2400"/>
              <a:buFont typeface="+mj-lt"/>
              <a:buAutoNum type="arabicPeriod" startAt="9"/>
              <a:tabLst/>
            </a:pPr>
            <a:r>
              <a:rPr lang="en-US" sz="2400" kern="1200" dirty="0">
                <a:solidFill>
                  <a:srgbClr val="000000"/>
                </a:solidFill>
                <a:latin typeface="Arial" panose="020B0604020202020204" pitchFamily="34" charset="0"/>
                <a:ea typeface="+mn-ea"/>
                <a:cs typeface="Arial" panose="020B0604020202020204" pitchFamily="34" charset="0"/>
              </a:rPr>
              <a:t>Make the questionnaire attractive and professional looking</a:t>
            </a:r>
          </a:p>
        </p:txBody>
      </p:sp>
    </p:spTree>
    <p:extLst>
      <p:ext uri="{BB962C8B-B14F-4D97-AF65-F5344CB8AC3E}">
        <p14:creationId xmlns:p14="http://schemas.microsoft.com/office/powerpoint/2010/main" val="1558250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44503"/>
            <a:ext cx="8291512" cy="1144347"/>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Using Technology When Administering Questionnaires</a:t>
            </a:r>
          </a:p>
        </p:txBody>
      </p:sp>
      <p:sp>
        <p:nvSpPr>
          <p:cNvPr id="3" name="Text Placeholder 2"/>
          <p:cNvSpPr>
            <a:spLocks noGrp="1"/>
          </p:cNvSpPr>
          <p:nvPr>
            <p:ph type="body" idx="1"/>
          </p:nvPr>
        </p:nvSpPr>
        <p:spPr>
          <a:xfrm>
            <a:off x="395288" y="1981200"/>
            <a:ext cx="8291512" cy="4278064"/>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Ask participants in the same location to answer directly on a laptop or tablet</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When participants are at diverse locations, use email to request participation and obtain responses</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If you use paper mail delivery, us a word-processing program to personalize your correspondence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Use a scanner to facilitate data tabulation</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Use a computer database to keep track of who has responded and who has not</a:t>
            </a:r>
          </a:p>
        </p:txBody>
      </p:sp>
    </p:spTree>
    <p:extLst>
      <p:ext uri="{BB962C8B-B14F-4D97-AF65-F5344CB8AC3E}">
        <p14:creationId xmlns:p14="http://schemas.microsoft.com/office/powerpoint/2010/main" val="1783680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Maximizing the Return Rate </a:t>
            </a:r>
            <a:r>
              <a:rPr lang="en-US" sz="2800" kern="1200" dirty="0">
                <a:latin typeface="+mj-lt"/>
                <a:ea typeface="+mj-ea"/>
                <a:cs typeface="Times New Roman" panose="02020603050405020304" pitchFamily="18" charset="0"/>
              </a:rPr>
              <a:t>(1 of 2)</a:t>
            </a:r>
          </a:p>
        </p:txBody>
      </p:sp>
      <p:sp>
        <p:nvSpPr>
          <p:cNvPr id="13" name="Content Placeholder 12">
            <a:extLst>
              <a:ext uri="{FF2B5EF4-FFF2-40B4-BE49-F238E27FC236}">
                <a16:creationId xmlns:a16="http://schemas.microsoft.com/office/drawing/2014/main" id="{3FF6C79E-C8C2-4A7A-AEAF-7E04E17F2730}"/>
              </a:ext>
            </a:extLst>
          </p:cNvPr>
          <p:cNvSpPr>
            <a:spLocks noGrp="1"/>
          </p:cNvSpPr>
          <p:nvPr>
            <p:ph sz="quarter" idx="13"/>
          </p:nvPr>
        </p:nvSpPr>
        <p:spPr>
          <a:xfrm>
            <a:off x="395288" y="1458913"/>
            <a:ext cx="8291512" cy="405683"/>
          </a:xfrm>
        </p:spPr>
        <p:txBody>
          <a:bodyPr wrap="square" lIns="0" tIns="18000" rIns="0" bIns="18000">
            <a:spAutoFit/>
          </a:bodyPr>
          <a:lstStyle/>
          <a:p>
            <a:pPr marL="457632" indent="-457200">
              <a:buFont typeface="+mj-lt"/>
              <a:buAutoNum type="arabicPeriod"/>
            </a:pPr>
            <a:r>
              <a:rPr lang="en-IN" sz="2400" dirty="0">
                <a:latin typeface="Arial" panose="020B0604020202020204" pitchFamily="34" charset="0"/>
                <a:cs typeface="Arial" panose="020B0604020202020204" pitchFamily="34" charset="0"/>
              </a:rPr>
              <a:t>Consider the timing</a:t>
            </a:r>
          </a:p>
        </p:txBody>
      </p:sp>
      <p:sp>
        <p:nvSpPr>
          <p:cNvPr id="14" name="Content Placeholder 13">
            <a:extLst>
              <a:ext uri="{FF2B5EF4-FFF2-40B4-BE49-F238E27FC236}">
                <a16:creationId xmlns:a16="http://schemas.microsoft.com/office/drawing/2014/main" id="{D5D11231-9DE0-44A6-BA33-34E145B5682F}"/>
              </a:ext>
            </a:extLst>
          </p:cNvPr>
          <p:cNvSpPr>
            <a:spLocks noGrp="1"/>
          </p:cNvSpPr>
          <p:nvPr>
            <p:ph sz="quarter" idx="14"/>
          </p:nvPr>
        </p:nvSpPr>
        <p:spPr>
          <a:xfrm>
            <a:off x="395288" y="1941513"/>
            <a:ext cx="8316912" cy="405683"/>
          </a:xfrm>
        </p:spPr>
        <p:txBody>
          <a:bodyPr wrap="square" lIns="0" tIns="18000" rIns="0" bIns="18000">
            <a:spAutoFit/>
          </a:bodyPr>
          <a:lstStyle/>
          <a:p>
            <a:pPr marL="829818" lvl="1" indent="-342900"/>
            <a:r>
              <a:rPr lang="en-US" sz="2400" dirty="0">
                <a:latin typeface="Arial" panose="020B0604020202020204" pitchFamily="34" charset="0"/>
                <a:cs typeface="Arial" panose="020B0604020202020204" pitchFamily="34" charset="0"/>
              </a:rPr>
              <a:t>Avoid holidays and vacation times</a:t>
            </a:r>
            <a:endParaRPr lang="en-IN" sz="2400" dirty="0">
              <a:latin typeface="Arial" panose="020B0604020202020204" pitchFamily="34" charset="0"/>
              <a:cs typeface="Arial" panose="020B0604020202020204" pitchFamily="34" charset="0"/>
            </a:endParaRPr>
          </a:p>
        </p:txBody>
      </p:sp>
      <p:sp>
        <p:nvSpPr>
          <p:cNvPr id="15" name="Content Placeholder 14">
            <a:extLst>
              <a:ext uri="{FF2B5EF4-FFF2-40B4-BE49-F238E27FC236}">
                <a16:creationId xmlns:a16="http://schemas.microsoft.com/office/drawing/2014/main" id="{BD1701CA-4B4C-4EE9-8A25-F7824F423CBE}"/>
              </a:ext>
            </a:extLst>
          </p:cNvPr>
          <p:cNvSpPr>
            <a:spLocks noGrp="1"/>
          </p:cNvSpPr>
          <p:nvPr>
            <p:ph sz="quarter" idx="15"/>
          </p:nvPr>
        </p:nvSpPr>
        <p:spPr>
          <a:xfrm>
            <a:off x="395288" y="2471737"/>
            <a:ext cx="8229600" cy="967376"/>
          </a:xfrm>
        </p:spPr>
        <p:txBody>
          <a:bodyPr lIns="0" tIns="18000" rIns="0" bIns="18000">
            <a:spAutoFit/>
          </a:bodyPr>
          <a:lstStyle/>
          <a:p>
            <a:pPr marL="457200" indent="-457200">
              <a:buFont typeface="+mj-lt"/>
              <a:buAutoNum type="arabicPeriod" startAt="2"/>
            </a:pPr>
            <a:r>
              <a:rPr lang="en-US" sz="2400" dirty="0">
                <a:latin typeface="Arial" panose="020B0604020202020204" pitchFamily="34" charset="0"/>
                <a:cs typeface="Arial" panose="020B0604020202020204" pitchFamily="34" charset="0"/>
              </a:rPr>
              <a:t>Make a good first impression</a:t>
            </a:r>
          </a:p>
          <a:p>
            <a:pPr marL="457200" indent="-457200">
              <a:buFont typeface="+mj-lt"/>
              <a:buAutoNum type="arabicPeriod" startAt="2"/>
            </a:pPr>
            <a:r>
              <a:rPr lang="en-US" sz="2400" dirty="0">
                <a:latin typeface="Arial" panose="020B0604020202020204" pitchFamily="34" charset="0"/>
                <a:cs typeface="Arial" panose="020B0604020202020204" pitchFamily="34" charset="0"/>
              </a:rPr>
              <a:t>Motivate potential respondents</a:t>
            </a:r>
          </a:p>
        </p:txBody>
      </p:sp>
      <p:sp>
        <p:nvSpPr>
          <p:cNvPr id="16" name="Content Placeholder 15">
            <a:extLst>
              <a:ext uri="{FF2B5EF4-FFF2-40B4-BE49-F238E27FC236}">
                <a16:creationId xmlns:a16="http://schemas.microsoft.com/office/drawing/2014/main" id="{EB8EDF65-9A48-4638-A748-AE5FE1E39476}"/>
              </a:ext>
            </a:extLst>
          </p:cNvPr>
          <p:cNvSpPr>
            <a:spLocks noGrp="1"/>
          </p:cNvSpPr>
          <p:nvPr>
            <p:ph sz="quarter" idx="16"/>
          </p:nvPr>
        </p:nvSpPr>
        <p:spPr>
          <a:xfrm>
            <a:off x="395288" y="3532188"/>
            <a:ext cx="8291512" cy="1667567"/>
          </a:xfrm>
        </p:spPr>
        <p:txBody>
          <a:bodyPr wrap="square" lIns="0" tIns="18000" rIns="0" bIns="18000">
            <a:spAutoFit/>
          </a:bodyPr>
          <a:lstStyle/>
          <a:p>
            <a:pPr marL="852487" lvl="1" indent="-365125"/>
            <a:r>
              <a:rPr lang="en-US" sz="2400" dirty="0">
                <a:latin typeface="Arial" panose="020B0604020202020204" pitchFamily="34" charset="0"/>
                <a:cs typeface="Arial" panose="020B0604020202020204" pitchFamily="34" charset="0"/>
              </a:rPr>
              <a:t>Write a great cover letter</a:t>
            </a:r>
          </a:p>
          <a:p>
            <a:pPr marL="852487" lvl="1" indent="-365125"/>
            <a:r>
              <a:rPr lang="en-US" sz="2400" dirty="0">
                <a:latin typeface="Arial" panose="020B0604020202020204" pitchFamily="34" charset="0"/>
                <a:cs typeface="Arial" panose="020B0604020202020204" pitchFamily="34" charset="0"/>
              </a:rPr>
              <a:t>Include a self-addressed envelope with prepaid postage</a:t>
            </a:r>
          </a:p>
          <a:p>
            <a:pPr marL="852487" lvl="1" indent="-365125"/>
            <a:r>
              <a:rPr lang="en-US" sz="2400" dirty="0">
                <a:latin typeface="Arial" panose="020B0604020202020204" pitchFamily="34" charset="0"/>
                <a:cs typeface="Arial" panose="020B0604020202020204" pitchFamily="34" charset="0"/>
              </a:rPr>
              <a:t>Offer to send the results of your study</a:t>
            </a:r>
            <a:endParaRPr lang="en-IN" sz="2400" dirty="0">
              <a:latin typeface="Arial" panose="020B0604020202020204" pitchFamily="34" charset="0"/>
              <a:cs typeface="Arial" panose="020B0604020202020204" pitchFamily="34" charset="0"/>
            </a:endParaRPr>
          </a:p>
        </p:txBody>
      </p:sp>
      <p:sp>
        <p:nvSpPr>
          <p:cNvPr id="17" name="Content Placeholder 16">
            <a:extLst>
              <a:ext uri="{FF2B5EF4-FFF2-40B4-BE49-F238E27FC236}">
                <a16:creationId xmlns:a16="http://schemas.microsoft.com/office/drawing/2014/main" id="{D01B3357-5786-41EE-A861-2B3E2A808C4B}"/>
              </a:ext>
            </a:extLst>
          </p:cNvPr>
          <p:cNvSpPr>
            <a:spLocks noGrp="1"/>
          </p:cNvSpPr>
          <p:nvPr>
            <p:ph sz="quarter" idx="17"/>
          </p:nvPr>
        </p:nvSpPr>
        <p:spPr>
          <a:xfrm>
            <a:off x="395288" y="5248275"/>
            <a:ext cx="8291512" cy="775015"/>
          </a:xfrm>
        </p:spPr>
        <p:txBody>
          <a:bodyPr wrap="square" lIns="0" tIns="18000" rIns="0" bIns="18000">
            <a:spAutoFit/>
          </a:bodyPr>
          <a:lstStyle/>
          <a:p>
            <a:pPr marL="457200" indent="-457200">
              <a:buFont typeface="+mj-lt"/>
              <a:buAutoNum type="arabicPeriod" startAt="4"/>
            </a:pPr>
            <a:r>
              <a:rPr lang="en-US" sz="2400" dirty="0">
                <a:latin typeface="Arial" panose="020B0604020202020204" pitchFamily="34" charset="0"/>
                <a:cs typeface="Arial" panose="020B0604020202020204" pitchFamily="34" charset="0"/>
              </a:rPr>
              <a:t>If mailing your questionnaire, include a self-addressed envelope with return package.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3559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a:latin typeface="+mj-lt"/>
                <a:ea typeface="+mj-ea"/>
                <a:cs typeface="Times New Roman" panose="02020603050405020304" pitchFamily="18" charset="0"/>
              </a:rPr>
              <a:t>Maximizing the Return Rate </a:t>
            </a:r>
            <a:r>
              <a:rPr lang="en-US" sz="2800" kern="1200">
                <a:latin typeface="+mj-lt"/>
                <a:ea typeface="+mj-ea"/>
                <a:cs typeface="Times New Roman" panose="02020603050405020304" pitchFamily="18" charset="0"/>
              </a:rPr>
              <a:t>(2 of 2)</a:t>
            </a:r>
          </a:p>
        </p:txBody>
      </p:sp>
      <p:sp>
        <p:nvSpPr>
          <p:cNvPr id="7" name="Content Placeholder 6">
            <a:extLst>
              <a:ext uri="{FF2B5EF4-FFF2-40B4-BE49-F238E27FC236}">
                <a16:creationId xmlns:a16="http://schemas.microsoft.com/office/drawing/2014/main" id="{4E85008A-3261-4FB0-B98A-07645B0FB60A}"/>
              </a:ext>
            </a:extLst>
          </p:cNvPr>
          <p:cNvSpPr>
            <a:spLocks noGrp="1"/>
          </p:cNvSpPr>
          <p:nvPr>
            <p:ph sz="quarter" idx="13"/>
          </p:nvPr>
        </p:nvSpPr>
        <p:spPr>
          <a:xfrm>
            <a:off x="395288" y="1458913"/>
            <a:ext cx="8316912" cy="967376"/>
          </a:xfrm>
        </p:spPr>
        <p:txBody>
          <a:bodyPr lIns="0" tIns="18000" rIns="0" bIns="18000">
            <a:spAutoFit/>
          </a:bodyPr>
          <a:lstStyle/>
          <a:p>
            <a:pPr marL="457632" indent="-457200">
              <a:buFont typeface="+mj-lt"/>
              <a:buAutoNum type="arabicPeriod" startAt="5"/>
            </a:pPr>
            <a:r>
              <a:rPr lang="en-US" sz="2400" dirty="0">
                <a:latin typeface="Arial" panose="020B0604020202020204" pitchFamily="34" charset="0"/>
                <a:cs typeface="Arial" panose="020B0604020202020204" pitchFamily="34" charset="0"/>
              </a:rPr>
              <a:t>Offer the results of your study</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Be gently persistent</a:t>
            </a:r>
          </a:p>
        </p:txBody>
      </p:sp>
      <p:sp>
        <p:nvSpPr>
          <p:cNvPr id="8" name="Content Placeholder 7">
            <a:extLst>
              <a:ext uri="{FF2B5EF4-FFF2-40B4-BE49-F238E27FC236}">
                <a16:creationId xmlns:a16="http://schemas.microsoft.com/office/drawing/2014/main" id="{420869A0-DBA0-4EC3-BB57-5C7D0DB6AD01}"/>
              </a:ext>
            </a:extLst>
          </p:cNvPr>
          <p:cNvSpPr>
            <a:spLocks noGrp="1"/>
          </p:cNvSpPr>
          <p:nvPr>
            <p:ph sz="quarter" idx="14"/>
          </p:nvPr>
        </p:nvSpPr>
        <p:spPr>
          <a:xfrm>
            <a:off x="395288" y="2554287"/>
            <a:ext cx="8316912" cy="1221291"/>
          </a:xfrm>
        </p:spPr>
        <p:txBody>
          <a:bodyPr lIns="0" tIns="18000" rIns="0" bIns="18000">
            <a:spAutoFit/>
          </a:bodyPr>
          <a:lstStyle/>
          <a:p>
            <a:pPr marL="852043" lvl="1" indent="-365125"/>
            <a:r>
              <a:rPr lang="en-US" sz="2400" dirty="0">
                <a:latin typeface="Arial" panose="020B0604020202020204" pitchFamily="34" charset="0"/>
                <a:cs typeface="Arial" panose="020B0604020202020204" pitchFamily="34" charset="0"/>
              </a:rPr>
              <a:t>Consider sending two follow-up reminders</a:t>
            </a:r>
          </a:p>
          <a:p>
            <a:pPr marL="852043" lvl="1" indent="-365125"/>
            <a:r>
              <a:rPr lang="en-US" sz="2400" dirty="0">
                <a:latin typeface="Arial" panose="020B0604020202020204" pitchFamily="34" charset="0"/>
                <a:cs typeface="Arial" panose="020B0604020202020204" pitchFamily="34" charset="0"/>
              </a:rPr>
              <a:t>Send reminders a week or two after the previous mailing</a:t>
            </a:r>
          </a:p>
        </p:txBody>
      </p:sp>
    </p:spTree>
    <p:extLst>
      <p:ext uri="{BB962C8B-B14F-4D97-AF65-F5344CB8AC3E}">
        <p14:creationId xmlns:p14="http://schemas.microsoft.com/office/powerpoint/2010/main" val="3880913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4028"/>
            <a:ext cx="8291512" cy="1144347"/>
          </a:xfrm>
        </p:spPr>
        <p:txBody>
          <a:bodyPr wrap="square" lIns="0" tIns="18000" rIns="0" bIns="18000">
            <a:spAutoFit/>
          </a:bodyPr>
          <a:lstStyle/>
          <a:p>
            <a:pPr lvl="0">
              <a:spcBef>
                <a:spcPct val="0"/>
              </a:spcBef>
              <a:buClrTx/>
            </a:pPr>
            <a:r>
              <a:rPr lang="en-US" sz="3600" kern="1200">
                <a:latin typeface="+mj-lt"/>
                <a:ea typeface="+mj-ea"/>
                <a:cs typeface="Times New Roman" panose="02020603050405020304" pitchFamily="18" charset="0"/>
              </a:rPr>
              <a:t>Choosing a Sample in a Descriptive Study</a:t>
            </a:r>
          </a:p>
        </p:txBody>
      </p:sp>
      <p:sp>
        <p:nvSpPr>
          <p:cNvPr id="3" name="Text Placeholder 2"/>
          <p:cNvSpPr>
            <a:spLocks noGrp="1"/>
          </p:cNvSpPr>
          <p:nvPr>
            <p:ph type="body" idx="1"/>
          </p:nvPr>
        </p:nvSpPr>
        <p:spPr>
          <a:xfrm>
            <a:off x="395288" y="1990725"/>
            <a:ext cx="8291512" cy="4306751"/>
          </a:xfrm>
        </p:spPr>
        <p:txBody>
          <a:bodyPr wrap="square" lIns="0" tIns="18000" rIns="0" bIns="18000">
            <a:spAutoFit/>
          </a:bodyPr>
          <a:lstStyle/>
          <a:p>
            <a:pPr marL="352425" lvl="0" indent="-352425">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Any researcher who conducts a descriptive study wants to determine the nature of how things are…</a:t>
            </a:r>
          </a:p>
          <a:p>
            <a:pPr marL="352425" lvl="0" indent="-352425">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It isn’t possible to survey an entire population of interest, so researchers select a subset, or sample, of the population.</a:t>
            </a:r>
          </a:p>
          <a:p>
            <a:pPr marL="352425" lvl="0" indent="-352425">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 good sample is representative of the population.</a:t>
            </a:r>
          </a:p>
          <a:p>
            <a:pPr marL="352425" lvl="0" indent="-352425">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This is what quantitative researchers refer to as external validity, of the extent to which the study’s findings can be reasonably generalized beyond the </a:t>
            </a:r>
            <a:r>
              <a:rPr lang="en-US" sz="2400" kern="1200" dirty="0" err="1">
                <a:solidFill>
                  <a:srgbClr val="000000"/>
                </a:solidFill>
                <a:latin typeface="Arial" panose="020B0604020202020204" pitchFamily="34" charset="0"/>
                <a:ea typeface="+mn-ea"/>
                <a:cs typeface="Arial" panose="020B0604020202020204" pitchFamily="34" charset="0"/>
              </a:rPr>
              <a:t>partcipants</a:t>
            </a:r>
            <a:r>
              <a:rPr lang="en-US" sz="2400" kern="1200" dirty="0">
                <a:solidFill>
                  <a:srgbClr val="000000"/>
                </a:solidFill>
                <a:latin typeface="Arial" panose="020B0604020202020204" pitchFamily="34" charset="0"/>
                <a:ea typeface="+mn-ea"/>
                <a:cs typeface="Arial" panose="020B0604020202020204" pitchFamily="34" charset="0"/>
              </a:rPr>
              <a:t> in the study.</a:t>
            </a:r>
          </a:p>
        </p:txBody>
      </p:sp>
    </p:spTree>
    <p:extLst>
      <p:ext uri="{BB962C8B-B14F-4D97-AF65-F5344CB8AC3E}">
        <p14:creationId xmlns:p14="http://schemas.microsoft.com/office/powerpoint/2010/main" val="410963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Probability Sampling</a:t>
            </a:r>
          </a:p>
        </p:txBody>
      </p:sp>
      <p:sp>
        <p:nvSpPr>
          <p:cNvPr id="3" name="Text Placeholder 2"/>
          <p:cNvSpPr>
            <a:spLocks noGrp="1"/>
          </p:cNvSpPr>
          <p:nvPr>
            <p:ph type="body" idx="1"/>
          </p:nvPr>
        </p:nvSpPr>
        <p:spPr>
          <a:xfrm>
            <a:off x="395288" y="1457325"/>
            <a:ext cx="8316912" cy="159062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Probability sampling: researcher specifies in advance that each segment of the population is represented in the sample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Requires random selection</a:t>
            </a:r>
          </a:p>
        </p:txBody>
      </p:sp>
    </p:spTree>
    <p:extLst>
      <p:ext uri="{BB962C8B-B14F-4D97-AF65-F5344CB8AC3E}">
        <p14:creationId xmlns:p14="http://schemas.microsoft.com/office/powerpoint/2010/main" val="4067635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Random Selection</a:t>
            </a:r>
          </a:p>
        </p:txBody>
      </p:sp>
      <p:sp>
        <p:nvSpPr>
          <p:cNvPr id="3" name="Text Placeholder 2"/>
          <p:cNvSpPr>
            <a:spLocks noGrp="1"/>
          </p:cNvSpPr>
          <p:nvPr>
            <p:ph type="body" idx="1"/>
          </p:nvPr>
        </p:nvSpPr>
        <p:spPr>
          <a:xfrm>
            <a:off x="395288" y="1457325"/>
            <a:ext cx="8316912" cy="263706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Each member of the population has an equal chance of being selected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Characteristics of the sample are assumed to approximate the characteristics of the total population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Tables of random numbers or computer programs are used to select from a list of the population</a:t>
            </a:r>
          </a:p>
        </p:txBody>
      </p:sp>
    </p:spTree>
    <p:extLst>
      <p:ext uri="{BB962C8B-B14F-4D97-AF65-F5344CB8AC3E}">
        <p14:creationId xmlns:p14="http://schemas.microsoft.com/office/powerpoint/2010/main" val="902322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86353"/>
            <a:ext cx="8291512" cy="559572"/>
          </a:xfrm>
        </p:spPr>
        <p:txBody>
          <a:bodyPr wrap="square" lIns="0" tIns="18000" rIns="0" bIns="18000">
            <a:spAutoFit/>
          </a:bodyPr>
          <a:lstStyle/>
          <a:p>
            <a:pPr lvl="0">
              <a:spcBef>
                <a:spcPct val="0"/>
              </a:spcBef>
              <a:buClrTx/>
            </a:pPr>
            <a:r>
              <a:rPr lang="en-US" kern="1200" dirty="0">
                <a:latin typeface="+mj-lt"/>
                <a:ea typeface="+mj-ea"/>
                <a:cs typeface="Times New Roman" panose="02020603050405020304" pitchFamily="18" charset="0"/>
              </a:rPr>
              <a:t>Probability Sampling Techniques </a:t>
            </a:r>
            <a:r>
              <a:rPr lang="en-US" sz="2600" kern="1200" dirty="0">
                <a:latin typeface="+mj-lt"/>
                <a:ea typeface="+mj-ea"/>
                <a:cs typeface="Times New Roman" panose="02020603050405020304" pitchFamily="18" charset="0"/>
              </a:rPr>
              <a:t>(1 of 4)</a:t>
            </a:r>
          </a:p>
        </p:txBody>
      </p:sp>
      <p:sp>
        <p:nvSpPr>
          <p:cNvPr id="3" name="Text Placeholder 2"/>
          <p:cNvSpPr>
            <a:spLocks noGrp="1"/>
          </p:cNvSpPr>
          <p:nvPr>
            <p:ph type="body" idx="1"/>
          </p:nvPr>
        </p:nvSpPr>
        <p:spPr>
          <a:xfrm>
            <a:off x="395288" y="1457325"/>
            <a:ext cx="8291512" cy="289097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Simple random sampling: Researcher numbers everyone in the population and then uses random number generator to select participants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Stratified random sampling: Researcher identifies strata — different groups in population — and samples equally from each one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 10 students in each grade</a:t>
            </a:r>
          </a:p>
        </p:txBody>
      </p:sp>
    </p:spTree>
    <p:extLst>
      <p:ext uri="{BB962C8B-B14F-4D97-AF65-F5344CB8AC3E}">
        <p14:creationId xmlns:p14="http://schemas.microsoft.com/office/powerpoint/2010/main" val="4105495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86353"/>
            <a:ext cx="8291512"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Probability Sampling Techniques </a:t>
            </a:r>
            <a:r>
              <a:rPr lang="en-US" sz="2600" kern="1200" dirty="0">
                <a:latin typeface="+mj-lt"/>
                <a:ea typeface="+mj-ea"/>
                <a:cs typeface="Times New Roman" panose="02020603050405020304" pitchFamily="18" charset="0"/>
              </a:rPr>
              <a:t>(2 of 4)</a:t>
            </a:r>
          </a:p>
        </p:txBody>
      </p:sp>
      <p:sp>
        <p:nvSpPr>
          <p:cNvPr id="3" name="Text Placeholder 2"/>
          <p:cNvSpPr>
            <a:spLocks noGrp="1"/>
          </p:cNvSpPr>
          <p:nvPr>
            <p:ph type="body" idx="1"/>
          </p:nvPr>
        </p:nvSpPr>
        <p:spPr>
          <a:xfrm>
            <a:off x="395288" y="1457325"/>
            <a:ext cx="8291512" cy="248317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Proportional stratified sampling: Researcher identifies strata and samples from each one based on its proportion in the population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population: 100 first graders, 200 second graders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sample: 10 first graders, 20 second graders</a:t>
            </a:r>
          </a:p>
        </p:txBody>
      </p:sp>
    </p:spTree>
    <p:extLst>
      <p:ext uri="{BB962C8B-B14F-4D97-AF65-F5344CB8AC3E}">
        <p14:creationId xmlns:p14="http://schemas.microsoft.com/office/powerpoint/2010/main" val="1131062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86353"/>
            <a:ext cx="8291512"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Probability Sampling Techniques </a:t>
            </a:r>
            <a:r>
              <a:rPr lang="en-US" sz="2600" kern="1200" dirty="0">
                <a:latin typeface="+mj-lt"/>
                <a:ea typeface="+mj-ea"/>
                <a:cs typeface="Times New Roman" panose="02020603050405020304" pitchFamily="18" charset="0"/>
              </a:rPr>
              <a:t>(3 of 4)</a:t>
            </a:r>
          </a:p>
        </p:txBody>
      </p:sp>
      <p:sp>
        <p:nvSpPr>
          <p:cNvPr id="3" name="Text Placeholder 2"/>
          <p:cNvSpPr>
            <a:spLocks noGrp="1"/>
          </p:cNvSpPr>
          <p:nvPr>
            <p:ph type="body" idx="1"/>
          </p:nvPr>
        </p:nvSpPr>
        <p:spPr>
          <a:xfrm>
            <a:off x="395288" y="1457325"/>
            <a:ext cx="8291512" cy="296792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Cluster sampling: Researcher subdivides a large area into smaller units (clusters), selects a subset of clusters, and then selects individuals randomly from each identified cluster</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Population = all students in a district with 1200 schools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Clusters = townships within the district</a:t>
            </a:r>
          </a:p>
        </p:txBody>
      </p:sp>
    </p:spTree>
    <p:extLst>
      <p:ext uri="{BB962C8B-B14F-4D97-AF65-F5344CB8AC3E}">
        <p14:creationId xmlns:p14="http://schemas.microsoft.com/office/powerpoint/2010/main" val="787556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86353"/>
            <a:ext cx="8291512" cy="559572"/>
          </a:xfrm>
        </p:spPr>
        <p:txBody>
          <a:bodyPr wrap="square" lIns="0" tIns="18000" rIns="0" bIns="18000">
            <a:spAutoFit/>
          </a:bodyPr>
          <a:lstStyle/>
          <a:p>
            <a:pPr lvl="0">
              <a:spcBef>
                <a:spcPct val="0"/>
              </a:spcBef>
              <a:buClrTx/>
            </a:pPr>
            <a:r>
              <a:rPr lang="en-US" kern="1200" dirty="0">
                <a:latin typeface="+mj-lt"/>
                <a:ea typeface="+mj-ea"/>
                <a:cs typeface="Times New Roman" panose="02020603050405020304" pitchFamily="18" charset="0"/>
              </a:rPr>
              <a:t>Probability Sampling Techniques </a:t>
            </a:r>
            <a:r>
              <a:rPr lang="en-US" sz="2600" kern="1200" dirty="0">
                <a:latin typeface="+mj-lt"/>
                <a:ea typeface="+mj-ea"/>
                <a:cs typeface="Times New Roman" panose="02020603050405020304" pitchFamily="18" charset="0"/>
              </a:rPr>
              <a:t>(4 of 4)</a:t>
            </a:r>
          </a:p>
        </p:txBody>
      </p:sp>
      <p:sp>
        <p:nvSpPr>
          <p:cNvPr id="3" name="Text Placeholder 2"/>
          <p:cNvSpPr>
            <a:spLocks noGrp="1"/>
          </p:cNvSpPr>
          <p:nvPr>
            <p:ph type="body" idx="1"/>
          </p:nvPr>
        </p:nvSpPr>
        <p:spPr>
          <a:xfrm>
            <a:off x="395288" y="1457325"/>
            <a:ext cx="8291512" cy="259859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Systematic sampling: researcher selects individuals/clusters according to predetermined sequence, which must originate by chance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Scramble the list of people randomly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Then pick every nth person</a:t>
            </a:r>
          </a:p>
        </p:txBody>
      </p:sp>
    </p:spTree>
    <p:extLst>
      <p:ext uri="{BB962C8B-B14F-4D97-AF65-F5344CB8AC3E}">
        <p14:creationId xmlns:p14="http://schemas.microsoft.com/office/powerpoint/2010/main" val="2616250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Nonprobability Sampling</a:t>
            </a:r>
          </a:p>
        </p:txBody>
      </p:sp>
      <p:sp>
        <p:nvSpPr>
          <p:cNvPr id="3" name="Text Placeholder 2"/>
          <p:cNvSpPr>
            <a:spLocks noGrp="1"/>
          </p:cNvSpPr>
          <p:nvPr>
            <p:ph type="body" idx="1"/>
          </p:nvPr>
        </p:nvSpPr>
        <p:spPr>
          <a:xfrm>
            <a:off x="395288" y="1457325"/>
            <a:ext cx="8291512" cy="195995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Nonprobability sampling: researcher cannot guarantee that each element of the population will be represented in the sample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Some members of the population have little or no chance of being sampled</a:t>
            </a:r>
          </a:p>
        </p:txBody>
      </p:sp>
    </p:spTree>
    <p:extLst>
      <p:ext uri="{BB962C8B-B14F-4D97-AF65-F5344CB8AC3E}">
        <p14:creationId xmlns:p14="http://schemas.microsoft.com/office/powerpoint/2010/main" val="178081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Nonprobability Sampling Techniques </a:t>
            </a:r>
            <a:r>
              <a:rPr lang="en-US" sz="24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395288" y="1457325"/>
            <a:ext cx="8291512" cy="166756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Convenience sampling (accidental sampling)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 takes samples that are readily available.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 People who arrive at the store for breakfast</a:t>
            </a:r>
          </a:p>
        </p:txBody>
      </p:sp>
    </p:spTree>
    <p:extLst>
      <p:ext uri="{BB962C8B-B14F-4D97-AF65-F5344CB8AC3E}">
        <p14:creationId xmlns:p14="http://schemas.microsoft.com/office/powerpoint/2010/main" val="2746512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Nonprobability Sampling Techniques </a:t>
            </a:r>
            <a:r>
              <a:rPr lang="en-US" sz="24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395288" y="1457325"/>
            <a:ext cx="8291512" cy="322183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Quota sampling: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 conveniently selects participants in the same proportion that they are found in the general population, but not in a random fashion</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 population: 100 first graders, 200 second graders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 sample: the first 10 first graders and the first 20 second graders who arrive at school that day</a:t>
            </a:r>
          </a:p>
        </p:txBody>
      </p:sp>
    </p:spTree>
    <p:extLst>
      <p:ext uri="{BB962C8B-B14F-4D97-AF65-F5344CB8AC3E}">
        <p14:creationId xmlns:p14="http://schemas.microsoft.com/office/powerpoint/2010/main" val="26739722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Nonprobability Sampling Techniques </a:t>
            </a:r>
            <a:r>
              <a:rPr lang="en-US" sz="24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395288" y="1457325"/>
            <a:ext cx="8291512" cy="240623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Purposive sampling: Researcher choose participants for a particular purpose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People from voting districts that, in the past, have been helpful in predicting the election outcome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researcher must always provide a rationale explaining the selection of a particular sample</a:t>
            </a:r>
          </a:p>
        </p:txBody>
      </p:sp>
    </p:spTree>
    <p:extLst>
      <p:ext uri="{BB962C8B-B14F-4D97-AF65-F5344CB8AC3E}">
        <p14:creationId xmlns:p14="http://schemas.microsoft.com/office/powerpoint/2010/main" val="4052738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Surveys of Very Large Populations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457325"/>
            <a:ext cx="8291512" cy="285250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Multistage sampling: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country into primary areas, randomly select areas to sample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the primary areas into sample locations, randomly select locations to sample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sample locations into chunks, randomly select chunks to sample</a:t>
            </a:r>
          </a:p>
        </p:txBody>
      </p:sp>
    </p:spTree>
    <p:extLst>
      <p:ext uri="{BB962C8B-B14F-4D97-AF65-F5344CB8AC3E}">
        <p14:creationId xmlns:p14="http://schemas.microsoft.com/office/powerpoint/2010/main" val="3044763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Surveys of Very Large Populations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1457325"/>
            <a:ext cx="8291512" cy="203689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Multistage sampling: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chunks into segments, randomly select segments to sample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Divide segments into units, randomly select units to sample</a:t>
            </a:r>
          </a:p>
        </p:txBody>
      </p:sp>
    </p:spTree>
    <p:extLst>
      <p:ext uri="{BB962C8B-B14F-4D97-AF65-F5344CB8AC3E}">
        <p14:creationId xmlns:p14="http://schemas.microsoft.com/office/powerpoint/2010/main" val="35021599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Identifying a Sufficient Sample Size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457325"/>
            <a:ext cx="8291512" cy="246009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Basic rule: The larger the sample, the better</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For smaller populations (N</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=100 or fewer), survey the entire population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If population is around 500, sample 50%</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If population is around 1,500, sample 20%</a:t>
            </a:r>
          </a:p>
        </p:txBody>
      </p:sp>
    </p:spTree>
    <p:extLst>
      <p:ext uri="{BB962C8B-B14F-4D97-AF65-F5344CB8AC3E}">
        <p14:creationId xmlns:p14="http://schemas.microsoft.com/office/powerpoint/2010/main" val="2374284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17131"/>
            <a:ext cx="8291512" cy="528794"/>
          </a:xfrm>
        </p:spPr>
        <p:txBody>
          <a:bodyPr wrap="square"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Identifying a Sufficient Sample Size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1457325"/>
            <a:ext cx="8291512" cy="152906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If population is over 5,000, a sample size of 400 is fine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larger the population, the smaller the percentage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Need a representative sample</a:t>
            </a:r>
          </a:p>
        </p:txBody>
      </p:sp>
    </p:spTree>
    <p:extLst>
      <p:ext uri="{BB962C8B-B14F-4D97-AF65-F5344CB8AC3E}">
        <p14:creationId xmlns:p14="http://schemas.microsoft.com/office/powerpoint/2010/main" val="2522933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Sources of Bias </a:t>
            </a:r>
            <a:r>
              <a:rPr lang="en-US" sz="2800" kern="1200" dirty="0">
                <a:latin typeface="+mj-lt"/>
                <a:ea typeface="+mj-ea"/>
                <a:cs typeface="Times New Roman" panose="02020603050405020304" pitchFamily="18" charset="0"/>
              </a:rPr>
              <a:t>(1 of 4)</a:t>
            </a:r>
          </a:p>
        </p:txBody>
      </p:sp>
      <p:sp>
        <p:nvSpPr>
          <p:cNvPr id="3" name="Text Placeholder 2"/>
          <p:cNvSpPr>
            <a:spLocks noGrp="1"/>
          </p:cNvSpPr>
          <p:nvPr>
            <p:ph type="body" idx="1"/>
          </p:nvPr>
        </p:nvSpPr>
        <p:spPr>
          <a:xfrm>
            <a:off x="395288" y="1457325"/>
            <a:ext cx="8291512" cy="2152315"/>
          </a:xfrm>
        </p:spPr>
        <p:txBody>
          <a:bodyPr wrap="square" lIns="0" tIns="18000" rIns="0" bIns="18000">
            <a:spAutoFit/>
          </a:bodyPr>
          <a:lstStyle/>
          <a:p>
            <a:r>
              <a:rPr lang="en-US" altLang="en-US" sz="2400" dirty="0">
                <a:latin typeface="Arial" panose="020B0604020202020204" pitchFamily="34" charset="0"/>
                <a:cs typeface="Arial" panose="020B0604020202020204" pitchFamily="34" charset="0"/>
              </a:rPr>
              <a:t>Bias</a:t>
            </a:r>
          </a:p>
          <a:p>
            <a:pPr lvl="1"/>
            <a:r>
              <a:rPr lang="en-US" altLang="en-US" sz="2400" dirty="0">
                <a:latin typeface="Arial" panose="020B0604020202020204" pitchFamily="34" charset="0"/>
                <a:cs typeface="Arial" panose="020B0604020202020204" pitchFamily="34" charset="0"/>
              </a:rPr>
              <a:t>any influence, condition, or set of conditions that distort the data</a:t>
            </a:r>
          </a:p>
          <a:p>
            <a:r>
              <a:rPr lang="en-US" altLang="en-US" sz="2400" dirty="0">
                <a:latin typeface="Arial" panose="020B0604020202020204" pitchFamily="34" charset="0"/>
                <a:cs typeface="Arial" panose="020B0604020202020204" pitchFamily="34" charset="0"/>
              </a:rPr>
              <a:t>Researchers should try to avoid bias, but acknowledge that it occurs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9096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Sources of Bias </a:t>
            </a:r>
            <a:r>
              <a:rPr lang="en-US" sz="2800" kern="1200" dirty="0">
                <a:latin typeface="+mj-lt"/>
                <a:ea typeface="+mj-ea"/>
                <a:cs typeface="Times New Roman" panose="02020603050405020304" pitchFamily="18" charset="0"/>
              </a:rPr>
              <a:t>(2 of 4)</a:t>
            </a:r>
          </a:p>
        </p:txBody>
      </p:sp>
      <p:sp>
        <p:nvSpPr>
          <p:cNvPr id="3" name="Text Placeholder 2"/>
          <p:cNvSpPr>
            <a:spLocks noGrp="1"/>
          </p:cNvSpPr>
          <p:nvPr>
            <p:ph type="body" idx="1"/>
          </p:nvPr>
        </p:nvSpPr>
        <p:spPr>
          <a:xfrm>
            <a:off x="395288" y="1457325"/>
            <a:ext cx="8291512" cy="3121812"/>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Sampling Bias</a:t>
            </a:r>
          </a:p>
          <a:p>
            <a:pPr lvl="1"/>
            <a:r>
              <a:rPr lang="en-US" sz="2400" dirty="0">
                <a:latin typeface="Arial" panose="020B0604020202020204" pitchFamily="34" charset="0"/>
                <a:cs typeface="Arial" panose="020B0604020202020204" pitchFamily="34" charset="0"/>
              </a:rPr>
              <a:t>occurs when any factor(s) leads to a non-representative sample of the population</a:t>
            </a:r>
          </a:p>
          <a:p>
            <a:r>
              <a:rPr lang="en-US" sz="2400" dirty="0">
                <a:latin typeface="Arial" panose="020B0604020202020204" pitchFamily="34" charset="0"/>
                <a:cs typeface="Arial" panose="020B0604020202020204" pitchFamily="34" charset="0"/>
              </a:rPr>
              <a:t>Examples:</a:t>
            </a:r>
          </a:p>
          <a:p>
            <a:pPr lvl="1"/>
            <a:r>
              <a:rPr lang="en-US" sz="2400" dirty="0">
                <a:latin typeface="Arial" panose="020B0604020202020204" pitchFamily="34" charset="0"/>
                <a:cs typeface="Arial" panose="020B0604020202020204" pitchFamily="34" charset="0"/>
              </a:rPr>
              <a:t>Selecting from phone book (no land line?)</a:t>
            </a:r>
          </a:p>
          <a:p>
            <a:pPr lvl="1"/>
            <a:r>
              <a:rPr lang="en-US" sz="2400" dirty="0">
                <a:latin typeface="Arial" panose="020B0604020202020204" pitchFamily="34" charset="0"/>
                <a:cs typeface="Arial" panose="020B0604020202020204" pitchFamily="34" charset="0"/>
              </a:rPr>
              <a:t>Using an online survey (no Internet?)</a:t>
            </a:r>
          </a:p>
          <a:p>
            <a:pPr lvl="1"/>
            <a:r>
              <a:rPr lang="en-US" sz="2400" dirty="0">
                <a:latin typeface="Arial" panose="020B0604020202020204" pitchFamily="34" charset="0"/>
                <a:cs typeface="Arial" panose="020B0604020202020204" pitchFamily="34" charset="0"/>
              </a:rPr>
              <a:t>Mailing questionnaires (low or selective response rate?)</a:t>
            </a:r>
          </a:p>
        </p:txBody>
      </p:sp>
    </p:spTree>
    <p:extLst>
      <p:ext uri="{BB962C8B-B14F-4D97-AF65-F5344CB8AC3E}">
        <p14:creationId xmlns:p14="http://schemas.microsoft.com/office/powerpoint/2010/main" val="3148146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44503"/>
            <a:ext cx="8291512" cy="1144347"/>
          </a:xfrm>
        </p:spPr>
        <p:txBody>
          <a:bodyPr wrap="square"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Strategies for Identifying Sampling Bias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95288" y="1962150"/>
            <a:ext cx="8291512" cy="4047232"/>
          </a:xfrm>
        </p:spPr>
        <p:txBody>
          <a:bodyPr wrap="square" lIns="0" tIns="18000" rIns="0" bIns="18000">
            <a:spAutoFit/>
          </a:bodyPr>
          <a:lstStyle/>
          <a:p>
            <a:r>
              <a:rPr lang="en-US" altLang="en-US" sz="2400" dirty="0">
                <a:latin typeface="Arial" panose="020B0604020202020204" pitchFamily="34" charset="0"/>
                <a:cs typeface="Arial" panose="020B0604020202020204" pitchFamily="34" charset="0"/>
              </a:rPr>
              <a:t>Look for items that may be influenced by factors that distinguish respondents from nonrespondents.</a:t>
            </a:r>
          </a:p>
          <a:p>
            <a:pPr lvl="1"/>
            <a:r>
              <a:rPr lang="en-US" altLang="en-US" sz="2400" dirty="0">
                <a:latin typeface="Arial" panose="020B0604020202020204" pitchFamily="34" charset="0"/>
                <a:cs typeface="Arial" panose="020B0604020202020204" pitchFamily="34" charset="0"/>
              </a:rPr>
              <a:t>interests, education level, age, etc.</a:t>
            </a:r>
          </a:p>
          <a:p>
            <a:r>
              <a:rPr lang="en-US" altLang="en-US" sz="2400" dirty="0">
                <a:latin typeface="Arial" panose="020B0604020202020204" pitchFamily="34" charset="0"/>
                <a:cs typeface="Arial" panose="020B0604020202020204" pitchFamily="34" charset="0"/>
              </a:rPr>
              <a:t>Compare responses that were returned quickly with those that were returned later.</a:t>
            </a:r>
          </a:p>
          <a:p>
            <a:pPr lvl="1"/>
            <a:r>
              <a:rPr lang="en-US" altLang="en-US" sz="2400" dirty="0">
                <a:latin typeface="Arial" panose="020B0604020202020204" pitchFamily="34" charset="0"/>
                <a:cs typeface="Arial" panose="020B0604020202020204" pitchFamily="34" charset="0"/>
              </a:rPr>
              <a:t>late responses often look like what you’d expect from nonrespondents</a:t>
            </a:r>
          </a:p>
          <a:p>
            <a:r>
              <a:rPr lang="en-US" altLang="en-US" sz="2400" dirty="0">
                <a:latin typeface="Arial" panose="020B0604020202020204" pitchFamily="34" charset="0"/>
                <a:cs typeface="Arial" panose="020B0604020202020204" pitchFamily="34" charset="0"/>
              </a:rPr>
              <a:t>Randomly select a small number of nonrespondents and try to contact them.</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1260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Sources of Bias </a:t>
            </a:r>
            <a:r>
              <a:rPr lang="en-US" sz="2800" kern="1200" dirty="0">
                <a:latin typeface="+mj-lt"/>
                <a:ea typeface="+mj-ea"/>
                <a:cs typeface="Times New Roman" panose="02020603050405020304" pitchFamily="18" charset="0"/>
              </a:rPr>
              <a:t>(3 of 4)</a:t>
            </a:r>
          </a:p>
        </p:txBody>
      </p:sp>
      <p:sp>
        <p:nvSpPr>
          <p:cNvPr id="3" name="Text Placeholder 2"/>
          <p:cNvSpPr>
            <a:spLocks noGrp="1"/>
          </p:cNvSpPr>
          <p:nvPr>
            <p:ph type="body" idx="1"/>
          </p:nvPr>
        </p:nvSpPr>
        <p:spPr>
          <a:xfrm>
            <a:off x="395288" y="1457325"/>
            <a:ext cx="8291512" cy="3491143"/>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Instrumentation bias</a:t>
            </a:r>
          </a:p>
          <a:p>
            <a:pPr lvl="1"/>
            <a:r>
              <a:rPr lang="en-US" sz="2400" dirty="0">
                <a:latin typeface="Arial" panose="020B0604020202020204" pitchFamily="34" charset="0"/>
                <a:cs typeface="Arial" panose="020B0604020202020204" pitchFamily="34" charset="0"/>
              </a:rPr>
              <a:t>measurement instruments slant the results</a:t>
            </a:r>
          </a:p>
          <a:p>
            <a:pPr lvl="1"/>
            <a:r>
              <a:rPr lang="en-US" sz="2400" dirty="0">
                <a:latin typeface="Arial" panose="020B0604020202020204" pitchFamily="34" charset="0"/>
                <a:cs typeface="Arial" panose="020B0604020202020204" pitchFamily="34" charset="0"/>
              </a:rPr>
              <a:t>questions lead to particular answers</a:t>
            </a:r>
          </a:p>
          <a:p>
            <a:r>
              <a:rPr lang="en-US" sz="2400" dirty="0">
                <a:latin typeface="Arial" panose="020B0604020202020204" pitchFamily="34" charset="0"/>
                <a:cs typeface="Arial" panose="020B0604020202020204" pitchFamily="34" charset="0"/>
              </a:rPr>
              <a:t>Response bias</a:t>
            </a:r>
          </a:p>
          <a:p>
            <a:pPr lvl="1"/>
            <a:r>
              <a:rPr lang="en-US" sz="2400" dirty="0">
                <a:latin typeface="Arial" panose="020B0604020202020204" pitchFamily="34" charset="0"/>
                <a:cs typeface="Arial" panose="020B0604020202020204" pitchFamily="34" charset="0"/>
              </a:rPr>
              <a:t>participants say what they think researcher wants to hear</a:t>
            </a:r>
          </a:p>
          <a:p>
            <a:pPr lvl="1"/>
            <a:r>
              <a:rPr lang="en-US" sz="2400" dirty="0">
                <a:latin typeface="Arial" panose="020B0604020202020204" pitchFamily="34" charset="0"/>
                <a:cs typeface="Arial" panose="020B0604020202020204" pitchFamily="34" charset="0"/>
              </a:rPr>
              <a:t>participants want to create favorable impression (social desirability effect)</a:t>
            </a:r>
          </a:p>
        </p:txBody>
      </p:sp>
    </p:spTree>
    <p:extLst>
      <p:ext uri="{BB962C8B-B14F-4D97-AF65-F5344CB8AC3E}">
        <p14:creationId xmlns:p14="http://schemas.microsoft.com/office/powerpoint/2010/main" val="1577856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Sources of Bias </a:t>
            </a:r>
            <a:r>
              <a:rPr lang="en-US" sz="2800" kern="1200" dirty="0">
                <a:latin typeface="+mj-lt"/>
                <a:ea typeface="+mj-ea"/>
                <a:cs typeface="Times New Roman" panose="02020603050405020304" pitchFamily="18" charset="0"/>
              </a:rPr>
              <a:t>(4 of 4)</a:t>
            </a:r>
          </a:p>
        </p:txBody>
      </p:sp>
      <p:sp>
        <p:nvSpPr>
          <p:cNvPr id="3" name="Text Placeholder 2"/>
          <p:cNvSpPr>
            <a:spLocks noGrp="1"/>
          </p:cNvSpPr>
          <p:nvPr>
            <p:ph type="body" idx="1"/>
          </p:nvPr>
        </p:nvSpPr>
        <p:spPr>
          <a:xfrm>
            <a:off x="395288" y="1457325"/>
            <a:ext cx="8291512" cy="174451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 bias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researchers have a point of view</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researchers choose what they want to study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researchers make subjective interpretations</a:t>
            </a:r>
          </a:p>
        </p:txBody>
      </p:sp>
    </p:spTree>
    <p:extLst>
      <p:ext uri="{BB962C8B-B14F-4D97-AF65-F5344CB8AC3E}">
        <p14:creationId xmlns:p14="http://schemas.microsoft.com/office/powerpoint/2010/main" val="2478437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65101"/>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Interpreting the Data</a:t>
            </a:r>
          </a:p>
        </p:txBody>
      </p:sp>
      <p:sp>
        <p:nvSpPr>
          <p:cNvPr id="3" name="Text Placeholder 2"/>
          <p:cNvSpPr>
            <a:spLocks noGrp="1"/>
          </p:cNvSpPr>
          <p:nvPr>
            <p:ph type="body" idx="1"/>
          </p:nvPr>
        </p:nvSpPr>
        <p:spPr>
          <a:xfrm>
            <a:off x="395288" y="1457326"/>
            <a:ext cx="8291512" cy="1336708"/>
          </a:xfrm>
        </p:spPr>
        <p:txBody>
          <a:bodyPr wrap="square" lIns="0" tIns="18000" rIns="0" bIns="18000">
            <a:spAutoFit/>
          </a:bodyPr>
          <a:lstStyle/>
          <a:p>
            <a:pPr lvl="0">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Don’t forget — it’s “descriptive” research, but you still have to interpret the data</a:t>
            </a:r>
          </a:p>
          <a:p>
            <a:pPr lvl="0">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Two basic principles of research:</a:t>
            </a:r>
          </a:p>
        </p:txBody>
      </p:sp>
      <p:sp>
        <p:nvSpPr>
          <p:cNvPr id="4" name="Text Placeholder 3"/>
          <p:cNvSpPr>
            <a:spLocks noGrp="1"/>
          </p:cNvSpPr>
          <p:nvPr>
            <p:ph type="body" idx="2"/>
          </p:nvPr>
        </p:nvSpPr>
        <p:spPr>
          <a:xfrm>
            <a:off x="395288" y="2857500"/>
            <a:ext cx="8291512" cy="2814035"/>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The purpose of research is to seek the answer to a problem or question in light of data that relate to the problem or question.</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Although collecting data for study and organizing it for inspection require care and precision, extracting meaning from the data is paramount and should never be neglected.</a:t>
            </a:r>
          </a:p>
        </p:txBody>
      </p:sp>
    </p:spTree>
    <p:extLst>
      <p:ext uri="{BB962C8B-B14F-4D97-AF65-F5344CB8AC3E}">
        <p14:creationId xmlns:p14="http://schemas.microsoft.com/office/powerpoint/2010/main" val="1434704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Questions to Ask Yourself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395288" y="1457325"/>
            <a:ext cx="8291512" cy="4085704"/>
          </a:xfrm>
        </p:spPr>
        <p:txBody>
          <a:bodyPr wrap="square" lIns="0" tIns="18000" rIns="0" bIns="18000">
            <a:spAutoFit/>
          </a:bodyPr>
          <a:lstStyle/>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Why is a description of this population and/or phenomenon valuable?</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What specific data will you need to address your research problem and its subproblems?</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What procedures should you use to obtain the needed information? How can you best implement those procedures?</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How can you get a sample that will reasonably represent the overall population about which you are concerned?</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99107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255576"/>
            <a:ext cx="8291512"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Questions to Ask Yourself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395288" y="1457325"/>
            <a:ext cx="8291512" cy="3375727"/>
          </a:xfrm>
        </p:spPr>
        <p:txBody>
          <a:bodyPr wrap="square" lIns="0" tIns="18000" rIns="0" bIns="18000">
            <a:spAutoFit/>
          </a:bodyPr>
          <a:lstStyle/>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How can you control for possible bias in your collection of data?</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What will you do with the data once you have collected them? How might you best organize and prepare them for analysis?</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Above all, in what ways might you reasonably interpret your data? What conclusions might you reach from your investigation?</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52513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7B42FCF-489F-42F0-B391-BB668D391CAE}"/>
</file>

<file path=customXml/itemProps2.xml><?xml version="1.0" encoding="utf-8"?>
<ds:datastoreItem xmlns:ds="http://schemas.openxmlformats.org/officeDocument/2006/customXml" ds:itemID="{63B7421E-3EE6-43E2-986E-B76B41E11C1A}"/>
</file>

<file path=customXml/itemProps3.xml><?xml version="1.0" encoding="utf-8"?>
<ds:datastoreItem xmlns:ds="http://schemas.openxmlformats.org/officeDocument/2006/customXml" ds:itemID="{63043102-F09E-4577-81A4-CB4C8DE05CA9}"/>
</file>

<file path=docProps/app.xml><?xml version="1.0" encoding="utf-8"?>
<Properties xmlns="http://schemas.openxmlformats.org/officeDocument/2006/extended-properties" xmlns:vt="http://schemas.openxmlformats.org/officeDocument/2006/docPropsVTypes">
  <TotalTime>9272</TotalTime>
  <Words>2375</Words>
  <Application>Microsoft Office PowerPoint</Application>
  <PresentationFormat>On-screen Show (4:3)</PresentationFormat>
  <Paragraphs>250</Paragraphs>
  <Slides>49</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Arial (Headings)</vt:lpstr>
      <vt:lpstr>Noto Sans Symbols</vt:lpstr>
      <vt:lpstr>Times New Roman</vt:lpstr>
      <vt:lpstr>Verdana</vt:lpstr>
      <vt:lpstr>508 Lecture</vt:lpstr>
      <vt:lpstr>1_508 Lecture</vt:lpstr>
      <vt:lpstr>Practical Research: Planning and Design</vt:lpstr>
      <vt:lpstr>Descriptive Research Designs</vt:lpstr>
      <vt:lpstr>Quantitative Observation Studies</vt:lpstr>
      <vt:lpstr>Maintaining Objectivity in Observation Studies (1 of 2)</vt:lpstr>
      <vt:lpstr>Maintaining Objectivity in Observation Studies (2 of 2)</vt:lpstr>
      <vt:lpstr>Correlational Research (1 of 2)</vt:lpstr>
      <vt:lpstr>Correlational Research (2 of 2)</vt:lpstr>
      <vt:lpstr>Developmental Designs</vt:lpstr>
      <vt:lpstr>Pros and Cons: Cross-Sectional Versus. Longitudinal Study (1 of 2)</vt:lpstr>
      <vt:lpstr>Pros and Cons: Cross-Sectional Versus. Longitudinal Study (2 of 2)</vt:lpstr>
      <vt:lpstr>Compromise: Cohort-Sequential Design</vt:lpstr>
      <vt:lpstr>Experience-Sampling Methods (E S M)</vt:lpstr>
      <vt:lpstr>Survey Research</vt:lpstr>
      <vt:lpstr>Types of Survey Research</vt:lpstr>
      <vt:lpstr>Data Collection (1 of 2)</vt:lpstr>
      <vt:lpstr>Data Collection (2 of 2)</vt:lpstr>
      <vt:lpstr>Computerizing Observations</vt:lpstr>
      <vt:lpstr>Conducting Interviews in a Quantitative Study (1 of 2)</vt:lpstr>
      <vt:lpstr>Conducting Interviews in a Quantitative Study (2 of 2)</vt:lpstr>
      <vt:lpstr>Constructing a Questionnaire (1 of 3)</vt:lpstr>
      <vt:lpstr>Constructing a Questionnaire (2 of 3)</vt:lpstr>
      <vt:lpstr>Constructing a Questionnaire (3 of 3)</vt:lpstr>
      <vt:lpstr>Using Technology When Administering Questionnaires</vt:lpstr>
      <vt:lpstr>Maximizing the Return Rate (1 of 2)</vt:lpstr>
      <vt:lpstr>Maximizing the Return Rate (2 of 2)</vt:lpstr>
      <vt:lpstr>Choosing a Sample in a Descriptive Study</vt:lpstr>
      <vt:lpstr>Probability Sampling</vt:lpstr>
      <vt:lpstr>Random Selection</vt:lpstr>
      <vt:lpstr>Probability Sampling Techniques (1 of 4)</vt:lpstr>
      <vt:lpstr>Probability Sampling Techniques (2 of 4)</vt:lpstr>
      <vt:lpstr>Probability Sampling Techniques (3 of 4)</vt:lpstr>
      <vt:lpstr>Probability Sampling Techniques (4 of 4)</vt:lpstr>
      <vt:lpstr>Nonprobability Sampling</vt:lpstr>
      <vt:lpstr>Nonprobability Sampling Techniques (1 of 3)</vt:lpstr>
      <vt:lpstr>Nonprobability Sampling Techniques (2 of 3)</vt:lpstr>
      <vt:lpstr>Nonprobability Sampling Techniques (3 of 3)</vt:lpstr>
      <vt:lpstr>Surveys of Very Large Populations (1 of 2)</vt:lpstr>
      <vt:lpstr>Surveys of Very Large Populations (2 of 2)</vt:lpstr>
      <vt:lpstr>Identifying a Sufficient Sample Size (1 of 2)</vt:lpstr>
      <vt:lpstr>Identifying a Sufficient Sample Size (2 of 2)</vt:lpstr>
      <vt:lpstr>Sources of Bias (1 of 4)</vt:lpstr>
      <vt:lpstr>Sources of Bias (2 of 4)</vt:lpstr>
      <vt:lpstr>Strategies for Identifying Sampling Bias</vt:lpstr>
      <vt:lpstr>Sources of Bias (3 of 4)</vt:lpstr>
      <vt:lpstr>Sources of Bias (4 of 4)</vt:lpstr>
      <vt:lpstr>Interpreting the Data</vt:lpstr>
      <vt:lpstr>Questions to Ask Yourself (1 of 2)</vt:lpstr>
      <vt:lpstr>Questions to Ask Yourself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6</dc:title>
  <dc:subject>TED/Careers</dc:subject>
  <dc:creator>Leedy and Ormrod</dc:creator>
  <cp:keywords>Practical Research</cp:keywords>
  <cp:lastModifiedBy>Arthideepa Karunakaran, Integra-PDY, IN</cp:lastModifiedBy>
  <cp:revision>930</cp:revision>
  <dcterms:modified xsi:type="dcterms:W3CDTF">2021-10-22T03:33:22Z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