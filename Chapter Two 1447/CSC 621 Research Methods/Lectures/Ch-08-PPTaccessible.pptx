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 id="2147483660" r:id="rId5"/>
  </p:sldMasterIdLst>
  <p:notesMasterIdLst>
    <p:notesMasterId r:id="rId35"/>
  </p:notesMasterIdLst>
  <p:handoutMasterIdLst>
    <p:handoutMasterId r:id="rId36"/>
  </p:handoutMasterIdLst>
  <p:sldIdLst>
    <p:sldId id="335" r:id="rId6"/>
    <p:sldId id="307" r:id="rId7"/>
    <p:sldId id="308" r:id="rId8"/>
    <p:sldId id="310" r:id="rId9"/>
    <p:sldId id="311" r:id="rId10"/>
    <p:sldId id="312" r:id="rId11"/>
    <p:sldId id="336" r:id="rId12"/>
    <p:sldId id="313" r:id="rId13"/>
    <p:sldId id="337" r:id="rId14"/>
    <p:sldId id="314" r:id="rId15"/>
    <p:sldId id="315" r:id="rId16"/>
    <p:sldId id="316" r:id="rId17"/>
    <p:sldId id="317" r:id="rId18"/>
    <p:sldId id="318" r:id="rId19"/>
    <p:sldId id="338" r:id="rId20"/>
    <p:sldId id="319" r:id="rId21"/>
    <p:sldId id="320" r:id="rId22"/>
    <p:sldId id="321" r:id="rId23"/>
    <p:sldId id="339" r:id="rId24"/>
    <p:sldId id="340" r:id="rId25"/>
    <p:sldId id="322" r:id="rId26"/>
    <p:sldId id="323" r:id="rId27"/>
    <p:sldId id="341" r:id="rId28"/>
    <p:sldId id="342" r:id="rId29"/>
    <p:sldId id="324" r:id="rId30"/>
    <p:sldId id="346" r:id="rId31"/>
    <p:sldId id="347" r:id="rId32"/>
    <p:sldId id="348" r:id="rId33"/>
    <p:sldId id="334" r:id="rId3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4" pos="272" userDrawn="1">
          <p15:clr>
            <a:srgbClr val="A4A3A4"/>
          </p15:clr>
        </p15:guide>
        <p15:guide id="5" pos="5488" userDrawn="1">
          <p15:clr>
            <a:srgbClr val="A4A3A4"/>
          </p15:clr>
        </p15:guide>
        <p15:guide id="6" orient="horz" pos="4088" userDrawn="1">
          <p15:clr>
            <a:srgbClr val="A4A3A4"/>
          </p15:clr>
        </p15:guide>
        <p15:guide id="7" orient="horz" pos="799" userDrawn="1">
          <p15:clr>
            <a:srgbClr val="A4A3A4"/>
          </p15:clr>
        </p15:guide>
        <p15:guide id="10" orient="horz" pos="48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0" autoAdjust="0"/>
    <p:restoredTop sz="87141" autoAdjust="0"/>
  </p:normalViewPr>
  <p:slideViewPr>
    <p:cSldViewPr snapToGrid="0" snapToObjects="1">
      <p:cViewPr varScale="1">
        <p:scale>
          <a:sx n="74" d="100"/>
          <a:sy n="74" d="100"/>
        </p:scale>
        <p:origin x="1632" y="62"/>
      </p:cViewPr>
      <p:guideLst>
        <p:guide orient="horz" pos="2160"/>
        <p:guide pos="2880"/>
        <p:guide pos="272"/>
        <p:guide pos="5488"/>
        <p:guide orient="horz" pos="4088"/>
        <p:guide orient="horz" pos="799"/>
        <p:guide orient="horz" pos="482"/>
      </p:guideLst>
    </p:cSldViewPr>
  </p:slideViewPr>
  <p:outlineViewPr>
    <p:cViewPr>
      <p:scale>
        <a:sx n="33" d="100"/>
        <a:sy n="33" d="100"/>
      </p:scale>
      <p:origin x="0" y="-19171"/>
    </p:cViewPr>
  </p:outlin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6/1/2026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 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50298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4CBB54A-3ADF-4B42-A676-D66841A7CBE6}"/>
              </a:ext>
            </a:extLst>
          </p:cNvPr>
          <p:cNvSpPr>
            <a:spLocks noGrp="1"/>
          </p:cNvSpPr>
          <p:nvPr>
            <p:ph sz="quarter" idx="10"/>
          </p:nvPr>
        </p:nvSpPr>
        <p:spPr>
          <a:xfrm>
            <a:off x="1811338" y="2033588"/>
            <a:ext cx="4418012" cy="1395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43D67E2-7630-4A76-8A6E-4D3A9AF910FD}"/>
              </a:ext>
            </a:extLst>
          </p:cNvPr>
          <p:cNvSpPr>
            <a:spLocks noGrp="1"/>
          </p:cNvSpPr>
          <p:nvPr>
            <p:ph type="pic" sz="quarter" idx="11"/>
          </p:nvPr>
        </p:nvSpPr>
        <p:spPr>
          <a:xfrm>
            <a:off x="2127250" y="4149725"/>
            <a:ext cx="4418013" cy="1200150"/>
          </a:xfrm>
        </p:spPr>
        <p:txBody>
          <a:bodyPr/>
          <a:lstStyle/>
          <a:p>
            <a:endParaRPr lang="en-US"/>
          </a:p>
        </p:txBody>
      </p:sp>
    </p:spTree>
    <p:extLst>
      <p:ext uri="{BB962C8B-B14F-4D97-AF65-F5344CB8AC3E}">
        <p14:creationId xmlns:p14="http://schemas.microsoft.com/office/powerpoint/2010/main" val="207088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Arial (Headings)"/>
                <a:ea typeface="Arial (Headings)"/>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3" name="Picture Placeholder 2">
            <a:extLst>
              <a:ext uri="{FF2B5EF4-FFF2-40B4-BE49-F238E27FC236}">
                <a16:creationId xmlns:a16="http://schemas.microsoft.com/office/drawing/2014/main" id="{A7B86D8D-7E57-4733-AA5A-C6136254BFEA}"/>
              </a:ext>
            </a:extLst>
          </p:cNvPr>
          <p:cNvSpPr>
            <a:spLocks noGrp="1"/>
          </p:cNvSpPr>
          <p:nvPr>
            <p:ph type="pic" sz="quarter" idx="14"/>
          </p:nvPr>
        </p:nvSpPr>
        <p:spPr>
          <a:xfrm>
            <a:off x="735013" y="2495550"/>
            <a:ext cx="3546475" cy="1119188"/>
          </a:xfrm>
        </p:spPr>
        <p:txBody>
          <a:bodyPr/>
          <a:lstStyle/>
          <a:p>
            <a:endParaRPr lang="en-US"/>
          </a:p>
        </p:txBody>
      </p:sp>
      <p:sp>
        <p:nvSpPr>
          <p:cNvPr id="5" name="Picture Placeholder 4">
            <a:extLst>
              <a:ext uri="{FF2B5EF4-FFF2-40B4-BE49-F238E27FC236}">
                <a16:creationId xmlns:a16="http://schemas.microsoft.com/office/drawing/2014/main" id="{32D9E9EB-3E4C-472F-A7BA-98CFA5350DD9}"/>
              </a:ext>
            </a:extLst>
          </p:cNvPr>
          <p:cNvSpPr>
            <a:spLocks noGrp="1"/>
          </p:cNvSpPr>
          <p:nvPr>
            <p:ph type="pic" sz="quarter" idx="15"/>
          </p:nvPr>
        </p:nvSpPr>
        <p:spPr>
          <a:xfrm>
            <a:off x="717550" y="4095750"/>
            <a:ext cx="3657600" cy="954088"/>
          </a:xfrm>
        </p:spPr>
        <p:txBody>
          <a:bodyPr/>
          <a:lstStyle/>
          <a:p>
            <a:endParaRPr lang="en-US"/>
          </a:p>
        </p:txBody>
      </p:sp>
    </p:spTree>
    <p:extLst>
      <p:ext uri="{BB962C8B-B14F-4D97-AF65-F5344CB8AC3E}">
        <p14:creationId xmlns:p14="http://schemas.microsoft.com/office/powerpoint/2010/main" val="124247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IN"/>
          </a:p>
        </p:txBody>
      </p:sp>
      <p:sp>
        <p:nvSpPr>
          <p:cNvPr id="3" name="Date Placeholder 2"/>
          <p:cNvSpPr>
            <a:spLocks noGrp="1"/>
          </p:cNvSpPr>
          <p:nvPr>
            <p:ph type="dt" idx="11"/>
          </p:nvPr>
        </p:nvSpPr>
        <p:spPr/>
        <p:txBody>
          <a:bodyPr/>
          <a:lstStyle/>
          <a:p>
            <a:endParaRPr lang="en-IN"/>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97843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Text Placeholder 5"/>
          <p:cNvSpPr txBox="1">
            <a:spLocks/>
          </p:cNvSpPr>
          <p:nvPr userDrawn="1"/>
        </p:nvSpPr>
        <p:spPr>
          <a:xfrm>
            <a:off x="2773680" y="6451421"/>
            <a:ext cx="5986222" cy="221018"/>
          </a:xfrm>
          <a:prstGeom prst="rect">
            <a:avLst/>
          </a:prstGeom>
        </p:spPr>
        <p:txBody>
          <a:bodyPr lIns="0" tIns="18000" rIns="0" bIns="18000" anchor="ctr">
            <a:spAutoFit/>
          </a:bodyP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pic>
        <p:nvPicPr>
          <p:cNvPr id="16" name="Picture Placeholder 12" descr="Pearson Logo">
            <a:extLst>
              <a:ext uri="{FF2B5EF4-FFF2-40B4-BE49-F238E27FC236}">
                <a16:creationId xmlns:a16="http://schemas.microsoft.com/office/drawing/2014/main" id="{703A8090-3141-40F8-8CFF-D98CD0548A3A}"/>
              </a:ext>
            </a:extLst>
          </p:cNvPr>
          <p:cNvPicPr>
            <a:picLocks noChangeAspect="1"/>
          </p:cNvPicPr>
          <p:nvPr userDrawn="1"/>
        </p:nvPicPr>
        <p:blipFill>
          <a:blip r:embed="rId14"/>
          <a:stretch>
            <a:fillRect/>
          </a:stretch>
        </p:blipFill>
        <p:spPr>
          <a:xfrm>
            <a:off x="441719" y="6436570"/>
            <a:ext cx="914400" cy="276225"/>
          </a:xfrm>
          <a:prstGeom prst="rect">
            <a:avLst/>
          </a:prstGeom>
        </p:spPr>
      </p:pic>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70" r:id="rId4"/>
    <p:sldLayoutId id="2147483668" r:id="rId5"/>
    <p:sldLayoutId id="2147483669" r:id="rId6"/>
    <p:sldLayoutId id="2147483651" r:id="rId7"/>
    <p:sldLayoutId id="2147483654" r:id="rId8"/>
    <p:sldLayoutId id="2147483655" r:id="rId9"/>
    <p:sldLayoutId id="2147483656" r:id="rId10"/>
    <p:sldLayoutId id="2147483667" r:id="rId11"/>
    <p:sldLayoutId id="214748365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5" r:id="rId2"/>
    <p:sldLayoutId id="214748369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Headings)"/>
          <a:ea typeface="Arial (Headings)"/>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314583"/>
            <a:ext cx="8272252" cy="1144347"/>
          </a:xfrm>
        </p:spPr>
        <p:txBody>
          <a:bodyPr lIns="0" tIns="18000" rIns="0" bIns="18000" anchor="t" anchorCtr="0">
            <a:spAutoFit/>
          </a:bodyPr>
          <a:lstStyle/>
          <a:p>
            <a:r>
              <a:rPr lang="en-US" sz="3600" dirty="0">
                <a:latin typeface="+mj-lt"/>
                <a:cs typeface="Times New Roman" panose="02020603050405020304" pitchFamily="18" charset="0"/>
              </a:rPr>
              <a:t>Practical Research: Planning and Design</a:t>
            </a:r>
            <a:endParaRPr lang="en-US" sz="3600" dirty="0">
              <a:solidFill>
                <a:schemeClr val="tx2"/>
              </a:solidFill>
              <a:latin typeface="+mj-lt"/>
              <a:cs typeface="Times New Roman" panose="02020603050405020304" pitchFamily="18" charset="0"/>
            </a:endParaRPr>
          </a:p>
        </p:txBody>
      </p:sp>
      <p:sp>
        <p:nvSpPr>
          <p:cNvPr id="3" name="Text Placeholder 2"/>
          <p:cNvSpPr>
            <a:spLocks noGrp="1"/>
          </p:cNvSpPr>
          <p:nvPr>
            <p:ph type="body" idx="1"/>
          </p:nvPr>
        </p:nvSpPr>
        <p:spPr>
          <a:xfrm>
            <a:off x="439948" y="1667053"/>
            <a:ext cx="8272252" cy="344128"/>
          </a:xfrm>
        </p:spPr>
        <p:txBody>
          <a:bodyPr wrap="square" lIns="0" tIns="18000" rIns="0" bIns="18000" anchor="t" anchorCtr="0">
            <a:spAutoFit/>
          </a:bodyPr>
          <a:lstStyle/>
          <a:p>
            <a:r>
              <a:rPr lang="en-US" dirty="0">
                <a:latin typeface="Arial" panose="020B0604020202020204" pitchFamily="34" charset="0"/>
                <a:cs typeface="Arial" panose="020B0604020202020204" pitchFamily="34" charset="0"/>
              </a:rPr>
              <a:t>Twelfth Edition</a:t>
            </a:r>
          </a:p>
        </p:txBody>
      </p:sp>
      <p:pic>
        <p:nvPicPr>
          <p:cNvPr id="11" name="Picture Placeholder 10" descr="Front Cover: Practical Research: Planning and Design Twelfth Edition by Leedy and Ormrod.">
            <a:extLst>
              <a:ext uri="{FF2B5EF4-FFF2-40B4-BE49-F238E27FC236}">
                <a16:creationId xmlns:a16="http://schemas.microsoft.com/office/drawing/2014/main" id="{3404E0E7-E186-4457-B728-08F8E7ADD930}"/>
              </a:ext>
            </a:extLst>
          </p:cNvPr>
          <p:cNvPicPr>
            <a:picLocks noGrp="1" noChangeAspect="1"/>
          </p:cNvPicPr>
          <p:nvPr>
            <p:ph type="pic" sz="quarter" idx="14"/>
          </p:nvPr>
        </p:nvPicPr>
        <p:blipFill>
          <a:blip r:embed="rId3"/>
          <a:stretch>
            <a:fillRect/>
          </a:stretch>
        </p:blipFill>
        <p:spPr>
          <a:xfrm>
            <a:off x="440805" y="2218522"/>
            <a:ext cx="3247505" cy="4051069"/>
          </a:xfrm>
          <a:prstGeom prst="rect">
            <a:avLst/>
          </a:prstGeom>
        </p:spPr>
      </p:pic>
      <p:sp>
        <p:nvSpPr>
          <p:cNvPr id="4" name="Text Placeholder 3"/>
          <p:cNvSpPr>
            <a:spLocks noGrp="1"/>
          </p:cNvSpPr>
          <p:nvPr>
            <p:ph type="body" idx="2"/>
          </p:nvPr>
        </p:nvSpPr>
        <p:spPr>
          <a:xfrm>
            <a:off x="4580630" y="2871974"/>
            <a:ext cx="1777038" cy="498016"/>
          </a:xfrm>
        </p:spPr>
        <p:txBody>
          <a:bodyPr wrap="square" lIns="0" tIns="18000" rIns="0" bIns="18000" anchor="t" anchorCtr="0">
            <a:spAutoFit/>
          </a:bodyPr>
          <a:lstStyle/>
          <a:p>
            <a:pPr lvl="0"/>
            <a:r>
              <a:rPr lang="en-US" dirty="0">
                <a:latin typeface="Arial" panose="020B0604020202020204" pitchFamily="34" charset="0"/>
                <a:cs typeface="Arial" panose="020B0604020202020204" pitchFamily="34" charset="0"/>
              </a:rPr>
              <a:t>Chapter 8</a:t>
            </a:r>
          </a:p>
        </p:txBody>
      </p:sp>
      <p:sp>
        <p:nvSpPr>
          <p:cNvPr id="5" name="Text Placeholder 4"/>
          <p:cNvSpPr>
            <a:spLocks noGrp="1"/>
          </p:cNvSpPr>
          <p:nvPr>
            <p:ph type="body" idx="3"/>
          </p:nvPr>
        </p:nvSpPr>
        <p:spPr>
          <a:xfrm>
            <a:off x="4580628" y="3668904"/>
            <a:ext cx="4131571" cy="374906"/>
          </a:xfrm>
        </p:spPr>
        <p:txBody>
          <a:bodyPr wrap="square" lIns="0" tIns="18000" rIns="0" bIns="18000">
            <a:spAutoFit/>
          </a:bodyPr>
          <a:lstStyle/>
          <a:p>
            <a:r>
              <a:rPr lang="en-US" altLang="en-US" dirty="0">
                <a:latin typeface="Arial" panose="020B0604020202020204" pitchFamily="34" charset="0"/>
                <a:cs typeface="Arial" panose="020B0604020202020204" pitchFamily="34" charset="0"/>
              </a:rPr>
              <a:t>Qualitative Research Methods</a:t>
            </a:r>
          </a:p>
        </p:txBody>
      </p:sp>
      <p:pic>
        <p:nvPicPr>
          <p:cNvPr id="13" name="Picture Placeholder 12" descr="Pearson Logo">
            <a:extLst>
              <a:ext uri="{FF2B5EF4-FFF2-40B4-BE49-F238E27FC236}">
                <a16:creationId xmlns:a16="http://schemas.microsoft.com/office/drawing/2014/main" id="{B1452051-097A-4E47-A9C4-A6DFE1F8F6A1}"/>
              </a:ext>
            </a:extLst>
          </p:cNvPr>
          <p:cNvPicPr>
            <a:picLocks noGrp="1" noChangeAspect="1"/>
          </p:cNvPicPr>
          <p:nvPr>
            <p:ph type="pic" sz="quarter" idx="15"/>
          </p:nvPr>
        </p:nvPicPr>
        <p:blipFill>
          <a:blip r:embed="rId4"/>
          <a:stretch>
            <a:fillRect/>
          </a:stretch>
        </p:blipFill>
        <p:spPr>
          <a:xfrm>
            <a:off x="441719" y="6436570"/>
            <a:ext cx="914400" cy="276225"/>
          </a:xfrm>
          <a:prstGeom prst="rect">
            <a:avLst/>
          </a:prstGeom>
        </p:spPr>
      </p:pic>
      <p:sp>
        <p:nvSpPr>
          <p:cNvPr id="6" name="Text Placeholder 5"/>
          <p:cNvSpPr>
            <a:spLocks noGrp="1"/>
          </p:cNvSpPr>
          <p:nvPr>
            <p:ph type="body" idx="13"/>
          </p:nvPr>
        </p:nvSpPr>
        <p:spPr>
          <a:xfrm>
            <a:off x="2772000" y="6451200"/>
            <a:ext cx="5986800" cy="221018"/>
          </a:xfrm>
        </p:spPr>
        <p:txBody>
          <a:bodyPr lIns="0" tIns="18000" rIns="0" bIns="18000" anchor="ctr">
            <a:spAutoFit/>
          </a:body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extLst>
      <p:ext uri="{BB962C8B-B14F-4D97-AF65-F5344CB8AC3E}">
        <p14:creationId xmlns:p14="http://schemas.microsoft.com/office/powerpoint/2010/main" val="1361234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652" y="301888"/>
            <a:ext cx="8275548" cy="467239"/>
          </a:xfrm>
        </p:spPr>
        <p:txBody>
          <a:bodyPr wrap="square" lIns="0" tIns="18000" rIns="0" bIns="18000" anchor="t" anchorCtr="0">
            <a:spAutoFit/>
          </a:bodyPr>
          <a:lstStyle/>
          <a:p>
            <a:pPr lvl="0">
              <a:spcBef>
                <a:spcPct val="0"/>
              </a:spcBef>
              <a:buClrTx/>
            </a:pPr>
            <a:r>
              <a:rPr lang="en-US" altLang="en-US" sz="2800" kern="1200" dirty="0">
                <a:latin typeface="+mj-lt"/>
                <a:cs typeface="Times New Roman" panose="02020603050405020304" pitchFamily="18" charset="0"/>
              </a:rPr>
              <a:t>Potential Advantages of Qualitative Research</a:t>
            </a:r>
            <a:endParaRPr lang="en-US" sz="20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31800" y="1682837"/>
            <a:ext cx="8280400" cy="3214145"/>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Exploration</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Multifaceted description</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Verification</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Theory development</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Problem identification</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Evaluation</a:t>
            </a:r>
          </a:p>
        </p:txBody>
      </p:sp>
    </p:spTree>
    <p:extLst>
      <p:ext uri="{BB962C8B-B14F-4D97-AF65-F5344CB8AC3E}">
        <p14:creationId xmlns:p14="http://schemas.microsoft.com/office/powerpoint/2010/main" val="1639749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6652" y="301896"/>
            <a:ext cx="8275548" cy="590349"/>
          </a:xfrm>
        </p:spPr>
        <p:txBody>
          <a:bodyPr wrap="square" lIns="0" tIns="18000" rIns="0" bIns="18000" anchor="t" anchorCtr="0">
            <a:spAutoFit/>
          </a:bodyPr>
          <a:lstStyle/>
          <a:p>
            <a:pPr lvl="0">
              <a:spcBef>
                <a:spcPct val="0"/>
              </a:spcBef>
              <a:buClrTx/>
            </a:pPr>
            <a:r>
              <a:rPr lang="en-US" sz="3600" kern="1200" dirty="0">
                <a:latin typeface="+mj-lt"/>
                <a:cs typeface="Times New Roman" panose="02020603050405020304" pitchFamily="18" charset="0"/>
              </a:rPr>
              <a:t>Research Problems</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3"/>
            <a:ext cx="8229600" cy="2229260"/>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Qualitative studies do not allow the researcher to identify cause–and–effect relationships</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May be general and open-ended</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“What is the nature of…”</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“What is it like to…”</a:t>
            </a:r>
          </a:p>
        </p:txBody>
      </p:sp>
    </p:spTree>
    <p:extLst>
      <p:ext uri="{BB962C8B-B14F-4D97-AF65-F5344CB8AC3E}">
        <p14:creationId xmlns:p14="http://schemas.microsoft.com/office/powerpoint/2010/main" val="12953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9"/>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Research Methodology</a:t>
            </a:r>
            <a:endParaRPr 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87"/>
            <a:ext cx="8229600" cy="1529068"/>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May not be determined in advance</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May continue to evolve over the course of the study</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Requires considerable preparation and planning</a:t>
            </a:r>
          </a:p>
        </p:txBody>
      </p:sp>
    </p:spTree>
    <p:extLst>
      <p:ext uri="{BB962C8B-B14F-4D97-AF65-F5344CB8AC3E}">
        <p14:creationId xmlns:p14="http://schemas.microsoft.com/office/powerpoint/2010/main" val="1737126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6"/>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Qualitative Research Designs</a:t>
            </a:r>
            <a:endParaRPr 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3"/>
            <a:ext cx="8229600" cy="3214145"/>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Case study</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Ethnography</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Phenomenological study</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Grounded theory study</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Narrative Inquiry</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Content analysis</a:t>
            </a:r>
          </a:p>
        </p:txBody>
      </p:sp>
    </p:spTree>
    <p:extLst>
      <p:ext uri="{BB962C8B-B14F-4D97-AF65-F5344CB8AC3E}">
        <p14:creationId xmlns:p14="http://schemas.microsoft.com/office/powerpoint/2010/main" val="4148202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3"/>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Case Study </a:t>
            </a:r>
            <a:r>
              <a:rPr lang="en-US" sz="2800" kern="1200" dirty="0">
                <a:latin typeface="+mj-lt"/>
                <a:cs typeface="Times New Roman" panose="02020603050405020304" pitchFamily="18" charset="0"/>
              </a:rPr>
              <a:t>(1 of 2)</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3"/>
            <a:ext cx="8229600" cy="3783531"/>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A particular individual, program or event is studied in depth</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Used for</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Learning more about a little known or poorly understood situation</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Investigating how an individual or program changes over time</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Generating or providing preliminary support for one or more hypotheses</a:t>
            </a:r>
          </a:p>
        </p:txBody>
      </p:sp>
    </p:spTree>
    <p:extLst>
      <p:ext uri="{BB962C8B-B14F-4D97-AF65-F5344CB8AC3E}">
        <p14:creationId xmlns:p14="http://schemas.microsoft.com/office/powerpoint/2010/main" val="2878667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3"/>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Case Study </a:t>
            </a:r>
            <a:r>
              <a:rPr lang="en-US" sz="2800" kern="1200" dirty="0">
                <a:latin typeface="+mj-lt"/>
                <a:cs typeface="Times New Roman" panose="02020603050405020304" pitchFamily="18" charset="0"/>
              </a:rPr>
              <a:t>(2 of 2)</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3"/>
            <a:ext cx="8229600" cy="775015"/>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Limitation: findings may not be generalizable to other situations</a:t>
            </a:r>
          </a:p>
        </p:txBody>
      </p:sp>
    </p:spTree>
    <p:extLst>
      <p:ext uri="{BB962C8B-B14F-4D97-AF65-F5344CB8AC3E}">
        <p14:creationId xmlns:p14="http://schemas.microsoft.com/office/powerpoint/2010/main" val="69964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6"/>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Ethnography</a:t>
            </a:r>
            <a:r>
              <a:rPr lang="en-US" altLang="en-US" sz="3600" kern="1200" dirty="0">
                <a:latin typeface="+mj-lt"/>
                <a:ea typeface="+mj-ea"/>
                <a:cs typeface="Times New Roman" panose="02020603050405020304" pitchFamily="18" charset="0"/>
              </a:rPr>
              <a:t> </a:t>
            </a:r>
            <a:r>
              <a:rPr lang="en-US" altLang="en-US" sz="2800" kern="1200" dirty="0">
                <a:latin typeface="+mj-lt"/>
                <a:ea typeface="+mj-ea"/>
                <a:cs typeface="Times New Roman" panose="02020603050405020304" pitchFamily="18" charset="0"/>
              </a:rPr>
              <a:t>(1 of 2)</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37322" y="1284898"/>
            <a:ext cx="8274878" cy="3006395"/>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In-depth investigation of an entire group that shares a common culture</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Site-based field work</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Performed in natural setting</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Performed over long period of time</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Key informants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Often involves participant observation</a:t>
            </a:r>
          </a:p>
        </p:txBody>
      </p:sp>
    </p:spTree>
    <p:extLst>
      <p:ext uri="{BB962C8B-B14F-4D97-AF65-F5344CB8AC3E}">
        <p14:creationId xmlns:p14="http://schemas.microsoft.com/office/powerpoint/2010/main" val="3415216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86"/>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Ethnography</a:t>
            </a:r>
            <a:r>
              <a:rPr lang="en-US" altLang="en-US" sz="3600" kern="1200" dirty="0">
                <a:latin typeface="+mj-lt"/>
                <a:ea typeface="+mj-ea"/>
                <a:cs typeface="Times New Roman" panose="02020603050405020304" pitchFamily="18" charset="0"/>
              </a:rPr>
              <a:t> </a:t>
            </a:r>
            <a:r>
              <a:rPr lang="en-US" altLang="en-US" sz="2800" kern="1200" dirty="0">
                <a:latin typeface="+mj-lt"/>
                <a:ea typeface="+mj-ea"/>
                <a:cs typeface="Times New Roman" panose="02020603050405020304" pitchFamily="18" charset="0"/>
              </a:rPr>
              <a:t>(2 of 2)</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8"/>
            <a:ext cx="8229600" cy="2483175"/>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Used to study</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Explicit cultural patterns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Implicit beliefs and assumptions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Below-the-surface, taken-for-granted patterns that even group members aren’t always consciously aware of</a:t>
            </a:r>
          </a:p>
        </p:txBody>
      </p:sp>
    </p:spTree>
    <p:extLst>
      <p:ext uri="{BB962C8B-B14F-4D97-AF65-F5344CB8AC3E}">
        <p14:creationId xmlns:p14="http://schemas.microsoft.com/office/powerpoint/2010/main" val="2924048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4"/>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Narrative Inquiry</a:t>
            </a:r>
            <a:endParaRPr lang="en-US" sz="3600" kern="1200" dirty="0">
              <a:latin typeface="+mj-lt"/>
              <a:ea typeface="+mj-ea"/>
              <a:cs typeface="Times New Roman" panose="02020603050405020304" pitchFamily="18" charset="0"/>
            </a:endParaRPr>
          </a:p>
        </p:txBody>
      </p:sp>
      <p:sp>
        <p:nvSpPr>
          <p:cNvPr id="11" name="Text Placeholder 10"/>
          <p:cNvSpPr>
            <a:spLocks noGrp="1"/>
          </p:cNvSpPr>
          <p:nvPr>
            <p:ph type="body" idx="1"/>
          </p:nvPr>
        </p:nvSpPr>
        <p:spPr>
          <a:xfrm>
            <a:off x="457200" y="1284896"/>
            <a:ext cx="8229600" cy="2406231"/>
          </a:xfrm>
        </p:spPr>
        <p:txBody>
          <a:bodyPr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Used for studying complex, multifaceted phenomena</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Focuses on the recollections and stories of individuals who have had experiences related to these phenomena</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Central notion: Three-dimensional narrative space comprised of interaction, continuity, and situation</a:t>
            </a:r>
          </a:p>
        </p:txBody>
      </p:sp>
    </p:spTree>
    <p:extLst>
      <p:ext uri="{BB962C8B-B14F-4D97-AF65-F5344CB8AC3E}">
        <p14:creationId xmlns:p14="http://schemas.microsoft.com/office/powerpoint/2010/main" val="936683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5900"/>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Phenomenological Study</a:t>
            </a:r>
            <a:endParaRPr lang="en-US" alt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97266"/>
            <a:ext cx="8229600" cy="1667567"/>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Study that attempts to understand people’s perceptions and perspectives of a particular experience</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Small sample</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Lengthy unstructured interviews</a:t>
            </a:r>
          </a:p>
        </p:txBody>
      </p:sp>
    </p:spTree>
    <p:extLst>
      <p:ext uri="{BB962C8B-B14F-4D97-AF65-F5344CB8AC3E}">
        <p14:creationId xmlns:p14="http://schemas.microsoft.com/office/powerpoint/2010/main" val="3065515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5907"/>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Grounded Theory Study</a:t>
            </a:r>
            <a:endParaRPr lang="en-US" alt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91448"/>
            <a:ext cx="8229600" cy="2752480"/>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Goal is to collect and interpret data to develop a theory</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Data analysis begins right away</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Data are organized into categories until </a:t>
            </a:r>
            <a:r>
              <a:rPr lang="en-US" sz="2400" b="1" kern="1200" dirty="0">
                <a:solidFill>
                  <a:srgbClr val="000000"/>
                </a:solidFill>
                <a:latin typeface="Arial" panose="020B0604020202020204" pitchFamily="34" charset="0"/>
                <a:cs typeface="Arial" panose="020B0604020202020204" pitchFamily="34" charset="0"/>
              </a:rPr>
              <a:t>saturation</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Theory emerges from interrelations among categories</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Typically focused on a </a:t>
            </a:r>
            <a:r>
              <a:rPr lang="en-US" sz="2400" b="1" kern="1200" dirty="0">
                <a:solidFill>
                  <a:srgbClr val="000000"/>
                </a:solidFill>
                <a:latin typeface="Arial" panose="020B0604020202020204" pitchFamily="34" charset="0"/>
                <a:cs typeface="Arial" panose="020B0604020202020204" pitchFamily="34" charset="0"/>
              </a:rPr>
              <a:t>process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eating, class discussions, stress during work</a:t>
            </a:r>
          </a:p>
        </p:txBody>
      </p:sp>
    </p:spTree>
    <p:extLst>
      <p:ext uri="{BB962C8B-B14F-4D97-AF65-F5344CB8AC3E}">
        <p14:creationId xmlns:p14="http://schemas.microsoft.com/office/powerpoint/2010/main" val="125744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5904"/>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Content Analysis</a:t>
            </a:r>
            <a:endParaRPr lang="en-US" alt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91458"/>
            <a:ext cx="8229600" cy="3160284"/>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Detailed, systematic examination of the contents of a body of material</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Books, newspapers, legal documents, transcripts of conversations, blogs</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Often included along with another study design</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Often has a quantitative component</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Identify categories &amp; count frequency in each</a:t>
            </a:r>
          </a:p>
        </p:txBody>
      </p:sp>
    </p:spTree>
    <p:extLst>
      <p:ext uri="{BB962C8B-B14F-4D97-AF65-F5344CB8AC3E}">
        <p14:creationId xmlns:p14="http://schemas.microsoft.com/office/powerpoint/2010/main" val="2309315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1"/>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Collecting Qualitative Data </a:t>
            </a:r>
            <a:r>
              <a:rPr lang="en-US" sz="2800" kern="1200" dirty="0">
                <a:latin typeface="+mj-lt"/>
                <a:cs typeface="Times New Roman" panose="02020603050405020304" pitchFamily="18" charset="0"/>
              </a:rPr>
              <a:t>(1 of 2)</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2"/>
            <a:ext cx="8229600" cy="3468060"/>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Multiple methods are used</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Example: interview + observation + artifacts</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Many qualitative researchers engage in the production of memos</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Data collection follows an emerging design</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Analysis of early data influences additional data collection</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Researchers write memos during data collection</a:t>
            </a:r>
          </a:p>
        </p:txBody>
      </p:sp>
    </p:spTree>
    <p:extLst>
      <p:ext uri="{BB962C8B-B14F-4D97-AF65-F5344CB8AC3E}">
        <p14:creationId xmlns:p14="http://schemas.microsoft.com/office/powerpoint/2010/main" val="3085044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1"/>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Collecting Qualitative </a:t>
            </a:r>
            <a:r>
              <a:rPr lang="en-US" sz="3600" kern="1200">
                <a:latin typeface="+mj-lt"/>
                <a:cs typeface="Times New Roman" panose="02020603050405020304" pitchFamily="18" charset="0"/>
              </a:rPr>
              <a:t>Data </a:t>
            </a:r>
            <a:r>
              <a:rPr lang="en-US" sz="2800" kern="1200">
                <a:latin typeface="+mj-lt"/>
                <a:cs typeface="Times New Roman" panose="02020603050405020304" pitchFamily="18" charset="0"/>
              </a:rPr>
              <a:t>(2 </a:t>
            </a:r>
            <a:r>
              <a:rPr lang="en-US" sz="2800" kern="1200" dirty="0">
                <a:latin typeface="+mj-lt"/>
                <a:cs typeface="Times New Roman" panose="02020603050405020304" pitchFamily="18" charset="0"/>
              </a:rPr>
              <a:t>of 2)</a:t>
            </a:r>
            <a:endParaRPr 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2"/>
            <a:ext cx="8229600" cy="1744511"/>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All data must be collected in an ethical way</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Informed consent</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Right to privacy</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Low risk</a:t>
            </a:r>
          </a:p>
        </p:txBody>
      </p:sp>
    </p:spTree>
    <p:extLst>
      <p:ext uri="{BB962C8B-B14F-4D97-AF65-F5344CB8AC3E}">
        <p14:creationId xmlns:p14="http://schemas.microsoft.com/office/powerpoint/2010/main" val="2149629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1"/>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Credibility and Transferability</a:t>
            </a:r>
            <a:endParaRPr lang="en-US" alt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8"/>
            <a:ext cx="8229600" cy="2075371"/>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Equivalent to validity and reliability in quantitative research.</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Whereas quantitative researcher judge assessment strategies as reliable, qualitative researchers prefer to speak of dependability.</a:t>
            </a:r>
          </a:p>
        </p:txBody>
      </p:sp>
    </p:spTree>
    <p:extLst>
      <p:ext uri="{BB962C8B-B14F-4D97-AF65-F5344CB8AC3E}">
        <p14:creationId xmlns:p14="http://schemas.microsoft.com/office/powerpoint/2010/main" val="3266429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80183"/>
            <a:ext cx="8229600" cy="467239"/>
          </a:xfrm>
        </p:spPr>
        <p:txBody>
          <a:bodyPr lIns="0" tIns="18000" rIns="0" bIns="18000">
            <a:spAutoFit/>
          </a:bodyPr>
          <a:lstStyle/>
          <a:p>
            <a:pPr lvl="0">
              <a:spcBef>
                <a:spcPct val="0"/>
              </a:spcBef>
              <a:buClrTx/>
            </a:pPr>
            <a:r>
              <a:rPr lang="en-US" sz="2800" kern="1200" dirty="0">
                <a:latin typeface="+mj-lt"/>
                <a:cs typeface="Times New Roman" panose="02020603050405020304" pitchFamily="18" charset="0"/>
              </a:rPr>
              <a:t>Strategies to Enhance Credibility and Reliability</a:t>
            </a:r>
            <a:endParaRPr lang="en-US" alt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693106"/>
            <a:ext cx="8229600" cy="3583476"/>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Identifying biases (reflexivity)</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Collecting multiple forms of data (triangulation)</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Separating observations (data) from interpretations (memos)</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Seeking exceptions and contradictory evidence</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Spending considerable time on site</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Member checking and audit trails</a:t>
            </a:r>
          </a:p>
        </p:txBody>
      </p:sp>
    </p:spTree>
    <p:extLst>
      <p:ext uri="{BB962C8B-B14F-4D97-AF65-F5344CB8AC3E}">
        <p14:creationId xmlns:p14="http://schemas.microsoft.com/office/powerpoint/2010/main" val="1637228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67"/>
            <a:ext cx="8229600" cy="559572"/>
          </a:xfrm>
        </p:spPr>
        <p:txBody>
          <a:bodyPr lIns="0" tIns="18000" rIns="0" bIns="18000">
            <a:spAutoFit/>
          </a:bodyPr>
          <a:lstStyle/>
          <a:p>
            <a:pPr lvl="0">
              <a:spcBef>
                <a:spcPct val="0"/>
              </a:spcBef>
              <a:buClrTx/>
            </a:pPr>
            <a:r>
              <a:rPr lang="en-US" kern="1200" dirty="0">
                <a:latin typeface="+mj-lt"/>
                <a:cs typeface="Times New Roman" panose="02020603050405020304" pitchFamily="18" charset="0"/>
              </a:rPr>
              <a:t>Selecting an Appropriate Sample </a:t>
            </a:r>
            <a:r>
              <a:rPr lang="en-US" sz="2600" kern="1200" dirty="0">
                <a:latin typeface="+mj-lt"/>
                <a:cs typeface="Times New Roman" panose="02020603050405020304" pitchFamily="18" charset="0"/>
              </a:rPr>
              <a:t>(1 of 3)</a:t>
            </a:r>
            <a:endParaRPr lang="en-US" sz="2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6"/>
            <a:ext cx="8229600" cy="3375727"/>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Depends on your research question and goal</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Random samples best for generalizing to a larger population</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Purposive samples best when specific information/perspective is needed</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Grounded theorists tend to engage in:</a:t>
            </a:r>
          </a:p>
          <a:p>
            <a:pPr marL="1077913" lvl="2" indent="-358775">
              <a:spcAft>
                <a:spcPct val="0"/>
              </a:spcAft>
              <a:buSzPts val="2400"/>
            </a:pPr>
            <a:r>
              <a:rPr lang="en-US" sz="2400" kern="1200" dirty="0">
                <a:solidFill>
                  <a:srgbClr val="000000"/>
                </a:solidFill>
                <a:latin typeface="Arial" panose="020B0604020202020204" pitchFamily="34" charset="0"/>
                <a:cs typeface="Arial" panose="020B0604020202020204" pitchFamily="34" charset="0"/>
              </a:rPr>
              <a:t>Theoretical sampling</a:t>
            </a:r>
          </a:p>
          <a:p>
            <a:pPr marL="1077913" lvl="2" indent="-358775">
              <a:spcAft>
                <a:spcPct val="0"/>
              </a:spcAft>
              <a:buSzPts val="2400"/>
            </a:pPr>
            <a:r>
              <a:rPr lang="en-US" sz="2400" kern="1200" dirty="0">
                <a:solidFill>
                  <a:srgbClr val="000000"/>
                </a:solidFill>
                <a:latin typeface="Arial" panose="020B0604020202020204" pitchFamily="34" charset="0"/>
                <a:cs typeface="Arial" panose="020B0604020202020204" pitchFamily="34" charset="0"/>
              </a:rPr>
              <a:t>Discriminant sampling</a:t>
            </a:r>
          </a:p>
        </p:txBody>
      </p:sp>
    </p:spTree>
    <p:extLst>
      <p:ext uri="{BB962C8B-B14F-4D97-AF65-F5344CB8AC3E}">
        <p14:creationId xmlns:p14="http://schemas.microsoft.com/office/powerpoint/2010/main" val="2110590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67"/>
            <a:ext cx="8229600" cy="559572"/>
          </a:xfrm>
        </p:spPr>
        <p:txBody>
          <a:bodyPr lIns="0" tIns="18000" rIns="0" bIns="18000">
            <a:spAutoFit/>
          </a:bodyPr>
          <a:lstStyle/>
          <a:p>
            <a:pPr lvl="0">
              <a:spcBef>
                <a:spcPct val="0"/>
              </a:spcBef>
              <a:buClrTx/>
            </a:pPr>
            <a:r>
              <a:rPr lang="en-US" kern="1200" dirty="0">
                <a:latin typeface="+mj-lt"/>
                <a:cs typeface="Times New Roman" panose="02020603050405020304" pitchFamily="18" charset="0"/>
              </a:rPr>
              <a:t>Selecting an Appropriate Sample </a:t>
            </a:r>
            <a:r>
              <a:rPr lang="en-US" sz="2600" kern="1200" dirty="0">
                <a:latin typeface="+mj-lt"/>
                <a:cs typeface="Times New Roman" panose="02020603050405020304" pitchFamily="18" charset="0"/>
              </a:rPr>
              <a:t>(2 of 3)</a:t>
            </a:r>
            <a:endParaRPr lang="en-US" sz="2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6"/>
            <a:ext cx="8229600" cy="3375727"/>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Case study researchers may engage in </a:t>
            </a:r>
            <a:r>
              <a:rPr lang="en-US" sz="2400" b="1" kern="1200" dirty="0">
                <a:solidFill>
                  <a:srgbClr val="000000"/>
                </a:solidFill>
                <a:latin typeface="Arial" panose="020B0604020202020204" pitchFamily="34" charset="0"/>
                <a:cs typeface="Arial" panose="020B0604020202020204" pitchFamily="34" charset="0"/>
              </a:rPr>
              <a:t>extreme case sampling</a:t>
            </a:r>
            <a:r>
              <a:rPr lang="en-US" sz="2400" kern="1200" dirty="0">
                <a:solidFill>
                  <a:srgbClr val="000000"/>
                </a:solidFill>
                <a:latin typeface="Arial" panose="020B0604020202020204" pitchFamily="34" charset="0"/>
                <a:cs typeface="Arial" panose="020B0604020202020204" pitchFamily="34" charset="0"/>
              </a:rPr>
              <a:t>: A researcher selects individuals who have unique or deviant characteristics within a case, then focuses observations on those individuals</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When researchers have little control over certain situations they may employ:</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convenience sampling</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snowball sampling</a:t>
            </a:r>
          </a:p>
        </p:txBody>
      </p:sp>
    </p:spTree>
    <p:extLst>
      <p:ext uri="{BB962C8B-B14F-4D97-AF65-F5344CB8AC3E}">
        <p14:creationId xmlns:p14="http://schemas.microsoft.com/office/powerpoint/2010/main" val="1107855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67"/>
            <a:ext cx="8229600" cy="559572"/>
          </a:xfrm>
        </p:spPr>
        <p:txBody>
          <a:bodyPr lIns="0" tIns="18000" rIns="0" bIns="18000">
            <a:spAutoFit/>
          </a:bodyPr>
          <a:lstStyle/>
          <a:p>
            <a:pPr lvl="0">
              <a:spcBef>
                <a:spcPct val="0"/>
              </a:spcBef>
              <a:buClrTx/>
            </a:pPr>
            <a:r>
              <a:rPr lang="en-US" kern="1200" dirty="0">
                <a:latin typeface="+mj-lt"/>
                <a:cs typeface="Times New Roman" panose="02020603050405020304" pitchFamily="18" charset="0"/>
              </a:rPr>
              <a:t>Selecting an Appropriate Sample </a:t>
            </a:r>
            <a:r>
              <a:rPr lang="en-US" sz="2600" kern="1200" dirty="0">
                <a:latin typeface="+mj-lt"/>
                <a:cs typeface="Times New Roman" panose="02020603050405020304" pitchFamily="18" charset="0"/>
              </a:rPr>
              <a:t>(3 of 3)</a:t>
            </a:r>
            <a:endParaRPr lang="en-US" sz="2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6"/>
            <a:ext cx="8229600" cy="1513679"/>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Ideally, the sample should provide information not only about how things are </a:t>
            </a:r>
            <a:r>
              <a:rPr lang="en-US" sz="2400" b="1" kern="1200" dirty="0">
                <a:solidFill>
                  <a:srgbClr val="000000"/>
                </a:solidFill>
                <a:latin typeface="Arial" panose="020B0604020202020204" pitchFamily="34" charset="0"/>
                <a:cs typeface="Arial" panose="020B0604020202020204" pitchFamily="34" charset="0"/>
              </a:rPr>
              <a:t>on average </a:t>
            </a:r>
            <a:r>
              <a:rPr lang="en-US" sz="2400" kern="1200" dirty="0">
                <a:solidFill>
                  <a:srgbClr val="000000"/>
                </a:solidFill>
                <a:latin typeface="Arial" panose="020B0604020202020204" pitchFamily="34" charset="0"/>
                <a:cs typeface="Arial" panose="020B0604020202020204" pitchFamily="34" charset="0"/>
              </a:rPr>
              <a:t>but also about how much </a:t>
            </a:r>
            <a:r>
              <a:rPr lang="en-US" sz="2400" b="1" kern="1200" dirty="0">
                <a:solidFill>
                  <a:srgbClr val="000000"/>
                </a:solidFill>
                <a:latin typeface="Arial" panose="020B0604020202020204" pitchFamily="34" charset="0"/>
                <a:cs typeface="Arial" panose="020B0604020202020204" pitchFamily="34" charset="0"/>
              </a:rPr>
              <a:t>variability </a:t>
            </a:r>
            <a:r>
              <a:rPr lang="en-US" sz="2400" kern="1200" dirty="0">
                <a:solidFill>
                  <a:srgbClr val="000000"/>
                </a:solidFill>
                <a:latin typeface="Arial" panose="020B0604020202020204" pitchFamily="34" charset="0"/>
                <a:cs typeface="Arial" panose="020B0604020202020204" pitchFamily="34" charset="0"/>
              </a:rPr>
              <a:t>exists in the phenomenon under investigation.</a:t>
            </a:r>
          </a:p>
        </p:txBody>
      </p:sp>
    </p:spTree>
    <p:extLst>
      <p:ext uri="{BB962C8B-B14F-4D97-AF65-F5344CB8AC3E}">
        <p14:creationId xmlns:p14="http://schemas.microsoft.com/office/powerpoint/2010/main" val="1821709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9"/>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Observations</a:t>
            </a:r>
            <a:endParaRPr lang="en-US" sz="36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4"/>
            <a:ext cx="8229600" cy="2867896"/>
          </a:xfrm>
        </p:spPr>
        <p:txBody>
          <a:bodyPr wrap="square" lIns="0" tIns="18000" rIns="0" bIns="18000">
            <a:spAutoFit/>
          </a:bodyPr>
          <a:lstStyle/>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Typically unstructured, free-flowing</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Can be very time-consuming</a:t>
            </a:r>
          </a:p>
          <a:p>
            <a:pPr marL="358775" lvl="0" indent="-358775">
              <a:spcAft>
                <a:spcPct val="0"/>
              </a:spcAft>
              <a:buSzPts val="2400"/>
              <a:tabLst/>
            </a:pPr>
            <a:r>
              <a:rPr lang="en-US" sz="2400" kern="1200" dirty="0">
                <a:solidFill>
                  <a:srgbClr val="000000"/>
                </a:solidFill>
                <a:latin typeface="Arial" panose="020B0604020202020204" pitchFamily="34" charset="0"/>
                <a:cs typeface="Arial" panose="020B0604020202020204" pitchFamily="34" charset="0"/>
              </a:rPr>
              <a:t>Can be biased</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Researcher’s attention</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Researcher’s interpretations</a:t>
            </a:r>
          </a:p>
          <a:p>
            <a:pPr marL="741363" lvl="1" indent="-382588">
              <a:spcAft>
                <a:spcPct val="0"/>
              </a:spcAft>
              <a:buSzPts val="2400"/>
            </a:pPr>
            <a:r>
              <a:rPr lang="en-US" sz="2400" kern="1200" dirty="0">
                <a:solidFill>
                  <a:srgbClr val="000000"/>
                </a:solidFill>
                <a:latin typeface="Arial" panose="020B0604020202020204" pitchFamily="34" charset="0"/>
                <a:cs typeface="Arial" panose="020B0604020202020204" pitchFamily="34" charset="0"/>
              </a:rPr>
              <a:t>Researcher’s influence on participant</a:t>
            </a:r>
          </a:p>
        </p:txBody>
      </p:sp>
    </p:spTree>
    <p:extLst>
      <p:ext uri="{BB962C8B-B14F-4D97-AF65-F5344CB8AC3E}">
        <p14:creationId xmlns:p14="http://schemas.microsoft.com/office/powerpoint/2010/main" val="911629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2"/>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Interviews </a:t>
            </a:r>
            <a:r>
              <a:rPr lang="en-US" sz="2800" kern="1200" dirty="0">
                <a:latin typeface="+mj-lt"/>
                <a:cs typeface="Times New Roman" panose="02020603050405020304" pitchFamily="18" charset="0"/>
              </a:rPr>
              <a:t>(1 of 3)</a:t>
            </a:r>
            <a:endParaRPr lang="en-US" alt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7"/>
            <a:ext cx="8229600" cy="2829424"/>
          </a:xfrm>
        </p:spPr>
        <p:txBody>
          <a:bodyPr wrap="square" lIns="0" tIns="18000" rIns="0" bIns="18000">
            <a:spAutoFit/>
          </a:bodyPr>
          <a:lstStyle/>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cs typeface="Arial" panose="020B0604020202020204" pitchFamily="34" charset="0"/>
              </a:rPr>
              <a:t>Identify general questions and follow-up questions in advance</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cs typeface="Arial" panose="020B0604020202020204" pitchFamily="34" charset="0"/>
              </a:rPr>
              <a:t>Consider participants’ cultural backgrounds</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cs typeface="Arial" panose="020B0604020202020204" pitchFamily="34" charset="0"/>
              </a:rPr>
              <a:t>Make sure sample includes people who can give the information you want</a:t>
            </a:r>
          </a:p>
          <a:p>
            <a:pPr marL="432054" lvl="0" indent="-432054">
              <a:spcAft>
                <a:spcPct val="0"/>
              </a:spcAft>
              <a:buSzPts val="2400"/>
              <a:buFont typeface="+mj-lt"/>
              <a:buAutoNum type="arabicPeriod"/>
              <a:tabLst/>
            </a:pPr>
            <a:r>
              <a:rPr lang="en-US" sz="2400" kern="1200" dirty="0">
                <a:solidFill>
                  <a:srgbClr val="000000"/>
                </a:solidFill>
                <a:latin typeface="Arial" panose="020B0604020202020204" pitchFamily="34" charset="0"/>
                <a:cs typeface="Arial" panose="020B0604020202020204" pitchFamily="34" charset="0"/>
              </a:rPr>
              <a:t>Find a suitable location</a:t>
            </a:r>
          </a:p>
        </p:txBody>
      </p:sp>
    </p:spTree>
    <p:extLst>
      <p:ext uri="{BB962C8B-B14F-4D97-AF65-F5344CB8AC3E}">
        <p14:creationId xmlns:p14="http://schemas.microsoft.com/office/powerpoint/2010/main" val="247195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2"/>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Interviews </a:t>
            </a:r>
            <a:r>
              <a:rPr lang="en-US" sz="2800" kern="1200" dirty="0">
                <a:latin typeface="+mj-lt"/>
                <a:cs typeface="Times New Roman" panose="02020603050405020304" pitchFamily="18" charset="0"/>
              </a:rPr>
              <a:t>(2 of 3)</a:t>
            </a:r>
            <a:endParaRPr lang="en-US" alt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7"/>
            <a:ext cx="8229600" cy="2460092"/>
          </a:xfrm>
        </p:spPr>
        <p:txBody>
          <a:bodyPr wrap="square" lIns="0" tIns="18000" rIns="0" bIns="18000">
            <a:spAutoFit/>
          </a:bodyPr>
          <a:lstStyle/>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cs typeface="Arial" panose="020B0604020202020204" pitchFamily="34" charset="0"/>
              </a:rPr>
              <a:t>Get written permission</a:t>
            </a:r>
          </a:p>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cs typeface="Arial" panose="020B0604020202020204" pitchFamily="34" charset="0"/>
              </a:rPr>
              <a:t>Establish and maintain rapport</a:t>
            </a:r>
          </a:p>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cs typeface="Arial" panose="020B0604020202020204" pitchFamily="34" charset="0"/>
              </a:rPr>
              <a:t>Focus on the actual rather than on the abstract or hypothetical</a:t>
            </a:r>
          </a:p>
          <a:p>
            <a:pPr marL="432054" lvl="0" indent="-432054">
              <a:spcAft>
                <a:spcPct val="0"/>
              </a:spcAft>
              <a:buSzPts val="2400"/>
              <a:buFont typeface="+mj-lt"/>
              <a:buAutoNum type="arabicPeriod" startAt="5"/>
              <a:tabLst/>
            </a:pPr>
            <a:r>
              <a:rPr lang="en-US" sz="2400" kern="1200" dirty="0">
                <a:solidFill>
                  <a:srgbClr val="000000"/>
                </a:solidFill>
                <a:latin typeface="Arial" panose="020B0604020202020204" pitchFamily="34" charset="0"/>
                <a:cs typeface="Arial" panose="020B0604020202020204" pitchFamily="34" charset="0"/>
              </a:rPr>
              <a:t>Don’t put words in people’s mouths</a:t>
            </a:r>
          </a:p>
        </p:txBody>
      </p:sp>
    </p:spTree>
    <p:extLst>
      <p:ext uri="{BB962C8B-B14F-4D97-AF65-F5344CB8AC3E}">
        <p14:creationId xmlns:p14="http://schemas.microsoft.com/office/powerpoint/2010/main" val="2170748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892"/>
            <a:ext cx="8229600" cy="590349"/>
          </a:xfrm>
        </p:spPr>
        <p:txBody>
          <a:bodyPr lIns="0" tIns="18000" rIns="0" bIns="18000">
            <a:spAutoFit/>
          </a:bodyPr>
          <a:lstStyle/>
          <a:p>
            <a:pPr lvl="0">
              <a:spcBef>
                <a:spcPct val="0"/>
              </a:spcBef>
              <a:buClrTx/>
            </a:pPr>
            <a:r>
              <a:rPr lang="en-US" sz="3600" kern="1200" dirty="0">
                <a:latin typeface="+mj-lt"/>
                <a:cs typeface="Times New Roman" panose="02020603050405020304" pitchFamily="18" charset="0"/>
              </a:rPr>
              <a:t>Interviews </a:t>
            </a:r>
            <a:r>
              <a:rPr lang="en-US" sz="2800" kern="1200" dirty="0">
                <a:latin typeface="+mj-lt"/>
                <a:cs typeface="Times New Roman" panose="02020603050405020304" pitchFamily="18" charset="0"/>
              </a:rPr>
              <a:t>(3 of 3)</a:t>
            </a:r>
            <a:endParaRPr lang="en-US" altLang="en-US" sz="2800" kern="1200" dirty="0">
              <a:latin typeface="+mj-lt"/>
              <a:ea typeface="+mj-ea"/>
              <a:cs typeface="Times New Roman" panose="02020603050405020304" pitchFamily="18" charset="0"/>
            </a:endParaRPr>
          </a:p>
        </p:txBody>
      </p:sp>
      <p:sp>
        <p:nvSpPr>
          <p:cNvPr id="3" name="Text Placeholder 2"/>
          <p:cNvSpPr>
            <a:spLocks noGrp="1"/>
          </p:cNvSpPr>
          <p:nvPr>
            <p:ph type="body" idx="1"/>
          </p:nvPr>
        </p:nvSpPr>
        <p:spPr>
          <a:xfrm>
            <a:off x="457200" y="1284897"/>
            <a:ext cx="8229600" cy="2460092"/>
          </a:xfrm>
        </p:spPr>
        <p:txBody>
          <a:bodyPr wrap="square" lIns="0" tIns="18000" rIns="0" bIns="18000">
            <a:spAutoFit/>
          </a:bodyPr>
          <a:lstStyle/>
          <a:p>
            <a:pPr marL="533400" lvl="0" indent="-533400">
              <a:spcAft>
                <a:spcPct val="0"/>
              </a:spcAft>
              <a:buSzPts val="2400"/>
              <a:buFont typeface="+mj-lt"/>
              <a:buAutoNum type="arabicPeriod" startAt="9"/>
              <a:tabLst/>
            </a:pPr>
            <a:r>
              <a:rPr lang="en-US" sz="2400" kern="1200" dirty="0">
                <a:solidFill>
                  <a:srgbClr val="000000"/>
                </a:solidFill>
                <a:latin typeface="Arial" panose="020B0604020202020204" pitchFamily="34" charset="0"/>
                <a:cs typeface="Arial" panose="020B0604020202020204" pitchFamily="34" charset="0"/>
              </a:rPr>
              <a:t>Record responses verbatim </a:t>
            </a:r>
          </a:p>
          <a:p>
            <a:pPr marL="538163" lvl="0" indent="-538163">
              <a:spcAft>
                <a:spcPct val="0"/>
              </a:spcAft>
              <a:buSzPts val="2400"/>
              <a:buFont typeface="+mj-lt"/>
              <a:buAutoNum type="arabicPeriod" startAt="9"/>
              <a:tabLst/>
            </a:pPr>
            <a:r>
              <a:rPr lang="en-US" sz="2400" kern="1200" dirty="0">
                <a:solidFill>
                  <a:srgbClr val="000000"/>
                </a:solidFill>
                <a:latin typeface="Arial" panose="020B0604020202020204" pitchFamily="34" charset="0"/>
                <a:cs typeface="Arial" panose="020B0604020202020204" pitchFamily="34" charset="0"/>
              </a:rPr>
              <a:t>Keep your reactions to yourself</a:t>
            </a:r>
          </a:p>
          <a:p>
            <a:pPr marL="538163" lvl="0" indent="-538163">
              <a:spcAft>
                <a:spcPct val="0"/>
              </a:spcAft>
              <a:buSzPts val="2400"/>
              <a:buFont typeface="+mj-lt"/>
              <a:buAutoNum type="arabicPeriod" startAt="9"/>
              <a:tabLst/>
            </a:pPr>
            <a:r>
              <a:rPr lang="en-US" sz="2400" kern="1200" dirty="0">
                <a:solidFill>
                  <a:srgbClr val="000000"/>
                </a:solidFill>
                <a:latin typeface="Arial" panose="020B0604020202020204" pitchFamily="34" charset="0"/>
                <a:cs typeface="Arial" panose="020B0604020202020204" pitchFamily="34" charset="0"/>
              </a:rPr>
              <a:t>Remember that you may not be getting the “facts”</a:t>
            </a:r>
          </a:p>
          <a:p>
            <a:pPr marL="538163" lvl="0" indent="-538163">
              <a:spcAft>
                <a:spcPct val="0"/>
              </a:spcAft>
              <a:buSzPts val="2400"/>
              <a:buFont typeface="+mj-lt"/>
              <a:buAutoNum type="arabicPeriod" startAt="9"/>
              <a:tabLst/>
            </a:pPr>
            <a:r>
              <a:rPr lang="en-US" sz="2400" kern="1200" dirty="0">
                <a:solidFill>
                  <a:srgbClr val="000000"/>
                </a:solidFill>
                <a:latin typeface="Arial" panose="020B0604020202020204" pitchFamily="34" charset="0"/>
                <a:cs typeface="Arial" panose="020B0604020202020204" pitchFamily="34" charset="0"/>
              </a:rPr>
              <a:t>When conducting a focus group, take group dynamics into account</a:t>
            </a:r>
          </a:p>
        </p:txBody>
      </p:sp>
    </p:spTree>
    <p:extLst>
      <p:ext uri="{BB962C8B-B14F-4D97-AF65-F5344CB8AC3E}">
        <p14:creationId xmlns:p14="http://schemas.microsoft.com/office/powerpoint/2010/main" val="135819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8376"/>
            <a:ext cx="8229600" cy="1021237"/>
          </a:xfrm>
        </p:spPr>
        <p:txBody>
          <a:bodyPr lIns="0" tIns="18000" rIns="0" bIns="18000">
            <a:spAutoFit/>
          </a:bodyPr>
          <a:lstStyle/>
          <a:p>
            <a:pPr lvl="0">
              <a:spcBef>
                <a:spcPct val="0"/>
              </a:spcBef>
              <a:buClrTx/>
            </a:pPr>
            <a:r>
              <a:rPr lang="en-US" sz="3200" kern="1200" dirty="0">
                <a:latin typeface="+mj-lt"/>
                <a:cs typeface="Times New Roman" panose="02020603050405020304" pitchFamily="18" charset="0"/>
              </a:rPr>
              <a:t>Criteria for Evaluating Qualitative Research</a:t>
            </a:r>
            <a:r>
              <a:rPr lang="en-US" sz="2400" kern="1200" dirty="0">
                <a:latin typeface="+mj-lt"/>
                <a:cs typeface="Times New Roman" panose="02020603050405020304" pitchFamily="18" charset="0"/>
              </a:rPr>
              <a:t> (1 of 4)</a:t>
            </a:r>
            <a:endParaRPr lang="en-US" altLang="en-US" sz="2400" kern="1200" dirty="0">
              <a:latin typeface="+mj-lt"/>
              <a:ea typeface="+mj-ea"/>
              <a:cs typeface="Times New Roman" panose="02020603050405020304" pitchFamily="18" charset="0"/>
            </a:endParaRPr>
          </a:p>
        </p:txBody>
      </p:sp>
      <p:sp>
        <p:nvSpPr>
          <p:cNvPr id="7" name="Content Placeholder 6">
            <a:extLst>
              <a:ext uri="{FF2B5EF4-FFF2-40B4-BE49-F238E27FC236}">
                <a16:creationId xmlns:a16="http://schemas.microsoft.com/office/drawing/2014/main" id="{7138F229-BE90-4F41-BCE3-CBF96628B85B}"/>
              </a:ext>
            </a:extLst>
          </p:cNvPr>
          <p:cNvSpPr>
            <a:spLocks noGrp="1"/>
          </p:cNvSpPr>
          <p:nvPr>
            <p:ph sz="quarter" idx="13"/>
          </p:nvPr>
        </p:nvSpPr>
        <p:spPr>
          <a:xfrm>
            <a:off x="457200" y="1927180"/>
            <a:ext cx="8229600" cy="405683"/>
          </a:xfrm>
        </p:spPr>
        <p:txBody>
          <a:bodyPr lIns="0" tIns="18000" rIns="0" bIns="18000">
            <a:spAutoFit/>
          </a:bodyPr>
          <a:lstStyle/>
          <a:p>
            <a:pPr marL="343332" indent="-342900">
              <a:buFont typeface="+mj-lt"/>
              <a:buAutoNum type="arabicPeriod"/>
            </a:pPr>
            <a:r>
              <a:rPr lang="en-US" sz="2400" dirty="0">
                <a:latin typeface="Arial" panose="020B0604020202020204" pitchFamily="34" charset="0"/>
                <a:cs typeface="Arial" panose="020B0604020202020204" pitchFamily="34" charset="0"/>
              </a:rPr>
              <a:t>Purposefulness</a:t>
            </a:r>
          </a:p>
        </p:txBody>
      </p:sp>
      <p:sp>
        <p:nvSpPr>
          <p:cNvPr id="8" name="Content Placeholder 7">
            <a:extLst>
              <a:ext uri="{FF2B5EF4-FFF2-40B4-BE49-F238E27FC236}">
                <a16:creationId xmlns:a16="http://schemas.microsoft.com/office/drawing/2014/main" id="{518F4C5E-5874-4F05-A116-24964906AF87}"/>
              </a:ext>
            </a:extLst>
          </p:cNvPr>
          <p:cNvSpPr>
            <a:spLocks noGrp="1"/>
          </p:cNvSpPr>
          <p:nvPr>
            <p:ph sz="quarter" idx="14"/>
          </p:nvPr>
        </p:nvSpPr>
        <p:spPr>
          <a:xfrm>
            <a:off x="457200" y="2454601"/>
            <a:ext cx="8232775" cy="775015"/>
          </a:xfrm>
        </p:spPr>
        <p:txBody>
          <a:bodyPr lIns="0" tIns="18000" rIns="0" bIns="18000">
            <a:spAutoFit/>
          </a:bodyPr>
          <a:lstStyle/>
          <a:p>
            <a:pPr marL="845693" lvl="1" indent="-358775"/>
            <a:r>
              <a:rPr lang="en-US" sz="2400" dirty="0">
                <a:latin typeface="Arial" panose="020B0604020202020204" pitchFamily="34" charset="0"/>
                <a:cs typeface="Arial" panose="020B0604020202020204" pitchFamily="34" charset="0"/>
              </a:rPr>
              <a:t>The research question drives the methods used to collect and analyze data.</a:t>
            </a:r>
          </a:p>
        </p:txBody>
      </p:sp>
      <p:sp>
        <p:nvSpPr>
          <p:cNvPr id="9" name="Content Placeholder 8">
            <a:extLst>
              <a:ext uri="{FF2B5EF4-FFF2-40B4-BE49-F238E27FC236}">
                <a16:creationId xmlns:a16="http://schemas.microsoft.com/office/drawing/2014/main" id="{4C1A4481-2949-4C0D-874C-EB4CAF40C248}"/>
              </a:ext>
            </a:extLst>
          </p:cNvPr>
          <p:cNvSpPr>
            <a:spLocks noGrp="1"/>
          </p:cNvSpPr>
          <p:nvPr>
            <p:ph sz="quarter" idx="15"/>
          </p:nvPr>
        </p:nvSpPr>
        <p:spPr>
          <a:xfrm>
            <a:off x="457200" y="3372293"/>
            <a:ext cx="8229600" cy="405683"/>
          </a:xfrm>
        </p:spPr>
        <p:txBody>
          <a:bodyPr lIns="0" tIns="18000" rIns="0" bIns="18000">
            <a:spAutoFit/>
          </a:bodyPr>
          <a:lstStyle/>
          <a:p>
            <a:pPr marL="342900" indent="-342900">
              <a:buFont typeface="+mj-lt"/>
              <a:buAutoNum type="arabicPeriod" startAt="2"/>
            </a:pPr>
            <a:r>
              <a:rPr lang="en-US" sz="2400" dirty="0">
                <a:latin typeface="Arial" panose="020B0604020202020204" pitchFamily="34" charset="0"/>
                <a:cs typeface="Arial" panose="020B0604020202020204" pitchFamily="34" charset="0"/>
              </a:rPr>
              <a:t>Explicitness of assumptions and biases</a:t>
            </a:r>
          </a:p>
        </p:txBody>
      </p:sp>
      <p:sp>
        <p:nvSpPr>
          <p:cNvPr id="10" name="Content Placeholder 9">
            <a:extLst>
              <a:ext uri="{FF2B5EF4-FFF2-40B4-BE49-F238E27FC236}">
                <a16:creationId xmlns:a16="http://schemas.microsoft.com/office/drawing/2014/main" id="{5D977F97-68AD-4650-962A-39B4A86EA3E8}"/>
              </a:ext>
            </a:extLst>
          </p:cNvPr>
          <p:cNvSpPr>
            <a:spLocks noGrp="1"/>
          </p:cNvSpPr>
          <p:nvPr>
            <p:ph sz="quarter" idx="16"/>
          </p:nvPr>
        </p:nvSpPr>
        <p:spPr>
          <a:xfrm>
            <a:off x="457200" y="3885283"/>
            <a:ext cx="8229600" cy="775015"/>
          </a:xfrm>
        </p:spPr>
        <p:txBody>
          <a:bodyPr lIns="0" tIns="18000" rIns="0" bIns="18000">
            <a:spAutoFit/>
          </a:bodyPr>
          <a:lstStyle/>
          <a:p>
            <a:pPr marL="846137" lvl="1" indent="-358775"/>
            <a:r>
              <a:rPr lang="en-US" sz="2400" dirty="0">
                <a:latin typeface="Arial" panose="020B0604020202020204" pitchFamily="34" charset="0"/>
                <a:cs typeface="Arial" panose="020B0604020202020204" pitchFamily="34" charset="0"/>
              </a:rPr>
              <a:t>The researcher identifies and communicates anything that may influence data collection and interpretation.</a:t>
            </a:r>
          </a:p>
        </p:txBody>
      </p:sp>
      <p:sp>
        <p:nvSpPr>
          <p:cNvPr id="11" name="Content Placeholder 10">
            <a:extLst>
              <a:ext uri="{FF2B5EF4-FFF2-40B4-BE49-F238E27FC236}">
                <a16:creationId xmlns:a16="http://schemas.microsoft.com/office/drawing/2014/main" id="{A32A70F1-C046-4615-8444-DC69E2B05DEA}"/>
              </a:ext>
            </a:extLst>
          </p:cNvPr>
          <p:cNvSpPr>
            <a:spLocks noGrp="1"/>
          </p:cNvSpPr>
          <p:nvPr>
            <p:ph sz="quarter" idx="17"/>
          </p:nvPr>
        </p:nvSpPr>
        <p:spPr>
          <a:xfrm>
            <a:off x="457200" y="4724389"/>
            <a:ext cx="8229600" cy="405683"/>
          </a:xfrm>
        </p:spPr>
        <p:txBody>
          <a:bodyPr lIns="0" tIns="18000" rIns="0" bIns="18000">
            <a:spAutoFit/>
          </a:bodyPr>
          <a:lstStyle/>
          <a:p>
            <a:pPr marL="342900" indent="-342900">
              <a:buFont typeface="+mj-lt"/>
              <a:buAutoNum type="arabicPeriod" startAt="3"/>
            </a:pPr>
            <a:r>
              <a:rPr lang="en-US" sz="2400" dirty="0">
                <a:latin typeface="Arial" panose="020B0604020202020204" pitchFamily="34" charset="0"/>
                <a:cs typeface="Arial" panose="020B0604020202020204" pitchFamily="34" charset="0"/>
              </a:rPr>
              <a:t>Rigor</a:t>
            </a:r>
          </a:p>
        </p:txBody>
      </p:sp>
      <p:sp>
        <p:nvSpPr>
          <p:cNvPr id="12" name="Content Placeholder 11">
            <a:extLst>
              <a:ext uri="{FF2B5EF4-FFF2-40B4-BE49-F238E27FC236}">
                <a16:creationId xmlns:a16="http://schemas.microsoft.com/office/drawing/2014/main" id="{D54CE0D5-1A2E-4EB8-957B-C090A74E9F6F}"/>
              </a:ext>
            </a:extLst>
          </p:cNvPr>
          <p:cNvSpPr>
            <a:spLocks noGrp="1"/>
          </p:cNvSpPr>
          <p:nvPr>
            <p:ph sz="quarter" idx="18"/>
          </p:nvPr>
        </p:nvSpPr>
        <p:spPr>
          <a:xfrm>
            <a:off x="457200" y="5237671"/>
            <a:ext cx="8229600" cy="1144347"/>
          </a:xfrm>
        </p:spPr>
        <p:txBody>
          <a:bodyPr lIns="0" tIns="18000" rIns="0" bIns="18000">
            <a:spAutoFit/>
          </a:bodyPr>
          <a:lstStyle/>
          <a:p>
            <a:pPr marL="829818" lvl="1" indent="-342900"/>
            <a:r>
              <a:rPr lang="en-US" sz="2400" dirty="0">
                <a:latin typeface="Arial" panose="020B0604020202020204" pitchFamily="34" charset="0"/>
                <a:cs typeface="Arial" panose="020B0604020202020204" pitchFamily="34" charset="0"/>
              </a:rPr>
              <a:t>The researcher uses rigorous, precise, and thorough methods and takes steps to remain as objective as possible.</a:t>
            </a:r>
          </a:p>
        </p:txBody>
      </p:sp>
    </p:spTree>
    <p:extLst>
      <p:ext uri="{BB962C8B-B14F-4D97-AF65-F5344CB8AC3E}">
        <p14:creationId xmlns:p14="http://schemas.microsoft.com/office/powerpoint/2010/main" val="4090438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266"/>
            <a:ext cx="8229600" cy="1144347"/>
          </a:xfrm>
        </p:spPr>
        <p:txBody>
          <a:bodyPr lIns="0" tIns="18000" rIns="0" bIns="18000">
            <a:spAutoFit/>
          </a:bodyPr>
          <a:lstStyle/>
          <a:p>
            <a:pPr lvl="0">
              <a:spcBef>
                <a:spcPct val="0"/>
              </a:spcBef>
              <a:buClrTx/>
            </a:pPr>
            <a:r>
              <a:rPr lang="en-US" sz="3600" kern="1200">
                <a:latin typeface="+mj-lt"/>
                <a:cs typeface="Times New Roman" panose="02020603050405020304" pitchFamily="18" charset="0"/>
              </a:rPr>
              <a:t>Criteria for Evaluating Qualitative Research</a:t>
            </a:r>
            <a:r>
              <a:rPr lang="en-US" sz="2800" kern="1200">
                <a:latin typeface="+mj-lt"/>
                <a:cs typeface="Times New Roman" panose="02020603050405020304" pitchFamily="18" charset="0"/>
              </a:rPr>
              <a:t> (2 of 4)</a:t>
            </a:r>
            <a:endParaRPr lang="en-US" altLang="en-US" sz="2800" kern="1200">
              <a:latin typeface="+mj-lt"/>
              <a:ea typeface="+mj-ea"/>
              <a:cs typeface="Times New Roman" panose="02020603050405020304" pitchFamily="18" charset="0"/>
            </a:endParaRPr>
          </a:p>
        </p:txBody>
      </p:sp>
      <p:sp>
        <p:nvSpPr>
          <p:cNvPr id="7" name="Content Placeholder 6">
            <a:extLst>
              <a:ext uri="{FF2B5EF4-FFF2-40B4-BE49-F238E27FC236}">
                <a16:creationId xmlns:a16="http://schemas.microsoft.com/office/drawing/2014/main" id="{7138F229-BE90-4F41-BCE3-CBF96628B85B}"/>
              </a:ext>
            </a:extLst>
          </p:cNvPr>
          <p:cNvSpPr>
            <a:spLocks noGrp="1"/>
          </p:cNvSpPr>
          <p:nvPr>
            <p:ph sz="quarter" idx="13"/>
          </p:nvPr>
        </p:nvSpPr>
        <p:spPr>
          <a:xfrm>
            <a:off x="457200" y="1927180"/>
            <a:ext cx="8229600" cy="405683"/>
          </a:xfrm>
        </p:spPr>
        <p:txBody>
          <a:bodyPr wrap="square" lIns="0" tIns="18000" rIns="0" bIns="18000">
            <a:spAutoFit/>
          </a:bodyPr>
          <a:lstStyle/>
          <a:p>
            <a:pPr marL="457632" indent="-457200">
              <a:buFont typeface="+mj-lt"/>
              <a:buAutoNum type="arabicPeriod" startAt="4"/>
            </a:pPr>
            <a:r>
              <a:rPr lang="en-US" sz="2400" dirty="0">
                <a:latin typeface="Arial" panose="020B0604020202020204" pitchFamily="34" charset="0"/>
                <a:cs typeface="Arial" panose="020B0604020202020204" pitchFamily="34" charset="0"/>
              </a:rPr>
              <a:t>Open-mindedness</a:t>
            </a:r>
          </a:p>
        </p:txBody>
      </p:sp>
      <p:sp>
        <p:nvSpPr>
          <p:cNvPr id="8" name="Content Placeholder 7">
            <a:extLst>
              <a:ext uri="{FF2B5EF4-FFF2-40B4-BE49-F238E27FC236}">
                <a16:creationId xmlns:a16="http://schemas.microsoft.com/office/drawing/2014/main" id="{518F4C5E-5874-4F05-A116-24964906AF87}"/>
              </a:ext>
            </a:extLst>
          </p:cNvPr>
          <p:cNvSpPr>
            <a:spLocks noGrp="1"/>
          </p:cNvSpPr>
          <p:nvPr>
            <p:ph sz="quarter" idx="14"/>
          </p:nvPr>
        </p:nvSpPr>
        <p:spPr>
          <a:xfrm>
            <a:off x="457200" y="2454601"/>
            <a:ext cx="8232775" cy="775015"/>
          </a:xfrm>
        </p:spPr>
        <p:txBody>
          <a:bodyPr lIns="0" tIns="18000" rIns="0" bIns="18000">
            <a:spAutoFit/>
          </a:bodyPr>
          <a:lstStyle/>
          <a:p>
            <a:pPr marL="845693" lvl="1" indent="-358775"/>
            <a:r>
              <a:rPr lang="en-US" sz="2400" dirty="0">
                <a:latin typeface="Arial" panose="020B0604020202020204" pitchFamily="34" charset="0"/>
                <a:cs typeface="Arial" panose="020B0604020202020204" pitchFamily="34" charset="0"/>
              </a:rPr>
              <a:t>The researcher shows a willingness to modify hypotheses and interpretations when necessary.</a:t>
            </a:r>
          </a:p>
        </p:txBody>
      </p:sp>
      <p:sp>
        <p:nvSpPr>
          <p:cNvPr id="9" name="Content Placeholder 8">
            <a:extLst>
              <a:ext uri="{FF2B5EF4-FFF2-40B4-BE49-F238E27FC236}">
                <a16:creationId xmlns:a16="http://schemas.microsoft.com/office/drawing/2014/main" id="{4C1A4481-2949-4C0D-874C-EB4CAF40C248}"/>
              </a:ext>
            </a:extLst>
          </p:cNvPr>
          <p:cNvSpPr>
            <a:spLocks noGrp="1"/>
          </p:cNvSpPr>
          <p:nvPr>
            <p:ph sz="quarter" idx="15"/>
          </p:nvPr>
        </p:nvSpPr>
        <p:spPr>
          <a:xfrm>
            <a:off x="457200" y="3372293"/>
            <a:ext cx="8229600" cy="405683"/>
          </a:xfrm>
        </p:spPr>
        <p:txBody>
          <a:bodyPr lIns="0" tIns="18000" rIns="0" bIns="18000">
            <a:spAutoFit/>
          </a:bodyPr>
          <a:lstStyle/>
          <a:p>
            <a:pPr marL="457200" indent="-457200">
              <a:buFont typeface="+mj-lt"/>
              <a:buAutoNum type="arabicPeriod" startAt="5"/>
            </a:pPr>
            <a:r>
              <a:rPr lang="en-US" sz="2400" dirty="0">
                <a:latin typeface="Arial" panose="020B0604020202020204" pitchFamily="34" charset="0"/>
                <a:cs typeface="Arial" panose="020B0604020202020204" pitchFamily="34" charset="0"/>
              </a:rPr>
              <a:t>Completeness</a:t>
            </a:r>
          </a:p>
        </p:txBody>
      </p:sp>
      <p:sp>
        <p:nvSpPr>
          <p:cNvPr id="10" name="Content Placeholder 9">
            <a:extLst>
              <a:ext uri="{FF2B5EF4-FFF2-40B4-BE49-F238E27FC236}">
                <a16:creationId xmlns:a16="http://schemas.microsoft.com/office/drawing/2014/main" id="{5D977F97-68AD-4650-962A-39B4A86EA3E8}"/>
              </a:ext>
            </a:extLst>
          </p:cNvPr>
          <p:cNvSpPr>
            <a:spLocks noGrp="1"/>
          </p:cNvSpPr>
          <p:nvPr>
            <p:ph sz="quarter" idx="16"/>
          </p:nvPr>
        </p:nvSpPr>
        <p:spPr>
          <a:xfrm>
            <a:off x="457200" y="3885283"/>
            <a:ext cx="8229600" cy="775015"/>
          </a:xfrm>
        </p:spPr>
        <p:txBody>
          <a:bodyPr lIns="0" tIns="18000" rIns="0" bIns="18000">
            <a:spAutoFit/>
          </a:bodyPr>
          <a:lstStyle/>
          <a:p>
            <a:pPr marL="846137" lvl="1" indent="-358775"/>
            <a:r>
              <a:rPr lang="en-US" sz="2400" dirty="0">
                <a:latin typeface="Arial" panose="020B0604020202020204" pitchFamily="34" charset="0"/>
                <a:cs typeface="Arial" panose="020B0604020202020204" pitchFamily="34" charset="0"/>
              </a:rPr>
              <a:t>The researcher develops an in-depth, multifaceted picture of the phenomenon (i.e., thick description).</a:t>
            </a:r>
          </a:p>
        </p:txBody>
      </p:sp>
      <p:sp>
        <p:nvSpPr>
          <p:cNvPr id="11" name="Content Placeholder 10">
            <a:extLst>
              <a:ext uri="{FF2B5EF4-FFF2-40B4-BE49-F238E27FC236}">
                <a16:creationId xmlns:a16="http://schemas.microsoft.com/office/drawing/2014/main" id="{A32A70F1-C046-4615-8444-DC69E2B05DEA}"/>
              </a:ext>
            </a:extLst>
          </p:cNvPr>
          <p:cNvSpPr>
            <a:spLocks noGrp="1"/>
          </p:cNvSpPr>
          <p:nvPr>
            <p:ph sz="quarter" idx="17"/>
          </p:nvPr>
        </p:nvSpPr>
        <p:spPr>
          <a:xfrm>
            <a:off x="457200" y="4724389"/>
            <a:ext cx="8229600" cy="405683"/>
          </a:xfrm>
        </p:spPr>
        <p:txBody>
          <a:bodyPr lIns="0" tIns="18000" rIns="0" bIns="18000">
            <a:spAutoFit/>
          </a:bodyPr>
          <a:lstStyle/>
          <a:p>
            <a:pPr marL="457200" indent="-457200">
              <a:buFont typeface="+mj-lt"/>
              <a:buAutoNum type="arabicPeriod" startAt="6"/>
            </a:pPr>
            <a:r>
              <a:rPr lang="en-US" sz="2400" dirty="0">
                <a:latin typeface="Arial" panose="020B0604020202020204" pitchFamily="34" charset="0"/>
                <a:cs typeface="Arial" panose="020B0604020202020204" pitchFamily="34" charset="0"/>
              </a:rPr>
              <a:t>Coherence</a:t>
            </a:r>
          </a:p>
        </p:txBody>
      </p:sp>
      <p:sp>
        <p:nvSpPr>
          <p:cNvPr id="12" name="Content Placeholder 11">
            <a:extLst>
              <a:ext uri="{FF2B5EF4-FFF2-40B4-BE49-F238E27FC236}">
                <a16:creationId xmlns:a16="http://schemas.microsoft.com/office/drawing/2014/main" id="{D54CE0D5-1A2E-4EB8-957B-C090A74E9F6F}"/>
              </a:ext>
            </a:extLst>
          </p:cNvPr>
          <p:cNvSpPr>
            <a:spLocks noGrp="1"/>
          </p:cNvSpPr>
          <p:nvPr>
            <p:ph sz="quarter" idx="18"/>
          </p:nvPr>
        </p:nvSpPr>
        <p:spPr>
          <a:xfrm>
            <a:off x="457200" y="5237671"/>
            <a:ext cx="8229600" cy="775015"/>
          </a:xfrm>
        </p:spPr>
        <p:txBody>
          <a:bodyPr lIns="0" tIns="18000" rIns="0" bIns="18000">
            <a:spAutoFit/>
          </a:bodyPr>
          <a:lstStyle/>
          <a:p>
            <a:pPr marL="829818" lvl="1" indent="-342900"/>
            <a:r>
              <a:rPr lang="en-US" sz="2400" dirty="0">
                <a:latin typeface="Arial" panose="020B0604020202020204" pitchFamily="34" charset="0"/>
                <a:cs typeface="Arial" panose="020B0604020202020204" pitchFamily="34" charset="0"/>
              </a:rPr>
              <a:t>The researcher uses converging data to develop a portrait that “hangs together”.</a:t>
            </a:r>
          </a:p>
        </p:txBody>
      </p:sp>
    </p:spTree>
    <p:extLst>
      <p:ext uri="{BB962C8B-B14F-4D97-AF65-F5344CB8AC3E}">
        <p14:creationId xmlns:p14="http://schemas.microsoft.com/office/powerpoint/2010/main" val="4086991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266"/>
            <a:ext cx="8229600" cy="1144347"/>
          </a:xfrm>
        </p:spPr>
        <p:txBody>
          <a:bodyPr lIns="0" tIns="18000" rIns="0" bIns="18000">
            <a:spAutoFit/>
          </a:bodyPr>
          <a:lstStyle/>
          <a:p>
            <a:pPr lvl="0">
              <a:spcBef>
                <a:spcPct val="0"/>
              </a:spcBef>
              <a:buClrTx/>
            </a:pPr>
            <a:r>
              <a:rPr lang="en-US" sz="3600" kern="1200">
                <a:latin typeface="+mj-lt"/>
                <a:cs typeface="Times New Roman" panose="02020603050405020304" pitchFamily="18" charset="0"/>
              </a:rPr>
              <a:t>Criteria for Evaluating Qualitative Research</a:t>
            </a:r>
            <a:r>
              <a:rPr lang="en-US" sz="2800" kern="1200">
                <a:latin typeface="+mj-lt"/>
                <a:cs typeface="Times New Roman" panose="02020603050405020304" pitchFamily="18" charset="0"/>
              </a:rPr>
              <a:t> (3 of 4)</a:t>
            </a:r>
            <a:endParaRPr lang="en-US" altLang="en-US" sz="2800" kern="1200">
              <a:latin typeface="+mj-lt"/>
              <a:ea typeface="+mj-ea"/>
              <a:cs typeface="Times New Roman" panose="02020603050405020304" pitchFamily="18" charset="0"/>
            </a:endParaRPr>
          </a:p>
        </p:txBody>
      </p:sp>
      <p:sp>
        <p:nvSpPr>
          <p:cNvPr id="7" name="Content Placeholder 6">
            <a:extLst>
              <a:ext uri="{FF2B5EF4-FFF2-40B4-BE49-F238E27FC236}">
                <a16:creationId xmlns:a16="http://schemas.microsoft.com/office/drawing/2014/main" id="{7138F229-BE90-4F41-BCE3-CBF96628B85B}"/>
              </a:ext>
            </a:extLst>
          </p:cNvPr>
          <p:cNvSpPr>
            <a:spLocks noGrp="1"/>
          </p:cNvSpPr>
          <p:nvPr>
            <p:ph sz="quarter" idx="13"/>
          </p:nvPr>
        </p:nvSpPr>
        <p:spPr>
          <a:xfrm>
            <a:off x="457200" y="1927180"/>
            <a:ext cx="8229600" cy="405683"/>
          </a:xfrm>
        </p:spPr>
        <p:txBody>
          <a:bodyPr wrap="square" lIns="0" tIns="18000" rIns="0" bIns="18000">
            <a:spAutoFit/>
          </a:bodyPr>
          <a:lstStyle/>
          <a:p>
            <a:pPr marL="457632" indent="-457200">
              <a:buFont typeface="+mj-lt"/>
              <a:buAutoNum type="arabicPeriod" startAt="7"/>
            </a:pPr>
            <a:r>
              <a:rPr lang="en-US" sz="2400" dirty="0">
                <a:latin typeface="Arial" panose="020B0604020202020204" pitchFamily="34" charset="0"/>
                <a:cs typeface="Arial" panose="020B0604020202020204" pitchFamily="34" charset="0"/>
              </a:rPr>
              <a:t>Persuasiveness</a:t>
            </a:r>
          </a:p>
        </p:txBody>
      </p:sp>
      <p:sp>
        <p:nvSpPr>
          <p:cNvPr id="8" name="Content Placeholder 7">
            <a:extLst>
              <a:ext uri="{FF2B5EF4-FFF2-40B4-BE49-F238E27FC236}">
                <a16:creationId xmlns:a16="http://schemas.microsoft.com/office/drawing/2014/main" id="{518F4C5E-5874-4F05-A116-24964906AF87}"/>
              </a:ext>
            </a:extLst>
          </p:cNvPr>
          <p:cNvSpPr>
            <a:spLocks noGrp="1"/>
          </p:cNvSpPr>
          <p:nvPr>
            <p:ph sz="quarter" idx="14"/>
          </p:nvPr>
        </p:nvSpPr>
        <p:spPr>
          <a:xfrm>
            <a:off x="457200" y="2454601"/>
            <a:ext cx="8232775" cy="775015"/>
          </a:xfrm>
        </p:spPr>
        <p:txBody>
          <a:bodyPr lIns="0" tIns="18000" rIns="0" bIns="18000">
            <a:spAutoFit/>
          </a:bodyPr>
          <a:lstStyle/>
          <a:p>
            <a:pPr marL="845693" lvl="1" indent="-358775"/>
            <a:r>
              <a:rPr lang="en-US" sz="2400" dirty="0">
                <a:latin typeface="Arial" panose="020B0604020202020204" pitchFamily="34" charset="0"/>
                <a:cs typeface="Arial" panose="020B0604020202020204" pitchFamily="34" charset="0"/>
              </a:rPr>
              <a:t>The researcher presents logical arguments, and the weight of the evidence supports them.</a:t>
            </a:r>
          </a:p>
        </p:txBody>
      </p:sp>
      <p:sp>
        <p:nvSpPr>
          <p:cNvPr id="9" name="Content Placeholder 8">
            <a:extLst>
              <a:ext uri="{FF2B5EF4-FFF2-40B4-BE49-F238E27FC236}">
                <a16:creationId xmlns:a16="http://schemas.microsoft.com/office/drawing/2014/main" id="{4C1A4481-2949-4C0D-874C-EB4CAF40C248}"/>
              </a:ext>
            </a:extLst>
          </p:cNvPr>
          <p:cNvSpPr>
            <a:spLocks noGrp="1"/>
          </p:cNvSpPr>
          <p:nvPr>
            <p:ph sz="quarter" idx="15"/>
          </p:nvPr>
        </p:nvSpPr>
        <p:spPr>
          <a:xfrm>
            <a:off x="457200" y="3372293"/>
            <a:ext cx="8229600" cy="405683"/>
          </a:xfrm>
        </p:spPr>
        <p:txBody>
          <a:bodyPr lIns="0" tIns="18000" rIns="0" bIns="18000">
            <a:spAutoFit/>
          </a:bodyPr>
          <a:lstStyle/>
          <a:p>
            <a:pPr marL="457200" indent="-457200">
              <a:buFont typeface="+mj-lt"/>
              <a:buAutoNum type="arabicPeriod" startAt="8"/>
            </a:pPr>
            <a:r>
              <a:rPr lang="en-US" sz="2400" dirty="0">
                <a:latin typeface="Arial" panose="020B0604020202020204" pitchFamily="34" charset="0"/>
                <a:cs typeface="Arial" panose="020B0604020202020204" pitchFamily="34" charset="0"/>
              </a:rPr>
              <a:t>Consensus</a:t>
            </a:r>
          </a:p>
        </p:txBody>
      </p:sp>
      <p:sp>
        <p:nvSpPr>
          <p:cNvPr id="10" name="Content Placeholder 9">
            <a:extLst>
              <a:ext uri="{FF2B5EF4-FFF2-40B4-BE49-F238E27FC236}">
                <a16:creationId xmlns:a16="http://schemas.microsoft.com/office/drawing/2014/main" id="{5D977F97-68AD-4650-962A-39B4A86EA3E8}"/>
              </a:ext>
            </a:extLst>
          </p:cNvPr>
          <p:cNvSpPr>
            <a:spLocks noGrp="1"/>
          </p:cNvSpPr>
          <p:nvPr>
            <p:ph sz="quarter" idx="16"/>
          </p:nvPr>
        </p:nvSpPr>
        <p:spPr>
          <a:xfrm>
            <a:off x="457200" y="3885283"/>
            <a:ext cx="8229600" cy="775015"/>
          </a:xfrm>
        </p:spPr>
        <p:txBody>
          <a:bodyPr lIns="0" tIns="18000" rIns="0" bIns="18000">
            <a:spAutoFit/>
          </a:bodyPr>
          <a:lstStyle/>
          <a:p>
            <a:pPr marL="846137" lvl="1" indent="-358775"/>
            <a:r>
              <a:rPr lang="en-US" sz="2400" dirty="0">
                <a:latin typeface="Arial" panose="020B0604020202020204" pitchFamily="34" charset="0"/>
                <a:cs typeface="Arial" panose="020B0604020202020204" pitchFamily="34" charset="0"/>
              </a:rPr>
              <a:t>Other individuals agree with the researcher’s interpretations and explanations.</a:t>
            </a:r>
          </a:p>
        </p:txBody>
      </p:sp>
    </p:spTree>
    <p:extLst>
      <p:ext uri="{BB962C8B-B14F-4D97-AF65-F5344CB8AC3E}">
        <p14:creationId xmlns:p14="http://schemas.microsoft.com/office/powerpoint/2010/main" val="2442647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266"/>
            <a:ext cx="8229600" cy="1144347"/>
          </a:xfrm>
        </p:spPr>
        <p:txBody>
          <a:bodyPr lIns="0" tIns="18000" rIns="0" bIns="18000">
            <a:spAutoFit/>
          </a:bodyPr>
          <a:lstStyle/>
          <a:p>
            <a:pPr lvl="0">
              <a:spcBef>
                <a:spcPct val="0"/>
              </a:spcBef>
              <a:buClrTx/>
            </a:pPr>
            <a:r>
              <a:rPr lang="en-US" sz="3600" kern="1200">
                <a:latin typeface="+mj-lt"/>
                <a:cs typeface="Times New Roman" panose="02020603050405020304" pitchFamily="18" charset="0"/>
              </a:rPr>
              <a:t>Criteria for Evaluating Qualitative Research</a:t>
            </a:r>
            <a:r>
              <a:rPr lang="en-US" sz="2800" kern="1200">
                <a:latin typeface="+mj-lt"/>
                <a:cs typeface="Times New Roman" panose="02020603050405020304" pitchFamily="18" charset="0"/>
              </a:rPr>
              <a:t> (4 of 4)</a:t>
            </a:r>
            <a:endParaRPr lang="en-US" altLang="en-US" sz="2800" kern="1200">
              <a:latin typeface="+mj-lt"/>
              <a:ea typeface="+mj-ea"/>
              <a:cs typeface="Times New Roman" panose="02020603050405020304" pitchFamily="18" charset="0"/>
            </a:endParaRPr>
          </a:p>
        </p:txBody>
      </p:sp>
      <p:sp>
        <p:nvSpPr>
          <p:cNvPr id="7" name="Content Placeholder 6">
            <a:extLst>
              <a:ext uri="{FF2B5EF4-FFF2-40B4-BE49-F238E27FC236}">
                <a16:creationId xmlns:a16="http://schemas.microsoft.com/office/drawing/2014/main" id="{7138F229-BE90-4F41-BCE3-CBF96628B85B}"/>
              </a:ext>
            </a:extLst>
          </p:cNvPr>
          <p:cNvSpPr>
            <a:spLocks noGrp="1"/>
          </p:cNvSpPr>
          <p:nvPr>
            <p:ph sz="quarter" idx="13"/>
          </p:nvPr>
        </p:nvSpPr>
        <p:spPr>
          <a:xfrm>
            <a:off x="457200" y="1927180"/>
            <a:ext cx="8229600" cy="405683"/>
          </a:xfrm>
        </p:spPr>
        <p:txBody>
          <a:bodyPr wrap="square" lIns="0" tIns="18000" rIns="0" bIns="18000">
            <a:spAutoFit/>
          </a:bodyPr>
          <a:lstStyle/>
          <a:p>
            <a:pPr marL="457632" indent="-457200">
              <a:buFont typeface="+mj-lt"/>
              <a:buAutoNum type="arabicPeriod" startAt="9"/>
            </a:pPr>
            <a:r>
              <a:rPr lang="en-US" sz="2400" dirty="0">
                <a:latin typeface="Arial" panose="020B0604020202020204" pitchFamily="34" charset="0"/>
                <a:cs typeface="Arial" panose="020B0604020202020204" pitchFamily="34" charset="0"/>
              </a:rPr>
              <a:t>Usefulness</a:t>
            </a:r>
          </a:p>
        </p:txBody>
      </p:sp>
      <p:sp>
        <p:nvSpPr>
          <p:cNvPr id="8" name="Content Placeholder 7">
            <a:extLst>
              <a:ext uri="{FF2B5EF4-FFF2-40B4-BE49-F238E27FC236}">
                <a16:creationId xmlns:a16="http://schemas.microsoft.com/office/drawing/2014/main" id="{518F4C5E-5874-4F05-A116-24964906AF87}"/>
              </a:ext>
            </a:extLst>
          </p:cNvPr>
          <p:cNvSpPr>
            <a:spLocks noGrp="1"/>
          </p:cNvSpPr>
          <p:nvPr>
            <p:ph sz="quarter" idx="14"/>
          </p:nvPr>
        </p:nvSpPr>
        <p:spPr>
          <a:xfrm>
            <a:off x="457200" y="2454601"/>
            <a:ext cx="8232775" cy="1744511"/>
          </a:xfrm>
        </p:spPr>
        <p:txBody>
          <a:bodyPr lIns="0" tIns="18000" rIns="0" bIns="18000">
            <a:spAutoFit/>
          </a:bodyPr>
          <a:lstStyle/>
          <a:p>
            <a:pPr marL="829818" lvl="1" indent="-342900"/>
            <a:r>
              <a:rPr lang="en-US" sz="2400" dirty="0">
                <a:latin typeface="Arial" panose="020B0604020202020204" pitchFamily="34" charset="0"/>
                <a:cs typeface="Arial" panose="020B0604020202020204" pitchFamily="34" charset="0"/>
              </a:rPr>
              <a:t>The project leads to</a:t>
            </a:r>
          </a:p>
          <a:p>
            <a:pPr marL="1229868" lvl="2" indent="-342900">
              <a:spcAft>
                <a:spcPct val="0"/>
              </a:spcAft>
              <a:buSzPts val="2400"/>
            </a:pPr>
            <a:r>
              <a:rPr lang="en-US" sz="2400" kern="1200" dirty="0">
                <a:solidFill>
                  <a:srgbClr val="000000"/>
                </a:solidFill>
                <a:latin typeface="Arial" panose="020B0604020202020204" pitchFamily="34" charset="0"/>
                <a:cs typeface="Arial" panose="020B0604020202020204" pitchFamily="34" charset="0"/>
              </a:rPr>
              <a:t>A better understanding of the phenomenon</a:t>
            </a:r>
          </a:p>
          <a:p>
            <a:pPr marL="1229868" lvl="2" indent="-342900">
              <a:spcAft>
                <a:spcPct val="0"/>
              </a:spcAft>
              <a:buSzPts val="2400"/>
            </a:pPr>
            <a:r>
              <a:rPr lang="en-US" sz="2400" kern="1200" dirty="0">
                <a:solidFill>
                  <a:srgbClr val="000000"/>
                </a:solidFill>
                <a:latin typeface="Arial" panose="020B0604020202020204" pitchFamily="34" charset="0"/>
                <a:cs typeface="Arial" panose="020B0604020202020204" pitchFamily="34" charset="0"/>
              </a:rPr>
              <a:t>More accurate predictions about future events</a:t>
            </a:r>
          </a:p>
          <a:p>
            <a:pPr marL="1229868" lvl="2" indent="-342900">
              <a:spcAft>
                <a:spcPct val="0"/>
              </a:spcAft>
              <a:buSzPts val="2400"/>
            </a:pPr>
            <a:r>
              <a:rPr lang="en-US" sz="2400" dirty="0">
                <a:latin typeface="Arial" panose="020B0604020202020204" pitchFamily="34" charset="0"/>
                <a:cs typeface="Arial" panose="020B0604020202020204" pitchFamily="34" charset="0"/>
              </a:rPr>
              <a:t>Interventions that enhance the quality of life</a:t>
            </a:r>
          </a:p>
        </p:txBody>
      </p:sp>
    </p:spTree>
    <p:extLst>
      <p:ext uri="{BB962C8B-B14F-4D97-AF65-F5344CB8AC3E}">
        <p14:creationId xmlns:p14="http://schemas.microsoft.com/office/powerpoint/2010/main" val="28455193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8" y="310259"/>
            <a:ext cx="8272252" cy="590349"/>
          </a:xfrm>
        </p:spPr>
        <p:txBody>
          <a:bodyPr wrap="square" lIns="0" tIns="18000" rIns="0" bIns="18000" anchor="t" anchorCtr="0">
            <a:spAutoFit/>
          </a:bodyPr>
          <a:lstStyle/>
          <a:p>
            <a:pPr lvl="0">
              <a:spcBef>
                <a:spcPct val="0"/>
              </a:spcBef>
              <a:buClrTx/>
            </a:pPr>
            <a:r>
              <a:rPr lang="en-US" altLang="en-US" sz="3600" kern="1200" dirty="0">
                <a:ea typeface="+mj-ea"/>
                <a:cs typeface="Times New Roman" panose="02020603050405020304" pitchFamily="18" charset="0"/>
              </a:rPr>
              <a:t>Copyright</a:t>
            </a:r>
            <a:endParaRPr lang="en-US" altLang="en-US" sz="3600" b="0" kern="1200" dirty="0">
              <a:ea typeface="+mj-ea"/>
              <a:cs typeface="Times New Roman" panose="02020603050405020304" pitchFamily="18" charset="0"/>
            </a:endParaRPr>
          </a:p>
        </p:txBody>
      </p:sp>
      <p:pic>
        <p:nvPicPr>
          <p:cNvPr id="8" name="Picture Placeholder 7" descr="Warning">
            <a:extLst>
              <a:ext uri="{FF2B5EF4-FFF2-40B4-BE49-F238E27FC236}">
                <a16:creationId xmlns:a16="http://schemas.microsoft.com/office/drawing/2014/main" id="{C123DBB5-E2DD-466E-A3FB-A327E5D9CB4D}"/>
              </a:ext>
            </a:extLst>
          </p:cNvPr>
          <p:cNvPicPr>
            <a:picLocks noGrp="1" noChangeAspect="1"/>
          </p:cNvPicPr>
          <p:nvPr>
            <p:ph type="pic" sz="quarter" idx="11"/>
          </p:nvPr>
        </p:nvPicPr>
        <p:blipFill>
          <a:blip r:embed="rId2"/>
          <a:stretch>
            <a:fillRect/>
          </a:stretch>
        </p:blipFill>
        <p:spPr>
          <a:xfrm>
            <a:off x="565268" y="2718488"/>
            <a:ext cx="1276350" cy="1438275"/>
          </a:xfrm>
          <a:prstGeom prst="rect">
            <a:avLst/>
          </a:prstGeom>
        </p:spPr>
      </p:pic>
      <p:sp>
        <p:nvSpPr>
          <p:cNvPr id="6" name="Content Placeholder 2">
            <a:extLst>
              <a:ext uri="{FF2B5EF4-FFF2-40B4-BE49-F238E27FC236}">
                <a16:creationId xmlns:a16="http://schemas.microsoft.com/office/drawing/2014/main" id="{0DAE52C9-82A2-4E0A-BF89-DC1F4086C3EF}"/>
              </a:ext>
            </a:extLst>
          </p:cNvPr>
          <p:cNvSpPr>
            <a:spLocks noGrp="1"/>
          </p:cNvSpPr>
          <p:nvPr>
            <p:ph sz="quarter" idx="10"/>
          </p:nvPr>
        </p:nvSpPr>
        <p:spPr>
          <a:xfrm>
            <a:off x="2096216" y="1826558"/>
            <a:ext cx="6614274" cy="3260978"/>
          </a:xfrm>
        </p:spPr>
        <p:style>
          <a:lnRef idx="2">
            <a:schemeClr val="dk1"/>
          </a:lnRef>
          <a:fillRef idx="1">
            <a:schemeClr val="lt1"/>
          </a:fillRef>
          <a:effectRef idx="0">
            <a:schemeClr val="dk1"/>
          </a:effectRef>
          <a:fontRef idx="minor">
            <a:schemeClr val="dk1"/>
          </a:fontRef>
        </p:style>
        <p:txBody>
          <a:bodyPr wrap="square" lIns="273600" tIns="273600" rIns="273600" bIns="273600">
            <a:spAutoFit/>
          </a:bodyPr>
          <a:lstStyle/>
          <a:p>
            <a:pPr marL="432" indent="0">
              <a:buNone/>
            </a:pPr>
            <a:r>
              <a:rPr lang="en-US" b="1" dirty="0">
                <a:latin typeface="Arial" panose="020B0604020202020204" pitchFamily="34" charset="0"/>
                <a:cs typeface="Arial" panose="020B0604020202020204" pitchFamily="34" charset="0"/>
              </a:rPr>
              <a:t>This work is protected by United States copyright laws and is</a:t>
            </a:r>
            <a:r>
              <a:rPr lang="en-US" b="1" baseline="0"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4756594"/>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2" ma:contentTypeDescription="Create a new document." ma:contentTypeScope="" ma:versionID="9ee3781bcb6633d132c89161492bb118">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3e430f46b92204fb5a3381a429c4dbe"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B7347B-018C-4023-8B09-98BAF0B1549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E75088A-D0AC-4BE4-81EA-89238BFA139C}">
  <ds:schemaRefs>
    <ds:schemaRef ds:uri="http://schemas.microsoft.com/sharepoint/v3/contenttype/forms"/>
  </ds:schemaRefs>
</ds:datastoreItem>
</file>

<file path=customXml/itemProps3.xml><?xml version="1.0" encoding="utf-8"?>
<ds:datastoreItem xmlns:ds="http://schemas.openxmlformats.org/officeDocument/2006/customXml" ds:itemID="{9FAE25CD-5C17-4317-A187-ABC2D97383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1bd8dc-4e40-424f-a15f-9ffcd522197f"/>
    <ds:schemaRef ds:uri="6125ffc9-2c56-435e-8267-1393444907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9166</TotalTime>
  <Words>1151</Words>
  <Application>Microsoft Office PowerPoint</Application>
  <PresentationFormat>On-screen Show (4:3)</PresentationFormat>
  <Paragraphs>159</Paragraphs>
  <Slides>29</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Arial (Headings)</vt:lpstr>
      <vt:lpstr>Noto Sans Symbols</vt:lpstr>
      <vt:lpstr>Times New Roman</vt:lpstr>
      <vt:lpstr>Verdana</vt:lpstr>
      <vt:lpstr>508 Lecture</vt:lpstr>
      <vt:lpstr>1_508 Lecture</vt:lpstr>
      <vt:lpstr>Practical Research: Planning and Design</vt:lpstr>
      <vt:lpstr>Potential Advantages of Qualitative Research</vt:lpstr>
      <vt:lpstr>Research Problems</vt:lpstr>
      <vt:lpstr>Research Methodology</vt:lpstr>
      <vt:lpstr>Qualitative Research Designs</vt:lpstr>
      <vt:lpstr>Case Study (1 of 2)</vt:lpstr>
      <vt:lpstr>Case Study (2 of 2)</vt:lpstr>
      <vt:lpstr>Ethnography (1 of 2)</vt:lpstr>
      <vt:lpstr>Ethnography (2 of 2)</vt:lpstr>
      <vt:lpstr>Narrative Inquiry</vt:lpstr>
      <vt:lpstr>Phenomenological Study</vt:lpstr>
      <vt:lpstr>Grounded Theory Study</vt:lpstr>
      <vt:lpstr>Content Analysis</vt:lpstr>
      <vt:lpstr>Collecting Qualitative Data (1 of 2)</vt:lpstr>
      <vt:lpstr>Collecting Qualitative Data (2 of 2)</vt:lpstr>
      <vt:lpstr>Credibility and Transferability</vt:lpstr>
      <vt:lpstr>Strategies to Enhance Credibility and Reliability</vt:lpstr>
      <vt:lpstr>Selecting an Appropriate Sample (1 of 3)</vt:lpstr>
      <vt:lpstr>Selecting an Appropriate Sample (2 of 3)</vt:lpstr>
      <vt:lpstr>Selecting an Appropriate Sample (3 of 3)</vt:lpstr>
      <vt:lpstr>Observations</vt:lpstr>
      <vt:lpstr>Interviews (1 of 3)</vt:lpstr>
      <vt:lpstr>Interviews (2 of 3)</vt:lpstr>
      <vt:lpstr>Interviews (3 of 3)</vt:lpstr>
      <vt:lpstr>Criteria for Evaluating Qualitative Research (1 of 4)</vt:lpstr>
      <vt:lpstr>Criteria for Evaluating Qualitative Research (2 of 4)</vt:lpstr>
      <vt:lpstr>Criteria for Evaluating Qualitative Research (3 of 4)</vt:lpstr>
      <vt:lpstr>Criteria for Evaluating Qualitative Research (4 of 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Research: Planning and Design, Twelfth Edition, Chapter 8</dc:title>
  <dc:subject>TED/Careers</dc:subject>
  <dc:creator>Leedy and Ormrod</dc:creator>
  <cp:keywords>Practical Research</cp:keywords>
  <cp:lastModifiedBy>Md. Shakil Hossain</cp:lastModifiedBy>
  <cp:revision>996</cp:revision>
  <dcterms:modified xsi:type="dcterms:W3CDTF">2026-06-01T09:36:42Z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y fmtid="{D5CDD505-2E9C-101B-9397-08002B2CF9AE}" pid="8" name="ContentTypeId">
    <vt:lpwstr>0x01010086D90B95B22DD945BDFF45EB84A5E21C</vt:lpwstr>
  </property>
</Properties>
</file>