
<file path=[Content_Types].xml><?xml version="1.0" encoding="utf-8"?>
<Types xmlns="http://schemas.openxmlformats.org/package/2006/content-types">
  <Default Extension="bin" ContentType="application/vnd.openxmlformats-officedocument.oleObject"/>
  <Default Extension="rels" ContentType="application/vnd.openxmlformats-package.relationships+xml"/>
  <Default Extension="wmf" ContentType="image/x-wmf"/>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4"/>
  </p:notesMasterIdLst>
  <p:handoutMasterIdLst>
    <p:handoutMasterId r:id="rId35"/>
  </p:handoutMasterIdLst>
  <p:sldIdLst>
    <p:sldId id="301"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38" r:id="rId23"/>
    <p:sldId id="327" r:id="rId24"/>
    <p:sldId id="339" r:id="rId25"/>
    <p:sldId id="329" r:id="rId26"/>
    <p:sldId id="330" r:id="rId27"/>
    <p:sldId id="331" r:id="rId28"/>
    <p:sldId id="332" r:id="rId29"/>
    <p:sldId id="333" r:id="rId30"/>
    <p:sldId id="334" r:id="rId31"/>
    <p:sldId id="335" r:id="rId32"/>
    <p:sldId id="336" r:id="rId3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880">
          <p15:clr>
            <a:srgbClr val="A4A3A4"/>
          </p15:clr>
        </p15:guide>
        <p15:guide id="3" pos="272" userDrawn="1">
          <p15:clr>
            <a:srgbClr val="A4A3A4"/>
          </p15:clr>
        </p15:guide>
        <p15:guide id="4" pos="5488" userDrawn="1">
          <p15:clr>
            <a:srgbClr val="A4A3A4"/>
          </p15:clr>
        </p15:guide>
        <p15:guide id="5" orient="horz" pos="482" userDrawn="1">
          <p15:clr>
            <a:srgbClr val="A4A3A4"/>
          </p15:clr>
        </p15:guide>
        <p15:guide id="6" orient="horz" pos="913" userDrawn="1">
          <p15:clr>
            <a:srgbClr val="A4A3A4"/>
          </p15:clr>
        </p15:guide>
        <p15:guide id="7" orient="horz" pos="1185" userDrawn="1">
          <p15:clr>
            <a:srgbClr val="A4A3A4"/>
          </p15:clr>
        </p15:guide>
        <p15:guide id="8" orient="horz" pos="4088" userDrawn="1">
          <p15:clr>
            <a:srgbClr val="A4A3A4"/>
          </p15:clr>
        </p15:guide>
        <p15:guide id="9" orient="horz"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6" autoAdjust="0"/>
    <p:restoredTop sz="88741" autoAdjust="0"/>
  </p:normalViewPr>
  <p:slideViewPr>
    <p:cSldViewPr snapToGrid="0" snapToObjects="1">
      <p:cViewPr varScale="1">
        <p:scale>
          <a:sx n="76" d="100"/>
          <a:sy n="76" d="100"/>
        </p:scale>
        <p:origin x="336" y="96"/>
      </p:cViewPr>
      <p:guideLst>
        <p:guide pos="2880"/>
        <p:guide pos="272"/>
        <p:guide pos="5488"/>
        <p:guide orient="horz" pos="482"/>
        <p:guide orient="horz" pos="913"/>
        <p:guide orient="horz" pos="1185"/>
        <p:guide orient="horz" pos="4088"/>
        <p:guide orient="horz" pos="2160"/>
      </p:guideLst>
    </p:cSldViewPr>
  </p:slideViewPr>
  <p:outlineViewPr>
    <p:cViewPr>
      <p:scale>
        <a:sx n="33" d="100"/>
        <a:sy n="33" d="100"/>
      </p:scale>
      <p:origin x="0" y="-5244"/>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43" Type="http://schemas.openxmlformats.org/officeDocument/2006/relationships/customXml" Target="../customXml/item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331CB7C-510D-4CFC-901E-E863A0A29757}"/>
              </a:ext>
            </a:extLst>
          </p:cNvPr>
          <p:cNvSpPr>
            <a:spLocks noGrp="1"/>
          </p:cNvSpPr>
          <p:nvPr>
            <p:ph sz="quarter" idx="10"/>
          </p:nvPr>
        </p:nvSpPr>
        <p:spPr>
          <a:xfrm>
            <a:off x="1990725" y="2324100"/>
            <a:ext cx="5033963" cy="1436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A09347AE-7B18-44B9-A7A2-E00052F4811C}"/>
              </a:ext>
            </a:extLst>
          </p:cNvPr>
          <p:cNvSpPr>
            <a:spLocks noGrp="1"/>
          </p:cNvSpPr>
          <p:nvPr>
            <p:ph type="pic" sz="quarter" idx="11"/>
          </p:nvPr>
        </p:nvSpPr>
        <p:spPr>
          <a:xfrm>
            <a:off x="1905000" y="4425950"/>
            <a:ext cx="5273675" cy="1231900"/>
          </a:xfrm>
        </p:spPr>
        <p:txBody>
          <a:bodyPr/>
          <a:lstStyle/>
          <a:p>
            <a:endParaRPr lang="en-US"/>
          </a:p>
        </p:txBody>
      </p:sp>
    </p:spTree>
    <p:extLst>
      <p:ext uri="{BB962C8B-B14F-4D97-AF65-F5344CB8AC3E}">
        <p14:creationId xmlns:p14="http://schemas.microsoft.com/office/powerpoint/2010/main" val="2096596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03028F0-6417-4966-994E-84C5CC64DC1A}"/>
              </a:ext>
            </a:extLst>
          </p:cNvPr>
          <p:cNvSpPr>
            <a:spLocks noGrp="1"/>
          </p:cNvSpPr>
          <p:nvPr>
            <p:ph sz="quarter" idx="23"/>
          </p:nvPr>
        </p:nvSpPr>
        <p:spPr>
          <a:xfrm>
            <a:off x="6345238" y="5811838"/>
            <a:ext cx="1630362"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0" name="Content Placeholder 39">
            <a:extLst>
              <a:ext uri="{FF2B5EF4-FFF2-40B4-BE49-F238E27FC236}">
                <a16:creationId xmlns:a16="http://schemas.microsoft.com/office/drawing/2014/main" id="{2263E7BC-5F39-4484-A72C-9D5329A2F90A}"/>
              </a:ext>
            </a:extLst>
          </p:cNvPr>
          <p:cNvSpPr>
            <a:spLocks noGrp="1"/>
          </p:cNvSpPr>
          <p:nvPr>
            <p:ph sz="quarter" idx="10"/>
          </p:nvPr>
        </p:nvSpPr>
        <p:spPr>
          <a:xfrm>
            <a:off x="457200" y="1443037"/>
            <a:ext cx="8496300" cy="371475"/>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Content Placeholder 41">
            <a:extLst>
              <a:ext uri="{FF2B5EF4-FFF2-40B4-BE49-F238E27FC236}">
                <a16:creationId xmlns:a16="http://schemas.microsoft.com/office/drawing/2014/main" id="{77FD7B00-9AA5-4016-B7AF-F95B99FFD727}"/>
              </a:ext>
            </a:extLst>
          </p:cNvPr>
          <p:cNvSpPr>
            <a:spLocks noGrp="1"/>
          </p:cNvSpPr>
          <p:nvPr>
            <p:ph sz="quarter" idx="11"/>
          </p:nvPr>
        </p:nvSpPr>
        <p:spPr>
          <a:xfrm>
            <a:off x="266700" y="1944899"/>
            <a:ext cx="8686800" cy="371476"/>
          </a:xfrm>
        </p:spPr>
        <p:txBody>
          <a:bodyPr/>
          <a:lstStyle>
            <a:lvl1pPr marL="360000" marR="0" indent="-360000" algn="l" rtl="0">
              <a:lnSpc>
                <a:spcPct val="100000"/>
              </a:lnSpc>
              <a:spcAft>
                <a:spcPts val="0"/>
              </a:spcAft>
              <a:buClr>
                <a:srgbClr val="007FA3"/>
              </a:buClr>
              <a:buSzPct val="100000"/>
              <a:defRPr lang="en-US" sz="1600" b="0" i="0" u="none" strike="noStrike" cap="none" dirty="0" smtClean="0">
                <a:solidFill>
                  <a:schemeClr val="dk1"/>
                </a:solidFill>
                <a:latin typeface="Arial"/>
                <a:ea typeface="Arial"/>
                <a:cs typeface="Arial"/>
                <a:sym typeface="Arial"/>
              </a:defRPr>
            </a:lvl1pPr>
            <a:lvl2pPr marL="720000" marR="0" indent="-360000" algn="l" rtl="0">
              <a:lnSpc>
                <a:spcPct val="100000"/>
              </a:lnSpc>
              <a:spcAft>
                <a:spcPts val="0"/>
              </a:spcAft>
              <a:buClr>
                <a:srgbClr val="007FA3"/>
              </a:buClr>
              <a:buSzPct val="100000"/>
              <a:defRPr lang="en-US" sz="1600" b="0" i="0" u="none" strike="noStrike" cap="none" dirty="0" smtClean="0">
                <a:solidFill>
                  <a:schemeClr val="dk1"/>
                </a:solidFill>
                <a:latin typeface="Arial"/>
                <a:ea typeface="Arial"/>
                <a:cs typeface="Arial"/>
                <a:sym typeface="Arial"/>
              </a:defRPr>
            </a:lvl2pPr>
            <a:lvl3pPr marL="1080000" marR="0" indent="-360000" algn="l" rtl="0">
              <a:lnSpc>
                <a:spcPct val="100000"/>
              </a:lnSpc>
              <a:spcAft>
                <a:spcPts val="0"/>
              </a:spcAft>
              <a:buClr>
                <a:srgbClr val="007FA3"/>
              </a:buClr>
              <a:buSzPct val="100000"/>
              <a:defRPr lang="en-US" sz="1600" b="0" i="0" u="none" strike="noStrike" cap="none" dirty="0" smtClean="0">
                <a:solidFill>
                  <a:schemeClr val="dk1"/>
                </a:solidFill>
                <a:latin typeface="Arial"/>
                <a:ea typeface="Arial"/>
                <a:cs typeface="Arial"/>
                <a:sym typeface="Arial"/>
              </a:defRPr>
            </a:lvl3pPr>
            <a:lvl4pPr marL="1440000" marR="0" indent="-360000" algn="l" rtl="0">
              <a:lnSpc>
                <a:spcPct val="100000"/>
              </a:lnSpc>
              <a:spcAft>
                <a:spcPts val="0"/>
              </a:spcAft>
              <a:buClr>
                <a:srgbClr val="007FA3"/>
              </a:buClr>
              <a:buSzPct val="100000"/>
              <a:defRPr lang="en-US" sz="1600" b="0" i="0" u="none" strike="noStrike" cap="none" dirty="0" smtClean="0">
                <a:solidFill>
                  <a:schemeClr val="dk1"/>
                </a:solidFill>
                <a:latin typeface="Arial"/>
                <a:ea typeface="Arial"/>
                <a:cs typeface="Arial"/>
                <a:sym typeface="Arial"/>
              </a:defRPr>
            </a:lvl4pPr>
            <a:lvl5pPr marL="1800000" marR="0" indent="-360000" algn="l" rtl="0">
              <a:lnSpc>
                <a:spcPct val="100000"/>
              </a:lnSpc>
              <a:spcAft>
                <a:spcPts val="0"/>
              </a:spcAft>
              <a:buClr>
                <a:srgbClr val="007FA3"/>
              </a:buClr>
              <a:buSzPct val="100000"/>
              <a:defRPr lang="en-US" sz="1600" b="0" i="0" u="none" strike="noStrike" cap="none" dirty="0">
                <a:solidFill>
                  <a:schemeClr val="dk1"/>
                </a:solidFill>
                <a:latin typeface="Arial"/>
                <a:ea typeface="Arial"/>
                <a:cs typeface="Arial"/>
                <a:sym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4" name="Content Placeholder 43">
            <a:extLst>
              <a:ext uri="{FF2B5EF4-FFF2-40B4-BE49-F238E27FC236}">
                <a16:creationId xmlns:a16="http://schemas.microsoft.com/office/drawing/2014/main" id="{5DC0381A-0F35-401C-8549-DABD2CCF70CB}"/>
              </a:ext>
            </a:extLst>
          </p:cNvPr>
          <p:cNvSpPr>
            <a:spLocks noGrp="1"/>
          </p:cNvSpPr>
          <p:nvPr>
            <p:ph sz="quarter" idx="12"/>
          </p:nvPr>
        </p:nvSpPr>
        <p:spPr>
          <a:xfrm>
            <a:off x="276225" y="2354475"/>
            <a:ext cx="841057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6" name="Content Placeholder 45">
            <a:extLst>
              <a:ext uri="{FF2B5EF4-FFF2-40B4-BE49-F238E27FC236}">
                <a16:creationId xmlns:a16="http://schemas.microsoft.com/office/drawing/2014/main" id="{62AFE2BD-0B61-4CB8-91A4-596514A5260F}"/>
              </a:ext>
            </a:extLst>
          </p:cNvPr>
          <p:cNvSpPr>
            <a:spLocks noGrp="1"/>
          </p:cNvSpPr>
          <p:nvPr>
            <p:ph sz="quarter" idx="13"/>
          </p:nvPr>
        </p:nvSpPr>
        <p:spPr>
          <a:xfrm>
            <a:off x="276225" y="2714839"/>
            <a:ext cx="799147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Content Placeholder 47">
            <a:extLst>
              <a:ext uri="{FF2B5EF4-FFF2-40B4-BE49-F238E27FC236}">
                <a16:creationId xmlns:a16="http://schemas.microsoft.com/office/drawing/2014/main" id="{E0F0D475-EB1B-49D4-91D7-96E112C3E87D}"/>
              </a:ext>
            </a:extLst>
          </p:cNvPr>
          <p:cNvSpPr>
            <a:spLocks noGrp="1"/>
          </p:cNvSpPr>
          <p:nvPr>
            <p:ph sz="quarter" idx="14"/>
          </p:nvPr>
        </p:nvSpPr>
        <p:spPr>
          <a:xfrm>
            <a:off x="561975" y="3260941"/>
            <a:ext cx="8191500"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0" name="Content Placeholder 49">
            <a:extLst>
              <a:ext uri="{FF2B5EF4-FFF2-40B4-BE49-F238E27FC236}">
                <a16:creationId xmlns:a16="http://schemas.microsoft.com/office/drawing/2014/main" id="{B3919037-E6B9-4029-9463-F82A381D425E}"/>
              </a:ext>
            </a:extLst>
          </p:cNvPr>
          <p:cNvSpPr>
            <a:spLocks noGrp="1"/>
          </p:cNvSpPr>
          <p:nvPr>
            <p:ph sz="quarter" idx="15"/>
          </p:nvPr>
        </p:nvSpPr>
        <p:spPr>
          <a:xfrm>
            <a:off x="457200" y="3791169"/>
            <a:ext cx="768667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2" name="Content Placeholder 51">
            <a:extLst>
              <a:ext uri="{FF2B5EF4-FFF2-40B4-BE49-F238E27FC236}">
                <a16:creationId xmlns:a16="http://schemas.microsoft.com/office/drawing/2014/main" id="{25C46202-7AE9-46EC-9CF8-AB0990053BF0}"/>
              </a:ext>
            </a:extLst>
          </p:cNvPr>
          <p:cNvSpPr>
            <a:spLocks noGrp="1"/>
          </p:cNvSpPr>
          <p:nvPr>
            <p:ph sz="quarter" idx="16"/>
          </p:nvPr>
        </p:nvSpPr>
        <p:spPr>
          <a:xfrm>
            <a:off x="457200" y="4311872"/>
            <a:ext cx="6619875" cy="466725"/>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4" name="Content Placeholder 53">
            <a:extLst>
              <a:ext uri="{FF2B5EF4-FFF2-40B4-BE49-F238E27FC236}">
                <a16:creationId xmlns:a16="http://schemas.microsoft.com/office/drawing/2014/main" id="{95545F10-8281-42A9-A23B-D0E4F326BCF6}"/>
              </a:ext>
            </a:extLst>
          </p:cNvPr>
          <p:cNvSpPr>
            <a:spLocks noGrp="1"/>
          </p:cNvSpPr>
          <p:nvPr>
            <p:ph sz="quarter" idx="17"/>
          </p:nvPr>
        </p:nvSpPr>
        <p:spPr>
          <a:xfrm>
            <a:off x="704850" y="4927825"/>
            <a:ext cx="743902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6" name="Content Placeholder 55">
            <a:extLst>
              <a:ext uri="{FF2B5EF4-FFF2-40B4-BE49-F238E27FC236}">
                <a16:creationId xmlns:a16="http://schemas.microsoft.com/office/drawing/2014/main" id="{DABEB61B-2CFE-40E6-B01B-A293BCCF2137}"/>
              </a:ext>
            </a:extLst>
          </p:cNvPr>
          <p:cNvSpPr>
            <a:spLocks noGrp="1"/>
          </p:cNvSpPr>
          <p:nvPr>
            <p:ph sz="quarter" idx="18"/>
          </p:nvPr>
        </p:nvSpPr>
        <p:spPr>
          <a:xfrm>
            <a:off x="3895725" y="1793666"/>
            <a:ext cx="4714875" cy="333375"/>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8" name="Content Placeholder 57">
            <a:extLst>
              <a:ext uri="{FF2B5EF4-FFF2-40B4-BE49-F238E27FC236}">
                <a16:creationId xmlns:a16="http://schemas.microsoft.com/office/drawing/2014/main" id="{60181FCB-B7B0-4327-A54B-9077C985AEBF}"/>
              </a:ext>
            </a:extLst>
          </p:cNvPr>
          <p:cNvSpPr>
            <a:spLocks noGrp="1"/>
          </p:cNvSpPr>
          <p:nvPr>
            <p:ph sz="quarter" idx="19"/>
          </p:nvPr>
        </p:nvSpPr>
        <p:spPr>
          <a:xfrm>
            <a:off x="4191000" y="2243351"/>
            <a:ext cx="395287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0" name="Content Placeholder 59">
            <a:extLst>
              <a:ext uri="{FF2B5EF4-FFF2-40B4-BE49-F238E27FC236}">
                <a16:creationId xmlns:a16="http://schemas.microsoft.com/office/drawing/2014/main" id="{59E346EF-68CA-4A78-812A-0C4AA167ACAC}"/>
              </a:ext>
            </a:extLst>
          </p:cNvPr>
          <p:cNvSpPr>
            <a:spLocks noGrp="1"/>
          </p:cNvSpPr>
          <p:nvPr>
            <p:ph sz="quarter" idx="20"/>
          </p:nvPr>
        </p:nvSpPr>
        <p:spPr>
          <a:xfrm>
            <a:off x="4343399" y="2745004"/>
            <a:ext cx="3819525" cy="276225"/>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2" name="Content Placeholder 61">
            <a:extLst>
              <a:ext uri="{FF2B5EF4-FFF2-40B4-BE49-F238E27FC236}">
                <a16:creationId xmlns:a16="http://schemas.microsoft.com/office/drawing/2014/main" id="{8F63F66E-B8D5-439D-BEF8-D53F368D5C42}"/>
              </a:ext>
            </a:extLst>
          </p:cNvPr>
          <p:cNvSpPr>
            <a:spLocks noGrp="1"/>
          </p:cNvSpPr>
          <p:nvPr>
            <p:ph sz="quarter" idx="21"/>
          </p:nvPr>
        </p:nvSpPr>
        <p:spPr>
          <a:xfrm>
            <a:off x="4543425" y="3283167"/>
            <a:ext cx="3762375"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Content Placeholder 63">
            <a:extLst>
              <a:ext uri="{FF2B5EF4-FFF2-40B4-BE49-F238E27FC236}">
                <a16:creationId xmlns:a16="http://schemas.microsoft.com/office/drawing/2014/main" id="{262A5F5B-6979-4928-9AC2-5AFA40B42087}"/>
              </a:ext>
            </a:extLst>
          </p:cNvPr>
          <p:cNvSpPr>
            <a:spLocks noGrp="1"/>
          </p:cNvSpPr>
          <p:nvPr>
            <p:ph sz="quarter" idx="22"/>
          </p:nvPr>
        </p:nvSpPr>
        <p:spPr>
          <a:xfrm>
            <a:off x="4724400" y="3841970"/>
            <a:ext cx="3581400"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6" name="Content Placeholder 65">
            <a:extLst>
              <a:ext uri="{FF2B5EF4-FFF2-40B4-BE49-F238E27FC236}">
                <a16:creationId xmlns:a16="http://schemas.microsoft.com/office/drawing/2014/main" id="{E34432C7-E4DC-4E00-8294-974371A77890}"/>
              </a:ext>
            </a:extLst>
          </p:cNvPr>
          <p:cNvSpPr>
            <a:spLocks noGrp="1"/>
          </p:cNvSpPr>
          <p:nvPr>
            <p:ph sz="quarter" idx="23"/>
          </p:nvPr>
        </p:nvSpPr>
        <p:spPr>
          <a:xfrm>
            <a:off x="4924425" y="4406893"/>
            <a:ext cx="3829050" cy="470130"/>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8" name="Content Placeholder 67">
            <a:extLst>
              <a:ext uri="{FF2B5EF4-FFF2-40B4-BE49-F238E27FC236}">
                <a16:creationId xmlns:a16="http://schemas.microsoft.com/office/drawing/2014/main" id="{1948BCA4-1668-4980-807E-F38B825399E2}"/>
              </a:ext>
            </a:extLst>
          </p:cNvPr>
          <p:cNvSpPr>
            <a:spLocks noGrp="1"/>
          </p:cNvSpPr>
          <p:nvPr>
            <p:ph sz="quarter" idx="24"/>
          </p:nvPr>
        </p:nvSpPr>
        <p:spPr>
          <a:xfrm>
            <a:off x="3438524" y="5164365"/>
            <a:ext cx="4410076" cy="371476"/>
          </a:xfrm>
        </p:spPr>
        <p:txBody>
          <a:bodyPr/>
          <a:lstStyle>
            <a:lvl1pPr marL="360000" indent="-360000">
              <a:defRPr/>
            </a:lvl1pPr>
            <a:lvl2pPr marL="720000" indent="-360000">
              <a:defRPr/>
            </a:lvl2pPr>
            <a:lvl3pPr marL="1080000" indent="-360000">
              <a:defRPr/>
            </a:lvl3pPr>
            <a:lvl4pPr marL="1440000" indent="-360000">
              <a:defRPr/>
            </a:lvl4pPr>
            <a:lvl5pPr marL="1800000" indent="-3600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9345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52760D6A-39EE-442F-AA32-B3A8F4BE0867}"/>
              </a:ext>
            </a:extLst>
          </p:cNvPr>
          <p:cNvSpPr>
            <a:spLocks noGrp="1"/>
          </p:cNvSpPr>
          <p:nvPr>
            <p:ph type="pic" sz="quarter" idx="14"/>
          </p:nvPr>
        </p:nvSpPr>
        <p:spPr>
          <a:xfrm>
            <a:off x="922338" y="2632075"/>
            <a:ext cx="3530600" cy="1462088"/>
          </a:xfrm>
        </p:spPr>
        <p:txBody>
          <a:bodyPr/>
          <a:lstStyle/>
          <a:p>
            <a:endParaRPr lang="en-US"/>
          </a:p>
        </p:txBody>
      </p:sp>
      <p:sp>
        <p:nvSpPr>
          <p:cNvPr id="5" name="Picture Placeholder 4">
            <a:extLst>
              <a:ext uri="{FF2B5EF4-FFF2-40B4-BE49-F238E27FC236}">
                <a16:creationId xmlns:a16="http://schemas.microsoft.com/office/drawing/2014/main" id="{BE5684DE-C32B-4DD2-9E1D-D84C086E8EC8}"/>
              </a:ext>
            </a:extLst>
          </p:cNvPr>
          <p:cNvSpPr>
            <a:spLocks noGrp="1"/>
          </p:cNvSpPr>
          <p:nvPr>
            <p:ph type="pic" sz="quarter" idx="15"/>
          </p:nvPr>
        </p:nvSpPr>
        <p:spPr>
          <a:xfrm>
            <a:off x="922338" y="4486275"/>
            <a:ext cx="3649662" cy="717550"/>
          </a:xfrm>
        </p:spPr>
        <p:txBody>
          <a:bodyPr/>
          <a:lstStyle/>
          <a:p>
            <a:endParaRPr lang="en-US"/>
          </a:p>
        </p:txBody>
      </p:sp>
    </p:spTree>
    <p:extLst>
      <p:ext uri="{BB962C8B-B14F-4D97-AF65-F5344CB8AC3E}">
        <p14:creationId xmlns:p14="http://schemas.microsoft.com/office/powerpoint/2010/main" val="795647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4637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a:extLst>
              <a:ext uri="{FF2B5EF4-FFF2-40B4-BE49-F238E27FC236}">
                <a16:creationId xmlns:a16="http://schemas.microsoft.com/office/drawing/2014/main" id="{362398AF-7EC0-4E31-A76C-1A427F444843}"/>
              </a:ext>
            </a:extLst>
          </p:cNvPr>
          <p:cNvPicPr>
            <a:picLocks noChangeAspect="1"/>
          </p:cNvPicPr>
          <p:nvPr userDrawn="1"/>
        </p:nvPicPr>
        <p:blipFill>
          <a:blip r:embed="rId15"/>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71" r:id="rId7"/>
    <p:sldLayoutId id="2147483651" r:id="rId8"/>
    <p:sldLayoutId id="2147483654" r:id="rId9"/>
    <p:sldLayoutId id="2147483655" r:id="rId10"/>
    <p:sldLayoutId id="2147483656" r:id="rId11"/>
    <p:sldLayoutId id="2147483667" r:id="rId12"/>
    <p:sldLayoutId id="214748365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22087" y="1867533"/>
            <a:ext cx="3607979" cy="4500738"/>
          </a:xfrm>
          <a:prstGeom prst="rect">
            <a:avLst/>
          </a:prstGeom>
        </p:spPr>
      </p:pic>
      <p:sp>
        <p:nvSpPr>
          <p:cNvPr id="4" name="Text Placeholder 3"/>
          <p:cNvSpPr>
            <a:spLocks noGrp="1"/>
          </p:cNvSpPr>
          <p:nvPr>
            <p:ph type="body" idx="2"/>
          </p:nvPr>
        </p:nvSpPr>
        <p:spPr>
          <a:xfrm>
            <a:off x="4580628" y="2937288"/>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2</a:t>
            </a:r>
          </a:p>
        </p:txBody>
      </p:sp>
      <p:sp>
        <p:nvSpPr>
          <p:cNvPr id="5" name="Text Placeholder 4"/>
          <p:cNvSpPr>
            <a:spLocks noGrp="1"/>
          </p:cNvSpPr>
          <p:nvPr>
            <p:ph type="body" idx="3"/>
          </p:nvPr>
        </p:nvSpPr>
        <p:spPr>
          <a:xfrm>
            <a:off x="4580630" y="3493695"/>
            <a:ext cx="4131570" cy="713460"/>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The Problem: The Heart of the Research Process</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414041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7"/>
            <a:ext cx="8229600" cy="590349"/>
          </a:xfrm>
        </p:spPr>
        <p:txBody>
          <a:bodyPr lIns="0" tIns="18000" rIns="0" bIns="18000">
            <a:spAutoFit/>
          </a:bodyPr>
          <a:lstStyle/>
          <a:p>
            <a:pPr lvl="0">
              <a:spcBef>
                <a:spcPct val="0"/>
              </a:spcBef>
              <a:buClrTx/>
            </a:pPr>
            <a:r>
              <a:rPr lang="en-US" sz="3600" kern="1200" dirty="0">
                <a:latin typeface="Arial (Headings)"/>
                <a:ea typeface="+mj-ea"/>
                <a:cs typeface="Times New Roman" panose="02020603050405020304" pitchFamily="18" charset="0"/>
              </a:rPr>
              <a:t>Finding Research Projects</a:t>
            </a:r>
          </a:p>
        </p:txBody>
      </p:sp>
      <p:sp>
        <p:nvSpPr>
          <p:cNvPr id="3" name="Text Placeholder 2"/>
          <p:cNvSpPr>
            <a:spLocks noGrp="1"/>
          </p:cNvSpPr>
          <p:nvPr>
            <p:ph type="body" idx="1"/>
          </p:nvPr>
        </p:nvSpPr>
        <p:spPr>
          <a:xfrm>
            <a:off x="457200" y="1460348"/>
            <a:ext cx="8229600" cy="129823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Research projects can be one of two types: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Basic research</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Applied research</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31708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5"/>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Basic Research</a:t>
            </a:r>
          </a:p>
        </p:txBody>
      </p:sp>
      <p:sp>
        <p:nvSpPr>
          <p:cNvPr id="3" name="Text Placeholder 2"/>
          <p:cNvSpPr>
            <a:spLocks noGrp="1"/>
          </p:cNvSpPr>
          <p:nvPr>
            <p:ph type="body" idx="1"/>
          </p:nvPr>
        </p:nvSpPr>
        <p:spPr>
          <a:xfrm>
            <a:off x="457200" y="1460346"/>
            <a:ext cx="8229600" cy="2752480"/>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Enhances basic knowledge of</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Physical world</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Biological world</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Psychological world</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Social world</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Sheds light on historical, cultural, or aesthetic phenomena</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873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5"/>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Applied Research</a:t>
            </a:r>
          </a:p>
        </p:txBody>
      </p:sp>
      <p:sp>
        <p:nvSpPr>
          <p:cNvPr id="3" name="Text Placeholder 2"/>
          <p:cNvSpPr>
            <a:spLocks noGrp="1"/>
          </p:cNvSpPr>
          <p:nvPr>
            <p:ph type="body" idx="1"/>
          </p:nvPr>
        </p:nvSpPr>
        <p:spPr>
          <a:xfrm>
            <a:off x="457200" y="1460347"/>
            <a:ext cx="8229600" cy="2036899"/>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Addresses issues that have immediate relevance to current practices, procedures, and policies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Human decision making about practical problems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Questions in one’s immediate work environment (action research)</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43604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6"/>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Identifying a Suitable Research Problem</a:t>
            </a:r>
          </a:p>
        </p:txBody>
      </p:sp>
      <p:sp>
        <p:nvSpPr>
          <p:cNvPr id="3" name="Text Placeholder 2"/>
          <p:cNvSpPr>
            <a:spLocks noGrp="1"/>
          </p:cNvSpPr>
          <p:nvPr>
            <p:ph type="body" idx="1"/>
          </p:nvPr>
        </p:nvSpPr>
        <p:spPr>
          <a:xfrm>
            <a:off x="457200" y="1890663"/>
            <a:ext cx="8229600" cy="286789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Address an important question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The answer should make a difference</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Advance the frontiers of knowledge by</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leading to new ways of thinking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suggesting possible applications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paving the way for further research in the field</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30713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5"/>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When Considering A Research Problem</a:t>
            </a:r>
          </a:p>
        </p:txBody>
      </p:sp>
      <p:sp>
        <p:nvSpPr>
          <p:cNvPr id="3" name="Text Placeholder 2"/>
          <p:cNvSpPr>
            <a:spLocks noGrp="1"/>
          </p:cNvSpPr>
          <p:nvPr>
            <p:ph type="body" idx="1"/>
          </p:nvPr>
        </p:nvSpPr>
        <p:spPr>
          <a:xfrm>
            <a:off x="457200" y="1890666"/>
            <a:ext cx="8229600" cy="2637064"/>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Select a research problem</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for more than self-enlightenment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to do more than compare two sets of data</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to contribute something new</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to identify and interpret a relationship</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that has more than a yes/no answer</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75050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8"/>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Finding a Legitimate Research Problem</a:t>
            </a:r>
          </a:p>
        </p:txBody>
      </p:sp>
      <p:sp>
        <p:nvSpPr>
          <p:cNvPr id="3" name="Text Placeholder 2"/>
          <p:cNvSpPr>
            <a:spLocks noGrp="1"/>
          </p:cNvSpPr>
          <p:nvPr>
            <p:ph type="body" idx="1"/>
          </p:nvPr>
        </p:nvSpPr>
        <p:spPr>
          <a:xfrm>
            <a:off x="457200" y="1890663"/>
            <a:ext cx="8229600" cy="429345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Look around you</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Read the literature</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Seek the advice of experts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Attend professional conferences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Choose a topic that intrigues and motivates you</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Choose a topic that others will find interesting and worthy of attention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Be realistic on what you can accomplish</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17449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9"/>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Writing a Purpose Statement</a:t>
            </a:r>
          </a:p>
        </p:txBody>
      </p:sp>
      <p:sp>
        <p:nvSpPr>
          <p:cNvPr id="3" name="Text Placeholder 2"/>
          <p:cNvSpPr>
            <a:spLocks noGrp="1"/>
          </p:cNvSpPr>
          <p:nvPr>
            <p:ph type="body" idx="1"/>
          </p:nvPr>
        </p:nvSpPr>
        <p:spPr>
          <a:xfrm>
            <a:off x="457200" y="1460346"/>
            <a:ext cx="8229600" cy="3468060"/>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Describe your problem or question clearly and completely</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Think through the feasibility of the project that your purpose statement implies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Say precisely what you mean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Absolute honesty and integrity are the rule</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Reflect an open mind about the solution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Edit your work</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4256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3"/>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Dividing the Research Problem into Subproblems</a:t>
            </a:r>
          </a:p>
        </p:txBody>
      </p:sp>
      <p:sp>
        <p:nvSpPr>
          <p:cNvPr id="3" name="Text Placeholder 2"/>
          <p:cNvSpPr>
            <a:spLocks noGrp="1"/>
          </p:cNvSpPr>
          <p:nvPr>
            <p:ph type="body" idx="1"/>
          </p:nvPr>
        </p:nvSpPr>
        <p:spPr>
          <a:xfrm>
            <a:off x="457200" y="1890662"/>
            <a:ext cx="8229600" cy="2229260"/>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Most problems are too big to tackle with just one question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Identify subproblems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 small number of completely researchable units</a:t>
            </a:r>
          </a:p>
          <a:p>
            <a:pPr marL="1144778" lvl="2" indent="-230378">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Subproblems usually consist of more specific questions that are easier to address and resolve</a:t>
            </a:r>
          </a:p>
        </p:txBody>
      </p:sp>
    </p:spTree>
    <p:extLst>
      <p:ext uri="{BB962C8B-B14F-4D97-AF65-F5344CB8AC3E}">
        <p14:creationId xmlns:p14="http://schemas.microsoft.com/office/powerpoint/2010/main" val="3529725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150" y="297394"/>
            <a:ext cx="8274050" cy="1144347"/>
          </a:xfrm>
        </p:spPr>
        <p:txBody>
          <a:bodyPr wrap="square" lIns="0" tIns="18000" rIns="0" bIns="18000">
            <a:spAutoFit/>
          </a:bodyPr>
          <a:lstStyle/>
          <a:p>
            <a:pPr lvl="0">
              <a:spcBef>
                <a:spcPct val="0"/>
              </a:spcBef>
              <a:buClrTx/>
            </a:pPr>
            <a:r>
              <a:rPr lang="en-US" sz="3600" kern="1200" dirty="0">
                <a:solidFill>
                  <a:schemeClr val="tx2"/>
                </a:solidFill>
                <a:cs typeface="Times New Roman" panose="02020603050405020304" pitchFamily="18" charset="0"/>
              </a:rPr>
              <a:t>Subproblems V</a:t>
            </a:r>
            <a:r>
              <a:rPr lang="en-US" sz="100" kern="1200" dirty="0">
                <a:solidFill>
                  <a:schemeClr val="tx2"/>
                </a:solidFill>
                <a:cs typeface="Times New Roman" panose="02020603050405020304" pitchFamily="18" charset="0"/>
              </a:rPr>
              <a:t> </a:t>
            </a:r>
            <a:r>
              <a:rPr lang="en-US" sz="3600" kern="1200" dirty="0">
                <a:solidFill>
                  <a:schemeClr val="tx2"/>
                </a:solidFill>
                <a:cs typeface="Times New Roman" panose="02020603050405020304" pitchFamily="18" charset="0"/>
              </a:rPr>
              <a:t>s. Pseudo-Subproblems</a:t>
            </a:r>
            <a:endParaRPr lang="en-US" sz="3600" kern="1200" dirty="0">
              <a:solidFill>
                <a:schemeClr val="tx2"/>
              </a:solidFill>
              <a:ea typeface="+mj-ea"/>
              <a:cs typeface="Times New Roman" panose="02020603050405020304" pitchFamily="18" charset="0"/>
            </a:endParaRPr>
          </a:p>
        </p:txBody>
      </p:sp>
      <p:sp>
        <p:nvSpPr>
          <p:cNvPr id="3" name="Text Placeholder 2"/>
          <p:cNvSpPr>
            <a:spLocks noGrp="1"/>
          </p:cNvSpPr>
          <p:nvPr>
            <p:ph type="body" idx="1"/>
          </p:nvPr>
        </p:nvSpPr>
        <p:spPr>
          <a:xfrm>
            <a:off x="457200" y="1890661"/>
            <a:ext cx="8229600" cy="300639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Some problems that arise are simply procedural in nature. Those problems are called pseudo-subproblems.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Pseudo-subproblems require decisions to be made before resolving the research problem and its subproblems.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With each pseudo-subproblem you must decide if it can be solved with common sense and creativity or if you need to acquire more knowledge to address the problem.</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5351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58"/>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Characteristics of Subproblems</a:t>
            </a:r>
          </a:p>
        </p:txBody>
      </p:sp>
      <p:sp>
        <p:nvSpPr>
          <p:cNvPr id="3" name="Text Placeholder 2"/>
          <p:cNvSpPr>
            <a:spLocks noGrp="1"/>
          </p:cNvSpPr>
          <p:nvPr>
            <p:ph type="body" idx="1"/>
          </p:nvPr>
        </p:nvSpPr>
        <p:spPr>
          <a:xfrm>
            <a:off x="457200" y="1460347"/>
            <a:ext cx="8229600" cy="2090760"/>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Should be a researchable issue in its own right</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Must be clearly tied to the interpretation of data</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Must add up to the totality of the problem</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Should be small in number</a:t>
            </a:r>
          </a:p>
        </p:txBody>
      </p:sp>
    </p:spTree>
    <p:extLst>
      <p:ext uri="{BB962C8B-B14F-4D97-AF65-F5344CB8AC3E}">
        <p14:creationId xmlns:p14="http://schemas.microsoft.com/office/powerpoint/2010/main" val="711365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8"/>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Identifying Subproblems</a:t>
            </a:r>
          </a:p>
        </p:txBody>
      </p:sp>
      <p:sp>
        <p:nvSpPr>
          <p:cNvPr id="3" name="Text Placeholder 2"/>
          <p:cNvSpPr>
            <a:spLocks noGrp="1"/>
          </p:cNvSpPr>
          <p:nvPr>
            <p:ph type="body" idx="1"/>
          </p:nvPr>
        </p:nvSpPr>
        <p:spPr>
          <a:xfrm>
            <a:off x="457200" y="1460348"/>
            <a:ext cx="8229600" cy="4824367"/>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Take a paper-and-pencil approach</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Write down the problem</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Critically examine for topics that require in-depth treatment. Draw a box around each topic</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Make sure the text you’ve boxed has a need for data interpretation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Reorganize the ideas into a graphic that helps to identify the overall research design</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Use brainstorming/mind-mapping software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Construct graphic networks of interrelated concepts, terms, and principles</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16603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3"/>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Delineating the Problem</a:t>
            </a:r>
          </a:p>
        </p:txBody>
      </p:sp>
      <p:sp>
        <p:nvSpPr>
          <p:cNvPr id="3" name="Text Placeholder 2"/>
          <p:cNvSpPr>
            <a:spLocks noGrp="1"/>
          </p:cNvSpPr>
          <p:nvPr>
            <p:ph type="body" idx="1"/>
          </p:nvPr>
        </p:nvSpPr>
        <p:spPr>
          <a:xfrm>
            <a:off x="457200" y="1460346"/>
            <a:ext cx="8229600" cy="352961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Every problem has a setting to establish</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Identify a general theoretical or conceptual framework</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State a </a:t>
            </a:r>
            <a:r>
              <a:rPr lang="en-US" altLang="en-US" sz="2400" b="1" kern="1200" dirty="0">
                <a:solidFill>
                  <a:srgbClr val="000000"/>
                </a:solidFill>
                <a:latin typeface="Arial" panose="020B0604020202020204" pitchFamily="34" charset="0"/>
                <a:ea typeface="+mn-ea"/>
                <a:cs typeface="Arial" panose="020B0604020202020204" pitchFamily="34" charset="0"/>
              </a:rPr>
              <a:t>priori </a:t>
            </a:r>
            <a:r>
              <a:rPr lang="en-US" altLang="en-US" sz="2400" kern="1200" dirty="0">
                <a:solidFill>
                  <a:srgbClr val="000000"/>
                </a:solidFill>
                <a:latin typeface="Arial" panose="020B0604020202020204" pitchFamily="34" charset="0"/>
                <a:ea typeface="+mn-ea"/>
                <a:cs typeface="Arial" panose="020B0604020202020204" pitchFamily="34" charset="0"/>
              </a:rPr>
              <a:t>hypotheses, if appropriate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Identify general concepts and specific variables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Define the terms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State the underlying assumptions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Identify delimitations and limitations, if applicable</a:t>
            </a:r>
          </a:p>
          <a:p>
            <a:pPr marL="1144778" lvl="2" indent="-230378">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These comprise the setting of the problem</a:t>
            </a:r>
          </a:p>
        </p:txBody>
      </p:sp>
    </p:spTree>
    <p:extLst>
      <p:ext uri="{BB962C8B-B14F-4D97-AF65-F5344CB8AC3E}">
        <p14:creationId xmlns:p14="http://schemas.microsoft.com/office/powerpoint/2010/main" val="3612466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4"/>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Identifying a Relevant Theoretical or Conceptual Framework</a:t>
            </a:r>
          </a:p>
        </p:txBody>
      </p:sp>
      <p:sp>
        <p:nvSpPr>
          <p:cNvPr id="3" name="Text Placeholder 2"/>
          <p:cNvSpPr>
            <a:spLocks noGrp="1"/>
          </p:cNvSpPr>
          <p:nvPr>
            <p:ph type="body" idx="1"/>
          </p:nvPr>
        </p:nvSpPr>
        <p:spPr>
          <a:xfrm>
            <a:off x="457200" y="1890660"/>
            <a:ext cx="8229600" cy="3183367"/>
          </a:xfrm>
        </p:spPr>
        <p:txBody>
          <a:bodyPr wrap="square" lIns="0" tIns="18000" rIns="0" bIns="18000">
            <a:spAutoFit/>
          </a:bodyPr>
          <a:lstStyle/>
          <a:p>
            <a:pPr marL="255651" lvl="0" indent="-255651">
              <a:spcAft>
                <a:spcPct val="0"/>
              </a:spcAft>
              <a:buSzPts val="2400"/>
              <a:tabLst/>
            </a:pPr>
            <a:r>
              <a:rPr lang="en-US" sz="2400" b="1" kern="1200" dirty="0">
                <a:solidFill>
                  <a:srgbClr val="000000"/>
                </a:solidFill>
                <a:latin typeface="Arial" panose="020B0604020202020204" pitchFamily="34" charset="0"/>
                <a:ea typeface="+mn-ea"/>
                <a:cs typeface="Arial" panose="020B0604020202020204" pitchFamily="34" charset="0"/>
              </a:rPr>
              <a:t>Theoretical Framework</a:t>
            </a:r>
            <a:r>
              <a:rPr lang="en-US" sz="2400" kern="1200" dirty="0">
                <a:solidFill>
                  <a:srgbClr val="000000"/>
                </a:solidFill>
                <a:latin typeface="Arial" panose="020B0604020202020204" pitchFamily="34" charset="0"/>
                <a:ea typeface="+mn-ea"/>
                <a:cs typeface="Arial" panose="020B0604020202020204" pitchFamily="34" charset="0"/>
              </a:rPr>
              <a:t>: A preexisting or newly proposed set of concepts and principles that, in combination, might shed light on cause-and-effect and certain other relationships within the phenomenon under investigation</a:t>
            </a:r>
          </a:p>
          <a:p>
            <a:pPr marL="255651" lvl="0" indent="-255651">
              <a:spcAft>
                <a:spcPct val="0"/>
              </a:spcAft>
              <a:buSzPts val="2400"/>
              <a:tabLst/>
            </a:pPr>
            <a:r>
              <a:rPr lang="en-US" sz="2400" b="1" kern="1200" dirty="0">
                <a:solidFill>
                  <a:srgbClr val="000000"/>
                </a:solidFill>
                <a:latin typeface="Arial" panose="020B0604020202020204" pitchFamily="34" charset="0"/>
                <a:ea typeface="+mn-ea"/>
                <a:cs typeface="Arial" panose="020B0604020202020204" pitchFamily="34" charset="0"/>
              </a:rPr>
              <a:t>Conceptual Framework</a:t>
            </a:r>
            <a:r>
              <a:rPr lang="en-US" sz="2400" kern="1200" dirty="0">
                <a:solidFill>
                  <a:srgbClr val="000000"/>
                </a:solidFill>
                <a:latin typeface="Arial" panose="020B0604020202020204" pitchFamily="34" charset="0"/>
                <a:ea typeface="+mn-ea"/>
                <a:cs typeface="Arial" panose="020B0604020202020204" pitchFamily="34" charset="0"/>
              </a:rPr>
              <a:t>: Key concepts and inter-concept connections that, taken as a whole, provide a helpful “lens” through which the researcher looks at certain processes and can impose some sort of meaning</a:t>
            </a:r>
          </a:p>
        </p:txBody>
      </p:sp>
    </p:spTree>
    <p:extLst>
      <p:ext uri="{BB962C8B-B14F-4D97-AF65-F5344CB8AC3E}">
        <p14:creationId xmlns:p14="http://schemas.microsoft.com/office/powerpoint/2010/main" val="274487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8"/>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Stating Hypotheses</a:t>
            </a:r>
          </a:p>
        </p:txBody>
      </p:sp>
      <p:sp>
        <p:nvSpPr>
          <p:cNvPr id="3" name="Text Placeholder 2"/>
          <p:cNvSpPr>
            <a:spLocks noGrp="1"/>
          </p:cNvSpPr>
          <p:nvPr>
            <p:ph type="body" idx="1"/>
          </p:nvPr>
        </p:nvSpPr>
        <p:spPr>
          <a:xfrm>
            <a:off x="457200" y="1460347"/>
            <a:ext cx="8229600" cy="4455035"/>
          </a:xfrm>
        </p:spPr>
        <p:txBody>
          <a:bodyPr wrap="square" lIns="0" tIns="18000" rIns="0" bIns="18000">
            <a:spAutoFit/>
          </a:bodyPr>
          <a:lstStyle/>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Hypotheses are intelligent, reasonable guesses about how a research problem or question might be resolved.</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Hypotheses that a researcher poses in advance, usually in conjunction with the overall research problem or question and its subproblems, are known as a </a:t>
            </a:r>
            <a:r>
              <a:rPr lang="en-US" sz="2400" b="1" kern="1200" dirty="0">
                <a:solidFill>
                  <a:srgbClr val="000000"/>
                </a:solidFill>
                <a:latin typeface="Arial" panose="020B0604020202020204" pitchFamily="34" charset="0"/>
                <a:ea typeface="+mn-ea"/>
                <a:cs typeface="Arial" panose="020B0604020202020204" pitchFamily="34" charset="0"/>
              </a:rPr>
              <a:t>priori </a:t>
            </a:r>
            <a:r>
              <a:rPr lang="en-US" sz="2400" kern="1200" dirty="0">
                <a:solidFill>
                  <a:srgbClr val="000000"/>
                </a:solidFill>
                <a:latin typeface="Arial" panose="020B0604020202020204" pitchFamily="34" charset="0"/>
                <a:ea typeface="+mn-ea"/>
                <a:cs typeface="Arial" panose="020B0604020202020204" pitchFamily="34" charset="0"/>
              </a:rPr>
              <a:t>hypotheses.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Remember that researchers aren’t setting out to prove their hypotheses.</a:t>
            </a:r>
          </a:p>
          <a:p>
            <a:pPr marL="255651" lvl="0" indent="-255651">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Ultimately, a </a:t>
            </a:r>
            <a:r>
              <a:rPr lang="en-US" sz="2400" b="1" kern="1200" dirty="0">
                <a:solidFill>
                  <a:srgbClr val="000000"/>
                </a:solidFill>
                <a:latin typeface="Arial" panose="020B0604020202020204" pitchFamily="34" charset="0"/>
                <a:ea typeface="+mn-ea"/>
                <a:cs typeface="Arial" panose="020B0604020202020204" pitchFamily="34" charset="0"/>
              </a:rPr>
              <a:t>priori </a:t>
            </a:r>
            <a:r>
              <a:rPr lang="en-US" sz="2400" kern="1200" dirty="0">
                <a:solidFill>
                  <a:srgbClr val="000000"/>
                </a:solidFill>
                <a:latin typeface="Arial" panose="020B0604020202020204" pitchFamily="34" charset="0"/>
                <a:ea typeface="+mn-ea"/>
                <a:cs typeface="Arial" panose="020B0604020202020204" pitchFamily="34" charset="0"/>
              </a:rPr>
              <a:t>hypotheses are nothing more than tentative propositions set forth to assist in guiding the investigation of a research problem or question.</a:t>
            </a:r>
          </a:p>
        </p:txBody>
      </p:sp>
    </p:spTree>
    <p:extLst>
      <p:ext uri="{BB962C8B-B14F-4D97-AF65-F5344CB8AC3E}">
        <p14:creationId xmlns:p14="http://schemas.microsoft.com/office/powerpoint/2010/main" val="363142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2042"/>
            <a:ext cx="8229600" cy="1698345"/>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Distinguishing between Research Hypotheses and Null Hypotheses in Quantitative Research</a:t>
            </a:r>
          </a:p>
        </p:txBody>
      </p:sp>
      <p:sp>
        <p:nvSpPr>
          <p:cNvPr id="3" name="Text Placeholder 2"/>
          <p:cNvSpPr>
            <a:spLocks noGrp="1"/>
          </p:cNvSpPr>
          <p:nvPr>
            <p:ph type="body" idx="1"/>
          </p:nvPr>
        </p:nvSpPr>
        <p:spPr>
          <a:xfrm>
            <a:off x="457200" y="2525364"/>
            <a:ext cx="8229600" cy="3568088"/>
          </a:xfrm>
        </p:spPr>
        <p:txBody>
          <a:bodyPr wrap="square" lIns="0" tIns="18000" rIns="0" bIns="18000">
            <a:spAutoFit/>
          </a:bodyPr>
          <a:lstStyle/>
          <a:p>
            <a:pPr>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Research hypotheses are simply educated guesses that researchers hope their data might support.</a:t>
            </a:r>
            <a:endParaRPr lang="en-US" sz="2400" kern="1200" dirty="0">
              <a:solidFill>
                <a:srgbClr val="000000"/>
              </a:solidFill>
              <a:latin typeface="Arial" panose="020B0604020202020204" pitchFamily="34" charset="0"/>
              <a:ea typeface="+mn-ea"/>
              <a:cs typeface="Arial" panose="020B0604020202020204" pitchFamily="34" charset="0"/>
            </a:endParaRPr>
          </a:p>
          <a:p>
            <a:pPr lvl="0">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Remember that researchers don’t set out to </a:t>
            </a:r>
            <a:r>
              <a:rPr lang="en-US" sz="2400" b="1" kern="1200" dirty="0">
                <a:solidFill>
                  <a:srgbClr val="000000"/>
                </a:solidFill>
                <a:latin typeface="Arial" panose="020B0604020202020204" pitchFamily="34" charset="0"/>
                <a:ea typeface="+mn-ea"/>
                <a:cs typeface="Arial" panose="020B0604020202020204" pitchFamily="34" charset="0"/>
              </a:rPr>
              <a:t>prove </a:t>
            </a:r>
            <a:r>
              <a:rPr lang="en-US" sz="2400" kern="1200" dirty="0">
                <a:solidFill>
                  <a:srgbClr val="000000"/>
                </a:solidFill>
                <a:latin typeface="Arial" panose="020B0604020202020204" pitchFamily="34" charset="0"/>
                <a:ea typeface="+mn-ea"/>
                <a:cs typeface="Arial" panose="020B0604020202020204" pitchFamily="34" charset="0"/>
              </a:rPr>
              <a:t>a hypothesis. Instead, they set out to cast doubt on- and therefore to </a:t>
            </a:r>
            <a:r>
              <a:rPr lang="en-US" sz="2400" b="1" kern="1200" dirty="0">
                <a:solidFill>
                  <a:srgbClr val="000000"/>
                </a:solidFill>
                <a:latin typeface="Arial" panose="020B0604020202020204" pitchFamily="34" charset="0"/>
                <a:ea typeface="+mn-ea"/>
                <a:cs typeface="Arial" panose="020B0604020202020204" pitchFamily="34" charset="0"/>
              </a:rPr>
              <a:t>reject- </a:t>
            </a:r>
            <a:r>
              <a:rPr lang="en-US" sz="2400" kern="1200" dirty="0">
                <a:solidFill>
                  <a:srgbClr val="000000"/>
                </a:solidFill>
                <a:latin typeface="Arial" panose="020B0604020202020204" pitchFamily="34" charset="0"/>
                <a:ea typeface="+mn-ea"/>
                <a:cs typeface="Arial" panose="020B0604020202020204" pitchFamily="34" charset="0"/>
              </a:rPr>
              <a:t>an opposite hypothesis.</a:t>
            </a:r>
          </a:p>
          <a:p>
            <a:pPr lvl="0">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This hypothesis is known as the </a:t>
            </a:r>
            <a:r>
              <a:rPr lang="en-US" sz="2400" b="1" kern="1200" dirty="0">
                <a:solidFill>
                  <a:srgbClr val="000000"/>
                </a:solidFill>
                <a:latin typeface="Arial" panose="020B0604020202020204" pitchFamily="34" charset="0"/>
                <a:ea typeface="+mn-ea"/>
                <a:cs typeface="Arial" panose="020B0604020202020204" pitchFamily="34" charset="0"/>
              </a:rPr>
              <a:t>null hypothesis</a:t>
            </a:r>
            <a:r>
              <a:rPr lang="en-US" sz="2400" kern="1200" dirty="0">
                <a:solidFill>
                  <a:srgbClr val="000000"/>
                </a:solidFill>
                <a:latin typeface="Arial" panose="020B0604020202020204" pitchFamily="34" charset="0"/>
                <a:ea typeface="+mn-ea"/>
                <a:cs typeface="Arial" panose="020B0604020202020204" pitchFamily="34" charset="0"/>
              </a:rPr>
              <a:t>.</a:t>
            </a:r>
          </a:p>
          <a:p>
            <a:pPr lvl="0">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null hypothesis is not usually an a </a:t>
            </a:r>
            <a:r>
              <a:rPr lang="en-US" sz="2400" b="1" kern="1200" dirty="0">
                <a:solidFill>
                  <a:srgbClr val="000000"/>
                </a:solidFill>
                <a:latin typeface="Arial" panose="020B0604020202020204" pitchFamily="34" charset="0"/>
                <a:ea typeface="+mn-ea"/>
                <a:cs typeface="Arial" panose="020B0604020202020204" pitchFamily="34" charset="0"/>
              </a:rPr>
              <a:t>priori </a:t>
            </a:r>
            <a:r>
              <a:rPr lang="en-US" sz="2400" kern="1200" dirty="0">
                <a:solidFill>
                  <a:srgbClr val="000000"/>
                </a:solidFill>
                <a:latin typeface="Arial" panose="020B0604020202020204" pitchFamily="34" charset="0"/>
                <a:ea typeface="+mn-ea"/>
                <a:cs typeface="Arial" panose="020B0604020202020204" pitchFamily="34" charset="0"/>
              </a:rPr>
              <a:t>hypothesis, but it is used during statistical analyses.</a:t>
            </a:r>
          </a:p>
        </p:txBody>
      </p:sp>
    </p:spTree>
    <p:extLst>
      <p:ext uri="{BB962C8B-B14F-4D97-AF65-F5344CB8AC3E}">
        <p14:creationId xmlns:p14="http://schemas.microsoft.com/office/powerpoint/2010/main" val="2224591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950"/>
            <a:ext cx="8229600" cy="1636790"/>
          </a:xfrm>
        </p:spPr>
        <p:txBody>
          <a:bodyPr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(1 of 7)</a:t>
            </a:r>
            <a:endParaRPr lang="en-US" altLang="en-US" sz="2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2525658"/>
            <a:ext cx="8229600" cy="2598591"/>
          </a:xfrm>
        </p:spPr>
        <p:txBody>
          <a:bodyPr wrap="square" lIns="0" tIns="18000" rIns="0" bIns="18000">
            <a:spAutoFit/>
          </a:bodyPr>
          <a:lstStyle/>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Explicit identification of variables at the beginning of a study is most common in quantitative research, especially in experimental studies</a:t>
            </a:r>
          </a:p>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Identification of variables helps the researcher choose</a:t>
            </a:r>
          </a:p>
          <a:p>
            <a:pPr marL="741553" lvl="1" indent="-284353">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an appropriate research design</a:t>
            </a:r>
          </a:p>
          <a:p>
            <a:pPr marL="741553" lvl="1" indent="-284353">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an appropriate statistical analysis</a:t>
            </a:r>
          </a:p>
        </p:txBody>
      </p:sp>
    </p:spTree>
    <p:extLst>
      <p:ext uri="{BB962C8B-B14F-4D97-AF65-F5344CB8AC3E}">
        <p14:creationId xmlns:p14="http://schemas.microsoft.com/office/powerpoint/2010/main" val="3097597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951"/>
            <a:ext cx="8229600" cy="1606012"/>
          </a:xfrm>
        </p:spPr>
        <p:txBody>
          <a:bodyPr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(2 of 7)</a:t>
            </a:r>
            <a:endParaRPr lang="en-US" altLang="en-US" sz="2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2516971"/>
            <a:ext cx="8229600" cy="3298783"/>
          </a:xfrm>
        </p:spPr>
        <p:txBody>
          <a:bodyPr wrap="square" lIns="0" tIns="18000" rIns="0" bIns="18000">
            <a:spAutoFit/>
          </a:bodyPr>
          <a:lstStyle/>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Variable: any quality or characteristic in a research investigation that has two or more possible values</a:t>
            </a:r>
          </a:p>
          <a:p>
            <a:pPr marL="741553" lvl="1" indent="-284353">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Independent variable</a:t>
            </a:r>
          </a:p>
          <a:p>
            <a:pPr marL="1144778" lvl="2" indent="-230378">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researcher studies this variable as a possible cause of something else (may manipulate)</a:t>
            </a:r>
          </a:p>
          <a:p>
            <a:pPr marL="741553" lvl="1" indent="-284353">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Dependent variable</a:t>
            </a:r>
          </a:p>
          <a:p>
            <a:pPr marL="1144778" lvl="2" indent="-230378">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potentially influenced by the independent variable, that is, may </a:t>
            </a:r>
            <a:r>
              <a:rPr lang="en-US" altLang="en-US" sz="2400" b="1" kern="1200" dirty="0">
                <a:solidFill>
                  <a:srgbClr val="000000"/>
                </a:solidFill>
                <a:latin typeface="Arial" panose="020B0604020202020204" pitchFamily="34" charset="0"/>
                <a:ea typeface="+mn-ea"/>
                <a:cs typeface="Arial" panose="020B0604020202020204" pitchFamily="34" charset="0"/>
              </a:rPr>
              <a:t>depend </a:t>
            </a:r>
            <a:r>
              <a:rPr lang="en-US" altLang="en-US" sz="2400" kern="1200" dirty="0">
                <a:solidFill>
                  <a:srgbClr val="000000"/>
                </a:solidFill>
                <a:latin typeface="Arial" panose="020B0604020202020204" pitchFamily="34" charset="0"/>
                <a:ea typeface="+mn-ea"/>
                <a:cs typeface="Arial" panose="020B0604020202020204" pitchFamily="34" charset="0"/>
              </a:rPr>
              <a:t>on the independent variable</a:t>
            </a:r>
          </a:p>
        </p:txBody>
      </p:sp>
    </p:spTree>
    <p:extLst>
      <p:ext uri="{BB962C8B-B14F-4D97-AF65-F5344CB8AC3E}">
        <p14:creationId xmlns:p14="http://schemas.microsoft.com/office/powerpoint/2010/main" val="3592161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951"/>
            <a:ext cx="8229600" cy="1606012"/>
          </a:xfrm>
        </p:spPr>
        <p:txBody>
          <a:bodyPr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(3 of 7)</a:t>
            </a:r>
            <a:endParaRPr lang="en-US" altLang="en-US" sz="2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2549237"/>
            <a:ext cx="8229600" cy="2637064"/>
          </a:xfrm>
        </p:spPr>
        <p:txBody>
          <a:bodyPr wrap="square" lIns="0" tIns="18000" rIns="0" bIns="18000">
            <a:spAutoFit/>
          </a:bodyPr>
          <a:lstStyle/>
          <a:p>
            <a:pPr marL="255651" lvl="0" indent="-255651">
              <a:buSzPts val="2400"/>
              <a:buNone/>
              <a:tabLst/>
            </a:pPr>
            <a:r>
              <a:rPr lang="en-US" altLang="en-US" sz="2400" kern="1200" dirty="0">
                <a:solidFill>
                  <a:srgbClr val="000000"/>
                </a:solidFill>
                <a:latin typeface="Arial" panose="020B0604020202020204" pitchFamily="34" charset="0"/>
                <a:ea typeface="+mn-ea"/>
                <a:cs typeface="Arial" panose="020B0604020202020204" pitchFamily="34" charset="0"/>
              </a:rPr>
              <a:t>Example:</a:t>
            </a:r>
          </a:p>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The consistency of ice cream (dependent variable – D</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 depends on the temperature at which it’s stored (independent variable – I</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p>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High temperatures cause ice cream to melt, whereas low temperatures cause ice cream to be solid</a:t>
            </a:r>
          </a:p>
        </p:txBody>
      </p:sp>
    </p:spTree>
    <p:extLst>
      <p:ext uri="{BB962C8B-B14F-4D97-AF65-F5344CB8AC3E}">
        <p14:creationId xmlns:p14="http://schemas.microsoft.com/office/powerpoint/2010/main" val="2346213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949"/>
            <a:ext cx="8229600" cy="1606012"/>
          </a:xfrm>
        </p:spPr>
        <p:txBody>
          <a:bodyPr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(4 of 7)</a:t>
            </a:r>
            <a:endParaRPr lang="en-US" altLang="en-US" sz="2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2535528"/>
            <a:ext cx="8229600" cy="1590623"/>
          </a:xfrm>
        </p:spPr>
        <p:txBody>
          <a:bodyPr wrap="square" lIns="0" tIns="18000" rIns="0" bIns="18000">
            <a:spAutoFit/>
          </a:bodyPr>
          <a:lstStyle/>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Mediating variables help explain why an independent variable has a particular effect on a dependent variable</a:t>
            </a:r>
          </a:p>
          <a:p>
            <a:pPr marL="741553" lvl="1" indent="-284353">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Independent variable influences mediating variable, which in turn influences the dependent variable</a:t>
            </a:r>
          </a:p>
        </p:txBody>
      </p:sp>
    </p:spTree>
    <p:extLst>
      <p:ext uri="{BB962C8B-B14F-4D97-AF65-F5344CB8AC3E}">
        <p14:creationId xmlns:p14="http://schemas.microsoft.com/office/powerpoint/2010/main" val="2568813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4000"/>
            <a:ext cx="8229600" cy="1606012"/>
          </a:xfrm>
        </p:spPr>
        <p:txBody>
          <a:bodyPr wrap="square" lIns="0" tIns="18000" rIns="0" bIns="18000" anchor="t">
            <a:spAutoFit/>
          </a:bodyPr>
          <a:lstStyle/>
          <a:p>
            <a:pPr lvl="0">
              <a:spcBef>
                <a:spcPct val="0"/>
              </a:spcBef>
              <a:buClrTx/>
            </a:pPr>
            <a:r>
              <a:rPr lang="en-US" kern="1200" dirty="0">
                <a:latin typeface="+mj-lt"/>
                <a:ea typeface="+mj-ea"/>
                <a:cs typeface="Times New Roman" panose="02020603050405020304" pitchFamily="18" charset="0"/>
              </a:rPr>
              <a:t>Identifying the General Concepts and Possibly Also Specific Variables That are the Focus of the Investigation </a:t>
            </a:r>
            <a:r>
              <a:rPr lang="en-US" sz="2600" kern="1200" dirty="0">
                <a:latin typeface="+mj-lt"/>
                <a:ea typeface="+mj-ea"/>
                <a:cs typeface="Times New Roman" panose="02020603050405020304" pitchFamily="18" charset="0"/>
              </a:rPr>
              <a:t>(5 of 7)</a:t>
            </a:r>
            <a:endParaRPr lang="en-US" altLang="en-US" sz="2600" kern="1200" dirty="0">
              <a:latin typeface="+mj-lt"/>
              <a:ea typeface="+mj-ea"/>
              <a:cs typeface="Times New Roman" panose="02020603050405020304" pitchFamily="18" charset="0"/>
            </a:endParaRPr>
          </a:p>
        </p:txBody>
      </p:sp>
      <p:sp>
        <p:nvSpPr>
          <p:cNvPr id="45" name="Content Placeholder 44">
            <a:extLst>
              <a:ext uri="{FF2B5EF4-FFF2-40B4-BE49-F238E27FC236}">
                <a16:creationId xmlns:a16="http://schemas.microsoft.com/office/drawing/2014/main" id="{4EFB992A-A253-467C-B77A-D96E17F9219E}"/>
              </a:ext>
            </a:extLst>
          </p:cNvPr>
          <p:cNvSpPr>
            <a:spLocks noGrp="1"/>
          </p:cNvSpPr>
          <p:nvPr>
            <p:ph sz="quarter" idx="10"/>
          </p:nvPr>
        </p:nvSpPr>
        <p:spPr>
          <a:xfrm>
            <a:off x="441325" y="2478305"/>
            <a:ext cx="8270875" cy="405683"/>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For example</a:t>
            </a:r>
          </a:p>
        </p:txBody>
      </p:sp>
      <p:sp>
        <p:nvSpPr>
          <p:cNvPr id="46" name="Content Placeholder 45">
            <a:extLst>
              <a:ext uri="{FF2B5EF4-FFF2-40B4-BE49-F238E27FC236}">
                <a16:creationId xmlns:a16="http://schemas.microsoft.com/office/drawing/2014/main" id="{71FF5C7D-FB0A-4D79-BC46-80011EAC0F68}"/>
              </a:ext>
            </a:extLst>
          </p:cNvPr>
          <p:cNvSpPr>
            <a:spLocks noGrp="1"/>
          </p:cNvSpPr>
          <p:nvPr>
            <p:ph sz="quarter" idx="11"/>
          </p:nvPr>
        </p:nvSpPr>
        <p:spPr>
          <a:xfrm>
            <a:off x="438150" y="2930973"/>
            <a:ext cx="2944431" cy="405683"/>
          </a:xfrm>
        </p:spPr>
        <p:txBody>
          <a:bodyPr wrap="square" lIns="0" tIns="18000" rIns="0" bIns="18000">
            <a:spAutoFit/>
          </a:bodyPr>
          <a:lstStyle/>
          <a:p>
            <a:pPr lvl="1"/>
            <a:r>
              <a:rPr lang="en-US" altLang="en-US" sz="2400" kern="1200" dirty="0">
                <a:solidFill>
                  <a:srgbClr val="000000"/>
                </a:solidFill>
                <a:latin typeface="Arial" panose="020B0604020202020204" pitchFamily="34" charset="0"/>
                <a:ea typeface="+mn-ea"/>
                <a:cs typeface="Arial" panose="020B0604020202020204" pitchFamily="34" charset="0"/>
              </a:rPr>
              <a:t>confidence level</a:t>
            </a:r>
            <a:endPar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endParaRPr>
          </a:p>
        </p:txBody>
      </p:sp>
      <p:graphicFrame>
        <p:nvGraphicFramePr>
          <p:cNvPr id="67" name="Object 66" descr="An arrow pointing toward right side.">
            <a:extLst>
              <a:ext uri="{FF2B5EF4-FFF2-40B4-BE49-F238E27FC236}">
                <a16:creationId xmlns:a16="http://schemas.microsoft.com/office/drawing/2014/main" id="{FD66A6B6-A57A-4C0E-8C81-D4190F7C4285}"/>
              </a:ext>
            </a:extLst>
          </p:cNvPr>
          <p:cNvGraphicFramePr>
            <a:graphicFrameLocks noChangeAspect="1"/>
          </p:cNvGraphicFramePr>
          <p:nvPr>
            <p:extLst>
              <p:ext uri="{D42A27DB-BD31-4B8C-83A1-F6EECF244321}">
                <p14:modId xmlns:p14="http://schemas.microsoft.com/office/powerpoint/2010/main" val="3495016143"/>
              </p:ext>
            </p:extLst>
          </p:nvPr>
        </p:nvGraphicFramePr>
        <p:xfrm>
          <a:off x="3430206" y="3029072"/>
          <a:ext cx="384343" cy="307646"/>
        </p:xfrm>
        <a:graphic>
          <a:graphicData uri="http://schemas.openxmlformats.org/presentationml/2006/ole">
            <mc:AlternateContent xmlns:mc="http://schemas.openxmlformats.org/markup-compatibility/2006">
              <mc:Choice xmlns:v="urn:schemas-microsoft-com:vml" Requires="v">
                <p:oleObj spid="_x0000_s1116" name="Equation" r:id="rId3" imgW="190440" imgH="139680" progId="Equation.DSMT4">
                  <p:embed/>
                </p:oleObj>
              </mc:Choice>
              <mc:Fallback>
                <p:oleObj name="Equation" r:id="rId3" imgW="190440" imgH="139680" progId="Equation.DSMT4">
                  <p:embed/>
                  <p:pic>
                    <p:nvPicPr>
                      <p:cNvPr id="27" name="Object 26" descr="An arrow pointing toward right side.">
                        <a:extLst>
                          <a:ext uri="{FF2B5EF4-FFF2-40B4-BE49-F238E27FC236}">
                            <a16:creationId xmlns:a16="http://schemas.microsoft.com/office/drawing/2014/main" id="{D5032EE8-AA3B-4893-81BF-AB0E66DD3D3D}"/>
                          </a:ext>
                        </a:extLst>
                      </p:cNvPr>
                      <p:cNvPicPr/>
                      <p:nvPr/>
                    </p:nvPicPr>
                    <p:blipFill>
                      <a:blip r:embed="rId4"/>
                      <a:stretch>
                        <a:fillRect/>
                      </a:stretch>
                    </p:blipFill>
                    <p:spPr>
                      <a:xfrm>
                        <a:off x="3430206" y="3029072"/>
                        <a:ext cx="384343" cy="307646"/>
                      </a:xfrm>
                      <a:prstGeom prst="rect">
                        <a:avLst/>
                      </a:prstGeom>
                    </p:spPr>
                  </p:pic>
                </p:oleObj>
              </mc:Fallback>
            </mc:AlternateContent>
          </a:graphicData>
        </a:graphic>
      </p:graphicFrame>
      <p:sp>
        <p:nvSpPr>
          <p:cNvPr id="48" name="Content Placeholder 47">
            <a:extLst>
              <a:ext uri="{FF2B5EF4-FFF2-40B4-BE49-F238E27FC236}">
                <a16:creationId xmlns:a16="http://schemas.microsoft.com/office/drawing/2014/main" id="{ED370D7F-3670-4084-AF25-224B97B5D21D}"/>
              </a:ext>
            </a:extLst>
          </p:cNvPr>
          <p:cNvSpPr>
            <a:spLocks noGrp="1"/>
          </p:cNvSpPr>
          <p:nvPr>
            <p:ph sz="quarter" idx="12"/>
          </p:nvPr>
        </p:nvSpPr>
        <p:spPr>
          <a:xfrm>
            <a:off x="3910013" y="2922827"/>
            <a:ext cx="757237" cy="405683"/>
          </a:xfrm>
        </p:spPr>
        <p:txBody>
          <a:bodyPr wrap="square" lIns="0" tIns="18000" rIns="0" bIns="18000">
            <a:spAutoFit/>
          </a:bodyPr>
          <a:lstStyle/>
          <a:p>
            <a:pPr marL="0" lvl="1" indent="0">
              <a:buNone/>
            </a:pPr>
            <a:r>
              <a:rPr lang="en-US" altLang="en-US" sz="2400" kern="1200" dirty="0">
                <a:solidFill>
                  <a:srgbClr val="000000"/>
                </a:solidFill>
                <a:latin typeface="Arial" panose="020B0604020202020204" pitchFamily="34" charset="0"/>
                <a:ea typeface="+mn-ea"/>
                <a:cs typeface="Arial" panose="020B0604020202020204" pitchFamily="34" charset="0"/>
              </a:rPr>
              <a:t>effort</a:t>
            </a:r>
            <a:endParaRPr lang="en-US" sz="2400" dirty="0">
              <a:latin typeface="Arial" panose="020B0604020202020204" pitchFamily="34" charset="0"/>
              <a:cs typeface="Arial" panose="020B0604020202020204" pitchFamily="34" charset="0"/>
            </a:endParaRPr>
          </a:p>
        </p:txBody>
      </p:sp>
      <p:graphicFrame>
        <p:nvGraphicFramePr>
          <p:cNvPr id="68" name="Object 67" descr="An arrow pointing toward right side.">
            <a:extLst>
              <a:ext uri="{FF2B5EF4-FFF2-40B4-BE49-F238E27FC236}">
                <a16:creationId xmlns:a16="http://schemas.microsoft.com/office/drawing/2014/main" id="{97126926-7090-4459-B32B-6094A88A9EC8}"/>
              </a:ext>
            </a:extLst>
          </p:cNvPr>
          <p:cNvGraphicFramePr>
            <a:graphicFrameLocks noChangeAspect="1"/>
          </p:cNvGraphicFramePr>
          <p:nvPr>
            <p:extLst>
              <p:ext uri="{D42A27DB-BD31-4B8C-83A1-F6EECF244321}">
                <p14:modId xmlns:p14="http://schemas.microsoft.com/office/powerpoint/2010/main" val="1207853270"/>
              </p:ext>
            </p:extLst>
          </p:nvPr>
        </p:nvGraphicFramePr>
        <p:xfrm>
          <a:off x="4716081" y="3029072"/>
          <a:ext cx="384343" cy="307646"/>
        </p:xfrm>
        <a:graphic>
          <a:graphicData uri="http://schemas.openxmlformats.org/presentationml/2006/ole">
            <mc:AlternateContent xmlns:mc="http://schemas.openxmlformats.org/markup-compatibility/2006">
              <mc:Choice xmlns:v="urn:schemas-microsoft-com:vml" Requires="v">
                <p:oleObj spid="_x0000_s1117" name="Equation" r:id="rId3" imgW="190440" imgH="139680" progId="Equation.DSMT4">
                  <p:embed/>
                </p:oleObj>
              </mc:Choice>
              <mc:Fallback>
                <p:oleObj name="Equation" r:id="rId3" imgW="19044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4"/>
                      <a:stretch>
                        <a:fillRect/>
                      </a:stretch>
                    </p:blipFill>
                    <p:spPr>
                      <a:xfrm>
                        <a:off x="4716081" y="3029072"/>
                        <a:ext cx="384343" cy="307646"/>
                      </a:xfrm>
                      <a:prstGeom prst="rect">
                        <a:avLst/>
                      </a:prstGeom>
                    </p:spPr>
                  </p:pic>
                </p:oleObj>
              </mc:Fallback>
            </mc:AlternateContent>
          </a:graphicData>
        </a:graphic>
      </p:graphicFrame>
      <p:sp>
        <p:nvSpPr>
          <p:cNvPr id="49" name="Content Placeholder 48">
            <a:extLst>
              <a:ext uri="{FF2B5EF4-FFF2-40B4-BE49-F238E27FC236}">
                <a16:creationId xmlns:a16="http://schemas.microsoft.com/office/drawing/2014/main" id="{909A2860-CCED-41B8-AF58-451EC53D1D41}"/>
              </a:ext>
            </a:extLst>
          </p:cNvPr>
          <p:cNvSpPr>
            <a:spLocks noGrp="1"/>
          </p:cNvSpPr>
          <p:nvPr>
            <p:ph sz="quarter" idx="13"/>
          </p:nvPr>
        </p:nvSpPr>
        <p:spPr>
          <a:xfrm>
            <a:off x="5190742" y="2922189"/>
            <a:ext cx="1781175" cy="405683"/>
          </a:xfrm>
        </p:spPr>
        <p:txBody>
          <a:bodyPr wrap="square" lIns="0" tIns="18000" rIns="0" bIns="18000">
            <a:spAutoFit/>
          </a:bodyPr>
          <a:lstStyle/>
          <a:p>
            <a:pPr marL="0" lvl="1"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performance</a:t>
            </a:r>
            <a:endParaRPr lang="en-US" sz="2400" dirty="0">
              <a:latin typeface="Arial" panose="020B0604020202020204" pitchFamily="34" charset="0"/>
              <a:cs typeface="Arial" panose="020B0604020202020204" pitchFamily="34" charset="0"/>
            </a:endParaRPr>
          </a:p>
        </p:txBody>
      </p:sp>
      <p:sp>
        <p:nvSpPr>
          <p:cNvPr id="50" name="Content Placeholder 49">
            <a:extLst>
              <a:ext uri="{FF2B5EF4-FFF2-40B4-BE49-F238E27FC236}">
                <a16:creationId xmlns:a16="http://schemas.microsoft.com/office/drawing/2014/main" id="{A7DE1157-3301-4F22-81BF-B4BE3DC4406B}"/>
              </a:ext>
            </a:extLst>
          </p:cNvPr>
          <p:cNvSpPr>
            <a:spLocks noGrp="1"/>
          </p:cNvSpPr>
          <p:nvPr>
            <p:ph sz="quarter" idx="14"/>
          </p:nvPr>
        </p:nvSpPr>
        <p:spPr>
          <a:xfrm>
            <a:off x="438150" y="3381819"/>
            <a:ext cx="8274050" cy="851959"/>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confidence level (</a:t>
            </a:r>
            <a:r>
              <a:rPr lang="en-US" altLang="en-US" sz="2400" kern="1200" dirty="0">
                <a:solidFill>
                  <a:srgbClr val="000000"/>
                </a:solidFill>
                <a:latin typeface="Arial" panose="020B0604020202020204" pitchFamily="34" charset="0"/>
                <a:ea typeface="+mn-ea"/>
                <a:cs typeface="Arial" panose="020B0604020202020204" pitchFamily="34" charset="0"/>
              </a:rPr>
              <a:t>I</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 influences effort (mediator)</a:t>
            </a:r>
          </a:p>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effort (mediator) influences performance quality (</a:t>
            </a:r>
            <a:r>
              <a:rPr lang="en-US" altLang="en-US" sz="2400" kern="1200" dirty="0">
                <a:solidFill>
                  <a:srgbClr val="000000"/>
                </a:solidFill>
                <a:latin typeface="Arial" panose="020B0604020202020204" pitchFamily="34" charset="0"/>
                <a:ea typeface="+mn-ea"/>
                <a:cs typeface="Arial" panose="020B0604020202020204" pitchFamily="34" charset="0"/>
              </a:rPr>
              <a:t>D</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a:t>
            </a:r>
          </a:p>
        </p:txBody>
      </p:sp>
      <p:sp>
        <p:nvSpPr>
          <p:cNvPr id="51" name="Content Placeholder 50">
            <a:extLst>
              <a:ext uri="{FF2B5EF4-FFF2-40B4-BE49-F238E27FC236}">
                <a16:creationId xmlns:a16="http://schemas.microsoft.com/office/drawing/2014/main" id="{A47F7EB4-6831-425A-BB28-1D12F1BD3FE2}"/>
              </a:ext>
            </a:extLst>
          </p:cNvPr>
          <p:cNvSpPr>
            <a:spLocks noGrp="1"/>
          </p:cNvSpPr>
          <p:nvPr>
            <p:ph sz="quarter" idx="15"/>
          </p:nvPr>
        </p:nvSpPr>
        <p:spPr>
          <a:xfrm>
            <a:off x="438150" y="4265163"/>
            <a:ext cx="3249015" cy="405683"/>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high confidence</a:t>
            </a:r>
          </a:p>
        </p:txBody>
      </p:sp>
      <p:graphicFrame>
        <p:nvGraphicFramePr>
          <p:cNvPr id="69" name="Object 68" descr="An arrow pointing toward right side.">
            <a:extLst>
              <a:ext uri="{FF2B5EF4-FFF2-40B4-BE49-F238E27FC236}">
                <a16:creationId xmlns:a16="http://schemas.microsoft.com/office/drawing/2014/main" id="{76FAC225-6FCD-4A96-AF70-B8EEF836B0B6}"/>
              </a:ext>
            </a:extLst>
          </p:cNvPr>
          <p:cNvGraphicFramePr>
            <a:graphicFrameLocks noChangeAspect="1"/>
          </p:cNvGraphicFramePr>
          <p:nvPr>
            <p:extLst>
              <p:ext uri="{D42A27DB-BD31-4B8C-83A1-F6EECF244321}">
                <p14:modId xmlns:p14="http://schemas.microsoft.com/office/powerpoint/2010/main" val="2403266453"/>
              </p:ext>
            </p:extLst>
          </p:nvPr>
        </p:nvGraphicFramePr>
        <p:xfrm>
          <a:off x="3736891" y="4372725"/>
          <a:ext cx="384343" cy="307646"/>
        </p:xfrm>
        <a:graphic>
          <a:graphicData uri="http://schemas.openxmlformats.org/presentationml/2006/ole">
            <mc:AlternateContent xmlns:mc="http://schemas.openxmlformats.org/markup-compatibility/2006">
              <mc:Choice xmlns:v="urn:schemas-microsoft-com:vml" Requires="v">
                <p:oleObj spid="_x0000_s1118" name="Equation" r:id="rId3" imgW="190440" imgH="139680" progId="Equation.DSMT4">
                  <p:embed/>
                </p:oleObj>
              </mc:Choice>
              <mc:Fallback>
                <p:oleObj name="Equation" r:id="rId3" imgW="19044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4"/>
                      <a:stretch>
                        <a:fillRect/>
                      </a:stretch>
                    </p:blipFill>
                    <p:spPr>
                      <a:xfrm>
                        <a:off x="3736891" y="4372725"/>
                        <a:ext cx="384343" cy="307646"/>
                      </a:xfrm>
                      <a:prstGeom prst="rect">
                        <a:avLst/>
                      </a:prstGeom>
                    </p:spPr>
                  </p:pic>
                </p:oleObj>
              </mc:Fallback>
            </mc:AlternateContent>
          </a:graphicData>
        </a:graphic>
      </p:graphicFrame>
      <p:sp>
        <p:nvSpPr>
          <p:cNvPr id="52" name="Content Placeholder 51">
            <a:extLst>
              <a:ext uri="{FF2B5EF4-FFF2-40B4-BE49-F238E27FC236}">
                <a16:creationId xmlns:a16="http://schemas.microsoft.com/office/drawing/2014/main" id="{FB8B0D39-5CC1-481B-B17A-2563D54CD5F3}"/>
              </a:ext>
            </a:extLst>
          </p:cNvPr>
          <p:cNvSpPr>
            <a:spLocks noGrp="1"/>
          </p:cNvSpPr>
          <p:nvPr>
            <p:ph sz="quarter" idx="16"/>
          </p:nvPr>
        </p:nvSpPr>
        <p:spPr>
          <a:xfrm>
            <a:off x="4212926" y="4266525"/>
            <a:ext cx="1504951"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more effort</a:t>
            </a:r>
            <a:endParaRPr lang="en-US" sz="2400" dirty="0">
              <a:latin typeface="Arial" panose="020B0604020202020204" pitchFamily="34" charset="0"/>
              <a:cs typeface="Arial" panose="020B0604020202020204" pitchFamily="34" charset="0"/>
            </a:endParaRPr>
          </a:p>
        </p:txBody>
      </p:sp>
      <p:graphicFrame>
        <p:nvGraphicFramePr>
          <p:cNvPr id="70" name="Object 69" descr="An arrow pointing toward right side.">
            <a:extLst>
              <a:ext uri="{FF2B5EF4-FFF2-40B4-BE49-F238E27FC236}">
                <a16:creationId xmlns:a16="http://schemas.microsoft.com/office/drawing/2014/main" id="{EDE322B9-3F5A-4441-827F-7F12DD806CA4}"/>
              </a:ext>
            </a:extLst>
          </p:cNvPr>
          <p:cNvGraphicFramePr>
            <a:graphicFrameLocks noChangeAspect="1"/>
          </p:cNvGraphicFramePr>
          <p:nvPr>
            <p:extLst>
              <p:ext uri="{D42A27DB-BD31-4B8C-83A1-F6EECF244321}">
                <p14:modId xmlns:p14="http://schemas.microsoft.com/office/powerpoint/2010/main" val="2317259669"/>
              </p:ext>
            </p:extLst>
          </p:nvPr>
        </p:nvGraphicFramePr>
        <p:xfrm>
          <a:off x="5760953" y="4372408"/>
          <a:ext cx="384343" cy="307646"/>
        </p:xfrm>
        <a:graphic>
          <a:graphicData uri="http://schemas.openxmlformats.org/presentationml/2006/ole">
            <mc:AlternateContent xmlns:mc="http://schemas.openxmlformats.org/markup-compatibility/2006">
              <mc:Choice xmlns:v="urn:schemas-microsoft-com:vml" Requires="v">
                <p:oleObj spid="_x0000_s1119" name="Equation" r:id="rId3" imgW="190440" imgH="139680" progId="Equation.DSMT4">
                  <p:embed/>
                </p:oleObj>
              </mc:Choice>
              <mc:Fallback>
                <p:oleObj name="Equation" r:id="rId3" imgW="19044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4"/>
                      <a:stretch>
                        <a:fillRect/>
                      </a:stretch>
                    </p:blipFill>
                    <p:spPr>
                      <a:xfrm>
                        <a:off x="5760953" y="4372408"/>
                        <a:ext cx="384343" cy="307646"/>
                      </a:xfrm>
                      <a:prstGeom prst="rect">
                        <a:avLst/>
                      </a:prstGeom>
                    </p:spPr>
                  </p:pic>
                </p:oleObj>
              </mc:Fallback>
            </mc:AlternateContent>
          </a:graphicData>
        </a:graphic>
      </p:graphicFrame>
      <p:sp>
        <p:nvSpPr>
          <p:cNvPr id="53" name="Content Placeholder 52">
            <a:extLst>
              <a:ext uri="{FF2B5EF4-FFF2-40B4-BE49-F238E27FC236}">
                <a16:creationId xmlns:a16="http://schemas.microsoft.com/office/drawing/2014/main" id="{2C81C8A2-ED67-4477-A72D-02A1DDBFE48C}"/>
              </a:ext>
            </a:extLst>
          </p:cNvPr>
          <p:cNvSpPr>
            <a:spLocks noGrp="1"/>
          </p:cNvSpPr>
          <p:nvPr>
            <p:ph sz="quarter" idx="17"/>
          </p:nvPr>
        </p:nvSpPr>
        <p:spPr>
          <a:xfrm>
            <a:off x="6205538" y="4265163"/>
            <a:ext cx="2506662"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great performance</a:t>
            </a:r>
            <a:endParaRPr lang="en-US" sz="2400" dirty="0">
              <a:latin typeface="Arial" panose="020B0604020202020204" pitchFamily="34" charset="0"/>
              <a:cs typeface="Arial" panose="020B0604020202020204" pitchFamily="34" charset="0"/>
            </a:endParaRPr>
          </a:p>
        </p:txBody>
      </p:sp>
      <p:sp>
        <p:nvSpPr>
          <p:cNvPr id="47" name="Content Placeholder 46">
            <a:extLst>
              <a:ext uri="{FF2B5EF4-FFF2-40B4-BE49-F238E27FC236}">
                <a16:creationId xmlns:a16="http://schemas.microsoft.com/office/drawing/2014/main" id="{ACD0B698-79A2-4D4A-9A6A-C0125F0F3969}"/>
              </a:ext>
            </a:extLst>
          </p:cNvPr>
          <p:cNvSpPr>
            <a:spLocks noGrp="1"/>
          </p:cNvSpPr>
          <p:nvPr>
            <p:ph sz="quarter" idx="18"/>
          </p:nvPr>
        </p:nvSpPr>
        <p:spPr>
          <a:xfrm>
            <a:off x="441325" y="4714591"/>
            <a:ext cx="3117257" cy="405683"/>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low confidence</a:t>
            </a:r>
            <a:endParaRPr lang="en-US" sz="2400" dirty="0">
              <a:latin typeface="Arial" panose="020B0604020202020204" pitchFamily="34" charset="0"/>
              <a:cs typeface="Arial" panose="020B0604020202020204" pitchFamily="34" charset="0"/>
            </a:endParaRPr>
          </a:p>
        </p:txBody>
      </p:sp>
      <p:graphicFrame>
        <p:nvGraphicFramePr>
          <p:cNvPr id="71" name="Object 70" descr="An arrow pointing toward right side.">
            <a:extLst>
              <a:ext uri="{FF2B5EF4-FFF2-40B4-BE49-F238E27FC236}">
                <a16:creationId xmlns:a16="http://schemas.microsoft.com/office/drawing/2014/main" id="{00CBC4CE-4724-4F7D-9174-594AF1DB3E33}"/>
              </a:ext>
            </a:extLst>
          </p:cNvPr>
          <p:cNvGraphicFramePr>
            <a:graphicFrameLocks noChangeAspect="1"/>
          </p:cNvGraphicFramePr>
          <p:nvPr>
            <p:extLst>
              <p:ext uri="{D42A27DB-BD31-4B8C-83A1-F6EECF244321}">
                <p14:modId xmlns:p14="http://schemas.microsoft.com/office/powerpoint/2010/main" val="3902089622"/>
              </p:ext>
            </p:extLst>
          </p:nvPr>
        </p:nvGraphicFramePr>
        <p:xfrm>
          <a:off x="3627140" y="4813404"/>
          <a:ext cx="384343" cy="307646"/>
        </p:xfrm>
        <a:graphic>
          <a:graphicData uri="http://schemas.openxmlformats.org/presentationml/2006/ole">
            <mc:AlternateContent xmlns:mc="http://schemas.openxmlformats.org/markup-compatibility/2006">
              <mc:Choice xmlns:v="urn:schemas-microsoft-com:vml" Requires="v">
                <p:oleObj spid="_x0000_s1120" name="Equation" r:id="rId3" imgW="190440" imgH="139680" progId="Equation.DSMT4">
                  <p:embed/>
                </p:oleObj>
              </mc:Choice>
              <mc:Fallback>
                <p:oleObj name="Equation" r:id="rId3" imgW="190440" imgH="139680" progId="Equation.DSMT4">
                  <p:embed/>
                  <p:pic>
                    <p:nvPicPr>
                      <p:cNvPr id="70" name="Object 69" descr="An arrow pointing toward right side.">
                        <a:extLst>
                          <a:ext uri="{FF2B5EF4-FFF2-40B4-BE49-F238E27FC236}">
                            <a16:creationId xmlns:a16="http://schemas.microsoft.com/office/drawing/2014/main" id="{EDE322B9-3F5A-4441-827F-7F12DD806CA4}"/>
                          </a:ext>
                        </a:extLst>
                      </p:cNvPr>
                      <p:cNvPicPr/>
                      <p:nvPr/>
                    </p:nvPicPr>
                    <p:blipFill>
                      <a:blip r:embed="rId4"/>
                      <a:stretch>
                        <a:fillRect/>
                      </a:stretch>
                    </p:blipFill>
                    <p:spPr>
                      <a:xfrm>
                        <a:off x="3627140" y="4813404"/>
                        <a:ext cx="384343" cy="307646"/>
                      </a:xfrm>
                      <a:prstGeom prst="rect">
                        <a:avLst/>
                      </a:prstGeom>
                    </p:spPr>
                  </p:pic>
                </p:oleObj>
              </mc:Fallback>
            </mc:AlternateContent>
          </a:graphicData>
        </a:graphic>
      </p:graphicFrame>
      <p:sp>
        <p:nvSpPr>
          <p:cNvPr id="44" name="Content Placeholder 43">
            <a:extLst>
              <a:ext uri="{FF2B5EF4-FFF2-40B4-BE49-F238E27FC236}">
                <a16:creationId xmlns:a16="http://schemas.microsoft.com/office/drawing/2014/main" id="{E3CE12FC-4FBC-4E8E-A579-66F3EE24772C}"/>
              </a:ext>
            </a:extLst>
          </p:cNvPr>
          <p:cNvSpPr>
            <a:spLocks noGrp="1"/>
          </p:cNvSpPr>
          <p:nvPr>
            <p:ph sz="quarter" idx="19"/>
          </p:nvPr>
        </p:nvSpPr>
        <p:spPr>
          <a:xfrm>
            <a:off x="4104849" y="4715953"/>
            <a:ext cx="1340108"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less effort</a:t>
            </a:r>
            <a:endParaRPr lang="en-US" sz="2400" dirty="0">
              <a:latin typeface="Arial" panose="020B0604020202020204" pitchFamily="34" charset="0"/>
              <a:cs typeface="Arial" panose="020B0604020202020204" pitchFamily="34" charset="0"/>
            </a:endParaRPr>
          </a:p>
        </p:txBody>
      </p:sp>
      <p:graphicFrame>
        <p:nvGraphicFramePr>
          <p:cNvPr id="72" name="Object 71" descr="An arrow pointing toward right side.">
            <a:extLst>
              <a:ext uri="{FF2B5EF4-FFF2-40B4-BE49-F238E27FC236}">
                <a16:creationId xmlns:a16="http://schemas.microsoft.com/office/drawing/2014/main" id="{04E11263-BFFB-44FA-A49A-BB1C1E69921F}"/>
              </a:ext>
            </a:extLst>
          </p:cNvPr>
          <p:cNvGraphicFramePr>
            <a:graphicFrameLocks noChangeAspect="1"/>
          </p:cNvGraphicFramePr>
          <p:nvPr>
            <p:extLst>
              <p:ext uri="{D42A27DB-BD31-4B8C-83A1-F6EECF244321}">
                <p14:modId xmlns:p14="http://schemas.microsoft.com/office/powerpoint/2010/main" val="1253210796"/>
              </p:ext>
            </p:extLst>
          </p:nvPr>
        </p:nvGraphicFramePr>
        <p:xfrm>
          <a:off x="5502107" y="4812311"/>
          <a:ext cx="384343" cy="307646"/>
        </p:xfrm>
        <a:graphic>
          <a:graphicData uri="http://schemas.openxmlformats.org/presentationml/2006/ole">
            <mc:AlternateContent xmlns:mc="http://schemas.openxmlformats.org/markup-compatibility/2006">
              <mc:Choice xmlns:v="urn:schemas-microsoft-com:vml" Requires="v">
                <p:oleObj spid="_x0000_s1121" name="Equation" r:id="rId3" imgW="190440" imgH="139680" progId="Equation.DSMT4">
                  <p:embed/>
                </p:oleObj>
              </mc:Choice>
              <mc:Fallback>
                <p:oleObj name="Equation" r:id="rId3" imgW="190440" imgH="139680" progId="Equation.DSMT4">
                  <p:embed/>
                  <p:pic>
                    <p:nvPicPr>
                      <p:cNvPr id="70" name="Object 69" descr="An arrow pointing toward right side.">
                        <a:extLst>
                          <a:ext uri="{FF2B5EF4-FFF2-40B4-BE49-F238E27FC236}">
                            <a16:creationId xmlns:a16="http://schemas.microsoft.com/office/drawing/2014/main" id="{EDE322B9-3F5A-4441-827F-7F12DD806CA4}"/>
                          </a:ext>
                        </a:extLst>
                      </p:cNvPr>
                      <p:cNvPicPr/>
                      <p:nvPr/>
                    </p:nvPicPr>
                    <p:blipFill>
                      <a:blip r:embed="rId4"/>
                      <a:stretch>
                        <a:fillRect/>
                      </a:stretch>
                    </p:blipFill>
                    <p:spPr>
                      <a:xfrm>
                        <a:off x="5502107" y="4812311"/>
                        <a:ext cx="384343" cy="307646"/>
                      </a:xfrm>
                      <a:prstGeom prst="rect">
                        <a:avLst/>
                      </a:prstGeom>
                    </p:spPr>
                  </p:pic>
                </p:oleObj>
              </mc:Fallback>
            </mc:AlternateContent>
          </a:graphicData>
        </a:graphic>
      </p:graphicFrame>
      <p:sp>
        <p:nvSpPr>
          <p:cNvPr id="43" name="Content Placeholder 42">
            <a:extLst>
              <a:ext uri="{FF2B5EF4-FFF2-40B4-BE49-F238E27FC236}">
                <a16:creationId xmlns:a16="http://schemas.microsoft.com/office/drawing/2014/main" id="{1974237A-7385-478A-8F21-E25098EF686F}"/>
              </a:ext>
            </a:extLst>
          </p:cNvPr>
          <p:cNvSpPr>
            <a:spLocks noGrp="1"/>
          </p:cNvSpPr>
          <p:nvPr>
            <p:ph sz="quarter" idx="20"/>
          </p:nvPr>
        </p:nvSpPr>
        <p:spPr>
          <a:xfrm>
            <a:off x="5972174" y="4717026"/>
            <a:ext cx="2441956"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okay performance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5289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951"/>
            <a:ext cx="8229600" cy="1606012"/>
          </a:xfrm>
        </p:spPr>
        <p:txBody>
          <a:bodyPr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(6 of 7)</a:t>
            </a:r>
            <a:endParaRPr lang="en-US" altLang="en-US" sz="2600" kern="1200" dirty="0">
              <a:ea typeface="+mj-ea"/>
              <a:cs typeface="Times New Roman" panose="02020603050405020304" pitchFamily="18" charset="0"/>
            </a:endParaRPr>
          </a:p>
        </p:txBody>
      </p:sp>
      <p:sp>
        <p:nvSpPr>
          <p:cNvPr id="3" name="Text Placeholder 2"/>
          <p:cNvSpPr>
            <a:spLocks noGrp="1"/>
          </p:cNvSpPr>
          <p:nvPr>
            <p:ph type="body" idx="1"/>
          </p:nvPr>
        </p:nvSpPr>
        <p:spPr>
          <a:xfrm>
            <a:off x="438150" y="2539141"/>
            <a:ext cx="8274050" cy="775015"/>
          </a:xfrm>
        </p:spPr>
        <p:txBody>
          <a:bodyPr wrap="square" lIns="0" tIns="18000" rIns="0" bIns="18000">
            <a:spAutoFit/>
          </a:bodyPr>
          <a:lstStyle/>
          <a:p>
            <a:pPr marL="255651" lvl="0" indent="-255651">
              <a:spcAft>
                <a:spcPct val="0"/>
              </a:spcAft>
              <a:tabLst/>
            </a:pPr>
            <a:r>
              <a:rPr lang="en-US" altLang="en-US" sz="2400" kern="1200" dirty="0">
                <a:solidFill>
                  <a:srgbClr val="000000"/>
                </a:solidFill>
                <a:latin typeface="Arial" panose="020B0604020202020204" pitchFamily="34" charset="0"/>
                <a:ea typeface="+mn-ea"/>
                <a:cs typeface="Arial" panose="020B0604020202020204" pitchFamily="34" charset="0"/>
              </a:rPr>
              <a:t>Moderating variables influence the nature &amp; strength of relationship between I</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 and D</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p>
        </p:txBody>
      </p:sp>
    </p:spTree>
    <p:extLst>
      <p:ext uri="{BB962C8B-B14F-4D97-AF65-F5344CB8AC3E}">
        <p14:creationId xmlns:p14="http://schemas.microsoft.com/office/powerpoint/2010/main" val="345407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4000"/>
            <a:ext cx="8229600" cy="1606012"/>
          </a:xfrm>
        </p:spPr>
        <p:txBody>
          <a:bodyPr wrap="square" lIns="0" tIns="18000" rIns="0" bIns="18000" anchor="t">
            <a:spAutoFit/>
          </a:bodyPr>
          <a:lstStyle/>
          <a:p>
            <a:pPr lvl="0">
              <a:spcBef>
                <a:spcPct val="0"/>
              </a:spcBef>
              <a:buClrTx/>
            </a:pPr>
            <a:r>
              <a:rPr lang="en-US" kern="1200" dirty="0">
                <a:ea typeface="+mj-ea"/>
                <a:cs typeface="Times New Roman" panose="02020603050405020304" pitchFamily="18" charset="0"/>
              </a:rPr>
              <a:t>Identifying the General Concepts and Possibly Also Specific Variables That are the Focus of the Investigation </a:t>
            </a:r>
            <a:r>
              <a:rPr lang="en-US" sz="2600" kern="1200" dirty="0">
                <a:ea typeface="+mj-ea"/>
                <a:cs typeface="Times New Roman" panose="02020603050405020304" pitchFamily="18" charset="0"/>
              </a:rPr>
              <a:t>(7 of 7)</a:t>
            </a:r>
            <a:endParaRPr lang="en-US" altLang="en-US" sz="2600" kern="1200" dirty="0">
              <a:ea typeface="+mj-ea"/>
              <a:cs typeface="Times New Roman" panose="02020603050405020304" pitchFamily="18" charset="0"/>
            </a:endParaRPr>
          </a:p>
        </p:txBody>
      </p:sp>
      <p:sp>
        <p:nvSpPr>
          <p:cNvPr id="6" name="Content Placeholder 5">
            <a:extLst>
              <a:ext uri="{FF2B5EF4-FFF2-40B4-BE49-F238E27FC236}">
                <a16:creationId xmlns:a16="http://schemas.microsoft.com/office/drawing/2014/main" id="{1C7A28A4-2A47-4B5C-B7B9-9C624B47494A}"/>
              </a:ext>
            </a:extLst>
          </p:cNvPr>
          <p:cNvSpPr>
            <a:spLocks noGrp="1"/>
          </p:cNvSpPr>
          <p:nvPr>
            <p:ph sz="quarter" idx="10"/>
          </p:nvPr>
        </p:nvSpPr>
        <p:spPr>
          <a:xfrm>
            <a:off x="438151" y="2112580"/>
            <a:ext cx="8274049" cy="405683"/>
          </a:xfrm>
        </p:spPr>
        <p:txBody>
          <a:bodyPr wrap="square" lIns="0" tIns="18000" rIns="0" bIns="18000">
            <a:spAutoFit/>
          </a:bodyPr>
          <a:lstStyle/>
          <a:p>
            <a:r>
              <a:rPr lang="en-US" altLang="en-US" sz="2400" kern="1200" dirty="0">
                <a:solidFill>
                  <a:srgbClr val="000000"/>
                </a:solidFill>
                <a:latin typeface="Arial" panose="020B0604020202020204" pitchFamily="34" charset="0"/>
                <a:ea typeface="+mn-ea"/>
                <a:cs typeface="Arial" panose="020B0604020202020204" pitchFamily="34" charset="0"/>
              </a:rPr>
              <a:t>For example:</a:t>
            </a:r>
          </a:p>
        </p:txBody>
      </p:sp>
      <p:sp>
        <p:nvSpPr>
          <p:cNvPr id="7" name="Content Placeholder 6">
            <a:extLst>
              <a:ext uri="{FF2B5EF4-FFF2-40B4-BE49-F238E27FC236}">
                <a16:creationId xmlns:a16="http://schemas.microsoft.com/office/drawing/2014/main" id="{C1FD60E5-C30D-4DE6-8751-986692ADD39E}"/>
              </a:ext>
            </a:extLst>
          </p:cNvPr>
          <p:cNvSpPr>
            <a:spLocks noGrp="1"/>
          </p:cNvSpPr>
          <p:nvPr>
            <p:ph sz="quarter" idx="11"/>
          </p:nvPr>
        </p:nvSpPr>
        <p:spPr>
          <a:xfrm>
            <a:off x="438149" y="2564288"/>
            <a:ext cx="4914901" cy="405683"/>
          </a:xfrm>
        </p:spPr>
        <p:txBody>
          <a:bodyPr wrap="square" lIns="0" tIns="18000" rIns="0" bIns="18000">
            <a:spAutoFit/>
          </a:bodyPr>
          <a:lstStyle/>
          <a:p>
            <a:pPr lvl="1"/>
            <a:r>
              <a:rPr lang="en-US" altLang="en-US" sz="2400" kern="1200" dirty="0">
                <a:solidFill>
                  <a:srgbClr val="000000"/>
                </a:solidFill>
                <a:latin typeface="Arial" panose="020B0604020202020204" pitchFamily="34" charset="0"/>
                <a:ea typeface="+mn-ea"/>
                <a:cs typeface="Arial" panose="020B0604020202020204" pitchFamily="34" charset="0"/>
              </a:rPr>
              <a:t>family income during childhood</a:t>
            </a:r>
          </a:p>
        </p:txBody>
      </p:sp>
      <p:graphicFrame>
        <p:nvGraphicFramePr>
          <p:cNvPr id="21" name="Object 20" descr="An arrow pointing toward right side.">
            <a:extLst>
              <a:ext uri="{FF2B5EF4-FFF2-40B4-BE49-F238E27FC236}">
                <a16:creationId xmlns:a16="http://schemas.microsoft.com/office/drawing/2014/main" id="{387B9F20-ED04-4ABD-9713-32A312BFF645}"/>
              </a:ext>
            </a:extLst>
          </p:cNvPr>
          <p:cNvGraphicFramePr>
            <a:graphicFrameLocks noChangeAspect="1"/>
          </p:cNvGraphicFramePr>
          <p:nvPr>
            <p:extLst>
              <p:ext uri="{D42A27DB-BD31-4B8C-83A1-F6EECF244321}">
                <p14:modId xmlns:p14="http://schemas.microsoft.com/office/powerpoint/2010/main" val="2775007704"/>
              </p:ext>
            </p:extLst>
          </p:nvPr>
        </p:nvGraphicFramePr>
        <p:xfrm>
          <a:off x="5421146" y="2643550"/>
          <a:ext cx="384343" cy="307646"/>
        </p:xfrm>
        <a:graphic>
          <a:graphicData uri="http://schemas.openxmlformats.org/presentationml/2006/ole">
            <mc:AlternateContent xmlns:mc="http://schemas.openxmlformats.org/markup-compatibility/2006">
              <mc:Choice xmlns:v="urn:schemas-microsoft-com:vml" Requires="v">
                <p:oleObj spid="_x0000_s2155" name="Equation" r:id="rId3" imgW="190440" imgH="139680" progId="Equation.DSMT4">
                  <p:embed/>
                </p:oleObj>
              </mc:Choice>
              <mc:Fallback>
                <p:oleObj name="Equation" r:id="rId3" imgW="19044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4"/>
                      <a:stretch>
                        <a:fillRect/>
                      </a:stretch>
                    </p:blipFill>
                    <p:spPr>
                      <a:xfrm>
                        <a:off x="5421146" y="2643550"/>
                        <a:ext cx="384343" cy="307646"/>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B26300FF-8057-4E7B-AAE8-D72254767E49}"/>
              </a:ext>
            </a:extLst>
          </p:cNvPr>
          <p:cNvSpPr>
            <a:spLocks noGrp="1"/>
          </p:cNvSpPr>
          <p:nvPr>
            <p:ph sz="quarter" idx="12"/>
          </p:nvPr>
        </p:nvSpPr>
        <p:spPr>
          <a:xfrm>
            <a:off x="5893242" y="2564288"/>
            <a:ext cx="2798880" cy="405683"/>
          </a:xfrm>
        </p:spPr>
        <p:txBody>
          <a:bodyPr wrap="square" lIns="0" tIns="18000" rIns="0" bIns="18000">
            <a:spAutoFit/>
          </a:bodyPr>
          <a:lstStyle/>
          <a:p>
            <a:pPr marL="0" lvl="1"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problems later in life</a:t>
            </a:r>
            <a:endParaRPr lang="en-US" sz="2400"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C07B3166-3C16-406B-AE82-FED46B897849}"/>
              </a:ext>
            </a:extLst>
          </p:cNvPr>
          <p:cNvSpPr>
            <a:spLocks noGrp="1"/>
          </p:cNvSpPr>
          <p:nvPr>
            <p:ph sz="quarter" idx="13"/>
          </p:nvPr>
        </p:nvSpPr>
        <p:spPr>
          <a:xfrm>
            <a:off x="436322" y="3006280"/>
            <a:ext cx="2634353" cy="405683"/>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low income</a:t>
            </a:r>
          </a:p>
        </p:txBody>
      </p:sp>
      <p:graphicFrame>
        <p:nvGraphicFramePr>
          <p:cNvPr id="23" name="Object 22" descr="plus">
            <a:extLst>
              <a:ext uri="{FF2B5EF4-FFF2-40B4-BE49-F238E27FC236}">
                <a16:creationId xmlns:a16="http://schemas.microsoft.com/office/drawing/2014/main" id="{4D3DE9A4-614F-4FFD-9A3B-8B485280582A}"/>
              </a:ext>
            </a:extLst>
          </p:cNvPr>
          <p:cNvGraphicFramePr>
            <a:graphicFrameLocks noChangeAspect="1"/>
          </p:cNvGraphicFramePr>
          <p:nvPr>
            <p:extLst>
              <p:ext uri="{D42A27DB-BD31-4B8C-83A1-F6EECF244321}">
                <p14:modId xmlns:p14="http://schemas.microsoft.com/office/powerpoint/2010/main" val="2006061999"/>
              </p:ext>
            </p:extLst>
          </p:nvPr>
        </p:nvGraphicFramePr>
        <p:xfrm>
          <a:off x="3167953" y="3045041"/>
          <a:ext cx="280987" cy="307975"/>
        </p:xfrm>
        <a:graphic>
          <a:graphicData uri="http://schemas.openxmlformats.org/presentationml/2006/ole">
            <mc:AlternateContent xmlns:mc="http://schemas.openxmlformats.org/markup-compatibility/2006">
              <mc:Choice xmlns:v="urn:schemas-microsoft-com:vml" Requires="v">
                <p:oleObj spid="_x0000_s2156" name="Equation" r:id="rId5" imgW="139680" imgH="139680" progId="Equation.DSMT4">
                  <p:embed/>
                </p:oleObj>
              </mc:Choice>
              <mc:Fallback>
                <p:oleObj name="Equation" r:id="rId5" imgW="13968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6"/>
                      <a:stretch>
                        <a:fillRect/>
                      </a:stretch>
                    </p:blipFill>
                    <p:spPr>
                      <a:xfrm>
                        <a:off x="3167953" y="3045041"/>
                        <a:ext cx="280987" cy="30797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83A263FB-8A90-4693-96E9-1534E7C0264A}"/>
              </a:ext>
            </a:extLst>
          </p:cNvPr>
          <p:cNvSpPr>
            <a:spLocks noGrp="1"/>
          </p:cNvSpPr>
          <p:nvPr>
            <p:ph sz="quarter" idx="14"/>
          </p:nvPr>
        </p:nvSpPr>
        <p:spPr>
          <a:xfrm>
            <a:off x="3556478" y="3004829"/>
            <a:ext cx="2947279"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high maternal warmth</a:t>
            </a:r>
            <a:endParaRPr lang="en-US" sz="2400" dirty="0">
              <a:latin typeface="Arial" panose="020B0604020202020204" pitchFamily="34" charset="0"/>
              <a:cs typeface="Arial" panose="020B0604020202020204" pitchFamily="34" charset="0"/>
            </a:endParaRPr>
          </a:p>
        </p:txBody>
      </p:sp>
      <p:graphicFrame>
        <p:nvGraphicFramePr>
          <p:cNvPr id="22" name="Object 21" descr="An arrow pointing toward right side.">
            <a:extLst>
              <a:ext uri="{FF2B5EF4-FFF2-40B4-BE49-F238E27FC236}">
                <a16:creationId xmlns:a16="http://schemas.microsoft.com/office/drawing/2014/main" id="{B8F6EB46-821B-4BC1-A293-8A1697F517B3}"/>
              </a:ext>
            </a:extLst>
          </p:cNvPr>
          <p:cNvGraphicFramePr>
            <a:graphicFrameLocks noChangeAspect="1"/>
          </p:cNvGraphicFramePr>
          <p:nvPr>
            <p:extLst>
              <p:ext uri="{D42A27DB-BD31-4B8C-83A1-F6EECF244321}">
                <p14:modId xmlns:p14="http://schemas.microsoft.com/office/powerpoint/2010/main" val="2995525398"/>
              </p:ext>
            </p:extLst>
          </p:nvPr>
        </p:nvGraphicFramePr>
        <p:xfrm>
          <a:off x="6591309" y="3106148"/>
          <a:ext cx="384343" cy="307646"/>
        </p:xfrm>
        <a:graphic>
          <a:graphicData uri="http://schemas.openxmlformats.org/presentationml/2006/ole">
            <mc:AlternateContent xmlns:mc="http://schemas.openxmlformats.org/markup-compatibility/2006">
              <mc:Choice xmlns:v="urn:schemas-microsoft-com:vml" Requires="v">
                <p:oleObj spid="_x0000_s2157" name="Equation" r:id="rId3" imgW="190440" imgH="139680" progId="Equation.DSMT4">
                  <p:embed/>
                </p:oleObj>
              </mc:Choice>
              <mc:Fallback>
                <p:oleObj name="Equation" r:id="rId3" imgW="190440" imgH="139680" progId="Equation.DSMT4">
                  <p:embed/>
                  <p:pic>
                    <p:nvPicPr>
                      <p:cNvPr id="67" name="Object 66" descr="An arrow pointing toward right side.">
                        <a:extLst>
                          <a:ext uri="{FF2B5EF4-FFF2-40B4-BE49-F238E27FC236}">
                            <a16:creationId xmlns:a16="http://schemas.microsoft.com/office/drawing/2014/main" id="{FD66A6B6-A57A-4C0E-8C81-D4190F7C4285}"/>
                          </a:ext>
                        </a:extLst>
                      </p:cNvPr>
                      <p:cNvPicPr/>
                      <p:nvPr/>
                    </p:nvPicPr>
                    <p:blipFill>
                      <a:blip r:embed="rId4"/>
                      <a:stretch>
                        <a:fillRect/>
                      </a:stretch>
                    </p:blipFill>
                    <p:spPr>
                      <a:xfrm>
                        <a:off x="6591309" y="3106148"/>
                        <a:ext cx="384343" cy="307646"/>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D31BEBCA-B22E-44F3-A4BE-DC9EBAB963BA}"/>
              </a:ext>
            </a:extLst>
          </p:cNvPr>
          <p:cNvSpPr>
            <a:spLocks noGrp="1"/>
          </p:cNvSpPr>
          <p:nvPr>
            <p:ph sz="quarter" idx="15"/>
          </p:nvPr>
        </p:nvSpPr>
        <p:spPr>
          <a:xfrm>
            <a:off x="7073462" y="3004024"/>
            <a:ext cx="788646"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fewer</a:t>
            </a:r>
            <a:endParaRPr lang="en-US" sz="2400" dirty="0">
              <a:latin typeface="Arial" panose="020B0604020202020204" pitchFamily="34" charset="0"/>
              <a:cs typeface="Arial" panose="020B0604020202020204" pitchFamily="34" charset="0"/>
            </a:endParaRPr>
          </a:p>
        </p:txBody>
      </p:sp>
      <p:sp>
        <p:nvSpPr>
          <p:cNvPr id="12" name="Content Placeholder 11">
            <a:extLst>
              <a:ext uri="{FF2B5EF4-FFF2-40B4-BE49-F238E27FC236}">
                <a16:creationId xmlns:a16="http://schemas.microsoft.com/office/drawing/2014/main" id="{1C58FB29-EC9A-4017-8BF2-633C787D5DF7}"/>
              </a:ext>
            </a:extLst>
          </p:cNvPr>
          <p:cNvSpPr>
            <a:spLocks noGrp="1"/>
          </p:cNvSpPr>
          <p:nvPr>
            <p:ph sz="quarter" idx="16"/>
          </p:nvPr>
        </p:nvSpPr>
        <p:spPr>
          <a:xfrm>
            <a:off x="1513133" y="3447957"/>
            <a:ext cx="1333500"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problems</a:t>
            </a:r>
            <a:endParaRPr lang="en-US" sz="2400" dirty="0">
              <a:latin typeface="Arial" panose="020B0604020202020204" pitchFamily="34" charset="0"/>
              <a:cs typeface="Arial" panose="020B0604020202020204" pitchFamily="34" charset="0"/>
            </a:endParaRPr>
          </a:p>
        </p:txBody>
      </p:sp>
      <p:sp>
        <p:nvSpPr>
          <p:cNvPr id="13" name="Content Placeholder 12">
            <a:extLst>
              <a:ext uri="{FF2B5EF4-FFF2-40B4-BE49-F238E27FC236}">
                <a16:creationId xmlns:a16="http://schemas.microsoft.com/office/drawing/2014/main" id="{5F1416B3-6F8A-46AF-B394-76EF756CCC9D}"/>
              </a:ext>
            </a:extLst>
          </p:cNvPr>
          <p:cNvSpPr>
            <a:spLocks noGrp="1"/>
          </p:cNvSpPr>
          <p:nvPr>
            <p:ph sz="quarter" idx="17"/>
          </p:nvPr>
        </p:nvSpPr>
        <p:spPr>
          <a:xfrm>
            <a:off x="439947" y="3891215"/>
            <a:ext cx="2621000" cy="405683"/>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low income</a:t>
            </a:r>
          </a:p>
        </p:txBody>
      </p:sp>
      <p:graphicFrame>
        <p:nvGraphicFramePr>
          <p:cNvPr id="26" name="Object 25" descr="plus">
            <a:extLst>
              <a:ext uri="{FF2B5EF4-FFF2-40B4-BE49-F238E27FC236}">
                <a16:creationId xmlns:a16="http://schemas.microsoft.com/office/drawing/2014/main" id="{614B38C8-220D-4DAC-A299-B2F91ACE4C49}"/>
              </a:ext>
            </a:extLst>
          </p:cNvPr>
          <p:cNvGraphicFramePr>
            <a:graphicFrameLocks noChangeAspect="1"/>
          </p:cNvGraphicFramePr>
          <p:nvPr>
            <p:extLst>
              <p:ext uri="{D42A27DB-BD31-4B8C-83A1-F6EECF244321}">
                <p14:modId xmlns:p14="http://schemas.microsoft.com/office/powerpoint/2010/main" val="1969703360"/>
              </p:ext>
            </p:extLst>
          </p:nvPr>
        </p:nvGraphicFramePr>
        <p:xfrm>
          <a:off x="3109586" y="3936786"/>
          <a:ext cx="280987" cy="307975"/>
        </p:xfrm>
        <a:graphic>
          <a:graphicData uri="http://schemas.openxmlformats.org/presentationml/2006/ole">
            <mc:AlternateContent xmlns:mc="http://schemas.openxmlformats.org/markup-compatibility/2006">
              <mc:Choice xmlns:v="urn:schemas-microsoft-com:vml" Requires="v">
                <p:oleObj spid="_x0000_s2158" name="Equation" r:id="rId7" imgW="139680" imgH="139680" progId="Equation.DSMT4">
                  <p:embed/>
                </p:oleObj>
              </mc:Choice>
              <mc:Fallback>
                <p:oleObj name="Equation" r:id="rId7" imgW="139680" imgH="139680" progId="Equation.DSMT4">
                  <p:embed/>
                  <p:pic>
                    <p:nvPicPr>
                      <p:cNvPr id="23" name="Object 22">
                        <a:extLst>
                          <a:ext uri="{FF2B5EF4-FFF2-40B4-BE49-F238E27FC236}">
                            <a16:creationId xmlns:a16="http://schemas.microsoft.com/office/drawing/2014/main" id="{4D3DE9A4-614F-4FFD-9A3B-8B485280582A}"/>
                          </a:ext>
                        </a:extLst>
                      </p:cNvPr>
                      <p:cNvPicPr/>
                      <p:nvPr/>
                    </p:nvPicPr>
                    <p:blipFill>
                      <a:blip r:embed="rId6"/>
                      <a:stretch>
                        <a:fillRect/>
                      </a:stretch>
                    </p:blipFill>
                    <p:spPr>
                      <a:xfrm>
                        <a:off x="3109586" y="3936786"/>
                        <a:ext cx="280987" cy="307975"/>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EDD2553B-9258-4155-A832-3FD7EDF12E78}"/>
              </a:ext>
            </a:extLst>
          </p:cNvPr>
          <p:cNvSpPr>
            <a:spLocks noGrp="1"/>
          </p:cNvSpPr>
          <p:nvPr>
            <p:ph sz="quarter" idx="18"/>
          </p:nvPr>
        </p:nvSpPr>
        <p:spPr>
          <a:xfrm>
            <a:off x="3459200" y="3887933"/>
            <a:ext cx="2831282"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low maternal warmth</a:t>
            </a:r>
            <a:endParaRPr lang="en-US" sz="2400" dirty="0">
              <a:latin typeface="Arial" panose="020B0604020202020204" pitchFamily="34" charset="0"/>
              <a:cs typeface="Arial" panose="020B0604020202020204" pitchFamily="34" charset="0"/>
            </a:endParaRPr>
          </a:p>
        </p:txBody>
      </p:sp>
      <p:graphicFrame>
        <p:nvGraphicFramePr>
          <p:cNvPr id="24" name="Object 23" descr="An arrow pointing toward right side.">
            <a:extLst>
              <a:ext uri="{FF2B5EF4-FFF2-40B4-BE49-F238E27FC236}">
                <a16:creationId xmlns:a16="http://schemas.microsoft.com/office/drawing/2014/main" id="{8B0376D9-A035-4933-BEFD-D34D3A25158E}"/>
              </a:ext>
            </a:extLst>
          </p:cNvPr>
          <p:cNvGraphicFramePr>
            <a:graphicFrameLocks noChangeAspect="1"/>
          </p:cNvGraphicFramePr>
          <p:nvPr>
            <p:extLst>
              <p:ext uri="{D42A27DB-BD31-4B8C-83A1-F6EECF244321}">
                <p14:modId xmlns:p14="http://schemas.microsoft.com/office/powerpoint/2010/main" val="3838064991"/>
              </p:ext>
            </p:extLst>
          </p:nvPr>
        </p:nvGraphicFramePr>
        <p:xfrm>
          <a:off x="6329394" y="4000729"/>
          <a:ext cx="384343" cy="307646"/>
        </p:xfrm>
        <a:graphic>
          <a:graphicData uri="http://schemas.openxmlformats.org/presentationml/2006/ole">
            <mc:AlternateContent xmlns:mc="http://schemas.openxmlformats.org/markup-compatibility/2006">
              <mc:Choice xmlns:v="urn:schemas-microsoft-com:vml" Requires="v">
                <p:oleObj spid="_x0000_s2159" name="Equation" r:id="rId3" imgW="190440" imgH="139680" progId="Equation.DSMT4">
                  <p:embed/>
                </p:oleObj>
              </mc:Choice>
              <mc:Fallback>
                <p:oleObj name="Equation" r:id="rId3" imgW="190440" imgH="139680" progId="Equation.DSMT4">
                  <p:embed/>
                  <p:pic>
                    <p:nvPicPr>
                      <p:cNvPr id="22" name="Object 21" descr="An arrow pointing toward right side.">
                        <a:extLst>
                          <a:ext uri="{FF2B5EF4-FFF2-40B4-BE49-F238E27FC236}">
                            <a16:creationId xmlns:a16="http://schemas.microsoft.com/office/drawing/2014/main" id="{B8F6EB46-821B-4BC1-A293-8A1697F517B3}"/>
                          </a:ext>
                        </a:extLst>
                      </p:cNvPr>
                      <p:cNvPicPr/>
                      <p:nvPr/>
                    </p:nvPicPr>
                    <p:blipFill>
                      <a:blip r:embed="rId4"/>
                      <a:stretch>
                        <a:fillRect/>
                      </a:stretch>
                    </p:blipFill>
                    <p:spPr>
                      <a:xfrm>
                        <a:off x="6329394" y="4000729"/>
                        <a:ext cx="384343" cy="307646"/>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3C7559B7-2B7A-4401-8C69-2F6686BC17D3}"/>
              </a:ext>
            </a:extLst>
          </p:cNvPr>
          <p:cNvSpPr>
            <a:spLocks noGrp="1"/>
          </p:cNvSpPr>
          <p:nvPr>
            <p:ph sz="quarter" idx="19"/>
          </p:nvPr>
        </p:nvSpPr>
        <p:spPr>
          <a:xfrm>
            <a:off x="6781094" y="3889274"/>
            <a:ext cx="734031"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more</a:t>
            </a:r>
            <a:endParaRPr lang="en-US" sz="2400" dirty="0">
              <a:latin typeface="Arial" panose="020B0604020202020204" pitchFamily="34" charset="0"/>
              <a:cs typeface="Arial" panose="020B0604020202020204" pitchFamily="34" charset="0"/>
            </a:endParaRPr>
          </a:p>
        </p:txBody>
      </p:sp>
      <p:sp>
        <p:nvSpPr>
          <p:cNvPr id="16" name="Content Placeholder 15">
            <a:extLst>
              <a:ext uri="{FF2B5EF4-FFF2-40B4-BE49-F238E27FC236}">
                <a16:creationId xmlns:a16="http://schemas.microsoft.com/office/drawing/2014/main" id="{584FB630-31C4-488E-BE5D-B6D79199AB46}"/>
              </a:ext>
            </a:extLst>
          </p:cNvPr>
          <p:cNvSpPr>
            <a:spLocks noGrp="1"/>
          </p:cNvSpPr>
          <p:nvPr>
            <p:ph sz="quarter" idx="20"/>
          </p:nvPr>
        </p:nvSpPr>
        <p:spPr>
          <a:xfrm>
            <a:off x="1522861" y="4349914"/>
            <a:ext cx="1277869"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problems</a:t>
            </a:r>
            <a:endParaRPr lang="en-US" sz="2400" dirty="0">
              <a:latin typeface="Arial" panose="020B0604020202020204" pitchFamily="34" charset="0"/>
              <a:cs typeface="Arial" panose="020B0604020202020204" pitchFamily="34" charset="0"/>
            </a:endParaRPr>
          </a:p>
        </p:txBody>
      </p:sp>
      <p:sp>
        <p:nvSpPr>
          <p:cNvPr id="17" name="Content Placeholder 16">
            <a:extLst>
              <a:ext uri="{FF2B5EF4-FFF2-40B4-BE49-F238E27FC236}">
                <a16:creationId xmlns:a16="http://schemas.microsoft.com/office/drawing/2014/main" id="{250434B8-11EF-4B0B-86F5-83368B0E6C05}"/>
              </a:ext>
            </a:extLst>
          </p:cNvPr>
          <p:cNvSpPr>
            <a:spLocks noGrp="1"/>
          </p:cNvSpPr>
          <p:nvPr>
            <p:ph sz="quarter" idx="21"/>
          </p:nvPr>
        </p:nvSpPr>
        <p:spPr>
          <a:xfrm>
            <a:off x="441528" y="4808738"/>
            <a:ext cx="2745214" cy="405683"/>
          </a:xfrm>
        </p:spPr>
        <p:txBody>
          <a:bodyPr wrap="square" lIns="0" tIns="18000" rIns="0" bIns="18000">
            <a:spAutoFit/>
          </a:bodyPr>
          <a:lstStyle/>
          <a:p>
            <a:pPr lvl="2"/>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high income</a:t>
            </a:r>
            <a:endParaRPr lang="en-US" sz="2400" dirty="0">
              <a:latin typeface="Arial" panose="020B0604020202020204" pitchFamily="34" charset="0"/>
              <a:cs typeface="Arial" panose="020B0604020202020204" pitchFamily="34" charset="0"/>
            </a:endParaRPr>
          </a:p>
        </p:txBody>
      </p:sp>
      <p:graphicFrame>
        <p:nvGraphicFramePr>
          <p:cNvPr id="27" name="Object 26" descr="plus">
            <a:extLst>
              <a:ext uri="{FF2B5EF4-FFF2-40B4-BE49-F238E27FC236}">
                <a16:creationId xmlns:a16="http://schemas.microsoft.com/office/drawing/2014/main" id="{DD28B9BB-E78A-4794-B2B0-6B6632E1BD58}"/>
              </a:ext>
            </a:extLst>
          </p:cNvPr>
          <p:cNvGraphicFramePr>
            <a:graphicFrameLocks noChangeAspect="1"/>
          </p:cNvGraphicFramePr>
          <p:nvPr>
            <p:extLst>
              <p:ext uri="{D42A27DB-BD31-4B8C-83A1-F6EECF244321}">
                <p14:modId xmlns:p14="http://schemas.microsoft.com/office/powerpoint/2010/main" val="1776420109"/>
              </p:ext>
            </p:extLst>
          </p:nvPr>
        </p:nvGraphicFramePr>
        <p:xfrm>
          <a:off x="3235382" y="4860080"/>
          <a:ext cx="280987" cy="307975"/>
        </p:xfrm>
        <a:graphic>
          <a:graphicData uri="http://schemas.openxmlformats.org/presentationml/2006/ole">
            <mc:AlternateContent xmlns:mc="http://schemas.openxmlformats.org/markup-compatibility/2006">
              <mc:Choice xmlns:v="urn:schemas-microsoft-com:vml" Requires="v">
                <p:oleObj spid="_x0000_s2160" name="Equation" r:id="rId8" imgW="139680" imgH="139680" progId="Equation.DSMT4">
                  <p:embed/>
                </p:oleObj>
              </mc:Choice>
              <mc:Fallback>
                <p:oleObj name="Equation" r:id="rId8" imgW="139680" imgH="139680" progId="Equation.DSMT4">
                  <p:embed/>
                  <p:pic>
                    <p:nvPicPr>
                      <p:cNvPr id="23" name="Object 22">
                        <a:extLst>
                          <a:ext uri="{FF2B5EF4-FFF2-40B4-BE49-F238E27FC236}">
                            <a16:creationId xmlns:a16="http://schemas.microsoft.com/office/drawing/2014/main" id="{4D3DE9A4-614F-4FFD-9A3B-8B485280582A}"/>
                          </a:ext>
                        </a:extLst>
                      </p:cNvPr>
                      <p:cNvPicPr/>
                      <p:nvPr/>
                    </p:nvPicPr>
                    <p:blipFill>
                      <a:blip r:embed="rId6"/>
                      <a:stretch>
                        <a:fillRect/>
                      </a:stretch>
                    </p:blipFill>
                    <p:spPr>
                      <a:xfrm>
                        <a:off x="3235382" y="4860080"/>
                        <a:ext cx="280987" cy="307975"/>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C8F6F5A9-5233-4029-AEA6-327A3590AF3C}"/>
              </a:ext>
            </a:extLst>
          </p:cNvPr>
          <p:cNvSpPr>
            <a:spLocks noGrp="1"/>
          </p:cNvSpPr>
          <p:nvPr>
            <p:ph sz="quarter" idx="22"/>
          </p:nvPr>
        </p:nvSpPr>
        <p:spPr>
          <a:xfrm>
            <a:off x="3589510" y="4809948"/>
            <a:ext cx="2826697"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low maternal warmth</a:t>
            </a:r>
            <a:endParaRPr lang="en-US" sz="2400" dirty="0">
              <a:latin typeface="Arial" panose="020B0604020202020204" pitchFamily="34" charset="0"/>
              <a:cs typeface="Arial" panose="020B0604020202020204" pitchFamily="34" charset="0"/>
            </a:endParaRPr>
          </a:p>
        </p:txBody>
      </p:sp>
      <p:graphicFrame>
        <p:nvGraphicFramePr>
          <p:cNvPr id="28" name="Object 27" descr="An arrow pointing toward right side.">
            <a:extLst>
              <a:ext uri="{FF2B5EF4-FFF2-40B4-BE49-F238E27FC236}">
                <a16:creationId xmlns:a16="http://schemas.microsoft.com/office/drawing/2014/main" id="{775EBDBE-287D-4DBA-A052-5DD27FCD6B6C}"/>
              </a:ext>
            </a:extLst>
          </p:cNvPr>
          <p:cNvGraphicFramePr>
            <a:graphicFrameLocks noChangeAspect="1"/>
          </p:cNvGraphicFramePr>
          <p:nvPr>
            <p:extLst>
              <p:ext uri="{D42A27DB-BD31-4B8C-83A1-F6EECF244321}">
                <p14:modId xmlns:p14="http://schemas.microsoft.com/office/powerpoint/2010/main" val="1525456608"/>
              </p:ext>
            </p:extLst>
          </p:nvPr>
        </p:nvGraphicFramePr>
        <p:xfrm>
          <a:off x="6473707" y="4899163"/>
          <a:ext cx="384343" cy="307646"/>
        </p:xfrm>
        <a:graphic>
          <a:graphicData uri="http://schemas.openxmlformats.org/presentationml/2006/ole">
            <mc:AlternateContent xmlns:mc="http://schemas.openxmlformats.org/markup-compatibility/2006">
              <mc:Choice xmlns:v="urn:schemas-microsoft-com:vml" Requires="v">
                <p:oleObj spid="_x0000_s2161" name="Equation" r:id="rId3" imgW="190440" imgH="139680" progId="Equation.DSMT4">
                  <p:embed/>
                </p:oleObj>
              </mc:Choice>
              <mc:Fallback>
                <p:oleObj name="Equation" r:id="rId3" imgW="190440" imgH="139680" progId="Equation.DSMT4">
                  <p:embed/>
                  <p:pic>
                    <p:nvPicPr>
                      <p:cNvPr id="24" name="Object 23" descr="An arrow pointing toward right side.">
                        <a:extLst>
                          <a:ext uri="{FF2B5EF4-FFF2-40B4-BE49-F238E27FC236}">
                            <a16:creationId xmlns:a16="http://schemas.microsoft.com/office/drawing/2014/main" id="{8B0376D9-A035-4933-BEFD-D34D3A25158E}"/>
                          </a:ext>
                        </a:extLst>
                      </p:cNvPr>
                      <p:cNvPicPr/>
                      <p:nvPr/>
                    </p:nvPicPr>
                    <p:blipFill>
                      <a:blip r:embed="rId4"/>
                      <a:stretch>
                        <a:fillRect/>
                      </a:stretch>
                    </p:blipFill>
                    <p:spPr>
                      <a:xfrm>
                        <a:off x="6473707" y="4899163"/>
                        <a:ext cx="384343" cy="307646"/>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586A507F-234C-4C32-8052-77D1A6C0800F}"/>
              </a:ext>
            </a:extLst>
          </p:cNvPr>
          <p:cNvSpPr>
            <a:spLocks noGrp="1"/>
          </p:cNvSpPr>
          <p:nvPr>
            <p:ph sz="quarter" idx="23"/>
          </p:nvPr>
        </p:nvSpPr>
        <p:spPr>
          <a:xfrm>
            <a:off x="6918809" y="4809348"/>
            <a:ext cx="703761" cy="405683"/>
          </a:xfrm>
        </p:spPr>
        <p:txBody>
          <a:bodyPr wrap="square" lIns="0" tIns="18000" rIns="0" bIns="18000">
            <a:spAutoFit/>
          </a:bodyPr>
          <a:lstStyle/>
          <a:p>
            <a:pPr marL="0"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more</a:t>
            </a:r>
            <a:endParaRPr lang="en-US" sz="2400" dirty="0">
              <a:latin typeface="Arial" panose="020B0604020202020204" pitchFamily="34" charset="0"/>
              <a:cs typeface="Arial" panose="020B0604020202020204" pitchFamily="34" charset="0"/>
            </a:endParaRPr>
          </a:p>
        </p:txBody>
      </p:sp>
      <p:sp>
        <p:nvSpPr>
          <p:cNvPr id="20" name="Content Placeholder 19">
            <a:extLst>
              <a:ext uri="{FF2B5EF4-FFF2-40B4-BE49-F238E27FC236}">
                <a16:creationId xmlns:a16="http://schemas.microsoft.com/office/drawing/2014/main" id="{BA392709-D40B-49AA-A29E-6A9B5440BC3B}"/>
              </a:ext>
            </a:extLst>
          </p:cNvPr>
          <p:cNvSpPr>
            <a:spLocks noGrp="1"/>
          </p:cNvSpPr>
          <p:nvPr>
            <p:ph sz="quarter" idx="24"/>
          </p:nvPr>
        </p:nvSpPr>
        <p:spPr>
          <a:xfrm>
            <a:off x="441528" y="5250808"/>
            <a:ext cx="8270672" cy="1221291"/>
          </a:xfrm>
        </p:spPr>
        <p:txBody>
          <a:bodyPr wrap="square" lIns="0" tIns="18000" rIns="0" bIns="18000">
            <a:spAutoFit/>
          </a:bodyPr>
          <a:lstStyle/>
          <a:p>
            <a:pPr marL="1071563" lvl="2" indent="0">
              <a:buNone/>
            </a:pP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problems</a:t>
            </a:r>
          </a:p>
          <a:p>
            <a:pPr marL="719138" lvl="1" indent="-358775"/>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income (</a:t>
            </a:r>
            <a:r>
              <a:rPr lang="en-US" altLang="en-US" sz="2400" kern="1200" dirty="0">
                <a:solidFill>
                  <a:srgbClr val="000000"/>
                </a:solidFill>
                <a:latin typeface="Arial" panose="020B0604020202020204" pitchFamily="34" charset="0"/>
                <a:ea typeface="+mn-ea"/>
                <a:cs typeface="Arial" panose="020B0604020202020204" pitchFamily="34" charset="0"/>
              </a:rPr>
              <a:t>I</a:t>
            </a:r>
            <a:r>
              <a:rPr lang="en-US" altLang="en-US" sz="100" kern="1200" dirty="0">
                <a:solidFill>
                  <a:srgbClr val="000000"/>
                </a:solidFill>
                <a:latin typeface="Arial" panose="020B0604020202020204" pitchFamily="34" charset="0"/>
                <a:ea typeface="+mn-ea"/>
                <a:cs typeface="Arial" panose="020B0604020202020204" pitchFamily="34" charset="0"/>
              </a:rPr>
              <a:t> </a:t>
            </a:r>
            <a:r>
              <a:rPr lang="en-US" altLang="en-US" sz="2400" kern="1200" dirty="0">
                <a:solidFill>
                  <a:srgbClr val="000000"/>
                </a:solidFill>
                <a:latin typeface="Arial" panose="020B0604020202020204" pitchFamily="34" charset="0"/>
                <a:ea typeface="+mn-ea"/>
                <a:cs typeface="Arial" panose="020B0604020202020204" pitchFamily="34" charset="0"/>
              </a:rPr>
              <a:t>V</a:t>
            </a:r>
            <a:r>
              <a:rPr lang="en-US" altLang="en-US" sz="2400" kern="1200" dirty="0">
                <a:solidFill>
                  <a:srgbClr val="000000"/>
                </a:solidFill>
                <a:latin typeface="Arial" panose="020B0604020202020204" pitchFamily="34" charset="0"/>
                <a:ea typeface="+mn-ea"/>
                <a:cs typeface="Arial" panose="020B0604020202020204" pitchFamily="34" charset="0"/>
                <a:sym typeface="Symbol" pitchFamily="18" charset="2"/>
              </a:rPr>
              <a:t>) does NOT influence maternal warmth (moderator)</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64976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5"/>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Defining Terms </a:t>
            </a:r>
            <a:r>
              <a:rPr lang="en-US" sz="2800" kern="1200" dirty="0">
                <a:ea typeface="+mj-ea"/>
                <a:cs typeface="Times New Roman" panose="02020603050405020304" pitchFamily="18" charset="0"/>
              </a:rPr>
              <a:t>(1 of 2)</a:t>
            </a:r>
          </a:p>
        </p:txBody>
      </p:sp>
      <p:sp>
        <p:nvSpPr>
          <p:cNvPr id="3" name="Text Placeholder 2"/>
          <p:cNvSpPr>
            <a:spLocks noGrp="1"/>
          </p:cNvSpPr>
          <p:nvPr>
            <p:ph type="body" idx="1"/>
          </p:nvPr>
        </p:nvSpPr>
        <p:spPr>
          <a:xfrm>
            <a:off x="457200" y="1460347"/>
            <a:ext cx="8229600" cy="195995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Each term should be defined as it will be used by the particular researcher</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Operational definition: the definition of a characteristic or variable in terms of how it will be measured in the research study</a:t>
            </a:r>
          </a:p>
        </p:txBody>
      </p:sp>
    </p:spTree>
    <p:extLst>
      <p:ext uri="{BB962C8B-B14F-4D97-AF65-F5344CB8AC3E}">
        <p14:creationId xmlns:p14="http://schemas.microsoft.com/office/powerpoint/2010/main" val="2812474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51"/>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Defining Terms </a:t>
            </a:r>
            <a:r>
              <a:rPr lang="en-US" sz="2800" kern="1200" dirty="0">
                <a:ea typeface="+mj-ea"/>
                <a:cs typeface="Times New Roman" panose="02020603050405020304" pitchFamily="18" charset="0"/>
              </a:rPr>
              <a:t>(2 of 2)</a:t>
            </a:r>
          </a:p>
        </p:txBody>
      </p:sp>
      <p:sp>
        <p:nvSpPr>
          <p:cNvPr id="3" name="Text Placeholder 2"/>
          <p:cNvSpPr>
            <a:spLocks noGrp="1"/>
          </p:cNvSpPr>
          <p:nvPr>
            <p:ph type="body" idx="1"/>
          </p:nvPr>
        </p:nvSpPr>
        <p:spPr>
          <a:xfrm>
            <a:off x="437744" y="1460347"/>
            <a:ext cx="8274456" cy="2406231"/>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Examples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self-confidence </a:t>
            </a:r>
            <a:r>
              <a:rPr lang="en-US" altLang="en-US" sz="2400" kern="1200" dirty="0">
                <a:solidFill>
                  <a:srgbClr val="000000"/>
                </a:solidFill>
                <a:latin typeface="Arial" panose="020B0604020202020204" pitchFamily="34" charset="0"/>
                <a:ea typeface="+mn-ea"/>
                <a:cs typeface="Arial" panose="020B0604020202020204" pitchFamily="34" charset="0"/>
                <a:sym typeface="Symbol"/>
              </a:rPr>
              <a:t>= </a:t>
            </a:r>
            <a:r>
              <a:rPr lang="en-US" altLang="en-US" sz="2400" kern="1200" dirty="0">
                <a:solidFill>
                  <a:srgbClr val="000000"/>
                </a:solidFill>
                <a:latin typeface="Arial" panose="020B0604020202020204" pitchFamily="34" charset="0"/>
                <a:ea typeface="+mn-ea"/>
                <a:cs typeface="Arial" panose="020B0604020202020204" pitchFamily="34" charset="0"/>
              </a:rPr>
              <a:t>score on a self-report questionnaire that has items such as “I can usually achieve what I set out to do” and “I think of myself as a smart person”</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popularity = number of peers who specifically identify an individual as being a desirable social partner</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34528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54"/>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Stating Assumptions</a:t>
            </a:r>
          </a:p>
        </p:txBody>
      </p:sp>
      <p:sp>
        <p:nvSpPr>
          <p:cNvPr id="3" name="Text Placeholder 2"/>
          <p:cNvSpPr>
            <a:spLocks noGrp="1"/>
          </p:cNvSpPr>
          <p:nvPr>
            <p:ph type="body" idx="1"/>
          </p:nvPr>
        </p:nvSpPr>
        <p:spPr>
          <a:xfrm>
            <a:off x="457200" y="1460346"/>
            <a:ext cx="8229600" cy="3006395"/>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All assumptions that have a material bearing on the problem should be openly and unreservedly set forth</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 statement of the assumptions is necessary for others to evaluate the conclusions of the study</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 statement of the assumptions reveals what the researcher may be taking for granted with respect to the problem</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02100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9"/>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Identifying Delimitations</a:t>
            </a:r>
          </a:p>
        </p:txBody>
      </p:sp>
      <p:sp>
        <p:nvSpPr>
          <p:cNvPr id="3" name="Text Placeholder 2"/>
          <p:cNvSpPr>
            <a:spLocks noGrp="1"/>
          </p:cNvSpPr>
          <p:nvPr>
            <p:ph type="body" idx="1"/>
          </p:nvPr>
        </p:nvSpPr>
        <p:spPr>
          <a:xfrm>
            <a:off x="457200" y="1460347"/>
            <a:ext cx="8229600" cy="2637064"/>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Delimitations are statements about what the researcher is not going to do.</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The researcher must distinguish between what is and what is not relevant to the problem.</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For example, “I am interested in characteristics of X. I am not going to worry about influences on X.”</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38912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744"/>
            <a:ext cx="8229600" cy="590349"/>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Identifying Limitations</a:t>
            </a:r>
          </a:p>
        </p:txBody>
      </p:sp>
      <p:sp>
        <p:nvSpPr>
          <p:cNvPr id="3" name="Text Placeholder 2"/>
          <p:cNvSpPr>
            <a:spLocks noGrp="1"/>
          </p:cNvSpPr>
          <p:nvPr>
            <p:ph type="body" idx="1"/>
          </p:nvPr>
        </p:nvSpPr>
        <p:spPr>
          <a:xfrm>
            <a:off x="457200" y="1460347"/>
            <a:ext cx="8229600" cy="2967923"/>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The researcher must acknowledge weaknesses (limitations) that might cast doubt on results and conclusions</a:t>
            </a:r>
          </a:p>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For example: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“My sample is small and possibly not representative”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“I have certain personal biases, such as X and Y, that may affect my observations and interpretation”</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21071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396"/>
            <a:ext cx="8229600" cy="1144347"/>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Writing the First Chapter or Section of a Research Proposal</a:t>
            </a:r>
            <a:endParaRPr lang="en-US" altLang="en-US" sz="3600" kern="1200" dirty="0">
              <a:ea typeface="+mj-ea"/>
              <a:cs typeface="Times New Roman" panose="02020603050405020304" pitchFamily="18" charset="0"/>
            </a:endParaRPr>
          </a:p>
        </p:txBody>
      </p:sp>
      <p:sp>
        <p:nvSpPr>
          <p:cNvPr id="3" name="Text Placeholder 2"/>
          <p:cNvSpPr>
            <a:spLocks noGrp="1"/>
          </p:cNvSpPr>
          <p:nvPr>
            <p:ph type="body" idx="1"/>
          </p:nvPr>
        </p:nvSpPr>
        <p:spPr>
          <a:xfrm>
            <a:off x="457200" y="1890655"/>
            <a:ext cx="8229600" cy="3529616"/>
          </a:xfrm>
        </p:spPr>
        <p:txBody>
          <a:bodyPr wrap="square" lIns="0" tIns="18000" rIns="0" bIns="18000">
            <a:spAutoFit/>
          </a:bodyPr>
          <a:lstStyle/>
          <a:p>
            <a:pPr marL="255651" lvl="0" indent="-255651">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In the first section of a proposal, you should outline: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problem and its setting</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Subproblems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Theoretical and/or conceptual framework</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 </a:t>
            </a:r>
            <a:r>
              <a:rPr lang="en-US" altLang="en-US" sz="2400" b="1" kern="1200" dirty="0">
                <a:solidFill>
                  <a:srgbClr val="000000"/>
                </a:solidFill>
                <a:latin typeface="Arial" panose="020B0604020202020204" pitchFamily="34" charset="0"/>
                <a:ea typeface="+mn-ea"/>
                <a:cs typeface="Arial" panose="020B0604020202020204" pitchFamily="34" charset="0"/>
              </a:rPr>
              <a:t>priori </a:t>
            </a:r>
            <a:r>
              <a:rPr lang="en-US" altLang="en-US" sz="2400" kern="1200" dirty="0">
                <a:solidFill>
                  <a:srgbClr val="000000"/>
                </a:solidFill>
                <a:latin typeface="Arial" panose="020B0604020202020204" pitchFamily="34" charset="0"/>
                <a:ea typeface="+mn-ea"/>
                <a:cs typeface="Arial" panose="020B0604020202020204" pitchFamily="34" charset="0"/>
              </a:rPr>
              <a:t>hypotheses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Variables and key concepts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Assumptions, delimitations, and limitations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importance of the study</a:t>
            </a:r>
          </a:p>
        </p:txBody>
      </p:sp>
    </p:spTree>
    <p:extLst>
      <p:ext uri="{BB962C8B-B14F-4D97-AF65-F5344CB8AC3E}">
        <p14:creationId xmlns:p14="http://schemas.microsoft.com/office/powerpoint/2010/main" val="810325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223"/>
            <a:ext cx="8229600" cy="1162523"/>
          </a:xfrm>
        </p:spPr>
        <p:txBody>
          <a:bodyPr lIns="0" tIns="18000" rIns="0" bIns="18000">
            <a:spAutoFit/>
          </a:bodyPr>
          <a:lstStyle/>
          <a:p>
            <a:pPr lvl="0">
              <a:spcBef>
                <a:spcPct val="0"/>
              </a:spcBef>
              <a:buClrTx/>
            </a:pPr>
            <a:r>
              <a:rPr lang="en-US" sz="3600" kern="1200" dirty="0">
                <a:ea typeface="+mj-ea"/>
                <a:cs typeface="Times New Roman" panose="02020603050405020304" pitchFamily="18" charset="0"/>
              </a:rPr>
              <a:t>Evaluating Your Proposed Research Project</a:t>
            </a:r>
          </a:p>
        </p:txBody>
      </p:sp>
      <p:sp>
        <p:nvSpPr>
          <p:cNvPr id="7" name="Content Placeholder 6">
            <a:extLst>
              <a:ext uri="{FF2B5EF4-FFF2-40B4-BE49-F238E27FC236}">
                <a16:creationId xmlns:a16="http://schemas.microsoft.com/office/drawing/2014/main" id="{7658E8E9-D50A-4737-AB93-E888ECD18613}"/>
              </a:ext>
            </a:extLst>
          </p:cNvPr>
          <p:cNvSpPr>
            <a:spLocks noGrp="1"/>
          </p:cNvSpPr>
          <p:nvPr>
            <p:ph sz="quarter" idx="13"/>
          </p:nvPr>
        </p:nvSpPr>
        <p:spPr>
          <a:xfrm>
            <a:off x="457200" y="1890792"/>
            <a:ext cx="8229600" cy="775015"/>
          </a:xfrm>
        </p:spPr>
        <p:txBody>
          <a:bodyPr lIns="0" tIns="18000" rIns="0" bIns="18000">
            <a:spAutoFit/>
          </a:bodyPr>
          <a:lstStyle/>
          <a:p>
            <a:r>
              <a:rPr lang="en-US" sz="2400" dirty="0">
                <a:latin typeface="Arial" panose="020B0604020202020204" pitchFamily="34" charset="0"/>
                <a:cs typeface="Arial" panose="020B0604020202020204" pitchFamily="34" charset="0"/>
              </a:rPr>
              <a:t>In order to adequately evaluate your proposed research project, make sure you do the following:</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79E1624E-46ED-47A1-A715-244B54F47780}"/>
              </a:ext>
            </a:extLst>
          </p:cNvPr>
          <p:cNvSpPr>
            <a:spLocks noGrp="1"/>
          </p:cNvSpPr>
          <p:nvPr>
            <p:ph sz="quarter" idx="14"/>
          </p:nvPr>
        </p:nvSpPr>
        <p:spPr>
          <a:xfrm>
            <a:off x="457200" y="2792968"/>
            <a:ext cx="8232775" cy="2911275"/>
          </a:xfrm>
        </p:spPr>
        <p:txBody>
          <a:bodyPr lIns="0" tIns="18000" rIns="0" bIns="18000">
            <a:spAutoFit/>
          </a:bodyPr>
          <a:lstStyle/>
          <a:p>
            <a:pPr marL="720725" lvl="1" indent="-452438">
              <a:buFont typeface="+mj-lt"/>
              <a:buAutoNum type="arabicPeriod"/>
            </a:pPr>
            <a:r>
              <a:rPr lang="en-US" sz="2400" dirty="0">
                <a:latin typeface="Arial" panose="020B0604020202020204" pitchFamily="34" charset="0"/>
                <a:cs typeface="Arial" panose="020B0604020202020204" pitchFamily="34" charset="0"/>
              </a:rPr>
              <a:t>Conduct a thorough literature review</a:t>
            </a:r>
          </a:p>
          <a:p>
            <a:pPr marL="720725" lvl="1" indent="-452438">
              <a:buFont typeface="+mj-lt"/>
              <a:buAutoNum type="arabicPeriod"/>
            </a:pPr>
            <a:r>
              <a:rPr lang="en-US" sz="2400" dirty="0">
                <a:latin typeface="Arial" panose="020B0604020202020204" pitchFamily="34" charset="0"/>
                <a:cs typeface="Arial" panose="020B0604020202020204" pitchFamily="34" charset="0"/>
              </a:rPr>
              <a:t>Think concretely about how you will conduct the subsequent steps you must take in your project</a:t>
            </a:r>
          </a:p>
          <a:p>
            <a:pPr marL="720725" lvl="1" indent="-452438">
              <a:buFont typeface="+mj-lt"/>
              <a:buAutoNum type="arabicPeriod"/>
            </a:pPr>
            <a:r>
              <a:rPr lang="en-US" sz="2400" dirty="0">
                <a:latin typeface="Arial" panose="020B0604020202020204" pitchFamily="34" charset="0"/>
                <a:cs typeface="Arial" panose="020B0604020202020204" pitchFamily="34" charset="0"/>
              </a:rPr>
              <a:t>Discuss your research problem or question with others</a:t>
            </a:r>
          </a:p>
          <a:p>
            <a:pPr marL="720725" lvl="1" indent="-452438">
              <a:buFont typeface="+mj-lt"/>
              <a:buAutoNum type="arabicPeriod"/>
            </a:pPr>
            <a:r>
              <a:rPr lang="en-US" sz="2400" dirty="0">
                <a:latin typeface="Arial" panose="020B0604020202020204" pitchFamily="34" charset="0"/>
                <a:cs typeface="Arial" panose="020B0604020202020204" pitchFamily="34" charset="0"/>
              </a:rPr>
              <a:t>Remember that your project will take time- lots of time.</a:t>
            </a:r>
          </a:p>
          <a:p>
            <a:pPr marL="720725" lvl="1" indent="-452438">
              <a:buFont typeface="+mj-lt"/>
              <a:buAutoNum type="arabicPeriod"/>
            </a:pPr>
            <a:r>
              <a:rPr lang="en-US" sz="2400" dirty="0">
                <a:latin typeface="Arial" panose="020B0604020202020204" pitchFamily="34" charset="0"/>
                <a:cs typeface="Arial" panose="020B0604020202020204" pitchFamily="34" charset="0"/>
              </a:rPr>
              <a:t>Remember that the first drafts of whatever you write will almost certainly NOT be your last ones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5149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C5C169-2AD9-4CC6-B7EF-7DFDF3635F06}"/>
</file>

<file path=customXml/itemProps2.xml><?xml version="1.0" encoding="utf-8"?>
<ds:datastoreItem xmlns:ds="http://schemas.openxmlformats.org/officeDocument/2006/customXml" ds:itemID="{33D1C1A4-0DAB-413B-BB4B-A22B8672FCD5}"/>
</file>

<file path=customXml/itemProps3.xml><?xml version="1.0" encoding="utf-8"?>
<ds:datastoreItem xmlns:ds="http://schemas.openxmlformats.org/officeDocument/2006/customXml" ds:itemID="{E03E3D1C-35C4-4011-A64D-86F56C11C543}"/>
</file>

<file path=docProps/app.xml><?xml version="1.0" encoding="utf-8"?>
<Properties xmlns="http://schemas.openxmlformats.org/officeDocument/2006/extended-properties" xmlns:vt="http://schemas.openxmlformats.org/officeDocument/2006/docPropsVTypes">
  <TotalTime>8435</TotalTime>
  <Words>1736</Words>
  <Application>Microsoft Office PowerPoint</Application>
  <PresentationFormat>On-screen Show (4:3)</PresentationFormat>
  <Paragraphs>186</Paragraphs>
  <Slides>31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39" baseType="lpstr">
      <vt:lpstr>Arial</vt:lpstr>
      <vt:lpstr>Arial (Headings)</vt:lpstr>
      <vt:lpstr>Noto Sans Symbols</vt:lpstr>
      <vt:lpstr>Times New Roman</vt:lpstr>
      <vt:lpstr>Verdana</vt:lpstr>
      <vt:lpstr>508 Lecture</vt:lpstr>
      <vt:lpstr>1_508 Lecture</vt:lpstr>
      <vt:lpstr>Equation</vt:lpstr>
      <vt:lpstr>Practical Research: Planning and Design</vt:lpstr>
      <vt:lpstr>Finding Research Projects</vt:lpstr>
      <vt:lpstr>Basic Research</vt:lpstr>
      <vt:lpstr>Applied Research</vt:lpstr>
      <vt:lpstr>Identifying a Suitable Research Problem</vt:lpstr>
      <vt:lpstr>When Considering A Research Problem</vt:lpstr>
      <vt:lpstr>Finding a Legitimate Research Problem</vt:lpstr>
      <vt:lpstr>Writing a Purpose Statement</vt:lpstr>
      <vt:lpstr>Dividing the Research Problem into Subproblems</vt:lpstr>
      <vt:lpstr>Subproblems V s. Pseudo-Subproblems</vt:lpstr>
      <vt:lpstr>Characteristics of Subproblems</vt:lpstr>
      <vt:lpstr>Identifying Subproblems</vt:lpstr>
      <vt:lpstr>Delineating the Problem</vt:lpstr>
      <vt:lpstr>Identifying a Relevant Theoretical or Conceptual Framework</vt:lpstr>
      <vt:lpstr>Stating Hypotheses</vt:lpstr>
      <vt:lpstr>Distinguishing between Research Hypotheses and Null Hypotheses in Quantitative Research</vt:lpstr>
      <vt:lpstr>Identifying the General Concepts and Possibly Also Specific Variables That are the Focus of the Investigation (1 of 7)</vt:lpstr>
      <vt:lpstr>Identifying the General Concepts and Possibly Also Specific Variables That are the Focus of the Investigation (2 of 7)</vt:lpstr>
      <vt:lpstr>Identifying the General Concepts and Possibly Also Specific Variables That are the Focus of the Investigation (3 of 7)</vt:lpstr>
      <vt:lpstr>Identifying the General Concepts and Possibly Also Specific Variables That are the Focus of the Investigation (4 of 7)</vt:lpstr>
      <vt:lpstr>Identifying the General Concepts and Possibly Also Specific Variables That are the Focus of the Investigation (5 of 7)</vt:lpstr>
      <vt:lpstr>Identifying the General Concepts and Possibly Also Specific Variables That are the Focus of the Investigation (6 of 7)</vt:lpstr>
      <vt:lpstr>Identifying the General Concepts and Possibly Also Specific Variables That are the Focus of the Investigation (7 of 7)</vt:lpstr>
      <vt:lpstr>Defining Terms (1 of 2)</vt:lpstr>
      <vt:lpstr>Defining Terms (2 of 2)</vt:lpstr>
      <vt:lpstr>Stating Assumptions</vt:lpstr>
      <vt:lpstr>Identifying Delimitations</vt:lpstr>
      <vt:lpstr>Identifying Limitations</vt:lpstr>
      <vt:lpstr>Writing the First Chapter or Section of a Research Proposal</vt:lpstr>
      <vt:lpstr>Evaluating Your Proposed Research Project</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2</dc:title>
  <dc:subject>TED/Careers</dc:subject>
  <dc:creator>Leedy and Ormrod</dc:creator>
  <cp:keywords>Practical Research</cp:keywords>
  <cp:lastModifiedBy>Arthideepa Karunakaran, Integra-PDY, IN</cp:lastModifiedBy>
  <cp:revision>1418</cp:revision>
  <dcterms:modified xsi:type="dcterms:W3CDTF">2021-10-22T07:18:51Z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