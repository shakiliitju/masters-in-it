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20"/>
  </p:notesMasterIdLst>
  <p:handoutMasterIdLst>
    <p:handoutMasterId r:id="rId21"/>
  </p:handoutMasterIdLst>
  <p:sldIdLst>
    <p:sldId id="335" r:id="rId6"/>
    <p:sldId id="307" r:id="rId7"/>
    <p:sldId id="308" r:id="rId8"/>
    <p:sldId id="309" r:id="rId9"/>
    <p:sldId id="310" r:id="rId10"/>
    <p:sldId id="311" r:id="rId11"/>
    <p:sldId id="312" r:id="rId12"/>
    <p:sldId id="313" r:id="rId13"/>
    <p:sldId id="314" r:id="rId14"/>
    <p:sldId id="320" r:id="rId15"/>
    <p:sldId id="316" r:id="rId16"/>
    <p:sldId id="317" r:id="rId17"/>
    <p:sldId id="318" r:id="rId18"/>
    <p:sldId id="334"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2880">
          <p15:clr>
            <a:srgbClr val="A4A3A4"/>
          </p15:clr>
        </p15:guide>
        <p15:guide id="3" orient="horz" pos="459" userDrawn="1">
          <p15:clr>
            <a:srgbClr val="A4A3A4"/>
          </p15:clr>
        </p15:guide>
        <p15:guide id="4" orient="horz" pos="300" userDrawn="1">
          <p15:clr>
            <a:srgbClr val="A4A3A4"/>
          </p15:clr>
        </p15:guide>
        <p15:guide id="5" orient="horz" pos="913" userDrawn="1">
          <p15:clr>
            <a:srgbClr val="A4A3A4"/>
          </p15:clr>
        </p15:guide>
        <p15:guide id="6" orient="horz" pos="4088" userDrawn="1">
          <p15:clr>
            <a:srgbClr val="A4A3A4"/>
          </p15:clr>
        </p15:guide>
        <p15:guide id="7" pos="272" userDrawn="1">
          <p15:clr>
            <a:srgbClr val="A4A3A4"/>
          </p15:clr>
        </p15:guide>
        <p15:guide id="8"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95" autoAdjust="0"/>
    <p:restoredTop sz="89513" autoAdjust="0"/>
  </p:normalViewPr>
  <p:slideViewPr>
    <p:cSldViewPr snapToGrid="0" snapToObjects="1">
      <p:cViewPr varScale="1">
        <p:scale>
          <a:sx n="76" d="100"/>
          <a:sy n="76" d="100"/>
        </p:scale>
        <p:origin x="1498" y="53"/>
      </p:cViewPr>
      <p:guideLst>
        <p:guide orient="horz" pos="2183"/>
        <p:guide pos="2880"/>
        <p:guide orient="horz" pos="459"/>
        <p:guide orient="horz" pos="300"/>
        <p:guide orient="horz" pos="913"/>
        <p:guide orient="horz" pos="4088"/>
        <p:guide pos="272"/>
        <p:guide pos="5488"/>
      </p:guideLst>
    </p:cSldViewPr>
  </p:slideViewPr>
  <p:outlineViewPr>
    <p:cViewPr>
      <p:scale>
        <a:sx n="33" d="100"/>
        <a:sy n="33" d="100"/>
      </p:scale>
      <p:origin x="0" y="-3475"/>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details of the spiral diagram from raw data and final report are as follows: the raw data leads to organization, filing, creating a computer database and breaking large units into smaller ones; perusal, getting an overall sense of the data and jotting down preliminary interpretations; classification, grouping the data into categories or themes and finding meanings in the data; synthesis, offering hypotheses or prepositions and constructing tables, diagram, hierarchies; this leads to the final report.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5060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43677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72ABE5F-53F0-43F5-A4DF-41FEAF064061}"/>
              </a:ext>
            </a:extLst>
          </p:cNvPr>
          <p:cNvSpPr>
            <a:spLocks noGrp="1"/>
          </p:cNvSpPr>
          <p:nvPr>
            <p:ph type="pic" sz="quarter" idx="23"/>
          </p:nvPr>
        </p:nvSpPr>
        <p:spPr>
          <a:xfrm>
            <a:off x="7453313" y="5811838"/>
            <a:ext cx="1108075" cy="274637"/>
          </a:xfrm>
        </p:spPr>
        <p:txBody>
          <a:bodyPr/>
          <a:lstStyle/>
          <a:p>
            <a:endParaRPr lang="en-IN"/>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3854248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173995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98036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nchorCtr="0">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A740732E-66B0-4142-BCCA-F60C8010CCF2}"/>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9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4583"/>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29" y="2871974"/>
            <a:ext cx="2099303"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12</a:t>
            </a:r>
          </a:p>
        </p:txBody>
      </p:sp>
      <p:sp>
        <p:nvSpPr>
          <p:cNvPr id="5" name="Text Placeholder 4"/>
          <p:cNvSpPr>
            <a:spLocks noGrp="1"/>
          </p:cNvSpPr>
          <p:nvPr>
            <p:ph type="body" idx="3"/>
          </p:nvPr>
        </p:nvSpPr>
        <p:spPr>
          <a:xfrm>
            <a:off x="4580628" y="3668904"/>
            <a:ext cx="4131571" cy="713460"/>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Analyzing Qualitative and Mixed Methods Data</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19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Qualitative Analysis</a:t>
            </a:r>
          </a:p>
        </p:txBody>
      </p:sp>
      <p:sp>
        <p:nvSpPr>
          <p:cNvPr id="3" name="Text Placeholder 2"/>
          <p:cNvSpPr>
            <a:spLocks noGrp="1"/>
          </p:cNvSpPr>
          <p:nvPr>
            <p:ph type="body" idx="1"/>
          </p:nvPr>
        </p:nvSpPr>
        <p:spPr>
          <a:xfrm>
            <a:off x="457200" y="1064411"/>
            <a:ext cx="8255000" cy="191445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Combined with data collection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May lead to additional data collection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Largely inductive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Flexible and open-ended</a:t>
            </a:r>
          </a:p>
        </p:txBody>
      </p:sp>
    </p:spTree>
    <p:extLst>
      <p:ext uri="{BB962C8B-B14F-4D97-AF65-F5344CB8AC3E}">
        <p14:creationId xmlns:p14="http://schemas.microsoft.com/office/powerpoint/2010/main" val="3985490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4068"/>
            <a:ext cx="8229600" cy="467239"/>
          </a:xfrm>
        </p:spPr>
        <p:txBody>
          <a:bodyPr lIns="0" tIns="18000" rIns="0" bIns="18000">
            <a:spAutoFit/>
          </a:bodyPr>
          <a:lstStyle/>
          <a:p>
            <a:pPr lvl="0">
              <a:spcBef>
                <a:spcPct val="0"/>
              </a:spcBef>
              <a:buClrTx/>
            </a:pPr>
            <a:r>
              <a:rPr lang="en-US" sz="2800" kern="1200" dirty="0">
                <a:latin typeface="+mj-lt"/>
                <a:ea typeface="+mj-ea"/>
                <a:cs typeface="Times New Roman" panose="02020603050405020304" pitchFamily="18" charset="0"/>
              </a:rPr>
              <a:t>Strategies for Organization and Analysis </a:t>
            </a:r>
            <a:r>
              <a:rPr lang="en-US" sz="20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727750"/>
            <a:ext cx="8229600" cy="2637064"/>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Convert the data into one or more forms that will be easy to organize and analyze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Organize the data in a preliminary, superficial way that will enable you to locate them easily as you proceed.</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Identify preliminary categories that are likely to be helpful in coding the data.</a:t>
            </a:r>
          </a:p>
        </p:txBody>
      </p:sp>
    </p:spTree>
    <p:extLst>
      <p:ext uri="{BB962C8B-B14F-4D97-AF65-F5344CB8AC3E}">
        <p14:creationId xmlns:p14="http://schemas.microsoft.com/office/powerpoint/2010/main" val="2284322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4070"/>
            <a:ext cx="8229600" cy="467239"/>
          </a:xfrm>
        </p:spPr>
        <p:txBody>
          <a:bodyPr lIns="0" tIns="18000" rIns="0" bIns="18000">
            <a:spAutoFit/>
          </a:bodyPr>
          <a:lstStyle/>
          <a:p>
            <a:pPr lvl="0">
              <a:spcBef>
                <a:spcPct val="0"/>
              </a:spcBef>
              <a:buClrTx/>
            </a:pPr>
            <a:r>
              <a:rPr lang="en-US" sz="2800" kern="1200" dirty="0">
                <a:latin typeface="+mj-lt"/>
                <a:ea typeface="+mj-ea"/>
                <a:cs typeface="Times New Roman" panose="02020603050405020304" pitchFamily="18" charset="0"/>
              </a:rPr>
              <a:t>Strategies for Organization and Analysis </a:t>
            </a:r>
            <a:r>
              <a:rPr lang="en-US" sz="20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457200" y="1719047"/>
            <a:ext cx="8229600" cy="3568088"/>
          </a:xfrm>
        </p:spPr>
        <p:txBody>
          <a:bodyPr wrap="square" lIns="0" tIns="18000" rIns="0" bIns="18000">
            <a:spAutoFit/>
          </a:bodyPr>
          <a:lstStyle/>
          <a:p>
            <a:pPr marL="432054" lvl="0" indent="-432054">
              <a:spcAft>
                <a:spcPct val="0"/>
              </a:spcAft>
              <a:buSzPts val="2400"/>
              <a:buFont typeface="+mj-lt"/>
              <a:buAutoNum type="arabicPeriod" startAt="4"/>
              <a:tabLst/>
            </a:pPr>
            <a:r>
              <a:rPr lang="en-US" sz="2400" kern="1200" dirty="0">
                <a:solidFill>
                  <a:srgbClr val="000000"/>
                </a:solidFill>
                <a:latin typeface="Arial" panose="020B0604020202020204" pitchFamily="34" charset="0"/>
                <a:ea typeface="+mn-ea"/>
                <a:cs typeface="Arial" panose="020B0604020202020204" pitchFamily="34" charset="0"/>
              </a:rPr>
              <a:t>Divide the data into meaningful units that will be individually coded.</a:t>
            </a:r>
          </a:p>
          <a:p>
            <a:pPr marL="432054" lvl="0" indent="-432054">
              <a:spcAft>
                <a:spcPct val="0"/>
              </a:spcAft>
              <a:buSzPts val="2400"/>
              <a:buFont typeface="+mj-lt"/>
              <a:buAutoNum type="arabicPeriod" startAt="4"/>
              <a:tabLst/>
            </a:pPr>
            <a:r>
              <a:rPr lang="en-US" sz="2400" kern="1200" dirty="0">
                <a:solidFill>
                  <a:srgbClr val="000000"/>
                </a:solidFill>
                <a:latin typeface="Arial" panose="020B0604020202020204" pitchFamily="34" charset="0"/>
                <a:ea typeface="+mn-ea"/>
                <a:cs typeface="Arial" panose="020B0604020202020204" pitchFamily="34" charset="0"/>
              </a:rPr>
              <a:t>Apply the initial coding scheme to a subset of the data.</a:t>
            </a:r>
          </a:p>
          <a:p>
            <a:pPr marL="432054" lvl="0" indent="-432054">
              <a:spcAft>
                <a:spcPct val="0"/>
              </a:spcAft>
              <a:buSzPts val="2400"/>
              <a:buFont typeface="+mj-lt"/>
              <a:buAutoNum type="arabicPeriod" startAt="4"/>
              <a:tabLst/>
            </a:pPr>
            <a:r>
              <a:rPr lang="en-US" sz="2400" kern="1200" dirty="0">
                <a:solidFill>
                  <a:srgbClr val="000000"/>
                </a:solidFill>
                <a:latin typeface="Arial" panose="020B0604020202020204" pitchFamily="34" charset="0"/>
                <a:ea typeface="+mn-ea"/>
                <a:cs typeface="Arial" panose="020B0604020202020204" pitchFamily="34" charset="0"/>
              </a:rPr>
              <a:t>Construct a final list of codes and subcodes, and define each code and subcode as specifically and concretely as possible.</a:t>
            </a:r>
          </a:p>
          <a:p>
            <a:pPr marL="432054" lvl="0" indent="-432054">
              <a:spcAft>
                <a:spcPct val="0"/>
              </a:spcAft>
              <a:buSzPts val="2400"/>
              <a:buFont typeface="+mj-lt"/>
              <a:buAutoNum type="arabicPeriod" startAt="4"/>
              <a:tabLst/>
            </a:pPr>
            <a:r>
              <a:rPr lang="en-US" sz="2400" kern="1200" dirty="0">
                <a:solidFill>
                  <a:srgbClr val="000000"/>
                </a:solidFill>
                <a:latin typeface="Arial" panose="020B0604020202020204" pitchFamily="34" charset="0"/>
                <a:ea typeface="+mn-ea"/>
                <a:cs typeface="Arial" panose="020B0604020202020204" pitchFamily="34" charset="0"/>
              </a:rPr>
              <a:t>Consider using two or more raters to code the data independently.</a:t>
            </a:r>
          </a:p>
        </p:txBody>
      </p:sp>
    </p:spTree>
    <p:extLst>
      <p:ext uri="{BB962C8B-B14F-4D97-AF65-F5344CB8AC3E}">
        <p14:creationId xmlns:p14="http://schemas.microsoft.com/office/powerpoint/2010/main" val="3308492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4071"/>
            <a:ext cx="8229600" cy="467239"/>
          </a:xfrm>
        </p:spPr>
        <p:txBody>
          <a:bodyPr lIns="0" tIns="18000" rIns="0" bIns="18000">
            <a:spAutoFit/>
          </a:bodyPr>
          <a:lstStyle/>
          <a:p>
            <a:pPr lvl="0">
              <a:spcBef>
                <a:spcPct val="0"/>
              </a:spcBef>
              <a:buClrTx/>
            </a:pPr>
            <a:r>
              <a:rPr lang="en-US" sz="2800" kern="1200" dirty="0">
                <a:latin typeface="+mj-lt"/>
                <a:ea typeface="+mj-ea"/>
                <a:cs typeface="Times New Roman" panose="02020603050405020304" pitchFamily="18" charset="0"/>
              </a:rPr>
              <a:t>Strategies for Organization and Analysis </a:t>
            </a:r>
            <a:r>
              <a:rPr lang="en-US" sz="20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431800" y="1717914"/>
            <a:ext cx="8229600" cy="2637064"/>
          </a:xfrm>
        </p:spPr>
        <p:txBody>
          <a:bodyPr wrap="square" lIns="0" tIns="18000" rIns="0" bIns="18000">
            <a:spAutoFit/>
          </a:bodyPr>
          <a:lstStyle/>
          <a:p>
            <a:pPr marL="432054" lvl="0" indent="-432054">
              <a:spcAft>
                <a:spcPct val="0"/>
              </a:spcAft>
              <a:buSzPts val="2400"/>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Identify noteworthy patterns and relationships among the codes.</a:t>
            </a:r>
          </a:p>
          <a:p>
            <a:pPr marL="432054" lvl="0" indent="-432054">
              <a:spcAft>
                <a:spcPct val="0"/>
              </a:spcAft>
              <a:buSzPts val="2400"/>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Be alert for exceptions, tensions, and contradictions within the data set.</a:t>
            </a:r>
          </a:p>
          <a:p>
            <a:pPr marL="432054" lvl="0" indent="-432054">
              <a:spcAft>
                <a:spcPct val="0"/>
              </a:spcAft>
              <a:buSzPts val="2400"/>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Interpret the data in light of your research problem and questions.</a:t>
            </a:r>
          </a:p>
        </p:txBody>
      </p:sp>
    </p:spTree>
    <p:extLst>
      <p:ext uri="{BB962C8B-B14F-4D97-AF65-F5344CB8AC3E}">
        <p14:creationId xmlns:p14="http://schemas.microsoft.com/office/powerpoint/2010/main" val="129022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187"/>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Analysis as a Spiral </a:t>
            </a:r>
            <a:r>
              <a:rPr lang="en-US" sz="2800" kern="1200">
                <a:latin typeface="+mj-lt"/>
                <a:ea typeface="+mj-ea"/>
                <a:cs typeface="Times New Roman" panose="02020603050405020304" pitchFamily="18" charset="0"/>
              </a:rPr>
              <a:t>(1 of 2)</a:t>
            </a:r>
          </a:p>
        </p:txBody>
      </p:sp>
      <p:sp>
        <p:nvSpPr>
          <p:cNvPr id="7" name="Content Placeholder 6">
            <a:extLst>
              <a:ext uri="{FF2B5EF4-FFF2-40B4-BE49-F238E27FC236}">
                <a16:creationId xmlns:a16="http://schemas.microsoft.com/office/drawing/2014/main" id="{B6FD648D-2ADC-4EFA-A1CC-5FA155E94FE0}"/>
              </a:ext>
            </a:extLst>
          </p:cNvPr>
          <p:cNvSpPr>
            <a:spLocks noGrp="1"/>
          </p:cNvSpPr>
          <p:nvPr>
            <p:ph sz="quarter" idx="13"/>
          </p:nvPr>
        </p:nvSpPr>
        <p:spPr>
          <a:xfrm>
            <a:off x="431800" y="1051314"/>
            <a:ext cx="8280400" cy="1513679"/>
          </a:xfrm>
        </p:spPr>
        <p:txBody>
          <a:bodyPr wrap="square" lIns="0" tIns="18000" rIns="0" bIns="18000">
            <a:spAutoFit/>
          </a:bodyPr>
          <a:lstStyle/>
          <a:p>
            <a:pPr marL="363538" indent="-363538"/>
            <a:r>
              <a:rPr lang="en-US" sz="2400" dirty="0">
                <a:latin typeface="Arial" panose="020B0604020202020204" pitchFamily="34" charset="0"/>
                <a:cs typeface="Arial" panose="020B0604020202020204" pitchFamily="34" charset="0"/>
              </a:rPr>
              <a:t>Creswell (2013) has described a </a:t>
            </a:r>
            <a:r>
              <a:rPr lang="en-US" sz="2400" b="1" dirty="0">
                <a:latin typeface="Arial" panose="020B0604020202020204" pitchFamily="34" charset="0"/>
                <a:cs typeface="Arial" panose="020B0604020202020204" pitchFamily="34" charset="0"/>
              </a:rPr>
              <a:t>data analysis spiral</a:t>
            </a:r>
            <a:r>
              <a:rPr lang="en-US" sz="2400" dirty="0">
                <a:latin typeface="Arial" panose="020B0604020202020204" pitchFamily="34" charset="0"/>
                <a:cs typeface="Arial" panose="020B0604020202020204" pitchFamily="34" charset="0"/>
              </a:rPr>
              <a:t> that helps give perspective to qualitative data analysis. In this approach, you go through the data several times using these steps:</a:t>
            </a:r>
          </a:p>
        </p:txBody>
      </p:sp>
      <p:sp>
        <p:nvSpPr>
          <p:cNvPr id="8" name="Content Placeholder 7">
            <a:extLst>
              <a:ext uri="{FF2B5EF4-FFF2-40B4-BE49-F238E27FC236}">
                <a16:creationId xmlns:a16="http://schemas.microsoft.com/office/drawing/2014/main" id="{2F8C24F0-1D27-4B35-B0B0-3513285146EC}"/>
              </a:ext>
            </a:extLst>
          </p:cNvPr>
          <p:cNvSpPr>
            <a:spLocks noGrp="1"/>
          </p:cNvSpPr>
          <p:nvPr>
            <p:ph sz="quarter" idx="14"/>
          </p:nvPr>
        </p:nvSpPr>
        <p:spPr>
          <a:xfrm>
            <a:off x="444674" y="2690615"/>
            <a:ext cx="8273441" cy="2534234"/>
          </a:xfrm>
        </p:spPr>
        <p:txBody>
          <a:bodyPr wrap="square" lIns="0" tIns="18000" rIns="0" bIns="18000">
            <a:spAutoFit/>
          </a:bodyPr>
          <a:lstStyle/>
          <a:p>
            <a:pPr marL="457632" indent="-457200">
              <a:buFont typeface="+mj-lt"/>
              <a:buAutoNum type="arabicPeriod"/>
            </a:pPr>
            <a:r>
              <a:rPr lang="en-US" sz="2400" dirty="0">
                <a:latin typeface="Arial" panose="020B0604020202020204" pitchFamily="34" charset="0"/>
                <a:cs typeface="Arial" panose="020B0604020202020204" pitchFamily="34" charset="0"/>
              </a:rPr>
              <a:t>Organize the data</a:t>
            </a:r>
          </a:p>
          <a:p>
            <a:pPr marL="457632" indent="-457200">
              <a:buFont typeface="+mj-lt"/>
              <a:buAutoNum type="arabicPeriod"/>
            </a:pPr>
            <a:r>
              <a:rPr lang="en-US" sz="2400" dirty="0">
                <a:latin typeface="Arial" panose="020B0604020202020204" pitchFamily="34" charset="0"/>
                <a:cs typeface="Arial" panose="020B0604020202020204" pitchFamily="34" charset="0"/>
              </a:rPr>
              <a:t>Peruse the entire data set several times to get a sense of what it contains as a whole</a:t>
            </a:r>
          </a:p>
          <a:p>
            <a:pPr marL="457632" indent="-457200">
              <a:buFont typeface="+mj-lt"/>
              <a:buAutoNum type="arabicPeriod"/>
            </a:pPr>
            <a:r>
              <a:rPr lang="en-US" sz="2400" dirty="0">
                <a:latin typeface="Arial" panose="020B0604020202020204" pitchFamily="34" charset="0"/>
                <a:cs typeface="Arial" panose="020B0604020202020204" pitchFamily="34" charset="0"/>
              </a:rPr>
              <a:t>Identify general categories or themes</a:t>
            </a:r>
          </a:p>
          <a:p>
            <a:pPr marL="457632" indent="-457200">
              <a:buFont typeface="+mj-lt"/>
              <a:buAutoNum type="arabicPeriod"/>
            </a:pPr>
            <a:r>
              <a:rPr lang="en-US" sz="2400" dirty="0">
                <a:latin typeface="Arial" panose="020B0604020202020204" pitchFamily="34" charset="0"/>
                <a:cs typeface="Arial" panose="020B0604020202020204" pitchFamily="34" charset="0"/>
              </a:rPr>
              <a:t>Integrate and summarize the data for readers</a:t>
            </a:r>
          </a:p>
        </p:txBody>
      </p:sp>
    </p:spTree>
    <p:extLst>
      <p:ext uri="{BB962C8B-B14F-4D97-AF65-F5344CB8AC3E}">
        <p14:creationId xmlns:p14="http://schemas.microsoft.com/office/powerpoint/2010/main" val="159211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719"/>
            <a:ext cx="8229600" cy="590349"/>
          </a:xfrm>
        </p:spPr>
        <p:txBody>
          <a:bodyPr lIns="0" tIns="18000" rIns="0" bIns="18000" anchor="b">
            <a:spAutoFit/>
          </a:bodyPr>
          <a:lstStyle/>
          <a:p>
            <a:pPr lvl="0">
              <a:spcBef>
                <a:spcPct val="0"/>
              </a:spcBef>
              <a:buClrTx/>
            </a:pPr>
            <a:r>
              <a:rPr lang="en-US" sz="3600" kern="1200" dirty="0">
                <a:latin typeface="+mj-lt"/>
                <a:ea typeface="+mj-ea"/>
                <a:cs typeface="Times New Roman" panose="02020603050405020304" pitchFamily="18" charset="0"/>
              </a:rPr>
              <a:t>Analysis as a Spiral </a:t>
            </a:r>
            <a:r>
              <a:rPr lang="en-US" sz="2800" kern="1200" dirty="0">
                <a:latin typeface="+mj-lt"/>
                <a:ea typeface="+mj-ea"/>
                <a:cs typeface="Times New Roman" panose="02020603050405020304" pitchFamily="18" charset="0"/>
              </a:rPr>
              <a:t>(2 of 2)</a:t>
            </a:r>
          </a:p>
        </p:txBody>
      </p:sp>
      <p:pic>
        <p:nvPicPr>
          <p:cNvPr id="28" name="Picture Placeholder 27" descr="A diagram shows the spiral diagram between the raw data and the final report. &#10;Long description is available in notes, press F6.">
            <a:extLst>
              <a:ext uri="{FF2B5EF4-FFF2-40B4-BE49-F238E27FC236}">
                <a16:creationId xmlns:a16="http://schemas.microsoft.com/office/drawing/2014/main" id="{6F963FD5-B170-477C-99AE-BD9629B2EB54}"/>
              </a:ext>
            </a:extLst>
          </p:cNvPr>
          <p:cNvPicPr>
            <a:picLocks noGrp="1" noChangeAspect="1"/>
          </p:cNvPicPr>
          <p:nvPr>
            <p:ph type="pic" sz="quarter" idx="23"/>
          </p:nvPr>
        </p:nvPicPr>
        <p:blipFill>
          <a:blip r:embed="rId3"/>
          <a:stretch>
            <a:fillRect/>
          </a:stretch>
        </p:blipFill>
        <p:spPr>
          <a:xfrm>
            <a:off x="2672519" y="1437218"/>
            <a:ext cx="3810000" cy="4943475"/>
          </a:xfrm>
        </p:spPr>
      </p:pic>
    </p:spTree>
    <p:extLst>
      <p:ext uri="{BB962C8B-B14F-4D97-AF65-F5344CB8AC3E}">
        <p14:creationId xmlns:p14="http://schemas.microsoft.com/office/powerpoint/2010/main" val="2153305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18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Researcher-As-Instrument</a:t>
            </a:r>
          </a:p>
        </p:txBody>
      </p:sp>
      <p:sp>
        <p:nvSpPr>
          <p:cNvPr id="7" name="Content Placeholder 6">
            <a:extLst>
              <a:ext uri="{FF2B5EF4-FFF2-40B4-BE49-F238E27FC236}">
                <a16:creationId xmlns:a16="http://schemas.microsoft.com/office/drawing/2014/main" id="{FFC18D87-A4D6-4369-B040-FE8F51C8AB68}"/>
              </a:ext>
            </a:extLst>
          </p:cNvPr>
          <p:cNvSpPr>
            <a:spLocks noGrp="1"/>
          </p:cNvSpPr>
          <p:nvPr>
            <p:ph sz="quarter" idx="13"/>
          </p:nvPr>
        </p:nvSpPr>
        <p:spPr>
          <a:xfrm>
            <a:off x="444326" y="1051322"/>
            <a:ext cx="8267874" cy="1513679"/>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Qualitative research requires the researcher to make many judgment calls. Because of this, the research is essentially an instrument within the study. These strategies help to maintain credibility and trustworthiness:</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415811B1-EA73-4007-B132-0ADA02BCCE1E}"/>
              </a:ext>
            </a:extLst>
          </p:cNvPr>
          <p:cNvSpPr>
            <a:spLocks noGrp="1"/>
          </p:cNvSpPr>
          <p:nvPr>
            <p:ph sz="quarter" idx="14"/>
          </p:nvPr>
        </p:nvSpPr>
        <p:spPr>
          <a:xfrm>
            <a:off x="457200" y="2755630"/>
            <a:ext cx="8267874" cy="1898400"/>
          </a:xfrm>
        </p:spPr>
        <p:txBody>
          <a:bodyPr wrap="square" lIns="0" tIns="18000" rIns="0" bIns="18000">
            <a:spAutoFit/>
          </a:bodyPr>
          <a:lstStyle/>
          <a:p>
            <a:pPr marL="457632" indent="-457200">
              <a:buFont typeface="+mj-lt"/>
              <a:buAutoNum type="arabicPeriod"/>
            </a:pPr>
            <a:r>
              <a:rPr lang="en-US" sz="2400" dirty="0">
                <a:latin typeface="Arial" panose="020B0604020202020204" pitchFamily="34" charset="0"/>
                <a:cs typeface="Arial" panose="020B0604020202020204" pitchFamily="34" charset="0"/>
              </a:rPr>
              <a:t>Strive for balance, fairness, and completeness</a:t>
            </a:r>
          </a:p>
          <a:p>
            <a:pPr marL="457632" indent="-457200">
              <a:buFont typeface="+mj-lt"/>
              <a:buAutoNum type="arabicPeriod"/>
            </a:pPr>
            <a:r>
              <a:rPr lang="en-US" sz="2400" dirty="0">
                <a:latin typeface="Arial" panose="020B0604020202020204" pitchFamily="34" charset="0"/>
                <a:cs typeface="Arial" panose="020B0604020202020204" pitchFamily="34" charset="0"/>
              </a:rPr>
              <a:t>Carefully document your analysis procedures</a:t>
            </a:r>
          </a:p>
          <a:p>
            <a:pPr marL="457632" indent="-457200">
              <a:buFont typeface="+mj-lt"/>
              <a:buAutoNum type="arabicPeriod"/>
            </a:pPr>
            <a:r>
              <a:rPr lang="en-US" sz="2400" dirty="0">
                <a:latin typeface="Arial" panose="020B0604020202020204" pitchFamily="34" charset="0"/>
                <a:cs typeface="Arial" panose="020B0604020202020204" pitchFamily="34" charset="0"/>
              </a:rPr>
              <a:t>In your final report, be up front about your personal biases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5561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5455"/>
            <a:ext cx="8307238" cy="405683"/>
          </a:xfrm>
        </p:spPr>
        <p:txBody>
          <a:bodyPr lIns="0" tIns="18000" rIns="0" bIns="18000">
            <a:spAutoFit/>
          </a:bodyPr>
          <a:lstStyle/>
          <a:p>
            <a:pPr lvl="0">
              <a:spcBef>
                <a:spcPct val="0"/>
              </a:spcBef>
              <a:buClrTx/>
            </a:pPr>
            <a:r>
              <a:rPr lang="en-US" sz="2400" kern="1200" dirty="0">
                <a:latin typeface="+mj-lt"/>
                <a:ea typeface="+mj-ea"/>
                <a:cs typeface="Times New Roman" panose="02020603050405020304" pitchFamily="18" charset="0"/>
              </a:rPr>
              <a:t>Analyzing and Interpreting Mixed-Methods Data </a:t>
            </a:r>
            <a:r>
              <a:rPr lang="en-US" sz="1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724953"/>
            <a:ext cx="8229600" cy="370658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Strategies for analyzing and interpreting data in a mixed-methods study vary depending on the general design of the study.</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mixed methodologist must decide early on whether they will:</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give qualitative data and quantitative data equal weight in drawing conclusions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give higher importance to one form of data over the other</a:t>
            </a:r>
          </a:p>
        </p:txBody>
      </p:sp>
    </p:spTree>
    <p:extLst>
      <p:ext uri="{BB962C8B-B14F-4D97-AF65-F5344CB8AC3E}">
        <p14:creationId xmlns:p14="http://schemas.microsoft.com/office/powerpoint/2010/main" val="1997939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5451"/>
            <a:ext cx="8229600" cy="405683"/>
          </a:xfrm>
        </p:spPr>
        <p:txBody>
          <a:bodyPr lIns="0" tIns="18000" rIns="0" bIns="18000">
            <a:spAutoFit/>
          </a:bodyPr>
          <a:lstStyle/>
          <a:p>
            <a:pPr lvl="0">
              <a:spcBef>
                <a:spcPct val="0"/>
              </a:spcBef>
              <a:buClrTx/>
            </a:pPr>
            <a:r>
              <a:rPr lang="en-US" sz="2400" kern="1200" dirty="0">
                <a:latin typeface="+mj-lt"/>
                <a:ea typeface="+mj-ea"/>
                <a:cs typeface="Times New Roman" panose="02020603050405020304" pitchFamily="18" charset="0"/>
              </a:rPr>
              <a:t>Analyzing and Interpreting Mixed-Methods Data </a:t>
            </a:r>
            <a:r>
              <a:rPr lang="en-US" sz="1800" kern="1200" dirty="0">
                <a:latin typeface="+mj-lt"/>
                <a:ea typeface="+mj-ea"/>
                <a:cs typeface="Times New Roman" panose="02020603050405020304" pitchFamily="18" charset="0"/>
              </a:rPr>
              <a:t>(2 of 3)</a:t>
            </a:r>
          </a:p>
        </p:txBody>
      </p:sp>
      <p:sp>
        <p:nvSpPr>
          <p:cNvPr id="7" name="Content Placeholder 6">
            <a:extLst>
              <a:ext uri="{FF2B5EF4-FFF2-40B4-BE49-F238E27FC236}">
                <a16:creationId xmlns:a16="http://schemas.microsoft.com/office/drawing/2014/main" id="{FFC18D87-A4D6-4369-B040-FE8F51C8AB68}"/>
              </a:ext>
            </a:extLst>
          </p:cNvPr>
          <p:cNvSpPr>
            <a:spLocks noGrp="1"/>
          </p:cNvSpPr>
          <p:nvPr>
            <p:ph sz="quarter" idx="13"/>
          </p:nvPr>
        </p:nvSpPr>
        <p:spPr>
          <a:xfrm>
            <a:off x="460375" y="1734274"/>
            <a:ext cx="8229600" cy="775015"/>
          </a:xfrm>
        </p:spPr>
        <p:txBody>
          <a:bodyPr lIns="0" tIns="18000" rIns="0" bIns="18000">
            <a:spAutoFit/>
          </a:bodyPr>
          <a:lstStyle/>
          <a:p>
            <a:r>
              <a:rPr lang="en-US" sz="2400" dirty="0">
                <a:latin typeface="Arial" panose="020B0604020202020204" pitchFamily="34" charset="0"/>
                <a:cs typeface="Arial" panose="020B0604020202020204" pitchFamily="34" charset="0"/>
              </a:rPr>
              <a:t>Data analysis in a mixed-methods study will probably include at least three of the following four steps:</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415811B1-EA73-4007-B132-0ADA02BCCE1E}"/>
              </a:ext>
            </a:extLst>
          </p:cNvPr>
          <p:cNvSpPr>
            <a:spLocks noGrp="1"/>
          </p:cNvSpPr>
          <p:nvPr>
            <p:ph sz="quarter" idx="14"/>
          </p:nvPr>
        </p:nvSpPr>
        <p:spPr>
          <a:xfrm>
            <a:off x="457200" y="2657354"/>
            <a:ext cx="8232775" cy="2852507"/>
          </a:xfrm>
        </p:spPr>
        <p:txBody>
          <a:bodyPr lIns="0" tIns="18000" rIns="0" bIns="18000">
            <a:spAutoFit/>
          </a:bodyPr>
          <a:lstStyle/>
          <a:p>
            <a:pPr marL="811213" lvl="1" indent="-447675">
              <a:buFont typeface="+mj-lt"/>
              <a:buAutoNum type="arabicPeriod"/>
            </a:pPr>
            <a:r>
              <a:rPr lang="en-US" sz="2400" dirty="0">
                <a:latin typeface="Arial" panose="020B0604020202020204" pitchFamily="34" charset="0"/>
                <a:cs typeface="Arial" panose="020B0604020202020204" pitchFamily="34" charset="0"/>
              </a:rPr>
              <a:t>Condensing the data</a:t>
            </a:r>
          </a:p>
          <a:p>
            <a:pPr marL="811213" lvl="1" indent="-447675">
              <a:buFont typeface="+mj-lt"/>
              <a:buAutoNum type="arabicPeriod"/>
            </a:pPr>
            <a:r>
              <a:rPr lang="en-US" sz="2400" dirty="0">
                <a:latin typeface="Arial" panose="020B0604020202020204" pitchFamily="34" charset="0"/>
                <a:cs typeface="Arial" panose="020B0604020202020204" pitchFamily="34" charset="0"/>
              </a:rPr>
              <a:t>Depicting general patterns in the data in ways that enable quick visual inspection</a:t>
            </a:r>
          </a:p>
          <a:p>
            <a:pPr marL="811213" lvl="1" indent="-447675">
              <a:buFont typeface="+mj-lt"/>
              <a:buAutoNum type="arabicPeriod"/>
            </a:pPr>
            <a:r>
              <a:rPr lang="en-US" sz="2400" dirty="0">
                <a:latin typeface="Arial" panose="020B0604020202020204" pitchFamily="34" charset="0"/>
                <a:cs typeface="Arial" panose="020B0604020202020204" pitchFamily="34" charset="0"/>
              </a:rPr>
              <a:t>Transforming qualitative data into quantitative entities (an optional step)</a:t>
            </a:r>
          </a:p>
          <a:p>
            <a:pPr marL="811213" lvl="1" indent="-447675">
              <a:buFont typeface="+mj-lt"/>
              <a:buAutoNum type="arabicPeriod"/>
            </a:pPr>
            <a:r>
              <a:rPr lang="en-US" sz="2400" dirty="0">
                <a:latin typeface="Arial" panose="020B0604020202020204" pitchFamily="34" charset="0"/>
                <a:cs typeface="Arial" panose="020B0604020202020204" pitchFamily="34" charset="0"/>
              </a:rPr>
              <a:t>Systematically comparing and integrating results from the two types of data</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5578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5455"/>
            <a:ext cx="8307238" cy="405683"/>
          </a:xfrm>
        </p:spPr>
        <p:txBody>
          <a:bodyPr lIns="0" tIns="18000" rIns="0" bIns="18000">
            <a:spAutoFit/>
          </a:bodyPr>
          <a:lstStyle/>
          <a:p>
            <a:pPr lvl="0">
              <a:spcBef>
                <a:spcPct val="0"/>
              </a:spcBef>
              <a:buClrTx/>
            </a:pPr>
            <a:r>
              <a:rPr lang="en-US" sz="2400" kern="1200" dirty="0">
                <a:latin typeface="+mj-lt"/>
                <a:ea typeface="+mj-ea"/>
                <a:cs typeface="Times New Roman" panose="02020603050405020304" pitchFamily="18" charset="0"/>
              </a:rPr>
              <a:t>Analyzing and Interpreting Mixed-Methods Data </a:t>
            </a:r>
            <a:r>
              <a:rPr lang="en-US" sz="18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444674" y="1713603"/>
            <a:ext cx="8260915" cy="455506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Some strategies for comparing and integrating results may include: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Creating a two-column table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Identifying concrete examples within the qualitative data that give meaning and depth to the numbers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Count the number of times themes appear in interviews and then compare with frequency counts from survey responses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participants into two or more groups based on demographics and statistically compare frequencies of codes or themes within qualitative data for each group</a:t>
            </a:r>
          </a:p>
        </p:txBody>
      </p:sp>
    </p:spTree>
    <p:extLst>
      <p:ext uri="{BB962C8B-B14F-4D97-AF65-F5344CB8AC3E}">
        <p14:creationId xmlns:p14="http://schemas.microsoft.com/office/powerpoint/2010/main" val="2340676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959"/>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Systematic Reviews of Qualitative and Mixed-Methods Studies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718857"/>
            <a:ext cx="8255000" cy="389334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Consolidating the results of many quantitative studies is done through meta-analysis. The qualitative and mixed-methods alternative is the systematic review.</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 a systematic review, research reports, rather than individual people or other individual entities, are the objects of the study.</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researcher identifies and implements an explicit, rigorous method for selecting and analyzing research reports.</a:t>
            </a:r>
          </a:p>
        </p:txBody>
      </p:sp>
    </p:spTree>
    <p:extLst>
      <p:ext uri="{BB962C8B-B14F-4D97-AF65-F5344CB8AC3E}">
        <p14:creationId xmlns:p14="http://schemas.microsoft.com/office/powerpoint/2010/main" val="962598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961"/>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Systematic Reviews of Qualitative and Mixed-Methods Studies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31800" y="1723301"/>
            <a:ext cx="8280400" cy="366811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Researchers conducting a systematic review are likely to:</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Conduct an extensive search for studies related to the research problem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Evaluate the quality of each report and then choose to exclude or give less credence to certain reports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Coe the contents of the reports for key ideas, concepts, themes, and/or theories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Perform one or more meta-analyses of any statistical findings reported in the studies</a:t>
            </a:r>
          </a:p>
        </p:txBody>
      </p:sp>
    </p:spTree>
    <p:extLst>
      <p:ext uri="{BB962C8B-B14F-4D97-AF65-F5344CB8AC3E}">
        <p14:creationId xmlns:p14="http://schemas.microsoft.com/office/powerpoint/2010/main" val="198909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DE5AC9-E1EB-4F37-B15B-E34AB020DA6D}">
  <ds:schemaRefs>
    <ds:schemaRef ds:uri="http://schemas.microsoft.com/sharepoint/v3/contenttype/forms"/>
  </ds:schemaRefs>
</ds:datastoreItem>
</file>

<file path=customXml/itemProps2.xml><?xml version="1.0" encoding="utf-8"?>
<ds:datastoreItem xmlns:ds="http://schemas.openxmlformats.org/officeDocument/2006/customXml" ds:itemID="{F0D9777E-36FE-48BC-8EDC-BAAE40EC7F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958632-9A73-4546-B0C0-CC02CDBAA71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8156</TotalTime>
  <Words>987</Words>
  <Application>Microsoft Office PowerPoint</Application>
  <PresentationFormat>On-screen Show (4:3)</PresentationFormat>
  <Paragraphs>73</Paragraphs>
  <Slides>14</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Arial (Headings)</vt:lpstr>
      <vt:lpstr>Noto Sans Symbols</vt:lpstr>
      <vt:lpstr>Times New Roman</vt:lpstr>
      <vt:lpstr>Verdana</vt:lpstr>
      <vt:lpstr>508 Lecture</vt:lpstr>
      <vt:lpstr>1_508 Lecture</vt:lpstr>
      <vt:lpstr>Practical Research: Planning and Design</vt:lpstr>
      <vt:lpstr>The Nature of Qualitative Analysis</vt:lpstr>
      <vt:lpstr>Strategies for Organization and Analysis (1 of 3)</vt:lpstr>
      <vt:lpstr>Strategies for Organization and Analysis (2 of 3)</vt:lpstr>
      <vt:lpstr>Strategies for Organization and Analysis (3 of 3)</vt:lpstr>
      <vt:lpstr>Analysis as a Spiral (1 of 2)</vt:lpstr>
      <vt:lpstr>Analysis as a Spiral (2 of 2)</vt:lpstr>
      <vt:lpstr>Researcher-As-Instrument</vt:lpstr>
      <vt:lpstr>Analyzing and Interpreting Mixed-Methods Data (1 of 3)</vt:lpstr>
      <vt:lpstr>Analyzing and Interpreting Mixed-Methods Data (2 of 3)</vt:lpstr>
      <vt:lpstr>Analyzing and Interpreting Mixed-Methods Data (3 of 3)</vt:lpstr>
      <vt:lpstr>Systematic Reviews of Qualitative and Mixed-Methods Studies (1 of 2)</vt:lpstr>
      <vt:lpstr>Systematic Reviews of Qualitative and Mixed-Methods Studies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12</dc:title>
  <dc:subject>TED/Careers</dc:subject>
  <dc:creator>Leedy and Ormrod</dc:creator>
  <cp:keywords>Practical Research</cp:keywords>
  <cp:lastModifiedBy>Md. Shakil Hossain</cp:lastModifiedBy>
  <cp:revision>833</cp:revision>
  <dcterms:modified xsi:type="dcterms:W3CDTF">2026-05-31T08:53:21Z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