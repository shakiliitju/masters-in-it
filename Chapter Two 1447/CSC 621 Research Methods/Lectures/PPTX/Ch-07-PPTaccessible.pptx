
<file path=[Content_Types].xml><?xml version="1.0" encoding="utf-8"?>
<Types xmlns="http://schemas.openxmlformats.org/package/2006/content-types">
  <Default Extension="bin" ContentType="application/vnd.openxmlformats-officedocument.oleObject"/>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32"/>
  </p:notesMasterIdLst>
  <p:handoutMasterIdLst>
    <p:handoutMasterId r:id="rId33"/>
  </p:handoutMasterIdLst>
  <p:sldIdLst>
    <p:sldId id="333" r:id="rId6"/>
    <p:sldId id="307" r:id="rId7"/>
    <p:sldId id="308" r:id="rId8"/>
    <p:sldId id="309" r:id="rId9"/>
    <p:sldId id="310" r:id="rId10"/>
    <p:sldId id="311" r:id="rId11"/>
    <p:sldId id="312" r:id="rId12"/>
    <p:sldId id="313" r:id="rId13"/>
    <p:sldId id="314" r:id="rId14"/>
    <p:sldId id="315" r:id="rId15"/>
    <p:sldId id="332" r:id="rId16"/>
    <p:sldId id="338"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36" r:id="rId3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903" userDrawn="1">
          <p15:clr>
            <a:srgbClr val="A4A3A4"/>
          </p15:clr>
        </p15:guide>
        <p15:guide id="3" orient="horz" pos="913" userDrawn="1">
          <p15:clr>
            <a:srgbClr val="A4A3A4"/>
          </p15:clr>
        </p15:guide>
        <p15:guide id="4" orient="horz" pos="459" userDrawn="1">
          <p15:clr>
            <a:srgbClr val="A4A3A4"/>
          </p15:clr>
        </p15:guide>
        <p15:guide id="5" orient="horz" pos="300" userDrawn="1">
          <p15:clr>
            <a:srgbClr val="A4A3A4"/>
          </p15:clr>
        </p15:guide>
        <p15:guide id="6" orient="horz" pos="4088" userDrawn="1">
          <p15:clr>
            <a:srgbClr val="A4A3A4"/>
          </p15:clr>
        </p15:guide>
        <p15:guide id="7" pos="272" userDrawn="1">
          <p15:clr>
            <a:srgbClr val="A4A3A4"/>
          </p15:clr>
        </p15:guide>
        <p15:guide id="8" pos="54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6" autoAdjust="0"/>
    <p:restoredTop sz="78222" autoAdjust="0"/>
  </p:normalViewPr>
  <p:slideViewPr>
    <p:cSldViewPr snapToGrid="0" snapToObjects="1">
      <p:cViewPr varScale="1">
        <p:scale>
          <a:sx n="54" d="100"/>
          <a:sy n="54" d="100"/>
        </p:scale>
        <p:origin x="1764" y="78"/>
      </p:cViewPr>
      <p:guideLst>
        <p:guide orient="horz" pos="2160"/>
        <p:guide pos="2903"/>
        <p:guide orient="horz" pos="913"/>
        <p:guide orient="horz" pos="459"/>
        <p:guide orient="horz" pos="300"/>
        <p:guide orient="horz" pos="4088"/>
        <p:guide pos="272"/>
        <p:guide pos="5488"/>
      </p:guideLst>
    </p:cSldViewPr>
  </p:slideViewPr>
  <p:outlineViewPr>
    <p:cViewPr>
      <p:scale>
        <a:sx n="50" d="100"/>
        <a:sy n="50" d="100"/>
      </p:scale>
      <p:origin x="0" y="-36522"/>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4/13/2026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details of the table are as follows: treatments related to the two variables may occur simultaneously or sequentially; the treatment related variable 1 and treatment related variable 2 are as follows: random assignment; group 1, Tx sub 1, Tx sub 2, </a:t>
            </a:r>
            <a:r>
              <a:rPr lang="en-US" dirty="0" err="1"/>
              <a:t>Obs</a:t>
            </a:r>
            <a:r>
              <a:rPr lang="en-US" dirty="0"/>
              <a:t>; group 2, Tx sub 1, nil, </a:t>
            </a:r>
            <a:r>
              <a:rPr lang="en-US" dirty="0" err="1"/>
              <a:t>Obs</a:t>
            </a:r>
            <a:r>
              <a:rPr lang="en-US" dirty="0"/>
              <a:t>; group 3, nil, Tx sub 2, </a:t>
            </a:r>
            <a:r>
              <a:rPr lang="en-US" dirty="0" err="1"/>
              <a:t>Obs</a:t>
            </a:r>
            <a:r>
              <a:rPr lang="en-US" dirty="0"/>
              <a:t>; group 4, nil, nil, Obs.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91839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The details of the table are as follows: group 1, prior event, Exp sub a; investigation period, group 1 a, Tx sub a and </a:t>
            </a:r>
            <a:r>
              <a:rPr lang="en-US" dirty="0" err="1"/>
              <a:t>Obs</a:t>
            </a:r>
            <a:r>
              <a:rPr lang="en-US" dirty="0"/>
              <a:t>; group 1 b, Tx sub b and </a:t>
            </a:r>
            <a:r>
              <a:rPr lang="en-US" dirty="0" err="1"/>
              <a:t>Obs</a:t>
            </a:r>
            <a:r>
              <a:rPr lang="en-US" dirty="0"/>
              <a:t>; group 2, prior event, Exp sub b; investigation period, group 2 a, Tx sub a and </a:t>
            </a:r>
            <a:r>
              <a:rPr lang="en-US" dirty="0" err="1"/>
              <a:t>Obs</a:t>
            </a:r>
            <a:r>
              <a:rPr lang="en-US"/>
              <a:t>; group 2 b, Tx sub b and Obs.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87274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ABA69548-0496-4F73-96D3-54455F84F085}"/>
              </a:ext>
            </a:extLst>
          </p:cNvPr>
          <p:cNvSpPr>
            <a:spLocks noGrp="1"/>
          </p:cNvSpPr>
          <p:nvPr>
            <p:ph sz="quarter" idx="23"/>
          </p:nvPr>
        </p:nvSpPr>
        <p:spPr>
          <a:xfrm>
            <a:off x="8045450" y="6049963"/>
            <a:ext cx="971550" cy="29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71571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4/12/2026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603460"/>
            <a:ext cx="8229600" cy="7208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473720" y="3606720"/>
            <a:ext cx="8229600" cy="751635"/>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4"/>
          <p:cNvSpPr>
            <a:spLocks noGrp="1"/>
          </p:cNvSpPr>
          <p:nvPr>
            <p:ph sz="quarter" idx="15"/>
          </p:nvPr>
        </p:nvSpPr>
        <p:spPr>
          <a:xfrm>
            <a:off x="473075" y="4718050"/>
            <a:ext cx="8229600" cy="8445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9C20C165-F9E3-49B7-BCC1-250D0360495D}"/>
              </a:ext>
            </a:extLst>
          </p:cNvPr>
          <p:cNvSpPr>
            <a:spLocks noGrp="1"/>
          </p:cNvSpPr>
          <p:nvPr>
            <p:ph sz="quarter" idx="16"/>
          </p:nvPr>
        </p:nvSpPr>
        <p:spPr>
          <a:xfrm>
            <a:off x="4911725" y="6172200"/>
            <a:ext cx="1265238" cy="469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51164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55497638-C3DF-4D51-82F7-7C1A68DD11AD}"/>
              </a:ext>
            </a:extLst>
          </p:cNvPr>
          <p:cNvSpPr>
            <a:spLocks noGrp="1"/>
          </p:cNvSpPr>
          <p:nvPr>
            <p:ph type="body" sz="quarter" idx="10"/>
          </p:nvPr>
        </p:nvSpPr>
        <p:spPr>
          <a:xfrm>
            <a:off x="457200" y="1541463"/>
            <a:ext cx="8229600" cy="628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128D239-7C33-466D-BF17-0210B0398C94}"/>
              </a:ext>
            </a:extLst>
          </p:cNvPr>
          <p:cNvSpPr>
            <a:spLocks noGrp="1"/>
          </p:cNvSpPr>
          <p:nvPr>
            <p:ph sz="quarter" idx="11"/>
          </p:nvPr>
        </p:nvSpPr>
        <p:spPr>
          <a:xfrm>
            <a:off x="457200" y="2360613"/>
            <a:ext cx="8229600" cy="628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ABEC1444-EDE4-4FF2-AAA6-D5C9F1EF38C8}"/>
              </a:ext>
            </a:extLst>
          </p:cNvPr>
          <p:cNvSpPr>
            <a:spLocks noGrp="1"/>
          </p:cNvSpPr>
          <p:nvPr>
            <p:ph sz="quarter" idx="12"/>
          </p:nvPr>
        </p:nvSpPr>
        <p:spPr>
          <a:xfrm>
            <a:off x="457200" y="3179763"/>
            <a:ext cx="8229600" cy="628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52EA2271-43DB-4B0E-9A99-EDB8699FED62}"/>
              </a:ext>
            </a:extLst>
          </p:cNvPr>
          <p:cNvSpPr>
            <a:spLocks noGrp="1"/>
          </p:cNvSpPr>
          <p:nvPr>
            <p:ph type="pic" sz="quarter" idx="13"/>
          </p:nvPr>
        </p:nvSpPr>
        <p:spPr>
          <a:xfrm>
            <a:off x="457200" y="4108450"/>
            <a:ext cx="3432175" cy="1528763"/>
          </a:xfrm>
        </p:spPr>
        <p:txBody>
          <a:bodyPr/>
          <a:lstStyle/>
          <a:p>
            <a:endParaRPr lang="en-US"/>
          </a:p>
        </p:txBody>
      </p:sp>
      <p:sp>
        <p:nvSpPr>
          <p:cNvPr id="18" name="Picture Placeholder 17">
            <a:extLst>
              <a:ext uri="{FF2B5EF4-FFF2-40B4-BE49-F238E27FC236}">
                <a16:creationId xmlns:a16="http://schemas.microsoft.com/office/drawing/2014/main" id="{51D98F81-0C59-46E9-868B-21CA9FCF21D1}"/>
              </a:ext>
            </a:extLst>
          </p:cNvPr>
          <p:cNvSpPr>
            <a:spLocks noGrp="1"/>
          </p:cNvSpPr>
          <p:nvPr>
            <p:ph type="pic" sz="quarter" idx="14"/>
          </p:nvPr>
        </p:nvSpPr>
        <p:spPr>
          <a:xfrm>
            <a:off x="4681538" y="4108450"/>
            <a:ext cx="3643312" cy="1528763"/>
          </a:xfrm>
        </p:spPr>
        <p:txBody>
          <a:bodyPr/>
          <a:lstStyle/>
          <a:p>
            <a:endParaRPr lang="en-US"/>
          </a:p>
        </p:txBody>
      </p:sp>
    </p:spTree>
    <p:extLst>
      <p:ext uri="{BB962C8B-B14F-4D97-AF65-F5344CB8AC3E}">
        <p14:creationId xmlns:p14="http://schemas.microsoft.com/office/powerpoint/2010/main" val="2970071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5331CB7C-510D-4CFC-901E-E863A0A29757}"/>
              </a:ext>
            </a:extLst>
          </p:cNvPr>
          <p:cNvSpPr>
            <a:spLocks noGrp="1"/>
          </p:cNvSpPr>
          <p:nvPr>
            <p:ph sz="quarter" idx="10"/>
          </p:nvPr>
        </p:nvSpPr>
        <p:spPr>
          <a:xfrm>
            <a:off x="1990725" y="2324100"/>
            <a:ext cx="5033963" cy="1436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A09347AE-7B18-44B9-A7A2-E00052F4811C}"/>
              </a:ext>
            </a:extLst>
          </p:cNvPr>
          <p:cNvSpPr>
            <a:spLocks noGrp="1"/>
          </p:cNvSpPr>
          <p:nvPr>
            <p:ph type="pic" sz="quarter" idx="11"/>
          </p:nvPr>
        </p:nvSpPr>
        <p:spPr>
          <a:xfrm>
            <a:off x="1905000" y="4425950"/>
            <a:ext cx="5273675" cy="1231900"/>
          </a:xfrm>
        </p:spPr>
        <p:txBody>
          <a:bodyPr/>
          <a:lstStyle/>
          <a:p>
            <a:endParaRPr lang="en-US"/>
          </a:p>
        </p:txBody>
      </p:sp>
    </p:spTree>
    <p:extLst>
      <p:ext uri="{BB962C8B-B14F-4D97-AF65-F5344CB8AC3E}">
        <p14:creationId xmlns:p14="http://schemas.microsoft.com/office/powerpoint/2010/main" val="2213527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6827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52760D6A-39EE-442F-AA32-B3A8F4BE0867}"/>
              </a:ext>
            </a:extLst>
          </p:cNvPr>
          <p:cNvSpPr>
            <a:spLocks noGrp="1"/>
          </p:cNvSpPr>
          <p:nvPr>
            <p:ph type="pic" sz="quarter" idx="14"/>
          </p:nvPr>
        </p:nvSpPr>
        <p:spPr>
          <a:xfrm>
            <a:off x="922338" y="2632075"/>
            <a:ext cx="3530600" cy="1462088"/>
          </a:xfrm>
        </p:spPr>
        <p:txBody>
          <a:bodyPr/>
          <a:lstStyle/>
          <a:p>
            <a:endParaRPr lang="en-US"/>
          </a:p>
        </p:txBody>
      </p:sp>
      <p:sp>
        <p:nvSpPr>
          <p:cNvPr id="5" name="Picture Placeholder 4">
            <a:extLst>
              <a:ext uri="{FF2B5EF4-FFF2-40B4-BE49-F238E27FC236}">
                <a16:creationId xmlns:a16="http://schemas.microsoft.com/office/drawing/2014/main" id="{BE5684DE-C32B-4DD2-9E1D-D84C086E8EC8}"/>
              </a:ext>
            </a:extLst>
          </p:cNvPr>
          <p:cNvSpPr>
            <a:spLocks noGrp="1"/>
          </p:cNvSpPr>
          <p:nvPr>
            <p:ph type="pic" sz="quarter" idx="15"/>
          </p:nvPr>
        </p:nvSpPr>
        <p:spPr>
          <a:xfrm>
            <a:off x="922338" y="4486275"/>
            <a:ext cx="3649662" cy="717550"/>
          </a:xfrm>
        </p:spPr>
        <p:txBody>
          <a:bodyPr/>
          <a:lstStyle/>
          <a:p>
            <a:endParaRPr lang="en-US"/>
          </a:p>
        </p:txBody>
      </p:sp>
    </p:spTree>
    <p:extLst>
      <p:ext uri="{BB962C8B-B14F-4D97-AF65-F5344CB8AC3E}">
        <p14:creationId xmlns:p14="http://schemas.microsoft.com/office/powerpoint/2010/main" val="2382112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D2E62DD5-66A2-415E-9FA9-2238B768AF1B}"/>
              </a:ext>
            </a:extLst>
          </p:cNvPr>
          <p:cNvPicPr>
            <a:picLocks noChangeAspect="1"/>
          </p:cNvPicPr>
          <p:nvPr userDrawn="1"/>
        </p:nvPicPr>
        <p:blipFill>
          <a:blip r:embed="rId15"/>
          <a:stretch>
            <a:fillRect/>
          </a:stretch>
        </p:blipFill>
        <p:spPr>
          <a:xfrm>
            <a:off x="439948" y="6436893"/>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95" r:id="rId11"/>
    <p:sldLayoutId id="2147483679" r:id="rId12"/>
    <p:sldLayoutId id="214748369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4" r:id="rId2"/>
    <p:sldLayoutId id="2147483696"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90338"/>
            <a:ext cx="8272252" cy="1144347"/>
          </a:xfrm>
        </p:spPr>
        <p:txBody>
          <a:bodyPr wrap="square" lIns="0" tIns="18000" rIns="0" bIns="18000" anchor="t" anchorCtr="0">
            <a:spAutoFit/>
          </a:bodyPr>
          <a:lstStyle/>
          <a:p>
            <a:r>
              <a:rPr lang="en-US" sz="3600">
                <a:latin typeface="+mj-lt"/>
                <a:cs typeface="Times New Roman" panose="02020603050405020304" pitchFamily="18" charset="0"/>
              </a:rPr>
              <a:t>Practical Research: Planning and Design</a:t>
            </a:r>
            <a:endParaRPr lang="en-US" sz="360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454783"/>
            <a:ext cx="8272252" cy="344128"/>
          </a:xfrm>
        </p:spPr>
        <p:txBody>
          <a:bodyPr wrap="square" lIns="0" tIns="18000" rIns="0" bIns="18000" anchor="t" anchorCtr="0">
            <a:spAutoFit/>
          </a:bodyPr>
          <a:lstStyle/>
          <a:p>
            <a:r>
              <a:rPr lang="en-US">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AD32C8C1-9546-45BF-9855-318A9D85AA40}"/>
              </a:ext>
            </a:extLst>
          </p:cNvPr>
          <p:cNvPicPr>
            <a:picLocks noGrp="1" noChangeAspect="1"/>
          </p:cNvPicPr>
          <p:nvPr>
            <p:ph type="pic" sz="quarter" idx="14"/>
          </p:nvPr>
        </p:nvPicPr>
        <p:blipFill>
          <a:blip r:embed="rId3"/>
          <a:stretch>
            <a:fillRect/>
          </a:stretch>
        </p:blipFill>
        <p:spPr>
          <a:xfrm>
            <a:off x="439948" y="1889814"/>
            <a:ext cx="3572256" cy="4456176"/>
          </a:xfrm>
          <a:prstGeom prst="rect">
            <a:avLst/>
          </a:prstGeom>
        </p:spPr>
      </p:pic>
      <p:sp>
        <p:nvSpPr>
          <p:cNvPr id="4" name="Text Placeholder 3"/>
          <p:cNvSpPr>
            <a:spLocks noGrp="1"/>
          </p:cNvSpPr>
          <p:nvPr>
            <p:ph type="body" idx="2"/>
          </p:nvPr>
        </p:nvSpPr>
        <p:spPr>
          <a:xfrm>
            <a:off x="4608513" y="2694066"/>
            <a:ext cx="1863304"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7</a:t>
            </a:r>
          </a:p>
        </p:txBody>
      </p:sp>
      <p:sp>
        <p:nvSpPr>
          <p:cNvPr id="5" name="Text Placeholder 4"/>
          <p:cNvSpPr>
            <a:spLocks noGrp="1"/>
          </p:cNvSpPr>
          <p:nvPr>
            <p:ph type="body" idx="3"/>
          </p:nvPr>
        </p:nvSpPr>
        <p:spPr>
          <a:xfrm>
            <a:off x="4580630" y="3493695"/>
            <a:ext cx="4131570" cy="1052014"/>
          </a:xfrm>
        </p:spPr>
        <p:txBody>
          <a:bodyPr wrap="square" lIns="0" tIns="18000" rIns="0" bIns="18000">
            <a:spAutoFit/>
          </a:bodyPr>
          <a:lstStyle/>
          <a:p>
            <a:r>
              <a:rPr lang="en-US" altLang="en-US">
                <a:latin typeface="Arial" panose="020B0604020202020204" pitchFamily="34" charset="0"/>
                <a:cs typeface="Arial" panose="020B0604020202020204" pitchFamily="34" charset="0"/>
              </a:rPr>
              <a:t>Experimental, Quasi-Experimental, and Ex Post Facto Designs</a:t>
            </a:r>
          </a:p>
        </p:txBody>
      </p:sp>
      <p:pic>
        <p:nvPicPr>
          <p:cNvPr id="13" name="Picture Placeholder 12" descr="Pearson Logo">
            <a:extLst>
              <a:ext uri="{FF2B5EF4-FFF2-40B4-BE49-F238E27FC236}">
                <a16:creationId xmlns:a16="http://schemas.microsoft.com/office/drawing/2014/main" id="{16EB7F78-5949-49DA-A514-4665D83F8E3C}"/>
              </a:ext>
            </a:extLst>
          </p:cNvPr>
          <p:cNvPicPr>
            <a:picLocks noGrp="1" noChangeAspect="1"/>
          </p:cNvPicPr>
          <p:nvPr>
            <p:ph type="pic" sz="quarter" idx="15"/>
          </p:nvPr>
        </p:nvPicPr>
        <p:blipFill>
          <a:blip r:embed="rId4"/>
          <a:stretch>
            <a:fillRect/>
          </a:stretch>
        </p:blipFill>
        <p:spPr>
          <a:xfrm>
            <a:off x="439948" y="6436893"/>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3941757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6"/>
            <a:ext cx="8229600" cy="590349"/>
          </a:xfrm>
        </p:spPr>
        <p:txBody>
          <a:bodyPr lIns="0" tIns="18000" rIns="0" bIns="18000">
            <a:spAutoFit/>
          </a:bodyPr>
          <a:lstStyle/>
          <a:p>
            <a:pPr lvl="0">
              <a:spcBef>
                <a:spcPct val="0"/>
              </a:spcBef>
              <a:buClrTx/>
            </a:pPr>
            <a:r>
              <a:rPr lang="en-US" altLang="en-US" sz="3600" kern="1200" dirty="0">
                <a:latin typeface="+mj-lt"/>
                <a:ea typeface="+mj-ea"/>
                <a:cs typeface="Times New Roman" panose="02020603050405020304" pitchFamily="18" charset="0"/>
              </a:rPr>
              <a:t>Experimental Studies</a:t>
            </a:r>
          </a:p>
        </p:txBody>
      </p:sp>
      <p:sp>
        <p:nvSpPr>
          <p:cNvPr id="3" name="Text Placeholder 2"/>
          <p:cNvSpPr>
            <a:spLocks noGrp="1"/>
          </p:cNvSpPr>
          <p:nvPr>
            <p:ph type="body" idx="1"/>
          </p:nvPr>
        </p:nvSpPr>
        <p:spPr>
          <a:xfrm>
            <a:off x="457200" y="1464008"/>
            <a:ext cx="8229600" cy="226773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Used to test for cause-and-effect relationships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Many possible factors might cause or influence a particular condition or phenomenon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researcher controls for all influential factors except those whose possible effects are the focus of investigation</a:t>
            </a:r>
          </a:p>
        </p:txBody>
      </p:sp>
    </p:spTree>
    <p:extLst>
      <p:ext uri="{BB962C8B-B14F-4D97-AF65-F5344CB8AC3E}">
        <p14:creationId xmlns:p14="http://schemas.microsoft.com/office/powerpoint/2010/main" val="4156665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Variables</a:t>
            </a:r>
          </a:p>
        </p:txBody>
      </p:sp>
      <p:sp>
        <p:nvSpPr>
          <p:cNvPr id="3" name="Text Placeholder 2"/>
          <p:cNvSpPr>
            <a:spLocks noGrp="1"/>
          </p:cNvSpPr>
          <p:nvPr>
            <p:ph type="body" idx="1"/>
          </p:nvPr>
        </p:nvSpPr>
        <p:spPr>
          <a:xfrm>
            <a:off x="457200" y="1464009"/>
            <a:ext cx="8229600" cy="389334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Variable: quality or characteristic that has two or more values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Independent Variable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researcher studies as a possible cause of something else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researcher directly manipulates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Dependent Variable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potentially influenced by (depends on) the independent variable</a:t>
            </a:r>
          </a:p>
        </p:txBody>
      </p:sp>
    </p:spTree>
    <p:extLst>
      <p:ext uri="{BB962C8B-B14F-4D97-AF65-F5344CB8AC3E}">
        <p14:creationId xmlns:p14="http://schemas.microsoft.com/office/powerpoint/2010/main" val="2195626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Internal Validity</a:t>
            </a:r>
          </a:p>
        </p:txBody>
      </p:sp>
      <p:sp>
        <p:nvSpPr>
          <p:cNvPr id="3" name="Text Placeholder 2"/>
          <p:cNvSpPr>
            <a:spLocks noGrp="1"/>
          </p:cNvSpPr>
          <p:nvPr>
            <p:ph type="body" idx="1"/>
          </p:nvPr>
        </p:nvSpPr>
        <p:spPr>
          <a:xfrm>
            <a:off x="457200" y="1464012"/>
            <a:ext cx="8229600" cy="195995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extent to which the design of a research study and the data it yields allow the researcher to draw accurate conclusions about cause-and-effect and other relationships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Experimental designs must be internally valid, or the results are not interpretable</a:t>
            </a:r>
          </a:p>
        </p:txBody>
      </p:sp>
    </p:spTree>
    <p:extLst>
      <p:ext uri="{BB962C8B-B14F-4D97-AF65-F5344CB8AC3E}">
        <p14:creationId xmlns:p14="http://schemas.microsoft.com/office/powerpoint/2010/main" val="298330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Confounding Variables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54285"/>
            <a:ext cx="8229600" cy="114434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Factors that might account for differences that are not attributable to the particular treatment or intervention being studied</a:t>
            </a:r>
          </a:p>
        </p:txBody>
      </p:sp>
    </p:spTree>
    <p:extLst>
      <p:ext uri="{BB962C8B-B14F-4D97-AF65-F5344CB8AC3E}">
        <p14:creationId xmlns:p14="http://schemas.microsoft.com/office/powerpoint/2010/main" val="175809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5"/>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Confounding Variables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4008"/>
            <a:ext cx="8229600" cy="337572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Example: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Two classes use different methods of teaching science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Teaching method = independent variable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Two different teachers = confounding variable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Teachers of different sex = another confounding variable</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Time of day the class taught = another confounding variable</a:t>
            </a:r>
          </a:p>
        </p:txBody>
      </p:sp>
    </p:spTree>
    <p:extLst>
      <p:ext uri="{BB962C8B-B14F-4D97-AF65-F5344CB8AC3E}">
        <p14:creationId xmlns:p14="http://schemas.microsoft.com/office/powerpoint/2010/main" val="4108346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948"/>
            <a:ext cx="8229600" cy="1162523"/>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Strategies for Controlling Confounding Variables </a:t>
            </a:r>
            <a:r>
              <a:rPr lang="en-US" sz="2800" kern="1200">
                <a:latin typeface="+mj-lt"/>
                <a:ea typeface="+mj-ea"/>
                <a:cs typeface="Times New Roman" panose="02020603050405020304" pitchFamily="18" charset="0"/>
              </a:rPr>
              <a:t>(1 of 2)</a:t>
            </a:r>
          </a:p>
        </p:txBody>
      </p:sp>
      <p:sp>
        <p:nvSpPr>
          <p:cNvPr id="13" name="Content Placeholder 12">
            <a:extLst>
              <a:ext uri="{FF2B5EF4-FFF2-40B4-BE49-F238E27FC236}">
                <a16:creationId xmlns:a16="http://schemas.microsoft.com/office/drawing/2014/main" id="{B436FDA9-0249-4DD6-8804-44CD076E809F}"/>
              </a:ext>
            </a:extLst>
          </p:cNvPr>
          <p:cNvSpPr>
            <a:spLocks noGrp="1"/>
          </p:cNvSpPr>
          <p:nvPr>
            <p:ph sz="quarter" idx="13"/>
          </p:nvPr>
        </p:nvSpPr>
        <p:spPr>
          <a:xfrm>
            <a:off x="457200" y="1986229"/>
            <a:ext cx="8229600" cy="405683"/>
          </a:xfrm>
        </p:spPr>
        <p:txBody>
          <a:bodyPr lIns="0" tIns="18000" rIns="0" bIns="18000">
            <a:spAutoFit/>
          </a:bodyPr>
          <a:lstStyle/>
          <a:p>
            <a:pPr marL="457632" indent="-457200">
              <a:buFont typeface="+mj-lt"/>
              <a:buAutoNum type="arabicPeriod"/>
            </a:pPr>
            <a:r>
              <a:rPr lang="en-US" sz="2400" dirty="0">
                <a:latin typeface="Arial" panose="020B0604020202020204" pitchFamily="34" charset="0"/>
                <a:cs typeface="Arial" panose="020B0604020202020204" pitchFamily="34" charset="0"/>
              </a:rPr>
              <a:t>Keep some things constant</a:t>
            </a:r>
          </a:p>
        </p:txBody>
      </p:sp>
      <p:sp>
        <p:nvSpPr>
          <p:cNvPr id="14" name="Content Placeholder 13">
            <a:extLst>
              <a:ext uri="{FF2B5EF4-FFF2-40B4-BE49-F238E27FC236}">
                <a16:creationId xmlns:a16="http://schemas.microsoft.com/office/drawing/2014/main" id="{A2404CB6-D7FC-47E9-9C06-343CB2CF55B4}"/>
              </a:ext>
            </a:extLst>
          </p:cNvPr>
          <p:cNvSpPr>
            <a:spLocks noGrp="1"/>
          </p:cNvSpPr>
          <p:nvPr>
            <p:ph sz="quarter" idx="14"/>
          </p:nvPr>
        </p:nvSpPr>
        <p:spPr>
          <a:xfrm>
            <a:off x="457200" y="2477679"/>
            <a:ext cx="8232775" cy="405683"/>
          </a:xfrm>
        </p:spPr>
        <p:txBody>
          <a:bodyPr lIns="0" tIns="18000" rIns="0" bIns="18000">
            <a:spAutoFit/>
          </a:bodyPr>
          <a:lstStyle/>
          <a:p>
            <a:pPr marL="829818" lvl="1" indent="-342900"/>
            <a:r>
              <a:rPr lang="en-US" sz="2400" dirty="0">
                <a:latin typeface="Arial" panose="020B0604020202020204" pitchFamily="34" charset="0"/>
                <a:cs typeface="Arial" panose="020B0604020202020204" pitchFamily="34" charset="0"/>
              </a:rPr>
              <a:t>Example: Heterogeneous sample</a:t>
            </a:r>
          </a:p>
        </p:txBody>
      </p:sp>
      <p:sp>
        <p:nvSpPr>
          <p:cNvPr id="15" name="Content Placeholder 14">
            <a:extLst>
              <a:ext uri="{FF2B5EF4-FFF2-40B4-BE49-F238E27FC236}">
                <a16:creationId xmlns:a16="http://schemas.microsoft.com/office/drawing/2014/main" id="{C4BA2B3E-2ED6-49BF-9601-B628FFA96723}"/>
              </a:ext>
            </a:extLst>
          </p:cNvPr>
          <p:cNvSpPr>
            <a:spLocks noGrp="1"/>
          </p:cNvSpPr>
          <p:nvPr>
            <p:ph sz="quarter" idx="15"/>
          </p:nvPr>
        </p:nvSpPr>
        <p:spPr>
          <a:xfrm>
            <a:off x="457200" y="2965303"/>
            <a:ext cx="8229600" cy="985551"/>
          </a:xfrm>
        </p:spPr>
        <p:txBody>
          <a:bodyPr lIns="0" tIns="18000" rIns="0" bIns="18000">
            <a:spAutoFit/>
          </a:bodyPr>
          <a:lstStyle/>
          <a:p>
            <a:pPr marL="457200" indent="-457200">
              <a:buFont typeface="+mj-lt"/>
              <a:buAutoNum type="arabicPeriod" startAt="2"/>
            </a:pPr>
            <a:r>
              <a:rPr lang="en-US" sz="2400" dirty="0">
                <a:latin typeface="Arial" panose="020B0604020202020204" pitchFamily="34" charset="0"/>
                <a:cs typeface="Arial" panose="020B0604020202020204" pitchFamily="34" charset="0"/>
              </a:rPr>
              <a:t>Include a control group</a:t>
            </a:r>
          </a:p>
          <a:p>
            <a:pPr marL="457200" indent="-457200">
              <a:buFont typeface="+mj-lt"/>
              <a:buAutoNum type="arabicPeriod" startAt="2"/>
            </a:pPr>
            <a:r>
              <a:rPr lang="en-US" sz="2400" dirty="0">
                <a:latin typeface="Arial" panose="020B0604020202020204" pitchFamily="34" charset="0"/>
                <a:cs typeface="Arial" panose="020B0604020202020204" pitchFamily="34" charset="0"/>
              </a:rPr>
              <a:t>Conduct a double-blind experiment</a:t>
            </a:r>
          </a:p>
        </p:txBody>
      </p:sp>
      <p:sp>
        <p:nvSpPr>
          <p:cNvPr id="24" name="Content Placeholder 23">
            <a:extLst>
              <a:ext uri="{FF2B5EF4-FFF2-40B4-BE49-F238E27FC236}">
                <a16:creationId xmlns:a16="http://schemas.microsoft.com/office/drawing/2014/main" id="{8E832E2A-391D-4C0E-9340-55D9FB7C4EC7}"/>
              </a:ext>
            </a:extLst>
          </p:cNvPr>
          <p:cNvSpPr>
            <a:spLocks noGrp="1"/>
          </p:cNvSpPr>
          <p:nvPr>
            <p:ph sz="quarter" idx="16"/>
          </p:nvPr>
        </p:nvSpPr>
        <p:spPr>
          <a:xfrm>
            <a:off x="457200" y="4028706"/>
            <a:ext cx="8229600" cy="1144347"/>
          </a:xfrm>
        </p:spPr>
        <p:txBody>
          <a:bodyPr lIns="0" tIns="18000" rIns="0" bIns="18000">
            <a:spAutoFit/>
          </a:bodyPr>
          <a:lstStyle/>
          <a:p>
            <a:pPr marL="841375" lvl="1" indent="-354013"/>
            <a:r>
              <a:rPr lang="en-US" sz="2400" kern="1200" dirty="0">
                <a:solidFill>
                  <a:srgbClr val="000000"/>
                </a:solidFill>
                <a:latin typeface="Arial" panose="020B0604020202020204" pitchFamily="34" charset="0"/>
                <a:cs typeface="Arial" panose="020B0604020202020204" pitchFamily="34" charset="0"/>
              </a:rPr>
              <a:t>participants and individuals administering varying interventions or control conditions are equally “in the dark”</a:t>
            </a:r>
            <a:endParaRPr lang="en-US" sz="2400" dirty="0">
              <a:latin typeface="Arial" panose="020B0604020202020204" pitchFamily="34" charset="0"/>
              <a:cs typeface="Arial" panose="020B0604020202020204" pitchFamily="34" charset="0"/>
            </a:endParaRPr>
          </a:p>
        </p:txBody>
      </p:sp>
      <p:sp>
        <p:nvSpPr>
          <p:cNvPr id="32" name="Content Placeholder 31">
            <a:extLst>
              <a:ext uri="{FF2B5EF4-FFF2-40B4-BE49-F238E27FC236}">
                <a16:creationId xmlns:a16="http://schemas.microsoft.com/office/drawing/2014/main" id="{878192DD-D954-4F9A-9482-BDF96B886FF6}"/>
              </a:ext>
            </a:extLst>
          </p:cNvPr>
          <p:cNvSpPr>
            <a:spLocks noGrp="1"/>
          </p:cNvSpPr>
          <p:nvPr>
            <p:ph sz="quarter" idx="17"/>
          </p:nvPr>
        </p:nvSpPr>
        <p:spPr>
          <a:xfrm>
            <a:off x="457200" y="5239968"/>
            <a:ext cx="8229600" cy="405683"/>
          </a:xfrm>
        </p:spPr>
        <p:txBody>
          <a:bodyPr lIns="0" tIns="18000" rIns="0" bIns="18000">
            <a:spAutoFit/>
          </a:bodyPr>
          <a:lstStyle/>
          <a:p>
            <a:pPr marL="457200" indent="-457200">
              <a:buFont typeface="+mj-lt"/>
              <a:buAutoNum type="arabicPeriod" startAt="4"/>
            </a:pPr>
            <a:r>
              <a:rPr lang="en-US" sz="2400" dirty="0">
                <a:latin typeface="Arial" panose="020B0604020202020204" pitchFamily="34" charset="0"/>
                <a:cs typeface="Arial" panose="020B0604020202020204" pitchFamily="34" charset="0"/>
              </a:rPr>
              <a:t>Randomly assign people to groups</a:t>
            </a:r>
          </a:p>
        </p:txBody>
      </p:sp>
    </p:spTree>
    <p:extLst>
      <p:ext uri="{BB962C8B-B14F-4D97-AF65-F5344CB8AC3E}">
        <p14:creationId xmlns:p14="http://schemas.microsoft.com/office/powerpoint/2010/main" val="27893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125"/>
            <a:ext cx="8229600" cy="1144347"/>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Strategies for Controlling Confounding Variables </a:t>
            </a:r>
            <a:r>
              <a:rPr lang="en-US" sz="2800" kern="1200">
                <a:latin typeface="+mj-lt"/>
                <a:ea typeface="+mj-ea"/>
                <a:cs typeface="Times New Roman" panose="02020603050405020304" pitchFamily="18" charset="0"/>
              </a:rPr>
              <a:t>(2 of 2)</a:t>
            </a:r>
          </a:p>
        </p:txBody>
      </p:sp>
      <p:sp>
        <p:nvSpPr>
          <p:cNvPr id="16" name="Content Placeholder 15">
            <a:extLst>
              <a:ext uri="{FF2B5EF4-FFF2-40B4-BE49-F238E27FC236}">
                <a16:creationId xmlns:a16="http://schemas.microsoft.com/office/drawing/2014/main" id="{EC9D83FD-095D-406C-808B-8714D81CAA6C}"/>
              </a:ext>
            </a:extLst>
          </p:cNvPr>
          <p:cNvSpPr>
            <a:spLocks noGrp="1"/>
          </p:cNvSpPr>
          <p:nvPr>
            <p:ph sz="quarter" idx="13"/>
          </p:nvPr>
        </p:nvSpPr>
        <p:spPr>
          <a:xfrm>
            <a:off x="446087" y="1787986"/>
            <a:ext cx="8229600" cy="775015"/>
          </a:xfrm>
        </p:spPr>
        <p:txBody>
          <a:bodyPr lIns="0" tIns="18000" rIns="0" bIns="18000">
            <a:spAutoFit/>
          </a:bodyPr>
          <a:lstStyle/>
          <a:p>
            <a:pPr marL="457632" indent="-457200">
              <a:buFont typeface="+mj-lt"/>
              <a:buAutoNum type="arabicPeriod" startAt="5"/>
            </a:pPr>
            <a:r>
              <a:rPr lang="en-US" sz="2400" dirty="0">
                <a:latin typeface="Arial" panose="020B0604020202020204" pitchFamily="34" charset="0"/>
                <a:cs typeface="Arial" panose="020B0604020202020204" pitchFamily="34" charset="0"/>
              </a:rPr>
              <a:t>Use one or more pretests to assess equivalence before the treatment(s)</a:t>
            </a:r>
          </a:p>
        </p:txBody>
      </p:sp>
      <p:sp>
        <p:nvSpPr>
          <p:cNvPr id="17" name="Content Placeholder 16">
            <a:extLst>
              <a:ext uri="{FF2B5EF4-FFF2-40B4-BE49-F238E27FC236}">
                <a16:creationId xmlns:a16="http://schemas.microsoft.com/office/drawing/2014/main" id="{FBE0408A-FBAC-4B45-86F0-F79E622B3092}"/>
              </a:ext>
            </a:extLst>
          </p:cNvPr>
          <p:cNvSpPr>
            <a:spLocks noGrp="1"/>
          </p:cNvSpPr>
          <p:nvPr>
            <p:ph sz="quarter" idx="14"/>
          </p:nvPr>
        </p:nvSpPr>
        <p:spPr>
          <a:xfrm>
            <a:off x="457200" y="2691738"/>
            <a:ext cx="8232775" cy="405683"/>
          </a:xfrm>
        </p:spPr>
        <p:txBody>
          <a:bodyPr lIns="0" tIns="18000" rIns="0" bIns="18000">
            <a:spAutoFit/>
          </a:bodyPr>
          <a:lstStyle/>
          <a:p>
            <a:pPr marL="829818" lvl="1" indent="-342900"/>
            <a:r>
              <a:rPr lang="en-US" sz="2400" dirty="0">
                <a:latin typeface="Arial" panose="020B0604020202020204" pitchFamily="34" charset="0"/>
                <a:cs typeface="Arial" panose="020B0604020202020204" pitchFamily="34" charset="0"/>
              </a:rPr>
              <a:t>matched pairs</a:t>
            </a:r>
          </a:p>
        </p:txBody>
      </p:sp>
      <p:sp>
        <p:nvSpPr>
          <p:cNvPr id="18" name="Content Placeholder 17">
            <a:extLst>
              <a:ext uri="{FF2B5EF4-FFF2-40B4-BE49-F238E27FC236}">
                <a16:creationId xmlns:a16="http://schemas.microsoft.com/office/drawing/2014/main" id="{18D5938B-AE79-4CD4-93CB-6C193A0CD629}"/>
              </a:ext>
            </a:extLst>
          </p:cNvPr>
          <p:cNvSpPr>
            <a:spLocks noGrp="1"/>
          </p:cNvSpPr>
          <p:nvPr>
            <p:ph sz="quarter" idx="15"/>
          </p:nvPr>
        </p:nvSpPr>
        <p:spPr>
          <a:xfrm>
            <a:off x="457200" y="3226158"/>
            <a:ext cx="8229600" cy="405683"/>
          </a:xfrm>
        </p:spPr>
        <p:txBody>
          <a:bodyPr lIns="0" tIns="18000" rIns="0" bIns="18000">
            <a:spAutoFit/>
          </a:bodyPr>
          <a:lstStyle/>
          <a:p>
            <a:pPr marL="457200" indent="-457200">
              <a:buFont typeface="+mj-lt"/>
              <a:buAutoNum type="arabicPeriod" startAt="6"/>
            </a:pPr>
            <a:r>
              <a:rPr lang="en-US" sz="2400" dirty="0">
                <a:latin typeface="Arial" panose="020B0604020202020204" pitchFamily="34" charset="0"/>
                <a:cs typeface="Arial" panose="020B0604020202020204" pitchFamily="34" charset="0"/>
              </a:rPr>
              <a:t>Expose participants to all experimental treatments</a:t>
            </a:r>
          </a:p>
        </p:txBody>
      </p:sp>
      <p:sp>
        <p:nvSpPr>
          <p:cNvPr id="19" name="Content Placeholder 18">
            <a:extLst>
              <a:ext uri="{FF2B5EF4-FFF2-40B4-BE49-F238E27FC236}">
                <a16:creationId xmlns:a16="http://schemas.microsoft.com/office/drawing/2014/main" id="{FDCB261D-E734-4CE3-A964-D820A2BD9AD6}"/>
              </a:ext>
            </a:extLst>
          </p:cNvPr>
          <p:cNvSpPr>
            <a:spLocks noGrp="1"/>
          </p:cNvSpPr>
          <p:nvPr>
            <p:ph sz="quarter" idx="16"/>
          </p:nvPr>
        </p:nvSpPr>
        <p:spPr>
          <a:xfrm>
            <a:off x="457200" y="3702146"/>
            <a:ext cx="8229600" cy="405683"/>
          </a:xfrm>
        </p:spPr>
        <p:txBody>
          <a:bodyPr lIns="0" tIns="18000" rIns="0" bIns="18000">
            <a:spAutoFit/>
          </a:bodyPr>
          <a:lstStyle/>
          <a:p>
            <a:pPr marL="841375" lvl="1" indent="-354013"/>
            <a:r>
              <a:rPr lang="en-US" sz="2400" dirty="0">
                <a:latin typeface="Arial" panose="020B0604020202020204" pitchFamily="34" charset="0"/>
                <a:cs typeface="Arial" panose="020B0604020202020204" pitchFamily="34" charset="0"/>
              </a:rPr>
              <a:t>within-subjects or repeated-measures </a:t>
            </a:r>
            <a:r>
              <a:rPr lang="en-US" sz="2400" dirty="0" err="1">
                <a:latin typeface="Arial" panose="020B0604020202020204" pitchFamily="34" charset="0"/>
                <a:cs typeface="Arial" panose="020B0604020202020204" pitchFamily="34" charset="0"/>
              </a:rPr>
              <a:t>variablea</a:t>
            </a:r>
            <a:endParaRPr lang="en-US" sz="2400" dirty="0">
              <a:latin typeface="Arial" panose="020B0604020202020204" pitchFamily="34" charset="0"/>
              <a:cs typeface="Arial" panose="020B0604020202020204" pitchFamily="34" charset="0"/>
            </a:endParaRPr>
          </a:p>
        </p:txBody>
      </p:sp>
      <p:sp>
        <p:nvSpPr>
          <p:cNvPr id="20" name="Content Placeholder 19">
            <a:extLst>
              <a:ext uri="{FF2B5EF4-FFF2-40B4-BE49-F238E27FC236}">
                <a16:creationId xmlns:a16="http://schemas.microsoft.com/office/drawing/2014/main" id="{7BB3CD2D-8CF0-4671-BF40-4ECA13D2746F}"/>
              </a:ext>
            </a:extLst>
          </p:cNvPr>
          <p:cNvSpPr>
            <a:spLocks noGrp="1"/>
          </p:cNvSpPr>
          <p:nvPr>
            <p:ph sz="quarter" idx="17"/>
          </p:nvPr>
        </p:nvSpPr>
        <p:spPr>
          <a:xfrm>
            <a:off x="457200" y="4166892"/>
            <a:ext cx="8229600" cy="405683"/>
          </a:xfrm>
        </p:spPr>
        <p:txBody>
          <a:bodyPr lIns="0" tIns="18000" rIns="0" bIns="18000">
            <a:spAutoFit/>
          </a:bodyPr>
          <a:lstStyle/>
          <a:p>
            <a:pPr marL="457200" indent="-457200">
              <a:buFont typeface="+mj-lt"/>
              <a:buAutoNum type="arabicPeriod" startAt="7"/>
            </a:pPr>
            <a:r>
              <a:rPr lang="en-US" sz="2400" dirty="0">
                <a:latin typeface="Arial" panose="020B0604020202020204" pitchFamily="34" charset="0"/>
                <a:cs typeface="Arial" panose="020B0604020202020204" pitchFamily="34" charset="0"/>
              </a:rPr>
              <a:t>Statistically control for confounding variables</a:t>
            </a:r>
          </a:p>
        </p:txBody>
      </p:sp>
      <p:sp>
        <p:nvSpPr>
          <p:cNvPr id="21" name="Content Placeholder 20">
            <a:extLst>
              <a:ext uri="{FF2B5EF4-FFF2-40B4-BE49-F238E27FC236}">
                <a16:creationId xmlns:a16="http://schemas.microsoft.com/office/drawing/2014/main" id="{8466F1F9-E9EE-4F19-9B08-F403383BE413}"/>
              </a:ext>
            </a:extLst>
          </p:cNvPr>
          <p:cNvSpPr>
            <a:spLocks noGrp="1"/>
          </p:cNvSpPr>
          <p:nvPr>
            <p:ph sz="quarter" idx="18"/>
          </p:nvPr>
        </p:nvSpPr>
        <p:spPr>
          <a:xfrm>
            <a:off x="457200" y="4631638"/>
            <a:ext cx="8229600" cy="405683"/>
          </a:xfrm>
        </p:spPr>
        <p:txBody>
          <a:bodyPr lIns="0" tIns="18000" rIns="0" bIns="18000">
            <a:spAutoFit/>
          </a:bodyPr>
          <a:lstStyle/>
          <a:p>
            <a:pPr marL="829818" lvl="1" indent="-342900"/>
            <a:r>
              <a:rPr lang="en-US" sz="2400" dirty="0">
                <a:latin typeface="Arial" panose="020B0604020202020204" pitchFamily="34" charset="0"/>
                <a:cs typeface="Arial" panose="020B0604020202020204" pitchFamily="34" charset="0"/>
              </a:rPr>
              <a:t>partial correlation, </a:t>
            </a:r>
            <a:r>
              <a:rPr lang="en-US" sz="2400" spc="-300" dirty="0">
                <a:latin typeface="Arial" panose="020B0604020202020204" pitchFamily="34" charset="0"/>
                <a:cs typeface="Arial" panose="020B0604020202020204" pitchFamily="34" charset="0"/>
              </a:rPr>
              <a:t>A N C O V </a:t>
            </a:r>
            <a:r>
              <a:rPr lang="en-US" sz="2400" dirty="0">
                <a:latin typeface="Arial" panose="020B0604020202020204" pitchFamily="34" charset="0"/>
                <a:cs typeface="Arial" panose="020B0604020202020204" pitchFamily="34" charset="0"/>
              </a:rPr>
              <a:t>A, </a:t>
            </a:r>
            <a:r>
              <a:rPr lang="en-US" sz="2400" spc="-300" dirty="0">
                <a:latin typeface="Arial" panose="020B0604020202020204" pitchFamily="34" charset="0"/>
                <a:cs typeface="Arial" panose="020B0604020202020204" pitchFamily="34" charset="0"/>
              </a:rPr>
              <a:t>S E </a:t>
            </a:r>
            <a:r>
              <a:rPr lang="en-US" sz="2400" dirty="0">
                <a:latin typeface="Arial" panose="020B0604020202020204" pitchFamily="34" charset="0"/>
                <a:cs typeface="Arial" panose="020B0604020202020204" pitchFamily="34" charset="0"/>
              </a:rPr>
              <a:t>M</a:t>
            </a:r>
          </a:p>
        </p:txBody>
      </p:sp>
      <p:sp>
        <p:nvSpPr>
          <p:cNvPr id="22" name="Content Placeholder 21">
            <a:extLst>
              <a:ext uri="{FF2B5EF4-FFF2-40B4-BE49-F238E27FC236}">
                <a16:creationId xmlns:a16="http://schemas.microsoft.com/office/drawing/2014/main" id="{38DCA04F-8D3D-457F-A2E1-4BE76FCA4CB0}"/>
              </a:ext>
            </a:extLst>
          </p:cNvPr>
          <p:cNvSpPr>
            <a:spLocks noGrp="1"/>
          </p:cNvSpPr>
          <p:nvPr>
            <p:ph sz="quarter" idx="19"/>
          </p:nvPr>
        </p:nvSpPr>
        <p:spPr>
          <a:xfrm>
            <a:off x="431800" y="5156445"/>
            <a:ext cx="8258175" cy="1144347"/>
          </a:xfrm>
        </p:spPr>
        <p:txBody>
          <a:bodyPr lIns="0" tIns="18000" rIns="0" bIns="18000">
            <a:spAutoFit/>
          </a:bodyPr>
          <a:lstStyle/>
          <a:p>
            <a:pPr marL="346075" indent="-346075"/>
            <a:r>
              <a:rPr lang="en-US" sz="2400" dirty="0">
                <a:latin typeface="Arial" panose="020B0604020202020204" pitchFamily="34" charset="0"/>
                <a:cs typeface="Arial" panose="020B0604020202020204" pitchFamily="34" charset="0"/>
              </a:rPr>
              <a:t>Remember, a carefully controlled experimental design is the only approach that allows you to draw firm conclusions about cause and effect.</a:t>
            </a:r>
          </a:p>
        </p:txBody>
      </p:sp>
    </p:spTree>
    <p:extLst>
      <p:ext uri="{BB962C8B-B14F-4D97-AF65-F5344CB8AC3E}">
        <p14:creationId xmlns:p14="http://schemas.microsoft.com/office/powerpoint/2010/main" val="573224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Experimental Designs</a:t>
            </a:r>
          </a:p>
        </p:txBody>
      </p:sp>
      <p:sp>
        <p:nvSpPr>
          <p:cNvPr id="3" name="Text Placeholder 2"/>
          <p:cNvSpPr>
            <a:spLocks noGrp="1"/>
          </p:cNvSpPr>
          <p:nvPr>
            <p:ph type="body" idx="1"/>
          </p:nvPr>
        </p:nvSpPr>
        <p:spPr>
          <a:xfrm>
            <a:off x="457200" y="1454287"/>
            <a:ext cx="8229600" cy="356808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“True” experimental designs have a truly independent variable, manipulated by the researcher</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Experimental designs offer control and internal validity</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Variations: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Pre-experimental designs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Quasi-experimental designs</a:t>
            </a:r>
            <a:endParaRPr lang="en-US" sz="2400" kern="1200" dirty="0">
              <a:solidFill>
                <a:prstClr val="black"/>
              </a:solidFill>
              <a:latin typeface="Arial" panose="020B0604020202020204" pitchFamily="34" charset="0"/>
              <a:ea typeface="+mn-ea"/>
              <a:cs typeface="Arial" panose="020B0604020202020204" pitchFamily="34" charset="0"/>
            </a:endParaRP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 post facto designs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Factorial designs</a:t>
            </a:r>
          </a:p>
        </p:txBody>
      </p:sp>
    </p:spTree>
    <p:extLst>
      <p:ext uri="{BB962C8B-B14F-4D97-AF65-F5344CB8AC3E}">
        <p14:creationId xmlns:p14="http://schemas.microsoft.com/office/powerpoint/2010/main" val="371563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Pre-Experimental Designs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4009"/>
            <a:ext cx="8229600" cy="279095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Differ from experimental designs in that:</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independent variable doesn’t vary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experimental and control groups are not composed of equivalent or randomly selected individuals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Not possible to show cause-and-effect relationships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Should be followed by more controlled experiments</a:t>
            </a:r>
          </a:p>
        </p:txBody>
      </p:sp>
    </p:spTree>
    <p:extLst>
      <p:ext uri="{BB962C8B-B14F-4D97-AF65-F5344CB8AC3E}">
        <p14:creationId xmlns:p14="http://schemas.microsoft.com/office/powerpoint/2010/main" val="2178787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7193"/>
            <a:ext cx="8229600" cy="608525"/>
          </a:xfrm>
        </p:spPr>
        <p:txBody>
          <a:bodyPr lIns="0" tIns="18000" rIns="0" bIns="18000">
            <a:spAutoFit/>
          </a:bodyPr>
          <a:lstStyle/>
          <a:p>
            <a:r>
              <a:rPr lang="en-US" sz="3600" kern="1200">
                <a:latin typeface="+mj-lt"/>
                <a:cs typeface="Times New Roman" panose="02020603050405020304" pitchFamily="18" charset="0"/>
              </a:rPr>
              <a:t>Pre-Experimental Designs </a:t>
            </a:r>
            <a:r>
              <a:rPr lang="en-US" sz="2800" kern="1200">
                <a:latin typeface="+mj-lt"/>
                <a:cs typeface="Times New Roman" panose="02020603050405020304" pitchFamily="18" charset="0"/>
              </a:rPr>
              <a:t>(2 of 2)</a:t>
            </a:r>
            <a:endParaRPr lang="en-US" sz="2800">
              <a:latin typeface="+mj-lt"/>
            </a:endParaRPr>
          </a:p>
        </p:txBody>
      </p:sp>
      <p:sp>
        <p:nvSpPr>
          <p:cNvPr id="42" name="Content Placeholder 41">
            <a:extLst>
              <a:ext uri="{FF2B5EF4-FFF2-40B4-BE49-F238E27FC236}">
                <a16:creationId xmlns:a16="http://schemas.microsoft.com/office/drawing/2014/main" id="{74F28710-0FCA-44E4-98F0-C7009FF6D9A8}"/>
              </a:ext>
            </a:extLst>
          </p:cNvPr>
          <p:cNvSpPr>
            <a:spLocks noGrp="1"/>
          </p:cNvSpPr>
          <p:nvPr>
            <p:ph sz="quarter" idx="13"/>
          </p:nvPr>
        </p:nvSpPr>
        <p:spPr>
          <a:xfrm>
            <a:off x="457200" y="1460928"/>
            <a:ext cx="8229600" cy="405683"/>
          </a:xfrm>
        </p:spPr>
        <p:txBody>
          <a:bodyPr lIns="0" tIns="18000" rIns="0" bIns="18000">
            <a:spAutoFit/>
          </a:bodyPr>
          <a:lstStyle/>
          <a:p>
            <a:r>
              <a:rPr lang="en-US" sz="2400" dirty="0">
                <a:latin typeface="Arial" panose="020B0604020202020204" pitchFamily="34" charset="0"/>
                <a:cs typeface="Arial" panose="020B0604020202020204" pitchFamily="34" charset="0"/>
              </a:rPr>
              <a:t>One-Shot Experimental Case Study</a:t>
            </a:r>
          </a:p>
        </p:txBody>
      </p:sp>
      <p:sp>
        <p:nvSpPr>
          <p:cNvPr id="43" name="Content Placeholder 42">
            <a:extLst>
              <a:ext uri="{FF2B5EF4-FFF2-40B4-BE49-F238E27FC236}">
                <a16:creationId xmlns:a16="http://schemas.microsoft.com/office/drawing/2014/main" id="{C55A93FF-6ABA-42B2-9F8A-3117D163546C}"/>
              </a:ext>
            </a:extLst>
          </p:cNvPr>
          <p:cNvSpPr>
            <a:spLocks noGrp="1"/>
          </p:cNvSpPr>
          <p:nvPr>
            <p:ph sz="quarter" idx="14"/>
          </p:nvPr>
        </p:nvSpPr>
        <p:spPr>
          <a:xfrm>
            <a:off x="457200" y="1923203"/>
            <a:ext cx="2373549" cy="405683"/>
          </a:xfrm>
        </p:spPr>
        <p:txBody>
          <a:bodyPr wrap="square" lIns="0" tIns="18000" rIns="0" bIns="18000">
            <a:spAutoFit/>
          </a:bodyPr>
          <a:lstStyle/>
          <a:p>
            <a:pPr marL="829818" lvl="1" indent="-342900"/>
            <a:r>
              <a:rPr lang="en-US" sz="2400" dirty="0">
                <a:latin typeface="Arial" panose="020B0604020202020204" pitchFamily="34" charset="0"/>
                <a:cs typeface="Arial" panose="020B0604020202020204" pitchFamily="34" charset="0"/>
              </a:rPr>
              <a:t>Group 1 Tx</a:t>
            </a:r>
          </a:p>
        </p:txBody>
      </p:sp>
      <p:graphicFrame>
        <p:nvGraphicFramePr>
          <p:cNvPr id="53" name="Object 52" descr="An arrow pointing toward right side.">
            <a:extLst>
              <a:ext uri="{FF2B5EF4-FFF2-40B4-BE49-F238E27FC236}">
                <a16:creationId xmlns:a16="http://schemas.microsoft.com/office/drawing/2014/main" id="{29905805-7E61-47B4-84AA-2C3CFBDA7D55}"/>
              </a:ext>
            </a:extLst>
          </p:cNvPr>
          <p:cNvGraphicFramePr>
            <a:graphicFrameLocks noChangeAspect="1"/>
          </p:cNvGraphicFramePr>
          <p:nvPr>
            <p:extLst>
              <p:ext uri="{D42A27DB-BD31-4B8C-83A1-F6EECF244321}">
                <p14:modId xmlns:p14="http://schemas.microsoft.com/office/powerpoint/2010/main" val="3657044684"/>
              </p:ext>
            </p:extLst>
          </p:nvPr>
        </p:nvGraphicFramePr>
        <p:xfrm>
          <a:off x="2923844" y="1991750"/>
          <a:ext cx="407987" cy="326571"/>
        </p:xfrm>
        <a:graphic>
          <a:graphicData uri="http://schemas.openxmlformats.org/presentationml/2006/ole">
            <mc:AlternateContent xmlns:mc="http://schemas.openxmlformats.org/markup-compatibility/2006">
              <mc:Choice xmlns:v="urn:schemas-microsoft-com:vml" Requires="v">
                <p:oleObj name="Equation" r:id="rId2" imgW="190440" imgH="139680" progId="Equation.DSMT4">
                  <p:embed/>
                </p:oleObj>
              </mc:Choice>
              <mc:Fallback>
                <p:oleObj name="Equation" r:id="rId2" imgW="190440" imgH="139680" progId="Equation.DSMT4">
                  <p:embed/>
                  <p:pic>
                    <p:nvPicPr>
                      <p:cNvPr id="15" name="Object 14" descr="An arrow pointing toward right side.">
                        <a:extLst>
                          <a:ext uri="{FF2B5EF4-FFF2-40B4-BE49-F238E27FC236}">
                            <a16:creationId xmlns:a16="http://schemas.microsoft.com/office/drawing/2014/main" id="{ADA13E50-1522-4A5E-9DDA-4212BF62A79E}"/>
                          </a:ext>
                        </a:extLst>
                      </p:cNvPr>
                      <p:cNvPicPr/>
                      <p:nvPr/>
                    </p:nvPicPr>
                    <p:blipFill>
                      <a:blip r:embed="rId3"/>
                      <a:stretch>
                        <a:fillRect/>
                      </a:stretch>
                    </p:blipFill>
                    <p:spPr>
                      <a:xfrm>
                        <a:off x="2923844" y="1991750"/>
                        <a:ext cx="407987" cy="326571"/>
                      </a:xfrm>
                      <a:prstGeom prst="rect">
                        <a:avLst/>
                      </a:prstGeom>
                    </p:spPr>
                  </p:pic>
                </p:oleObj>
              </mc:Fallback>
            </mc:AlternateContent>
          </a:graphicData>
        </a:graphic>
      </p:graphicFrame>
      <p:sp>
        <p:nvSpPr>
          <p:cNvPr id="44" name="Content Placeholder 43">
            <a:extLst>
              <a:ext uri="{FF2B5EF4-FFF2-40B4-BE49-F238E27FC236}">
                <a16:creationId xmlns:a16="http://schemas.microsoft.com/office/drawing/2014/main" id="{6D43DE08-4A59-4AB3-8CC8-695669BE86BD}"/>
              </a:ext>
            </a:extLst>
          </p:cNvPr>
          <p:cNvSpPr>
            <a:spLocks noGrp="1"/>
          </p:cNvSpPr>
          <p:nvPr>
            <p:ph sz="quarter" idx="15"/>
          </p:nvPr>
        </p:nvSpPr>
        <p:spPr>
          <a:xfrm>
            <a:off x="3487471" y="1914537"/>
            <a:ext cx="797668" cy="405683"/>
          </a:xfrm>
        </p:spPr>
        <p:txBody>
          <a:bodyPr lIns="0" tIns="18000" rIns="0" bIns="18000">
            <a:spAutoFit/>
          </a:bodyPr>
          <a:lstStyle/>
          <a:p>
            <a:pPr marL="0" lvl="1" indent="0">
              <a:buNone/>
            </a:pPr>
            <a:r>
              <a:rPr lang="en-US" sz="2400" dirty="0" err="1">
                <a:latin typeface="Arial" panose="020B0604020202020204" pitchFamily="34" charset="0"/>
                <a:cs typeface="Arial" panose="020B0604020202020204" pitchFamily="34" charset="0"/>
              </a:rPr>
              <a:t>Obs</a:t>
            </a:r>
            <a:endParaRPr lang="en-US" sz="2400" dirty="0">
              <a:latin typeface="Arial" panose="020B0604020202020204" pitchFamily="34" charset="0"/>
              <a:cs typeface="Arial" panose="020B0604020202020204" pitchFamily="34" charset="0"/>
            </a:endParaRPr>
          </a:p>
        </p:txBody>
      </p:sp>
      <p:sp>
        <p:nvSpPr>
          <p:cNvPr id="45" name="Content Placeholder 44">
            <a:extLst>
              <a:ext uri="{FF2B5EF4-FFF2-40B4-BE49-F238E27FC236}">
                <a16:creationId xmlns:a16="http://schemas.microsoft.com/office/drawing/2014/main" id="{69DD1C0D-90BB-400A-983C-0BC1DD20E947}"/>
              </a:ext>
            </a:extLst>
          </p:cNvPr>
          <p:cNvSpPr>
            <a:spLocks noGrp="1"/>
          </p:cNvSpPr>
          <p:nvPr>
            <p:ph sz="quarter" idx="16"/>
          </p:nvPr>
        </p:nvSpPr>
        <p:spPr>
          <a:xfrm>
            <a:off x="457200" y="2443086"/>
            <a:ext cx="8229600" cy="405683"/>
          </a:xfrm>
        </p:spPr>
        <p:txBody>
          <a:bodyPr lIns="0" tIns="18000" rIns="0" bIns="18000">
            <a:spAutoFit/>
          </a:bodyPr>
          <a:lstStyle/>
          <a:p>
            <a:r>
              <a:rPr lang="en-US" sz="2400" dirty="0">
                <a:latin typeface="Arial" panose="020B0604020202020204" pitchFamily="34" charset="0"/>
                <a:cs typeface="Arial" panose="020B0604020202020204" pitchFamily="34" charset="0"/>
              </a:rPr>
              <a:t>One-Group Pretest-Posttest Design</a:t>
            </a:r>
          </a:p>
        </p:txBody>
      </p:sp>
      <p:sp>
        <p:nvSpPr>
          <p:cNvPr id="46" name="Content Placeholder 45">
            <a:extLst>
              <a:ext uri="{FF2B5EF4-FFF2-40B4-BE49-F238E27FC236}">
                <a16:creationId xmlns:a16="http://schemas.microsoft.com/office/drawing/2014/main" id="{BA22E00E-0834-444E-B2AF-9E20BD87BF62}"/>
              </a:ext>
            </a:extLst>
          </p:cNvPr>
          <p:cNvSpPr>
            <a:spLocks noGrp="1"/>
          </p:cNvSpPr>
          <p:nvPr>
            <p:ph sz="quarter" idx="17"/>
          </p:nvPr>
        </p:nvSpPr>
        <p:spPr>
          <a:xfrm>
            <a:off x="457200" y="3002591"/>
            <a:ext cx="2741637" cy="405683"/>
          </a:xfrm>
        </p:spPr>
        <p:txBody>
          <a:bodyPr wrap="square" lIns="0" tIns="18000" rIns="0" bIns="18000">
            <a:spAutoFit/>
          </a:bodyPr>
          <a:lstStyle/>
          <a:p>
            <a:pPr marL="841375" lvl="1" indent="-354013"/>
            <a:r>
              <a:rPr lang="en-US" sz="2400" dirty="0">
                <a:latin typeface="Arial" panose="020B0604020202020204" pitchFamily="34" charset="0"/>
                <a:cs typeface="Arial" panose="020B0604020202020204" pitchFamily="34" charset="0"/>
              </a:rPr>
              <a:t>Group 1 </a:t>
            </a:r>
            <a:r>
              <a:rPr lang="en-US" sz="2400" dirty="0" err="1">
                <a:latin typeface="Arial" panose="020B0604020202020204" pitchFamily="34" charset="0"/>
                <a:cs typeface="Arial" panose="020B0604020202020204" pitchFamily="34" charset="0"/>
              </a:rPr>
              <a:t>Obs</a:t>
            </a:r>
            <a:endParaRPr lang="en-US" sz="2400" dirty="0">
              <a:latin typeface="Arial" panose="020B0604020202020204" pitchFamily="34" charset="0"/>
              <a:cs typeface="Arial" panose="020B0604020202020204" pitchFamily="34" charset="0"/>
            </a:endParaRPr>
          </a:p>
        </p:txBody>
      </p:sp>
      <p:graphicFrame>
        <p:nvGraphicFramePr>
          <p:cNvPr id="54" name="Object 53" descr="An arrow pointing toward right side.">
            <a:extLst>
              <a:ext uri="{FF2B5EF4-FFF2-40B4-BE49-F238E27FC236}">
                <a16:creationId xmlns:a16="http://schemas.microsoft.com/office/drawing/2014/main" id="{2CCDA37A-8631-4381-B0A1-C5DDF547FA9D}"/>
              </a:ext>
            </a:extLst>
          </p:cNvPr>
          <p:cNvGraphicFramePr>
            <a:graphicFrameLocks noChangeAspect="1"/>
          </p:cNvGraphicFramePr>
          <p:nvPr>
            <p:extLst>
              <p:ext uri="{D42A27DB-BD31-4B8C-83A1-F6EECF244321}">
                <p14:modId xmlns:p14="http://schemas.microsoft.com/office/powerpoint/2010/main" val="1370137922"/>
              </p:ext>
            </p:extLst>
          </p:nvPr>
        </p:nvGraphicFramePr>
        <p:xfrm>
          <a:off x="3340764" y="3078002"/>
          <a:ext cx="407987" cy="326571"/>
        </p:xfrm>
        <a:graphic>
          <a:graphicData uri="http://schemas.openxmlformats.org/presentationml/2006/ole">
            <mc:AlternateContent xmlns:mc="http://schemas.openxmlformats.org/markup-compatibility/2006">
              <mc:Choice xmlns:v="urn:schemas-microsoft-com:vml" Requires="v">
                <p:oleObj name="Equation" r:id="rId2" imgW="190440" imgH="139680" progId="Equation.DSMT4">
                  <p:embed/>
                </p:oleObj>
              </mc:Choice>
              <mc:Fallback>
                <p:oleObj name="Equation" r:id="rId2" imgW="190440" imgH="139680" progId="Equation.DSMT4">
                  <p:embed/>
                  <p:pic>
                    <p:nvPicPr>
                      <p:cNvPr id="53" name="Object 52" descr="An arrow pointing toward right side.">
                        <a:extLst>
                          <a:ext uri="{FF2B5EF4-FFF2-40B4-BE49-F238E27FC236}">
                            <a16:creationId xmlns:a16="http://schemas.microsoft.com/office/drawing/2014/main" id="{29905805-7E61-47B4-84AA-2C3CFBDA7D55}"/>
                          </a:ext>
                        </a:extLst>
                      </p:cNvPr>
                      <p:cNvPicPr/>
                      <p:nvPr/>
                    </p:nvPicPr>
                    <p:blipFill>
                      <a:blip r:embed="rId3"/>
                      <a:stretch>
                        <a:fillRect/>
                      </a:stretch>
                    </p:blipFill>
                    <p:spPr>
                      <a:xfrm>
                        <a:off x="3340764" y="3078002"/>
                        <a:ext cx="407987" cy="326571"/>
                      </a:xfrm>
                      <a:prstGeom prst="rect">
                        <a:avLst/>
                      </a:prstGeom>
                    </p:spPr>
                  </p:pic>
                </p:oleObj>
              </mc:Fallback>
            </mc:AlternateContent>
          </a:graphicData>
        </a:graphic>
      </p:graphicFrame>
      <p:sp>
        <p:nvSpPr>
          <p:cNvPr id="47" name="Content Placeholder 46">
            <a:extLst>
              <a:ext uri="{FF2B5EF4-FFF2-40B4-BE49-F238E27FC236}">
                <a16:creationId xmlns:a16="http://schemas.microsoft.com/office/drawing/2014/main" id="{D04CBC83-C8AD-4D2B-9FF1-0FA2DE58E974}"/>
              </a:ext>
            </a:extLst>
          </p:cNvPr>
          <p:cNvSpPr>
            <a:spLocks noGrp="1"/>
          </p:cNvSpPr>
          <p:nvPr>
            <p:ph sz="quarter" idx="18"/>
          </p:nvPr>
        </p:nvSpPr>
        <p:spPr>
          <a:xfrm>
            <a:off x="3890677" y="3018848"/>
            <a:ext cx="493614" cy="405683"/>
          </a:xfrm>
        </p:spPr>
        <p:txBody>
          <a:bodyPr wrap="square" lIns="0" tIns="18000" rIns="0" bIns="18000">
            <a:spAutoFit/>
          </a:bodyPr>
          <a:lstStyle/>
          <a:p>
            <a:pPr marL="0" lvl="1" indent="0">
              <a:buNone/>
            </a:pPr>
            <a:r>
              <a:rPr lang="en-US" sz="2400" dirty="0">
                <a:latin typeface="Arial" panose="020B0604020202020204" pitchFamily="34" charset="0"/>
                <a:cs typeface="Arial" panose="020B0604020202020204" pitchFamily="34" charset="0"/>
              </a:rPr>
              <a:t>Tx</a:t>
            </a:r>
          </a:p>
        </p:txBody>
      </p:sp>
      <p:graphicFrame>
        <p:nvGraphicFramePr>
          <p:cNvPr id="55" name="Object 54" descr="An arrow pointing toward right side.">
            <a:extLst>
              <a:ext uri="{FF2B5EF4-FFF2-40B4-BE49-F238E27FC236}">
                <a16:creationId xmlns:a16="http://schemas.microsoft.com/office/drawing/2014/main" id="{79F304D1-C393-4AC9-83D1-F9F713E02F34}"/>
              </a:ext>
            </a:extLst>
          </p:cNvPr>
          <p:cNvGraphicFramePr>
            <a:graphicFrameLocks noChangeAspect="1"/>
          </p:cNvGraphicFramePr>
          <p:nvPr>
            <p:extLst>
              <p:ext uri="{D42A27DB-BD31-4B8C-83A1-F6EECF244321}">
                <p14:modId xmlns:p14="http://schemas.microsoft.com/office/powerpoint/2010/main" val="2184891638"/>
              </p:ext>
            </p:extLst>
          </p:nvPr>
        </p:nvGraphicFramePr>
        <p:xfrm>
          <a:off x="4514566" y="3074763"/>
          <a:ext cx="407987" cy="326571"/>
        </p:xfrm>
        <a:graphic>
          <a:graphicData uri="http://schemas.openxmlformats.org/presentationml/2006/ole">
            <mc:AlternateContent xmlns:mc="http://schemas.openxmlformats.org/markup-compatibility/2006">
              <mc:Choice xmlns:v="urn:schemas-microsoft-com:vml" Requires="v">
                <p:oleObj name="Equation" r:id="rId2" imgW="190440" imgH="139680" progId="Equation.DSMT4">
                  <p:embed/>
                </p:oleObj>
              </mc:Choice>
              <mc:Fallback>
                <p:oleObj name="Equation" r:id="rId2" imgW="190440" imgH="139680" progId="Equation.DSMT4">
                  <p:embed/>
                  <p:pic>
                    <p:nvPicPr>
                      <p:cNvPr id="54" name="Object 53" descr="An arrow pointing toward right side.">
                        <a:extLst>
                          <a:ext uri="{FF2B5EF4-FFF2-40B4-BE49-F238E27FC236}">
                            <a16:creationId xmlns:a16="http://schemas.microsoft.com/office/drawing/2014/main" id="{2CCDA37A-8631-4381-B0A1-C5DDF547FA9D}"/>
                          </a:ext>
                        </a:extLst>
                      </p:cNvPr>
                      <p:cNvPicPr/>
                      <p:nvPr/>
                    </p:nvPicPr>
                    <p:blipFill>
                      <a:blip r:embed="rId3"/>
                      <a:stretch>
                        <a:fillRect/>
                      </a:stretch>
                    </p:blipFill>
                    <p:spPr>
                      <a:xfrm>
                        <a:off x="4514566" y="3074763"/>
                        <a:ext cx="407987" cy="326571"/>
                      </a:xfrm>
                      <a:prstGeom prst="rect">
                        <a:avLst/>
                      </a:prstGeom>
                    </p:spPr>
                  </p:pic>
                </p:oleObj>
              </mc:Fallback>
            </mc:AlternateContent>
          </a:graphicData>
        </a:graphic>
      </p:graphicFrame>
      <p:sp>
        <p:nvSpPr>
          <p:cNvPr id="48" name="Content Placeholder 47">
            <a:extLst>
              <a:ext uri="{FF2B5EF4-FFF2-40B4-BE49-F238E27FC236}">
                <a16:creationId xmlns:a16="http://schemas.microsoft.com/office/drawing/2014/main" id="{D49B5B70-8583-41F0-87DE-1AEF13469844}"/>
              </a:ext>
            </a:extLst>
          </p:cNvPr>
          <p:cNvSpPr>
            <a:spLocks noGrp="1"/>
          </p:cNvSpPr>
          <p:nvPr>
            <p:ph sz="quarter" idx="19"/>
          </p:nvPr>
        </p:nvSpPr>
        <p:spPr>
          <a:xfrm>
            <a:off x="5057206" y="3013482"/>
            <a:ext cx="909674" cy="405683"/>
          </a:xfrm>
        </p:spPr>
        <p:txBody>
          <a:bodyPr lIns="0" tIns="18000" rIns="0" bIns="18000">
            <a:spAutoFit/>
          </a:bodyPr>
          <a:lstStyle/>
          <a:p>
            <a:pPr marL="0" lvl="1" indent="0">
              <a:buNone/>
            </a:pPr>
            <a:r>
              <a:rPr lang="en-US" sz="2400" dirty="0" err="1">
                <a:latin typeface="Arial" panose="020B0604020202020204" pitchFamily="34" charset="0"/>
                <a:cs typeface="Arial" panose="020B0604020202020204" pitchFamily="34" charset="0"/>
              </a:rPr>
              <a:t>Obs</a:t>
            </a:r>
            <a:endParaRPr lang="en-US" sz="2400" dirty="0">
              <a:latin typeface="Arial" panose="020B0604020202020204" pitchFamily="34" charset="0"/>
              <a:cs typeface="Arial" panose="020B0604020202020204" pitchFamily="34" charset="0"/>
            </a:endParaRPr>
          </a:p>
        </p:txBody>
      </p:sp>
      <p:sp>
        <p:nvSpPr>
          <p:cNvPr id="49" name="Content Placeholder 48">
            <a:extLst>
              <a:ext uri="{FF2B5EF4-FFF2-40B4-BE49-F238E27FC236}">
                <a16:creationId xmlns:a16="http://schemas.microsoft.com/office/drawing/2014/main" id="{1BC7353E-ACE7-4E8D-B04F-D1D2F0B24F4E}"/>
              </a:ext>
            </a:extLst>
          </p:cNvPr>
          <p:cNvSpPr>
            <a:spLocks noGrp="1"/>
          </p:cNvSpPr>
          <p:nvPr>
            <p:ph sz="quarter" idx="20"/>
          </p:nvPr>
        </p:nvSpPr>
        <p:spPr>
          <a:xfrm>
            <a:off x="457200" y="3467034"/>
            <a:ext cx="8255000" cy="405683"/>
          </a:xfrm>
        </p:spPr>
        <p:txBody>
          <a:bodyPr lIns="0" tIns="18000" rIns="0" bIns="18000">
            <a:spAutoFit/>
          </a:bodyPr>
          <a:lstStyle/>
          <a:p>
            <a:pPr marL="255588" indent="-255588"/>
            <a:r>
              <a:rPr lang="en-US" sz="2400" dirty="0">
                <a:latin typeface="Arial" panose="020B0604020202020204" pitchFamily="34" charset="0"/>
                <a:cs typeface="Arial" panose="020B0604020202020204" pitchFamily="34" charset="0"/>
              </a:rPr>
              <a:t>Static Group Comparison</a:t>
            </a:r>
          </a:p>
        </p:txBody>
      </p:sp>
      <p:sp>
        <p:nvSpPr>
          <p:cNvPr id="50" name="Content Placeholder 49">
            <a:extLst>
              <a:ext uri="{FF2B5EF4-FFF2-40B4-BE49-F238E27FC236}">
                <a16:creationId xmlns:a16="http://schemas.microsoft.com/office/drawing/2014/main" id="{9F860172-2195-4EC6-8945-6CDD98231E83}"/>
              </a:ext>
            </a:extLst>
          </p:cNvPr>
          <p:cNvSpPr>
            <a:spLocks noGrp="1"/>
          </p:cNvSpPr>
          <p:nvPr>
            <p:ph sz="quarter" idx="21"/>
          </p:nvPr>
        </p:nvSpPr>
        <p:spPr>
          <a:xfrm>
            <a:off x="457200" y="3990000"/>
            <a:ext cx="2373549" cy="405683"/>
          </a:xfrm>
        </p:spPr>
        <p:txBody>
          <a:bodyPr wrap="square" lIns="0" tIns="18000" rIns="0" bIns="18000">
            <a:spAutoFit/>
          </a:bodyPr>
          <a:lstStyle/>
          <a:p>
            <a:pPr marL="829818" lvl="1" indent="-342900"/>
            <a:r>
              <a:rPr lang="en-US" sz="2400" dirty="0">
                <a:latin typeface="Arial" panose="020B0604020202020204" pitchFamily="34" charset="0"/>
                <a:cs typeface="Arial" panose="020B0604020202020204" pitchFamily="34" charset="0"/>
              </a:rPr>
              <a:t>Group 1 Tx</a:t>
            </a:r>
          </a:p>
        </p:txBody>
      </p:sp>
      <p:graphicFrame>
        <p:nvGraphicFramePr>
          <p:cNvPr id="58" name="Object 57" descr="An arrow pointing toward right side.">
            <a:extLst>
              <a:ext uri="{FF2B5EF4-FFF2-40B4-BE49-F238E27FC236}">
                <a16:creationId xmlns:a16="http://schemas.microsoft.com/office/drawing/2014/main" id="{B53C5534-70B7-49C7-934C-24BBA81F2E7C}"/>
              </a:ext>
            </a:extLst>
          </p:cNvPr>
          <p:cNvGraphicFramePr>
            <a:graphicFrameLocks noChangeAspect="1"/>
          </p:cNvGraphicFramePr>
          <p:nvPr>
            <p:extLst>
              <p:ext uri="{D42A27DB-BD31-4B8C-83A1-F6EECF244321}">
                <p14:modId xmlns:p14="http://schemas.microsoft.com/office/powerpoint/2010/main" val="2023896321"/>
              </p:ext>
            </p:extLst>
          </p:nvPr>
        </p:nvGraphicFramePr>
        <p:xfrm>
          <a:off x="2884932" y="4054012"/>
          <a:ext cx="407987" cy="326571"/>
        </p:xfrm>
        <a:graphic>
          <a:graphicData uri="http://schemas.openxmlformats.org/presentationml/2006/ole">
            <mc:AlternateContent xmlns:mc="http://schemas.openxmlformats.org/markup-compatibility/2006">
              <mc:Choice xmlns:v="urn:schemas-microsoft-com:vml" Requires="v">
                <p:oleObj name="Equation" r:id="rId2" imgW="190440" imgH="139680" progId="Equation.DSMT4">
                  <p:embed/>
                </p:oleObj>
              </mc:Choice>
              <mc:Fallback>
                <p:oleObj name="Equation" r:id="rId2" imgW="190440" imgH="139680" progId="Equation.DSMT4">
                  <p:embed/>
                  <p:pic>
                    <p:nvPicPr>
                      <p:cNvPr id="55" name="Object 54" descr="An arrow pointing toward right side.">
                        <a:extLst>
                          <a:ext uri="{FF2B5EF4-FFF2-40B4-BE49-F238E27FC236}">
                            <a16:creationId xmlns:a16="http://schemas.microsoft.com/office/drawing/2014/main" id="{79F304D1-C393-4AC9-83D1-F9F713E02F34}"/>
                          </a:ext>
                        </a:extLst>
                      </p:cNvPr>
                      <p:cNvPicPr/>
                      <p:nvPr/>
                    </p:nvPicPr>
                    <p:blipFill>
                      <a:blip r:embed="rId3"/>
                      <a:stretch>
                        <a:fillRect/>
                      </a:stretch>
                    </p:blipFill>
                    <p:spPr>
                      <a:xfrm>
                        <a:off x="2884932" y="4054012"/>
                        <a:ext cx="407987" cy="326571"/>
                      </a:xfrm>
                      <a:prstGeom prst="rect">
                        <a:avLst/>
                      </a:prstGeom>
                    </p:spPr>
                  </p:pic>
                </p:oleObj>
              </mc:Fallback>
            </mc:AlternateContent>
          </a:graphicData>
        </a:graphic>
      </p:graphicFrame>
      <p:sp>
        <p:nvSpPr>
          <p:cNvPr id="51" name="Content Placeholder 50">
            <a:extLst>
              <a:ext uri="{FF2B5EF4-FFF2-40B4-BE49-F238E27FC236}">
                <a16:creationId xmlns:a16="http://schemas.microsoft.com/office/drawing/2014/main" id="{887379EF-091C-42FF-8289-139DCA72D2C4}"/>
              </a:ext>
            </a:extLst>
          </p:cNvPr>
          <p:cNvSpPr>
            <a:spLocks noGrp="1"/>
          </p:cNvSpPr>
          <p:nvPr>
            <p:ph sz="quarter" idx="22"/>
          </p:nvPr>
        </p:nvSpPr>
        <p:spPr>
          <a:xfrm flipH="1">
            <a:off x="3441320" y="3988868"/>
            <a:ext cx="896270" cy="405683"/>
          </a:xfrm>
        </p:spPr>
        <p:txBody>
          <a:bodyPr lIns="0" tIns="18000" rIns="0" bIns="18000">
            <a:spAutoFit/>
          </a:bodyPr>
          <a:lstStyle/>
          <a:p>
            <a:pPr marL="0" lvl="1" indent="0">
              <a:buNone/>
            </a:pPr>
            <a:r>
              <a:rPr lang="en-US" sz="2400" dirty="0" err="1">
                <a:latin typeface="Arial" panose="020B0604020202020204" pitchFamily="34" charset="0"/>
                <a:cs typeface="Arial" panose="020B0604020202020204" pitchFamily="34" charset="0"/>
              </a:rPr>
              <a:t>Obs</a:t>
            </a:r>
            <a:endParaRPr lang="en-US" sz="2400" dirty="0">
              <a:latin typeface="Arial" panose="020B0604020202020204" pitchFamily="34" charset="0"/>
              <a:cs typeface="Arial" panose="020B0604020202020204" pitchFamily="34" charset="0"/>
            </a:endParaRPr>
          </a:p>
        </p:txBody>
      </p:sp>
      <p:sp>
        <p:nvSpPr>
          <p:cNvPr id="52" name="Content Placeholder 51">
            <a:extLst>
              <a:ext uri="{FF2B5EF4-FFF2-40B4-BE49-F238E27FC236}">
                <a16:creationId xmlns:a16="http://schemas.microsoft.com/office/drawing/2014/main" id="{A23E10AB-C66B-43F7-A6B0-5F5D1FB31814}"/>
              </a:ext>
            </a:extLst>
          </p:cNvPr>
          <p:cNvSpPr>
            <a:spLocks noGrp="1"/>
          </p:cNvSpPr>
          <p:nvPr>
            <p:ph sz="quarter" idx="23"/>
          </p:nvPr>
        </p:nvSpPr>
        <p:spPr>
          <a:xfrm>
            <a:off x="457200" y="4492163"/>
            <a:ext cx="8255000" cy="405683"/>
          </a:xfrm>
        </p:spPr>
        <p:txBody>
          <a:bodyPr lIns="0" tIns="18000" rIns="0" bIns="18000">
            <a:spAutoFit/>
          </a:bodyPr>
          <a:lstStyle/>
          <a:p>
            <a:pPr marL="829818" lvl="1" indent="-342900"/>
            <a:r>
              <a:rPr lang="en-US" sz="2400" dirty="0">
                <a:latin typeface="Arial" panose="020B0604020202020204" pitchFamily="34" charset="0"/>
                <a:cs typeface="Arial" panose="020B0604020202020204" pitchFamily="34" charset="0"/>
              </a:rPr>
              <a:t>Group 1 --- </a:t>
            </a:r>
            <a:r>
              <a:rPr lang="en-US" sz="2400" dirty="0" err="1">
                <a:latin typeface="Arial" panose="020B0604020202020204" pitchFamily="34" charset="0"/>
                <a:cs typeface="Arial" panose="020B0604020202020204" pitchFamily="34" charset="0"/>
              </a:rPr>
              <a:t>Obs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9295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210" y="257610"/>
            <a:ext cx="8269990"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True Experimental Designs </a:t>
            </a:r>
            <a:r>
              <a:rPr lang="en-US" sz="2800" kern="1200" dirty="0">
                <a:latin typeface="+mj-lt"/>
                <a:ea typeface="+mj-ea"/>
                <a:cs typeface="Times New Roman" panose="02020603050405020304" pitchFamily="18" charset="0"/>
              </a:rPr>
              <a:t>(1 of 2)</a:t>
            </a:r>
          </a:p>
        </p:txBody>
      </p:sp>
      <p:sp>
        <p:nvSpPr>
          <p:cNvPr id="3" name="Content Placeholder 2"/>
          <p:cNvSpPr>
            <a:spLocks noGrp="1"/>
          </p:cNvSpPr>
          <p:nvPr>
            <p:ph type="body" sz="quarter" idx="10"/>
          </p:nvPr>
        </p:nvSpPr>
        <p:spPr>
          <a:xfrm>
            <a:off x="457200" y="1166712"/>
            <a:ext cx="8269990" cy="374906"/>
          </a:xfrm>
        </p:spPr>
        <p:txBody>
          <a:bodyPr wrap="square" lIns="0" tIns="18000" rIns="0" bIns="18000">
            <a:spAutoFit/>
          </a:bodyPr>
          <a:lstStyle/>
          <a:p>
            <a:pPr marL="342900" indent="-342900"/>
            <a:r>
              <a:rPr lang="en-US" altLang="en-US" sz="2200" kern="1200" dirty="0">
                <a:solidFill>
                  <a:srgbClr val="000000"/>
                </a:solidFill>
                <a:latin typeface="Arial" panose="020B0604020202020204" pitchFamily="34" charset="0"/>
                <a:cs typeface="Arial" panose="020B0604020202020204" pitchFamily="34" charset="0"/>
              </a:rPr>
              <a:t>Pretest-Posttest Control Group Design (random assignment)</a:t>
            </a:r>
            <a:endParaRPr lang="en-US" sz="2200" dirty="0"/>
          </a:p>
        </p:txBody>
      </p:sp>
      <p:pic>
        <p:nvPicPr>
          <p:cNvPr id="11" name="Picture Placeholder 10" descr="A table shows Pretest-Posttest control group design. The group and time of random assignment are as follows: group 1, Obs, Tx, Obs; group 2, Obs, nil, Obs.">
            <a:extLst>
              <a:ext uri="{FF2B5EF4-FFF2-40B4-BE49-F238E27FC236}">
                <a16:creationId xmlns:a16="http://schemas.microsoft.com/office/drawing/2014/main" id="{4F4E49A5-98DE-4A06-85E3-BBE228BF03A5}"/>
              </a:ext>
            </a:extLst>
          </p:cNvPr>
          <p:cNvPicPr>
            <a:picLocks noGrp="1" noChangeAspect="1"/>
          </p:cNvPicPr>
          <p:nvPr>
            <p:ph type="pic" sz="quarter" idx="13"/>
          </p:nvPr>
        </p:nvPicPr>
        <p:blipFill>
          <a:blip r:embed="rId2"/>
          <a:stretch>
            <a:fillRect/>
          </a:stretch>
        </p:blipFill>
        <p:spPr>
          <a:xfrm>
            <a:off x="2315131" y="1710664"/>
            <a:ext cx="4872709" cy="1718336"/>
          </a:xfrm>
        </p:spPr>
      </p:pic>
      <p:sp>
        <p:nvSpPr>
          <p:cNvPr id="8" name="Content Placeholder 7">
            <a:extLst>
              <a:ext uri="{FF2B5EF4-FFF2-40B4-BE49-F238E27FC236}">
                <a16:creationId xmlns:a16="http://schemas.microsoft.com/office/drawing/2014/main" id="{54B7AD48-D6A9-4E52-B5F2-E8713C6B9F6B}"/>
              </a:ext>
            </a:extLst>
          </p:cNvPr>
          <p:cNvSpPr>
            <a:spLocks noGrp="1"/>
          </p:cNvSpPr>
          <p:nvPr>
            <p:ph sz="quarter" idx="11"/>
          </p:nvPr>
        </p:nvSpPr>
        <p:spPr>
          <a:xfrm>
            <a:off x="473518" y="3674956"/>
            <a:ext cx="8269990" cy="374906"/>
          </a:xfrm>
        </p:spPr>
        <p:txBody>
          <a:bodyPr lIns="0" tIns="18000" rIns="0" bIns="18000">
            <a:spAutoFit/>
          </a:bodyPr>
          <a:lstStyle/>
          <a:p>
            <a:pPr marL="342900" indent="-342900"/>
            <a:r>
              <a:rPr lang="en-US" altLang="en-US" sz="2200" kern="1200" dirty="0">
                <a:solidFill>
                  <a:srgbClr val="000000"/>
                </a:solidFill>
                <a:latin typeface="Arial" panose="020B0604020202020204" pitchFamily="34" charset="0"/>
                <a:cs typeface="Arial" panose="020B0604020202020204" pitchFamily="34" charset="0"/>
              </a:rPr>
              <a:t>Solomon Four-Group Design (enhances external validity)</a:t>
            </a:r>
            <a:endParaRPr lang="en-US" sz="2200" dirty="0"/>
          </a:p>
        </p:txBody>
      </p:sp>
      <p:pic>
        <p:nvPicPr>
          <p:cNvPr id="14" name="Picture Placeholder 13" descr="A table shows Solomon four-group design. The group and time of random assignment are as follows: group 1, Obs, Tx, Obs; group 2, Obs, nil, Obs; group 3, nil, Tx, Obs; group 4, nil, nil, Obs.">
            <a:extLst>
              <a:ext uri="{FF2B5EF4-FFF2-40B4-BE49-F238E27FC236}">
                <a16:creationId xmlns:a16="http://schemas.microsoft.com/office/drawing/2014/main" id="{B46D6664-D920-4984-8450-F216B5065E4E}"/>
              </a:ext>
            </a:extLst>
          </p:cNvPr>
          <p:cNvPicPr>
            <a:picLocks noGrp="1" noChangeAspect="1"/>
          </p:cNvPicPr>
          <p:nvPr>
            <p:ph type="pic" sz="quarter" idx="14"/>
          </p:nvPr>
        </p:nvPicPr>
        <p:blipFill>
          <a:blip r:embed="rId3"/>
          <a:stretch>
            <a:fillRect/>
          </a:stretch>
        </p:blipFill>
        <p:spPr>
          <a:xfrm>
            <a:off x="2618886" y="4272752"/>
            <a:ext cx="3995130" cy="2055866"/>
          </a:xfrm>
        </p:spPr>
      </p:pic>
    </p:spTree>
    <p:extLst>
      <p:ext uri="{BB962C8B-B14F-4D97-AF65-F5344CB8AC3E}">
        <p14:creationId xmlns:p14="http://schemas.microsoft.com/office/powerpoint/2010/main" val="2841479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210" y="257610"/>
            <a:ext cx="8269990"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True Experimental Designs </a:t>
            </a:r>
            <a:r>
              <a:rPr lang="en-US" sz="2800" kern="1200" dirty="0">
                <a:latin typeface="+mj-lt"/>
                <a:ea typeface="+mj-ea"/>
                <a:cs typeface="Times New Roman" panose="02020603050405020304" pitchFamily="18" charset="0"/>
              </a:rPr>
              <a:t>(2 of 2)</a:t>
            </a:r>
          </a:p>
        </p:txBody>
      </p:sp>
      <p:sp>
        <p:nvSpPr>
          <p:cNvPr id="3" name="Content Placeholder 2"/>
          <p:cNvSpPr>
            <a:spLocks noGrp="1"/>
          </p:cNvSpPr>
          <p:nvPr>
            <p:ph type="body" sz="quarter" idx="10"/>
          </p:nvPr>
        </p:nvSpPr>
        <p:spPr>
          <a:xfrm>
            <a:off x="457200" y="1166712"/>
            <a:ext cx="8269990" cy="405683"/>
          </a:xfrm>
        </p:spPr>
        <p:txBody>
          <a:bodyPr wrap="square" lIns="0" tIns="18000" rIns="0" bIns="18000">
            <a:spAutoFit/>
          </a:bodyPr>
          <a:lstStyle/>
          <a:p>
            <a:pPr marL="342900" indent="-342900">
              <a:spcAft>
                <a:spcPct val="0"/>
              </a:spcAft>
            </a:pPr>
            <a:r>
              <a:rPr lang="en-US" sz="2400" kern="1200" dirty="0">
                <a:solidFill>
                  <a:srgbClr val="000000"/>
                </a:solidFill>
                <a:latin typeface="Arial" panose="020B0604020202020204" pitchFamily="34" charset="0"/>
                <a:ea typeface="+mn-ea"/>
                <a:cs typeface="Arial" panose="020B0604020202020204" pitchFamily="34" charset="0"/>
              </a:rPr>
              <a:t>Posttest Only Control Group Design</a:t>
            </a:r>
          </a:p>
        </p:txBody>
      </p:sp>
      <p:pic>
        <p:nvPicPr>
          <p:cNvPr id="10" name="Picture Placeholder 9" descr="A table shows Posttest only control group design. The group and time of random assignment are as follows: group 1, Tx and Obs; group 2, nil and Obs.">
            <a:extLst>
              <a:ext uri="{FF2B5EF4-FFF2-40B4-BE49-F238E27FC236}">
                <a16:creationId xmlns:a16="http://schemas.microsoft.com/office/drawing/2014/main" id="{91EBB8AE-C79B-42E8-AC4A-1E57E1EA533C}"/>
              </a:ext>
            </a:extLst>
          </p:cNvPr>
          <p:cNvPicPr>
            <a:picLocks noGrp="1" noChangeAspect="1"/>
          </p:cNvPicPr>
          <p:nvPr>
            <p:ph type="pic" sz="quarter" idx="13"/>
          </p:nvPr>
        </p:nvPicPr>
        <p:blipFill>
          <a:blip r:embed="rId2"/>
          <a:stretch>
            <a:fillRect/>
          </a:stretch>
        </p:blipFill>
        <p:spPr>
          <a:xfrm>
            <a:off x="2480866" y="1771995"/>
            <a:ext cx="4246744" cy="2037455"/>
          </a:xfrm>
          <a:prstGeom prst="rect">
            <a:avLst/>
          </a:prstGeom>
        </p:spPr>
      </p:pic>
      <p:sp>
        <p:nvSpPr>
          <p:cNvPr id="8" name="Content Placeholder 7">
            <a:extLst>
              <a:ext uri="{FF2B5EF4-FFF2-40B4-BE49-F238E27FC236}">
                <a16:creationId xmlns:a16="http://schemas.microsoft.com/office/drawing/2014/main" id="{54B7AD48-D6A9-4E52-B5F2-E8713C6B9F6B}"/>
              </a:ext>
            </a:extLst>
          </p:cNvPr>
          <p:cNvSpPr>
            <a:spLocks noGrp="1"/>
          </p:cNvSpPr>
          <p:nvPr>
            <p:ph sz="quarter" idx="11"/>
          </p:nvPr>
        </p:nvSpPr>
        <p:spPr>
          <a:xfrm>
            <a:off x="442210" y="3989465"/>
            <a:ext cx="8269990" cy="405683"/>
          </a:xfrm>
        </p:spPr>
        <p:txBody>
          <a:bodyPr lIns="0" tIns="18000" rIns="0" bIns="18000">
            <a:spAutoFit/>
          </a:bodyPr>
          <a:lstStyle/>
          <a:p>
            <a:pPr marL="342900" indent="-342900">
              <a:buFont typeface="Arial" panose="020B0604020202020204" pitchFamily="34" charset="0"/>
              <a:buChar char="•"/>
            </a:pPr>
            <a:r>
              <a:rPr lang="en-US" sz="2400" kern="1200" dirty="0">
                <a:solidFill>
                  <a:srgbClr val="000000"/>
                </a:solidFill>
                <a:latin typeface="Arial" panose="020B0604020202020204" pitchFamily="34" charset="0"/>
                <a:cs typeface="Arial" panose="020B0604020202020204" pitchFamily="34" charset="0"/>
              </a:rPr>
              <a:t>Within Subjects Design</a:t>
            </a:r>
          </a:p>
        </p:txBody>
      </p:sp>
      <p:pic>
        <p:nvPicPr>
          <p:cNvPr id="12" name="Picture Placeholder 11" descr="A table shows the within subjects design. The time in group 1 are as follows: Tx sub a and Obs sub a; Tx sub b and Obs sub b.">
            <a:extLst>
              <a:ext uri="{FF2B5EF4-FFF2-40B4-BE49-F238E27FC236}">
                <a16:creationId xmlns:a16="http://schemas.microsoft.com/office/drawing/2014/main" id="{CE78B00D-79FD-4EBB-A115-7DEE8B3EF8C1}"/>
              </a:ext>
            </a:extLst>
          </p:cNvPr>
          <p:cNvPicPr>
            <a:picLocks noGrp="1" noChangeAspect="1"/>
          </p:cNvPicPr>
          <p:nvPr>
            <p:ph type="pic" sz="quarter" idx="14"/>
          </p:nvPr>
        </p:nvPicPr>
        <p:blipFill>
          <a:blip r:embed="rId3"/>
          <a:stretch>
            <a:fillRect/>
          </a:stretch>
        </p:blipFill>
        <p:spPr>
          <a:xfrm>
            <a:off x="2608529" y="4618115"/>
            <a:ext cx="3988993" cy="1632419"/>
          </a:xfrm>
          <a:prstGeom prst="rect">
            <a:avLst/>
          </a:prstGeom>
        </p:spPr>
      </p:pic>
    </p:spTree>
    <p:extLst>
      <p:ext uri="{BB962C8B-B14F-4D97-AF65-F5344CB8AC3E}">
        <p14:creationId xmlns:p14="http://schemas.microsoft.com/office/powerpoint/2010/main" val="3614904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7611"/>
            <a:ext cx="8255000"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Quasi-Experimental Design </a:t>
            </a:r>
            <a:r>
              <a:rPr lang="en-US" sz="2800" kern="1200" dirty="0">
                <a:latin typeface="+mj-lt"/>
                <a:ea typeface="+mj-ea"/>
                <a:cs typeface="Times New Roman" panose="02020603050405020304" pitchFamily="18" charset="0"/>
              </a:rPr>
              <a:t>(1 of 3)</a:t>
            </a:r>
          </a:p>
        </p:txBody>
      </p:sp>
      <p:sp>
        <p:nvSpPr>
          <p:cNvPr id="3" name="Content Placeholder 2"/>
          <p:cNvSpPr>
            <a:spLocks noGrp="1"/>
          </p:cNvSpPr>
          <p:nvPr>
            <p:ph type="body" sz="quarter" idx="10"/>
          </p:nvPr>
        </p:nvSpPr>
        <p:spPr>
          <a:xfrm>
            <a:off x="442210" y="1166713"/>
            <a:ext cx="8255000" cy="1321319"/>
          </a:xfrm>
        </p:spPr>
        <p:txBody>
          <a:bodyPr wrap="square" lIns="0" tIns="18000" rIns="0" bIns="18000">
            <a:spAutoFit/>
          </a:bodyPr>
          <a:lstStyle/>
          <a:p>
            <a:pPr marL="342900" indent="-342900">
              <a:spcAft>
                <a:spcPct val="0"/>
              </a:spcAft>
            </a:pPr>
            <a:r>
              <a:rPr lang="en-US" altLang="en-US" sz="2200" kern="1200" dirty="0">
                <a:solidFill>
                  <a:srgbClr val="000000"/>
                </a:solidFill>
                <a:latin typeface="Arial" panose="020B0604020202020204" pitchFamily="34" charset="0"/>
                <a:ea typeface="+mn-ea"/>
                <a:cs typeface="Arial" panose="020B0604020202020204" pitchFamily="34" charset="0"/>
              </a:rPr>
              <a:t>Randomness is not possible or practical</a:t>
            </a:r>
          </a:p>
          <a:p>
            <a:pPr marL="829818" lvl="1" indent="-342900">
              <a:spcAft>
                <a:spcPct val="0"/>
              </a:spcAft>
              <a:buSzPts val="2400"/>
            </a:pPr>
            <a:r>
              <a:rPr lang="en-US" altLang="en-US" sz="2200" kern="1200" dirty="0">
                <a:solidFill>
                  <a:srgbClr val="000000"/>
                </a:solidFill>
                <a:latin typeface="Arial" panose="020B0604020202020204" pitchFamily="34" charset="0"/>
                <a:ea typeface="+mn-ea"/>
                <a:cs typeface="Arial" panose="020B0604020202020204" pitchFamily="34" charset="0"/>
              </a:rPr>
              <a:t>can’t control for all confounding variables</a:t>
            </a:r>
          </a:p>
          <a:p>
            <a:pPr marL="342900" indent="-342900">
              <a:spcAft>
                <a:spcPct val="0"/>
              </a:spcAft>
            </a:pPr>
            <a:r>
              <a:rPr lang="en-US" altLang="en-US" sz="2200" kern="1200" dirty="0">
                <a:solidFill>
                  <a:srgbClr val="000000"/>
                </a:solidFill>
                <a:latin typeface="Arial" panose="020B0604020202020204" pitchFamily="34" charset="0"/>
                <a:ea typeface="+mn-ea"/>
                <a:cs typeface="Arial" panose="020B0604020202020204" pitchFamily="34" charset="0"/>
              </a:rPr>
              <a:t>Nonrandomized Control-Group Pretest-Posttest Design</a:t>
            </a:r>
          </a:p>
        </p:txBody>
      </p:sp>
      <p:pic>
        <p:nvPicPr>
          <p:cNvPr id="11" name="Picture Placeholder 10" descr="A table shows non randomized control-group Pretest-Posttest design. The group and time of random assignment are as follows: group 1, Obs, Tx, Obs; group 2, Obs, nil, Obs.">
            <a:extLst>
              <a:ext uri="{FF2B5EF4-FFF2-40B4-BE49-F238E27FC236}">
                <a16:creationId xmlns:a16="http://schemas.microsoft.com/office/drawing/2014/main" id="{4F526587-15B8-49D1-B7B7-E59D112FC325}"/>
              </a:ext>
            </a:extLst>
          </p:cNvPr>
          <p:cNvPicPr>
            <a:picLocks noGrp="1" noChangeAspect="1"/>
          </p:cNvPicPr>
          <p:nvPr>
            <p:ph type="pic" sz="quarter" idx="13"/>
          </p:nvPr>
        </p:nvPicPr>
        <p:blipFill>
          <a:blip r:embed="rId2"/>
          <a:stretch>
            <a:fillRect/>
          </a:stretch>
        </p:blipFill>
        <p:spPr>
          <a:xfrm>
            <a:off x="2525836" y="2663619"/>
            <a:ext cx="4203785" cy="1884032"/>
          </a:xfrm>
          <a:prstGeom prst="rect">
            <a:avLst/>
          </a:prstGeom>
        </p:spPr>
      </p:pic>
      <p:sp>
        <p:nvSpPr>
          <p:cNvPr id="8" name="Content Placeholder 7">
            <a:extLst>
              <a:ext uri="{FF2B5EF4-FFF2-40B4-BE49-F238E27FC236}">
                <a16:creationId xmlns:a16="http://schemas.microsoft.com/office/drawing/2014/main" id="{3E47BD04-8AB3-4587-B80C-A2BFAFC86B53}"/>
              </a:ext>
            </a:extLst>
          </p:cNvPr>
          <p:cNvSpPr>
            <a:spLocks noGrp="1"/>
          </p:cNvSpPr>
          <p:nvPr>
            <p:ph sz="quarter" idx="11"/>
          </p:nvPr>
        </p:nvSpPr>
        <p:spPr>
          <a:xfrm>
            <a:off x="431800" y="4767494"/>
            <a:ext cx="8280400" cy="405683"/>
          </a:xfrm>
        </p:spPr>
        <p:txBody>
          <a:bodyPr lIns="0" tIns="18000" rIns="0" bIns="18000">
            <a:spAutoFit/>
          </a:bodyPr>
          <a:lstStyle/>
          <a:p>
            <a:pPr marL="342900" indent="-342900"/>
            <a:r>
              <a:rPr lang="en-US" altLang="en-US" sz="2400" kern="1200" dirty="0">
                <a:solidFill>
                  <a:srgbClr val="000000"/>
                </a:solidFill>
                <a:latin typeface="Arial" panose="020B0604020202020204" pitchFamily="34" charset="0"/>
                <a:cs typeface="Arial" panose="020B0604020202020204" pitchFamily="34" charset="0"/>
              </a:rPr>
              <a:t>Simple Time-Series Design</a:t>
            </a:r>
            <a:endParaRPr lang="en-US" sz="2400" kern="1200" dirty="0">
              <a:solidFill>
                <a:srgbClr val="000000"/>
              </a:solidFill>
              <a:latin typeface="Arial" panose="020B0604020202020204" pitchFamily="34" charset="0"/>
              <a:cs typeface="Arial" panose="020B0604020202020204" pitchFamily="34" charset="0"/>
            </a:endParaRPr>
          </a:p>
        </p:txBody>
      </p:sp>
      <p:pic>
        <p:nvPicPr>
          <p:cNvPr id="13" name="Picture Placeholder 12" descr="A table shows the time series design of group 1 and they are Obs, Obs, Obs, Obs, Tx, Obs, Obs, Obs, Obs. ">
            <a:extLst>
              <a:ext uri="{FF2B5EF4-FFF2-40B4-BE49-F238E27FC236}">
                <a16:creationId xmlns:a16="http://schemas.microsoft.com/office/drawing/2014/main" id="{9AE9CC52-B5D6-43B1-82EE-5931251FFB5A}"/>
              </a:ext>
            </a:extLst>
          </p:cNvPr>
          <p:cNvPicPr>
            <a:picLocks noGrp="1" noChangeAspect="1"/>
          </p:cNvPicPr>
          <p:nvPr>
            <p:ph type="pic" sz="quarter" idx="14"/>
          </p:nvPr>
        </p:nvPicPr>
        <p:blipFill>
          <a:blip r:embed="rId3"/>
          <a:stretch>
            <a:fillRect/>
          </a:stretch>
        </p:blipFill>
        <p:spPr>
          <a:xfrm>
            <a:off x="1517352" y="5396144"/>
            <a:ext cx="6181545" cy="870325"/>
          </a:xfrm>
          <a:prstGeom prst="rect">
            <a:avLst/>
          </a:prstGeom>
        </p:spPr>
      </p:pic>
    </p:spTree>
    <p:extLst>
      <p:ext uri="{BB962C8B-B14F-4D97-AF65-F5344CB8AC3E}">
        <p14:creationId xmlns:p14="http://schemas.microsoft.com/office/powerpoint/2010/main" val="1867070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210" y="25761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Quasi-Experimental Design </a:t>
            </a:r>
            <a:r>
              <a:rPr lang="en-US" sz="2800" kern="1200" dirty="0">
                <a:latin typeface="+mj-lt"/>
                <a:ea typeface="+mj-ea"/>
                <a:cs typeface="Times New Roman" panose="02020603050405020304" pitchFamily="18" charset="0"/>
              </a:rPr>
              <a:t>(2 of 3)</a:t>
            </a:r>
          </a:p>
        </p:txBody>
      </p:sp>
      <p:sp>
        <p:nvSpPr>
          <p:cNvPr id="3" name="Content Placeholder 2"/>
          <p:cNvSpPr>
            <a:spLocks noGrp="1"/>
          </p:cNvSpPr>
          <p:nvPr>
            <p:ph type="body" sz="quarter" idx="10"/>
          </p:nvPr>
        </p:nvSpPr>
        <p:spPr>
          <a:xfrm>
            <a:off x="457200" y="1166713"/>
            <a:ext cx="8229600" cy="374906"/>
          </a:xfrm>
        </p:spPr>
        <p:txBody>
          <a:bodyPr wrap="square" lIns="0" tIns="18000" rIns="0" bIns="18000">
            <a:spAutoFit/>
          </a:bodyPr>
          <a:lstStyle/>
          <a:p>
            <a:pPr marL="342900" indent="-342900">
              <a:spcAft>
                <a:spcPct val="0"/>
              </a:spcAft>
            </a:pPr>
            <a:r>
              <a:rPr lang="en-US" altLang="en-US" sz="2200" kern="1200" dirty="0">
                <a:solidFill>
                  <a:srgbClr val="000000"/>
                </a:solidFill>
                <a:latin typeface="Arial" panose="020B0604020202020204" pitchFamily="34" charset="0"/>
                <a:ea typeface="+mn-ea"/>
                <a:cs typeface="Arial" panose="020B0604020202020204" pitchFamily="34" charset="0"/>
              </a:rPr>
              <a:t>Control-Group Time-Series Design</a:t>
            </a:r>
          </a:p>
        </p:txBody>
      </p:sp>
      <p:pic>
        <p:nvPicPr>
          <p:cNvPr id="11" name="Picture Placeholder 10" descr="A table shows the control-group time-series design. The group and time of random assignment are as follows: group 1, Obs, Obs, Obs, Obs, Tx, Obs, Obs, Obs, Obs; group 2. Obs, Obs, Obs, Obs, nil, Obs, Obs, Obs, Obs.">
            <a:extLst>
              <a:ext uri="{FF2B5EF4-FFF2-40B4-BE49-F238E27FC236}">
                <a16:creationId xmlns:a16="http://schemas.microsoft.com/office/drawing/2014/main" id="{EE8045ED-D1B7-4157-ABEA-81AE070F91FF}"/>
              </a:ext>
            </a:extLst>
          </p:cNvPr>
          <p:cNvPicPr>
            <a:picLocks noGrp="1" noChangeAspect="1"/>
          </p:cNvPicPr>
          <p:nvPr>
            <p:ph type="pic" sz="quarter" idx="13"/>
          </p:nvPr>
        </p:nvPicPr>
        <p:blipFill>
          <a:blip r:embed="rId2"/>
          <a:stretch>
            <a:fillRect/>
          </a:stretch>
        </p:blipFill>
        <p:spPr>
          <a:xfrm>
            <a:off x="1244082" y="1832754"/>
            <a:ext cx="6719919" cy="1429901"/>
          </a:xfrm>
          <a:prstGeom prst="rect">
            <a:avLst/>
          </a:prstGeom>
        </p:spPr>
      </p:pic>
      <p:sp>
        <p:nvSpPr>
          <p:cNvPr id="8" name="Content Placeholder 7">
            <a:extLst>
              <a:ext uri="{FF2B5EF4-FFF2-40B4-BE49-F238E27FC236}">
                <a16:creationId xmlns:a16="http://schemas.microsoft.com/office/drawing/2014/main" id="{4C519DAC-2078-47A2-9EB9-E90120E23455}"/>
              </a:ext>
            </a:extLst>
          </p:cNvPr>
          <p:cNvSpPr>
            <a:spLocks noGrp="1"/>
          </p:cNvSpPr>
          <p:nvPr>
            <p:ph sz="quarter" idx="11"/>
          </p:nvPr>
        </p:nvSpPr>
        <p:spPr>
          <a:xfrm>
            <a:off x="425766" y="3662895"/>
            <a:ext cx="8286434" cy="374906"/>
          </a:xfrm>
        </p:spPr>
        <p:txBody>
          <a:bodyPr lIns="0" tIns="18000" rIns="0" bIns="18000">
            <a:spAutoFit/>
          </a:bodyPr>
          <a:lstStyle/>
          <a:p>
            <a:pPr marL="342900" indent="-342900">
              <a:buFont typeface="Arial" panose="020B0604020202020204" pitchFamily="34" charset="0"/>
              <a:buChar char="•"/>
            </a:pPr>
            <a:r>
              <a:rPr lang="en-US" altLang="en-US" sz="2200" kern="1200" dirty="0">
                <a:solidFill>
                  <a:srgbClr val="000000"/>
                </a:solidFill>
                <a:latin typeface="Arial" panose="020B0604020202020204" pitchFamily="34" charset="0"/>
                <a:cs typeface="Arial" panose="020B0604020202020204" pitchFamily="34" charset="0"/>
              </a:rPr>
              <a:t>Reversal Time-Series Design</a:t>
            </a:r>
          </a:p>
        </p:txBody>
      </p:sp>
      <p:pic>
        <p:nvPicPr>
          <p:cNvPr id="13" name="Picture Placeholder 12" descr="A table shows the reversal time-series design. The time-series of group 1 are as follows: group 1, Tx, Obs, nil, Obs, Tx, Obs, nil, Obs.">
            <a:extLst>
              <a:ext uri="{FF2B5EF4-FFF2-40B4-BE49-F238E27FC236}">
                <a16:creationId xmlns:a16="http://schemas.microsoft.com/office/drawing/2014/main" id="{18160C3F-AA3A-4660-831B-BA7C547411AF}"/>
              </a:ext>
            </a:extLst>
          </p:cNvPr>
          <p:cNvPicPr>
            <a:picLocks noGrp="1" noChangeAspect="1"/>
          </p:cNvPicPr>
          <p:nvPr>
            <p:ph type="pic" sz="quarter" idx="14"/>
          </p:nvPr>
        </p:nvPicPr>
        <p:blipFill>
          <a:blip r:embed="rId3"/>
          <a:stretch>
            <a:fillRect/>
          </a:stretch>
        </p:blipFill>
        <p:spPr>
          <a:xfrm>
            <a:off x="814704" y="4324805"/>
            <a:ext cx="7634319" cy="1104644"/>
          </a:xfrm>
          <a:prstGeom prst="rect">
            <a:avLst/>
          </a:prstGeom>
        </p:spPr>
      </p:pic>
    </p:spTree>
    <p:extLst>
      <p:ext uri="{BB962C8B-B14F-4D97-AF65-F5344CB8AC3E}">
        <p14:creationId xmlns:p14="http://schemas.microsoft.com/office/powerpoint/2010/main" val="1702691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210" y="257609"/>
            <a:ext cx="8255000"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Quasi-Experimental Design </a:t>
            </a:r>
            <a:r>
              <a:rPr lang="en-US" sz="2800" kern="1200" dirty="0">
                <a:latin typeface="+mj-lt"/>
                <a:ea typeface="+mj-ea"/>
                <a:cs typeface="Times New Roman" panose="02020603050405020304" pitchFamily="18" charset="0"/>
              </a:rPr>
              <a:t>(3 of 3)</a:t>
            </a:r>
          </a:p>
        </p:txBody>
      </p:sp>
      <p:sp>
        <p:nvSpPr>
          <p:cNvPr id="3" name="Content Placeholder 2"/>
          <p:cNvSpPr>
            <a:spLocks noGrp="1"/>
          </p:cNvSpPr>
          <p:nvPr>
            <p:ph type="body" sz="quarter" idx="10"/>
          </p:nvPr>
        </p:nvSpPr>
        <p:spPr>
          <a:xfrm>
            <a:off x="442210" y="1166713"/>
            <a:ext cx="8255000" cy="374906"/>
          </a:xfrm>
        </p:spPr>
        <p:txBody>
          <a:bodyPr wrap="square" lIns="0" tIns="18000" rIns="0" bIns="18000">
            <a:spAutoFit/>
          </a:bodyPr>
          <a:lstStyle/>
          <a:p>
            <a:pPr marL="342900" indent="-342900">
              <a:spcAft>
                <a:spcPct val="0"/>
              </a:spcAft>
            </a:pPr>
            <a:r>
              <a:rPr lang="en-US" sz="2200" kern="1200" dirty="0">
                <a:solidFill>
                  <a:srgbClr val="000000"/>
                </a:solidFill>
                <a:latin typeface="Arial" panose="020B0604020202020204" pitchFamily="34" charset="0"/>
                <a:ea typeface="+mn-ea"/>
                <a:cs typeface="Arial" panose="020B0604020202020204" pitchFamily="34" charset="0"/>
              </a:rPr>
              <a:t>Alternating-Treatments Design</a:t>
            </a:r>
          </a:p>
        </p:txBody>
      </p:sp>
      <p:pic>
        <p:nvPicPr>
          <p:cNvPr id="11" name="Picture Placeholder 10" descr="A table shows the alternating-treatments design. The time of group 1 are as follows: group 1, Tx sub a, Obs, nil, Obs, Tx sub a, Obs, nil, Obs, Tx sub a, Obs, nil, Obs, Tx sub a, Obs.">
            <a:extLst>
              <a:ext uri="{FF2B5EF4-FFF2-40B4-BE49-F238E27FC236}">
                <a16:creationId xmlns:a16="http://schemas.microsoft.com/office/drawing/2014/main" id="{B8D70CEE-56BB-4E3E-81E6-E7622969C163}"/>
              </a:ext>
            </a:extLst>
          </p:cNvPr>
          <p:cNvPicPr>
            <a:picLocks noGrp="1" noChangeAspect="1"/>
          </p:cNvPicPr>
          <p:nvPr>
            <p:ph type="pic" sz="quarter" idx="13"/>
          </p:nvPr>
        </p:nvPicPr>
        <p:blipFill>
          <a:blip r:embed="rId2"/>
          <a:stretch>
            <a:fillRect/>
          </a:stretch>
        </p:blipFill>
        <p:spPr>
          <a:xfrm>
            <a:off x="682568" y="1862345"/>
            <a:ext cx="7842974" cy="834620"/>
          </a:xfrm>
          <a:prstGeom prst="rect">
            <a:avLst/>
          </a:prstGeom>
        </p:spPr>
      </p:pic>
      <p:sp>
        <p:nvSpPr>
          <p:cNvPr id="6" name="Content Placeholder 5">
            <a:extLst>
              <a:ext uri="{FF2B5EF4-FFF2-40B4-BE49-F238E27FC236}">
                <a16:creationId xmlns:a16="http://schemas.microsoft.com/office/drawing/2014/main" id="{3E91B1A4-A653-4C86-9B0A-4A6697D1BC7F}"/>
              </a:ext>
            </a:extLst>
          </p:cNvPr>
          <p:cNvSpPr>
            <a:spLocks noGrp="1"/>
          </p:cNvSpPr>
          <p:nvPr>
            <p:ph sz="quarter" idx="11"/>
          </p:nvPr>
        </p:nvSpPr>
        <p:spPr>
          <a:xfrm>
            <a:off x="425983" y="3300264"/>
            <a:ext cx="8287453" cy="374906"/>
          </a:xfrm>
        </p:spPr>
        <p:txBody>
          <a:bodyPr lIns="0" tIns="18000" rIns="0" bIns="18000">
            <a:spAutoFit/>
          </a:bodyPr>
          <a:lstStyle/>
          <a:p>
            <a:pPr marL="342900" indent="-342900">
              <a:buFont typeface="Arial" panose="020B0604020202020204" pitchFamily="34" charset="0"/>
              <a:buChar char="•"/>
            </a:pPr>
            <a:r>
              <a:rPr lang="en-US" sz="2200" kern="1200" dirty="0">
                <a:solidFill>
                  <a:srgbClr val="000000"/>
                </a:solidFill>
                <a:latin typeface="Arial" panose="020B0604020202020204" pitchFamily="34" charset="0"/>
                <a:cs typeface="Arial" panose="020B0604020202020204" pitchFamily="34" charset="0"/>
              </a:rPr>
              <a:t>Multiple Baseline Design</a:t>
            </a:r>
          </a:p>
        </p:txBody>
      </p:sp>
      <p:pic>
        <p:nvPicPr>
          <p:cNvPr id="13" name="Picture Placeholder 12" descr="A table shows the multiple baseline design. The time and group are as follows: group 1, baseline, nil and Obs; treatment, Tx, Obs, Tx, Obs; group 2, baseline, nil and Obs; treatment, nil, Obs, Tx, Obs.">
            <a:extLst>
              <a:ext uri="{FF2B5EF4-FFF2-40B4-BE49-F238E27FC236}">
                <a16:creationId xmlns:a16="http://schemas.microsoft.com/office/drawing/2014/main" id="{59D5E309-3894-45D9-9389-7D85D10FDF16}"/>
              </a:ext>
            </a:extLst>
          </p:cNvPr>
          <p:cNvPicPr>
            <a:picLocks noGrp="1" noChangeAspect="1"/>
          </p:cNvPicPr>
          <p:nvPr>
            <p:ph type="pic" sz="quarter" idx="14"/>
          </p:nvPr>
        </p:nvPicPr>
        <p:blipFill>
          <a:blip r:embed="rId3"/>
          <a:stretch>
            <a:fillRect/>
          </a:stretch>
        </p:blipFill>
        <p:spPr>
          <a:xfrm>
            <a:off x="596781" y="3898776"/>
            <a:ext cx="8029575" cy="2124075"/>
          </a:xfrm>
          <a:prstGeom prst="rect">
            <a:avLst/>
          </a:prstGeom>
        </p:spPr>
      </p:pic>
    </p:spTree>
    <p:extLst>
      <p:ext uri="{BB962C8B-B14F-4D97-AF65-F5344CB8AC3E}">
        <p14:creationId xmlns:p14="http://schemas.microsoft.com/office/powerpoint/2010/main" val="842023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5635"/>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Single-Subject Designs</a:t>
            </a:r>
          </a:p>
        </p:txBody>
      </p:sp>
      <p:sp>
        <p:nvSpPr>
          <p:cNvPr id="3" name="Text Placeholder 2"/>
          <p:cNvSpPr>
            <a:spLocks noGrp="1"/>
          </p:cNvSpPr>
          <p:nvPr>
            <p:ph type="body" idx="1"/>
          </p:nvPr>
        </p:nvSpPr>
        <p:spPr>
          <a:xfrm>
            <a:off x="457200" y="1454285"/>
            <a:ext cx="8229600" cy="2075371"/>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Reversal time-series, alternating treatments, and multiple-baseline designs might also be used with either a single individual or a single intact group.</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This approach is known as single-case intervention research.</a:t>
            </a:r>
          </a:p>
        </p:txBody>
      </p:sp>
    </p:spTree>
    <p:extLst>
      <p:ext uri="{BB962C8B-B14F-4D97-AF65-F5344CB8AC3E}">
        <p14:creationId xmlns:p14="http://schemas.microsoft.com/office/powerpoint/2010/main" val="3729842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5"/>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Ex Post Facto Design </a:t>
            </a:r>
            <a:r>
              <a:rPr lang="en-US" sz="2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57200" y="1464012"/>
            <a:ext cx="8229600" cy="2075371"/>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Researcher identifies events that have already occurred or conditions that are already present and collects data to investigate a possible relationship between these factors and subsequent characteristics or behaviors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Often confused with correlational or experimental designs</a:t>
            </a:r>
          </a:p>
        </p:txBody>
      </p:sp>
    </p:spTree>
    <p:extLst>
      <p:ext uri="{BB962C8B-B14F-4D97-AF65-F5344CB8AC3E}">
        <p14:creationId xmlns:p14="http://schemas.microsoft.com/office/powerpoint/2010/main" val="697453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5"/>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Ex Post Facto Design </a:t>
            </a:r>
            <a:r>
              <a:rPr lang="en-US" sz="2800" kern="1200" dirty="0">
                <a:latin typeface="+mj-lt"/>
                <a:ea typeface="+mj-ea"/>
                <a:cs typeface="Times New Roman" panose="02020603050405020304" pitchFamily="18" charset="0"/>
              </a:rPr>
              <a:t>(2 of 3)</a:t>
            </a:r>
          </a:p>
        </p:txBody>
      </p:sp>
      <p:sp>
        <p:nvSpPr>
          <p:cNvPr id="3" name="Text Placeholder 2"/>
          <p:cNvSpPr>
            <a:spLocks noGrp="1"/>
          </p:cNvSpPr>
          <p:nvPr>
            <p:ph type="body" idx="1"/>
          </p:nvPr>
        </p:nvSpPr>
        <p:spPr>
          <a:xfrm>
            <a:off x="457200" y="1464010"/>
            <a:ext cx="8229600" cy="3006395"/>
          </a:xfrm>
        </p:spPr>
        <p:txBody>
          <a:bodyPr wrap="square" lIns="0" tIns="18000" rIns="0" bIns="18000">
            <a:spAutoFit/>
          </a:bodyPr>
          <a:lstStyle/>
          <a:p>
            <a:pPr>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involves looking at existing circumstances (like correlational research)</a:t>
            </a:r>
          </a:p>
          <a:p>
            <a:pPr>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has clearly identifiable independent and dependent variables (like experimental research)</a:t>
            </a:r>
          </a:p>
          <a:p>
            <a:pPr>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involves no direct manipulation of the independent variable – the presumed “cause” has already occurred (unlike experimental research)</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7937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088" y="265099"/>
            <a:ext cx="8255000"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Ex Post Facto Design </a:t>
            </a:r>
            <a:r>
              <a:rPr lang="en-US" sz="2800" kern="1200" dirty="0">
                <a:latin typeface="+mj-lt"/>
                <a:ea typeface="+mj-ea"/>
                <a:cs typeface="Times New Roman" panose="02020603050405020304" pitchFamily="18" charset="0"/>
              </a:rPr>
              <a:t>(3 of 3)</a:t>
            </a:r>
          </a:p>
        </p:txBody>
      </p:sp>
      <p:sp>
        <p:nvSpPr>
          <p:cNvPr id="4" name="Content Placeholder 3">
            <a:extLst>
              <a:ext uri="{FF2B5EF4-FFF2-40B4-BE49-F238E27FC236}">
                <a16:creationId xmlns:a16="http://schemas.microsoft.com/office/drawing/2014/main" id="{7A0DACA0-B751-4CDB-913B-547D42BBB321}"/>
              </a:ext>
            </a:extLst>
          </p:cNvPr>
          <p:cNvSpPr>
            <a:spLocks noGrp="1"/>
          </p:cNvSpPr>
          <p:nvPr>
            <p:ph sz="quarter" idx="11"/>
          </p:nvPr>
        </p:nvSpPr>
        <p:spPr>
          <a:xfrm>
            <a:off x="457200" y="1120771"/>
            <a:ext cx="8229600" cy="405683"/>
          </a:xfrm>
        </p:spPr>
        <p:txBody>
          <a:bodyPr lIns="0" tIns="18000" rIns="0" bIns="18000">
            <a:spAutoFit/>
          </a:bodyPr>
          <a:lstStyle/>
          <a:p>
            <a:pPr marL="342900" indent="-342900"/>
            <a:r>
              <a:rPr lang="en-US" sz="2400" kern="1200" dirty="0">
                <a:solidFill>
                  <a:srgbClr val="000000"/>
                </a:solidFill>
                <a:latin typeface="Arial" panose="020B0604020202020204" pitchFamily="34" charset="0"/>
                <a:ea typeface="+mn-ea"/>
                <a:cs typeface="Arial" panose="020B0604020202020204" pitchFamily="34" charset="0"/>
              </a:rPr>
              <a:t>Simple Ex Post Facto Design</a:t>
            </a:r>
          </a:p>
        </p:txBody>
      </p:sp>
      <p:pic>
        <p:nvPicPr>
          <p:cNvPr id="10" name="Picture Placeholder 9" descr="A table shows the simple ex post facto design. The time and group are as follows: group 1, Exp and Ops; group 2, nil and Obs.">
            <a:extLst>
              <a:ext uri="{FF2B5EF4-FFF2-40B4-BE49-F238E27FC236}">
                <a16:creationId xmlns:a16="http://schemas.microsoft.com/office/drawing/2014/main" id="{8D63F55C-FBEE-4483-A2E7-4392517F81AF}"/>
              </a:ext>
            </a:extLst>
          </p:cNvPr>
          <p:cNvPicPr>
            <a:picLocks noGrp="1" noChangeAspect="1"/>
          </p:cNvPicPr>
          <p:nvPr>
            <p:ph type="pic" sz="quarter" idx="13"/>
          </p:nvPr>
        </p:nvPicPr>
        <p:blipFill rotWithShape="1">
          <a:blip r:embed="rId2"/>
          <a:stretch/>
        </p:blipFill>
        <p:spPr>
          <a:xfrm>
            <a:off x="1417200" y="1931977"/>
            <a:ext cx="6284199" cy="1736746"/>
          </a:xfrm>
          <a:prstGeom prst="rect">
            <a:avLst/>
          </a:prstGeom>
        </p:spPr>
      </p:pic>
    </p:spTree>
    <p:extLst>
      <p:ext uri="{BB962C8B-B14F-4D97-AF65-F5344CB8AC3E}">
        <p14:creationId xmlns:p14="http://schemas.microsoft.com/office/powerpoint/2010/main" val="671376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088" y="255675"/>
            <a:ext cx="8255000"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Factorial Design </a:t>
            </a:r>
            <a:r>
              <a:rPr lang="en-US" sz="2800" kern="1200" dirty="0">
                <a:latin typeface="+mj-lt"/>
                <a:ea typeface="+mj-ea"/>
                <a:cs typeface="Times New Roman" panose="02020603050405020304" pitchFamily="18" charset="0"/>
              </a:rPr>
              <a:t>(1 of 2)</a:t>
            </a:r>
          </a:p>
        </p:txBody>
      </p:sp>
      <p:sp>
        <p:nvSpPr>
          <p:cNvPr id="6" name="Content Placeholder 5">
            <a:extLst>
              <a:ext uri="{FF2B5EF4-FFF2-40B4-BE49-F238E27FC236}">
                <a16:creationId xmlns:a16="http://schemas.microsoft.com/office/drawing/2014/main" id="{A60DC2EF-B006-4B47-B1F1-E72D95C9AA55}"/>
              </a:ext>
            </a:extLst>
          </p:cNvPr>
          <p:cNvSpPr>
            <a:spLocks noGrp="1"/>
          </p:cNvSpPr>
          <p:nvPr>
            <p:ph sz="quarter" idx="11"/>
          </p:nvPr>
        </p:nvSpPr>
        <p:spPr>
          <a:xfrm>
            <a:off x="444500" y="1135063"/>
            <a:ext cx="8242300" cy="967376"/>
          </a:xfrm>
        </p:spPr>
        <p:txBody>
          <a:bodyPr lIns="0" tIns="18000" rIns="0" bIns="18000">
            <a:spAutoFit/>
          </a:bodyPr>
          <a:lstStyle/>
          <a:p>
            <a:pPr marL="342900" indent="-342900">
              <a:spcAft>
                <a:spcPct val="0"/>
              </a:spcAft>
            </a:pPr>
            <a:r>
              <a:rPr lang="en-US" sz="2400" kern="1200" dirty="0">
                <a:solidFill>
                  <a:srgbClr val="000000"/>
                </a:solidFill>
                <a:latin typeface="Arial" panose="020B0604020202020204" pitchFamily="34" charset="0"/>
                <a:cs typeface="Arial" panose="020B0604020202020204" pitchFamily="34" charset="0"/>
              </a:rPr>
              <a:t>Two or more independent variables in a single study</a:t>
            </a:r>
          </a:p>
          <a:p>
            <a:pPr marL="342900" indent="-342900">
              <a:spcAft>
                <a:spcPct val="0"/>
              </a:spcAft>
            </a:pPr>
            <a:r>
              <a:rPr lang="en-US" sz="2400" kern="1200" dirty="0">
                <a:solidFill>
                  <a:srgbClr val="000000"/>
                </a:solidFill>
                <a:latin typeface="Arial" panose="020B0604020202020204" pitchFamily="34" charset="0"/>
                <a:cs typeface="Arial" panose="020B0604020202020204" pitchFamily="34" charset="0"/>
              </a:rPr>
              <a:t>Two-Factor Experimental Design</a:t>
            </a:r>
          </a:p>
        </p:txBody>
      </p:sp>
      <p:pic>
        <p:nvPicPr>
          <p:cNvPr id="10" name="Picture Placeholder 9" descr="A table shows the two factor experimental design.&#10;Long description is available in notes, press F6.">
            <a:extLst>
              <a:ext uri="{FF2B5EF4-FFF2-40B4-BE49-F238E27FC236}">
                <a16:creationId xmlns:a16="http://schemas.microsoft.com/office/drawing/2014/main" id="{7D39369A-6548-48A1-9F92-9DEA2FA86CCF}"/>
              </a:ext>
            </a:extLst>
          </p:cNvPr>
          <p:cNvPicPr>
            <a:picLocks noGrp="1" noChangeAspect="1"/>
          </p:cNvPicPr>
          <p:nvPr>
            <p:ph type="pic" sz="quarter" idx="13"/>
          </p:nvPr>
        </p:nvPicPr>
        <p:blipFill rotWithShape="1">
          <a:blip r:embed="rId3"/>
          <a:stretch/>
        </p:blipFill>
        <p:spPr>
          <a:xfrm>
            <a:off x="1200150" y="2529930"/>
            <a:ext cx="6413074" cy="3780338"/>
          </a:xfrm>
          <a:prstGeom prst="rect">
            <a:avLst/>
          </a:prstGeom>
        </p:spPr>
      </p:pic>
    </p:spTree>
    <p:extLst>
      <p:ext uri="{BB962C8B-B14F-4D97-AF65-F5344CB8AC3E}">
        <p14:creationId xmlns:p14="http://schemas.microsoft.com/office/powerpoint/2010/main" val="818823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912" y="266803"/>
            <a:ext cx="8258175" cy="590349"/>
          </a:xfrm>
        </p:spPr>
        <p:txBody>
          <a:bodyPr wrap="square"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Factorial Design </a:t>
            </a:r>
            <a:r>
              <a:rPr lang="en-US" sz="2800" kern="1200" dirty="0">
                <a:latin typeface="+mj-lt"/>
                <a:ea typeface="+mj-ea"/>
                <a:cs typeface="Times New Roman" panose="02020603050405020304" pitchFamily="18" charset="0"/>
              </a:rPr>
              <a:t>(2 of 2)</a:t>
            </a:r>
          </a:p>
        </p:txBody>
      </p:sp>
      <p:sp>
        <p:nvSpPr>
          <p:cNvPr id="6" name="Content Placeholder 5">
            <a:extLst>
              <a:ext uri="{FF2B5EF4-FFF2-40B4-BE49-F238E27FC236}">
                <a16:creationId xmlns:a16="http://schemas.microsoft.com/office/drawing/2014/main" id="{A43E947D-A1A2-4A1D-9054-D9B953420C6D}"/>
              </a:ext>
            </a:extLst>
          </p:cNvPr>
          <p:cNvSpPr>
            <a:spLocks noGrp="1"/>
          </p:cNvSpPr>
          <p:nvPr>
            <p:ph sz="quarter" idx="11"/>
          </p:nvPr>
        </p:nvSpPr>
        <p:spPr>
          <a:xfrm>
            <a:off x="431800" y="1121134"/>
            <a:ext cx="8280400" cy="405683"/>
          </a:xfrm>
        </p:spPr>
        <p:txBody>
          <a:bodyPr lIns="0" tIns="18000" rIns="0" bIns="18000">
            <a:spAutoFit/>
          </a:bodyPr>
          <a:lstStyle/>
          <a:p>
            <a:pPr marL="342900" indent="-342900">
              <a:buFont typeface="Arial" panose="020B0604020202020204" pitchFamily="34" charset="0"/>
              <a:buChar char="•"/>
            </a:pPr>
            <a:r>
              <a:rPr lang="en-US" sz="2400" kern="1200" dirty="0">
                <a:solidFill>
                  <a:srgbClr val="000000"/>
                </a:solidFill>
                <a:latin typeface="Arial" panose="020B0604020202020204" pitchFamily="34" charset="0"/>
                <a:ea typeface="+mn-ea"/>
                <a:cs typeface="Arial" panose="020B0604020202020204" pitchFamily="34" charset="0"/>
              </a:rPr>
              <a:t>Combined experimental and ex post facto design</a:t>
            </a:r>
          </a:p>
        </p:txBody>
      </p:sp>
      <p:pic>
        <p:nvPicPr>
          <p:cNvPr id="10" name="Picture Placeholder 9" descr="A table shows the prior events and investigation period of group 1 and group 2.&#10;Long description is available in notes, press F6.">
            <a:extLst>
              <a:ext uri="{FF2B5EF4-FFF2-40B4-BE49-F238E27FC236}">
                <a16:creationId xmlns:a16="http://schemas.microsoft.com/office/drawing/2014/main" id="{E83814F3-9EE4-4311-A6F2-3672EFEA432D}"/>
              </a:ext>
            </a:extLst>
          </p:cNvPr>
          <p:cNvPicPr>
            <a:picLocks noGrp="1" noChangeAspect="1"/>
          </p:cNvPicPr>
          <p:nvPr>
            <p:ph type="pic" sz="quarter" idx="13"/>
          </p:nvPr>
        </p:nvPicPr>
        <p:blipFill rotWithShape="1">
          <a:blip r:embed="rId3"/>
          <a:stretch/>
        </p:blipFill>
        <p:spPr>
          <a:xfrm>
            <a:off x="1363663" y="1996455"/>
            <a:ext cx="6762750" cy="3981450"/>
          </a:xfrm>
          <a:prstGeom prst="rect">
            <a:avLst/>
          </a:prstGeom>
        </p:spPr>
      </p:pic>
    </p:spTree>
    <p:extLst>
      <p:ext uri="{BB962C8B-B14F-4D97-AF65-F5344CB8AC3E}">
        <p14:creationId xmlns:p14="http://schemas.microsoft.com/office/powerpoint/2010/main" val="379554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9"/>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Meta-Analysis</a:t>
            </a:r>
          </a:p>
        </p:txBody>
      </p:sp>
      <p:sp>
        <p:nvSpPr>
          <p:cNvPr id="3" name="Text Placeholder 2"/>
          <p:cNvSpPr>
            <a:spLocks noGrp="1"/>
          </p:cNvSpPr>
          <p:nvPr>
            <p:ph type="body" idx="1"/>
          </p:nvPr>
        </p:nvSpPr>
        <p:spPr>
          <a:xfrm>
            <a:off x="454024" y="1121111"/>
            <a:ext cx="8229600" cy="1706039"/>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Statistical technique: Analysis of the analyses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Researcher combines results of many experimental and/or ex post facto studies to determine whether they lead to consistent conclusions</a:t>
            </a:r>
          </a:p>
        </p:txBody>
      </p:sp>
    </p:spTree>
    <p:extLst>
      <p:ext uri="{BB962C8B-B14F-4D97-AF65-F5344CB8AC3E}">
        <p14:creationId xmlns:p14="http://schemas.microsoft.com/office/powerpoint/2010/main" val="3425126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851"/>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Conducting Experiments on the Internet</a:t>
            </a:r>
          </a:p>
        </p:txBody>
      </p:sp>
      <p:sp>
        <p:nvSpPr>
          <p:cNvPr id="3" name="Text Placeholder 2"/>
          <p:cNvSpPr>
            <a:spLocks noGrp="1"/>
          </p:cNvSpPr>
          <p:nvPr>
            <p:ph type="body" idx="1"/>
          </p:nvPr>
        </p:nvSpPr>
        <p:spPr>
          <a:xfrm>
            <a:off x="457200" y="1979583"/>
            <a:ext cx="8255000" cy="152906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Some websites are set up to assist you</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Keep ethics in mind</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Remember your sample will probably not be representative</a:t>
            </a:r>
          </a:p>
        </p:txBody>
      </p:sp>
    </p:spTree>
    <p:extLst>
      <p:ext uri="{BB962C8B-B14F-4D97-AF65-F5344CB8AC3E}">
        <p14:creationId xmlns:p14="http://schemas.microsoft.com/office/powerpoint/2010/main" val="1523917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9"/>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Acknowledging Bias</a:t>
            </a:r>
          </a:p>
        </p:txBody>
      </p:sp>
      <p:sp>
        <p:nvSpPr>
          <p:cNvPr id="3" name="Text Placeholder 2"/>
          <p:cNvSpPr>
            <a:spLocks noGrp="1"/>
          </p:cNvSpPr>
          <p:nvPr>
            <p:ph type="body" idx="1"/>
          </p:nvPr>
        </p:nvSpPr>
        <p:spPr>
          <a:xfrm>
            <a:off x="457200" y="1464010"/>
            <a:ext cx="8229600" cy="2306204"/>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Occurs even in the most controlled designs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variables may be ignored</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sample may not be representative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tasks or setting may be artificial</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Identify it, acknowledge it, and report it</a:t>
            </a:r>
          </a:p>
        </p:txBody>
      </p:sp>
    </p:spTree>
    <p:extLst>
      <p:ext uri="{BB962C8B-B14F-4D97-AF65-F5344CB8AC3E}">
        <p14:creationId xmlns:p14="http://schemas.microsoft.com/office/powerpoint/2010/main" val="4184432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299500"/>
            <a:ext cx="8272252" cy="590349"/>
          </a:xfrm>
        </p:spPr>
        <p:txBody>
          <a:bodyPr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851EEF09-967F-4C3D-82D3-641DA9EECDF7}"/>
              </a:ext>
            </a:extLst>
          </p:cNvPr>
          <p:cNvPicPr>
            <a:picLocks noGrp="1" noChangeAspect="1"/>
          </p:cNvPicPr>
          <p:nvPr>
            <p:ph type="pic" sz="quarter" idx="11"/>
          </p:nvPr>
        </p:nvPicPr>
        <p:blipFill>
          <a:blip r:embed="rId2"/>
          <a:stretch>
            <a:fillRect/>
          </a:stretch>
        </p:blipFill>
        <p:spPr>
          <a:xfrm>
            <a:off x="591806" y="2719269"/>
            <a:ext cx="1276350" cy="1438275"/>
          </a:xfrm>
          <a:prstGeom prst="rect">
            <a:avLst/>
          </a:prstGeom>
        </p:spPr>
      </p:pic>
      <p:sp>
        <p:nvSpPr>
          <p:cNvPr id="6" name="Content Placeholder 2">
            <a:extLst>
              <a:ext uri="{FF2B5EF4-FFF2-40B4-BE49-F238E27FC236}">
                <a16:creationId xmlns:a16="http://schemas.microsoft.com/office/drawing/2014/main" id="{92FA79A0-7730-4CCE-A6C7-B3ACBD8327C3}"/>
              </a:ext>
            </a:extLst>
          </p:cNvPr>
          <p:cNvSpPr>
            <a:spLocks noGrp="1"/>
          </p:cNvSpPr>
          <p:nvPr>
            <p:ph sz="quarter" idx="10"/>
          </p:nvPr>
        </p:nvSpPr>
        <p:spPr>
          <a:xfrm>
            <a:off x="2139347" y="1815142"/>
            <a:ext cx="6573329"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5300010"/>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4657E2-718F-4279-B790-90CF22E1AF0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AF4D962-1270-4DDE-8C4A-83257A056AE6}">
  <ds:schemaRefs>
    <ds:schemaRef ds:uri="http://schemas.microsoft.com/sharepoint/v3/contenttype/forms"/>
  </ds:schemaRefs>
</ds:datastoreItem>
</file>

<file path=customXml/itemProps3.xml><?xml version="1.0" encoding="utf-8"?>
<ds:datastoreItem xmlns:ds="http://schemas.openxmlformats.org/officeDocument/2006/customXml" ds:itemID="{9A0FC890-9992-4F8E-A446-F82C90CDB5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9394</TotalTime>
  <Words>1143</Words>
  <Application>Microsoft Office PowerPoint</Application>
  <PresentationFormat>On-screen Show (4:3)</PresentationFormat>
  <Paragraphs>129</Paragraphs>
  <Slides>26</Slides>
  <Notes>3</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34" baseType="lpstr">
      <vt:lpstr>Arial</vt:lpstr>
      <vt:lpstr>Arial (Headings)</vt:lpstr>
      <vt:lpstr>Noto Sans Symbols</vt:lpstr>
      <vt:lpstr>Times New Roman</vt:lpstr>
      <vt:lpstr>Verdana</vt:lpstr>
      <vt:lpstr>508 Lecture</vt:lpstr>
      <vt:lpstr>1_508 Lecture</vt:lpstr>
      <vt:lpstr>Equation</vt:lpstr>
      <vt:lpstr>Practical Research: Planning and Design</vt:lpstr>
      <vt:lpstr>Experimental Studies</vt:lpstr>
      <vt:lpstr>Variables</vt:lpstr>
      <vt:lpstr>Internal Validity</vt:lpstr>
      <vt:lpstr>Confounding Variables (1 of 2)</vt:lpstr>
      <vt:lpstr>Confounding Variables (2 of 2)</vt:lpstr>
      <vt:lpstr>Strategies for Controlling Confounding Variables (1 of 2)</vt:lpstr>
      <vt:lpstr>Strategies for Controlling Confounding Variables (2 of 2)</vt:lpstr>
      <vt:lpstr>Experimental Designs</vt:lpstr>
      <vt:lpstr>Pre-Experimental Designs (1 of 2)</vt:lpstr>
      <vt:lpstr>Pre-Experimental Designs (2 of 2)</vt:lpstr>
      <vt:lpstr>True Experimental Designs (1 of 2)</vt:lpstr>
      <vt:lpstr>True Experimental Designs (2 of 2)</vt:lpstr>
      <vt:lpstr>Quasi-Experimental Design (1 of 3)</vt:lpstr>
      <vt:lpstr>Quasi-Experimental Design (2 of 3)</vt:lpstr>
      <vt:lpstr>Quasi-Experimental Design (3 of 3)</vt:lpstr>
      <vt:lpstr>Single-Subject Designs</vt:lpstr>
      <vt:lpstr>Ex Post Facto Design (1 of 3)</vt:lpstr>
      <vt:lpstr>Ex Post Facto Design (2 of 3)</vt:lpstr>
      <vt:lpstr>Ex Post Facto Design (3 of 3)</vt:lpstr>
      <vt:lpstr>Factorial Design (1 of 2)</vt:lpstr>
      <vt:lpstr>Factorial Design (2 of 2)</vt:lpstr>
      <vt:lpstr>Meta-Analysis</vt:lpstr>
      <vt:lpstr>Conducting Experiments on the Internet</vt:lpstr>
      <vt:lpstr>Acknowledging Bias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7</dc:title>
  <dc:subject>TED/Careers</dc:subject>
  <dc:creator>Leedy and Ormrod</dc:creator>
  <cp:keywords>Practical Research</cp:keywords>
  <cp:lastModifiedBy>MAHFOUDH SAEED ALI MOHAMMED</cp:lastModifiedBy>
  <cp:revision>948</cp:revision>
  <dcterms:modified xsi:type="dcterms:W3CDTF">2026-04-13T00:58:37Z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