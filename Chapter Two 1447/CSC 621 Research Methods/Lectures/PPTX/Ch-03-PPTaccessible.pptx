
<file path=[Content_Types].xml><?xml version="1.0" encoding="utf-8"?>
<Types xmlns="http://schemas.openxmlformats.org/package/2006/content-types">
  <Default Extension="bin" ContentType="application/vnd.openxmlformats-officedocument.oleObject"/>
  <Default Extension="rels" ContentType="application/vnd.openxmlformats-package.relationships+xml"/>
  <Default Extension="wmf" ContentType="image/x-wmf"/>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handoutMasterIdLst>
    <p:handoutMasterId r:id="rId22"/>
  </p:handoutMasterIdLst>
  <p:sldIdLst>
    <p:sldId id="325" r:id="rId3"/>
    <p:sldId id="307" r:id="rId4"/>
    <p:sldId id="308" r:id="rId5"/>
    <p:sldId id="309" r:id="rId6"/>
    <p:sldId id="310" r:id="rId7"/>
    <p:sldId id="311" r:id="rId8"/>
    <p:sldId id="312" r:id="rId9"/>
    <p:sldId id="323" r:id="rId10"/>
    <p:sldId id="314" r:id="rId11"/>
    <p:sldId id="324" r:id="rId12"/>
    <p:sldId id="316" r:id="rId13"/>
    <p:sldId id="317" r:id="rId14"/>
    <p:sldId id="318" r:id="rId15"/>
    <p:sldId id="319" r:id="rId16"/>
    <p:sldId id="320" r:id="rId17"/>
    <p:sldId id="321" r:id="rId18"/>
    <p:sldId id="322" r:id="rId19"/>
    <p:sldId id="336"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46" userDrawn="1">
          <p15:clr>
            <a:srgbClr val="A4A3A4"/>
          </p15:clr>
        </p15:guide>
        <p15:guide id="4" orient="horz" pos="482" userDrawn="1">
          <p15:clr>
            <a:srgbClr val="A4A3A4"/>
          </p15:clr>
        </p15:guide>
        <p15:guide id="5" pos="295" userDrawn="1">
          <p15:clr>
            <a:srgbClr val="A4A3A4"/>
          </p15:clr>
        </p15:guide>
        <p15:guide id="6" pos="5488" userDrawn="1">
          <p15:clr>
            <a:srgbClr val="A4A3A4"/>
          </p15:clr>
        </p15:guide>
        <p15:guide id="7" orient="horz" pos="913" userDrawn="1">
          <p15:clr>
            <a:srgbClr val="A4A3A4"/>
          </p15:clr>
        </p15:guide>
        <p15:guide id="8" orient="horz" pos="40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5256" autoAdjust="0"/>
  </p:normalViewPr>
  <p:slideViewPr>
    <p:cSldViewPr snapToGrid="0" snapToObjects="1">
      <p:cViewPr varScale="1">
        <p:scale>
          <a:sx n="82" d="100"/>
          <a:sy n="82" d="100"/>
        </p:scale>
        <p:origin x="1524" y="96"/>
      </p:cViewPr>
      <p:guideLst>
        <p:guide orient="horz" pos="2160"/>
        <p:guide pos="2880"/>
        <p:guide orient="horz" pos="346"/>
        <p:guide orient="horz" pos="482"/>
        <p:guide pos="295"/>
        <p:guide pos="5488"/>
        <p:guide orient="horz" pos="913"/>
        <p:guide orient="horz" pos="4088"/>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 Id="rId30"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10/23/2021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649AFD4-198F-4FE6-9A48-2111CE5F9E60}"/>
              </a:ext>
            </a:extLst>
          </p:cNvPr>
          <p:cNvSpPr>
            <a:spLocks noGrp="1"/>
          </p:cNvSpPr>
          <p:nvPr>
            <p:ph sz="quarter" idx="10"/>
          </p:nvPr>
        </p:nvSpPr>
        <p:spPr>
          <a:xfrm>
            <a:off x="2298700" y="2162175"/>
            <a:ext cx="4468813" cy="1495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0B2CE91-B9C0-4E05-BBB2-8375B3A7BF27}"/>
              </a:ext>
            </a:extLst>
          </p:cNvPr>
          <p:cNvSpPr>
            <a:spLocks noGrp="1"/>
          </p:cNvSpPr>
          <p:nvPr>
            <p:ph type="pic" sz="quarter" idx="11"/>
          </p:nvPr>
        </p:nvSpPr>
        <p:spPr>
          <a:xfrm>
            <a:off x="2546350" y="4221163"/>
            <a:ext cx="4718050" cy="1325562"/>
          </a:xfrm>
        </p:spPr>
        <p:txBody>
          <a:bodyPr/>
          <a:lstStyle/>
          <a:p>
            <a:endParaRPr lang="en-US"/>
          </a:p>
        </p:txBody>
      </p:sp>
    </p:spTree>
    <p:extLst>
      <p:ext uri="{BB962C8B-B14F-4D97-AF65-F5344CB8AC3E}">
        <p14:creationId xmlns:p14="http://schemas.microsoft.com/office/powerpoint/2010/main" val="1015076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C28AF1C-FDB4-4B9A-ADE6-F96A0BB72AEF}"/>
              </a:ext>
            </a:extLst>
          </p:cNvPr>
          <p:cNvSpPr>
            <a:spLocks noGrp="1"/>
          </p:cNvSpPr>
          <p:nvPr>
            <p:ph type="pic" sz="quarter" idx="14"/>
          </p:nvPr>
        </p:nvSpPr>
        <p:spPr>
          <a:xfrm>
            <a:off x="1000125" y="2487613"/>
            <a:ext cx="3571875" cy="941387"/>
          </a:xfrm>
        </p:spPr>
        <p:txBody>
          <a:bodyPr/>
          <a:lstStyle/>
          <a:p>
            <a:endParaRPr lang="en-US"/>
          </a:p>
        </p:txBody>
      </p:sp>
      <p:sp>
        <p:nvSpPr>
          <p:cNvPr id="5" name="Picture Placeholder 4">
            <a:extLst>
              <a:ext uri="{FF2B5EF4-FFF2-40B4-BE49-F238E27FC236}">
                <a16:creationId xmlns:a16="http://schemas.microsoft.com/office/drawing/2014/main" id="{4D3A59EF-8813-437D-A779-01320C1F7B2E}"/>
              </a:ext>
            </a:extLst>
          </p:cNvPr>
          <p:cNvSpPr>
            <a:spLocks noGrp="1"/>
          </p:cNvSpPr>
          <p:nvPr>
            <p:ph type="pic" sz="quarter" idx="15"/>
          </p:nvPr>
        </p:nvSpPr>
        <p:spPr>
          <a:xfrm>
            <a:off x="1111250" y="4032250"/>
            <a:ext cx="3657600" cy="1087438"/>
          </a:xfrm>
        </p:spPr>
        <p:txBody>
          <a:bodyPr/>
          <a:lstStyle/>
          <a:p>
            <a:endParaRPr lang="en-US"/>
          </a:p>
        </p:txBody>
      </p:sp>
    </p:spTree>
    <p:extLst>
      <p:ext uri="{BB962C8B-B14F-4D97-AF65-F5344CB8AC3E}">
        <p14:creationId xmlns:p14="http://schemas.microsoft.com/office/powerpoint/2010/main" val="2737681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30951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F1AE8EB6-56D4-4E9E-8E18-5DC91C8A6CF7}"/>
              </a:ext>
            </a:extLst>
          </p:cNvPr>
          <p:cNvPicPr>
            <a:picLocks noChangeAspect="1"/>
          </p:cNvPicPr>
          <p:nvPr userDrawn="1"/>
        </p:nvPicPr>
        <p:blipFill>
          <a:blip r:embed="rId14"/>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39948" y="1889814"/>
            <a:ext cx="3572256" cy="4456176"/>
          </a:xfrm>
          <a:prstGeom prst="rect">
            <a:avLst/>
          </a:prstGeom>
        </p:spPr>
      </p:pic>
      <p:sp>
        <p:nvSpPr>
          <p:cNvPr id="4" name="Text Placeholder 3"/>
          <p:cNvSpPr>
            <a:spLocks noGrp="1"/>
          </p:cNvSpPr>
          <p:nvPr>
            <p:ph type="body" idx="2"/>
          </p:nvPr>
        </p:nvSpPr>
        <p:spPr>
          <a:xfrm>
            <a:off x="4580628" y="2937288"/>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3</a:t>
            </a:r>
          </a:p>
        </p:txBody>
      </p:sp>
      <p:sp>
        <p:nvSpPr>
          <p:cNvPr id="5" name="Text Placeholder 4"/>
          <p:cNvSpPr>
            <a:spLocks noGrp="1"/>
          </p:cNvSpPr>
          <p:nvPr>
            <p:ph type="body" idx="3"/>
          </p:nvPr>
        </p:nvSpPr>
        <p:spPr>
          <a:xfrm>
            <a:off x="4580630" y="3493695"/>
            <a:ext cx="4131570"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Review of the Related Literature</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569365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806"/>
            <a:ext cx="8229600" cy="1144347"/>
          </a:xfrm>
        </p:spPr>
        <p:txBody>
          <a:bodyPr lIns="0" tIns="18000" rIns="0" bIns="18000">
            <a:spAutoFit/>
          </a:bodyPr>
          <a:lstStyle/>
          <a:p>
            <a:pPr lvl="0">
              <a:spcBef>
                <a:spcPct val="0"/>
              </a:spcBef>
              <a:buClrTx/>
            </a:pPr>
            <a:r>
              <a:rPr lang="en-US" sz="3600" kern="1200" dirty="0">
                <a:latin typeface="Arial (Headings)"/>
                <a:ea typeface="+mj-ea"/>
                <a:cs typeface="Times New Roman" panose="02020603050405020304" pitchFamily="18" charset="0"/>
              </a:rPr>
              <a:t>Understanding the Role of the Literature Review </a:t>
            </a:r>
            <a:r>
              <a:rPr lang="en-US" sz="2800" kern="1200" dirty="0">
                <a:latin typeface="Arial (Headings)"/>
                <a:ea typeface="+mj-ea"/>
                <a:cs typeface="Times New Roman" panose="02020603050405020304" pitchFamily="18" charset="0"/>
              </a:rPr>
              <a:t>(1 of 3)</a:t>
            </a:r>
          </a:p>
        </p:txBody>
      </p:sp>
      <p:sp>
        <p:nvSpPr>
          <p:cNvPr id="3" name="Text Placeholder 2"/>
          <p:cNvSpPr>
            <a:spLocks noGrp="1"/>
          </p:cNvSpPr>
          <p:nvPr>
            <p:ph type="body" idx="1"/>
          </p:nvPr>
        </p:nvSpPr>
        <p:spPr>
          <a:xfrm>
            <a:off x="457200" y="2009775"/>
            <a:ext cx="8229600" cy="3198756"/>
          </a:xfrm>
        </p:spPr>
        <p:txBody>
          <a:bodyPr wrap="square" lIns="0" tIns="18000" rIns="0" bIns="18000">
            <a:spAutoFit/>
          </a:bodyPr>
          <a:lstStyle/>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Discover if someone has already answered your research question.</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Find new ideas, perspectives, and approaches.</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Learn about other researchers who conduct work in the same area.</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Identify controversial issues and gaps in understanding that have not yet been resolved.</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55219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806"/>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Understanding the Role of the Literature Review </a:t>
            </a:r>
            <a:r>
              <a:rPr lang="en-US" sz="2800" kern="1200" dirty="0">
                <a:ea typeface="+mj-ea"/>
                <a:cs typeface="Times New Roman" panose="02020603050405020304" pitchFamily="18" charset="0"/>
              </a:rPr>
              <a:t>(2 of 3)</a:t>
            </a:r>
          </a:p>
        </p:txBody>
      </p:sp>
      <p:sp>
        <p:nvSpPr>
          <p:cNvPr id="3" name="Text Placeholder 2"/>
          <p:cNvSpPr>
            <a:spLocks noGrp="1"/>
          </p:cNvSpPr>
          <p:nvPr>
            <p:ph type="body" idx="1"/>
          </p:nvPr>
        </p:nvSpPr>
        <p:spPr>
          <a:xfrm>
            <a:off x="457200" y="2019300"/>
            <a:ext cx="8229600" cy="4278064"/>
          </a:xfrm>
        </p:spPr>
        <p:txBody>
          <a:bodyPr wrap="square" lIns="0" tIns="18000" rIns="0" bIns="18000">
            <a:spAutoFit/>
          </a:bodyPr>
          <a:lstStyle/>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Learn how others have handled methodological and design issues in studies similar to your own.</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Uncover sources of data that you may not have known existed.</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Discover established measurement tools.</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Interpret and make sense of your findings and tie your results to the work of those who have preceded you.</a:t>
            </a:r>
          </a:p>
          <a:p>
            <a:pPr marL="432054" lvl="0" indent="-432054">
              <a:spcAft>
                <a:spcPct val="0"/>
              </a:spcAft>
              <a:buSzPts val="2400"/>
              <a:buFont typeface="+mj-lt"/>
              <a:buAutoNum type="arabicPeriod" startAt="5"/>
              <a:tabLst/>
            </a:pPr>
            <a:r>
              <a:rPr lang="en-US" altLang="en-US" sz="2400" kern="1200" dirty="0">
                <a:solidFill>
                  <a:srgbClr val="000000"/>
                </a:solidFill>
                <a:latin typeface="Arial" panose="020B0604020202020204" pitchFamily="34" charset="0"/>
                <a:ea typeface="+mn-ea"/>
                <a:cs typeface="Arial" panose="020B0604020202020204" pitchFamily="34" charset="0"/>
              </a:rPr>
              <a:t>Bolster your confidence that your topic is one worth studying.</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4401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806"/>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Understanding the Role of the Literature Review </a:t>
            </a:r>
            <a:r>
              <a:rPr lang="en-US" sz="2800" kern="1200" dirty="0">
                <a:ea typeface="+mj-ea"/>
                <a:cs typeface="Times New Roman" panose="02020603050405020304" pitchFamily="18" charset="0"/>
              </a:rPr>
              <a:t>(3 of 3)</a:t>
            </a:r>
          </a:p>
        </p:txBody>
      </p:sp>
      <p:sp>
        <p:nvSpPr>
          <p:cNvPr id="3" name="Text Placeholder 2"/>
          <p:cNvSpPr>
            <a:spLocks noGrp="1"/>
          </p:cNvSpPr>
          <p:nvPr>
            <p:ph type="body" idx="1"/>
          </p:nvPr>
        </p:nvSpPr>
        <p:spPr>
          <a:xfrm>
            <a:off x="457200" y="1981200"/>
            <a:ext cx="8229600" cy="159062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Bottom line: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more you know about investigations and perspectives related to your topic, the more effectively you can tackle your own research problem.</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337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806"/>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Strategies for Locating Related Literature</a:t>
            </a:r>
          </a:p>
        </p:txBody>
      </p:sp>
      <p:sp>
        <p:nvSpPr>
          <p:cNvPr id="3" name="Text Placeholder 2"/>
          <p:cNvSpPr>
            <a:spLocks noGrp="1"/>
          </p:cNvSpPr>
          <p:nvPr>
            <p:ph type="body" idx="1"/>
          </p:nvPr>
        </p:nvSpPr>
        <p:spPr>
          <a:xfrm>
            <a:off x="457200" y="1838325"/>
            <a:ext cx="8229600" cy="3298783"/>
          </a:xfrm>
        </p:spPr>
        <p:txBody>
          <a:bodyPr lIns="0" tIns="18000" rIns="0" bIns="18000">
            <a:spAutoFit/>
          </a:bodyPr>
          <a:lstStyle/>
          <a:p>
            <a:pPr marL="0" lvl="0" indent="0">
              <a:spcBef>
                <a:spcPts val="600"/>
              </a:spcBef>
              <a:buNone/>
              <a:tabLst/>
            </a:pPr>
            <a:r>
              <a:rPr lang="en-US" altLang="en-US" sz="2400" kern="1200" dirty="0">
                <a:solidFill>
                  <a:prstClr val="black"/>
                </a:solidFill>
                <a:latin typeface="Arial" panose="020B0604020202020204" pitchFamily="34" charset="0"/>
                <a:ea typeface="+mn-ea"/>
                <a:cs typeface="Arial" panose="020B0604020202020204" pitchFamily="34" charset="0"/>
              </a:rPr>
              <a:t>Identify one or more </a:t>
            </a:r>
            <a:r>
              <a:rPr lang="en-US" altLang="en-US" sz="2400" b="1" kern="1200" dirty="0">
                <a:solidFill>
                  <a:prstClr val="black"/>
                </a:solidFill>
                <a:latin typeface="Arial" panose="020B0604020202020204" pitchFamily="34" charset="0"/>
                <a:ea typeface="+mn-ea"/>
                <a:cs typeface="Arial" panose="020B0604020202020204" pitchFamily="34" charset="0"/>
              </a:rPr>
              <a:t>keywords</a:t>
            </a:r>
            <a:r>
              <a:rPr lang="en-US" altLang="en-US" sz="2400" i="1" kern="1200" dirty="0">
                <a:solidFill>
                  <a:prstClr val="black"/>
                </a:solidFill>
                <a:latin typeface="Arial" panose="020B0604020202020204" pitchFamily="34" charset="0"/>
                <a:ea typeface="+mn-ea"/>
                <a:cs typeface="Arial" panose="020B0604020202020204" pitchFamily="34" charset="0"/>
              </a:rPr>
              <a:t> </a:t>
            </a:r>
            <a:r>
              <a:rPr lang="en-US" altLang="en-US" sz="2400" b="1" kern="1200" dirty="0">
                <a:solidFill>
                  <a:prstClr val="black"/>
                </a:solidFill>
                <a:latin typeface="Arial" panose="020B0604020202020204" pitchFamily="34" charset="0"/>
                <a:ea typeface="+mn-ea"/>
                <a:cs typeface="Arial" panose="020B0604020202020204" pitchFamily="34" charset="0"/>
              </a:rPr>
              <a:t>(words or short phrases summarizing your research topic)</a:t>
            </a:r>
            <a:r>
              <a:rPr lang="en-US" altLang="en-US" sz="2400" i="1" kern="1200" dirty="0">
                <a:solidFill>
                  <a:prstClr val="black"/>
                </a:solidFill>
                <a:latin typeface="Arial" panose="020B0604020202020204" pitchFamily="34" charset="0"/>
                <a:ea typeface="+mn-ea"/>
                <a:cs typeface="Arial" panose="020B0604020202020204" pitchFamily="34" charset="0"/>
              </a:rPr>
              <a:t> </a:t>
            </a:r>
            <a:r>
              <a:rPr lang="en-US" altLang="en-US" sz="2400" kern="1200" dirty="0">
                <a:solidFill>
                  <a:prstClr val="black"/>
                </a:solidFill>
                <a:latin typeface="Arial" panose="020B0604020202020204" pitchFamily="34" charset="0"/>
                <a:ea typeface="+mn-ea"/>
                <a:cs typeface="Arial" panose="020B0604020202020204" pitchFamily="34" charset="0"/>
              </a:rPr>
              <a:t>and then:</a:t>
            </a:r>
          </a:p>
          <a:p>
            <a:pPr marL="256032" lvl="0" indent="-256032">
              <a:spcBef>
                <a:spcPts val="600"/>
              </a:spcBef>
              <a:tabLst/>
            </a:pPr>
            <a:r>
              <a:rPr lang="en-US" altLang="en-US" sz="2400" kern="1200" dirty="0">
                <a:solidFill>
                  <a:prstClr val="black"/>
                </a:solidFill>
                <a:latin typeface="Arial" panose="020B0604020202020204" pitchFamily="34" charset="0"/>
                <a:ea typeface="+mn-ea"/>
                <a:cs typeface="Arial" panose="020B0604020202020204" pitchFamily="34" charset="0"/>
              </a:rPr>
              <a:t>Use the library catalog and browse the holdings.</a:t>
            </a:r>
          </a:p>
          <a:p>
            <a:pPr lvl="1" indent="-285750">
              <a:buSzTx/>
              <a:buFont typeface="Arial" panose="020B0604020202020204" pitchFamily="34" charset="0"/>
              <a:buChar char="–"/>
            </a:pPr>
            <a:r>
              <a:rPr lang="en-US" altLang="en-US" sz="2400" kern="1200" dirty="0">
                <a:solidFill>
                  <a:prstClr val="black"/>
                </a:solidFill>
                <a:latin typeface="Arial" panose="020B0604020202020204" pitchFamily="34" charset="0"/>
                <a:ea typeface="+mn-ea"/>
                <a:cs typeface="Arial" panose="020B0604020202020204" pitchFamily="34" charset="0"/>
              </a:rPr>
              <a:t>The library’s collection of academic journals, popular magazines, and newspapers are collectively known as </a:t>
            </a:r>
            <a:r>
              <a:rPr lang="en-US" altLang="en-US" sz="2400" b="1" kern="1200" dirty="0">
                <a:solidFill>
                  <a:prstClr val="black"/>
                </a:solidFill>
                <a:latin typeface="Arial" panose="020B0604020202020204" pitchFamily="34" charset="0"/>
                <a:ea typeface="+mn-ea"/>
                <a:cs typeface="Arial" panose="020B0604020202020204" pitchFamily="34" charset="0"/>
              </a:rPr>
              <a:t>periodicals</a:t>
            </a:r>
            <a:r>
              <a:rPr lang="en-US" altLang="en-US" sz="2400" kern="1200" dirty="0">
                <a:solidFill>
                  <a:prstClr val="black"/>
                </a:solidFill>
                <a:latin typeface="Arial" panose="020B0604020202020204" pitchFamily="34" charset="0"/>
                <a:ea typeface="+mn-ea"/>
                <a:cs typeface="Arial" panose="020B0604020202020204" pitchFamily="34" charset="0"/>
              </a:rPr>
              <a:t>.</a:t>
            </a:r>
          </a:p>
          <a:p>
            <a:pPr marL="256032" lvl="0" indent="-256032">
              <a:spcBef>
                <a:spcPts val="600"/>
              </a:spcBef>
              <a:tabLst/>
            </a:pPr>
            <a:r>
              <a:rPr lang="en-US" altLang="en-US" sz="2400" kern="1200" dirty="0">
                <a:solidFill>
                  <a:prstClr val="black"/>
                </a:solidFill>
                <a:latin typeface="Arial" panose="020B0604020202020204" pitchFamily="34" charset="0"/>
                <a:ea typeface="+mn-ea"/>
                <a:cs typeface="Arial" panose="020B0604020202020204" pitchFamily="34" charset="0"/>
              </a:rPr>
              <a:t>Use indexes, abstracts, and other general references.</a:t>
            </a:r>
          </a:p>
          <a:p>
            <a:pPr marL="256032" lvl="0" indent="-256032">
              <a:spcBef>
                <a:spcPts val="600"/>
              </a:spcBef>
              <a:tabLst/>
            </a:pPr>
            <a:r>
              <a:rPr lang="en-US" altLang="en-US" sz="2400" kern="1200" dirty="0">
                <a:solidFill>
                  <a:prstClr val="black"/>
                </a:solidFill>
                <a:latin typeface="Arial" panose="020B0604020202020204" pitchFamily="34" charset="0"/>
                <a:ea typeface="+mn-ea"/>
                <a:cs typeface="Arial" panose="020B0604020202020204" pitchFamily="34" charset="0"/>
              </a:rPr>
              <a:t>A few quick rules of thumb:</a:t>
            </a:r>
          </a:p>
        </p:txBody>
      </p:sp>
      <p:sp>
        <p:nvSpPr>
          <p:cNvPr id="4" name="Text Placeholder 3"/>
          <p:cNvSpPr>
            <a:spLocks noGrp="1"/>
          </p:cNvSpPr>
          <p:nvPr>
            <p:ph type="body" idx="2"/>
          </p:nvPr>
        </p:nvSpPr>
        <p:spPr>
          <a:xfrm>
            <a:off x="457200" y="5161849"/>
            <a:ext cx="8229600" cy="1221291"/>
          </a:xfrm>
        </p:spPr>
        <p:txBody>
          <a:bodyPr lIns="0" tIns="18000" rIns="0" bIns="18000">
            <a:spAutoFit/>
          </a:bodyPr>
          <a:lstStyle/>
          <a:p>
            <a:pPr marL="740664" lvl="1" indent="-429768">
              <a:buSzTx/>
              <a:buFont typeface="+mj-lt"/>
              <a:buAutoNum type="arabicPeriod"/>
            </a:pPr>
            <a:r>
              <a:rPr lang="en-US" altLang="en-US" sz="2400" kern="1200" dirty="0">
                <a:solidFill>
                  <a:prstClr val="black"/>
                </a:solidFill>
                <a:latin typeface="Arial" panose="020B0604020202020204" pitchFamily="34" charset="0"/>
                <a:ea typeface="+mn-ea"/>
                <a:cs typeface="Arial" panose="020B0604020202020204" pitchFamily="34" charset="0"/>
              </a:rPr>
              <a:t>Try to use materials with recent copyright dates.</a:t>
            </a:r>
          </a:p>
          <a:p>
            <a:pPr marL="740664" lvl="1" indent="-429768">
              <a:buSzTx/>
              <a:buFont typeface="+mj-lt"/>
              <a:buAutoNum type="arabicPeriod"/>
            </a:pPr>
            <a:r>
              <a:rPr lang="en-US" altLang="en-US" sz="2400" kern="1200" dirty="0">
                <a:solidFill>
                  <a:prstClr val="black"/>
                </a:solidFill>
                <a:latin typeface="Arial" panose="020B0604020202020204" pitchFamily="34" charset="0"/>
                <a:ea typeface="+mn-ea"/>
                <a:cs typeface="Arial" panose="020B0604020202020204" pitchFamily="34" charset="0"/>
              </a:rPr>
              <a:t>Use sources that have credibility with experts in the field.</a:t>
            </a:r>
            <a:endParaRPr lang="en-US" sz="2400" kern="12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3467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4552"/>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Using Online Databases</a:t>
            </a:r>
          </a:p>
        </p:txBody>
      </p:sp>
      <p:sp>
        <p:nvSpPr>
          <p:cNvPr id="7" name="Content Placeholder 6">
            <a:extLst>
              <a:ext uri="{FF2B5EF4-FFF2-40B4-BE49-F238E27FC236}">
                <a16:creationId xmlns:a16="http://schemas.microsoft.com/office/drawing/2014/main" id="{FC1C2914-251D-4484-9D28-B22186D78EF2}"/>
              </a:ext>
            </a:extLst>
          </p:cNvPr>
          <p:cNvSpPr>
            <a:spLocks noGrp="1"/>
          </p:cNvSpPr>
          <p:nvPr>
            <p:ph sz="quarter" idx="13"/>
          </p:nvPr>
        </p:nvSpPr>
        <p:spPr>
          <a:xfrm>
            <a:off x="486696" y="1460935"/>
            <a:ext cx="8229600" cy="1667567"/>
          </a:xfrm>
        </p:spPr>
        <p:txBody>
          <a:bodyPr lIns="0" tIns="18000" rIns="0" bIns="18000">
            <a:spAutoFit/>
          </a:bodyPr>
          <a:lstStyle/>
          <a:p>
            <a:pPr marL="342900" indent="-342900"/>
            <a:r>
              <a:rPr lang="en-US" sz="2400" dirty="0">
                <a:latin typeface="Arial" panose="020B0604020202020204" pitchFamily="34" charset="0"/>
                <a:cs typeface="Arial" panose="020B0604020202020204" pitchFamily="34" charset="0"/>
              </a:rPr>
              <a:t>Online databases are usually the preferred method to ascertain information.</a:t>
            </a:r>
          </a:p>
          <a:p>
            <a:pPr marL="829818" lvl="1" indent="-342900"/>
            <a:r>
              <a:rPr lang="en-US" sz="2400" dirty="0">
                <a:latin typeface="Arial" panose="020B0604020202020204" pitchFamily="34" charset="0"/>
                <a:cs typeface="Arial" panose="020B0604020202020204" pitchFamily="34" charset="0"/>
              </a:rPr>
              <a:t>PsycINFO</a:t>
            </a:r>
          </a:p>
          <a:p>
            <a:pPr marL="829818" lvl="1" indent="-342900"/>
            <a:r>
              <a:rPr lang="en-US" sz="2400" dirty="0">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R</a:t>
            </a:r>
            <a:r>
              <a:rPr lang="en-US" sz="1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a:t>
            </a:r>
          </a:p>
        </p:txBody>
      </p:sp>
      <p:sp>
        <p:nvSpPr>
          <p:cNvPr id="8" name="Content Placeholder 7">
            <a:extLst>
              <a:ext uri="{FF2B5EF4-FFF2-40B4-BE49-F238E27FC236}">
                <a16:creationId xmlns:a16="http://schemas.microsoft.com/office/drawing/2014/main" id="{7206F2DB-1F6F-4E3D-9D16-839D74658E41}"/>
              </a:ext>
            </a:extLst>
          </p:cNvPr>
          <p:cNvSpPr>
            <a:spLocks noGrp="1"/>
          </p:cNvSpPr>
          <p:nvPr>
            <p:ph sz="quarter" idx="14"/>
          </p:nvPr>
        </p:nvSpPr>
        <p:spPr>
          <a:xfrm>
            <a:off x="486696" y="3178072"/>
            <a:ext cx="2956295" cy="405683"/>
          </a:xfrm>
        </p:spPr>
        <p:txBody>
          <a:bodyPr wrap="square" lIns="0" tIns="18000" rIns="0" bIns="18000">
            <a:spAutoFit/>
          </a:bodyPr>
          <a:lstStyle/>
          <a:p>
            <a:pPr marL="840931" lvl="1" indent="-354013"/>
            <a:r>
              <a:rPr lang="en-US" sz="2400" dirty="0">
                <a:latin typeface="Arial" panose="020B0604020202020204" pitchFamily="34" charset="0"/>
                <a:cs typeface="Arial" panose="020B0604020202020204" pitchFamily="34" charset="0"/>
              </a:rPr>
              <a:t>Google Scholar</a:t>
            </a:r>
          </a:p>
        </p:txBody>
      </p:sp>
      <p:graphicFrame>
        <p:nvGraphicFramePr>
          <p:cNvPr id="17" name="Object 16" descr="Trademark.">
            <a:extLst>
              <a:ext uri="{FF2B5EF4-FFF2-40B4-BE49-F238E27FC236}">
                <a16:creationId xmlns:a16="http://schemas.microsoft.com/office/drawing/2014/main" id="{47EE15C6-A84C-4835-B33E-91A36F3809E0}"/>
              </a:ext>
            </a:extLst>
          </p:cNvPr>
          <p:cNvGraphicFramePr>
            <a:graphicFrameLocks noChangeAspect="1"/>
          </p:cNvGraphicFramePr>
          <p:nvPr>
            <p:extLst>
              <p:ext uri="{D42A27DB-BD31-4B8C-83A1-F6EECF244321}">
                <p14:modId xmlns:p14="http://schemas.microsoft.com/office/powerpoint/2010/main" val="808106896"/>
              </p:ext>
            </p:extLst>
          </p:nvPr>
        </p:nvGraphicFramePr>
        <p:xfrm>
          <a:off x="3536162" y="3179803"/>
          <a:ext cx="286227" cy="174339"/>
        </p:xfrm>
        <a:graphic>
          <a:graphicData uri="http://schemas.openxmlformats.org/presentationml/2006/ole">
            <mc:AlternateContent xmlns:mc="http://schemas.openxmlformats.org/markup-compatibility/2006">
              <mc:Choice xmlns:v="urn:schemas-microsoft-com:vml" Requires="v">
                <p:oleObj spid="_x0000_s1037" name="Equation" r:id="rId3" imgW="291960" imgH="164880" progId="Equation.DSMT4">
                  <p:embed/>
                </p:oleObj>
              </mc:Choice>
              <mc:Fallback>
                <p:oleObj name="Equation" r:id="rId3" imgW="291960" imgH="164880" progId="Equation.DSMT4">
                  <p:embed/>
                  <p:pic>
                    <p:nvPicPr>
                      <p:cNvPr id="15" name="Object 14" descr="An arrow pointing toward right side.">
                        <a:extLst>
                          <a:ext uri="{FF2B5EF4-FFF2-40B4-BE49-F238E27FC236}">
                            <a16:creationId xmlns:a16="http://schemas.microsoft.com/office/drawing/2014/main" id="{ADA13E50-1522-4A5E-9DDA-4212BF62A79E}"/>
                          </a:ext>
                        </a:extLst>
                      </p:cNvPr>
                      <p:cNvPicPr/>
                      <p:nvPr/>
                    </p:nvPicPr>
                    <p:blipFill>
                      <a:blip r:embed="rId4"/>
                      <a:stretch>
                        <a:fillRect/>
                      </a:stretch>
                    </p:blipFill>
                    <p:spPr>
                      <a:xfrm>
                        <a:off x="3536162" y="3179803"/>
                        <a:ext cx="286227" cy="174339"/>
                      </a:xfrm>
                      <a:prstGeom prst="rect">
                        <a:avLst/>
                      </a:prstGeom>
                    </p:spPr>
                  </p:pic>
                </p:oleObj>
              </mc:Fallback>
            </mc:AlternateContent>
          </a:graphicData>
        </a:graphic>
      </p:graphicFrame>
    </p:spTree>
    <p:extLst>
      <p:ext uri="{BB962C8B-B14F-4D97-AF65-F5344CB8AC3E}">
        <p14:creationId xmlns:p14="http://schemas.microsoft.com/office/powerpoint/2010/main" val="401461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67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Consulting with Reference Librarians</a:t>
            </a:r>
          </a:p>
        </p:txBody>
      </p:sp>
      <p:sp>
        <p:nvSpPr>
          <p:cNvPr id="3" name="Text Placeholder 2"/>
          <p:cNvSpPr>
            <a:spLocks noGrp="1"/>
          </p:cNvSpPr>
          <p:nvPr>
            <p:ph type="body" idx="1"/>
          </p:nvPr>
        </p:nvSpPr>
        <p:spPr>
          <a:xfrm>
            <a:off x="457200" y="1457325"/>
            <a:ext cx="8229600" cy="22677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Librarians are there to support you in your work</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Consult library professionals early in your literature review process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Don’t worry! You won’t look foolish asking for help! Quite the opposite!</a:t>
            </a:r>
          </a:p>
        </p:txBody>
      </p:sp>
    </p:spTree>
    <p:extLst>
      <p:ext uri="{BB962C8B-B14F-4D97-AF65-F5344CB8AC3E}">
        <p14:creationId xmlns:p14="http://schemas.microsoft.com/office/powerpoint/2010/main" val="163497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4151"/>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Surfing the Internet</a:t>
            </a:r>
          </a:p>
        </p:txBody>
      </p:sp>
      <p:sp>
        <p:nvSpPr>
          <p:cNvPr id="5" name="Text Placeholder 4"/>
          <p:cNvSpPr>
            <a:spLocks noGrp="1"/>
          </p:cNvSpPr>
          <p:nvPr>
            <p:ph type="body" idx="1"/>
          </p:nvPr>
        </p:nvSpPr>
        <p:spPr>
          <a:xfrm>
            <a:off x="457200" y="1457326"/>
            <a:ext cx="8229600" cy="775015"/>
          </a:xfrm>
        </p:spPr>
        <p:txBody>
          <a:bodyPr lIns="0" tIns="18000" rIns="0" bIns="18000">
            <a:spAutoFit/>
          </a:bodyPr>
          <a:lstStyle/>
          <a:p>
            <a:pPr marL="256032" lvl="0" indent="-256032">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Most are familiar with the process of using a search engine, however, consider these tips:</a:t>
            </a:r>
          </a:p>
        </p:txBody>
      </p:sp>
      <p:sp>
        <p:nvSpPr>
          <p:cNvPr id="6" name="Content Placeholder 5"/>
          <p:cNvSpPr>
            <a:spLocks noGrp="1"/>
          </p:cNvSpPr>
          <p:nvPr>
            <p:ph sz="quarter" idx="13"/>
          </p:nvPr>
        </p:nvSpPr>
        <p:spPr>
          <a:xfrm>
            <a:off x="457200" y="2336080"/>
            <a:ext cx="8229600" cy="2267732"/>
          </a:xfrm>
        </p:spPr>
        <p:txBody>
          <a:bodyPr lIns="0" tIns="18000" rIns="0" bIns="18000">
            <a:spAutoFit/>
          </a:bodyPr>
          <a:lstStyle/>
          <a:p>
            <a:pPr marL="432054" lvl="0" indent="-432054">
              <a:spcAft>
                <a:spcPct val="0"/>
              </a:spcAft>
              <a:buSzPts val="2400"/>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Use at least two keywords to limit your search</a:t>
            </a:r>
          </a:p>
          <a:p>
            <a:pPr marL="432054" lvl="0" indent="-432054">
              <a:spcAft>
                <a:spcPct val="0"/>
              </a:spcAft>
              <a:buSzPts val="2400"/>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Type a plus sign (+) before any keyword you definitely want to be used in your search</a:t>
            </a:r>
          </a:p>
          <a:p>
            <a:pPr marL="432054" lvl="0" indent="-432054">
              <a:spcAft>
                <a:spcPct val="0"/>
              </a:spcAft>
              <a:buSzPts val="2400"/>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To search a phrase as opposed to a single word, use quotation marks around your phrase</a:t>
            </a:r>
            <a:endParaRPr lang="en-US" dirty="0">
              <a:latin typeface="Arial" panose="020B0604020202020204" pitchFamily="34" charset="0"/>
              <a:cs typeface="Arial" panose="020B0604020202020204" pitchFamily="34" charset="0"/>
            </a:endParaRPr>
          </a:p>
        </p:txBody>
      </p:sp>
      <p:sp>
        <p:nvSpPr>
          <p:cNvPr id="7" name="Content Placeholder 6"/>
          <p:cNvSpPr>
            <a:spLocks noGrp="1"/>
          </p:cNvSpPr>
          <p:nvPr>
            <p:ph sz="quarter" idx="14"/>
          </p:nvPr>
        </p:nvSpPr>
        <p:spPr>
          <a:xfrm>
            <a:off x="457200" y="4707301"/>
            <a:ext cx="8232775" cy="405683"/>
          </a:xfrm>
        </p:spPr>
        <p:txBody>
          <a:bodyPr lIns="0" tIns="18000" rIns="0" bIns="18000">
            <a:spAutoFit/>
          </a:bodyPr>
          <a:lstStyle/>
          <a:p>
            <a:pPr marL="432" indent="0">
              <a:buNone/>
            </a:pPr>
            <a:r>
              <a:rPr lang="en-US" sz="2400" kern="1200" dirty="0">
                <a:solidFill>
                  <a:srgbClr val="000000"/>
                </a:solidFill>
                <a:latin typeface="Arial" panose="020B0604020202020204" pitchFamily="34" charset="0"/>
                <a:ea typeface="+mn-ea"/>
                <a:cs typeface="Arial" panose="020B0604020202020204" pitchFamily="34" charset="0"/>
              </a:rPr>
              <a:t>And remember, Wikipedia is never an authoritative source!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813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603"/>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Considering Those That Have Gone before</a:t>
            </a:r>
          </a:p>
        </p:txBody>
      </p:sp>
      <p:sp>
        <p:nvSpPr>
          <p:cNvPr id="3" name="Text Placeholder 2"/>
          <p:cNvSpPr>
            <a:spLocks noGrp="1"/>
          </p:cNvSpPr>
          <p:nvPr>
            <p:ph type="body" idx="1"/>
          </p:nvPr>
        </p:nvSpPr>
        <p:spPr>
          <a:xfrm>
            <a:off x="457200" y="1971675"/>
            <a:ext cx="8229600" cy="207537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Another important consideration is to make sure that you are considering the work of scholars that have gone before you.</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We suggest tracking down sources cited by three or more authors.</a:t>
            </a:r>
          </a:p>
        </p:txBody>
      </p:sp>
    </p:spTree>
    <p:extLst>
      <p:ext uri="{BB962C8B-B14F-4D97-AF65-F5344CB8AC3E}">
        <p14:creationId xmlns:p14="http://schemas.microsoft.com/office/powerpoint/2010/main" val="1333029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676"/>
            <a:ext cx="8229600" cy="590349"/>
          </a:xfrm>
        </p:spPr>
        <p:txBody>
          <a:bodyPr lIns="0" tIns="18000" rIns="0" bIns="18000">
            <a:spAutoFit/>
          </a:bodyPr>
          <a:lstStyle/>
          <a:p>
            <a:pPr lvl="0">
              <a:spcBef>
                <a:spcPct val="0"/>
              </a:spcBef>
              <a:buClrTx/>
            </a:pPr>
            <a:r>
              <a:rPr lang="en-US" sz="3600" kern="1200" dirty="0">
                <a:cs typeface="Times New Roman" panose="02020603050405020304" pitchFamily="18" charset="0"/>
              </a:rPr>
              <a:t>Identify Your Sources</a:t>
            </a:r>
            <a:endParaRPr lang="en-US" sz="3600" kern="1200" dirty="0">
              <a:ea typeface="+mj-ea"/>
              <a:cs typeface="Times New Roman" panose="02020603050405020304" pitchFamily="18" charset="0"/>
            </a:endParaRPr>
          </a:p>
        </p:txBody>
      </p:sp>
      <p:sp>
        <p:nvSpPr>
          <p:cNvPr id="5" name="Text Placeholder 4"/>
          <p:cNvSpPr>
            <a:spLocks noGrp="1"/>
          </p:cNvSpPr>
          <p:nvPr>
            <p:ph type="body" idx="1"/>
          </p:nvPr>
        </p:nvSpPr>
        <p:spPr>
          <a:xfrm>
            <a:off x="457200" y="1457326"/>
            <a:ext cx="8229600" cy="1144347"/>
          </a:xfrm>
        </p:spPr>
        <p:txBody>
          <a:bodyPr lIns="0" tIns="18000" rIns="0" bIns="18000">
            <a:spAutoFit/>
          </a:bodyPr>
          <a:lstStyle/>
          <a:p>
            <a:pPr marL="255651" lvl="0" indent="-25565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When you find a source, make sure you obtain enough information to provide an appropriate citation. This is important for two reasons:</a:t>
            </a:r>
          </a:p>
        </p:txBody>
      </p:sp>
      <p:sp>
        <p:nvSpPr>
          <p:cNvPr id="6" name="Content Placeholder 5"/>
          <p:cNvSpPr>
            <a:spLocks noGrp="1"/>
          </p:cNvSpPr>
          <p:nvPr>
            <p:ph sz="quarter" idx="13"/>
          </p:nvPr>
        </p:nvSpPr>
        <p:spPr>
          <a:xfrm>
            <a:off x="457200" y="2667623"/>
            <a:ext cx="8229600" cy="1706039"/>
          </a:xfrm>
        </p:spPr>
        <p:txBody>
          <a:bodyPr lIns="0" tIns="18000" rIns="0" bIns="18000">
            <a:spAutoFit/>
          </a:bodyPr>
          <a:lstStyle/>
          <a:p>
            <a:pPr marL="429768" lvl="0" indent="-429768">
              <a:spcAft>
                <a:spcPct val="0"/>
              </a:spcAft>
              <a:buSzPts val="2400"/>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You may want to track the source down later to obtain further information.</a:t>
            </a:r>
          </a:p>
          <a:p>
            <a:pPr marL="429768" lvl="0" indent="-429768">
              <a:spcAft>
                <a:spcPct val="0"/>
              </a:spcAft>
              <a:buSzPts val="2400"/>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Future readers of your research may want to track your source.</a:t>
            </a:r>
          </a:p>
        </p:txBody>
      </p:sp>
      <p:sp>
        <p:nvSpPr>
          <p:cNvPr id="7" name="Content Placeholder 6"/>
          <p:cNvSpPr>
            <a:spLocks noGrp="1"/>
          </p:cNvSpPr>
          <p:nvPr>
            <p:ph sz="quarter" idx="14"/>
          </p:nvPr>
        </p:nvSpPr>
        <p:spPr>
          <a:xfrm>
            <a:off x="457200" y="4404443"/>
            <a:ext cx="8232775" cy="775015"/>
          </a:xfrm>
        </p:spPr>
        <p:txBody>
          <a:bodyPr lIns="0" tIns="18000" rIns="0" bIns="18000">
            <a:spAutoFit/>
          </a:bodyPr>
          <a:lstStyle/>
          <a:p>
            <a:r>
              <a:rPr lang="en-US" sz="2400" kern="1200" dirty="0">
                <a:solidFill>
                  <a:srgbClr val="000000"/>
                </a:solidFill>
                <a:latin typeface="Arial" panose="020B0604020202020204" pitchFamily="34" charset="0"/>
                <a:ea typeface="+mn-ea"/>
                <a:cs typeface="Arial" panose="020B0604020202020204" pitchFamily="34" charset="0"/>
              </a:rPr>
              <a:t>For sources found on the Internet, it is good practice to record the U</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L and/or the Digital Object Identifier (D</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O</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I).</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4515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67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Planning a Literature Search</a:t>
            </a:r>
          </a:p>
        </p:txBody>
      </p:sp>
      <p:sp>
        <p:nvSpPr>
          <p:cNvPr id="3" name="Text Placeholder 2"/>
          <p:cNvSpPr>
            <a:spLocks noGrp="1"/>
          </p:cNvSpPr>
          <p:nvPr>
            <p:ph type="body" idx="1"/>
          </p:nvPr>
        </p:nvSpPr>
        <p:spPr>
          <a:xfrm>
            <a:off x="457200" y="1457325"/>
            <a:ext cx="8229600" cy="405683"/>
          </a:xfrm>
        </p:spPr>
        <p:txBody>
          <a:bodyPr wrap="square" lIns="0" tIns="18000" rIns="0" bIns="18000">
            <a:spAutoFit/>
          </a:bodyPr>
          <a:lstStyle/>
          <a:p>
            <a:pPr lvl="0">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When planning your research:</a:t>
            </a:r>
          </a:p>
        </p:txBody>
      </p:sp>
      <p:sp>
        <p:nvSpPr>
          <p:cNvPr id="4" name="Text Placeholder 3"/>
          <p:cNvSpPr>
            <a:spLocks noGrp="1"/>
          </p:cNvSpPr>
          <p:nvPr>
            <p:ph type="body" idx="2"/>
          </p:nvPr>
        </p:nvSpPr>
        <p:spPr>
          <a:xfrm>
            <a:off x="457200" y="1950892"/>
            <a:ext cx="8229600" cy="2829424"/>
          </a:xfrm>
        </p:spPr>
        <p:txBody>
          <a:bodyPr lIns="0" tIns="18000" rIns="0" bIns="18000">
            <a:spAutoFit/>
          </a:bodyPr>
          <a:lstStyle/>
          <a:p>
            <a:pPr marL="432054" lvl="0" indent="-432054">
              <a:spcAft>
                <a:spcPct val="0"/>
              </a:spcAft>
              <a:buSzPts val="2400"/>
              <a:buFont typeface="+mj-lt"/>
              <a:buAutoNum type="arabicPeriod"/>
            </a:pPr>
            <a:r>
              <a:rPr lang="en-US" altLang="en-US" sz="2400" kern="1200" dirty="0">
                <a:solidFill>
                  <a:srgbClr val="000000"/>
                </a:solidFill>
                <a:latin typeface="Arial" panose="020B0604020202020204" pitchFamily="34" charset="0"/>
                <a:ea typeface="+mn-ea"/>
                <a:cs typeface="Arial" panose="020B0604020202020204" pitchFamily="34" charset="0"/>
              </a:rPr>
              <a:t>Write the problem in its entirety on the page or computer screen.</a:t>
            </a:r>
          </a:p>
          <a:p>
            <a:pPr marL="432054" lvl="0" indent="-432054">
              <a:spcAft>
                <a:spcPct val="0"/>
              </a:spcAft>
              <a:buSzPts val="2400"/>
              <a:buFont typeface="+mj-lt"/>
              <a:buAutoNum type="arabicPeriod"/>
            </a:pPr>
            <a:r>
              <a:rPr lang="en-US" altLang="en-US" sz="2400" kern="1200" dirty="0">
                <a:solidFill>
                  <a:srgbClr val="000000"/>
                </a:solidFill>
                <a:latin typeface="Arial" panose="020B0604020202020204" pitchFamily="34" charset="0"/>
                <a:ea typeface="+mn-ea"/>
                <a:cs typeface="Arial" panose="020B0604020202020204" pitchFamily="34" charset="0"/>
              </a:rPr>
              <a:t>Write each subproblem in its entirety.</a:t>
            </a:r>
          </a:p>
          <a:p>
            <a:pPr marL="432054" lvl="0" indent="-432054">
              <a:spcAft>
                <a:spcPct val="0"/>
              </a:spcAft>
              <a:buSzPts val="2400"/>
              <a:buFont typeface="+mj-lt"/>
              <a:buAutoNum type="arabicPeriod"/>
            </a:pPr>
            <a:r>
              <a:rPr lang="en-US" altLang="en-US" sz="2400" kern="1200" dirty="0">
                <a:solidFill>
                  <a:srgbClr val="000000"/>
                </a:solidFill>
                <a:latin typeface="Arial" panose="020B0604020202020204" pitchFamily="34" charset="0"/>
                <a:ea typeface="+mn-ea"/>
                <a:cs typeface="Arial" panose="020B0604020202020204" pitchFamily="34" charset="0"/>
              </a:rPr>
              <a:t>Brainstorm topics you need to learn more about.</a:t>
            </a:r>
          </a:p>
          <a:p>
            <a:pPr marL="432054" lvl="0" indent="-432054">
              <a:spcAft>
                <a:spcPct val="0"/>
              </a:spcAft>
              <a:buSzPts val="2400"/>
              <a:buFont typeface="+mj-lt"/>
              <a:buAutoNum type="arabicPeriod"/>
            </a:pPr>
            <a:r>
              <a:rPr lang="en-US" altLang="en-US" sz="2400" kern="1200" dirty="0">
                <a:solidFill>
                  <a:srgbClr val="000000"/>
                </a:solidFill>
                <a:latin typeface="Arial" panose="020B0604020202020204" pitchFamily="34" charset="0"/>
                <a:ea typeface="+mn-ea"/>
                <a:cs typeface="Arial" panose="020B0604020202020204" pitchFamily="34" charset="0"/>
              </a:rPr>
              <a:t>Go to the library catalog, its online databases, and the Internet to seek out resources.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6169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928"/>
            <a:ext cx="8229600" cy="559572"/>
          </a:xfrm>
        </p:spPr>
        <p:txBody>
          <a:bodyPr lIns="0" tIns="18000" rIns="0" bIns="18000">
            <a:spAutoFit/>
          </a:bodyPr>
          <a:lstStyle/>
          <a:p>
            <a:pPr lvl="0">
              <a:spcBef>
                <a:spcPct val="0"/>
              </a:spcBef>
              <a:buClrTx/>
            </a:pPr>
            <a:r>
              <a:rPr lang="en-US" kern="1200" dirty="0">
                <a:ea typeface="+mj-ea"/>
                <a:cs typeface="Times New Roman" panose="02020603050405020304" pitchFamily="18" charset="0"/>
              </a:rPr>
              <a:t>Use Your Library Time Efficiently </a:t>
            </a:r>
            <a:r>
              <a:rPr lang="en-US" sz="2600" kern="1200" dirty="0">
                <a:ea typeface="+mj-ea"/>
                <a:cs typeface="Times New Roman" panose="02020603050405020304" pitchFamily="18" charset="0"/>
              </a:rPr>
              <a:t>(1 of 2)</a:t>
            </a:r>
          </a:p>
        </p:txBody>
      </p:sp>
      <p:sp>
        <p:nvSpPr>
          <p:cNvPr id="3" name="Text Placeholder 2"/>
          <p:cNvSpPr>
            <a:spLocks noGrp="1"/>
          </p:cNvSpPr>
          <p:nvPr>
            <p:ph type="body" idx="1"/>
          </p:nvPr>
        </p:nvSpPr>
        <p:spPr>
          <a:xfrm>
            <a:off x="457200" y="1457326"/>
            <a:ext cx="8229600" cy="775015"/>
          </a:xfrm>
        </p:spPr>
        <p:txBody>
          <a:bodyPr wrap="square" lIns="0" tIns="18000" rIns="0" bIns="18000">
            <a:spAutoFit/>
          </a:bodyPr>
          <a:lstStyle/>
          <a:p>
            <a:pPr lvl="0">
              <a:spcBef>
                <a:spcPts val="600"/>
              </a:spcBef>
              <a:spcAft>
                <a:spcPct val="0"/>
              </a:spcAft>
              <a:tabLst/>
            </a:pPr>
            <a:r>
              <a:rPr lang="en-US" sz="2400" kern="1200" dirty="0">
                <a:solidFill>
                  <a:srgbClr val="000000"/>
                </a:solidFill>
                <a:latin typeface="Arial" panose="020B0604020202020204" pitchFamily="34" charset="0"/>
                <a:ea typeface="+mn-ea"/>
                <a:cs typeface="Arial" panose="020B0604020202020204" pitchFamily="34" charset="0"/>
              </a:rPr>
              <a:t>Before beginning your work, consider these time saving tips:</a:t>
            </a:r>
          </a:p>
        </p:txBody>
      </p:sp>
      <p:sp>
        <p:nvSpPr>
          <p:cNvPr id="4" name="Text Placeholder 3"/>
          <p:cNvSpPr>
            <a:spLocks noGrp="1"/>
          </p:cNvSpPr>
          <p:nvPr>
            <p:ph type="body" idx="2"/>
          </p:nvPr>
        </p:nvSpPr>
        <p:spPr>
          <a:xfrm>
            <a:off x="457200" y="2334880"/>
            <a:ext cx="8229600" cy="3221839"/>
          </a:xfrm>
        </p:spPr>
        <p:txBody>
          <a:bodyPr lIns="0" tIns="18000" rIns="0" bIns="18000">
            <a:spAutoFit/>
          </a:bodyPr>
          <a:lstStyle/>
          <a:p>
            <a:pPr marL="432054" lvl="0" indent="-432054">
              <a:spcBef>
                <a:spcPts val="600"/>
              </a:spcBef>
              <a:spcAft>
                <a:spcPct val="0"/>
              </a:spcAft>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Before you go to the library, acquire appropriate software to create a database for the resources you are going to gather.</a:t>
            </a:r>
          </a:p>
          <a:p>
            <a:pPr marL="432054" lvl="0" indent="-432054">
              <a:spcBef>
                <a:spcPts val="600"/>
              </a:spcBef>
              <a:spcAft>
                <a:spcPct val="0"/>
              </a:spcAft>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Identify the materials you want to read and determine whether your library has them.</a:t>
            </a:r>
          </a:p>
          <a:p>
            <a:pPr marL="432054" lvl="0" indent="-432054">
              <a:spcBef>
                <a:spcPts val="600"/>
              </a:spcBef>
              <a:spcAft>
                <a:spcPct val="0"/>
              </a:spcAft>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Develop an organized plan of attack for finding the sources you have identified.</a:t>
            </a:r>
          </a:p>
          <a:p>
            <a:pPr marL="432054" lvl="0" indent="-432054">
              <a:spcBef>
                <a:spcPts val="600"/>
              </a:spcBef>
              <a:spcAft>
                <a:spcPct val="0"/>
              </a:spcAft>
              <a:buFont typeface="+mj-lt"/>
              <a:buAutoNum type="arabicPeriod"/>
            </a:pPr>
            <a:r>
              <a:rPr lang="en-US" sz="2400" kern="1200" dirty="0">
                <a:solidFill>
                  <a:srgbClr val="000000"/>
                </a:solidFill>
                <a:latin typeface="Arial" panose="020B0604020202020204" pitchFamily="34" charset="0"/>
                <a:ea typeface="+mn-ea"/>
                <a:cs typeface="Arial" panose="020B0604020202020204" pitchFamily="34" charset="0"/>
              </a:rPr>
              <a:t>Track down your sources.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4442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928"/>
            <a:ext cx="8229600" cy="559572"/>
          </a:xfrm>
        </p:spPr>
        <p:txBody>
          <a:bodyPr lIns="0" tIns="18000" rIns="0" bIns="18000">
            <a:spAutoFit/>
          </a:bodyPr>
          <a:lstStyle/>
          <a:p>
            <a:pPr lvl="0">
              <a:spcBef>
                <a:spcPct val="0"/>
              </a:spcBef>
              <a:buClrTx/>
            </a:pPr>
            <a:r>
              <a:rPr lang="en-US" kern="1200" dirty="0">
                <a:ea typeface="+mj-ea"/>
                <a:cs typeface="Times New Roman" panose="02020603050405020304" pitchFamily="18" charset="0"/>
              </a:rPr>
              <a:t>Use Your Library Time Efficiently </a:t>
            </a:r>
            <a:r>
              <a:rPr lang="en-US" sz="26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68313" y="1165275"/>
            <a:ext cx="8229600" cy="1959955"/>
          </a:xfrm>
        </p:spPr>
        <p:txBody>
          <a:bodyPr wrap="square" lIns="0" tIns="18000" rIns="0" bIns="18000">
            <a:spAutoFit/>
          </a:bodyPr>
          <a:lstStyle/>
          <a:p>
            <a:pPr marL="432054" lvl="0" indent="-432054">
              <a:spcBef>
                <a:spcPts val="600"/>
              </a:spcBef>
              <a:spcAft>
                <a:spcPct val="0"/>
              </a:spcAft>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When you find a useful resource, record both (a) essential bibliographic details and (b) potentially helpful details about its contents.</a:t>
            </a:r>
          </a:p>
          <a:p>
            <a:pPr marL="432054" lvl="0" indent="-432054">
              <a:spcBef>
                <a:spcPts val="600"/>
              </a:spcBef>
              <a:spcAft>
                <a:spcPct val="0"/>
              </a:spcAft>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Identify strategies for obtaining sources that are not immediately available.</a:t>
            </a:r>
          </a:p>
        </p:txBody>
      </p:sp>
      <p:sp>
        <p:nvSpPr>
          <p:cNvPr id="4" name="Text Placeholder 3"/>
          <p:cNvSpPr>
            <a:spLocks noGrp="1"/>
          </p:cNvSpPr>
          <p:nvPr>
            <p:ph type="body" idx="2"/>
          </p:nvPr>
        </p:nvSpPr>
        <p:spPr>
          <a:xfrm>
            <a:off x="457200" y="3322222"/>
            <a:ext cx="8229600" cy="3006395"/>
          </a:xfrm>
        </p:spPr>
        <p:txBody>
          <a:bodyPr lIns="0" tIns="18000" rIns="0" bIns="18000">
            <a:spAutoFit/>
          </a:bodyPr>
          <a:lstStyle/>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Put a hold on a checked-out book.</a:t>
            </a:r>
          </a:p>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Recall the book.</a:t>
            </a:r>
          </a:p>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Submit a request for the source through interlibrary loan.</a:t>
            </a:r>
          </a:p>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Check Google Books for older, out-of-print books.</a:t>
            </a:r>
          </a:p>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Order books from a bookstore.</a:t>
            </a:r>
          </a:p>
          <a:p>
            <a:pPr marL="741553" lvl="1" indent="-284353">
              <a:spcAft>
                <a:spcPct val="0"/>
              </a:spcAft>
            </a:pPr>
            <a:r>
              <a:rPr lang="en-US" sz="2400" kern="1200" dirty="0">
                <a:solidFill>
                  <a:srgbClr val="000000"/>
                </a:solidFill>
                <a:latin typeface="Arial" panose="020B0604020202020204" pitchFamily="34" charset="0"/>
                <a:ea typeface="+mn-ea"/>
                <a:cs typeface="Arial" panose="020B0604020202020204" pitchFamily="34" charset="0"/>
              </a:rPr>
              <a:t>Use an online document delivery service.</a:t>
            </a:r>
          </a:p>
        </p:txBody>
      </p:sp>
    </p:spTree>
    <p:extLst>
      <p:ext uri="{BB962C8B-B14F-4D97-AF65-F5344CB8AC3E}">
        <p14:creationId xmlns:p14="http://schemas.microsoft.com/office/powerpoint/2010/main" val="2772734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67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Evaluate, Organize, Synthesize </a:t>
            </a:r>
            <a:r>
              <a:rPr lang="en-US" sz="2800" kern="1200" dirty="0">
                <a:ea typeface="+mj-ea"/>
                <a:cs typeface="Times New Roman" panose="02020603050405020304" pitchFamily="18" charset="0"/>
              </a:rPr>
              <a:t>(1 of 2)</a:t>
            </a:r>
          </a:p>
        </p:txBody>
      </p:sp>
      <p:sp>
        <p:nvSpPr>
          <p:cNvPr id="3" name="Text Placeholder 2"/>
          <p:cNvSpPr>
            <a:spLocks noGrp="1"/>
          </p:cNvSpPr>
          <p:nvPr>
            <p:ph type="body" idx="1"/>
          </p:nvPr>
        </p:nvSpPr>
        <p:spPr>
          <a:xfrm>
            <a:off x="457200" y="1457325"/>
            <a:ext cx="8229600" cy="1336708"/>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Determine for yourself whether the conclusions are justified based on the data.</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Organize the ideas to address the problem.</a:t>
            </a:r>
          </a:p>
        </p:txBody>
      </p:sp>
    </p:spTree>
    <p:extLst>
      <p:ext uri="{BB962C8B-B14F-4D97-AF65-F5344CB8AC3E}">
        <p14:creationId xmlns:p14="http://schemas.microsoft.com/office/powerpoint/2010/main" val="106359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676"/>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Evaluate, Organize, Synthesize </a:t>
            </a:r>
            <a:r>
              <a:rPr 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57200" y="1457325"/>
            <a:ext cx="8229600" cy="300639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Synthesize what you’ve learned</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Identify common themes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Show how approaches to the topic have changed over time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Compare and contrast theoretical positions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Describe general trends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Identify and explain discrepant or contradictory findings</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18053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603"/>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Writing a Clear and Cohesive Literature Review </a:t>
            </a:r>
            <a:r>
              <a:rPr lang="en-US" sz="2800" kern="1200" dirty="0">
                <a:ea typeface="+mj-ea"/>
                <a:cs typeface="Times New Roman" panose="02020603050405020304" pitchFamily="18" charset="0"/>
              </a:rPr>
              <a:t>(1 of 2)</a:t>
            </a:r>
          </a:p>
        </p:txBody>
      </p:sp>
      <p:sp>
        <p:nvSpPr>
          <p:cNvPr id="4" name="Text Placeholder 3"/>
          <p:cNvSpPr>
            <a:spLocks noGrp="1"/>
          </p:cNvSpPr>
          <p:nvPr>
            <p:ph type="body" idx="1"/>
          </p:nvPr>
        </p:nvSpPr>
        <p:spPr>
          <a:xfrm>
            <a:off x="457200" y="2000251"/>
            <a:ext cx="8229600" cy="405683"/>
          </a:xfrm>
        </p:spPr>
        <p:txBody>
          <a:bodyPr lIns="0" tIns="18000" rIns="0" bIns="18000">
            <a:spAutoFit/>
          </a:bodyPr>
          <a:lstStyle/>
          <a:p>
            <a:pPr marL="432054" lvl="0" indent="-432054">
              <a:spcAft>
                <a:spcPct val="0"/>
              </a:spcAft>
              <a:buSzPts val="2400"/>
              <a:buFont typeface="+mj-lt"/>
              <a:buAutoNum type="arabicPeriod"/>
            </a:pPr>
            <a:r>
              <a:rPr lang="en-US" altLang="en-US" sz="2400" kern="1200" dirty="0">
                <a:solidFill>
                  <a:srgbClr val="000000"/>
                </a:solidFill>
                <a:latin typeface="Arial" panose="020B0604020202020204" pitchFamily="34" charset="0"/>
                <a:ea typeface="+mn-ea"/>
                <a:cs typeface="Arial" panose="020B0604020202020204" pitchFamily="34" charset="0"/>
              </a:rPr>
              <a:t>Get the proper psychological orientation.</a:t>
            </a:r>
          </a:p>
        </p:txBody>
      </p:sp>
      <p:sp>
        <p:nvSpPr>
          <p:cNvPr id="5" name="Content Placeholder 4"/>
          <p:cNvSpPr>
            <a:spLocks noGrp="1"/>
          </p:cNvSpPr>
          <p:nvPr>
            <p:ph sz="quarter" idx="13"/>
          </p:nvPr>
        </p:nvSpPr>
        <p:spPr>
          <a:xfrm>
            <a:off x="457200" y="2511188"/>
            <a:ext cx="8229600" cy="405683"/>
          </a:xfrm>
        </p:spPr>
        <p:txBody>
          <a:bodyPr lIns="0" tIns="18000" rIns="0" bIns="18000">
            <a:spAutoFit/>
          </a:bodyPr>
          <a:lstStyle/>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Know what you want to do.</a:t>
            </a:r>
          </a:p>
        </p:txBody>
      </p:sp>
      <p:sp>
        <p:nvSpPr>
          <p:cNvPr id="6" name="Content Placeholder 5"/>
          <p:cNvSpPr>
            <a:spLocks noGrp="1"/>
          </p:cNvSpPr>
          <p:nvPr>
            <p:ph sz="quarter" idx="14"/>
          </p:nvPr>
        </p:nvSpPr>
        <p:spPr>
          <a:xfrm>
            <a:off x="457200" y="3058209"/>
            <a:ext cx="8232775" cy="967376"/>
          </a:xfrm>
        </p:spPr>
        <p:txBody>
          <a:bodyPr lIns="0" tIns="18000" rIns="0" bIns="18000">
            <a:spAutoFit/>
          </a:bodyPr>
          <a:lstStyle/>
          <a:p>
            <a:pPr marL="429768" indent="-429768">
              <a:buFont typeface="+mj-lt"/>
              <a:buAutoNum type="arabicPeriod" startAt="2"/>
            </a:pPr>
            <a:r>
              <a:rPr lang="en-US" altLang="en-US" sz="2400" kern="1200" dirty="0">
                <a:solidFill>
                  <a:srgbClr val="000000"/>
                </a:solidFill>
                <a:latin typeface="Arial" panose="020B0604020202020204" pitchFamily="34" charset="0"/>
                <a:ea typeface="+mn-ea"/>
                <a:cs typeface="Arial" panose="020B0604020202020204" pitchFamily="34" charset="0"/>
              </a:rPr>
              <a:t>Develop an organizational plan or outline.</a:t>
            </a:r>
          </a:p>
          <a:p>
            <a:pPr marL="429768" lvl="0" indent="-429768">
              <a:buFont typeface="+mj-lt"/>
              <a:buAutoNum type="arabicPeriod" startAt="3"/>
            </a:pPr>
            <a:r>
              <a:rPr lang="en-US" altLang="en-US" sz="2400" kern="1200" dirty="0">
                <a:solidFill>
                  <a:srgbClr val="000000"/>
                </a:solidFill>
                <a:latin typeface="Arial" panose="020B0604020202020204" pitchFamily="34" charset="0"/>
                <a:ea typeface="+mn-ea"/>
                <a:cs typeface="Arial" panose="020B0604020202020204" pitchFamily="34" charset="0"/>
              </a:rPr>
              <a:t>Emphasize relatedness.</a:t>
            </a:r>
            <a:endParaRPr lang="en-US" dirty="0">
              <a:solidFill>
                <a:srgbClr val="000000"/>
              </a:solidFill>
              <a:latin typeface="Arial" panose="020B0604020202020204" pitchFamily="34" charset="0"/>
              <a:cs typeface="Arial" panose="020B0604020202020204" pitchFamily="34" charset="0"/>
            </a:endParaRPr>
          </a:p>
        </p:txBody>
      </p:sp>
      <p:sp>
        <p:nvSpPr>
          <p:cNvPr id="7" name="Content Placeholder 6"/>
          <p:cNvSpPr>
            <a:spLocks noGrp="1"/>
          </p:cNvSpPr>
          <p:nvPr>
            <p:ph sz="quarter" idx="15"/>
          </p:nvPr>
        </p:nvSpPr>
        <p:spPr>
          <a:xfrm>
            <a:off x="457200" y="4195133"/>
            <a:ext cx="8229600" cy="405683"/>
          </a:xfrm>
        </p:spPr>
        <p:txBody>
          <a:bodyPr lIns="0" tIns="18000" rIns="0" bIns="18000">
            <a:spAutoFit/>
          </a:bodyPr>
          <a:lstStyle/>
          <a:p>
            <a:pPr lvl="1"/>
            <a:r>
              <a:rPr lang="en-US" altLang="en-US" sz="2400" kern="1200" dirty="0">
                <a:solidFill>
                  <a:srgbClr val="000000"/>
                </a:solidFill>
                <a:latin typeface="Arial" panose="020B0604020202020204" pitchFamily="34" charset="0"/>
                <a:ea typeface="+mn-ea"/>
                <a:cs typeface="Arial" panose="020B0604020202020204" pitchFamily="34" charset="0"/>
              </a:rPr>
              <a:t>how the literature is related to the problem.</a:t>
            </a:r>
            <a:endParaRPr lang="en-US" dirty="0">
              <a:latin typeface="Arial" panose="020B0604020202020204" pitchFamily="34" charset="0"/>
              <a:cs typeface="Arial" panose="020B0604020202020204" pitchFamily="34" charset="0"/>
            </a:endParaRPr>
          </a:p>
        </p:txBody>
      </p:sp>
      <p:sp>
        <p:nvSpPr>
          <p:cNvPr id="8" name="Content Placeholder 7"/>
          <p:cNvSpPr>
            <a:spLocks noGrp="1"/>
          </p:cNvSpPr>
          <p:nvPr>
            <p:ph sz="quarter" idx="16"/>
          </p:nvPr>
        </p:nvSpPr>
        <p:spPr>
          <a:xfrm>
            <a:off x="457200" y="4752257"/>
            <a:ext cx="8229600" cy="405683"/>
          </a:xfrm>
        </p:spPr>
        <p:txBody>
          <a:bodyPr lIns="0" tIns="18000" rIns="0" bIns="18000">
            <a:spAutoFit/>
          </a:bodyPr>
          <a:lstStyle/>
          <a:p>
            <a:pPr marL="429768" lvl="0" indent="-429768">
              <a:buFont typeface="+mj-lt"/>
              <a:buAutoNum type="arabicPeriod" startAt="4"/>
            </a:pPr>
            <a:r>
              <a:rPr lang="en-US" altLang="en-US" sz="2400" kern="1200" dirty="0">
                <a:solidFill>
                  <a:srgbClr val="000000"/>
                </a:solidFill>
                <a:latin typeface="Arial" panose="020B0604020202020204" pitchFamily="34" charset="0"/>
                <a:ea typeface="+mn-ea"/>
                <a:cs typeface="Arial" panose="020B0604020202020204" pitchFamily="34" charset="0"/>
              </a:rPr>
              <a:t>Use logical transitions.</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21831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603"/>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Writing a Clear and Cohesive Literature Review </a:t>
            </a:r>
            <a:r>
              <a:rPr 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57200" y="1962150"/>
            <a:ext cx="8229600" cy="4322140"/>
          </a:xfrm>
        </p:spPr>
        <p:txBody>
          <a:bodyPr wrap="square" lIns="0" tIns="18000" rIns="0" bIns="18000">
            <a:spAutoFit/>
          </a:bodyPr>
          <a:lstStyle/>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Know the difference between describing the literature and plagiarizing it.</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Always give credit where credit is due.</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Minimize your use of direct quotations from other people’s writings.</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Summarize what you have said.</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Remember that your first draft will almost certainly NOT be your last draft.</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ea typeface="+mn-ea"/>
                <a:cs typeface="Arial" panose="020B0604020202020204" pitchFamily="34" charset="0"/>
              </a:rPr>
              <a:t>Ask others for advice and feedback.</a:t>
            </a:r>
          </a:p>
        </p:txBody>
      </p:sp>
    </p:spTree>
    <p:extLst>
      <p:ext uri="{BB962C8B-B14F-4D97-AF65-F5344CB8AC3E}">
        <p14:creationId xmlns:p14="http://schemas.microsoft.com/office/powerpoint/2010/main" val="2845887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692C7A-D83D-4BFA-B5E6-14DD313AEE86}"/>
</file>

<file path=customXml/itemProps2.xml><?xml version="1.0" encoding="utf-8"?>
<ds:datastoreItem xmlns:ds="http://schemas.openxmlformats.org/officeDocument/2006/customXml" ds:itemID="{76124054-B1D3-4420-8A39-3EBFE51C5F6F}"/>
</file>

<file path=customXml/itemProps3.xml><?xml version="1.0" encoding="utf-8"?>
<ds:datastoreItem xmlns:ds="http://schemas.openxmlformats.org/officeDocument/2006/customXml" ds:itemID="{E1FBDE33-6E1B-41A0-9609-E83BD895E121}"/>
</file>

<file path=docProps/app.xml><?xml version="1.0" encoding="utf-8"?>
<Properties xmlns="http://schemas.openxmlformats.org/officeDocument/2006/extended-properties" xmlns:vt="http://schemas.openxmlformats.org/officeDocument/2006/docPropsVTypes">
  <TotalTime>8304</TotalTime>
  <Words>1116</Words>
  <Application>Microsoft Office PowerPoint</Application>
  <PresentationFormat>On-screen Show (4:3)</PresentationFormat>
  <Paragraphs>102</Paragraphs>
  <Slides>18</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6" baseType="lpstr">
      <vt:lpstr>Arial</vt:lpstr>
      <vt:lpstr>Arial (Headings)</vt:lpstr>
      <vt:lpstr>Noto Sans Symbols</vt:lpstr>
      <vt:lpstr>Times New Roman</vt:lpstr>
      <vt:lpstr>Verdana</vt:lpstr>
      <vt:lpstr>508 Lecture</vt:lpstr>
      <vt:lpstr>1_508 Lecture</vt:lpstr>
      <vt:lpstr>Equation</vt:lpstr>
      <vt:lpstr>Practical Research: Planning and Design</vt:lpstr>
      <vt:lpstr>Understanding the Role of the Literature Review (1 of 3)</vt:lpstr>
      <vt:lpstr>Understanding the Role of the Literature Review (2 of 3)</vt:lpstr>
      <vt:lpstr>Understanding the Role of the Literature Review (3 of 3)</vt:lpstr>
      <vt:lpstr>Strategies for Locating Related Literature</vt:lpstr>
      <vt:lpstr>Using Online Databases</vt:lpstr>
      <vt:lpstr>Consulting with Reference Librarians</vt:lpstr>
      <vt:lpstr>Surfing the Internet</vt:lpstr>
      <vt:lpstr>Considering Those That Have Gone before</vt:lpstr>
      <vt:lpstr>Identify Your Sources</vt:lpstr>
      <vt:lpstr>Planning a Literature Search</vt:lpstr>
      <vt:lpstr>Use Your Library Time Efficiently (1 of 2)</vt:lpstr>
      <vt:lpstr>Use Your Library Time Efficiently (2 of 2)</vt:lpstr>
      <vt:lpstr>Evaluate, Organize, Synthesize (1 of 2)</vt:lpstr>
      <vt:lpstr>Evaluate, Organize, Synthesize (2 of 2)</vt:lpstr>
      <vt:lpstr>Writing a Clear and Cohesive Literature Review (1 of 2)</vt:lpstr>
      <vt:lpstr>Writing a Clear and Cohesive Literature Review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3</dc:title>
  <dc:subject>TED/Careers</dc:subject>
  <dc:creator>Leedy and Ormrod</dc:creator>
  <cp:keywords>Practical Research</cp:keywords>
  <cp:lastModifiedBy>Arthideepa Karunakaran, Integra-PDY, IN</cp:lastModifiedBy>
  <cp:revision>912</cp:revision>
  <dcterms:modified xsi:type="dcterms:W3CDTF">2021-10-23T04:48:02Z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