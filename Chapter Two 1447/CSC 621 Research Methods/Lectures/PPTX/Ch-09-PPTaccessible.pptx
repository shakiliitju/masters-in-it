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 id="2147483660" r:id="rId5"/>
  </p:sldMasterIdLst>
  <p:notesMasterIdLst>
    <p:notesMasterId r:id="rId19"/>
  </p:notesMasterIdLst>
  <p:handoutMasterIdLst>
    <p:handoutMasterId r:id="rId20"/>
  </p:handoutMasterIdLst>
  <p:sldIdLst>
    <p:sldId id="335" r:id="rId6"/>
    <p:sldId id="307" r:id="rId7"/>
    <p:sldId id="308" r:id="rId8"/>
    <p:sldId id="342" r:id="rId9"/>
    <p:sldId id="310" r:id="rId10"/>
    <p:sldId id="311" r:id="rId11"/>
    <p:sldId id="338" r:id="rId12"/>
    <p:sldId id="339" r:id="rId13"/>
    <p:sldId id="340" r:id="rId14"/>
    <p:sldId id="312" r:id="rId15"/>
    <p:sldId id="341" r:id="rId16"/>
    <p:sldId id="313" r:id="rId17"/>
    <p:sldId id="334" r:id="rId1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4" pos="272" userDrawn="1">
          <p15:clr>
            <a:srgbClr val="A4A3A4"/>
          </p15:clr>
        </p15:guide>
        <p15:guide id="5" pos="5488" userDrawn="1">
          <p15:clr>
            <a:srgbClr val="A4A3A4"/>
          </p15:clr>
        </p15:guide>
        <p15:guide id="6" orient="horz" pos="4088" userDrawn="1">
          <p15:clr>
            <a:srgbClr val="A4A3A4"/>
          </p15:clr>
        </p15:guide>
        <p15:guide id="7" orient="horz" pos="799" userDrawn="1">
          <p15:clr>
            <a:srgbClr val="A4A3A4"/>
          </p15:clr>
        </p15:guide>
        <p15:guide id="10" orient="horz" pos="48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50" autoAdjust="0"/>
    <p:restoredTop sz="87135" autoAdjust="0"/>
  </p:normalViewPr>
  <p:slideViewPr>
    <p:cSldViewPr snapToGrid="0" snapToObjects="1">
      <p:cViewPr varScale="1">
        <p:scale>
          <a:sx n="74" d="100"/>
          <a:sy n="74" d="100"/>
        </p:scale>
        <p:origin x="1632" y="62"/>
      </p:cViewPr>
      <p:guideLst>
        <p:guide orient="horz" pos="2160"/>
        <p:guide pos="2880"/>
        <p:guide pos="272"/>
        <p:guide pos="5488"/>
        <p:guide orient="horz" pos="4088"/>
        <p:guide orient="horz" pos="799"/>
        <p:guide orient="horz" pos="482"/>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5/31/2026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 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50298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4CBB54A-3ADF-4B42-A676-D66841A7CBE6}"/>
              </a:ext>
            </a:extLst>
          </p:cNvPr>
          <p:cNvSpPr>
            <a:spLocks noGrp="1"/>
          </p:cNvSpPr>
          <p:nvPr>
            <p:ph sz="quarter" idx="10"/>
          </p:nvPr>
        </p:nvSpPr>
        <p:spPr>
          <a:xfrm>
            <a:off x="1811338" y="2033588"/>
            <a:ext cx="4418012" cy="1395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143D67E2-7630-4A76-8A6E-4D3A9AF910FD}"/>
              </a:ext>
            </a:extLst>
          </p:cNvPr>
          <p:cNvSpPr>
            <a:spLocks noGrp="1"/>
          </p:cNvSpPr>
          <p:nvPr>
            <p:ph type="pic" sz="quarter" idx="11"/>
          </p:nvPr>
        </p:nvSpPr>
        <p:spPr>
          <a:xfrm>
            <a:off x="2127250" y="4149725"/>
            <a:ext cx="4418013" cy="1200150"/>
          </a:xfrm>
        </p:spPr>
        <p:txBody>
          <a:bodyPr/>
          <a:lstStyle/>
          <a:p>
            <a:endParaRPr lang="en-US"/>
          </a:p>
        </p:txBody>
      </p:sp>
    </p:spTree>
    <p:extLst>
      <p:ext uri="{BB962C8B-B14F-4D97-AF65-F5344CB8AC3E}">
        <p14:creationId xmlns:p14="http://schemas.microsoft.com/office/powerpoint/2010/main" val="207088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Picture Placeholder 2">
            <a:extLst>
              <a:ext uri="{FF2B5EF4-FFF2-40B4-BE49-F238E27FC236}">
                <a16:creationId xmlns:a16="http://schemas.microsoft.com/office/drawing/2014/main" id="{A7B86D8D-7E57-4733-AA5A-C6136254BFEA}"/>
              </a:ext>
            </a:extLst>
          </p:cNvPr>
          <p:cNvSpPr>
            <a:spLocks noGrp="1"/>
          </p:cNvSpPr>
          <p:nvPr>
            <p:ph type="pic" sz="quarter" idx="14"/>
          </p:nvPr>
        </p:nvSpPr>
        <p:spPr>
          <a:xfrm>
            <a:off x="735013" y="2495550"/>
            <a:ext cx="3546475" cy="1119188"/>
          </a:xfrm>
        </p:spPr>
        <p:txBody>
          <a:bodyPr/>
          <a:lstStyle/>
          <a:p>
            <a:endParaRPr lang="en-US"/>
          </a:p>
        </p:txBody>
      </p:sp>
      <p:sp>
        <p:nvSpPr>
          <p:cNvPr id="5" name="Picture Placeholder 4">
            <a:extLst>
              <a:ext uri="{FF2B5EF4-FFF2-40B4-BE49-F238E27FC236}">
                <a16:creationId xmlns:a16="http://schemas.microsoft.com/office/drawing/2014/main" id="{32D9E9EB-3E4C-472F-A7BA-98CFA5350DD9}"/>
              </a:ext>
            </a:extLst>
          </p:cNvPr>
          <p:cNvSpPr>
            <a:spLocks noGrp="1"/>
          </p:cNvSpPr>
          <p:nvPr>
            <p:ph type="pic" sz="quarter" idx="15"/>
          </p:nvPr>
        </p:nvSpPr>
        <p:spPr>
          <a:xfrm>
            <a:off x="717550" y="4095750"/>
            <a:ext cx="3657600" cy="954088"/>
          </a:xfrm>
        </p:spPr>
        <p:txBody>
          <a:bodyPr/>
          <a:lstStyle/>
          <a:p>
            <a:endParaRPr lang="en-US"/>
          </a:p>
        </p:txBody>
      </p:sp>
    </p:spTree>
    <p:extLst>
      <p:ext uri="{BB962C8B-B14F-4D97-AF65-F5344CB8AC3E}">
        <p14:creationId xmlns:p14="http://schemas.microsoft.com/office/powerpoint/2010/main" val="1242476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IN"/>
          </a:p>
        </p:txBody>
      </p:sp>
      <p:sp>
        <p:nvSpPr>
          <p:cNvPr id="3" name="Date Placeholder 2"/>
          <p:cNvSpPr>
            <a:spLocks noGrp="1"/>
          </p:cNvSpPr>
          <p:nvPr>
            <p:ph type="dt" idx="1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97843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Text Placeholder 5"/>
          <p:cNvSpPr txBox="1">
            <a:spLocks/>
          </p:cNvSpPr>
          <p:nvPr userDrawn="1"/>
        </p:nvSpPr>
        <p:spPr>
          <a:xfrm>
            <a:off x="2773680" y="6451421"/>
            <a:ext cx="5986222" cy="221018"/>
          </a:xfrm>
          <a:prstGeom prst="rect">
            <a:avLst/>
          </a:prstGeom>
        </p:spPr>
        <p:txBody>
          <a:bodyPr lIns="0" tIns="18000" rIns="0" bIns="18000" anchor="ctr">
            <a:spAutoFit/>
          </a:bodyP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pic>
        <p:nvPicPr>
          <p:cNvPr id="16" name="Picture Placeholder 12" descr="Pearson Logo">
            <a:extLst>
              <a:ext uri="{FF2B5EF4-FFF2-40B4-BE49-F238E27FC236}">
                <a16:creationId xmlns:a16="http://schemas.microsoft.com/office/drawing/2014/main" id="{703A8090-3141-40F8-8CFF-D98CD0548A3A}"/>
              </a:ext>
            </a:extLst>
          </p:cNvPr>
          <p:cNvPicPr>
            <a:picLocks noChangeAspect="1"/>
          </p:cNvPicPr>
          <p:nvPr userDrawn="1"/>
        </p:nvPicPr>
        <p:blipFill>
          <a:blip r:embed="rId14"/>
          <a:stretch>
            <a:fillRect/>
          </a:stretch>
        </p:blipFill>
        <p:spPr>
          <a:xfrm>
            <a:off x="441719" y="6436570"/>
            <a:ext cx="914400" cy="276225"/>
          </a:xfrm>
          <a:prstGeom prst="rect">
            <a:avLst/>
          </a:prstGeom>
        </p:spPr>
      </p:pic>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70" r:id="rId4"/>
    <p:sldLayoutId id="2147483668" r:id="rId5"/>
    <p:sldLayoutId id="2147483669" r:id="rId6"/>
    <p:sldLayoutId id="2147483651" r:id="rId7"/>
    <p:sldLayoutId id="2147483654" r:id="rId8"/>
    <p:sldLayoutId id="2147483655" r:id="rId9"/>
    <p:sldLayoutId id="2147483656" r:id="rId10"/>
    <p:sldLayoutId id="2147483667" r:id="rId11"/>
    <p:sldLayoutId id="2147483657"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Headings)"/>
          <a:ea typeface="Arial (Headings)"/>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5" r:id="rId2"/>
    <p:sldLayoutId id="214748369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Headings)"/>
          <a:ea typeface="Arial (Headings)"/>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85977"/>
            <a:ext cx="8272252" cy="1144347"/>
          </a:xfrm>
        </p:spPr>
        <p:txBody>
          <a:bodyPr lIns="0" tIns="18000" rIns="0" bIns="18000" anchor="t" anchorCtr="0">
            <a:spAutoFit/>
          </a:bodyPr>
          <a:lstStyle/>
          <a:p>
            <a:r>
              <a:rPr lang="en-US" sz="3600" dirty="0">
                <a:latin typeface="+mj-lt"/>
                <a:cs typeface="Times New Roman" panose="02020603050405020304" pitchFamily="18" charset="0"/>
              </a:rPr>
              <a:t>Practical Research: Planning and Design</a:t>
            </a:r>
            <a:endParaRPr lang="en-US" sz="3600" dirty="0">
              <a:solidFill>
                <a:schemeClr val="tx2"/>
              </a:solidFill>
              <a:latin typeface="+mj-lt"/>
              <a:cs typeface="Times New Roman" panose="02020603050405020304" pitchFamily="18" charset="0"/>
            </a:endParaRPr>
          </a:p>
        </p:txBody>
      </p:sp>
      <p:sp>
        <p:nvSpPr>
          <p:cNvPr id="3" name="Text Placeholder 2"/>
          <p:cNvSpPr>
            <a:spLocks noGrp="1"/>
          </p:cNvSpPr>
          <p:nvPr>
            <p:ph type="body" idx="1"/>
          </p:nvPr>
        </p:nvSpPr>
        <p:spPr>
          <a:xfrm>
            <a:off x="439948" y="1454776"/>
            <a:ext cx="8272252" cy="344128"/>
          </a:xfrm>
        </p:spPr>
        <p:txBody>
          <a:bodyPr wrap="square" lIns="0" tIns="18000" rIns="0" bIns="18000" anchor="t" anchorCtr="0">
            <a:spAutoFit/>
          </a:bodyPr>
          <a:lstStyle/>
          <a:p>
            <a:r>
              <a:rPr lang="en-US" dirty="0">
                <a:latin typeface="Arial" panose="020B0604020202020204" pitchFamily="34" charset="0"/>
                <a:cs typeface="Arial" panose="020B0604020202020204" pitchFamily="34" charset="0"/>
              </a:rPr>
              <a:t>Twelfth Edition</a:t>
            </a:r>
          </a:p>
        </p:txBody>
      </p:sp>
      <p:pic>
        <p:nvPicPr>
          <p:cNvPr id="11" name="Picture Placeholder 10" descr="Front Cover: Practical Research: Planning and Design Twelfth Edition by Leedy and Ormrod.">
            <a:extLst>
              <a:ext uri="{FF2B5EF4-FFF2-40B4-BE49-F238E27FC236}">
                <a16:creationId xmlns:a16="http://schemas.microsoft.com/office/drawing/2014/main" id="{3404E0E7-E186-4457-B728-08F8E7ADD930}"/>
              </a:ext>
            </a:extLst>
          </p:cNvPr>
          <p:cNvPicPr>
            <a:picLocks noGrp="1" noChangeAspect="1"/>
          </p:cNvPicPr>
          <p:nvPr>
            <p:ph type="pic" sz="quarter" idx="14"/>
          </p:nvPr>
        </p:nvPicPr>
        <p:blipFill>
          <a:blip r:embed="rId3"/>
          <a:stretch>
            <a:fillRect/>
          </a:stretch>
        </p:blipFill>
        <p:spPr>
          <a:xfrm>
            <a:off x="441719" y="1885336"/>
            <a:ext cx="3572256" cy="4456176"/>
          </a:xfrm>
          <a:prstGeom prst="rect">
            <a:avLst/>
          </a:prstGeom>
        </p:spPr>
      </p:pic>
      <p:sp>
        <p:nvSpPr>
          <p:cNvPr id="4" name="Text Placeholder 3"/>
          <p:cNvSpPr>
            <a:spLocks noGrp="1"/>
          </p:cNvSpPr>
          <p:nvPr>
            <p:ph type="body" idx="2"/>
          </p:nvPr>
        </p:nvSpPr>
        <p:spPr>
          <a:xfrm>
            <a:off x="4580630" y="2937290"/>
            <a:ext cx="1777038" cy="498016"/>
          </a:xfrm>
        </p:spPr>
        <p:txBody>
          <a:bodyPr wrap="square" lIns="0" tIns="18000" rIns="0" bIns="18000" anchor="t" anchorCtr="0">
            <a:spAutoFit/>
          </a:bodyPr>
          <a:lstStyle/>
          <a:p>
            <a:pPr lvl="0"/>
            <a:r>
              <a:rPr lang="en-US" dirty="0">
                <a:latin typeface="Arial" panose="020B0604020202020204" pitchFamily="34" charset="0"/>
                <a:cs typeface="Arial" panose="020B0604020202020204" pitchFamily="34" charset="0"/>
              </a:rPr>
              <a:t>Chapter 9</a:t>
            </a:r>
          </a:p>
        </p:txBody>
      </p:sp>
      <p:sp>
        <p:nvSpPr>
          <p:cNvPr id="5" name="Text Placeholder 4"/>
          <p:cNvSpPr>
            <a:spLocks noGrp="1"/>
          </p:cNvSpPr>
          <p:nvPr>
            <p:ph type="body" idx="3"/>
          </p:nvPr>
        </p:nvSpPr>
        <p:spPr>
          <a:xfrm>
            <a:off x="4580628" y="3505614"/>
            <a:ext cx="4131571" cy="374906"/>
          </a:xfrm>
        </p:spPr>
        <p:txBody>
          <a:bodyPr wrap="square" lIns="0" tIns="18000" rIns="0" bIns="18000">
            <a:spAutoFit/>
          </a:bodyPr>
          <a:lstStyle/>
          <a:p>
            <a:r>
              <a:rPr lang="en-US" altLang="en-US" dirty="0">
                <a:latin typeface="Arial" panose="020B0604020202020204" pitchFamily="34" charset="0"/>
                <a:cs typeface="Arial" panose="020B0604020202020204" pitchFamily="34" charset="0"/>
              </a:rPr>
              <a:t>Mixed Methods Designs</a:t>
            </a:r>
          </a:p>
        </p:txBody>
      </p:sp>
      <p:pic>
        <p:nvPicPr>
          <p:cNvPr id="13" name="Picture Placeholder 12" descr="Pearson Logo">
            <a:extLst>
              <a:ext uri="{FF2B5EF4-FFF2-40B4-BE49-F238E27FC236}">
                <a16:creationId xmlns:a16="http://schemas.microsoft.com/office/drawing/2014/main" id="{B1452051-097A-4E47-A9C4-A6DFE1F8F6A1}"/>
              </a:ext>
            </a:extLst>
          </p:cNvPr>
          <p:cNvPicPr>
            <a:picLocks noGrp="1" noChangeAspect="1"/>
          </p:cNvPicPr>
          <p:nvPr>
            <p:ph type="pic" sz="quarter" idx="15"/>
          </p:nvPr>
        </p:nvPicPr>
        <p:blipFill>
          <a:blip r:embed="rId4"/>
          <a:stretch>
            <a:fillRect/>
          </a:stretch>
        </p:blipFill>
        <p:spPr>
          <a:xfrm>
            <a:off x="441719" y="6436570"/>
            <a:ext cx="914400" cy="276225"/>
          </a:xfrm>
          <a:prstGeom prst="rect">
            <a:avLst/>
          </a:prstGeom>
        </p:spPr>
      </p:pic>
      <p:sp>
        <p:nvSpPr>
          <p:cNvPr id="6" name="Text Placeholder 5"/>
          <p:cNvSpPr>
            <a:spLocks noGrp="1"/>
          </p:cNvSpPr>
          <p:nvPr>
            <p:ph type="body" idx="13"/>
          </p:nvPr>
        </p:nvSpPr>
        <p:spPr>
          <a:xfrm>
            <a:off x="2772000" y="6451200"/>
            <a:ext cx="5986800" cy="221018"/>
          </a:xfrm>
        </p:spPr>
        <p:txBody>
          <a:bodyPr lIns="0" tIns="18000" rIns="0" bIns="18000" anchor="ctr">
            <a:spAutoFit/>
          </a:body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spTree>
    <p:extLst>
      <p:ext uri="{BB962C8B-B14F-4D97-AF65-F5344CB8AC3E}">
        <p14:creationId xmlns:p14="http://schemas.microsoft.com/office/powerpoint/2010/main" val="1361234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301888"/>
            <a:ext cx="8280400" cy="590349"/>
          </a:xfrm>
        </p:spPr>
        <p:txBody>
          <a:bodyPr wrap="square" lIns="0" tIns="18000" rIns="0" bIns="18000" anchor="t" anchorCtr="0">
            <a:spAutoFit/>
          </a:bodyPr>
          <a:lstStyle/>
          <a:p>
            <a:pPr lvl="0">
              <a:spcBef>
                <a:spcPct val="0"/>
              </a:spcBef>
              <a:buClrTx/>
            </a:pPr>
            <a:r>
              <a:rPr lang="en-US" altLang="en-US" sz="3600" kern="1200" dirty="0">
                <a:latin typeface="+mj-lt"/>
                <a:cs typeface="Times New Roman" panose="02020603050405020304" pitchFamily="18" charset="0"/>
              </a:rPr>
              <a:t>Mixed Methods Designs</a:t>
            </a:r>
            <a:r>
              <a:rPr lang="en-US" sz="3600" kern="1200" dirty="0">
                <a:latin typeface="+mj-lt"/>
                <a:ea typeface="+mj-ea"/>
                <a:cs typeface="Times New Roman" panose="02020603050405020304" pitchFamily="18" charset="0"/>
              </a:rPr>
              <a:t> </a:t>
            </a:r>
            <a:r>
              <a:rPr lang="en-US" sz="2800" kern="1200" dirty="0">
                <a:latin typeface="+mj-lt"/>
                <a:ea typeface="+mj-ea"/>
                <a:cs typeface="Times New Roman" panose="02020603050405020304" pitchFamily="18" charset="0"/>
              </a:rPr>
              <a:t>(1 of 3)</a:t>
            </a:r>
          </a:p>
        </p:txBody>
      </p:sp>
      <p:sp>
        <p:nvSpPr>
          <p:cNvPr id="3" name="Text Placeholder 2"/>
          <p:cNvSpPr>
            <a:spLocks noGrp="1"/>
          </p:cNvSpPr>
          <p:nvPr>
            <p:ph type="body" idx="1"/>
          </p:nvPr>
        </p:nvSpPr>
        <p:spPr>
          <a:xfrm>
            <a:off x="431800" y="1274621"/>
            <a:ext cx="8280400" cy="1336708"/>
          </a:xfrm>
        </p:spPr>
        <p:txBody>
          <a:bodyPr wrap="square" lIns="0" tIns="18000" rIns="0" bIns="18000">
            <a:spAutoFit/>
          </a:bodyPr>
          <a:lstStyle/>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Integration of quantitative and qualitative data</a:t>
            </a:r>
          </a:p>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Most useful when addressing the research problem requires both types of data</a:t>
            </a:r>
          </a:p>
        </p:txBody>
      </p:sp>
    </p:spTree>
    <p:extLst>
      <p:ext uri="{BB962C8B-B14F-4D97-AF65-F5344CB8AC3E}">
        <p14:creationId xmlns:p14="http://schemas.microsoft.com/office/powerpoint/2010/main" val="1639749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300435"/>
            <a:ext cx="8255000" cy="590349"/>
          </a:xfrm>
        </p:spPr>
        <p:txBody>
          <a:bodyPr wrap="square" lIns="0" tIns="18000" rIns="0" bIns="18000" anchor="t" anchorCtr="0">
            <a:spAutoFit/>
          </a:bodyPr>
          <a:lstStyle/>
          <a:p>
            <a:pPr lvl="0">
              <a:spcBef>
                <a:spcPct val="0"/>
              </a:spcBef>
              <a:buClrTx/>
            </a:pPr>
            <a:r>
              <a:rPr lang="en-US" altLang="en-US" sz="3600" kern="1200">
                <a:cs typeface="Times New Roman" panose="02020603050405020304" pitchFamily="18" charset="0"/>
              </a:rPr>
              <a:t>Mixed Methods Designs </a:t>
            </a:r>
            <a:r>
              <a:rPr lang="en-US" sz="2800" kern="1200">
                <a:ea typeface="+mj-ea"/>
                <a:cs typeface="Times New Roman" panose="02020603050405020304" pitchFamily="18" charset="0"/>
              </a:rPr>
              <a:t>(2 of 3)</a:t>
            </a:r>
          </a:p>
        </p:txBody>
      </p:sp>
      <p:sp>
        <p:nvSpPr>
          <p:cNvPr id="7" name="Content Placeholder 6">
            <a:extLst>
              <a:ext uri="{FF2B5EF4-FFF2-40B4-BE49-F238E27FC236}">
                <a16:creationId xmlns:a16="http://schemas.microsoft.com/office/drawing/2014/main" id="{6DA04C41-12EA-49CB-ADC3-6A66FD8EF90D}"/>
              </a:ext>
            </a:extLst>
          </p:cNvPr>
          <p:cNvSpPr>
            <a:spLocks noGrp="1"/>
          </p:cNvSpPr>
          <p:nvPr>
            <p:ph sz="quarter" idx="13"/>
          </p:nvPr>
        </p:nvSpPr>
        <p:spPr>
          <a:xfrm>
            <a:off x="457200" y="1278586"/>
            <a:ext cx="8229600" cy="405683"/>
          </a:xfrm>
        </p:spPr>
        <p:txBody>
          <a:bodyPr lIns="0" tIns="18000" rIns="0" bIns="18000">
            <a:spAutoFit/>
          </a:bodyPr>
          <a:lstStyle/>
          <a:p>
            <a:pPr marL="358775" indent="-358775"/>
            <a:r>
              <a:rPr lang="en-US" sz="2400">
                <a:latin typeface="Arial" panose="020B0604020202020204" pitchFamily="34" charset="0"/>
                <a:cs typeface="Arial" panose="020B0604020202020204" pitchFamily="34" charset="0"/>
              </a:rPr>
              <a:t>Mixed Methods Researchers should be well-versed in:</a:t>
            </a:r>
          </a:p>
        </p:txBody>
      </p:sp>
      <p:sp>
        <p:nvSpPr>
          <p:cNvPr id="8" name="Content Placeholder 7">
            <a:extLst>
              <a:ext uri="{FF2B5EF4-FFF2-40B4-BE49-F238E27FC236}">
                <a16:creationId xmlns:a16="http://schemas.microsoft.com/office/drawing/2014/main" id="{6018B8FD-76F9-4195-B75B-B0F6C727B1A3}"/>
              </a:ext>
            </a:extLst>
          </p:cNvPr>
          <p:cNvSpPr>
            <a:spLocks noGrp="1"/>
          </p:cNvSpPr>
          <p:nvPr>
            <p:ph sz="quarter" idx="14"/>
          </p:nvPr>
        </p:nvSpPr>
        <p:spPr>
          <a:xfrm>
            <a:off x="457200" y="1869806"/>
            <a:ext cx="8232775" cy="3391116"/>
          </a:xfrm>
        </p:spPr>
        <p:txBody>
          <a:bodyPr lIns="0" tIns="18000" rIns="0" bIns="18000">
            <a:spAutoFit/>
          </a:bodyPr>
          <a:lstStyle/>
          <a:p>
            <a:pPr marL="441325" indent="-441325">
              <a:buFont typeface="+mj-lt"/>
              <a:buAutoNum type="arabicPeriod"/>
            </a:pPr>
            <a:r>
              <a:rPr lang="en-US" sz="2400">
                <a:latin typeface="Arial" panose="020B0604020202020204" pitchFamily="34" charset="0"/>
                <a:cs typeface="Arial" panose="020B0604020202020204" pitchFamily="34" charset="0"/>
              </a:rPr>
              <a:t>Identifying focused and useful research questions</a:t>
            </a:r>
          </a:p>
          <a:p>
            <a:pPr marL="441325" indent="-441325">
              <a:buFont typeface="+mj-lt"/>
              <a:buAutoNum type="arabicPeriod"/>
            </a:pPr>
            <a:r>
              <a:rPr lang="en-US" sz="2400">
                <a:latin typeface="Arial" panose="020B0604020202020204" pitchFamily="34" charset="0"/>
                <a:cs typeface="Arial" panose="020B0604020202020204" pitchFamily="34" charset="0"/>
              </a:rPr>
              <a:t>Formulating and strategically testing hypotheses</a:t>
            </a:r>
          </a:p>
          <a:p>
            <a:pPr marL="441325" indent="-441325">
              <a:buFont typeface="+mj-lt"/>
              <a:buAutoNum type="arabicPeriod"/>
            </a:pPr>
            <a:r>
              <a:rPr lang="en-US" sz="2400">
                <a:latin typeface="Arial" panose="020B0604020202020204" pitchFamily="34" charset="0"/>
                <a:cs typeface="Arial" panose="020B0604020202020204" pitchFamily="34" charset="0"/>
              </a:rPr>
              <a:t>Choosing one or more samples that enable appropriate inferences about a larger population</a:t>
            </a:r>
          </a:p>
          <a:p>
            <a:pPr marL="441325" indent="-441325">
              <a:buFont typeface="+mj-lt"/>
              <a:buAutoNum type="arabicPeriod"/>
            </a:pPr>
            <a:r>
              <a:rPr lang="en-US" sz="2400">
                <a:latin typeface="Arial" panose="020B0604020202020204" pitchFamily="34" charset="0"/>
                <a:cs typeface="Arial" panose="020B0604020202020204" pitchFamily="34" charset="0"/>
              </a:rPr>
              <a:t>Controlling for confounding variables</a:t>
            </a:r>
          </a:p>
          <a:p>
            <a:pPr marL="441325" indent="-441325">
              <a:buFont typeface="+mj-lt"/>
              <a:buAutoNum type="arabicPeriod"/>
            </a:pPr>
            <a:r>
              <a:rPr lang="en-US" sz="2400">
                <a:latin typeface="Arial" panose="020B0604020202020204" pitchFamily="34" charset="0"/>
                <a:cs typeface="Arial" panose="020B0604020202020204" pitchFamily="34" charset="0"/>
              </a:rPr>
              <a:t>Creating and using assessment instruments that have validity and reliability for their purposes</a:t>
            </a:r>
          </a:p>
        </p:txBody>
      </p:sp>
    </p:spTree>
    <p:extLst>
      <p:ext uri="{BB962C8B-B14F-4D97-AF65-F5344CB8AC3E}">
        <p14:creationId xmlns:p14="http://schemas.microsoft.com/office/powerpoint/2010/main" val="129539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300435"/>
            <a:ext cx="8255000" cy="590349"/>
          </a:xfrm>
        </p:spPr>
        <p:txBody>
          <a:bodyPr wrap="square" lIns="0" tIns="18000" rIns="0" bIns="18000" anchor="t" anchorCtr="0">
            <a:spAutoFit/>
          </a:bodyPr>
          <a:lstStyle/>
          <a:p>
            <a:pPr lvl="0">
              <a:spcBef>
                <a:spcPct val="0"/>
              </a:spcBef>
              <a:buClrTx/>
            </a:pPr>
            <a:r>
              <a:rPr lang="en-US" altLang="en-US" sz="3600" kern="1200" dirty="0">
                <a:cs typeface="Times New Roman" panose="02020603050405020304" pitchFamily="18" charset="0"/>
              </a:rPr>
              <a:t>Mixed Methods Designs </a:t>
            </a:r>
            <a:r>
              <a:rPr lang="en-US" sz="2800" kern="1200" dirty="0">
                <a:ea typeface="+mj-ea"/>
                <a:cs typeface="Times New Roman" panose="02020603050405020304" pitchFamily="18" charset="0"/>
              </a:rPr>
              <a:t>(3 of 3)</a:t>
            </a:r>
          </a:p>
        </p:txBody>
      </p:sp>
      <p:sp>
        <p:nvSpPr>
          <p:cNvPr id="7" name="Content Placeholder 6">
            <a:extLst>
              <a:ext uri="{FF2B5EF4-FFF2-40B4-BE49-F238E27FC236}">
                <a16:creationId xmlns:a16="http://schemas.microsoft.com/office/drawing/2014/main" id="{6DA04C41-12EA-49CB-ADC3-6A66FD8EF90D}"/>
              </a:ext>
            </a:extLst>
          </p:cNvPr>
          <p:cNvSpPr>
            <a:spLocks noGrp="1"/>
          </p:cNvSpPr>
          <p:nvPr>
            <p:ph sz="quarter" idx="13"/>
          </p:nvPr>
        </p:nvSpPr>
        <p:spPr>
          <a:xfrm>
            <a:off x="457200" y="1278586"/>
            <a:ext cx="8229600" cy="405683"/>
          </a:xfrm>
        </p:spPr>
        <p:txBody>
          <a:bodyPr lIns="0" tIns="18000" rIns="0" bIns="18000">
            <a:spAutoFit/>
          </a:bodyPr>
          <a:lstStyle/>
          <a:p>
            <a:pPr marL="358775" indent="-358775"/>
            <a:r>
              <a:rPr lang="en-US" sz="2400" dirty="0">
                <a:latin typeface="Arial" panose="020B0604020202020204" pitchFamily="34" charset="0"/>
                <a:cs typeface="Arial" panose="020B0604020202020204" pitchFamily="34" charset="0"/>
              </a:rPr>
              <a:t>Mixed Methods Researchers should be well-versed in:</a:t>
            </a:r>
            <a:endParaRPr lang="en-IN" sz="24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6018B8FD-76F9-4195-B75B-B0F6C727B1A3}"/>
              </a:ext>
            </a:extLst>
          </p:cNvPr>
          <p:cNvSpPr>
            <a:spLocks noGrp="1"/>
          </p:cNvSpPr>
          <p:nvPr>
            <p:ph sz="quarter" idx="14"/>
          </p:nvPr>
        </p:nvSpPr>
        <p:spPr>
          <a:xfrm>
            <a:off x="457200" y="1869806"/>
            <a:ext cx="8232775" cy="3198756"/>
          </a:xfrm>
        </p:spPr>
        <p:txBody>
          <a:bodyPr lIns="0" tIns="18000" rIns="0" bIns="18000">
            <a:spAutoFit/>
          </a:bodyPr>
          <a:lstStyle/>
          <a:p>
            <a:pPr marL="457632" indent="-457200">
              <a:buFont typeface="+mj-lt"/>
              <a:buAutoNum type="arabicPeriod" startAt="5"/>
            </a:pPr>
            <a:r>
              <a:rPr lang="en-US" sz="2400" dirty="0">
                <a:latin typeface="Arial" panose="020B0604020202020204" pitchFamily="34" charset="0"/>
                <a:cs typeface="Arial" panose="020B0604020202020204" pitchFamily="34" charset="0"/>
              </a:rPr>
              <a:t>Conducting structured, </a:t>
            </a:r>
            <a:r>
              <a:rPr lang="en-US" sz="2400" dirty="0" err="1">
                <a:latin typeface="Arial" panose="020B0604020202020204" pitchFamily="34" charset="0"/>
                <a:cs typeface="Arial" panose="020B0604020202020204" pitchFamily="34" charset="0"/>
              </a:rPr>
              <a:t>semistructured</a:t>
            </a:r>
            <a:r>
              <a:rPr lang="en-US" sz="2400" dirty="0">
                <a:latin typeface="Arial" panose="020B0604020202020204" pitchFamily="34" charset="0"/>
                <a:cs typeface="Arial" panose="020B0604020202020204" pitchFamily="34" charset="0"/>
              </a:rPr>
              <a:t>, and open-ended interviews</a:t>
            </a:r>
          </a:p>
          <a:p>
            <a:pPr marL="457632" indent="-457200">
              <a:buFont typeface="+mj-lt"/>
              <a:buAutoNum type="arabicPeriod" startAt="5"/>
            </a:pPr>
            <a:r>
              <a:rPr lang="en-US" sz="2400" dirty="0">
                <a:latin typeface="Arial" panose="020B0604020202020204" pitchFamily="34" charset="0"/>
                <a:cs typeface="Arial" panose="020B0604020202020204" pitchFamily="34" charset="0"/>
              </a:rPr>
              <a:t>Analyzing qualitative data</a:t>
            </a:r>
          </a:p>
          <a:p>
            <a:pPr marL="457632" indent="-457200">
              <a:buFont typeface="+mj-lt"/>
              <a:buAutoNum type="arabicPeriod" startAt="5"/>
            </a:pPr>
            <a:r>
              <a:rPr lang="en-US" sz="2400" dirty="0">
                <a:latin typeface="Arial" panose="020B0604020202020204" pitchFamily="34" charset="0"/>
                <a:cs typeface="Arial" panose="020B0604020202020204" pitchFamily="34" charset="0"/>
              </a:rPr>
              <a:t>Calculating and drawing inferences from descriptive and inferential statistics</a:t>
            </a:r>
          </a:p>
          <a:p>
            <a:pPr marL="457632" indent="-457200">
              <a:buFont typeface="+mj-lt"/>
              <a:buAutoNum type="arabicPeriod" startAt="5"/>
            </a:pPr>
            <a:r>
              <a:rPr lang="en-US" sz="2400" dirty="0">
                <a:latin typeface="Arial" panose="020B0604020202020204" pitchFamily="34" charset="0"/>
                <a:cs typeface="Arial" panose="020B0604020202020204" pitchFamily="34" charset="0"/>
              </a:rPr>
              <a:t>Drawing and persuasively arguing for reasonable conclusions from qualitative data</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1225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5711"/>
            <a:ext cx="8229600" cy="1144347"/>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When Mixed-Methods Designs are Most Useful and Appropriate</a:t>
            </a:r>
            <a:endParaRPr lang="en-US" sz="3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970689"/>
            <a:ext cx="8229600" cy="3452671"/>
          </a:xfrm>
        </p:spPr>
        <p:txBody>
          <a:bodyPr wrap="square" lIns="0" tIns="18000" rIns="0" bIns="18000">
            <a:spAutoFit/>
          </a:bodyPr>
          <a:lstStyle/>
          <a:p>
            <a:pPr marL="358775" lvl="0" indent="-358775">
              <a:spcBef>
                <a:spcPts val="600"/>
              </a:spcBef>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Several good reasons for mixed methods research:</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Completeness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Complementarity</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Hypothesis generation and testing</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Development of appropriate research tools and strategies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Resolution of puzzling findings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Triangulation</a:t>
            </a:r>
          </a:p>
        </p:txBody>
      </p:sp>
    </p:spTree>
    <p:extLst>
      <p:ext uri="{BB962C8B-B14F-4D97-AF65-F5344CB8AC3E}">
        <p14:creationId xmlns:p14="http://schemas.microsoft.com/office/powerpoint/2010/main" val="1737126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871" y="303062"/>
            <a:ext cx="8229600" cy="1144347"/>
          </a:xfrm>
        </p:spPr>
        <p:txBody>
          <a:bodyPr lIns="0" tIns="18000" rIns="0" bIns="18000">
            <a:spAutoFit/>
          </a:bodyPr>
          <a:lstStyle/>
          <a:p>
            <a:pPr lvl="0">
              <a:spcBef>
                <a:spcPct val="0"/>
              </a:spcBef>
              <a:buClrTx/>
            </a:pPr>
            <a:r>
              <a:rPr lang="en-US" altLang="en-US" sz="3600" kern="1200" dirty="0">
                <a:latin typeface="+mj-lt"/>
                <a:cs typeface="Times New Roman" panose="02020603050405020304" pitchFamily="18" charset="0"/>
              </a:rPr>
              <a:t>General Categories of Mixed-Methods Research </a:t>
            </a:r>
            <a:r>
              <a:rPr lang="en-US" altLang="en-US" sz="2800" kern="1200" dirty="0">
                <a:latin typeface="+mj-lt"/>
                <a:cs typeface="Times New Roman" panose="02020603050405020304" pitchFamily="18" charset="0"/>
              </a:rPr>
              <a:t>(1 of 4)</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742095"/>
            <a:ext cx="8229600" cy="2483175"/>
          </a:xfrm>
        </p:spPr>
        <p:txBody>
          <a:bodyPr wrap="square" lIns="0" tIns="18000" rIns="0" bIns="18000">
            <a:spAutoFit/>
          </a:bodyPr>
          <a:lstStyle/>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Convergent designs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Qualitative and quantitative data collected together, equally weighted</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Often take a </a:t>
            </a:r>
            <a:r>
              <a:rPr lang="en-US" altLang="en-US" sz="2400" kern="1200" spc="-300" dirty="0">
                <a:solidFill>
                  <a:srgbClr val="000000"/>
                </a:solidFill>
                <a:latin typeface="Arial" panose="020B0604020202020204" pitchFamily="34" charset="0"/>
                <a:cs typeface="Arial" panose="020B0604020202020204" pitchFamily="34" charset="0"/>
              </a:rPr>
              <a:t>Q U A </a:t>
            </a:r>
            <a:r>
              <a:rPr lang="en-US" altLang="en-US" sz="2400" kern="1200" dirty="0">
                <a:solidFill>
                  <a:srgbClr val="000000"/>
                </a:solidFill>
                <a:latin typeface="Arial" panose="020B0604020202020204" pitchFamily="34" charset="0"/>
                <a:cs typeface="Arial" panose="020B0604020202020204" pitchFamily="34" charset="0"/>
              </a:rPr>
              <a:t>N</a:t>
            </a:r>
            <a:r>
              <a:rPr lang="en-US" altLang="en-US" sz="100" kern="1200" dirty="0">
                <a:solidFill>
                  <a:schemeClr val="bg1"/>
                </a:solidFill>
                <a:latin typeface="Arial" panose="020B0604020202020204" pitchFamily="34" charset="0"/>
                <a:cs typeface="Arial" panose="020B0604020202020204" pitchFamily="34" charset="0"/>
              </a:rPr>
              <a:t>TITATIVE</a:t>
            </a:r>
            <a:r>
              <a:rPr lang="en-US" altLang="en-US" sz="2400" kern="1200" dirty="0">
                <a:solidFill>
                  <a:srgbClr val="000000"/>
                </a:solidFill>
                <a:latin typeface="Arial" panose="020B0604020202020204" pitchFamily="34" charset="0"/>
                <a:cs typeface="Arial" panose="020B0604020202020204" pitchFamily="34" charset="0"/>
              </a:rPr>
              <a:t> + </a:t>
            </a:r>
            <a:r>
              <a:rPr lang="en-US" altLang="en-US" sz="2400" kern="1200" spc="-300" dirty="0">
                <a:solidFill>
                  <a:srgbClr val="000000"/>
                </a:solidFill>
                <a:latin typeface="Arial" panose="020B0604020202020204" pitchFamily="34" charset="0"/>
                <a:cs typeface="Arial" panose="020B0604020202020204" pitchFamily="34" charset="0"/>
              </a:rPr>
              <a:t>Q U A </a:t>
            </a:r>
            <a:r>
              <a:rPr lang="en-US" altLang="en-US" sz="2400" kern="1200" dirty="0">
                <a:solidFill>
                  <a:srgbClr val="000000"/>
                </a:solidFill>
                <a:latin typeface="Arial" panose="020B0604020202020204" pitchFamily="34" charset="0"/>
                <a:cs typeface="Arial" panose="020B0604020202020204" pitchFamily="34" charset="0"/>
              </a:rPr>
              <a:t>L</a:t>
            </a:r>
            <a:r>
              <a:rPr lang="en-US" altLang="en-US" sz="100" kern="1200" dirty="0">
                <a:solidFill>
                  <a:schemeClr val="bg1"/>
                </a:solidFill>
                <a:latin typeface="Arial" panose="020B0604020202020204" pitchFamily="34" charset="0"/>
                <a:cs typeface="Arial" panose="020B0604020202020204" pitchFamily="34" charset="0"/>
              </a:rPr>
              <a:t>ITATIVE</a:t>
            </a:r>
            <a:r>
              <a:rPr lang="en-US" altLang="en-US" sz="2400" kern="1200" dirty="0">
                <a:solidFill>
                  <a:srgbClr val="000000"/>
                </a:solidFill>
                <a:latin typeface="Arial" panose="020B0604020202020204" pitchFamily="34" charset="0"/>
                <a:cs typeface="Arial" panose="020B0604020202020204" pitchFamily="34" charset="0"/>
              </a:rPr>
              <a:t> form</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Can also take an approach that more heavily favors either quant</a:t>
            </a:r>
            <a:r>
              <a:rPr lang="en-US" altLang="en-US" sz="100" kern="1200" dirty="0">
                <a:solidFill>
                  <a:schemeClr val="bg1"/>
                </a:solidFill>
                <a:latin typeface="Arial" panose="020B0604020202020204" pitchFamily="34" charset="0"/>
                <a:cs typeface="Arial" panose="020B0604020202020204" pitchFamily="34" charset="0"/>
              </a:rPr>
              <a:t>itative</a:t>
            </a:r>
            <a:r>
              <a:rPr lang="en-US" altLang="en-US" sz="2400" kern="1200" dirty="0">
                <a:solidFill>
                  <a:srgbClr val="000000"/>
                </a:solidFill>
                <a:latin typeface="Arial" panose="020B0604020202020204" pitchFamily="34" charset="0"/>
                <a:cs typeface="Arial" panose="020B0604020202020204" pitchFamily="34" charset="0"/>
              </a:rPr>
              <a:t> or qual</a:t>
            </a:r>
            <a:r>
              <a:rPr lang="en-US" altLang="en-US" sz="100" kern="1200" dirty="0">
                <a:solidFill>
                  <a:schemeClr val="bg1"/>
                </a:solidFill>
                <a:latin typeface="Arial" panose="020B0604020202020204" pitchFamily="34" charset="0"/>
                <a:cs typeface="Arial" panose="020B0604020202020204" pitchFamily="34" charset="0"/>
              </a:rPr>
              <a:t>itative</a:t>
            </a:r>
          </a:p>
        </p:txBody>
      </p:sp>
    </p:spTree>
    <p:extLst>
      <p:ext uri="{BB962C8B-B14F-4D97-AF65-F5344CB8AC3E}">
        <p14:creationId xmlns:p14="http://schemas.microsoft.com/office/powerpoint/2010/main" val="4148202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871" y="303062"/>
            <a:ext cx="8229600" cy="1144347"/>
          </a:xfrm>
        </p:spPr>
        <p:txBody>
          <a:bodyPr lIns="0" tIns="18000" rIns="0" bIns="18000">
            <a:spAutoFit/>
          </a:bodyPr>
          <a:lstStyle/>
          <a:p>
            <a:pPr lvl="0">
              <a:spcBef>
                <a:spcPct val="0"/>
              </a:spcBef>
              <a:buClrTx/>
            </a:pPr>
            <a:r>
              <a:rPr lang="en-US" altLang="en-US" sz="3600" kern="1200" dirty="0">
                <a:latin typeface="+mj-lt"/>
                <a:cs typeface="Times New Roman" panose="02020603050405020304" pitchFamily="18" charset="0"/>
              </a:rPr>
              <a:t>General Categories of Mixed-Methods Research </a:t>
            </a:r>
            <a:r>
              <a:rPr lang="en-US" altLang="en-US" sz="2800" kern="1200" dirty="0">
                <a:latin typeface="+mj-lt"/>
                <a:cs typeface="Times New Roman" panose="02020603050405020304" pitchFamily="18" charset="0"/>
              </a:rPr>
              <a:t>(2 of 4)</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742095"/>
            <a:ext cx="8229600" cy="3491143"/>
          </a:xfrm>
        </p:spPr>
        <p:txBody>
          <a:bodyPr wrap="square" lIns="0" tIns="18000" rIns="0" bIns="18000">
            <a:spAutoFit/>
          </a:bodyPr>
          <a:lstStyle/>
          <a:p>
            <a:pPr marL="358775" lvl="0" indent="-358775">
              <a:spcAft>
                <a:spcPct val="0"/>
              </a:spcAft>
              <a:buSzPts val="2400"/>
              <a:tabLst>
                <a:tab pos="358775" algn="l"/>
              </a:tabLst>
            </a:pPr>
            <a:r>
              <a:rPr lang="en-US" altLang="en-US" sz="2400" kern="1200" dirty="0">
                <a:solidFill>
                  <a:srgbClr val="000000"/>
                </a:solidFill>
                <a:latin typeface="Arial" panose="020B0604020202020204" pitchFamily="34" charset="0"/>
                <a:cs typeface="Arial" panose="020B0604020202020204" pitchFamily="34" charset="0"/>
              </a:rPr>
              <a:t>Exploratory sequential designs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Qualitative phase to get a general sense of the phenomenon first</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More systematic, quantitative phase based on qualitative data</a:t>
            </a:r>
          </a:p>
          <a:p>
            <a:pPr marL="358775" lvl="0" indent="-358775">
              <a:spcAft>
                <a:spcPct val="0"/>
              </a:spcAft>
              <a:buSzPts val="2400"/>
              <a:tabLst>
                <a:tab pos="358775" algn="l"/>
              </a:tabLst>
            </a:pPr>
            <a:r>
              <a:rPr lang="en-US" altLang="en-US" sz="2400" kern="1200" dirty="0">
                <a:solidFill>
                  <a:srgbClr val="000000"/>
                </a:solidFill>
                <a:latin typeface="Arial" panose="020B0604020202020204" pitchFamily="34" charset="0"/>
                <a:cs typeface="Arial" panose="020B0604020202020204" pitchFamily="34" charset="0"/>
              </a:rPr>
              <a:t>Explanatory sequential designs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Quantitative phase first</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Qualitative phase for exploration of quantitative results</a:t>
            </a:r>
          </a:p>
        </p:txBody>
      </p:sp>
    </p:spTree>
    <p:extLst>
      <p:ext uri="{BB962C8B-B14F-4D97-AF65-F5344CB8AC3E}">
        <p14:creationId xmlns:p14="http://schemas.microsoft.com/office/powerpoint/2010/main" val="1704559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871" y="303062"/>
            <a:ext cx="8229600" cy="1144347"/>
          </a:xfrm>
        </p:spPr>
        <p:txBody>
          <a:bodyPr lIns="0" tIns="18000" rIns="0" bIns="18000">
            <a:spAutoFit/>
          </a:bodyPr>
          <a:lstStyle/>
          <a:p>
            <a:pPr lvl="0">
              <a:spcBef>
                <a:spcPct val="0"/>
              </a:spcBef>
              <a:buClrTx/>
            </a:pPr>
            <a:r>
              <a:rPr lang="en-US" altLang="en-US" sz="3600" kern="1200" dirty="0">
                <a:latin typeface="+mj-lt"/>
                <a:cs typeface="Times New Roman" panose="02020603050405020304" pitchFamily="18" charset="0"/>
              </a:rPr>
              <a:t>General Categories of Mixed-Methods Research </a:t>
            </a:r>
            <a:r>
              <a:rPr lang="en-US" altLang="en-US" sz="2800" kern="1200" dirty="0">
                <a:latin typeface="+mj-lt"/>
                <a:cs typeface="Times New Roman" panose="02020603050405020304" pitchFamily="18" charset="0"/>
              </a:rPr>
              <a:t>(3 of 4)</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742095"/>
            <a:ext cx="8229600" cy="3144895"/>
          </a:xfrm>
        </p:spPr>
        <p:txBody>
          <a:bodyPr wrap="square" lIns="0" tIns="18000" rIns="0" bIns="18000">
            <a:spAutoFit/>
          </a:bodyPr>
          <a:lstStyle/>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Longitudinal Mixed-Methods Designs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Longitudinal studies (recall from chapter 6) follow a single group of participants for two or more occasions over a lengthy time period, perhaps over the course of several months or years.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Longitudinal mixed-methods designs incorporate both qualitative and quantitative data collection over a long period of time.</a:t>
            </a:r>
          </a:p>
        </p:txBody>
      </p:sp>
    </p:spTree>
    <p:extLst>
      <p:ext uri="{BB962C8B-B14F-4D97-AF65-F5344CB8AC3E}">
        <p14:creationId xmlns:p14="http://schemas.microsoft.com/office/powerpoint/2010/main" val="19462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871" y="303062"/>
            <a:ext cx="8229600" cy="1144347"/>
          </a:xfrm>
        </p:spPr>
        <p:txBody>
          <a:bodyPr lIns="0" tIns="18000" rIns="0" bIns="18000">
            <a:spAutoFit/>
          </a:bodyPr>
          <a:lstStyle/>
          <a:p>
            <a:pPr lvl="0">
              <a:spcBef>
                <a:spcPct val="0"/>
              </a:spcBef>
              <a:buClrTx/>
            </a:pPr>
            <a:r>
              <a:rPr lang="en-US" altLang="en-US" sz="3600" kern="1200" dirty="0">
                <a:latin typeface="+mj-lt"/>
                <a:cs typeface="Times New Roman" panose="02020603050405020304" pitchFamily="18" charset="0"/>
              </a:rPr>
              <a:t>General Categories of Mixed-Methods Research </a:t>
            </a:r>
            <a:r>
              <a:rPr lang="en-US" altLang="en-US" sz="2800" kern="1200" dirty="0">
                <a:latin typeface="+mj-lt"/>
                <a:cs typeface="Times New Roman" panose="02020603050405020304" pitchFamily="18" charset="0"/>
              </a:rPr>
              <a:t>(4 of 4)</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742095"/>
            <a:ext cx="8229600" cy="4422168"/>
          </a:xfrm>
        </p:spPr>
        <p:txBody>
          <a:bodyPr wrap="square" lIns="0" tIns="18000" rIns="0" bIns="18000">
            <a:spAutoFit/>
          </a:bodyPr>
          <a:lstStyle/>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Multiphase iterative designs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Three or more phases</a:t>
            </a:r>
          </a:p>
          <a:p>
            <a:pPr marL="1077913" lvl="2" indent="-358775">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Foundational data early</a:t>
            </a:r>
          </a:p>
          <a:p>
            <a:pPr marL="1077913" lvl="2" indent="-358775">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Later phases build on early data</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Example: Program evaluation</a:t>
            </a:r>
          </a:p>
          <a:p>
            <a:pPr marL="1077913" lvl="2" indent="-358775">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Baseline data</a:t>
            </a:r>
          </a:p>
          <a:p>
            <a:pPr marL="1077913" lvl="2" indent="-358775">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Intervention</a:t>
            </a:r>
          </a:p>
          <a:p>
            <a:pPr marL="1077913" lvl="2" indent="-358775">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Data: Did the intervention work</a:t>
            </a:r>
          </a:p>
          <a:p>
            <a:pPr marL="1077913" lvl="2" indent="-358775">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Modify the intervention</a:t>
            </a:r>
          </a:p>
          <a:p>
            <a:pPr marL="1077913" lvl="2" indent="-358775">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Data: Did the modifications work</a:t>
            </a:r>
          </a:p>
        </p:txBody>
      </p:sp>
    </p:spTree>
    <p:extLst>
      <p:ext uri="{BB962C8B-B14F-4D97-AF65-F5344CB8AC3E}">
        <p14:creationId xmlns:p14="http://schemas.microsoft.com/office/powerpoint/2010/main" val="1056939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60"/>
            <a:ext cx="8229600" cy="559572"/>
          </a:xfrm>
        </p:spPr>
        <p:txBody>
          <a:bodyPr lIns="0" tIns="18000" rIns="0" bIns="18000">
            <a:spAutoFit/>
          </a:bodyPr>
          <a:lstStyle/>
          <a:p>
            <a:pPr lvl="0">
              <a:spcBef>
                <a:spcPct val="0"/>
              </a:spcBef>
              <a:buClrTx/>
            </a:pPr>
            <a:r>
              <a:rPr lang="en-US" altLang="en-US" kern="1200" dirty="0">
                <a:latin typeface="+mj-lt"/>
                <a:cs typeface="Times New Roman" panose="02020603050405020304" pitchFamily="18" charset="0"/>
              </a:rPr>
              <a:t>Planning a Mixed-Methods Study</a:t>
            </a:r>
            <a:r>
              <a:rPr lang="en-US" altLang="en-US" kern="1200" dirty="0">
                <a:latin typeface="+mj-lt"/>
                <a:ea typeface="+mj-ea"/>
                <a:cs typeface="Times New Roman" panose="02020603050405020304" pitchFamily="18" charset="0"/>
              </a:rPr>
              <a:t> </a:t>
            </a:r>
            <a:r>
              <a:rPr lang="en-US" altLang="en-US" sz="2600" kern="1200" dirty="0">
                <a:latin typeface="+mj-lt"/>
                <a:ea typeface="+mj-ea"/>
                <a:cs typeface="Times New Roman" panose="02020603050405020304" pitchFamily="18" charset="0"/>
              </a:rPr>
              <a:t>(1 of 2)</a:t>
            </a:r>
            <a:endParaRPr lang="en-US" sz="2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3"/>
            <a:ext cx="8229600" cy="3683504"/>
          </a:xfrm>
        </p:spPr>
        <p:txBody>
          <a:bodyPr wrap="square" lIns="0" tIns="18000" rIns="0" bIns="18000">
            <a:spAutoFit/>
          </a:bodyPr>
          <a:lstStyle/>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Identify research questions and hypotheses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should require different types of data</a:t>
            </a:r>
          </a:p>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Begin a literature review</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May require revision and additions as the study emerges</a:t>
            </a:r>
          </a:p>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Choose appropriate samples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Independent</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Linked</a:t>
            </a:r>
          </a:p>
        </p:txBody>
      </p:sp>
    </p:spTree>
    <p:extLst>
      <p:ext uri="{BB962C8B-B14F-4D97-AF65-F5344CB8AC3E}">
        <p14:creationId xmlns:p14="http://schemas.microsoft.com/office/powerpoint/2010/main" val="2878667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60"/>
            <a:ext cx="8229600" cy="559572"/>
          </a:xfrm>
        </p:spPr>
        <p:txBody>
          <a:bodyPr lIns="0" tIns="18000" rIns="0" bIns="18000">
            <a:spAutoFit/>
          </a:bodyPr>
          <a:lstStyle/>
          <a:p>
            <a:pPr lvl="0">
              <a:spcBef>
                <a:spcPct val="0"/>
              </a:spcBef>
              <a:buClrTx/>
            </a:pPr>
            <a:r>
              <a:rPr lang="en-US" altLang="en-US" kern="1200" dirty="0">
                <a:latin typeface="+mj-lt"/>
                <a:cs typeface="Times New Roman" panose="02020603050405020304" pitchFamily="18" charset="0"/>
              </a:rPr>
              <a:t>Planning a Mixed-Methods Study</a:t>
            </a:r>
            <a:r>
              <a:rPr lang="en-US" altLang="en-US" kern="1200" dirty="0">
                <a:latin typeface="+mj-lt"/>
                <a:ea typeface="+mj-ea"/>
                <a:cs typeface="Times New Roman" panose="02020603050405020304" pitchFamily="18" charset="0"/>
              </a:rPr>
              <a:t> </a:t>
            </a:r>
            <a:r>
              <a:rPr lang="en-US" altLang="en-US" sz="2600" kern="1200" dirty="0">
                <a:latin typeface="+mj-lt"/>
                <a:ea typeface="+mj-ea"/>
                <a:cs typeface="Times New Roman" panose="02020603050405020304" pitchFamily="18" charset="0"/>
              </a:rPr>
              <a:t>(2 of 2)</a:t>
            </a:r>
            <a:endParaRPr lang="en-US" sz="2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3"/>
            <a:ext cx="8229600" cy="1859928"/>
          </a:xfrm>
        </p:spPr>
        <p:txBody>
          <a:bodyPr wrap="square" lIns="0" tIns="18000" rIns="0" bIns="18000">
            <a:spAutoFit/>
          </a:bodyPr>
          <a:lstStyle/>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Ensure credibility of the overall research effort</a:t>
            </a:r>
          </a:p>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Consider special ethical issues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may need more than one institutional review</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may need to ensure consent for follow-up phases</a:t>
            </a:r>
          </a:p>
        </p:txBody>
      </p:sp>
    </p:spTree>
    <p:extLst>
      <p:ext uri="{BB962C8B-B14F-4D97-AF65-F5344CB8AC3E}">
        <p14:creationId xmlns:p14="http://schemas.microsoft.com/office/powerpoint/2010/main" val="3512980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80170"/>
            <a:ext cx="8229600" cy="467239"/>
          </a:xfrm>
        </p:spPr>
        <p:txBody>
          <a:bodyPr lIns="0" tIns="18000" rIns="0" bIns="18000">
            <a:spAutoFit/>
          </a:bodyPr>
          <a:lstStyle/>
          <a:p>
            <a:pPr lvl="0">
              <a:spcBef>
                <a:spcPct val="0"/>
              </a:spcBef>
              <a:buClrTx/>
            </a:pPr>
            <a:r>
              <a:rPr lang="en-US" altLang="en-US" sz="2800" kern="1200" dirty="0">
                <a:latin typeface="+mj-lt"/>
                <a:cs typeface="Times New Roman" panose="02020603050405020304" pitchFamily="18" charset="0"/>
              </a:rPr>
              <a:t>Analyzing and Interpreting Mixed-Methods Data</a:t>
            </a:r>
            <a:endParaRPr lang="en-US" sz="20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823744"/>
            <a:ext cx="8229600" cy="2075371"/>
          </a:xfrm>
        </p:spPr>
        <p:txBody>
          <a:bodyPr wrap="square" lIns="0" tIns="18000" rIns="0" bIns="18000">
            <a:spAutoFit/>
          </a:bodyPr>
          <a:lstStyle/>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Two important considerations: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How to weight quantitative and qualitative data when drawing conclusions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How to integrate quantitative and qualitative findings for interpretation</a:t>
            </a:r>
          </a:p>
        </p:txBody>
      </p:sp>
    </p:spTree>
    <p:extLst>
      <p:ext uri="{BB962C8B-B14F-4D97-AF65-F5344CB8AC3E}">
        <p14:creationId xmlns:p14="http://schemas.microsoft.com/office/powerpoint/2010/main" val="3415216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310259"/>
            <a:ext cx="8272252" cy="590349"/>
          </a:xfrm>
        </p:spPr>
        <p:txBody>
          <a:bodyPr wrap="square" lIns="0" tIns="18000" rIns="0" bIns="18000" anchor="t" anchorCtr="0">
            <a:spAutoFit/>
          </a:bodyPr>
          <a:lstStyle/>
          <a:p>
            <a:pPr lvl="0">
              <a:spcBef>
                <a:spcPct val="0"/>
              </a:spcBef>
              <a:buClrTx/>
            </a:pPr>
            <a:r>
              <a:rPr lang="en-US" altLang="en-US" sz="3600" kern="1200" dirty="0">
                <a:ea typeface="+mj-ea"/>
                <a:cs typeface="Times New Roman" panose="02020603050405020304" pitchFamily="18" charset="0"/>
              </a:rPr>
              <a:t>Copyright</a:t>
            </a:r>
            <a:endParaRPr lang="en-US" altLang="en-US" sz="3600" b="0" kern="1200" dirty="0">
              <a:ea typeface="+mj-ea"/>
              <a:cs typeface="Times New Roman" panose="02020603050405020304" pitchFamily="18" charset="0"/>
            </a:endParaRPr>
          </a:p>
        </p:txBody>
      </p:sp>
      <p:pic>
        <p:nvPicPr>
          <p:cNvPr id="8" name="Picture Placeholder 7" descr="Warning">
            <a:extLst>
              <a:ext uri="{FF2B5EF4-FFF2-40B4-BE49-F238E27FC236}">
                <a16:creationId xmlns:a16="http://schemas.microsoft.com/office/drawing/2014/main" id="{C123DBB5-E2DD-466E-A3FB-A327E5D9CB4D}"/>
              </a:ext>
            </a:extLst>
          </p:cNvPr>
          <p:cNvPicPr>
            <a:picLocks noGrp="1" noChangeAspect="1"/>
          </p:cNvPicPr>
          <p:nvPr>
            <p:ph type="pic" sz="quarter" idx="11"/>
          </p:nvPr>
        </p:nvPicPr>
        <p:blipFill>
          <a:blip r:embed="rId2"/>
          <a:stretch>
            <a:fillRect/>
          </a:stretch>
        </p:blipFill>
        <p:spPr>
          <a:xfrm>
            <a:off x="565268" y="2718488"/>
            <a:ext cx="1276350" cy="1438275"/>
          </a:xfrm>
          <a:prstGeom prst="rect">
            <a:avLst/>
          </a:prstGeom>
        </p:spPr>
      </p:pic>
      <p:sp>
        <p:nvSpPr>
          <p:cNvPr id="6" name="Content Placeholder 2">
            <a:extLst>
              <a:ext uri="{FF2B5EF4-FFF2-40B4-BE49-F238E27FC236}">
                <a16:creationId xmlns:a16="http://schemas.microsoft.com/office/drawing/2014/main" id="{0DAE52C9-82A2-4E0A-BF89-DC1F4086C3EF}"/>
              </a:ext>
            </a:extLst>
          </p:cNvPr>
          <p:cNvSpPr>
            <a:spLocks noGrp="1"/>
          </p:cNvSpPr>
          <p:nvPr>
            <p:ph sz="quarter" idx="10"/>
          </p:nvPr>
        </p:nvSpPr>
        <p:spPr>
          <a:xfrm>
            <a:off x="2096216" y="1826558"/>
            <a:ext cx="6614274" cy="3260978"/>
          </a:xfrm>
        </p:spPr>
        <p:style>
          <a:lnRef idx="2">
            <a:schemeClr val="dk1"/>
          </a:lnRef>
          <a:fillRef idx="1">
            <a:schemeClr val="lt1"/>
          </a:fillRef>
          <a:effectRef idx="0">
            <a:schemeClr val="dk1"/>
          </a:effectRef>
          <a:fontRef idx="minor">
            <a:schemeClr val="dk1"/>
          </a:fontRef>
        </p:style>
        <p:txBody>
          <a:bodyPr wrap="square" lIns="273600" tIns="273600" rIns="273600" bIns="273600">
            <a:spAutoFit/>
          </a:bodyPr>
          <a:lstStyle/>
          <a:p>
            <a:pPr marL="432" indent="0">
              <a:buNone/>
            </a:pPr>
            <a:r>
              <a:rPr lang="en-US" b="1" dirty="0">
                <a:latin typeface="Arial" panose="020B0604020202020204" pitchFamily="34" charset="0"/>
                <a:cs typeface="Arial" panose="020B0604020202020204" pitchFamily="34" charset="0"/>
              </a:rPr>
              <a:t>This work is protected by United States copyright laws and is</a:t>
            </a:r>
            <a:r>
              <a:rPr lang="en-US" b="1" baseline="0"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4756594"/>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2" ma:contentTypeDescription="Create a new document." ma:contentTypeScope="" ma:versionID="9ee3781bcb6633d132c89161492bb118">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3e430f46b92204fb5a3381a429c4dbe"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48D24B-9F40-4BC9-9E82-8D7BA94627C1}">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B3974BE-3157-4651-8BC6-D915B962EFEF}">
  <ds:schemaRefs>
    <ds:schemaRef ds:uri="http://schemas.microsoft.com/sharepoint/v3/contenttype/forms"/>
  </ds:schemaRefs>
</ds:datastoreItem>
</file>

<file path=customXml/itemProps3.xml><?xml version="1.0" encoding="utf-8"?>
<ds:datastoreItem xmlns:ds="http://schemas.openxmlformats.org/officeDocument/2006/customXml" ds:itemID="{C944D3BB-5530-45F5-8009-24BE1EAE62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1bd8dc-4e40-424f-a15f-9ffcd522197f"/>
    <ds:schemaRef ds:uri="6125ffc9-2c56-435e-8267-139344490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8418</TotalTime>
  <Words>655</Words>
  <Application>Microsoft Office PowerPoint</Application>
  <PresentationFormat>On-screen Show (4:3)</PresentationFormat>
  <Paragraphs>80</Paragraphs>
  <Slides>13</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Arial</vt:lpstr>
      <vt:lpstr>Arial (Headings)</vt:lpstr>
      <vt:lpstr>Noto Sans Symbols</vt:lpstr>
      <vt:lpstr>Times New Roman</vt:lpstr>
      <vt:lpstr>Verdana</vt:lpstr>
      <vt:lpstr>508 Lecture</vt:lpstr>
      <vt:lpstr>1_508 Lecture</vt:lpstr>
      <vt:lpstr>Practical Research: Planning and Design</vt:lpstr>
      <vt:lpstr>Mixed Methods Designs (1 of 3)</vt:lpstr>
      <vt:lpstr>Mixed Methods Designs (2 of 3)</vt:lpstr>
      <vt:lpstr>Mixed Methods Designs (3 of 3)</vt:lpstr>
      <vt:lpstr>When Mixed-Methods Designs are Most Useful and Appropriate</vt:lpstr>
      <vt:lpstr>General Categories of Mixed-Methods Research (1 of 4)</vt:lpstr>
      <vt:lpstr>General Categories of Mixed-Methods Research (2 of 4)</vt:lpstr>
      <vt:lpstr>General Categories of Mixed-Methods Research (3 of 4)</vt:lpstr>
      <vt:lpstr>General Categories of Mixed-Methods Research (4 of 4)</vt:lpstr>
      <vt:lpstr>Planning a Mixed-Methods Study (1 of 2)</vt:lpstr>
      <vt:lpstr>Planning a Mixed-Methods Study (2 of 2)</vt:lpstr>
      <vt:lpstr>Analyzing and Interpreting Mixed-Methods Data</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Research: Planning and Design, Twelfth Edition, Chapter 9</dc:title>
  <dc:subject>TED/Careers</dc:subject>
  <dc:creator>Leedy and Ormrod</dc:creator>
  <cp:keywords>Practical Research</cp:keywords>
  <cp:lastModifiedBy>Md. Shakil Hossain</cp:lastModifiedBy>
  <cp:revision>972</cp:revision>
  <dcterms:modified xsi:type="dcterms:W3CDTF">2026-05-31T20:34:10Z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0x01010086D90B95B22DD945BDFF45EB84A5E21C</vt:lpwstr>
  </property>
</Properties>
</file>