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2.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54"/>
  </p:notesMasterIdLst>
  <p:handoutMasterIdLst>
    <p:handoutMasterId r:id="rId55"/>
  </p:handoutMasterIdLst>
  <p:sldIdLst>
    <p:sldId id="357"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354" r:id="rId51"/>
    <p:sldId id="355" r:id="rId52"/>
    <p:sldId id="356"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913" userDrawn="1">
          <p15:clr>
            <a:srgbClr val="A4A3A4"/>
          </p15:clr>
        </p15:guide>
        <p15:guide id="5" orient="horz" pos="346" userDrawn="1">
          <p15:clr>
            <a:srgbClr val="A4A3A4"/>
          </p15:clr>
        </p15:guide>
        <p15:guide id="6" orient="horz" pos="482" userDrawn="1">
          <p15:clr>
            <a:srgbClr val="A4A3A4"/>
          </p15:clr>
        </p15:guide>
        <p15:guide id="7" orient="horz" pos="4065" userDrawn="1">
          <p15:clr>
            <a:srgbClr val="A4A3A4"/>
          </p15:clr>
        </p15:guide>
        <p15:guide id="8" pos="272" userDrawn="1">
          <p15:clr>
            <a:srgbClr val="A4A3A4"/>
          </p15:clr>
        </p15:guide>
        <p15:guide id="9" pos="54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87" autoAdjust="0"/>
    <p:restoredTop sz="84327" autoAdjust="0"/>
  </p:normalViewPr>
  <p:slideViewPr>
    <p:cSldViewPr snapToGrid="0" snapToObjects="1">
      <p:cViewPr varScale="1">
        <p:scale>
          <a:sx n="72" d="100"/>
          <a:sy n="72" d="100"/>
        </p:scale>
        <p:origin x="1542" y="72"/>
      </p:cViewPr>
      <p:guideLst>
        <p:guide orient="horz" pos="2160"/>
        <p:guide pos="2880"/>
        <p:guide orient="horz" pos="913"/>
        <p:guide orient="horz" pos="346"/>
        <p:guide orient="horz" pos="482"/>
        <p:guide orient="horz" pos="4065"/>
        <p:guide pos="272"/>
        <p:guide pos="5488"/>
      </p:guideLst>
    </p:cSldViewPr>
  </p:slideViewPr>
  <p:outlineViewPr>
    <p:cViewPr>
      <p:scale>
        <a:sx n="33" d="100"/>
        <a:sy n="33" d="100"/>
      </p:scale>
      <p:origin x="0" y="-6846"/>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63"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customXml" Target="../customXml/item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10/23/2021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5331CB7C-510D-4CFC-901E-E863A0A29757}"/>
              </a:ext>
            </a:extLst>
          </p:cNvPr>
          <p:cNvSpPr>
            <a:spLocks noGrp="1"/>
          </p:cNvSpPr>
          <p:nvPr>
            <p:ph sz="quarter" idx="10"/>
          </p:nvPr>
        </p:nvSpPr>
        <p:spPr>
          <a:xfrm>
            <a:off x="1990725" y="2324100"/>
            <a:ext cx="5033963" cy="1436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A09347AE-7B18-44B9-A7A2-E00052F4811C}"/>
              </a:ext>
            </a:extLst>
          </p:cNvPr>
          <p:cNvSpPr>
            <a:spLocks noGrp="1"/>
          </p:cNvSpPr>
          <p:nvPr>
            <p:ph type="pic" sz="quarter" idx="11"/>
          </p:nvPr>
        </p:nvSpPr>
        <p:spPr>
          <a:xfrm>
            <a:off x="1905000" y="4425950"/>
            <a:ext cx="5273675" cy="1231900"/>
          </a:xfrm>
        </p:spPr>
        <p:txBody>
          <a:bodyPr/>
          <a:lstStyle/>
          <a:p>
            <a:endParaRPr lang="en-US"/>
          </a:p>
        </p:txBody>
      </p:sp>
    </p:spTree>
    <p:extLst>
      <p:ext uri="{BB962C8B-B14F-4D97-AF65-F5344CB8AC3E}">
        <p14:creationId xmlns:p14="http://schemas.microsoft.com/office/powerpoint/2010/main" val="1027442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dirty="0"/>
          </a:p>
        </p:txBody>
      </p:sp>
      <p:sp>
        <p:nvSpPr>
          <p:cNvPr id="3" name="Date Placeholder 2"/>
          <p:cNvSpPr>
            <a:spLocks noGrp="1"/>
          </p:cNvSpPr>
          <p:nvPr>
            <p:ph type="dt" idx="1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69108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52760D6A-39EE-442F-AA32-B3A8F4BE0867}"/>
              </a:ext>
            </a:extLst>
          </p:cNvPr>
          <p:cNvSpPr>
            <a:spLocks noGrp="1"/>
          </p:cNvSpPr>
          <p:nvPr>
            <p:ph type="pic" sz="quarter" idx="14"/>
          </p:nvPr>
        </p:nvSpPr>
        <p:spPr>
          <a:xfrm>
            <a:off x="922338" y="2632075"/>
            <a:ext cx="3530600" cy="1462088"/>
          </a:xfrm>
        </p:spPr>
        <p:txBody>
          <a:bodyPr/>
          <a:lstStyle/>
          <a:p>
            <a:endParaRPr lang="en-US"/>
          </a:p>
        </p:txBody>
      </p:sp>
      <p:sp>
        <p:nvSpPr>
          <p:cNvPr id="5" name="Picture Placeholder 4">
            <a:extLst>
              <a:ext uri="{FF2B5EF4-FFF2-40B4-BE49-F238E27FC236}">
                <a16:creationId xmlns:a16="http://schemas.microsoft.com/office/drawing/2014/main" id="{BE5684DE-C32B-4DD2-9E1D-D84C086E8EC8}"/>
              </a:ext>
            </a:extLst>
          </p:cNvPr>
          <p:cNvSpPr>
            <a:spLocks noGrp="1"/>
          </p:cNvSpPr>
          <p:nvPr>
            <p:ph type="pic" sz="quarter" idx="15"/>
          </p:nvPr>
        </p:nvSpPr>
        <p:spPr>
          <a:xfrm>
            <a:off x="922338" y="4486275"/>
            <a:ext cx="3649662" cy="717550"/>
          </a:xfrm>
        </p:spPr>
        <p:txBody>
          <a:bodyPr/>
          <a:lstStyle/>
          <a:p>
            <a:endParaRPr lang="en-US"/>
          </a:p>
        </p:txBody>
      </p:sp>
    </p:spTree>
    <p:extLst>
      <p:ext uri="{BB962C8B-B14F-4D97-AF65-F5344CB8AC3E}">
        <p14:creationId xmlns:p14="http://schemas.microsoft.com/office/powerpoint/2010/main" val="1975126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86585A99-BD22-4961-ABCE-7BFAD48A3A1B}"/>
              </a:ext>
            </a:extLst>
          </p:cNvPr>
          <p:cNvPicPr>
            <a:picLocks noChangeAspect="1"/>
          </p:cNvPicPr>
          <p:nvPr userDrawn="1"/>
        </p:nvPicPr>
        <p:blipFill>
          <a:blip r:embed="rId14"/>
          <a:stretch>
            <a:fillRect/>
          </a:stretch>
        </p:blipFill>
        <p:spPr>
          <a:xfrm>
            <a:off x="439948" y="6436893"/>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9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4" r:id="rId2"/>
    <p:sldLayoutId id="2147483696"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90338"/>
            <a:ext cx="8272252"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45478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AD32C8C1-9546-45BF-9855-318A9D85AA40}"/>
              </a:ext>
            </a:extLst>
          </p:cNvPr>
          <p:cNvPicPr>
            <a:picLocks noGrp="1" noChangeAspect="1"/>
          </p:cNvPicPr>
          <p:nvPr>
            <p:ph type="pic" sz="quarter" idx="14"/>
          </p:nvPr>
        </p:nvPicPr>
        <p:blipFill>
          <a:blip r:embed="rId3"/>
          <a:stretch>
            <a:fillRect/>
          </a:stretch>
        </p:blipFill>
        <p:spPr>
          <a:xfrm>
            <a:off x="439948" y="1889814"/>
            <a:ext cx="3572256" cy="4456176"/>
          </a:xfrm>
          <a:prstGeom prst="rect">
            <a:avLst/>
          </a:prstGeom>
        </p:spPr>
      </p:pic>
      <p:sp>
        <p:nvSpPr>
          <p:cNvPr id="4" name="Text Placeholder 3"/>
          <p:cNvSpPr>
            <a:spLocks noGrp="1"/>
          </p:cNvSpPr>
          <p:nvPr>
            <p:ph type="body" idx="2"/>
          </p:nvPr>
        </p:nvSpPr>
        <p:spPr>
          <a:xfrm>
            <a:off x="4580628" y="2937288"/>
            <a:ext cx="1863304"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4</a:t>
            </a:r>
          </a:p>
        </p:txBody>
      </p:sp>
      <p:sp>
        <p:nvSpPr>
          <p:cNvPr id="5" name="Text Placeholder 4"/>
          <p:cNvSpPr>
            <a:spLocks noGrp="1"/>
          </p:cNvSpPr>
          <p:nvPr>
            <p:ph type="body" idx="3"/>
          </p:nvPr>
        </p:nvSpPr>
        <p:spPr>
          <a:xfrm>
            <a:off x="4580630" y="3524517"/>
            <a:ext cx="4131570"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Planning Your Research Project</a:t>
            </a:r>
          </a:p>
        </p:txBody>
      </p:sp>
      <p:pic>
        <p:nvPicPr>
          <p:cNvPr id="13" name="Picture Placeholder 12" descr="Pearson Logo">
            <a:extLst>
              <a:ext uri="{FF2B5EF4-FFF2-40B4-BE49-F238E27FC236}">
                <a16:creationId xmlns:a16="http://schemas.microsoft.com/office/drawing/2014/main" id="{16EB7F78-5949-49DA-A514-4665D83F8E3C}"/>
              </a:ext>
            </a:extLst>
          </p:cNvPr>
          <p:cNvPicPr>
            <a:picLocks noGrp="1" noChangeAspect="1"/>
          </p:cNvPicPr>
          <p:nvPr>
            <p:ph type="pic" sz="quarter" idx="15"/>
          </p:nvPr>
        </p:nvPicPr>
        <p:blipFill>
          <a:blip r:embed="rId4"/>
          <a:stretch>
            <a:fillRect/>
          </a:stretch>
        </p:blipFill>
        <p:spPr>
          <a:xfrm>
            <a:off x="439948" y="6436893"/>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2962064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7434"/>
            <a:ext cx="8229600" cy="590349"/>
          </a:xfrm>
        </p:spPr>
        <p:txBody>
          <a:bodyPr lIns="0" tIns="18000" rIns="0" bIns="18000">
            <a:spAutoFit/>
          </a:bodyPr>
          <a:lstStyle/>
          <a:p>
            <a:pPr lvl="0">
              <a:spcBef>
                <a:spcPct val="0"/>
              </a:spcBef>
              <a:buClrTx/>
            </a:pPr>
            <a:r>
              <a:rPr lang="en-US" altLang="en-US" sz="3600" kern="1200" dirty="0">
                <a:latin typeface="+mj-lt"/>
                <a:ea typeface="+mj-ea"/>
                <a:cs typeface="Times New Roman" panose="02020603050405020304" pitchFamily="18" charset="0"/>
              </a:rPr>
              <a:t>Research Design</a:t>
            </a:r>
          </a:p>
        </p:txBody>
      </p:sp>
      <p:sp>
        <p:nvSpPr>
          <p:cNvPr id="3" name="Text Placeholder 2"/>
          <p:cNvSpPr>
            <a:spLocks noGrp="1"/>
          </p:cNvSpPr>
          <p:nvPr>
            <p:ph type="body" idx="1"/>
          </p:nvPr>
        </p:nvSpPr>
        <p:spPr>
          <a:xfrm>
            <a:off x="457200" y="1461660"/>
            <a:ext cx="8229600" cy="3044867"/>
          </a:xfrm>
        </p:spPr>
        <p:txBody>
          <a:bodyPr wrap="square" lIns="0" tIns="18000" rIns="0" bIns="18000">
            <a:spAutoFit/>
          </a:bodyPr>
          <a:lstStyle/>
          <a:p>
            <a:pPr marL="256032" lvl="0" indent="-256032">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When we talk about research design, we are referring to a general strategy for addressing a research problem or question. This includes: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procedures the researcher follows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data the researcher collect</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The data analyses the researcher conducts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Simply put, research design is </a:t>
            </a:r>
            <a:r>
              <a:rPr lang="en-US" sz="2400" b="1" kern="1200" dirty="0">
                <a:solidFill>
                  <a:srgbClr val="000000"/>
                </a:solidFill>
                <a:latin typeface="Arial" panose="020B0604020202020204" pitchFamily="34" charset="0"/>
                <a:ea typeface="+mn-ea"/>
                <a:cs typeface="Arial" panose="020B0604020202020204" pitchFamily="34" charset="0"/>
              </a:rPr>
              <a:t>planning!</a:t>
            </a:r>
          </a:p>
        </p:txBody>
      </p:sp>
    </p:spTree>
    <p:extLst>
      <p:ext uri="{BB962C8B-B14F-4D97-AF65-F5344CB8AC3E}">
        <p14:creationId xmlns:p14="http://schemas.microsoft.com/office/powerpoint/2010/main" val="35676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Planning a General Approach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8304" y="1278038"/>
            <a:ext cx="8229600" cy="4162648"/>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Think broadly about the problem as arising out of a particular area</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Are you studying</a:t>
            </a:r>
          </a:p>
          <a:p>
            <a:pPr marL="744728"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People</a:t>
            </a:r>
          </a:p>
          <a:p>
            <a:pPr marL="744728"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Things</a:t>
            </a:r>
          </a:p>
          <a:p>
            <a:pPr marL="744728"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Records</a:t>
            </a:r>
          </a:p>
          <a:p>
            <a:pPr marL="744728"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Thoughts &amp; ideas</a:t>
            </a:r>
          </a:p>
          <a:p>
            <a:pPr marL="744728" lvl="1">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Dynamics &amp; energy</a:t>
            </a:r>
          </a:p>
          <a:p>
            <a:pPr lvl="2">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Each of these is a potential </a:t>
            </a:r>
            <a:r>
              <a:rPr lang="en-US" sz="2400" b="1" kern="1200" dirty="0">
                <a:solidFill>
                  <a:srgbClr val="000000"/>
                </a:solidFill>
                <a:latin typeface="Arial" panose="020B0604020202020204" pitchFamily="34" charset="0"/>
                <a:ea typeface="+mn-ea"/>
                <a:cs typeface="Arial" panose="020B0604020202020204" pitchFamily="34" charset="0"/>
              </a:rPr>
              <a:t>unit of analysis</a:t>
            </a:r>
          </a:p>
        </p:txBody>
      </p:sp>
    </p:spTree>
    <p:extLst>
      <p:ext uri="{BB962C8B-B14F-4D97-AF65-F5344CB8AC3E}">
        <p14:creationId xmlns:p14="http://schemas.microsoft.com/office/powerpoint/2010/main" val="411624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Planning a General Approach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281717"/>
            <a:ext cx="8229600" cy="2483175"/>
          </a:xfrm>
        </p:spPr>
        <p:txBody>
          <a:bodyPr wrap="square" lIns="0" tIns="18000" rIns="0" bIns="18000">
            <a:spAutoFit/>
          </a:bodyPr>
          <a:lstStyle/>
          <a:p>
            <a:pPr>
              <a:buSzPts val="2400"/>
            </a:pPr>
            <a:r>
              <a:rPr lang="en-US" sz="2400" kern="1200" dirty="0">
                <a:solidFill>
                  <a:srgbClr val="000000"/>
                </a:solidFill>
                <a:latin typeface="Arial" panose="020B0604020202020204" pitchFamily="34" charset="0"/>
                <a:ea typeface="+mn-ea"/>
                <a:cs typeface="Arial" panose="020B0604020202020204" pitchFamily="34" charset="0"/>
              </a:rPr>
              <a:t>Think about the kinds of data you need to address your problem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Do you need/can you find participants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Do you have the right equipment and skills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Do you know how to interpret the data and draw conclusions from them</a:t>
            </a:r>
          </a:p>
        </p:txBody>
      </p:sp>
    </p:spTree>
    <p:extLst>
      <p:ext uri="{BB962C8B-B14F-4D97-AF65-F5344CB8AC3E}">
        <p14:creationId xmlns:p14="http://schemas.microsoft.com/office/powerpoint/2010/main" val="3228478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3"/>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Research Planning: Selecting a Particular Research Methodology</a:t>
            </a:r>
          </a:p>
        </p:txBody>
      </p:sp>
      <p:sp>
        <p:nvSpPr>
          <p:cNvPr id="3" name="Text Placeholder 2"/>
          <p:cNvSpPr>
            <a:spLocks noGrp="1"/>
          </p:cNvSpPr>
          <p:nvPr>
            <p:ph type="body" idx="1"/>
          </p:nvPr>
        </p:nvSpPr>
        <p:spPr>
          <a:xfrm>
            <a:off x="457200" y="2167753"/>
            <a:ext cx="8229600" cy="2752480"/>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Planning</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Determining the general approach to a study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May be similar across disciplines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Methodology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techniques one uses to collect and analyze data</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May be specific to a particular academic discipline</a:t>
            </a:r>
          </a:p>
        </p:txBody>
      </p:sp>
    </p:spTree>
    <p:extLst>
      <p:ext uri="{BB962C8B-B14F-4D97-AF65-F5344CB8AC3E}">
        <p14:creationId xmlns:p14="http://schemas.microsoft.com/office/powerpoint/2010/main" val="3996274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5"/>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and Role of Data in Research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2167753"/>
            <a:ext cx="8229600" cy="170603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Data are pieces of information that help form a bigger picture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Data are transient — what is true at any point in time may not be true at another point in time</a:t>
            </a:r>
          </a:p>
        </p:txBody>
      </p:sp>
    </p:spTree>
    <p:extLst>
      <p:ext uri="{BB962C8B-B14F-4D97-AF65-F5344CB8AC3E}">
        <p14:creationId xmlns:p14="http://schemas.microsoft.com/office/powerpoint/2010/main" val="53814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4"/>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The Nature and Role of Data in Research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2157240"/>
            <a:ext cx="8229600" cy="1744511"/>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Data may be primary or secondary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Primary data are closest to the truth (the source)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Secondary data are derived from primary data</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Distorted by interpretations and communication</a:t>
            </a:r>
          </a:p>
        </p:txBody>
      </p:sp>
    </p:spTree>
    <p:extLst>
      <p:ext uri="{BB962C8B-B14F-4D97-AF65-F5344CB8AC3E}">
        <p14:creationId xmlns:p14="http://schemas.microsoft.com/office/powerpoint/2010/main" val="3675462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4"/>
            <a:ext cx="8229600" cy="590349"/>
          </a:xfrm>
        </p:spPr>
        <p:txBody>
          <a:bodyPr lIns="0" tIns="18000" rIns="0" bIns="18000">
            <a:spAutoFit/>
          </a:bodyPr>
          <a:lstStyle/>
          <a:p>
            <a:pPr lvl="0">
              <a:spcBef>
                <a:spcPct val="0"/>
              </a:spcBef>
              <a:buClrTx/>
            </a:pPr>
            <a:r>
              <a:rPr lang="en-US" altLang="en-US" sz="3600" kern="1200" dirty="0">
                <a:latin typeface="+mj-lt"/>
                <a:ea typeface="+mj-ea"/>
                <a:cs typeface="Times New Roman" panose="02020603050405020304" pitchFamily="18" charset="0"/>
              </a:rPr>
              <a:t>Planning for Data Collection</a:t>
            </a:r>
          </a:p>
        </p:txBody>
      </p:sp>
      <p:sp>
        <p:nvSpPr>
          <p:cNvPr id="3" name="Text Placeholder 2"/>
          <p:cNvSpPr>
            <a:spLocks noGrp="1"/>
          </p:cNvSpPr>
          <p:nvPr>
            <p:ph type="body" idx="1"/>
          </p:nvPr>
        </p:nvSpPr>
        <p:spPr>
          <a:xfrm>
            <a:off x="457200" y="1463570"/>
            <a:ext cx="8229600" cy="3021784"/>
          </a:xfrm>
        </p:spPr>
        <p:txBody>
          <a:bodyPr wrap="square" lIns="0" tIns="18000" rIns="0" bIns="18000">
            <a:spAutoFit/>
          </a:bodyPr>
          <a:lstStyle/>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What data are needed?</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Where are the data located?</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How will the data be obtained?</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What limits will be placed on the nature of acceptable data?</a:t>
            </a:r>
          </a:p>
          <a:p>
            <a:pPr marL="432054" lvl="0" indent="-432054">
              <a:spcAft>
                <a:spcPct val="0"/>
              </a:spcAft>
              <a:buSzPts val="2400"/>
              <a:buFont typeface="+mj-lt"/>
              <a:buAutoNum type="arabicPeriod"/>
              <a:tabLst/>
            </a:pPr>
            <a:r>
              <a:rPr lang="en-US" altLang="en-US" sz="2400" kern="1200" dirty="0">
                <a:solidFill>
                  <a:srgbClr val="000000"/>
                </a:solidFill>
                <a:latin typeface="Arial" panose="020B0604020202020204" pitchFamily="34" charset="0"/>
                <a:ea typeface="+mn-ea"/>
                <a:cs typeface="Arial" panose="020B0604020202020204" pitchFamily="34" charset="0"/>
              </a:rPr>
              <a:t>How will the data be interpreted?</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87752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1"/>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Linking Data and Methodology</a:t>
            </a:r>
          </a:p>
        </p:txBody>
      </p:sp>
      <p:sp>
        <p:nvSpPr>
          <p:cNvPr id="4" name="Text Placeholder 3"/>
          <p:cNvSpPr>
            <a:spLocks noGrp="1"/>
          </p:cNvSpPr>
          <p:nvPr>
            <p:ph type="body" idx="1"/>
          </p:nvPr>
        </p:nvSpPr>
        <p:spPr>
          <a:xfrm>
            <a:off x="457200" y="1463571"/>
            <a:ext cx="8229600" cy="3237228"/>
          </a:xfrm>
        </p:spPr>
        <p:txBody>
          <a:bodyPr lIns="0" tIns="18000" rIns="0" bIns="18000">
            <a:spAutoFit/>
          </a:bodyPr>
          <a:lstStyle/>
          <a:p>
            <a:pPr marL="256032" indent="-256032"/>
            <a:r>
              <a:rPr lang="en-US" sz="2400" dirty="0">
                <a:latin typeface="Arial" panose="020B0604020202020204" pitchFamily="34" charset="0"/>
                <a:cs typeface="Arial" panose="020B0604020202020204" pitchFamily="34" charset="0"/>
              </a:rPr>
              <a:t>Quantitative methods</a:t>
            </a:r>
          </a:p>
          <a:p>
            <a:pPr marL="740664" lvl="1"/>
            <a:r>
              <a:rPr lang="en-US" sz="2400" dirty="0">
                <a:latin typeface="Arial" panose="020B0604020202020204" pitchFamily="34" charset="0"/>
                <a:cs typeface="Arial" panose="020B0604020202020204" pitchFamily="34" charset="0"/>
              </a:rPr>
              <a:t>Involve collecting numerical data</a:t>
            </a:r>
          </a:p>
          <a:p>
            <a:pPr marL="256032" indent="-256032"/>
            <a:r>
              <a:rPr lang="en-US" sz="2400" dirty="0">
                <a:latin typeface="Arial" panose="020B0604020202020204" pitchFamily="34" charset="0"/>
                <a:cs typeface="Arial" panose="020B0604020202020204" pitchFamily="34" charset="0"/>
              </a:rPr>
              <a:t>Qualitative methods</a:t>
            </a:r>
          </a:p>
          <a:p>
            <a:pPr marL="740664" lvl="1"/>
            <a:r>
              <a:rPr lang="en-US" sz="2400" dirty="0">
                <a:latin typeface="Arial" panose="020B0604020202020204" pitchFamily="34" charset="0"/>
                <a:cs typeface="Arial" panose="020B0604020202020204" pitchFamily="34" charset="0"/>
              </a:rPr>
              <a:t>Involve collecting textual or image-based data</a:t>
            </a:r>
          </a:p>
          <a:p>
            <a:pPr marL="256032" indent="-256032"/>
            <a:r>
              <a:rPr lang="en-US" sz="2400" dirty="0">
                <a:latin typeface="Arial" panose="020B0604020202020204" pitchFamily="34" charset="0"/>
                <a:cs typeface="Arial" panose="020B0604020202020204" pitchFamily="34" charset="0"/>
              </a:rPr>
              <a:t>Mixed methods</a:t>
            </a:r>
          </a:p>
          <a:p>
            <a:pPr marL="740664" lvl="1"/>
            <a:r>
              <a:rPr lang="en-US" sz="2400" dirty="0">
                <a:latin typeface="Arial" panose="020B0604020202020204" pitchFamily="34" charset="0"/>
                <a:cs typeface="Arial" panose="020B0604020202020204" pitchFamily="34" charset="0"/>
              </a:rPr>
              <a:t>Use both quantitative and qualitative methods in the same study</a:t>
            </a:r>
          </a:p>
        </p:txBody>
      </p:sp>
    </p:spTree>
    <p:extLst>
      <p:ext uri="{BB962C8B-B14F-4D97-AF65-F5344CB8AC3E}">
        <p14:creationId xmlns:p14="http://schemas.microsoft.com/office/powerpoint/2010/main" val="147681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3"/>
            <a:ext cx="8229600" cy="1144347"/>
          </a:xfrm>
        </p:spPr>
        <p:txBody>
          <a:bodyPr lIns="0" tIns="18000" rIns="0" bIns="18000">
            <a:spAutoFit/>
          </a:bodyPr>
          <a:lstStyle/>
          <a:p>
            <a:pPr lvl="0">
              <a:spcBef>
                <a:spcPct val="0"/>
              </a:spcBef>
              <a:buClrTx/>
            </a:pPr>
            <a:r>
              <a:rPr lang="en-US" altLang="en-US" sz="3600" kern="1200" dirty="0">
                <a:latin typeface="+mj-lt"/>
                <a:ea typeface="+mj-ea"/>
                <a:cs typeface="Times New Roman" panose="02020603050405020304" pitchFamily="18" charset="0"/>
              </a:rPr>
              <a:t>To Determine an Approach, First Ask Yourself These Questions</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2157236"/>
            <a:ext cx="8229600" cy="2652452"/>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What is my purpose?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What is the nature of the process?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What are the data like/how are they collected?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How are data analyzed?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How are the findings communicated?</a:t>
            </a:r>
          </a:p>
        </p:txBody>
      </p:sp>
    </p:spTree>
    <p:extLst>
      <p:ext uri="{BB962C8B-B14F-4D97-AF65-F5344CB8AC3E}">
        <p14:creationId xmlns:p14="http://schemas.microsoft.com/office/powerpoint/2010/main" val="1441060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4"/>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Also Consider These Issues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3570"/>
            <a:ext cx="8229600" cy="4101092"/>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Your comfort with the assumptions of the qualitative tradition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audience for your study</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nature of the research question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extensiveness of the related literature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depth of what you want to discover</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amount of time you have available for conducting the study</a:t>
            </a:r>
          </a:p>
        </p:txBody>
      </p:sp>
    </p:spTree>
    <p:extLst>
      <p:ext uri="{BB962C8B-B14F-4D97-AF65-F5344CB8AC3E}">
        <p14:creationId xmlns:p14="http://schemas.microsoft.com/office/powerpoint/2010/main" val="1944606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Also Consider These Issues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3570"/>
            <a:ext cx="8229600" cy="3198756"/>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extent to which you are willing to interact with the people in your study</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The extent to which you feel comfortable working without much structure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Your ability to organize and draw inferences from a large body of information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Your writing skills</a:t>
            </a:r>
          </a:p>
        </p:txBody>
      </p:sp>
    </p:spTree>
    <p:extLst>
      <p:ext uri="{BB962C8B-B14F-4D97-AF65-F5344CB8AC3E}">
        <p14:creationId xmlns:p14="http://schemas.microsoft.com/office/powerpoint/2010/main" val="120028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Quantitative V</a:t>
            </a:r>
            <a:r>
              <a:rPr lang="en-US" sz="100" kern="1200" dirty="0">
                <a:latin typeface="+mj-lt"/>
                <a:ea typeface="+mj-ea"/>
                <a:cs typeface="Times New Roman" panose="02020603050405020304" pitchFamily="18" charset="0"/>
              </a:rPr>
              <a:t>ersu</a:t>
            </a:r>
            <a:r>
              <a:rPr lang="en-US" sz="3600" kern="1200" dirty="0">
                <a:latin typeface="+mj-lt"/>
                <a:ea typeface="+mj-ea"/>
                <a:cs typeface="Times New Roman" panose="02020603050405020304" pitchFamily="18" charset="0"/>
              </a:rPr>
              <a:t>s. Qualitative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463570"/>
            <a:ext cx="8229600" cy="474742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Purpose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Quant</a:t>
            </a:r>
            <a:r>
              <a:rPr lang="en-US" sz="100" kern="1200" dirty="0">
                <a:solidFill>
                  <a:schemeClr val="bg1"/>
                </a:solidFill>
                <a:latin typeface="Arial" panose="020B0604020202020204" pitchFamily="34" charset="0"/>
                <a:ea typeface="+mn-ea"/>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Pursuit of explanations and predictions that, in most cases, will generalize to other persons or places</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Qual</a:t>
            </a:r>
            <a:r>
              <a:rPr lang="en-US" sz="100" kern="1200" dirty="0">
                <a:solidFill>
                  <a:schemeClr val="bg1"/>
                </a:solidFill>
                <a:latin typeface="Arial" panose="020B0604020202020204" pitchFamily="34" charset="0"/>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Seek to better understand complex situations and is often exploratory in nature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Process</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Quant</a:t>
            </a:r>
            <a:r>
              <a:rPr lang="en-US" sz="100" kern="1200" dirty="0">
                <a:solidFill>
                  <a:schemeClr val="bg1"/>
                </a:solidFill>
                <a:latin typeface="Arial" panose="020B0604020202020204" pitchFamily="34" charset="0"/>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Methods allow the research to objectively measure the variable(s) of interest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Qual</a:t>
            </a:r>
            <a:r>
              <a:rPr lang="en-US" sz="100" kern="1200" dirty="0">
                <a:solidFill>
                  <a:schemeClr val="bg1"/>
                </a:solidFill>
                <a:latin typeface="Arial" panose="020B0604020202020204" pitchFamily="34" charset="0"/>
                <a:ea typeface="+mn-ea"/>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Holistic and emergent, with specific focus, design, data-collection techniques, and interpretations developing and possibly changing along the way</a:t>
            </a:r>
          </a:p>
        </p:txBody>
      </p:sp>
    </p:spTree>
    <p:extLst>
      <p:ext uri="{BB962C8B-B14F-4D97-AF65-F5344CB8AC3E}">
        <p14:creationId xmlns:p14="http://schemas.microsoft.com/office/powerpoint/2010/main" val="3949823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8"/>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Quantitative V</a:t>
            </a:r>
            <a:r>
              <a:rPr lang="en-US" sz="100" kern="1200" dirty="0">
                <a:latin typeface="+mj-lt"/>
                <a:cs typeface="Times New Roman" panose="02020603050405020304" pitchFamily="18" charset="0"/>
              </a:rPr>
              <a:t>ersu</a:t>
            </a:r>
            <a:r>
              <a:rPr lang="en-US" sz="3600" kern="1200" dirty="0">
                <a:latin typeface="+mj-lt"/>
                <a:cs typeface="Times New Roman" panose="02020603050405020304" pitchFamily="18" charset="0"/>
              </a:rPr>
              <a:t>s. Qualitative </a:t>
            </a:r>
            <a:r>
              <a:rPr lang="en-US" sz="2800" kern="1200" dirty="0">
                <a:latin typeface="+mj-lt"/>
                <a:cs typeface="Times New Roman" panose="02020603050405020304" pitchFamily="18" charset="0"/>
              </a:rPr>
              <a:t>(2 of 3)</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463570"/>
            <a:ext cx="8229600" cy="474742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Data Collection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Quant</a:t>
            </a:r>
            <a:r>
              <a:rPr lang="en-US" sz="100" kern="1200" dirty="0">
                <a:solidFill>
                  <a:schemeClr val="bg1"/>
                </a:solidFill>
                <a:latin typeface="Arial" panose="020B0604020202020204" pitchFamily="34" charset="0"/>
                <a:ea typeface="+mn-ea"/>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Identify a few variables to study and then collect data specifically related to those variables.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Qual</a:t>
            </a:r>
            <a:r>
              <a:rPr lang="en-US" sz="100" kern="1200" dirty="0">
                <a:solidFill>
                  <a:schemeClr val="bg1"/>
                </a:solidFill>
                <a:latin typeface="Arial" panose="020B0604020202020204" pitchFamily="34" charset="0"/>
                <a:ea typeface="+mn-ea"/>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Qualitative research operate under the assumption that reality isn’t easily divided into discrete, measureable variables.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Data Analysis</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Quant</a:t>
            </a:r>
            <a:r>
              <a:rPr lang="en-US" sz="100" kern="1200" dirty="0">
                <a:solidFill>
                  <a:schemeClr val="bg1"/>
                </a:solidFill>
                <a:latin typeface="Arial" panose="020B0604020202020204" pitchFamily="34" charset="0"/>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Rely on deductive reasoning, beginning with certain premises and then drawing logical conclusions from them.</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Qual</a:t>
            </a:r>
            <a:r>
              <a:rPr lang="en-US" sz="100" kern="1200" dirty="0">
                <a:solidFill>
                  <a:schemeClr val="bg1"/>
                </a:solidFill>
                <a:latin typeface="Arial" panose="020B0604020202020204" pitchFamily="34" charset="0"/>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Make considerable use of inductive reasoning.</a:t>
            </a:r>
          </a:p>
        </p:txBody>
      </p:sp>
    </p:spTree>
    <p:extLst>
      <p:ext uri="{BB962C8B-B14F-4D97-AF65-F5344CB8AC3E}">
        <p14:creationId xmlns:p14="http://schemas.microsoft.com/office/powerpoint/2010/main" val="1893622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7"/>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Quantitative V</a:t>
            </a:r>
            <a:r>
              <a:rPr lang="en-US" sz="100" kern="1200" dirty="0">
                <a:latin typeface="+mj-lt"/>
                <a:cs typeface="Times New Roman" panose="02020603050405020304" pitchFamily="18" charset="0"/>
              </a:rPr>
              <a:t>ersu</a:t>
            </a:r>
            <a:r>
              <a:rPr lang="en-US" sz="3600" kern="1200" dirty="0">
                <a:latin typeface="+mj-lt"/>
                <a:cs typeface="Times New Roman" panose="02020603050405020304" pitchFamily="18" charset="0"/>
              </a:rPr>
              <a:t>s. Qualitative </a:t>
            </a:r>
            <a:r>
              <a:rPr lang="en-US" sz="2800" kern="1200" dirty="0">
                <a:latin typeface="+mj-lt"/>
                <a:cs typeface="Times New Roman" panose="02020603050405020304" pitchFamily="18" charset="0"/>
              </a:rPr>
              <a:t>(3 of 3)</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463568"/>
            <a:ext cx="8229600" cy="2406231"/>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Reporting Findings</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Quant</a:t>
            </a:r>
            <a:r>
              <a:rPr lang="en-US" sz="100" kern="1200" dirty="0">
                <a:solidFill>
                  <a:schemeClr val="bg1"/>
                </a:solidFill>
                <a:latin typeface="Arial" panose="020B0604020202020204" pitchFamily="34" charset="0"/>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Typically reduce their data to summarizing statistics.</a:t>
            </a:r>
          </a:p>
          <a:p>
            <a:pPr marL="741553" lvl="1" indent="-284353">
              <a:spcAft>
                <a:spcPct val="0"/>
              </a:spcAft>
              <a:buSzPts val="2400"/>
            </a:pPr>
            <a:r>
              <a:rPr lang="en-US" sz="2400" kern="1200" dirty="0">
                <a:solidFill>
                  <a:srgbClr val="000000"/>
                </a:solidFill>
                <a:latin typeface="Arial" panose="020B0604020202020204" pitchFamily="34" charset="0"/>
                <a:cs typeface="Arial" panose="020B0604020202020204" pitchFamily="34" charset="0"/>
              </a:rPr>
              <a:t>Qual</a:t>
            </a:r>
            <a:r>
              <a:rPr lang="en-US" sz="100" kern="1200" dirty="0">
                <a:solidFill>
                  <a:schemeClr val="bg1"/>
                </a:solidFill>
                <a:latin typeface="Arial" panose="020B0604020202020204" pitchFamily="34" charset="0"/>
                <a:cs typeface="Arial" panose="020B0604020202020204" pitchFamily="34" charset="0"/>
              </a:rPr>
              <a:t>itative</a:t>
            </a:r>
            <a:r>
              <a:rPr lang="en-US" sz="2400" kern="1200" dirty="0">
                <a:solidFill>
                  <a:srgbClr val="000000"/>
                </a:solidFill>
                <a:latin typeface="Arial" panose="020B0604020202020204" pitchFamily="34" charset="0"/>
                <a:ea typeface="+mn-ea"/>
                <a:cs typeface="Arial" panose="020B0604020202020204" pitchFamily="34" charset="0"/>
              </a:rPr>
              <a:t>: Often construct interpretive narratives from their data and try to capture the complexity of a particular phenomenon.</a:t>
            </a:r>
          </a:p>
        </p:txBody>
      </p:sp>
    </p:spTree>
    <p:extLst>
      <p:ext uri="{BB962C8B-B14F-4D97-AF65-F5344CB8AC3E}">
        <p14:creationId xmlns:p14="http://schemas.microsoft.com/office/powerpoint/2010/main" val="744566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164"/>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Deciding between Quant and Qual </a:t>
            </a:r>
            <a:r>
              <a:rPr lang="en-US" sz="26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3570"/>
            <a:ext cx="8229600" cy="4322140"/>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Consider your own comfort level with the assumptions of the qualitative tradition.</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Consider the nature of your research question.</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Consider the extensiveness of the related literature.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Consider the depth of what you wish to discover.</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Consider the amount of time you have available for conducting the study.</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ea typeface="+mn-ea"/>
                <a:cs typeface="Arial" panose="020B0604020202020204" pitchFamily="34" charset="0"/>
              </a:rPr>
              <a:t>If applicable, consider the extent to which you are willing to interact with the people in your study.</a:t>
            </a:r>
          </a:p>
        </p:txBody>
      </p:sp>
    </p:spTree>
    <p:extLst>
      <p:ext uri="{BB962C8B-B14F-4D97-AF65-F5344CB8AC3E}">
        <p14:creationId xmlns:p14="http://schemas.microsoft.com/office/powerpoint/2010/main" val="1404393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2161"/>
            <a:ext cx="8229600" cy="559572"/>
          </a:xfrm>
        </p:spPr>
        <p:txBody>
          <a:bodyPr lIns="0" tIns="18000" rIns="0" bIns="18000">
            <a:spAutoFit/>
          </a:bodyPr>
          <a:lstStyle/>
          <a:p>
            <a:pPr lvl="0">
              <a:spcBef>
                <a:spcPct val="0"/>
              </a:spcBef>
              <a:buClrTx/>
            </a:pPr>
            <a:r>
              <a:rPr lang="en-US" kern="1200" dirty="0">
                <a:latin typeface="+mj-lt"/>
                <a:ea typeface="+mj-ea"/>
                <a:cs typeface="Times New Roman" panose="02020603050405020304" pitchFamily="18" charset="0"/>
              </a:rPr>
              <a:t>Deciding between Quant and Qual </a:t>
            </a:r>
            <a:r>
              <a:rPr lang="en-US" sz="26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3569"/>
            <a:ext cx="8229600" cy="2267732"/>
          </a:xfrm>
        </p:spPr>
        <p:txBody>
          <a:bodyPr wrap="square" lIns="0" tIns="18000" rIns="0" bIns="18000">
            <a:spAutoFit/>
          </a:bodyPr>
          <a:lstStyle/>
          <a:p>
            <a:pPr marL="432054" lvl="0" indent="-432054">
              <a:spcAft>
                <a:spcPct val="0"/>
              </a:spcAft>
              <a:buSzPts val="2400"/>
              <a:buFont typeface="+mj-lt"/>
              <a:buAutoNum type="arabicPeriod" startAt="7"/>
              <a:tabLst/>
            </a:pPr>
            <a:r>
              <a:rPr lang="en-US" sz="2400" kern="1200" dirty="0">
                <a:solidFill>
                  <a:srgbClr val="000000"/>
                </a:solidFill>
                <a:latin typeface="Arial" panose="020B0604020202020204" pitchFamily="34" charset="0"/>
                <a:ea typeface="+mn-ea"/>
                <a:cs typeface="Arial" panose="020B0604020202020204" pitchFamily="34" charset="0"/>
              </a:rPr>
              <a:t>Consider the extent to which you feel comfortable working without much structure.</a:t>
            </a:r>
          </a:p>
          <a:p>
            <a:pPr marL="432054" lvl="0" indent="-432054">
              <a:spcAft>
                <a:spcPct val="0"/>
              </a:spcAft>
              <a:buSzPts val="2400"/>
              <a:buFont typeface="+mj-lt"/>
              <a:buAutoNum type="arabicPeriod" startAt="7"/>
              <a:tabLst/>
            </a:pPr>
            <a:r>
              <a:rPr lang="en-US" sz="2400" kern="1200" dirty="0">
                <a:solidFill>
                  <a:srgbClr val="000000"/>
                </a:solidFill>
                <a:latin typeface="Arial" panose="020B0604020202020204" pitchFamily="34" charset="0"/>
                <a:ea typeface="+mn-ea"/>
                <a:cs typeface="Arial" panose="020B0604020202020204" pitchFamily="34" charset="0"/>
              </a:rPr>
              <a:t>Consider your ability to organize and draw inferences from a large body of information.</a:t>
            </a:r>
          </a:p>
          <a:p>
            <a:pPr marL="432054" lvl="0" indent="-432054">
              <a:spcAft>
                <a:spcPct val="0"/>
              </a:spcAft>
              <a:buSzPts val="2400"/>
              <a:buFont typeface="+mj-lt"/>
              <a:buAutoNum type="arabicPeriod" startAt="7"/>
              <a:tabLst/>
            </a:pPr>
            <a:r>
              <a:rPr lang="en-US" sz="2400" kern="1200" dirty="0">
                <a:solidFill>
                  <a:srgbClr val="000000"/>
                </a:solidFill>
                <a:latin typeface="Arial" panose="020B0604020202020204" pitchFamily="34" charset="0"/>
                <a:ea typeface="+mn-ea"/>
                <a:cs typeface="Arial" panose="020B0604020202020204" pitchFamily="34" charset="0"/>
              </a:rPr>
              <a:t>Consider your writing skills.</a:t>
            </a:r>
          </a:p>
        </p:txBody>
      </p:sp>
    </p:spTree>
    <p:extLst>
      <p:ext uri="{BB962C8B-B14F-4D97-AF65-F5344CB8AC3E}">
        <p14:creationId xmlns:p14="http://schemas.microsoft.com/office/powerpoint/2010/main" val="3979760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5"/>
            <a:ext cx="8229600" cy="590349"/>
          </a:xfrm>
        </p:spPr>
        <p:txBody>
          <a:bodyPr lIns="0" tIns="18000" rIns="0" bIns="18000">
            <a:spAutoFit/>
          </a:bodyPr>
          <a:lstStyle/>
          <a:p>
            <a:pPr lvl="0">
              <a:spcBef>
                <a:spcPct val="0"/>
              </a:spcBef>
              <a:buClrTx/>
            </a:pPr>
            <a:r>
              <a:rPr lang="en-US" altLang="en-US" sz="3600" kern="1200" dirty="0">
                <a:latin typeface="+mj-lt"/>
                <a:ea typeface="+mj-ea"/>
                <a:cs typeface="Times New Roman" panose="02020603050405020304" pitchFamily="18" charset="0"/>
              </a:rPr>
              <a:t>Select a Research Methodology</a:t>
            </a:r>
          </a:p>
        </p:txBody>
      </p:sp>
      <p:sp>
        <p:nvSpPr>
          <p:cNvPr id="3" name="Text Placeholder 2"/>
          <p:cNvSpPr>
            <a:spLocks noGrp="1"/>
          </p:cNvSpPr>
          <p:nvPr>
            <p:ph type="body" idx="1"/>
          </p:nvPr>
        </p:nvSpPr>
        <p:spPr>
          <a:xfrm>
            <a:off x="457200" y="1463568"/>
            <a:ext cx="3562709" cy="4706861"/>
          </a:xfrm>
        </p:spPr>
        <p:txBody>
          <a:bodyPr wrap="square" lIns="0" tIns="18000" rIns="0" bIns="18000">
            <a:spAutoFit/>
          </a:bodyPr>
          <a:lstStyle/>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Action research</a:t>
            </a: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Case study</a:t>
            </a:r>
            <a:endParaRPr lang="en-US" altLang="en-US" sz="2400" kern="1200" dirty="0">
              <a:solidFill>
                <a:prstClr val="black"/>
              </a:solidFill>
              <a:latin typeface="Arial" panose="020B0604020202020204" pitchFamily="34" charset="0"/>
              <a:ea typeface="+mn-ea"/>
              <a:cs typeface="Arial" panose="020B0604020202020204" pitchFamily="34" charset="0"/>
            </a:endParaRP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Content analysis</a:t>
            </a: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Correlational research</a:t>
            </a: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Design-based research</a:t>
            </a:r>
            <a:endParaRPr lang="en-US" altLang="en-US" sz="2400" kern="1200" dirty="0">
              <a:solidFill>
                <a:prstClr val="black"/>
              </a:solidFill>
              <a:latin typeface="Arial" panose="020B0604020202020204" pitchFamily="34" charset="0"/>
              <a:ea typeface="+mn-ea"/>
              <a:cs typeface="Arial" panose="020B0604020202020204" pitchFamily="34" charset="0"/>
            </a:endParaRP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Developmental research</a:t>
            </a: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Ethnography</a:t>
            </a:r>
          </a:p>
          <a:p>
            <a:pPr lvl="0">
              <a:spcAft>
                <a:spcPct val="0"/>
              </a:spcAft>
            </a:pPr>
            <a:r>
              <a:rPr lang="en-US" altLang="en-US" sz="2400" kern="1200" dirty="0">
                <a:solidFill>
                  <a:srgbClr val="000000"/>
                </a:solidFill>
                <a:latin typeface="Arial" panose="020B0604020202020204" pitchFamily="34" charset="0"/>
                <a:ea typeface="+mn-ea"/>
                <a:cs typeface="Arial" panose="020B0604020202020204" pitchFamily="34" charset="0"/>
              </a:rPr>
              <a:t>Experimental research</a:t>
            </a:r>
            <a:endParaRPr lang="en-US" sz="2400" kern="1200" dirty="0">
              <a:solidFill>
                <a:srgbClr val="000000"/>
              </a:solidFill>
              <a:latin typeface="Arial" panose="020B0604020202020204" pitchFamily="34" charset="0"/>
              <a:ea typeface="+mn-ea"/>
              <a:cs typeface="Arial" panose="020B0604020202020204" pitchFamily="34" charset="0"/>
            </a:endParaRPr>
          </a:p>
        </p:txBody>
      </p:sp>
      <p:sp>
        <p:nvSpPr>
          <p:cNvPr id="4" name="Text Placeholder 3"/>
          <p:cNvSpPr>
            <a:spLocks noGrp="1"/>
          </p:cNvSpPr>
          <p:nvPr>
            <p:ph type="body" idx="2"/>
          </p:nvPr>
        </p:nvSpPr>
        <p:spPr>
          <a:xfrm>
            <a:off x="4572000" y="1463571"/>
            <a:ext cx="4114799" cy="4145169"/>
          </a:xfrm>
        </p:spPr>
        <p:txBody>
          <a:bodyPr wrap="square" lIns="0" tIns="18000" rIns="0" bIns="18000">
            <a:spAutoFit/>
          </a:bodyPr>
          <a:lstStyle/>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Ex post facto research</a:t>
            </a:r>
          </a:p>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Grounded theory research</a:t>
            </a:r>
          </a:p>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Historical research</a:t>
            </a:r>
          </a:p>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Observation study</a:t>
            </a:r>
          </a:p>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Phenomenological research</a:t>
            </a:r>
          </a:p>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Quasi-experimental research</a:t>
            </a:r>
          </a:p>
          <a:p>
            <a:pPr lvl="0">
              <a:spcAft>
                <a:spcPct val="0"/>
              </a:spcAft>
            </a:pPr>
            <a:r>
              <a:rPr lang="en-US" sz="2400" kern="1200" dirty="0">
                <a:solidFill>
                  <a:srgbClr val="000000"/>
                </a:solidFill>
                <a:latin typeface="Arial" panose="020B0604020202020204" pitchFamily="34" charset="0"/>
                <a:ea typeface="+mn-ea"/>
                <a:cs typeface="Arial" panose="020B0604020202020204" pitchFamily="34" charset="0"/>
              </a:rPr>
              <a:t>Survey research</a:t>
            </a:r>
          </a:p>
        </p:txBody>
      </p:sp>
    </p:spTree>
    <p:extLst>
      <p:ext uri="{BB962C8B-B14F-4D97-AF65-F5344CB8AC3E}">
        <p14:creationId xmlns:p14="http://schemas.microsoft.com/office/powerpoint/2010/main" val="4177559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3"/>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Enhancing the Credibility of Your Findings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2125702"/>
            <a:ext cx="8229600" cy="322183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 research study has credibility to the extent that other people: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agree that its design and methods are being appropriate for the research problem or question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judge its results as being reasonably accurate and trustworthy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find the researcher’s interpretations of the dat to be plausible.</a:t>
            </a:r>
          </a:p>
        </p:txBody>
      </p:sp>
    </p:spTree>
    <p:extLst>
      <p:ext uri="{BB962C8B-B14F-4D97-AF65-F5344CB8AC3E}">
        <p14:creationId xmlns:p14="http://schemas.microsoft.com/office/powerpoint/2010/main" val="3707814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4"/>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Enhancing the Credibility of Your Findings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2136218"/>
            <a:ext cx="8229600" cy="2675536"/>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Quantitative researchers often use the term </a:t>
            </a:r>
            <a:r>
              <a:rPr lang="en-US" sz="2400" b="1" kern="1200" dirty="0">
                <a:solidFill>
                  <a:srgbClr val="000000"/>
                </a:solidFill>
                <a:latin typeface="Arial" panose="020B0604020202020204" pitchFamily="34" charset="0"/>
                <a:ea typeface="+mn-ea"/>
                <a:cs typeface="Arial" panose="020B0604020202020204" pitchFamily="34" charset="0"/>
              </a:rPr>
              <a:t>internal validity </a:t>
            </a:r>
            <a:r>
              <a:rPr lang="en-US" sz="2400" kern="1200" dirty="0">
                <a:solidFill>
                  <a:srgbClr val="000000"/>
                </a:solidFill>
                <a:latin typeface="Arial" panose="020B0604020202020204" pitchFamily="34" charset="0"/>
                <a:ea typeface="+mn-ea"/>
                <a:cs typeface="Arial" panose="020B0604020202020204" pitchFamily="34" charset="0"/>
              </a:rPr>
              <a:t>when evaluating credibility.</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Qualitative researchers use a variety of terms such as: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trustworthiness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confirmability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interpretative rigor</a:t>
            </a:r>
          </a:p>
        </p:txBody>
      </p:sp>
    </p:spTree>
    <p:extLst>
      <p:ext uri="{BB962C8B-B14F-4D97-AF65-F5344CB8AC3E}">
        <p14:creationId xmlns:p14="http://schemas.microsoft.com/office/powerpoint/2010/main" val="3893919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427"/>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Strategies to Enhance Confirmability </a:t>
            </a:r>
            <a:r>
              <a:rPr lang="en-US" sz="24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3568"/>
            <a:ext cx="8229600" cy="4801284"/>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Triangulation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Multiple sources of data are collected with the hope that they will all converge to support a particular assertion, hypothesis, theory, or conclusion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 controlled laboratory study</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Extensive time in the field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Unobtrusive measures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Gathering data about people’s behaviors when those people don’t know their actions are being recorded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Thick description</a:t>
            </a:r>
          </a:p>
        </p:txBody>
      </p:sp>
    </p:spTree>
    <p:extLst>
      <p:ext uri="{BB962C8B-B14F-4D97-AF65-F5344CB8AC3E}">
        <p14:creationId xmlns:p14="http://schemas.microsoft.com/office/powerpoint/2010/main" val="3474097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429"/>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Strategies to Enhance Confirmability </a:t>
            </a:r>
            <a:r>
              <a:rPr lang="en-US" sz="24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3570"/>
            <a:ext cx="8229600" cy="2714008"/>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Respondent validation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Confirming conclusions with participants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Analysis of contradictory data, such as discrepant perspectives or quantitative outliers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Follow-up studies specifically designed to eliminate alternative explanations for findings</a:t>
            </a:r>
          </a:p>
        </p:txBody>
      </p:sp>
    </p:spTree>
    <p:extLst>
      <p:ext uri="{BB962C8B-B14F-4D97-AF65-F5344CB8AC3E}">
        <p14:creationId xmlns:p14="http://schemas.microsoft.com/office/powerpoint/2010/main" val="2185869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5"/>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Enhancing the Generalizability of Your Findings</a:t>
            </a:r>
          </a:p>
        </p:txBody>
      </p:sp>
      <p:sp>
        <p:nvSpPr>
          <p:cNvPr id="3" name="Text Placeholder 2"/>
          <p:cNvSpPr>
            <a:spLocks noGrp="1"/>
          </p:cNvSpPr>
          <p:nvPr>
            <p:ph type="body" idx="1"/>
          </p:nvPr>
        </p:nvSpPr>
        <p:spPr>
          <a:xfrm>
            <a:off x="457200" y="2178260"/>
            <a:ext cx="8229600" cy="4191335"/>
          </a:xfrm>
        </p:spPr>
        <p:txBody>
          <a:bodyPr wrap="square" lIns="0" tIns="18000" rIns="0" bIns="18000">
            <a:spAutoFit/>
          </a:bodyPr>
          <a:lstStyle/>
          <a:p>
            <a:pPr marL="256032" lvl="0" indent="-256032">
              <a:spcBef>
                <a:spcPts val="600"/>
              </a:spcBef>
              <a:spcAft>
                <a:spcPct val="0"/>
              </a:spcAft>
              <a:buSzPts val="2400"/>
              <a:tabLst/>
            </a:pPr>
            <a:r>
              <a:rPr lang="en-US" sz="2400" b="1" kern="1200" dirty="0">
                <a:solidFill>
                  <a:srgbClr val="000000"/>
                </a:solidFill>
                <a:latin typeface="Arial" panose="020B0604020202020204" pitchFamily="34" charset="0"/>
                <a:ea typeface="+mn-ea"/>
                <a:cs typeface="Arial" panose="020B0604020202020204" pitchFamily="34" charset="0"/>
              </a:rPr>
              <a:t>Generalizability</a:t>
            </a:r>
            <a:r>
              <a:rPr lang="en-US" sz="2400" kern="1200" dirty="0">
                <a:solidFill>
                  <a:srgbClr val="000000"/>
                </a:solidFill>
                <a:latin typeface="Arial" panose="020B0604020202020204" pitchFamily="34" charset="0"/>
                <a:ea typeface="+mn-ea"/>
                <a:cs typeface="Arial" panose="020B0604020202020204" pitchFamily="34" charset="0"/>
              </a:rPr>
              <a:t> is the extent to which results obtained and conclusions drawn can be applied to other people, situations, or contexts</a:t>
            </a:r>
          </a:p>
          <a:p>
            <a:pPr marL="256032" lvl="0" indent="-256032">
              <a:spcBef>
                <a:spcPts val="600"/>
              </a:spcBef>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Quantitative researchers usually use the term</a:t>
            </a:r>
            <a:r>
              <a:rPr lang="en-US" sz="2400" b="1" kern="1200" dirty="0">
                <a:solidFill>
                  <a:srgbClr val="000000"/>
                </a:solidFill>
                <a:latin typeface="Arial" panose="020B0604020202020204" pitchFamily="34" charset="0"/>
                <a:ea typeface="+mn-ea"/>
                <a:cs typeface="Arial" panose="020B0604020202020204" pitchFamily="34" charset="0"/>
              </a:rPr>
              <a:t> external validity</a:t>
            </a:r>
          </a:p>
          <a:p>
            <a:pPr marL="256032" lvl="0" indent="-256032">
              <a:spcBef>
                <a:spcPts val="600"/>
              </a:spcBef>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Qualitative researchers use terms such as: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transferabilty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particularizability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replicability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confirmability</a:t>
            </a:r>
          </a:p>
        </p:txBody>
      </p:sp>
    </p:spTree>
    <p:extLst>
      <p:ext uri="{BB962C8B-B14F-4D97-AF65-F5344CB8AC3E}">
        <p14:creationId xmlns:p14="http://schemas.microsoft.com/office/powerpoint/2010/main" val="1156533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6"/>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Strategies for Enhancing Generalizability</a:t>
            </a:r>
          </a:p>
        </p:txBody>
      </p:sp>
      <p:sp>
        <p:nvSpPr>
          <p:cNvPr id="3" name="Text Placeholder 2"/>
          <p:cNvSpPr>
            <a:spLocks noGrp="1"/>
          </p:cNvSpPr>
          <p:nvPr>
            <p:ph type="body" idx="1"/>
          </p:nvPr>
        </p:nvSpPr>
        <p:spPr>
          <a:xfrm>
            <a:off x="457200" y="2010091"/>
            <a:ext cx="8229600" cy="1529068"/>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 naturalistic, real-world setting</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Obtaining a representative sample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Replication in a different context</a:t>
            </a:r>
          </a:p>
        </p:txBody>
      </p:sp>
    </p:spTree>
    <p:extLst>
      <p:ext uri="{BB962C8B-B14F-4D97-AF65-F5344CB8AC3E}">
        <p14:creationId xmlns:p14="http://schemas.microsoft.com/office/powerpoint/2010/main" val="687580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7"/>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Choosing Appropriate Assessment Strategies</a:t>
            </a:r>
          </a:p>
        </p:txBody>
      </p:sp>
      <p:sp>
        <p:nvSpPr>
          <p:cNvPr id="3" name="Text Placeholder 2"/>
          <p:cNvSpPr>
            <a:spLocks noGrp="1"/>
          </p:cNvSpPr>
          <p:nvPr>
            <p:ph type="body" idx="1"/>
          </p:nvPr>
        </p:nvSpPr>
        <p:spPr>
          <a:xfrm>
            <a:off x="457200" y="2178261"/>
            <a:ext cx="8229600" cy="289097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Many methodologies require one or more assessment strategies.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Researchers must in some way capture and evaluate the nature of important characteristics, behaviors, or other variables under investigation.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Assessment often involves measurement, in other words, it imposes a range of numbers on an entity being assessed.</a:t>
            </a:r>
          </a:p>
        </p:txBody>
      </p:sp>
    </p:spTree>
    <p:extLst>
      <p:ext uri="{BB962C8B-B14F-4D97-AF65-F5344CB8AC3E}">
        <p14:creationId xmlns:p14="http://schemas.microsoft.com/office/powerpoint/2010/main" val="871908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4"/>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Measurement </a:t>
            </a:r>
            <a:r>
              <a:rPr lang="en-US" sz="2800" kern="1200" dirty="0">
                <a:latin typeface="+mj-lt"/>
                <a:ea typeface="+mj-ea"/>
                <a:cs typeface="Times New Roman" panose="02020603050405020304" pitchFamily="18" charset="0"/>
              </a:rPr>
              <a:t>(1 of 3)</a:t>
            </a:r>
          </a:p>
        </p:txBody>
      </p:sp>
      <p:sp>
        <p:nvSpPr>
          <p:cNvPr id="3" name="Text Placeholder 2"/>
          <p:cNvSpPr>
            <a:spLocks noGrp="1"/>
          </p:cNvSpPr>
          <p:nvPr>
            <p:ph type="body" idx="1"/>
          </p:nvPr>
        </p:nvSpPr>
        <p:spPr>
          <a:xfrm>
            <a:off x="457200" y="1463570"/>
            <a:ext cx="8229600" cy="151367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Limiting the data of any phenomenon—substantial or intangible— so that those data may be interpreted and, ultimately, compared to a particular qualitative or quantitative standard</a:t>
            </a:r>
          </a:p>
        </p:txBody>
      </p:sp>
    </p:spTree>
    <p:extLst>
      <p:ext uri="{BB962C8B-B14F-4D97-AF65-F5344CB8AC3E}">
        <p14:creationId xmlns:p14="http://schemas.microsoft.com/office/powerpoint/2010/main" val="1224655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0"/>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Measurement </a:t>
            </a:r>
            <a:r>
              <a:rPr lang="en-US" sz="2800" kern="1200" dirty="0">
                <a:latin typeface="+mj-lt"/>
                <a:ea typeface="+mj-ea"/>
                <a:cs typeface="Times New Roman" panose="02020603050405020304" pitchFamily="18" charset="0"/>
              </a:rPr>
              <a:t>(2 of 3)</a:t>
            </a:r>
          </a:p>
        </p:txBody>
      </p:sp>
      <p:sp>
        <p:nvSpPr>
          <p:cNvPr id="3" name="Text Placeholder 2"/>
          <p:cNvSpPr>
            <a:spLocks noGrp="1"/>
          </p:cNvSpPr>
          <p:nvPr>
            <p:ph type="body" idx="1"/>
          </p:nvPr>
        </p:nvSpPr>
        <p:spPr>
          <a:xfrm>
            <a:off x="431800" y="1278036"/>
            <a:ext cx="8229600" cy="277556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Limiting the data </a:t>
            </a:r>
            <a:r>
              <a:rPr lang="en-US" sz="2400" b="1" kern="1200" dirty="0">
                <a:solidFill>
                  <a:srgbClr val="000000"/>
                </a:solidFill>
                <a:latin typeface="Arial" panose="020B0604020202020204" pitchFamily="34" charset="0"/>
                <a:ea typeface="+mn-ea"/>
                <a:cs typeface="Arial" panose="020B0604020202020204" pitchFamily="34" charset="0"/>
              </a:rPr>
              <a:t>of any phenomenon—substantial or </a:t>
            </a:r>
            <a:r>
              <a:rPr lang="en-US" sz="2400" kern="1200" dirty="0">
                <a:solidFill>
                  <a:srgbClr val="000000"/>
                </a:solidFill>
                <a:latin typeface="Arial" panose="020B0604020202020204" pitchFamily="34" charset="0"/>
                <a:ea typeface="+mn-ea"/>
                <a:cs typeface="Arial" panose="020B0604020202020204" pitchFamily="34" charset="0"/>
              </a:rPr>
              <a:t>intangible—so that those data may be interpreted and ultimately, compared to a particular qualitative or quantitative standard</a:t>
            </a:r>
          </a:p>
          <a:p>
            <a:pPr marL="741553" lvl="1" indent="-284353">
              <a:spcAft>
                <a:spcPct val="0"/>
              </a:spcAft>
              <a:buSzPts val="2400"/>
            </a:pPr>
            <a:r>
              <a:rPr lang="en-US" sz="2400" b="1" kern="1200" dirty="0">
                <a:solidFill>
                  <a:srgbClr val="000000"/>
                </a:solidFill>
                <a:latin typeface="Arial" panose="020B0604020202020204" pitchFamily="34" charset="0"/>
                <a:ea typeface="+mn-ea"/>
                <a:cs typeface="Arial" panose="020B0604020202020204" pitchFamily="34" charset="0"/>
              </a:rPr>
              <a:t>Substantial = have physical substance.</a:t>
            </a:r>
          </a:p>
          <a:p>
            <a:pPr marL="741553" lvl="1" indent="-284353">
              <a:spcAft>
                <a:spcPct val="0"/>
              </a:spcAft>
              <a:buSzPts val="2400"/>
            </a:pPr>
            <a:r>
              <a:rPr lang="en-US" sz="2400" b="1" kern="1200" dirty="0">
                <a:solidFill>
                  <a:srgbClr val="000000"/>
                </a:solidFill>
                <a:latin typeface="Arial" panose="020B0604020202020204" pitchFamily="34" charset="0"/>
                <a:ea typeface="+mn-ea"/>
                <a:cs typeface="Arial" panose="020B0604020202020204" pitchFamily="34" charset="0"/>
              </a:rPr>
              <a:t>Intangible = exist only as concepts, ideas, opinions, feelings, or other intangible entities.</a:t>
            </a:r>
          </a:p>
        </p:txBody>
      </p:sp>
    </p:spTree>
    <p:extLst>
      <p:ext uri="{BB962C8B-B14F-4D97-AF65-F5344CB8AC3E}">
        <p14:creationId xmlns:p14="http://schemas.microsoft.com/office/powerpoint/2010/main" val="2051996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Measurement </a:t>
            </a:r>
            <a:r>
              <a:rPr lang="en-US" sz="2800" kern="1200" dirty="0">
                <a:latin typeface="+mj-lt"/>
                <a:ea typeface="+mj-ea"/>
                <a:cs typeface="Times New Roman" panose="02020603050405020304" pitchFamily="18" charset="0"/>
              </a:rPr>
              <a:t>(3 of 3)</a:t>
            </a:r>
          </a:p>
        </p:txBody>
      </p:sp>
      <p:sp>
        <p:nvSpPr>
          <p:cNvPr id="3" name="Text Placeholder 2"/>
          <p:cNvSpPr>
            <a:spLocks noGrp="1"/>
          </p:cNvSpPr>
          <p:nvPr>
            <p:ph type="body" idx="1"/>
          </p:nvPr>
        </p:nvSpPr>
        <p:spPr>
          <a:xfrm>
            <a:off x="431800" y="1278039"/>
            <a:ext cx="8229600" cy="2329287"/>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Limiting the data of any phenomenon—substantial or intangible—so that those data may be interpreted and, ultimately, </a:t>
            </a:r>
            <a:r>
              <a:rPr lang="en-US" sz="2400" b="1" kern="1200" dirty="0">
                <a:solidFill>
                  <a:srgbClr val="000000"/>
                </a:solidFill>
                <a:latin typeface="Arial" panose="020B0604020202020204" pitchFamily="34" charset="0"/>
                <a:ea typeface="+mn-ea"/>
                <a:cs typeface="Arial" panose="020B0604020202020204" pitchFamily="34" charset="0"/>
              </a:rPr>
              <a:t>compared to a particular qualitative or quantitative standard</a:t>
            </a:r>
          </a:p>
          <a:p>
            <a:pPr marL="741553" lvl="1" indent="-284353">
              <a:spcAft>
                <a:spcPct val="0"/>
              </a:spcAft>
              <a:buSzPts val="2400"/>
            </a:pPr>
            <a:r>
              <a:rPr lang="en-US" sz="2400" b="1" kern="1200" dirty="0">
                <a:solidFill>
                  <a:srgbClr val="000000"/>
                </a:solidFill>
                <a:latin typeface="Arial" panose="020B0604020202020204" pitchFamily="34" charset="0"/>
                <a:ea typeface="+mn-ea"/>
                <a:cs typeface="Arial" panose="020B0604020202020204" pitchFamily="34" charset="0"/>
              </a:rPr>
              <a:t>transformed into new discoveries, revelations, and enlightenments.</a:t>
            </a:r>
          </a:p>
        </p:txBody>
      </p:sp>
    </p:spTree>
    <p:extLst>
      <p:ext uri="{BB962C8B-B14F-4D97-AF65-F5344CB8AC3E}">
        <p14:creationId xmlns:p14="http://schemas.microsoft.com/office/powerpoint/2010/main" val="1877836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8"/>
            <a:ext cx="8229600" cy="1144347"/>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Assessing Intangible Phenomena: An Example</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2157238"/>
            <a:ext cx="8229600" cy="2829424"/>
          </a:xfrm>
        </p:spPr>
        <p:txBody>
          <a:bodyPr wrap="square" lIns="0" tIns="18000" rIns="0" bIns="18000">
            <a:spAutoFit/>
          </a:bodyPr>
          <a:lstStyle/>
          <a:p>
            <a:pPr marL="255651" lvl="0" indent="-255651">
              <a:buSzPts val="2400"/>
              <a:buNone/>
              <a:tabLst/>
            </a:pPr>
            <a:r>
              <a:rPr lang="en-US" sz="2400" kern="1200" dirty="0">
                <a:solidFill>
                  <a:srgbClr val="000000"/>
                </a:solidFill>
                <a:latin typeface="Arial" panose="020B0604020202020204" pitchFamily="34" charset="0"/>
                <a:ea typeface="+mn-ea"/>
                <a:cs typeface="Arial" panose="020B0604020202020204" pitchFamily="34" charset="0"/>
              </a:rPr>
              <a:t>Measuring interpersonal dynamics in a small group</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Ask each person: Who do you like most, who do you like least, and who evokes neutral feelings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Allow the researcher to identify patterns and draw conclusions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Create a </a:t>
            </a:r>
            <a:r>
              <a:rPr lang="en-US" sz="2400" b="1" kern="1200" dirty="0">
                <a:solidFill>
                  <a:srgbClr val="000000"/>
                </a:solidFill>
                <a:latin typeface="Arial" panose="020B0604020202020204" pitchFamily="34" charset="0"/>
                <a:ea typeface="+mn-ea"/>
                <a:cs typeface="Arial" panose="020B0604020202020204" pitchFamily="34" charset="0"/>
              </a:rPr>
              <a:t>sociogram</a:t>
            </a:r>
            <a:r>
              <a:rPr lang="en-US" sz="2400" kern="1200" dirty="0">
                <a:solidFill>
                  <a:srgbClr val="000000"/>
                </a:solidFill>
                <a:latin typeface="Arial" panose="020B0604020202020204" pitchFamily="34" charset="0"/>
                <a:ea typeface="+mn-ea"/>
                <a:cs typeface="Arial" panose="020B0604020202020204" pitchFamily="34" charset="0"/>
              </a:rPr>
              <a:t>, or a chart of interpersonal reactions</a:t>
            </a:r>
          </a:p>
        </p:txBody>
      </p:sp>
    </p:spTree>
    <p:extLst>
      <p:ext uri="{BB962C8B-B14F-4D97-AF65-F5344CB8AC3E}">
        <p14:creationId xmlns:p14="http://schemas.microsoft.com/office/powerpoint/2010/main" val="4113070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8"/>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Scales of Measurement</a:t>
            </a:r>
          </a:p>
        </p:txBody>
      </p:sp>
      <p:sp>
        <p:nvSpPr>
          <p:cNvPr id="3" name="Text Placeholder 2"/>
          <p:cNvSpPr>
            <a:spLocks noGrp="1"/>
          </p:cNvSpPr>
          <p:nvPr>
            <p:ph type="body" idx="1"/>
          </p:nvPr>
        </p:nvSpPr>
        <p:spPr>
          <a:xfrm>
            <a:off x="457200" y="1463569"/>
            <a:ext cx="8229600" cy="1336708"/>
          </a:xfrm>
        </p:spPr>
        <p:txBody>
          <a:bodyPr wrap="square" lIns="0" tIns="18000" rIns="0" bIns="18000">
            <a:spAutoFit/>
          </a:bodyPr>
          <a:lstStyle/>
          <a:p>
            <a:pPr marL="256032" lvl="0" indent="-256032">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A scale specifies the categories of measurement</a:t>
            </a:r>
          </a:p>
          <a:p>
            <a:pPr marL="256032" lvl="0" indent="-256032">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Scales ultimately dictate the statistical procedures (if any) that can be used in processing numerical data</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42592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Nominal Scale</a:t>
            </a:r>
          </a:p>
        </p:txBody>
      </p:sp>
      <p:sp>
        <p:nvSpPr>
          <p:cNvPr id="3" name="Text Placeholder 2"/>
          <p:cNvSpPr>
            <a:spLocks noGrp="1"/>
          </p:cNvSpPr>
          <p:nvPr>
            <p:ph type="body" idx="1"/>
          </p:nvPr>
        </p:nvSpPr>
        <p:spPr>
          <a:xfrm>
            <a:off x="457200" y="1463570"/>
            <a:ext cx="8229600" cy="3568088"/>
          </a:xfrm>
        </p:spPr>
        <p:txBody>
          <a:bodyPr wrap="square" lIns="0" tIns="18000" rIns="0" bIns="18000">
            <a:spAutoFit/>
          </a:bodyPr>
          <a:lstStyle/>
          <a:p>
            <a:pPr marL="256032" lvl="0" indent="-256032">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Measures data by assigning names or dividing into discrete categories</a:t>
            </a:r>
          </a:p>
          <a:p>
            <a:pPr marL="743382" lvl="1">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Boys, girls</a:t>
            </a:r>
          </a:p>
          <a:p>
            <a:pPr marL="743382" lvl="1">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North of Main Street, South of Main Street</a:t>
            </a:r>
          </a:p>
          <a:p>
            <a:pPr marL="256032" lvl="0" indent="-256032">
              <a:spcAft>
                <a:spcPct val="0"/>
              </a:spcAft>
              <a:buSzPts val="2400"/>
              <a:tabLst/>
            </a:pPr>
            <a:r>
              <a:rPr lang="en-US" altLang="en-US" sz="2400" kern="1200" dirty="0">
                <a:solidFill>
                  <a:srgbClr val="000000"/>
                </a:solidFill>
                <a:latin typeface="Arial" panose="020B0604020202020204" pitchFamily="34" charset="0"/>
                <a:ea typeface="+mn-ea"/>
                <a:cs typeface="Arial" panose="020B0604020202020204" pitchFamily="34" charset="0"/>
              </a:rPr>
              <a:t>Statistical procedures</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Mode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Percentage</a:t>
            </a:r>
          </a:p>
          <a:p>
            <a:pPr marL="741553" lvl="1" indent="-284353">
              <a:spcAft>
                <a:spcPct val="0"/>
              </a:spcAft>
              <a:buSzPts val="2400"/>
            </a:pPr>
            <a:r>
              <a:rPr lang="en-US" altLang="en-US" sz="2400" kern="1200" dirty="0">
                <a:solidFill>
                  <a:srgbClr val="000000"/>
                </a:solidFill>
                <a:latin typeface="Arial" panose="020B0604020202020204" pitchFamily="34" charset="0"/>
                <a:ea typeface="+mn-ea"/>
                <a:cs typeface="Arial" panose="020B0604020202020204" pitchFamily="34" charset="0"/>
              </a:rPr>
              <a:t>Chi-square test</a:t>
            </a:r>
            <a:endParaRPr lang="en-US" sz="2400" kern="1200" dirty="0">
              <a:solidFill>
                <a:srgbClr val="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31037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Ordinal Scale</a:t>
            </a:r>
          </a:p>
        </p:txBody>
      </p:sp>
      <p:sp>
        <p:nvSpPr>
          <p:cNvPr id="3" name="Text Placeholder 2"/>
          <p:cNvSpPr>
            <a:spLocks noGrp="1"/>
          </p:cNvSpPr>
          <p:nvPr>
            <p:ph type="body" idx="1"/>
          </p:nvPr>
        </p:nvSpPr>
        <p:spPr>
          <a:xfrm>
            <a:off x="457200" y="1463570"/>
            <a:ext cx="8229600" cy="3021784"/>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Rank-order data as more/higher or less/lower</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Think in terms of greater or less than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Elementary, high school, college, or graduate education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Unskilled, semiskilled, or skilled labor</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Statistical procedures = median, percentile rank, Spearman’s rank-order correlation</a:t>
            </a:r>
          </a:p>
        </p:txBody>
      </p:sp>
    </p:spTree>
    <p:extLst>
      <p:ext uri="{BB962C8B-B14F-4D97-AF65-F5344CB8AC3E}">
        <p14:creationId xmlns:p14="http://schemas.microsoft.com/office/powerpoint/2010/main" val="3118052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Interval Scale</a:t>
            </a:r>
          </a:p>
        </p:txBody>
      </p:sp>
      <p:sp>
        <p:nvSpPr>
          <p:cNvPr id="3" name="Text Placeholder 2"/>
          <p:cNvSpPr>
            <a:spLocks noGrp="1"/>
          </p:cNvSpPr>
          <p:nvPr>
            <p:ph type="body" idx="1"/>
          </p:nvPr>
        </p:nvSpPr>
        <p:spPr>
          <a:xfrm>
            <a:off x="457200" y="1463568"/>
            <a:ext cx="8229600" cy="3391116"/>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Equal units of measurement</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Zero point established arbitrarily</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Fahrenheit (F) and Celsius (C) scales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Rating scales, such as surveys, assumed to fall on interval scales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Statistical procedures = means, standard deviations, Pearson product moment correlations</a:t>
            </a:r>
          </a:p>
        </p:txBody>
      </p:sp>
    </p:spTree>
    <p:extLst>
      <p:ext uri="{BB962C8B-B14F-4D97-AF65-F5344CB8AC3E}">
        <p14:creationId xmlns:p14="http://schemas.microsoft.com/office/powerpoint/2010/main" val="722263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6"/>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Ratio Scale</a:t>
            </a:r>
          </a:p>
        </p:txBody>
      </p:sp>
      <p:sp>
        <p:nvSpPr>
          <p:cNvPr id="3" name="Text Placeholder 2"/>
          <p:cNvSpPr>
            <a:spLocks noGrp="1"/>
          </p:cNvSpPr>
          <p:nvPr>
            <p:ph type="body" idx="1"/>
          </p:nvPr>
        </p:nvSpPr>
        <p:spPr>
          <a:xfrm>
            <a:off x="457200" y="1463568"/>
            <a:ext cx="8229600" cy="2829424"/>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Equal measurement units (similar to interval scale)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Absolute zero point (0 = total absence of the quality being measured)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Distance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Ratio = can express values in terms of multiples and fractional parts</a:t>
            </a:r>
          </a:p>
        </p:txBody>
      </p:sp>
    </p:spTree>
    <p:extLst>
      <p:ext uri="{BB962C8B-B14F-4D97-AF65-F5344CB8AC3E}">
        <p14:creationId xmlns:p14="http://schemas.microsoft.com/office/powerpoint/2010/main" val="16210373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Summary &amp; Comparison</a:t>
            </a:r>
          </a:p>
        </p:txBody>
      </p:sp>
      <p:sp>
        <p:nvSpPr>
          <p:cNvPr id="3" name="Text Placeholder 2"/>
          <p:cNvSpPr>
            <a:spLocks noGrp="1"/>
          </p:cNvSpPr>
          <p:nvPr>
            <p:ph type="body" idx="1"/>
          </p:nvPr>
        </p:nvSpPr>
        <p:spPr>
          <a:xfrm>
            <a:off x="457200" y="1463569"/>
            <a:ext cx="8229600" cy="3198756"/>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Nominal scale: One object is different from another</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Ordinal scale: One object is bigger or better or more of anything than another</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Interval scale: One object is so many units (e.g., degrees, inches) more than another</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Ratio scale: One object is so many times as big or bright or tall or heavy as another</a:t>
            </a:r>
          </a:p>
        </p:txBody>
      </p:sp>
    </p:spTree>
    <p:extLst>
      <p:ext uri="{BB962C8B-B14F-4D97-AF65-F5344CB8AC3E}">
        <p14:creationId xmlns:p14="http://schemas.microsoft.com/office/powerpoint/2010/main" val="2863069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5"/>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Validity &amp; Reliability of Measurement</a:t>
            </a:r>
          </a:p>
        </p:txBody>
      </p:sp>
      <p:sp>
        <p:nvSpPr>
          <p:cNvPr id="3" name="Text Placeholder 2"/>
          <p:cNvSpPr>
            <a:spLocks noGrp="1"/>
          </p:cNvSpPr>
          <p:nvPr>
            <p:ph type="body" idx="1"/>
          </p:nvPr>
        </p:nvSpPr>
        <p:spPr>
          <a:xfrm>
            <a:off x="457200" y="1463570"/>
            <a:ext cx="8229600" cy="296792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Validity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a measurement instrument measures what it is intended to measure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Reliability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consistency with which a measurement instrument yields a certain result when the entity being measured hasn’t changed</a:t>
            </a:r>
          </a:p>
        </p:txBody>
      </p:sp>
    </p:spTree>
    <p:extLst>
      <p:ext uri="{BB962C8B-B14F-4D97-AF65-F5344CB8AC3E}">
        <p14:creationId xmlns:p14="http://schemas.microsoft.com/office/powerpoint/2010/main" val="1982968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428"/>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Validity of Measurement Instruments </a:t>
            </a:r>
            <a:r>
              <a:rPr lang="en-US" sz="24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3570"/>
            <a:ext cx="8229600" cy="341419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Face Validity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Is extent to which an instrument looks like it measures a characteristic</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Relies on subjective judgment</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Content Validity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Is extent to which a measurement instrument is a representative sample of the content area being measured</a:t>
            </a:r>
          </a:p>
        </p:txBody>
      </p:sp>
    </p:spTree>
    <p:extLst>
      <p:ext uri="{BB962C8B-B14F-4D97-AF65-F5344CB8AC3E}">
        <p14:creationId xmlns:p14="http://schemas.microsoft.com/office/powerpoint/2010/main" val="4157334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2433"/>
            <a:ext cx="8229600" cy="528794"/>
          </a:xfrm>
        </p:spPr>
        <p:txBody>
          <a:bodyPr lIns="0" tIns="18000" rIns="0" bIns="18000">
            <a:spAutoFit/>
          </a:bodyPr>
          <a:lstStyle/>
          <a:p>
            <a:pPr lvl="0">
              <a:spcBef>
                <a:spcPct val="0"/>
              </a:spcBef>
              <a:buClrTx/>
            </a:pPr>
            <a:r>
              <a:rPr lang="en-US" sz="3200" kern="1200" dirty="0">
                <a:latin typeface="+mj-lt"/>
                <a:ea typeface="+mj-ea"/>
                <a:cs typeface="Times New Roman" panose="02020603050405020304" pitchFamily="18" charset="0"/>
              </a:rPr>
              <a:t>Validity of Measurement Instruments </a:t>
            </a:r>
            <a:r>
              <a:rPr lang="en-US" sz="24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3568"/>
            <a:ext cx="8229600" cy="296792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Criterion Validity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the results of an assessment correlate with another, related measure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Construct Validity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an instrument measures a characteristic that cannot be directly observed but is assumed to exist (such as intelligence)</a:t>
            </a:r>
          </a:p>
        </p:txBody>
      </p:sp>
    </p:spTree>
    <p:extLst>
      <p:ext uri="{BB962C8B-B14F-4D97-AF65-F5344CB8AC3E}">
        <p14:creationId xmlns:p14="http://schemas.microsoft.com/office/powerpoint/2010/main" val="4088593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Determining Validity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463568"/>
            <a:ext cx="8229600" cy="4785895"/>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Table of specifications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researcher constructs a two-dimensional grid listing the specific topics and behaviors that reflect achievement in the domain.</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Multitrait-multimethod approach</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Two or more different characteristics are each measured using two or more different approaches. The two measures of the same characteristic should be highly related.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Strive for consistency with a particular conceptual framework</a:t>
            </a:r>
          </a:p>
        </p:txBody>
      </p:sp>
    </p:spTree>
    <p:extLst>
      <p:ext uri="{BB962C8B-B14F-4D97-AF65-F5344CB8AC3E}">
        <p14:creationId xmlns:p14="http://schemas.microsoft.com/office/powerpoint/2010/main" val="2539727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9"/>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Determining Validity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463570"/>
            <a:ext cx="8229600" cy="2521647"/>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Conduct one or more pilot tests of your assessment strategy</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Judgment by a panel of experts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Several experts in a particular area are asked to scrutinize an instrument to ascertain its validity for measuring the characteristic in question</a:t>
            </a:r>
          </a:p>
        </p:txBody>
      </p:sp>
    </p:spTree>
    <p:extLst>
      <p:ext uri="{BB962C8B-B14F-4D97-AF65-F5344CB8AC3E}">
        <p14:creationId xmlns:p14="http://schemas.microsoft.com/office/powerpoint/2010/main" val="15391860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Reliability</a:t>
            </a:r>
          </a:p>
        </p:txBody>
      </p:sp>
      <p:sp>
        <p:nvSpPr>
          <p:cNvPr id="3" name="Text Placeholder 2"/>
          <p:cNvSpPr>
            <a:spLocks noGrp="1"/>
          </p:cNvSpPr>
          <p:nvPr>
            <p:ph type="body" idx="1"/>
          </p:nvPr>
        </p:nvSpPr>
        <p:spPr>
          <a:xfrm>
            <a:off x="457200" y="1463569"/>
            <a:ext cx="8229600" cy="2814035"/>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Reliability is the consistency with which a measuring instrument yields a certain result when the entity being measured hasn’t changed.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Instruments designed to measure social and psychological characteristics (insubstantial phenomena) tend to be even less reliable than those designed to measure physical (substantial) phenomena.</a:t>
            </a:r>
          </a:p>
        </p:txBody>
      </p:sp>
    </p:spTree>
    <p:extLst>
      <p:ext uri="{BB962C8B-B14F-4D97-AF65-F5344CB8AC3E}">
        <p14:creationId xmlns:p14="http://schemas.microsoft.com/office/powerpoint/2010/main" val="3644005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5"/>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Determining the Reliability of a Measurement Instrument </a:t>
            </a:r>
            <a:r>
              <a:rPr lang="en-US" sz="2800" kern="1200" dirty="0">
                <a:latin typeface="+mj-lt"/>
                <a:ea typeface="+mj-ea"/>
                <a:cs typeface="Times New Roman" panose="02020603050405020304" pitchFamily="18" charset="0"/>
              </a:rPr>
              <a:t>(1 of 2)</a:t>
            </a:r>
          </a:p>
        </p:txBody>
      </p:sp>
      <p:sp>
        <p:nvSpPr>
          <p:cNvPr id="3" name="Text Placeholder 2"/>
          <p:cNvSpPr>
            <a:spLocks noGrp="1"/>
          </p:cNvSpPr>
          <p:nvPr>
            <p:ph type="body" idx="1"/>
          </p:nvPr>
        </p:nvSpPr>
        <p:spPr>
          <a:xfrm>
            <a:off x="457200" y="1989078"/>
            <a:ext cx="8229600" cy="296792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Interrater reliability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two or more individuals evaluating the same product or performance give identical judgments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Test-retest reliability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a single instrument yields the same results for the same people on two different occasions</a:t>
            </a:r>
          </a:p>
        </p:txBody>
      </p:sp>
    </p:spTree>
    <p:extLst>
      <p:ext uri="{BB962C8B-B14F-4D97-AF65-F5344CB8AC3E}">
        <p14:creationId xmlns:p14="http://schemas.microsoft.com/office/powerpoint/2010/main" val="39988177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425"/>
            <a:ext cx="8229600" cy="1144347"/>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Determining the Reliability of a Measurement Instrument </a:t>
            </a:r>
            <a:r>
              <a:rPr lang="en-US" sz="2800" kern="1200" dirty="0">
                <a:latin typeface="+mj-lt"/>
                <a:ea typeface="+mj-ea"/>
                <a:cs typeface="Times New Roman" panose="02020603050405020304" pitchFamily="18" charset="0"/>
              </a:rPr>
              <a:t>(2 of 2)</a:t>
            </a:r>
          </a:p>
        </p:txBody>
      </p:sp>
      <p:sp>
        <p:nvSpPr>
          <p:cNvPr id="3" name="Text Placeholder 2"/>
          <p:cNvSpPr>
            <a:spLocks noGrp="1"/>
          </p:cNvSpPr>
          <p:nvPr>
            <p:ph type="body" idx="1"/>
          </p:nvPr>
        </p:nvSpPr>
        <p:spPr>
          <a:xfrm>
            <a:off x="457200" y="1968054"/>
            <a:ext cx="8229600" cy="2598591"/>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Equivalent forms reliability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two different versions of the same instrument yield similar results</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Internal consistency reliability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The extent to which all of the items within a single instrument yield similar results</a:t>
            </a:r>
          </a:p>
        </p:txBody>
      </p:sp>
    </p:spTree>
    <p:extLst>
      <p:ext uri="{BB962C8B-B14F-4D97-AF65-F5344CB8AC3E}">
        <p14:creationId xmlns:p14="http://schemas.microsoft.com/office/powerpoint/2010/main" val="3642333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7"/>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Enhancing Reliability</a:t>
            </a:r>
          </a:p>
        </p:txBody>
      </p:sp>
      <p:sp>
        <p:nvSpPr>
          <p:cNvPr id="3" name="Text Placeholder 2"/>
          <p:cNvSpPr>
            <a:spLocks noGrp="1"/>
          </p:cNvSpPr>
          <p:nvPr>
            <p:ph type="body" idx="1"/>
          </p:nvPr>
        </p:nvSpPr>
        <p:spPr>
          <a:xfrm>
            <a:off x="457200" y="1463570"/>
            <a:ext cx="8229600" cy="433961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Identify specific, concrete criteria to be used in categorizing or rating a characteristic, behavior, or other variable.</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When an assessment involves a structured paper-and-pencil or performance-based instrument, use the instrument in a consistent manner for all participants or other entities under investigation.</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Quantitative researchers call this strategy </a:t>
            </a:r>
            <a:r>
              <a:rPr lang="en-US" sz="2400" b="1" kern="1200" dirty="0">
                <a:solidFill>
                  <a:srgbClr val="000000"/>
                </a:solidFill>
                <a:latin typeface="Arial" panose="020B0604020202020204" pitchFamily="34" charset="0"/>
                <a:ea typeface="+mn-ea"/>
                <a:cs typeface="Arial" panose="020B0604020202020204" pitchFamily="34" charset="0"/>
              </a:rPr>
              <a:t>standardization</a:t>
            </a:r>
            <a:r>
              <a:rPr lang="en-US" sz="2400" kern="1200" dirty="0">
                <a:solidFill>
                  <a:srgbClr val="000000"/>
                </a:solidFill>
                <a:latin typeface="Arial" panose="020B0604020202020204" pitchFamily="34" charset="0"/>
                <a:ea typeface="+mn-ea"/>
                <a:cs typeface="Arial" panose="020B0604020202020204" pitchFamily="34" charset="0"/>
              </a:rPr>
              <a:t>.</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Explicitly train raters to apply criteria in a similar manner.</a:t>
            </a:r>
          </a:p>
        </p:txBody>
      </p:sp>
    </p:spTree>
    <p:extLst>
      <p:ext uri="{BB962C8B-B14F-4D97-AF65-F5344CB8AC3E}">
        <p14:creationId xmlns:p14="http://schemas.microsoft.com/office/powerpoint/2010/main" val="1505981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Ethical Issues </a:t>
            </a:r>
            <a:r>
              <a:rPr lang="en-US" sz="2800" kern="1200" dirty="0">
                <a:latin typeface="+mj-lt"/>
                <a:ea typeface="+mj-ea"/>
                <a:cs typeface="Times New Roman" panose="02020603050405020304" pitchFamily="18" charset="0"/>
              </a:rPr>
              <a:t>(1 of 6)</a:t>
            </a:r>
          </a:p>
        </p:txBody>
      </p:sp>
      <p:sp>
        <p:nvSpPr>
          <p:cNvPr id="3" name="Text Placeholder 2"/>
          <p:cNvSpPr>
            <a:spLocks noGrp="1"/>
          </p:cNvSpPr>
          <p:nvPr>
            <p:ph type="body" idx="1"/>
          </p:nvPr>
        </p:nvSpPr>
        <p:spPr>
          <a:xfrm>
            <a:off x="457200" y="1463570"/>
            <a:ext cx="8229600" cy="1298235"/>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Participants must be protected from harm</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Benefits to participants must outweigh risks</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Participants should be debriefed</a:t>
            </a:r>
          </a:p>
        </p:txBody>
      </p:sp>
    </p:spTree>
    <p:extLst>
      <p:ext uri="{BB962C8B-B14F-4D97-AF65-F5344CB8AC3E}">
        <p14:creationId xmlns:p14="http://schemas.microsoft.com/office/powerpoint/2010/main" val="626296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Ethical Issues </a:t>
            </a:r>
            <a:r>
              <a:rPr lang="en-US" sz="2800" kern="1200" dirty="0">
                <a:latin typeface="+mj-lt"/>
                <a:ea typeface="+mj-ea"/>
                <a:cs typeface="Times New Roman" panose="02020603050405020304" pitchFamily="18" charset="0"/>
              </a:rPr>
              <a:t>(2 of 6)</a:t>
            </a:r>
          </a:p>
        </p:txBody>
      </p:sp>
      <p:sp>
        <p:nvSpPr>
          <p:cNvPr id="3" name="Text Placeholder 2"/>
          <p:cNvSpPr>
            <a:spLocks noGrp="1"/>
          </p:cNvSpPr>
          <p:nvPr>
            <p:ph type="body" idx="1"/>
          </p:nvPr>
        </p:nvSpPr>
        <p:spPr>
          <a:xfrm>
            <a:off x="457200" y="1463570"/>
            <a:ext cx="8229600" cy="211384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Participation must be voluntary and informed</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Individuals know what they are being asked to do</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Individuals can decline without penalty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Individuals know they can withdraw at any time without penalty</a:t>
            </a:r>
          </a:p>
        </p:txBody>
      </p:sp>
    </p:spTree>
    <p:extLst>
      <p:ext uri="{BB962C8B-B14F-4D97-AF65-F5344CB8AC3E}">
        <p14:creationId xmlns:p14="http://schemas.microsoft.com/office/powerpoint/2010/main" val="38514701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Ethical Issues </a:t>
            </a:r>
            <a:r>
              <a:rPr lang="en-US" sz="2800" kern="1200" dirty="0">
                <a:latin typeface="+mj-lt"/>
                <a:ea typeface="+mj-ea"/>
                <a:cs typeface="Times New Roman" panose="02020603050405020304" pitchFamily="18" charset="0"/>
              </a:rPr>
              <a:t>(3 of 6)</a:t>
            </a:r>
          </a:p>
        </p:txBody>
      </p:sp>
      <p:sp>
        <p:nvSpPr>
          <p:cNvPr id="3" name="Text Placeholder 2"/>
          <p:cNvSpPr>
            <a:spLocks noGrp="1"/>
          </p:cNvSpPr>
          <p:nvPr>
            <p:ph type="body" idx="1"/>
          </p:nvPr>
        </p:nvSpPr>
        <p:spPr>
          <a:xfrm>
            <a:off x="457200" y="1463570"/>
            <a:ext cx="8229600" cy="2113843"/>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Participants have a right to privacy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and information about participants are confidential</a:t>
            </a:r>
          </a:p>
          <a:p>
            <a:pPr marL="1144778" lvl="2" indent="-230378">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Identifiable data should not be shared (even in class) without written consent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Names should be coded to ensure anonymity</a:t>
            </a:r>
          </a:p>
        </p:txBody>
      </p:sp>
    </p:spTree>
    <p:extLst>
      <p:ext uri="{BB962C8B-B14F-4D97-AF65-F5344CB8AC3E}">
        <p14:creationId xmlns:p14="http://schemas.microsoft.com/office/powerpoint/2010/main" val="1080320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Ethical Issues </a:t>
            </a:r>
            <a:r>
              <a:rPr lang="en-US" sz="2800" kern="1200" dirty="0">
                <a:latin typeface="+mj-lt"/>
                <a:ea typeface="+mj-ea"/>
                <a:cs typeface="Times New Roman" panose="02020603050405020304" pitchFamily="18" charset="0"/>
              </a:rPr>
              <a:t>(4 of 6)</a:t>
            </a:r>
          </a:p>
        </p:txBody>
      </p:sp>
      <p:sp>
        <p:nvSpPr>
          <p:cNvPr id="3" name="Text Placeholder 2"/>
          <p:cNvSpPr>
            <a:spLocks noGrp="1"/>
          </p:cNvSpPr>
          <p:nvPr>
            <p:ph type="body" idx="1"/>
          </p:nvPr>
        </p:nvSpPr>
        <p:spPr>
          <a:xfrm>
            <a:off x="457200" y="1463570"/>
            <a:ext cx="8229600" cy="1744511"/>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Researchers must be honest</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Data should be trustworthy</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Reports should be complete and accurate</a:t>
            </a:r>
          </a:p>
          <a:p>
            <a:pPr marL="741553" lvl="1" indent="-284353">
              <a:spcAft>
                <a:spcPct val="0"/>
              </a:spcAft>
              <a:buSzPts val="2400"/>
            </a:pPr>
            <a:r>
              <a:rPr lang="en-US" sz="2400" kern="1200" dirty="0">
                <a:solidFill>
                  <a:srgbClr val="000000"/>
                </a:solidFill>
                <a:latin typeface="Arial" panose="020B0604020202020204" pitchFamily="34" charset="0"/>
                <a:ea typeface="+mn-ea"/>
                <a:cs typeface="Arial" panose="020B0604020202020204" pitchFamily="34" charset="0"/>
              </a:rPr>
              <a:t>Contributors should be credited</a:t>
            </a:r>
          </a:p>
        </p:txBody>
      </p:sp>
    </p:spTree>
    <p:extLst>
      <p:ext uri="{BB962C8B-B14F-4D97-AF65-F5344CB8AC3E}">
        <p14:creationId xmlns:p14="http://schemas.microsoft.com/office/powerpoint/2010/main" val="32646313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3"/>
            <a:ext cx="8229600" cy="590349"/>
          </a:xfrm>
        </p:spPr>
        <p:txBody>
          <a:bodyPr lIns="0" tIns="18000" rIns="0" bIns="18000">
            <a:spAutoFit/>
          </a:bodyPr>
          <a:lstStyle/>
          <a:p>
            <a:pPr lvl="0">
              <a:spcBef>
                <a:spcPct val="0"/>
              </a:spcBef>
              <a:buClrTx/>
            </a:pPr>
            <a:r>
              <a:rPr lang="en-US" sz="3600" kern="1200">
                <a:latin typeface="+mj-lt"/>
                <a:ea typeface="+mj-ea"/>
                <a:cs typeface="Times New Roman" panose="02020603050405020304" pitchFamily="18" charset="0"/>
              </a:rPr>
              <a:t>Ethical Issues </a:t>
            </a:r>
            <a:r>
              <a:rPr lang="en-US" sz="2800" kern="1200">
                <a:latin typeface="+mj-lt"/>
                <a:ea typeface="+mj-ea"/>
                <a:cs typeface="Times New Roman" panose="02020603050405020304" pitchFamily="18" charset="0"/>
              </a:rPr>
              <a:t>(5 of 6)</a:t>
            </a:r>
          </a:p>
        </p:txBody>
      </p:sp>
      <p:sp>
        <p:nvSpPr>
          <p:cNvPr id="3" name="Text Placeholder 2"/>
          <p:cNvSpPr>
            <a:spLocks noGrp="1"/>
          </p:cNvSpPr>
          <p:nvPr>
            <p:ph type="body" idx="1"/>
          </p:nvPr>
        </p:nvSpPr>
        <p:spPr>
          <a:xfrm>
            <a:off x="457200" y="1463570"/>
            <a:ext cx="8229600" cy="2483175"/>
          </a:xfrm>
        </p:spPr>
        <p:txBody>
          <a:bodyPr wrap="square" lIns="0" tIns="18000" rIns="0" bIns="18000">
            <a:spAutoFit/>
          </a:bodyPr>
          <a:lstStyle/>
          <a:p>
            <a:pPr marL="256032" lvl="0" indent="-256032">
              <a:spcAft>
                <a:spcPct val="0"/>
              </a:spcAft>
              <a:buSzPts val="2400"/>
              <a:tabLst/>
            </a:pPr>
            <a:r>
              <a:rPr lang="en-US" sz="2400" kern="1200">
                <a:solidFill>
                  <a:srgbClr val="000000"/>
                </a:solidFill>
                <a:latin typeface="Arial" panose="020B0604020202020204" pitchFamily="34" charset="0"/>
                <a:ea typeface="+mn-ea"/>
                <a:cs typeface="Arial" panose="020B0604020202020204" pitchFamily="34" charset="0"/>
              </a:rPr>
              <a:t>Research must be reviewed before data collection begins</a:t>
            </a:r>
          </a:p>
          <a:p>
            <a:pPr marL="741553" lvl="1" indent="-284353">
              <a:spcAft>
                <a:spcPct val="0"/>
              </a:spcAft>
              <a:buSzPts val="2400"/>
            </a:pPr>
            <a:r>
              <a:rPr lang="en-US" sz="2400" kern="1200">
                <a:solidFill>
                  <a:srgbClr val="000000"/>
                </a:solidFill>
                <a:latin typeface="Arial" panose="020B0604020202020204" pitchFamily="34" charset="0"/>
                <a:ea typeface="+mn-ea"/>
                <a:cs typeface="Arial" panose="020B0604020202020204" pitchFamily="34" charset="0"/>
              </a:rPr>
              <a:t>Institutions maintain an I</a:t>
            </a:r>
            <a:r>
              <a:rPr lang="en-US" sz="100" kern="1200">
                <a:solidFill>
                  <a:srgbClr val="000000"/>
                </a:solidFill>
                <a:latin typeface="Arial" panose="020B0604020202020204" pitchFamily="34" charset="0"/>
                <a:ea typeface="+mn-ea"/>
                <a:cs typeface="Arial" panose="020B0604020202020204" pitchFamily="34" charset="0"/>
              </a:rPr>
              <a:t> </a:t>
            </a:r>
            <a:r>
              <a:rPr lang="en-US" sz="2400" kern="1200">
                <a:solidFill>
                  <a:srgbClr val="000000"/>
                </a:solidFill>
                <a:latin typeface="Arial" panose="020B0604020202020204" pitchFamily="34" charset="0"/>
                <a:ea typeface="+mn-ea"/>
                <a:cs typeface="Arial" panose="020B0604020202020204" pitchFamily="34" charset="0"/>
              </a:rPr>
              <a:t>R</a:t>
            </a:r>
            <a:r>
              <a:rPr lang="en-US" sz="100" kern="1200">
                <a:solidFill>
                  <a:srgbClr val="000000"/>
                </a:solidFill>
                <a:latin typeface="Arial" panose="020B0604020202020204" pitchFamily="34" charset="0"/>
                <a:ea typeface="+mn-ea"/>
                <a:cs typeface="Arial" panose="020B0604020202020204" pitchFamily="34" charset="0"/>
              </a:rPr>
              <a:t> </a:t>
            </a:r>
            <a:r>
              <a:rPr lang="en-US" sz="2400" kern="1200">
                <a:solidFill>
                  <a:srgbClr val="000000"/>
                </a:solidFill>
                <a:latin typeface="Arial" panose="020B0604020202020204" pitchFamily="34" charset="0"/>
                <a:ea typeface="+mn-ea"/>
                <a:cs typeface="Arial" panose="020B0604020202020204" pitchFamily="34" charset="0"/>
              </a:rPr>
              <a:t>B (review board) and sometimes I</a:t>
            </a:r>
            <a:r>
              <a:rPr lang="en-US" sz="100" kern="1200">
                <a:solidFill>
                  <a:srgbClr val="000000"/>
                </a:solidFill>
                <a:latin typeface="Arial" panose="020B0604020202020204" pitchFamily="34" charset="0"/>
                <a:ea typeface="+mn-ea"/>
                <a:cs typeface="Arial" panose="020B0604020202020204" pitchFamily="34" charset="0"/>
              </a:rPr>
              <a:t> </a:t>
            </a:r>
            <a:r>
              <a:rPr lang="en-US" sz="2400" kern="1200">
                <a:solidFill>
                  <a:srgbClr val="000000"/>
                </a:solidFill>
                <a:latin typeface="Arial" panose="020B0604020202020204" pitchFamily="34" charset="0"/>
                <a:ea typeface="+mn-ea"/>
                <a:cs typeface="Arial" panose="020B0604020202020204" pitchFamily="34" charset="0"/>
              </a:rPr>
              <a:t>A</a:t>
            </a:r>
            <a:r>
              <a:rPr lang="en-US" sz="100" kern="1200">
                <a:solidFill>
                  <a:srgbClr val="000000"/>
                </a:solidFill>
                <a:latin typeface="Arial" panose="020B0604020202020204" pitchFamily="34" charset="0"/>
                <a:ea typeface="+mn-ea"/>
                <a:cs typeface="Arial" panose="020B0604020202020204" pitchFamily="34" charset="0"/>
              </a:rPr>
              <a:t> </a:t>
            </a:r>
            <a:r>
              <a:rPr lang="en-US" sz="2400" kern="1200">
                <a:solidFill>
                  <a:srgbClr val="000000"/>
                </a:solidFill>
                <a:latin typeface="Arial" panose="020B0604020202020204" pitchFamily="34" charset="0"/>
                <a:ea typeface="+mn-ea"/>
                <a:cs typeface="Arial" panose="020B0604020202020204" pitchFamily="34" charset="0"/>
              </a:rPr>
              <a:t>C</a:t>
            </a:r>
            <a:r>
              <a:rPr lang="en-US" sz="100" kern="1200">
                <a:solidFill>
                  <a:srgbClr val="000000"/>
                </a:solidFill>
                <a:latin typeface="Arial" panose="020B0604020202020204" pitchFamily="34" charset="0"/>
                <a:ea typeface="+mn-ea"/>
                <a:cs typeface="Arial" panose="020B0604020202020204" pitchFamily="34" charset="0"/>
              </a:rPr>
              <a:t> </a:t>
            </a:r>
            <a:r>
              <a:rPr lang="en-US" sz="2400" kern="1200">
                <a:solidFill>
                  <a:srgbClr val="000000"/>
                </a:solidFill>
                <a:latin typeface="Arial" panose="020B0604020202020204" pitchFamily="34" charset="0"/>
                <a:ea typeface="+mn-ea"/>
                <a:cs typeface="Arial" panose="020B0604020202020204" pitchFamily="34" charset="0"/>
              </a:rPr>
              <a:t>U</a:t>
            </a:r>
            <a:r>
              <a:rPr lang="en-US" sz="100" kern="1200">
                <a:solidFill>
                  <a:srgbClr val="000000"/>
                </a:solidFill>
                <a:latin typeface="Arial" panose="020B0604020202020204" pitchFamily="34" charset="0"/>
                <a:ea typeface="+mn-ea"/>
                <a:cs typeface="Arial" panose="020B0604020202020204" pitchFamily="34" charset="0"/>
              </a:rPr>
              <a:t> </a:t>
            </a:r>
            <a:r>
              <a:rPr lang="en-US" sz="2400" kern="1200">
                <a:solidFill>
                  <a:srgbClr val="000000"/>
                </a:solidFill>
                <a:latin typeface="Arial" panose="020B0604020202020204" pitchFamily="34" charset="0"/>
                <a:ea typeface="+mn-ea"/>
                <a:cs typeface="Arial" panose="020B0604020202020204" pitchFamily="34" charset="0"/>
              </a:rPr>
              <a:t>C</a:t>
            </a:r>
          </a:p>
          <a:p>
            <a:pPr marL="1144778" lvl="2" indent="-230378">
              <a:spcAft>
                <a:spcPct val="0"/>
              </a:spcAft>
              <a:buSzPts val="2400"/>
            </a:pPr>
            <a:r>
              <a:rPr lang="en-US" sz="2400" kern="1200">
                <a:solidFill>
                  <a:srgbClr val="000000"/>
                </a:solidFill>
                <a:latin typeface="Arial" panose="020B0604020202020204" pitchFamily="34" charset="0"/>
                <a:ea typeface="+mn-ea"/>
                <a:cs typeface="Arial" panose="020B0604020202020204" pitchFamily="34" charset="0"/>
              </a:rPr>
              <a:t>Scholars and researchers across disciplines</a:t>
            </a:r>
          </a:p>
          <a:p>
            <a:pPr marL="1144778" lvl="2" indent="-230378">
              <a:spcAft>
                <a:spcPct val="0"/>
              </a:spcAft>
              <a:buSzPts val="2400"/>
            </a:pPr>
            <a:r>
              <a:rPr lang="en-US" sz="2400" kern="1200">
                <a:solidFill>
                  <a:srgbClr val="000000"/>
                </a:solidFill>
                <a:latin typeface="Arial" panose="020B0604020202020204" pitchFamily="34" charset="0"/>
                <a:ea typeface="+mn-ea"/>
                <a:cs typeface="Arial" panose="020B0604020202020204" pitchFamily="34" charset="0"/>
              </a:rPr>
              <a:t>Review proposals to assess risks and ensure that participants’ rights are honored</a:t>
            </a:r>
          </a:p>
        </p:txBody>
      </p:sp>
    </p:spTree>
    <p:extLst>
      <p:ext uri="{BB962C8B-B14F-4D97-AF65-F5344CB8AC3E}">
        <p14:creationId xmlns:p14="http://schemas.microsoft.com/office/powerpoint/2010/main" val="1839181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4"/>
            <a:ext cx="8229600" cy="590349"/>
          </a:xfrm>
        </p:spPr>
        <p:txBody>
          <a:bodyPr lIns="0" tIns="18000" rIns="0" bIns="18000">
            <a:spAutoFit/>
          </a:bodyPr>
          <a:lstStyle/>
          <a:p>
            <a:pPr lvl="0">
              <a:spcBef>
                <a:spcPct val="0"/>
              </a:spcBef>
              <a:buClrTx/>
            </a:pPr>
            <a:r>
              <a:rPr lang="en-US" sz="3600" kern="1200" dirty="0">
                <a:latin typeface="+mj-lt"/>
                <a:ea typeface="+mj-ea"/>
                <a:cs typeface="Times New Roman" panose="02020603050405020304" pitchFamily="18" charset="0"/>
              </a:rPr>
              <a:t>Ethical Issues </a:t>
            </a:r>
            <a:r>
              <a:rPr lang="en-US" sz="2800" kern="1200" dirty="0">
                <a:latin typeface="+mj-lt"/>
                <a:ea typeface="+mj-ea"/>
                <a:cs typeface="Times New Roman" panose="02020603050405020304" pitchFamily="18" charset="0"/>
              </a:rPr>
              <a:t>(6 of 6)</a:t>
            </a:r>
          </a:p>
        </p:txBody>
      </p:sp>
      <p:sp>
        <p:nvSpPr>
          <p:cNvPr id="3" name="Text Placeholder 2"/>
          <p:cNvSpPr>
            <a:spLocks noGrp="1"/>
          </p:cNvSpPr>
          <p:nvPr>
            <p:ph type="body" idx="1"/>
          </p:nvPr>
        </p:nvSpPr>
        <p:spPr>
          <a:xfrm>
            <a:off x="457200" y="1463566"/>
            <a:ext cx="8229600" cy="1706039"/>
          </a:xfrm>
        </p:spPr>
        <p:txBody>
          <a:bodyPr wrap="square" lIns="0" tIns="18000" rIns="0" bIns="18000">
            <a:spAutoFit/>
          </a:bodyPr>
          <a:lstStyle/>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Researchers are expected to adhere to professional code of conduct within their field</a:t>
            </a:r>
          </a:p>
          <a:p>
            <a:pPr marL="256032" lvl="0" indent="-256032">
              <a:spcAft>
                <a:spcPct val="0"/>
              </a:spcAft>
              <a:buSzPts val="2400"/>
              <a:tabLst/>
            </a:pPr>
            <a:r>
              <a:rPr lang="en-US" sz="2400" kern="1200" dirty="0">
                <a:solidFill>
                  <a:srgbClr val="000000"/>
                </a:solidFill>
                <a:latin typeface="Arial" panose="020B0604020202020204" pitchFamily="34" charset="0"/>
                <a:ea typeface="+mn-ea"/>
                <a:cs typeface="Arial" panose="020B0604020202020204" pitchFamily="34" charset="0"/>
              </a:rPr>
              <a:t>Visit the homepage of your own professional organization to learn more</a:t>
            </a:r>
          </a:p>
        </p:txBody>
      </p:sp>
    </p:spTree>
    <p:extLst>
      <p:ext uri="{BB962C8B-B14F-4D97-AF65-F5344CB8AC3E}">
        <p14:creationId xmlns:p14="http://schemas.microsoft.com/office/powerpoint/2010/main" val="10086493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299500"/>
            <a:ext cx="8272252" cy="590349"/>
          </a:xfrm>
        </p:spPr>
        <p:txBody>
          <a:bodyPr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851EEF09-967F-4C3D-82D3-641DA9EECDF7}"/>
              </a:ext>
            </a:extLst>
          </p:cNvPr>
          <p:cNvPicPr>
            <a:picLocks noGrp="1" noChangeAspect="1"/>
          </p:cNvPicPr>
          <p:nvPr>
            <p:ph type="pic" sz="quarter" idx="11"/>
          </p:nvPr>
        </p:nvPicPr>
        <p:blipFill>
          <a:blip r:embed="rId2"/>
          <a:stretch>
            <a:fillRect/>
          </a:stretch>
        </p:blipFill>
        <p:spPr>
          <a:xfrm>
            <a:off x="591806" y="2719269"/>
            <a:ext cx="1276350" cy="1438275"/>
          </a:xfrm>
          <a:prstGeom prst="rect">
            <a:avLst/>
          </a:prstGeom>
        </p:spPr>
      </p:pic>
      <p:sp>
        <p:nvSpPr>
          <p:cNvPr id="6" name="Content Placeholder 2">
            <a:extLst>
              <a:ext uri="{FF2B5EF4-FFF2-40B4-BE49-F238E27FC236}">
                <a16:creationId xmlns:a16="http://schemas.microsoft.com/office/drawing/2014/main" id="{92FA79A0-7730-4CCE-A6C7-B3ACBD8327C3}"/>
              </a:ext>
            </a:extLst>
          </p:cNvPr>
          <p:cNvSpPr>
            <a:spLocks noGrp="1"/>
          </p:cNvSpPr>
          <p:nvPr>
            <p:ph sz="quarter" idx="10"/>
          </p:nvPr>
        </p:nvSpPr>
        <p:spPr>
          <a:xfrm>
            <a:off x="2139347" y="1815142"/>
            <a:ext cx="6573329"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5300010"/>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E1D55D7-C1B7-4C7F-AE5F-89E5F70A677B}"/>
</file>

<file path=customXml/itemProps2.xml><?xml version="1.0" encoding="utf-8"?>
<ds:datastoreItem xmlns:ds="http://schemas.openxmlformats.org/officeDocument/2006/customXml" ds:itemID="{8BCEFD43-3DE2-422D-9032-957D071C7A52}"/>
</file>

<file path=customXml/itemProps3.xml><?xml version="1.0" encoding="utf-8"?>
<ds:datastoreItem xmlns:ds="http://schemas.openxmlformats.org/officeDocument/2006/customXml" ds:itemID="{1260FE69-7206-472E-BB03-86FFC5CC4B6E}"/>
</file>

<file path=docProps/app.xml><?xml version="1.0" encoding="utf-8"?>
<Properties xmlns="http://schemas.openxmlformats.org/officeDocument/2006/extended-properties" xmlns:vt="http://schemas.openxmlformats.org/officeDocument/2006/docPropsVTypes">
  <TotalTime>8708</TotalTime>
  <Words>2481</Words>
  <Application>Microsoft Office PowerPoint</Application>
  <PresentationFormat>On-screen Show (4:3)</PresentationFormat>
  <Paragraphs>281</Paragraphs>
  <Slides>51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51</vt:i4>
      </vt:variant>
    </vt:vector>
  </HeadingPairs>
  <TitlesOfParts>
    <vt:vector size="58" baseType="lpstr">
      <vt:lpstr>Arial</vt:lpstr>
      <vt:lpstr>Arial (Headings)</vt:lpstr>
      <vt:lpstr>Noto Sans Symbols</vt:lpstr>
      <vt:lpstr>Times New Roman</vt:lpstr>
      <vt:lpstr>Verdana</vt:lpstr>
      <vt:lpstr>508 Lecture</vt:lpstr>
      <vt:lpstr>1_508 Lecture</vt:lpstr>
      <vt:lpstr>Practical Research: Planning and Design</vt:lpstr>
      <vt:lpstr>Research Design</vt:lpstr>
      <vt:lpstr>Planning a General Approach (1 of 2)</vt:lpstr>
      <vt:lpstr>Planning a General Approach (2 of 2)</vt:lpstr>
      <vt:lpstr>Research Planning: Selecting a Particular Research Methodology</vt:lpstr>
      <vt:lpstr>The Nature and Role of Data in Research (1 of 2)</vt:lpstr>
      <vt:lpstr>The Nature and Role of Data in Research (2 of 2)</vt:lpstr>
      <vt:lpstr>Planning for Data Collection</vt:lpstr>
      <vt:lpstr>Linking Data and Methodology</vt:lpstr>
      <vt:lpstr>To Determine an Approach, First Ask Yourself These Questions</vt:lpstr>
      <vt:lpstr>Also Consider These Issues (1 of 2)</vt:lpstr>
      <vt:lpstr>Also Consider These Issues (2 of 2)</vt:lpstr>
      <vt:lpstr>Quantitative Versus. Qualitative (1 of 3)</vt:lpstr>
      <vt:lpstr>Quantitative Versus. Qualitative (2 of 3)</vt:lpstr>
      <vt:lpstr>Quantitative Versus. Qualitative (3 of 3)</vt:lpstr>
      <vt:lpstr>Deciding between Quant and Qual (1 of 2)</vt:lpstr>
      <vt:lpstr>Deciding between Quant and Qual (2 of 2)</vt:lpstr>
      <vt:lpstr>Select a Research Methodology</vt:lpstr>
      <vt:lpstr>Enhancing the Credibility of Your Findings (1 of 2)</vt:lpstr>
      <vt:lpstr>Enhancing the Credibility of Your Findings (2 of 2)</vt:lpstr>
      <vt:lpstr>Strategies to Enhance Confirmability (1 of 2)</vt:lpstr>
      <vt:lpstr>Strategies to Enhance Confirmability (2 of 2)</vt:lpstr>
      <vt:lpstr>Enhancing the Generalizability of Your Findings</vt:lpstr>
      <vt:lpstr>Strategies for Enhancing Generalizability</vt:lpstr>
      <vt:lpstr>Choosing Appropriate Assessment Strategies</vt:lpstr>
      <vt:lpstr>Measurement (1 of 3)</vt:lpstr>
      <vt:lpstr>Measurement (2 of 3)</vt:lpstr>
      <vt:lpstr>Measurement (3 of 3)</vt:lpstr>
      <vt:lpstr>Assessing Intangible Phenomena: An Example</vt:lpstr>
      <vt:lpstr>Scales of Measurement</vt:lpstr>
      <vt:lpstr>Nominal Scale</vt:lpstr>
      <vt:lpstr>Ordinal Scale</vt:lpstr>
      <vt:lpstr>Interval Scale</vt:lpstr>
      <vt:lpstr>Ratio Scale</vt:lpstr>
      <vt:lpstr>Summary &amp; Comparison</vt:lpstr>
      <vt:lpstr>Validity &amp; Reliability of Measurement</vt:lpstr>
      <vt:lpstr>Validity of Measurement Instruments (1 of 2)</vt:lpstr>
      <vt:lpstr>Validity of Measurement Instruments (2 of 2)</vt:lpstr>
      <vt:lpstr>Determining Validity (1 of 2)</vt:lpstr>
      <vt:lpstr>Determining Validity (2 of 2)</vt:lpstr>
      <vt:lpstr>Reliability</vt:lpstr>
      <vt:lpstr>Determining the Reliability of a Measurement Instrument (1 of 2)</vt:lpstr>
      <vt:lpstr>Determining the Reliability of a Measurement Instrument (2 of 2)</vt:lpstr>
      <vt:lpstr>Enhancing Reliability</vt:lpstr>
      <vt:lpstr>Ethical Issues (1 of 6)</vt:lpstr>
      <vt:lpstr>Ethical Issues (2 of 6)</vt:lpstr>
      <vt:lpstr>Ethical Issues (3 of 6)</vt:lpstr>
      <vt:lpstr>Ethical Issues (4 of 6)</vt:lpstr>
      <vt:lpstr>Ethical Issues (5 of 6)</vt:lpstr>
      <vt:lpstr>Ethical Issues (6 of 6)</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4</dc:title>
  <dc:subject>TED/Careers</dc:subject>
  <dc:creator>Leedy and Ormrod</dc:creator>
  <cp:keywords>Practical Research</cp:keywords>
  <cp:lastModifiedBy>Arthideepa Karunakaran, Integra-PDY, IN</cp:lastModifiedBy>
  <cp:revision>1019</cp:revision>
  <dcterms:modified xsi:type="dcterms:W3CDTF">2021-10-23T05:11:13Z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