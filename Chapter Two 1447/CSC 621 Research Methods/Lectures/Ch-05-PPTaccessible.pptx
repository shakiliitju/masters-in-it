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27"/>
  </p:notesMasterIdLst>
  <p:handoutMasterIdLst>
    <p:handoutMasterId r:id="rId28"/>
  </p:handoutMasterIdLst>
  <p:sldIdLst>
    <p:sldId id="326" r:id="rId6"/>
    <p:sldId id="307"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36"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3" orient="horz" pos="300" userDrawn="1">
          <p15:clr>
            <a:srgbClr val="A4A3A4"/>
          </p15:clr>
        </p15:guide>
        <p15:guide id="4" orient="horz" pos="459" userDrawn="1">
          <p15:clr>
            <a:srgbClr val="A4A3A4"/>
          </p15:clr>
        </p15:guide>
        <p15:guide id="5" orient="horz" pos="4065" userDrawn="1">
          <p15:clr>
            <a:srgbClr val="A4A3A4"/>
          </p15:clr>
        </p15:guide>
        <p15:guide id="6" pos="272" userDrawn="1">
          <p15:clr>
            <a:srgbClr val="A4A3A4"/>
          </p15:clr>
        </p15:guide>
        <p15:guide id="7" pos="5511" userDrawn="1">
          <p15:clr>
            <a:srgbClr val="A4A3A4"/>
          </p15:clr>
        </p15:guide>
        <p15:guide id="8" orient="horz" pos="913" userDrawn="1">
          <p15:clr>
            <a:srgbClr val="A4A3A4"/>
          </p15:clr>
        </p15:guide>
        <p15:guide id="9" orient="horz" pos="2160" userDrawn="1">
          <p15:clr>
            <a:srgbClr val="A4A3A4"/>
          </p15:clr>
        </p15:guide>
        <p15:guide id="10"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09" autoAdjust="0"/>
    <p:restoredTop sz="86398" autoAdjust="0"/>
  </p:normalViewPr>
  <p:slideViewPr>
    <p:cSldViewPr snapToGrid="0" snapToObjects="1">
      <p:cViewPr varScale="1">
        <p:scale>
          <a:sx n="53" d="100"/>
          <a:sy n="53" d="100"/>
        </p:scale>
        <p:origin x="1500" y="52"/>
      </p:cViewPr>
      <p:guideLst>
        <p:guide orient="horz" pos="300"/>
        <p:guide orient="horz" pos="459"/>
        <p:guide orient="horz" pos="4065"/>
        <p:guide pos="272"/>
        <p:guide pos="5511"/>
        <p:guide orient="horz" pos="913"/>
        <p:guide orient="horz" pos="2160"/>
        <p:guide pos="2880"/>
      </p:guideLst>
    </p:cSldViewPr>
  </p:slideViewPr>
  <p:outlineViewPr>
    <p:cViewPr>
      <p:scale>
        <a:sx n="33" d="100"/>
        <a:sy n="33" d="100"/>
      </p:scale>
      <p:origin x="0" y="-2004"/>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5331CB7C-510D-4CFC-901E-E863A0A29757}"/>
              </a:ext>
            </a:extLst>
          </p:cNvPr>
          <p:cNvSpPr>
            <a:spLocks noGrp="1"/>
          </p:cNvSpPr>
          <p:nvPr>
            <p:ph sz="quarter" idx="10"/>
          </p:nvPr>
        </p:nvSpPr>
        <p:spPr>
          <a:xfrm>
            <a:off x="1990725" y="2324100"/>
            <a:ext cx="5033963" cy="1436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A09347AE-7B18-44B9-A7A2-E00052F4811C}"/>
              </a:ext>
            </a:extLst>
          </p:cNvPr>
          <p:cNvSpPr>
            <a:spLocks noGrp="1"/>
          </p:cNvSpPr>
          <p:nvPr>
            <p:ph type="pic" sz="quarter" idx="11"/>
          </p:nvPr>
        </p:nvSpPr>
        <p:spPr>
          <a:xfrm>
            <a:off x="1905000" y="4425950"/>
            <a:ext cx="5273675" cy="1231900"/>
          </a:xfrm>
        </p:spPr>
        <p:txBody>
          <a:bodyPr/>
          <a:lstStyle/>
          <a:p>
            <a:endParaRPr lang="en-US"/>
          </a:p>
        </p:txBody>
      </p:sp>
    </p:spTree>
    <p:extLst>
      <p:ext uri="{BB962C8B-B14F-4D97-AF65-F5344CB8AC3E}">
        <p14:creationId xmlns:p14="http://schemas.microsoft.com/office/powerpoint/2010/main" val="2002520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441902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52760D6A-39EE-442F-AA32-B3A8F4BE0867}"/>
              </a:ext>
            </a:extLst>
          </p:cNvPr>
          <p:cNvSpPr>
            <a:spLocks noGrp="1"/>
          </p:cNvSpPr>
          <p:nvPr>
            <p:ph type="pic" sz="quarter" idx="14"/>
          </p:nvPr>
        </p:nvSpPr>
        <p:spPr>
          <a:xfrm>
            <a:off x="922338" y="2632075"/>
            <a:ext cx="3530600" cy="1462088"/>
          </a:xfrm>
        </p:spPr>
        <p:txBody>
          <a:bodyPr/>
          <a:lstStyle/>
          <a:p>
            <a:endParaRPr lang="en-US"/>
          </a:p>
        </p:txBody>
      </p:sp>
      <p:sp>
        <p:nvSpPr>
          <p:cNvPr id="5" name="Picture Placeholder 4">
            <a:extLst>
              <a:ext uri="{FF2B5EF4-FFF2-40B4-BE49-F238E27FC236}">
                <a16:creationId xmlns:a16="http://schemas.microsoft.com/office/drawing/2014/main" id="{BE5684DE-C32B-4DD2-9E1D-D84C086E8EC8}"/>
              </a:ext>
            </a:extLst>
          </p:cNvPr>
          <p:cNvSpPr>
            <a:spLocks noGrp="1"/>
          </p:cNvSpPr>
          <p:nvPr>
            <p:ph type="pic" sz="quarter" idx="15"/>
          </p:nvPr>
        </p:nvSpPr>
        <p:spPr>
          <a:xfrm>
            <a:off x="922338" y="4486275"/>
            <a:ext cx="3649662" cy="717550"/>
          </a:xfrm>
        </p:spPr>
        <p:txBody>
          <a:bodyPr/>
          <a:lstStyle/>
          <a:p>
            <a:endParaRPr lang="en-US"/>
          </a:p>
        </p:txBody>
      </p:sp>
    </p:spTree>
    <p:extLst>
      <p:ext uri="{BB962C8B-B14F-4D97-AF65-F5344CB8AC3E}">
        <p14:creationId xmlns:p14="http://schemas.microsoft.com/office/powerpoint/2010/main" val="3847460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C53F85A4-DB48-4FD4-84E4-B43601C487BF}"/>
              </a:ext>
            </a:extLst>
          </p:cNvPr>
          <p:cNvPicPr>
            <a:picLocks noChangeAspect="1"/>
          </p:cNvPicPr>
          <p:nvPr userDrawn="1"/>
        </p:nvPicPr>
        <p:blipFill>
          <a:blip r:embed="rId14"/>
          <a:stretch>
            <a:fillRect/>
          </a:stretch>
        </p:blipFill>
        <p:spPr>
          <a:xfrm>
            <a:off x="439948" y="6436893"/>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9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4" r:id="rId2"/>
    <p:sldLayoutId id="214748369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90338"/>
            <a:ext cx="8272252" cy="1144347"/>
          </a:xfrm>
        </p:spPr>
        <p:txBody>
          <a:bodyPr wrap="square"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8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AD32C8C1-9546-45BF-9855-318A9D85AA40}"/>
              </a:ext>
            </a:extLst>
          </p:cNvPr>
          <p:cNvPicPr>
            <a:picLocks noGrp="1" noChangeAspect="1"/>
          </p:cNvPicPr>
          <p:nvPr>
            <p:ph type="pic" sz="quarter" idx="14"/>
          </p:nvPr>
        </p:nvPicPr>
        <p:blipFill>
          <a:blip r:embed="rId3"/>
          <a:stretch>
            <a:fillRect/>
          </a:stretch>
        </p:blipFill>
        <p:spPr>
          <a:xfrm>
            <a:off x="439948" y="1857540"/>
            <a:ext cx="3572256" cy="4456176"/>
          </a:xfrm>
          <a:prstGeom prst="rect">
            <a:avLst/>
          </a:prstGeom>
        </p:spPr>
      </p:pic>
      <p:sp>
        <p:nvSpPr>
          <p:cNvPr id="4" name="Text Placeholder 3"/>
          <p:cNvSpPr>
            <a:spLocks noGrp="1"/>
          </p:cNvSpPr>
          <p:nvPr>
            <p:ph type="body" idx="2"/>
          </p:nvPr>
        </p:nvSpPr>
        <p:spPr>
          <a:xfrm>
            <a:off x="4580628" y="2937288"/>
            <a:ext cx="1863304"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5</a:t>
            </a:r>
          </a:p>
        </p:txBody>
      </p:sp>
      <p:sp>
        <p:nvSpPr>
          <p:cNvPr id="5" name="Text Placeholder 4"/>
          <p:cNvSpPr>
            <a:spLocks noGrp="1"/>
          </p:cNvSpPr>
          <p:nvPr>
            <p:ph type="body" idx="3"/>
          </p:nvPr>
        </p:nvSpPr>
        <p:spPr>
          <a:xfrm>
            <a:off x="4580629" y="3547485"/>
            <a:ext cx="4168083"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Writing the Research Proposal</a:t>
            </a:r>
          </a:p>
        </p:txBody>
      </p:sp>
      <p:pic>
        <p:nvPicPr>
          <p:cNvPr id="13" name="Picture Placeholder 12" descr="Pearson Logo">
            <a:extLst>
              <a:ext uri="{FF2B5EF4-FFF2-40B4-BE49-F238E27FC236}">
                <a16:creationId xmlns:a16="http://schemas.microsoft.com/office/drawing/2014/main" id="{16EB7F78-5949-49DA-A514-4665D83F8E3C}"/>
              </a:ext>
            </a:extLst>
          </p:cNvPr>
          <p:cNvPicPr>
            <a:picLocks noGrp="1" noChangeAspect="1"/>
          </p:cNvPicPr>
          <p:nvPr>
            <p:ph type="pic" sz="quarter" idx="15"/>
          </p:nvPr>
        </p:nvPicPr>
        <p:blipFill>
          <a:blip r:embed="rId4"/>
          <a:stretch>
            <a:fillRect/>
          </a:stretch>
        </p:blipFill>
        <p:spPr>
          <a:xfrm>
            <a:off x="439948" y="6436893"/>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790525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7"/>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Research Proposal</a:t>
            </a:r>
          </a:p>
        </p:txBody>
      </p:sp>
      <p:sp>
        <p:nvSpPr>
          <p:cNvPr id="3" name="Text Placeholder 2"/>
          <p:cNvSpPr>
            <a:spLocks noGrp="1"/>
          </p:cNvSpPr>
          <p:nvPr>
            <p:ph type="body" idx="1"/>
          </p:nvPr>
        </p:nvSpPr>
        <p:spPr>
          <a:xfrm>
            <a:off x="457200" y="1464008"/>
            <a:ext cx="8229600" cy="416264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Essential to successful research</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Includes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Clearly stated problem and subproblems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Hypotheses and/or questions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Precise definitions of terms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Carefully spelled-out limitations and delimitations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Explanation of the purpose of the study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Specific details about all aspects of data collection and interpretation</a:t>
            </a:r>
          </a:p>
        </p:txBody>
      </p:sp>
    </p:spTree>
    <p:extLst>
      <p:ext uri="{BB962C8B-B14F-4D97-AF65-F5344CB8AC3E}">
        <p14:creationId xmlns:p14="http://schemas.microsoft.com/office/powerpoint/2010/main" val="501115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0628"/>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Characteristics of a Research Proposal</a:t>
            </a:r>
          </a:p>
        </p:txBody>
      </p:sp>
      <p:sp>
        <p:nvSpPr>
          <p:cNvPr id="3" name="Text Placeholder 2"/>
          <p:cNvSpPr>
            <a:spLocks noGrp="1"/>
          </p:cNvSpPr>
          <p:nvPr>
            <p:ph type="body" idx="1"/>
          </p:nvPr>
        </p:nvSpPr>
        <p:spPr>
          <a:xfrm>
            <a:off x="457200" y="1979581"/>
            <a:ext cx="8229600" cy="1967649"/>
          </a:xfrm>
        </p:spPr>
        <p:txBody>
          <a:bodyPr wrap="square" lIns="0" tIns="18000" rIns="0" bIns="18000">
            <a:spAutoFit/>
          </a:bodyPr>
          <a:lstStyle/>
          <a:p>
            <a:pPr marL="255651" lvl="0" indent="-255651">
              <a:spcAft>
                <a:spcPct val="0"/>
              </a:spcAft>
              <a:buSzPts val="2400"/>
              <a:tabLst/>
            </a:pPr>
            <a:r>
              <a:rPr lang="en-US" sz="2200" kern="1200" dirty="0">
                <a:solidFill>
                  <a:srgbClr val="000000"/>
                </a:solidFill>
                <a:latin typeface="Arial" panose="020B0604020202020204" pitchFamily="34" charset="0"/>
                <a:ea typeface="+mn-ea"/>
                <a:cs typeface="Arial" panose="020B0604020202020204" pitchFamily="34" charset="0"/>
              </a:rPr>
              <a:t>Straightforward document containing only necessary information</a:t>
            </a:r>
          </a:p>
          <a:p>
            <a:pPr marL="255651" lvl="0" indent="-255651">
              <a:spcAft>
                <a:spcPct val="0"/>
              </a:spcAft>
              <a:buSzPts val="2400"/>
              <a:tabLst/>
            </a:pPr>
            <a:r>
              <a:rPr lang="en-US" sz="2200" kern="1200" dirty="0">
                <a:solidFill>
                  <a:srgbClr val="000000"/>
                </a:solidFill>
                <a:latin typeface="Arial" panose="020B0604020202020204" pitchFamily="34" charset="0"/>
                <a:ea typeface="+mn-ea"/>
                <a:cs typeface="Arial" panose="020B0604020202020204" pitchFamily="34" charset="0"/>
              </a:rPr>
              <a:t>Conventional prose, economy of words, precision of expression</a:t>
            </a:r>
          </a:p>
          <a:p>
            <a:pPr marL="255651" lvl="0" indent="-255651">
              <a:spcAft>
                <a:spcPct val="0"/>
              </a:spcAft>
              <a:buSzPts val="2400"/>
              <a:tabLst/>
            </a:pPr>
            <a:r>
              <a:rPr lang="en-US" sz="2200" kern="1200" dirty="0">
                <a:solidFill>
                  <a:srgbClr val="000000"/>
                </a:solidFill>
                <a:latin typeface="Arial" panose="020B0604020202020204" pitchFamily="34" charset="0"/>
                <a:ea typeface="+mn-ea"/>
                <a:cs typeface="Arial" panose="020B0604020202020204" pitchFamily="34" charset="0"/>
              </a:rPr>
              <a:t>Clearly organized</a:t>
            </a:r>
          </a:p>
          <a:p>
            <a:pPr marL="255651" lvl="0" indent="-255651">
              <a:spcAft>
                <a:spcPct val="0"/>
              </a:spcAft>
              <a:buSzPts val="2400"/>
              <a:tabLst/>
            </a:pPr>
            <a:r>
              <a:rPr lang="en-US" sz="2200" kern="1200" dirty="0">
                <a:solidFill>
                  <a:srgbClr val="000000"/>
                </a:solidFill>
                <a:latin typeface="Arial" panose="020B0604020202020204" pitchFamily="34" charset="0"/>
                <a:ea typeface="+mn-ea"/>
                <a:cs typeface="Arial" panose="020B0604020202020204" pitchFamily="34" charset="0"/>
              </a:rPr>
              <a:t>Usually follows convention</a:t>
            </a:r>
          </a:p>
        </p:txBody>
      </p:sp>
    </p:spTree>
    <p:extLst>
      <p:ext uri="{BB962C8B-B14F-4D97-AF65-F5344CB8AC3E}">
        <p14:creationId xmlns:p14="http://schemas.microsoft.com/office/powerpoint/2010/main" val="71377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0901"/>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Organization of a Quantitative Proposal</a:t>
            </a:r>
          </a:p>
        </p:txBody>
      </p:sp>
      <p:sp>
        <p:nvSpPr>
          <p:cNvPr id="3" name="Text Placeholder 2"/>
          <p:cNvSpPr>
            <a:spLocks noGrp="1"/>
          </p:cNvSpPr>
          <p:nvPr>
            <p:ph type="body" idx="1"/>
          </p:nvPr>
        </p:nvSpPr>
        <p:spPr>
          <a:xfrm>
            <a:off x="457200" y="1979585"/>
            <a:ext cx="8229600" cy="3924121"/>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The problem and its setting</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Review of related literature</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Data and its treatment</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Qualifications of the researcher and team</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Study outline</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References</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Appendices</a:t>
            </a:r>
          </a:p>
        </p:txBody>
      </p:sp>
    </p:spTree>
    <p:extLst>
      <p:ext uri="{BB962C8B-B14F-4D97-AF65-F5344CB8AC3E}">
        <p14:creationId xmlns:p14="http://schemas.microsoft.com/office/powerpoint/2010/main" val="2045477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61680"/>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Organization of a Qualitative Proposal</a:t>
            </a:r>
          </a:p>
        </p:txBody>
      </p:sp>
      <p:sp>
        <p:nvSpPr>
          <p:cNvPr id="3" name="Text Placeholder 2"/>
          <p:cNvSpPr>
            <a:spLocks noGrp="1"/>
          </p:cNvSpPr>
          <p:nvPr>
            <p:ph type="body" idx="1"/>
          </p:nvPr>
        </p:nvSpPr>
        <p:spPr>
          <a:xfrm>
            <a:off x="457200" y="1814216"/>
            <a:ext cx="8229600" cy="2652452"/>
          </a:xfrm>
        </p:spPr>
        <p:txBody>
          <a:bodyPr wrap="square" lIns="0" tIns="18000" rIns="0" bIns="18000">
            <a:spAutoFit/>
          </a:bodyPr>
          <a:lstStyle/>
          <a:p>
            <a:pPr marL="432000" lvl="0" indent="-432000">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Introduction</a:t>
            </a:r>
          </a:p>
          <a:p>
            <a:pPr marL="432000" lvl="0" indent="-432000">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Methodology</a:t>
            </a:r>
          </a:p>
          <a:p>
            <a:pPr marL="432000" lvl="0" indent="-432000">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Management plan, timeline, feasibility</a:t>
            </a:r>
          </a:p>
          <a:p>
            <a:pPr marL="432000" lvl="0" indent="-432000">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References</a:t>
            </a:r>
          </a:p>
          <a:p>
            <a:pPr marL="432000" lvl="0" indent="-432000">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Appendices</a:t>
            </a:r>
          </a:p>
        </p:txBody>
      </p:sp>
      <p:sp>
        <p:nvSpPr>
          <p:cNvPr id="4" name="Text Placeholder 3"/>
          <p:cNvSpPr>
            <a:spLocks noGrp="1"/>
          </p:cNvSpPr>
          <p:nvPr>
            <p:ph type="body" idx="2"/>
          </p:nvPr>
        </p:nvSpPr>
        <p:spPr>
          <a:xfrm>
            <a:off x="457200" y="4553830"/>
            <a:ext cx="8229600" cy="1513679"/>
          </a:xfrm>
        </p:spPr>
        <p:txBody>
          <a:bodyPr lIns="0" tIns="18000" rIns="0" bIns="18000">
            <a:spAutoFit/>
          </a:bodyPr>
          <a:lstStyle/>
          <a:p>
            <a:pPr marL="255651" lvl="0" indent="-25565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Key rule for both quantitative and qualitative proposals: Information should be presented in such a manner that it leads readers clearly and logically from one facet of the research project to the next.</a:t>
            </a:r>
          </a:p>
        </p:txBody>
      </p:sp>
    </p:spTree>
    <p:extLst>
      <p:ext uri="{BB962C8B-B14F-4D97-AF65-F5344CB8AC3E}">
        <p14:creationId xmlns:p14="http://schemas.microsoft.com/office/powerpoint/2010/main" val="1983262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71404"/>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Formatting Headings and Subheadings</a:t>
            </a:r>
          </a:p>
        </p:txBody>
      </p:sp>
      <p:sp>
        <p:nvSpPr>
          <p:cNvPr id="3" name="Text Placeholder 2"/>
          <p:cNvSpPr>
            <a:spLocks noGrp="1"/>
          </p:cNvSpPr>
          <p:nvPr>
            <p:ph type="body" idx="1"/>
          </p:nvPr>
        </p:nvSpPr>
        <p:spPr>
          <a:xfrm>
            <a:off x="457200" y="1960128"/>
            <a:ext cx="8117458" cy="4224203"/>
          </a:xfrm>
        </p:spPr>
        <p:txBody>
          <a:bodyPr wrap="square" lIns="0" tIns="18000" rIns="0" bIns="18000">
            <a:spAutoFit/>
          </a:bodyPr>
          <a:lstStyle/>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Different formats indicate different levels of headings to be used. The American Psychological Association’s Publication Manual (2010) specifies the following formats:</a:t>
            </a:r>
          </a:p>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Level 1: Boldface uppercase and lowercase, centered.</a:t>
            </a:r>
          </a:p>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Level 2: Boldface uppercase and lowercase, left-aligned.</a:t>
            </a:r>
          </a:p>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Level 3: Boldface first-letter-only-uppercase, ends with a period.</a:t>
            </a:r>
          </a:p>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Level 4: Italicized boldface first-letter-only-uppercase, ends with a period, indented at the beginning of the first paragraph in a section.</a:t>
            </a:r>
          </a:p>
          <a:p>
            <a:pPr marL="255651" lvl="0" indent="-255651">
              <a:spcAft>
                <a:spcPct val="0"/>
              </a:spcAft>
              <a:tabLst/>
            </a:pPr>
            <a:r>
              <a:rPr lang="en-US" sz="2000" kern="1200" dirty="0">
                <a:solidFill>
                  <a:srgbClr val="000000"/>
                </a:solidFill>
                <a:latin typeface="Arial" panose="020B0604020202020204" pitchFamily="34" charset="0"/>
                <a:ea typeface="+mn-ea"/>
                <a:cs typeface="Arial" panose="020B0604020202020204" pitchFamily="34" charset="0"/>
              </a:rPr>
              <a:t>Level 5: Italicized non-boldface first-letter-only-uppercase, ends with a period, indented at the beginning of the first paragraph in a section.</a:t>
            </a:r>
          </a:p>
        </p:txBody>
      </p:sp>
    </p:spTree>
    <p:extLst>
      <p:ext uri="{BB962C8B-B14F-4D97-AF65-F5344CB8AC3E}">
        <p14:creationId xmlns:p14="http://schemas.microsoft.com/office/powerpoint/2010/main" val="1367615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Writing Your Proposal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57200" y="1464011"/>
            <a:ext cx="8229600" cy="4691472"/>
          </a:xfrm>
        </p:spPr>
        <p:txBody>
          <a:bodyPr wrap="square" lIns="0" tIns="18000" rIns="0" bIns="18000">
            <a:spAutoFit/>
          </a:bodyPr>
          <a:lstStyle/>
          <a:p>
            <a:pPr marL="432054" lvl="0" indent="-432054">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Use word processing software</a:t>
            </a:r>
          </a:p>
          <a:p>
            <a:pPr marL="432054" lvl="0" indent="-432054">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Adhere to guidelines required by the institution, organization, or funding agency to which you are submitting the proposal</a:t>
            </a:r>
          </a:p>
          <a:p>
            <a:pPr marL="432054" lvl="0" indent="-432054">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Focus the first draft on organization and logical thought sequences rather than on exact wording, grammatical correctness, and spelling</a:t>
            </a:r>
          </a:p>
          <a:p>
            <a:pPr marL="432054" lvl="0" indent="-432054">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Present the research problem at the beginning</a:t>
            </a:r>
          </a:p>
          <a:p>
            <a:pPr marL="432054" lvl="0" indent="-432054">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Provide a context for the problem</a:t>
            </a:r>
          </a:p>
          <a:p>
            <a:pPr marL="432054" lvl="0" indent="-432054">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Convince the reader of the importance of the project</a:t>
            </a:r>
          </a:p>
        </p:txBody>
      </p:sp>
    </p:spTree>
    <p:extLst>
      <p:ext uri="{BB962C8B-B14F-4D97-AF65-F5344CB8AC3E}">
        <p14:creationId xmlns:p14="http://schemas.microsoft.com/office/powerpoint/2010/main" val="141087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Writing Your Proposal </a:t>
            </a:r>
            <a:r>
              <a:rPr lang="en-US" sz="2800" kern="1200" dirty="0">
                <a:latin typeface="+mj-lt"/>
                <a:ea typeface="+mj-ea"/>
                <a:cs typeface="Times New Roman" panose="02020603050405020304" pitchFamily="18" charset="0"/>
              </a:rPr>
              <a:t>(2 of 3)</a:t>
            </a:r>
          </a:p>
        </p:txBody>
      </p:sp>
      <p:sp>
        <p:nvSpPr>
          <p:cNvPr id="3" name="Text Placeholder 2"/>
          <p:cNvSpPr>
            <a:spLocks noGrp="1"/>
          </p:cNvSpPr>
          <p:nvPr>
            <p:ph type="body" idx="1"/>
          </p:nvPr>
        </p:nvSpPr>
        <p:spPr>
          <a:xfrm>
            <a:off x="457200" y="1464010"/>
            <a:ext cx="8229600" cy="4499112"/>
          </a:xfrm>
        </p:spPr>
        <p:txBody>
          <a:bodyPr wrap="square" lIns="0" tIns="18000" rIns="0" bIns="18000">
            <a:spAutoFit/>
          </a:bodyPr>
          <a:lstStyle/>
          <a:p>
            <a:pPr marL="429768" lvl="0" indent="-429768">
              <a:spcAft>
                <a:spcPct val="0"/>
              </a:spcAft>
              <a:buFont typeface="+mj-lt"/>
              <a:buAutoNum type="arabicPeriod" startAt="7"/>
              <a:tabLst/>
            </a:pPr>
            <a:r>
              <a:rPr lang="en-US" sz="2400" kern="1200" dirty="0">
                <a:solidFill>
                  <a:srgbClr val="000000"/>
                </a:solidFill>
                <a:latin typeface="Arial" panose="020B0604020202020204" pitchFamily="34" charset="0"/>
                <a:ea typeface="+mn-ea"/>
                <a:cs typeface="Arial" panose="020B0604020202020204" pitchFamily="34" charset="0"/>
              </a:rPr>
              <a:t>Assume that your reader(s) know nothing about your project</a:t>
            </a:r>
          </a:p>
          <a:p>
            <a:pPr marL="429768" lvl="0" indent="-429768">
              <a:spcAft>
                <a:spcPct val="0"/>
              </a:spcAft>
              <a:buFont typeface="+mj-lt"/>
              <a:buAutoNum type="arabicPeriod" startAt="7"/>
              <a:tabLst/>
            </a:pPr>
            <a:r>
              <a:rPr lang="en-US" altLang="en-US" sz="2400" kern="1200" dirty="0">
                <a:solidFill>
                  <a:srgbClr val="000000"/>
                </a:solidFill>
                <a:latin typeface="Arial" panose="020B0604020202020204" pitchFamily="34" charset="0"/>
                <a:ea typeface="+mn-ea"/>
                <a:cs typeface="Arial" panose="020B0604020202020204" pitchFamily="34" charset="0"/>
              </a:rPr>
              <a:t>Communicate that you have an open mind about what you will find</a:t>
            </a:r>
          </a:p>
          <a:p>
            <a:pPr marL="429768" lvl="0" indent="-429768">
              <a:spcAft>
                <a:spcPct val="0"/>
              </a:spcAft>
              <a:buFont typeface="+mj-lt"/>
              <a:buAutoNum type="arabicPeriod" startAt="7"/>
              <a:tabLst/>
            </a:pPr>
            <a:r>
              <a:rPr lang="en-US" sz="2400" kern="1200" dirty="0">
                <a:solidFill>
                  <a:srgbClr val="000000"/>
                </a:solidFill>
                <a:latin typeface="Arial" panose="020B0604020202020204" pitchFamily="34" charset="0"/>
                <a:ea typeface="+mn-ea"/>
                <a:cs typeface="Arial" panose="020B0604020202020204" pitchFamily="34" charset="0"/>
              </a:rPr>
              <a:t>Describe your proposed methodology with as much detail and precision as possible</a:t>
            </a:r>
          </a:p>
          <a:p>
            <a:pPr marL="429768" lvl="0" indent="-429768">
              <a:spcAft>
                <a:spcPct val="0"/>
              </a:spcAft>
              <a:buFont typeface="+mj-lt"/>
              <a:buAutoNum type="arabicPeriod" startAt="7"/>
              <a:tabLst/>
            </a:pPr>
            <a:r>
              <a:rPr lang="en-US" altLang="en-US" sz="2400" kern="1200" dirty="0">
                <a:solidFill>
                  <a:srgbClr val="000000"/>
                </a:solidFill>
                <a:latin typeface="Arial" panose="020B0604020202020204" pitchFamily="34" charset="0"/>
                <a:ea typeface="+mn-ea"/>
                <a:cs typeface="Arial" panose="020B0604020202020204" pitchFamily="34" charset="0"/>
              </a:rPr>
              <a:t>Describe where any pre-existing data are located and how you plan to obtain them</a:t>
            </a:r>
          </a:p>
          <a:p>
            <a:pPr marL="429768" lvl="0" indent="-429768">
              <a:spcAft>
                <a:spcPct val="0"/>
              </a:spcAft>
              <a:buFont typeface="+mj-lt"/>
              <a:buAutoNum type="arabicPeriod" startAt="7"/>
              <a:tabLst/>
            </a:pPr>
            <a:r>
              <a:rPr lang="en-US" sz="2400" kern="1200" dirty="0">
                <a:solidFill>
                  <a:srgbClr val="000000"/>
                </a:solidFill>
                <a:latin typeface="Arial" panose="020B0604020202020204" pitchFamily="34" charset="0"/>
                <a:ea typeface="+mn-ea"/>
                <a:cs typeface="Arial" panose="020B0604020202020204" pitchFamily="34" charset="0"/>
              </a:rPr>
              <a:t>Describe how you will use the data to answer your research problem</a:t>
            </a:r>
          </a:p>
        </p:txBody>
      </p:sp>
    </p:spTree>
    <p:extLst>
      <p:ext uri="{BB962C8B-B14F-4D97-AF65-F5344CB8AC3E}">
        <p14:creationId xmlns:p14="http://schemas.microsoft.com/office/powerpoint/2010/main" val="222166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Writing Your Proposal </a:t>
            </a:r>
            <a:r>
              <a:rPr lang="en-US" sz="2800" kern="1200" dirty="0">
                <a:latin typeface="+mj-lt"/>
                <a:ea typeface="+mj-ea"/>
                <a:cs typeface="Times New Roman" panose="02020603050405020304" pitchFamily="18" charset="0"/>
              </a:rPr>
              <a:t>(3 of 3)</a:t>
            </a:r>
          </a:p>
        </p:txBody>
      </p:sp>
      <p:sp>
        <p:nvSpPr>
          <p:cNvPr id="3" name="Text Placeholder 2"/>
          <p:cNvSpPr>
            <a:spLocks noGrp="1"/>
          </p:cNvSpPr>
          <p:nvPr>
            <p:ph type="body" idx="1"/>
          </p:nvPr>
        </p:nvSpPr>
        <p:spPr>
          <a:xfrm>
            <a:off x="457200" y="1464008"/>
            <a:ext cx="8229600" cy="1336708"/>
          </a:xfrm>
        </p:spPr>
        <p:txBody>
          <a:bodyPr wrap="square" lIns="0" tIns="18000" rIns="0" bIns="18000">
            <a:spAutoFit/>
          </a:bodyPr>
          <a:lstStyle/>
          <a:p>
            <a:pPr marL="432054" lvl="0" indent="-432054">
              <a:spcAft>
                <a:spcPct val="0"/>
              </a:spcAft>
              <a:buFont typeface="+mj-lt"/>
              <a:buAutoNum type="arabicPeriod" startAt="12"/>
              <a:tabLst/>
            </a:pPr>
            <a:r>
              <a:rPr lang="en-US" sz="2400" kern="1200" dirty="0">
                <a:solidFill>
                  <a:srgbClr val="000000"/>
                </a:solidFill>
                <a:latin typeface="Arial" panose="020B0604020202020204" pitchFamily="34" charset="0"/>
                <a:ea typeface="+mn-ea"/>
                <a:cs typeface="Arial" panose="020B0604020202020204" pitchFamily="34" charset="0"/>
              </a:rPr>
              <a:t>Use appendices wisely</a:t>
            </a:r>
          </a:p>
          <a:p>
            <a:pPr marL="432054" lvl="0" indent="-432054">
              <a:spcAft>
                <a:spcPct val="0"/>
              </a:spcAft>
              <a:buFont typeface="+mj-lt"/>
              <a:buAutoNum type="arabicPeriod" startAt="12"/>
              <a:tabLst/>
            </a:pPr>
            <a:r>
              <a:rPr lang="en-US" sz="2400" kern="1200" dirty="0">
                <a:solidFill>
                  <a:srgbClr val="000000"/>
                </a:solidFill>
                <a:latin typeface="Arial" panose="020B0604020202020204" pitchFamily="34" charset="0"/>
                <a:ea typeface="+mn-ea"/>
                <a:cs typeface="Arial" panose="020B0604020202020204" pitchFamily="34" charset="0"/>
              </a:rPr>
              <a:t>Be careful that you don’t plagiarize other sources, even in subtle ways</a:t>
            </a:r>
          </a:p>
        </p:txBody>
      </p:sp>
    </p:spTree>
    <p:extLst>
      <p:ext uri="{BB962C8B-B14F-4D97-AF65-F5344CB8AC3E}">
        <p14:creationId xmlns:p14="http://schemas.microsoft.com/office/powerpoint/2010/main" val="2605610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Revising Your Proposal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4009"/>
            <a:ext cx="8229600" cy="4883832"/>
          </a:xfrm>
        </p:spPr>
        <p:txBody>
          <a:bodyPr wrap="square" lIns="0" tIns="18000" rIns="0" bIns="18000">
            <a:spAutoFit/>
          </a:bodyPr>
          <a:lstStyle/>
          <a:p>
            <a:pPr marL="429768" lvl="0" indent="-429768">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Set the proposal aside for a few days</a:t>
            </a:r>
          </a:p>
          <a:p>
            <a:pPr marL="429768" lvl="0" indent="-429768">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Read a paper copy of your first draft</a:t>
            </a:r>
          </a:p>
          <a:p>
            <a:pPr marL="429768" lvl="0" indent="-429768">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Carefully scrutinize what you have written, looking for disorganized thoughts, illogical thinking, and inconsistencies in terminology</a:t>
            </a:r>
          </a:p>
          <a:p>
            <a:pPr marL="429768" lvl="0" indent="-429768">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Look for text that might be clearer</a:t>
            </a:r>
          </a:p>
          <a:p>
            <a:pPr marL="429768" lvl="0" indent="-429768">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Keep sentences simple and straightforward</a:t>
            </a:r>
          </a:p>
          <a:p>
            <a:pPr marL="429768" lvl="0" indent="-429768">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Choose words carefully</a:t>
            </a:r>
          </a:p>
          <a:p>
            <a:pPr marL="429768" lvl="0" indent="-429768">
              <a:spcAft>
                <a:spcPct val="0"/>
              </a:spcAft>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Check carefully for errors in grammar, punctuation, and spelling</a:t>
            </a:r>
          </a:p>
        </p:txBody>
      </p:sp>
    </p:spTree>
    <p:extLst>
      <p:ext uri="{BB962C8B-B14F-4D97-AF65-F5344CB8AC3E}">
        <p14:creationId xmlns:p14="http://schemas.microsoft.com/office/powerpoint/2010/main" val="4200392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Revising Your Proposal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4011"/>
            <a:ext cx="8229600" cy="3391116"/>
          </a:xfrm>
        </p:spPr>
        <p:txBody>
          <a:bodyPr wrap="square" lIns="0" tIns="18000" rIns="0" bIns="18000">
            <a:spAutoFit/>
          </a:bodyPr>
          <a:lstStyle/>
          <a:p>
            <a:pPr marL="432054" lvl="0" indent="-432054">
              <a:spcAft>
                <a:spcPct val="0"/>
              </a:spcAft>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Make sure that items in bulleted lists and the like are parallel in structure</a:t>
            </a:r>
          </a:p>
          <a:p>
            <a:pPr marL="432054" lvl="0" indent="-432054">
              <a:spcAft>
                <a:spcPct val="0"/>
              </a:spcAft>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Make sure there is a one-to-one correspondence between citations in the text and references</a:t>
            </a:r>
          </a:p>
          <a:p>
            <a:pPr marL="432054" lvl="0" indent="-432054">
              <a:spcAft>
                <a:spcPct val="0"/>
              </a:spcAft>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Consider the feasibility of the project once again</a:t>
            </a:r>
          </a:p>
          <a:p>
            <a:pPr marL="432054" lvl="0" indent="-432054">
              <a:spcAft>
                <a:spcPct val="0"/>
              </a:spcAft>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Read a printed copy again</a:t>
            </a:r>
          </a:p>
          <a:p>
            <a:pPr marL="432054" lvl="0" indent="-432054">
              <a:spcAft>
                <a:spcPct val="0"/>
              </a:spcAft>
              <a:buFont typeface="+mj-lt"/>
              <a:buAutoNum type="arabicPeriod" startAt="8"/>
              <a:tabLst/>
            </a:pPr>
            <a:r>
              <a:rPr lang="en-US" sz="2400" kern="1200" dirty="0">
                <a:solidFill>
                  <a:srgbClr val="000000"/>
                </a:solidFill>
                <a:latin typeface="Arial" panose="020B0604020202020204" pitchFamily="34" charset="0"/>
                <a:ea typeface="+mn-ea"/>
                <a:cs typeface="Arial" panose="020B0604020202020204" pitchFamily="34" charset="0"/>
              </a:rPr>
              <a:t>Seek the feedback of others</a:t>
            </a:r>
          </a:p>
        </p:txBody>
      </p:sp>
    </p:spTree>
    <p:extLst>
      <p:ext uri="{BB962C8B-B14F-4D97-AF65-F5344CB8AC3E}">
        <p14:creationId xmlns:p14="http://schemas.microsoft.com/office/powerpoint/2010/main" val="2805649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141"/>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Look for and Correct Weaknesses </a:t>
            </a:r>
            <a:r>
              <a:rPr lang="en-US" sz="2600" kern="1200" dirty="0">
                <a:latin typeface="+mj-lt"/>
                <a:ea typeface="+mj-ea"/>
                <a:cs typeface="Times New Roman" panose="02020603050405020304" pitchFamily="18" charset="0"/>
              </a:rPr>
              <a:t>(1 of 5)</a:t>
            </a:r>
          </a:p>
        </p:txBody>
      </p:sp>
      <p:sp>
        <p:nvSpPr>
          <p:cNvPr id="3" name="Text Placeholder 2"/>
          <p:cNvSpPr>
            <a:spLocks noGrp="1"/>
          </p:cNvSpPr>
          <p:nvPr>
            <p:ph type="body" idx="1"/>
          </p:nvPr>
        </p:nvSpPr>
        <p:spPr>
          <a:xfrm>
            <a:off x="457200" y="1464008"/>
            <a:ext cx="8229600" cy="2637064"/>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Weaknesses related to the research problem: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Research has unclear purpose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Problem is unimportant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Hypothesis is ill-defined or unsound</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Problem is too complex</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Problem has limited relevance to the field</a:t>
            </a:r>
          </a:p>
        </p:txBody>
      </p:sp>
    </p:spTree>
    <p:extLst>
      <p:ext uri="{BB962C8B-B14F-4D97-AF65-F5344CB8AC3E}">
        <p14:creationId xmlns:p14="http://schemas.microsoft.com/office/powerpoint/2010/main" val="2945049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154"/>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Look for and Correct Weaknesses </a:t>
            </a:r>
            <a:r>
              <a:rPr lang="en-US" sz="2600" kern="1200" dirty="0">
                <a:latin typeface="+mj-lt"/>
                <a:ea typeface="+mj-ea"/>
                <a:cs typeface="Times New Roman" panose="02020603050405020304" pitchFamily="18" charset="0"/>
              </a:rPr>
              <a:t>(2 of 5)</a:t>
            </a:r>
          </a:p>
        </p:txBody>
      </p:sp>
      <p:sp>
        <p:nvSpPr>
          <p:cNvPr id="3" name="Text Placeholder 2"/>
          <p:cNvSpPr>
            <a:spLocks noGrp="1"/>
          </p:cNvSpPr>
          <p:nvPr>
            <p:ph type="body" idx="1"/>
          </p:nvPr>
        </p:nvSpPr>
        <p:spPr>
          <a:xfrm>
            <a:off x="457200" y="1464008"/>
            <a:ext cx="8229600" cy="285250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Weaknesses related to the research design &amp; methodology: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Description of design and method is vague and/or unfocused</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Data inappropriate for the research problem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Methodology/procedures inappropriate for the research problem</a:t>
            </a:r>
          </a:p>
        </p:txBody>
      </p:sp>
    </p:spTree>
    <p:extLst>
      <p:ext uri="{BB962C8B-B14F-4D97-AF65-F5344CB8AC3E}">
        <p14:creationId xmlns:p14="http://schemas.microsoft.com/office/powerpoint/2010/main" val="288775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145"/>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Look for and Correct Weaknesses </a:t>
            </a:r>
            <a:r>
              <a:rPr lang="en-US" sz="2600" kern="1200" dirty="0">
                <a:latin typeface="+mj-lt"/>
                <a:ea typeface="+mj-ea"/>
                <a:cs typeface="Times New Roman" panose="02020603050405020304" pitchFamily="18" charset="0"/>
              </a:rPr>
              <a:t>(3 of 5)</a:t>
            </a:r>
          </a:p>
        </p:txBody>
      </p:sp>
      <p:sp>
        <p:nvSpPr>
          <p:cNvPr id="3" name="Text Placeholder 2"/>
          <p:cNvSpPr>
            <a:spLocks noGrp="1"/>
          </p:cNvSpPr>
          <p:nvPr>
            <p:ph type="body" idx="1"/>
          </p:nvPr>
        </p:nvSpPr>
        <p:spPr>
          <a:xfrm>
            <a:off x="457200" y="1464008"/>
            <a:ext cx="8229600" cy="211384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Weaknesses related to the research design &amp; methodology: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Appropriate controls lacking or inadequate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Equipment outdated or inappropriate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Statistical analysis poorly considered</a:t>
            </a:r>
          </a:p>
        </p:txBody>
      </p:sp>
    </p:spTree>
    <p:extLst>
      <p:ext uri="{BB962C8B-B14F-4D97-AF65-F5344CB8AC3E}">
        <p14:creationId xmlns:p14="http://schemas.microsoft.com/office/powerpoint/2010/main" val="172561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149"/>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Look for and Correct Weaknesses </a:t>
            </a:r>
            <a:r>
              <a:rPr lang="en-US" sz="2600" kern="1200" dirty="0">
                <a:latin typeface="+mj-lt"/>
                <a:ea typeface="+mj-ea"/>
                <a:cs typeface="Times New Roman" panose="02020603050405020304" pitchFamily="18" charset="0"/>
              </a:rPr>
              <a:t>(4 of 5)</a:t>
            </a:r>
          </a:p>
        </p:txBody>
      </p:sp>
      <p:sp>
        <p:nvSpPr>
          <p:cNvPr id="3" name="Text Placeholder 2"/>
          <p:cNvSpPr>
            <a:spLocks noGrp="1"/>
          </p:cNvSpPr>
          <p:nvPr>
            <p:ph type="body" idx="1"/>
          </p:nvPr>
        </p:nvSpPr>
        <p:spPr>
          <a:xfrm>
            <a:off x="457200" y="1464008"/>
            <a:ext cx="8229600" cy="248317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Weaknesses related to the investigator:</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insufficient training or experience for the proposed research</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unfamiliar with the literature relevant for the proposed research</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insufficient time to devote to the project</a:t>
            </a:r>
          </a:p>
        </p:txBody>
      </p:sp>
    </p:spTree>
    <p:extLst>
      <p:ext uri="{BB962C8B-B14F-4D97-AF65-F5344CB8AC3E}">
        <p14:creationId xmlns:p14="http://schemas.microsoft.com/office/powerpoint/2010/main" val="4003228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145"/>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Look for and Correct Weaknesses </a:t>
            </a:r>
            <a:r>
              <a:rPr lang="en-US" sz="2600" kern="1200" dirty="0">
                <a:latin typeface="+mj-lt"/>
                <a:ea typeface="+mj-ea"/>
                <a:cs typeface="Times New Roman" panose="02020603050405020304" pitchFamily="18" charset="0"/>
              </a:rPr>
              <a:t>(5 of 5)</a:t>
            </a:r>
          </a:p>
        </p:txBody>
      </p:sp>
      <p:sp>
        <p:nvSpPr>
          <p:cNvPr id="3" name="Text Placeholder 2"/>
          <p:cNvSpPr>
            <a:spLocks noGrp="1"/>
          </p:cNvSpPr>
          <p:nvPr>
            <p:ph type="body" idx="1"/>
          </p:nvPr>
        </p:nvSpPr>
        <p:spPr>
          <a:xfrm>
            <a:off x="457200" y="1454285"/>
            <a:ext cx="8229600" cy="203689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Weaknesses related to resources: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institutional setting is unfavorable for the proposed research</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proposed use of equipment, support staff, or other resources is unrealistic</a:t>
            </a:r>
          </a:p>
        </p:txBody>
      </p:sp>
    </p:spTree>
    <p:extLst>
      <p:ext uri="{BB962C8B-B14F-4D97-AF65-F5344CB8AC3E}">
        <p14:creationId xmlns:p14="http://schemas.microsoft.com/office/powerpoint/2010/main" val="2820203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932959"/>
            <a:ext cx="8229601" cy="467239"/>
          </a:xfrm>
        </p:spPr>
        <p:txBody>
          <a:bodyPr lIns="0" tIns="18000" rIns="0" bIns="18000">
            <a:spAutoFit/>
          </a:bodyPr>
          <a:lstStyle/>
          <a:p>
            <a:pPr lvl="0">
              <a:spcBef>
                <a:spcPct val="0"/>
              </a:spcBef>
              <a:buClrTx/>
            </a:pPr>
            <a:r>
              <a:rPr lang="en-US" altLang="en-US" sz="2800" kern="1200" dirty="0">
                <a:latin typeface="+mj-lt"/>
                <a:ea typeface="+mj-ea"/>
                <a:cs typeface="Times New Roman" panose="02020603050405020304" pitchFamily="18" charset="0"/>
              </a:rPr>
              <a:t>Detractions from Proposal Effectiveness </a:t>
            </a:r>
            <a:r>
              <a:rPr lang="en-US" altLang="en-US" sz="2000" kern="1200" dirty="0">
                <a:latin typeface="+mj-lt"/>
                <a:ea typeface="+mj-ea"/>
                <a:cs typeface="Times New Roman" panose="02020603050405020304" pitchFamily="18" charset="0"/>
              </a:rPr>
              <a:t>(1 of 2)</a:t>
            </a:r>
            <a:endParaRPr lang="en-US" sz="20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979579"/>
            <a:ext cx="8229600" cy="219078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Look for and correct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Vague statement of the problem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Incompletely described methodology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General and cursory treatment of each </a:t>
            </a:r>
            <a:r>
              <a:rPr lang="en-US" sz="2400" kern="1200" dirty="0" err="1">
                <a:solidFill>
                  <a:srgbClr val="000000"/>
                </a:solidFill>
                <a:latin typeface="Arial" panose="020B0604020202020204" pitchFamily="34" charset="0"/>
                <a:ea typeface="+mn-ea"/>
                <a:cs typeface="Arial" panose="020B0604020202020204" pitchFamily="34" charset="0"/>
              </a:rPr>
              <a:t>subproblem</a:t>
            </a:r>
            <a:endParaRPr lang="en-US" sz="2400" kern="1200" dirty="0">
              <a:solidFill>
                <a:srgbClr val="000000"/>
              </a:solidFill>
              <a:latin typeface="Arial" panose="020B0604020202020204" pitchFamily="34" charset="0"/>
              <a:ea typeface="+mn-ea"/>
              <a:cs typeface="Arial" panose="020B0604020202020204" pitchFamily="34" charset="0"/>
            </a:endParaRP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Phrasing of the proposal is not useful for evaluation</a:t>
            </a:r>
          </a:p>
        </p:txBody>
      </p:sp>
    </p:spTree>
    <p:extLst>
      <p:ext uri="{BB962C8B-B14F-4D97-AF65-F5344CB8AC3E}">
        <p14:creationId xmlns:p14="http://schemas.microsoft.com/office/powerpoint/2010/main" val="2163156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32960"/>
            <a:ext cx="8229600" cy="467239"/>
          </a:xfrm>
        </p:spPr>
        <p:txBody>
          <a:bodyPr lIns="0" tIns="18000" rIns="0" bIns="18000">
            <a:spAutoFit/>
          </a:bodyPr>
          <a:lstStyle/>
          <a:p>
            <a:pPr lvl="0">
              <a:spcBef>
                <a:spcPct val="0"/>
              </a:spcBef>
              <a:buClrTx/>
            </a:pPr>
            <a:r>
              <a:rPr lang="en-US" altLang="en-US" sz="2800" kern="1200" dirty="0">
                <a:latin typeface="+mj-lt"/>
                <a:ea typeface="+mj-ea"/>
                <a:cs typeface="Times New Roman" panose="02020603050405020304" pitchFamily="18" charset="0"/>
              </a:rPr>
              <a:t>Detractions from Proposal Effectiveness </a:t>
            </a:r>
            <a:r>
              <a:rPr lang="en-US" altLang="en-US" sz="2000" kern="1200" dirty="0">
                <a:latin typeface="+mj-lt"/>
                <a:ea typeface="+mj-ea"/>
                <a:cs typeface="Times New Roman" panose="02020603050405020304" pitchFamily="18" charset="0"/>
              </a:rPr>
              <a:t>(2 of 2)</a:t>
            </a:r>
            <a:endParaRPr lang="en-US" sz="20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989311"/>
            <a:ext cx="8229600" cy="211384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Look for and correct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Deviation of the format of the proposal from institutional guidelines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Failure to include cited sources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Incompletely or incorrectly cited sources</a:t>
            </a:r>
          </a:p>
        </p:txBody>
      </p:sp>
    </p:spTree>
    <p:extLst>
      <p:ext uri="{BB962C8B-B14F-4D97-AF65-F5344CB8AC3E}">
        <p14:creationId xmlns:p14="http://schemas.microsoft.com/office/powerpoint/2010/main" val="2254894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7203"/>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For a Proposal to a Funding Agency </a:t>
            </a:r>
            <a:r>
              <a:rPr lang="en-US" sz="24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4009"/>
            <a:ext cx="8229600" cy="285250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Look for and correct if</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problem does not address the research area outlined by the funding agency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proposal is too ambitious for the grant money available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Items included in the budget are disallowed by the terms of the grant</a:t>
            </a:r>
          </a:p>
        </p:txBody>
      </p:sp>
    </p:spTree>
    <p:extLst>
      <p:ext uri="{BB962C8B-B14F-4D97-AF65-F5344CB8AC3E}">
        <p14:creationId xmlns:p14="http://schemas.microsoft.com/office/powerpoint/2010/main" val="2429695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7193"/>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For a Proposal to a Funding Agency </a:t>
            </a:r>
            <a:r>
              <a:rPr lang="en-US" sz="24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4010"/>
            <a:ext cx="8229600" cy="203689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Look for and correct if</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 clear and explicit statement is lacking; the summary of the estimated costs is ambiguous and indefinite.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There is an unclear explanation of the relationship of the study to the purpose for which the grant is awarded</a:t>
            </a:r>
          </a:p>
        </p:txBody>
      </p:sp>
    </p:spTree>
    <p:extLst>
      <p:ext uri="{BB962C8B-B14F-4D97-AF65-F5344CB8AC3E}">
        <p14:creationId xmlns:p14="http://schemas.microsoft.com/office/powerpoint/2010/main" val="4090969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299500"/>
            <a:ext cx="8272252" cy="590349"/>
          </a:xfrm>
        </p:spPr>
        <p:txBody>
          <a:bodyPr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851EEF09-967F-4C3D-82D3-641DA9EECDF7}"/>
              </a:ext>
            </a:extLst>
          </p:cNvPr>
          <p:cNvPicPr>
            <a:picLocks noGrp="1" noChangeAspect="1"/>
          </p:cNvPicPr>
          <p:nvPr>
            <p:ph type="pic" sz="quarter" idx="11"/>
          </p:nvPr>
        </p:nvPicPr>
        <p:blipFill>
          <a:blip r:embed="rId2"/>
          <a:stretch>
            <a:fillRect/>
          </a:stretch>
        </p:blipFill>
        <p:spPr>
          <a:xfrm>
            <a:off x="591806" y="2719269"/>
            <a:ext cx="1276350" cy="1438275"/>
          </a:xfrm>
          <a:prstGeom prst="rect">
            <a:avLst/>
          </a:prstGeom>
        </p:spPr>
      </p:pic>
      <p:sp>
        <p:nvSpPr>
          <p:cNvPr id="6" name="Content Placeholder 2">
            <a:extLst>
              <a:ext uri="{FF2B5EF4-FFF2-40B4-BE49-F238E27FC236}">
                <a16:creationId xmlns:a16="http://schemas.microsoft.com/office/drawing/2014/main" id="{92FA79A0-7730-4CCE-A6C7-B3ACBD8327C3}"/>
              </a:ext>
            </a:extLst>
          </p:cNvPr>
          <p:cNvSpPr>
            <a:spLocks noGrp="1"/>
          </p:cNvSpPr>
          <p:nvPr>
            <p:ph sz="quarter" idx="10"/>
          </p:nvPr>
        </p:nvSpPr>
        <p:spPr>
          <a:xfrm>
            <a:off x="2139347" y="1815142"/>
            <a:ext cx="6573329"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530001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541C07-8170-4755-8EEC-2ADC54DA4741}">
  <ds:schemaRefs>
    <ds:schemaRef ds:uri="http://schemas.microsoft.com/sharepoint/v3/contenttype/forms"/>
  </ds:schemaRefs>
</ds:datastoreItem>
</file>

<file path=customXml/itemProps2.xml><?xml version="1.0" encoding="utf-8"?>
<ds:datastoreItem xmlns:ds="http://schemas.openxmlformats.org/officeDocument/2006/customXml" ds:itemID="{F6EC0814-5ADE-4F4F-883A-72FC14A69DAF}">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16A8C1C-BEF8-4471-A757-52D86FFC50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8350</TotalTime>
  <Words>1105</Words>
  <Application>Microsoft Office PowerPoint</Application>
  <PresentationFormat>On-screen Show (4:3)</PresentationFormat>
  <Paragraphs>124</Paragraphs>
  <Slides>21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Arial (Headings)</vt:lpstr>
      <vt:lpstr>Noto Sans Symbols</vt:lpstr>
      <vt:lpstr>Times New Roman</vt:lpstr>
      <vt:lpstr>Verdana</vt:lpstr>
      <vt:lpstr>508 Lecture</vt:lpstr>
      <vt:lpstr>1_508 Lecture</vt:lpstr>
      <vt:lpstr>Practical Research: Planning and Design</vt:lpstr>
      <vt:lpstr>The Research Proposal</vt:lpstr>
      <vt:lpstr>Characteristics of a Research Proposal</vt:lpstr>
      <vt:lpstr>Organization of a Quantitative Proposal</vt:lpstr>
      <vt:lpstr>Organization of a Qualitative Proposal</vt:lpstr>
      <vt:lpstr>Formatting Headings and Subheadings</vt:lpstr>
      <vt:lpstr>Writing Your Proposal (1 of 3)</vt:lpstr>
      <vt:lpstr>Writing Your Proposal (2 of 3)</vt:lpstr>
      <vt:lpstr>Writing Your Proposal (3 of 3)</vt:lpstr>
      <vt:lpstr>Revising Your Proposal (1 of 2)</vt:lpstr>
      <vt:lpstr>Revising Your Proposal (2 of 2)</vt:lpstr>
      <vt:lpstr>Look for and Correct Weaknesses (1 of 5)</vt:lpstr>
      <vt:lpstr>Look for and Correct Weaknesses (2 of 5)</vt:lpstr>
      <vt:lpstr>Look for and Correct Weaknesses (3 of 5)</vt:lpstr>
      <vt:lpstr>Look for and Correct Weaknesses (4 of 5)</vt:lpstr>
      <vt:lpstr>Look for and Correct Weaknesses (5 of 5)</vt:lpstr>
      <vt:lpstr>Detractions from Proposal Effectiveness (1 of 2)</vt:lpstr>
      <vt:lpstr>Detractions from Proposal Effectiveness (2 of 2)</vt:lpstr>
      <vt:lpstr>For a Proposal to a Funding Agency (1 of 2)</vt:lpstr>
      <vt:lpstr>For a Proposal to a Funding Agency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5</dc:title>
  <dc:subject>TED/Careers</dc:subject>
  <dc:creator>Leedy and Ormrod</dc:creator>
  <cp:keywords>Practical Research</cp:keywords>
  <cp:lastModifiedBy>Md. Shakil Hossain</cp:lastModifiedBy>
  <cp:revision>843</cp:revision>
  <dcterms:modified xsi:type="dcterms:W3CDTF">2026-05-11T19:37:57Z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