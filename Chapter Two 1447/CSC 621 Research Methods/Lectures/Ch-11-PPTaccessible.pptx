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7"/>
  </p:notesMasterIdLst>
  <p:handoutMasterIdLst>
    <p:handoutMasterId r:id="rId38"/>
  </p:handoutMasterIdLst>
  <p:sldIdLst>
    <p:sldId id="340" r:id="rId3"/>
    <p:sldId id="307" r:id="rId4"/>
    <p:sldId id="308" r:id="rId5"/>
    <p:sldId id="309" r:id="rId6"/>
    <p:sldId id="310" r:id="rId7"/>
    <p:sldId id="339"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42" r:id="rId31"/>
    <p:sldId id="335" r:id="rId32"/>
    <p:sldId id="336" r:id="rId33"/>
    <p:sldId id="337" r:id="rId34"/>
    <p:sldId id="338" r:id="rId35"/>
    <p:sldId id="341" r:id="rId3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459" userDrawn="1">
          <p15:clr>
            <a:srgbClr val="A4A3A4"/>
          </p15:clr>
        </p15:guide>
        <p15:guide id="4" orient="horz" pos="300" userDrawn="1">
          <p15:clr>
            <a:srgbClr val="A4A3A4"/>
          </p15:clr>
        </p15:guide>
        <p15:guide id="5" orient="horz" pos="913" userDrawn="1">
          <p15:clr>
            <a:srgbClr val="A4A3A4"/>
          </p15:clr>
        </p15:guide>
        <p15:guide id="6" orient="horz" pos="4088" userDrawn="1">
          <p15:clr>
            <a:srgbClr val="A4A3A4"/>
          </p15:clr>
        </p15:guide>
        <p15:guide id="7" pos="272" userDrawn="1">
          <p15:clr>
            <a:srgbClr val="A4A3A4"/>
          </p15:clr>
        </p15:guide>
        <p15:guide id="8" pos="54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30" autoAdjust="0"/>
    <p:restoredTop sz="95259" autoAdjust="0"/>
  </p:normalViewPr>
  <p:slideViewPr>
    <p:cSldViewPr snapToGrid="0" snapToObjects="1">
      <p:cViewPr varScale="1">
        <p:scale>
          <a:sx n="82" d="100"/>
          <a:sy n="82" d="100"/>
        </p:scale>
        <p:origin x="834" y="96"/>
      </p:cViewPr>
      <p:guideLst>
        <p:guide orient="horz" pos="2160"/>
        <p:guide pos="2880"/>
        <p:guide orient="horz" pos="459"/>
        <p:guide orient="horz" pos="300"/>
        <p:guide orient="horz" pos="913"/>
        <p:guide orient="horz" pos="4088"/>
        <p:guide pos="272"/>
        <p:guide pos="5488"/>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46" Type="http://schemas.openxmlformats.org/officeDocument/2006/relationships/customXml" Target="../customXml/item3.xml"/><Relationship Id="rId20" Type="http://schemas.openxmlformats.org/officeDocument/2006/relationships/slide" Target="slides/slide18.xml"/><Relationship Id="rId4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0298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4CBB54A-3ADF-4B42-A676-D66841A7CBE6}"/>
              </a:ext>
            </a:extLst>
          </p:cNvPr>
          <p:cNvSpPr>
            <a:spLocks noGrp="1"/>
          </p:cNvSpPr>
          <p:nvPr>
            <p:ph sz="quarter" idx="10"/>
          </p:nvPr>
        </p:nvSpPr>
        <p:spPr>
          <a:xfrm>
            <a:off x="1811338" y="2033588"/>
            <a:ext cx="4418012" cy="13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43D67E2-7630-4A76-8A6E-4D3A9AF910FD}"/>
              </a:ext>
            </a:extLst>
          </p:cNvPr>
          <p:cNvSpPr>
            <a:spLocks noGrp="1"/>
          </p:cNvSpPr>
          <p:nvPr>
            <p:ph type="pic" sz="quarter" idx="11"/>
          </p:nvPr>
        </p:nvSpPr>
        <p:spPr>
          <a:xfrm>
            <a:off x="2127250" y="4149725"/>
            <a:ext cx="4418013" cy="1200150"/>
          </a:xfrm>
        </p:spPr>
        <p:txBody>
          <a:bodyPr/>
          <a:lstStyle/>
          <a:p>
            <a:endParaRPr lang="en-US"/>
          </a:p>
        </p:txBody>
      </p:sp>
    </p:spTree>
    <p:extLst>
      <p:ext uri="{BB962C8B-B14F-4D97-AF65-F5344CB8AC3E}">
        <p14:creationId xmlns:p14="http://schemas.microsoft.com/office/powerpoint/2010/main" val="1730978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046609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7B86D8D-7E57-4733-AA5A-C6136254BFEA}"/>
              </a:ext>
            </a:extLst>
          </p:cNvPr>
          <p:cNvSpPr>
            <a:spLocks noGrp="1"/>
          </p:cNvSpPr>
          <p:nvPr>
            <p:ph type="pic" sz="quarter" idx="14"/>
          </p:nvPr>
        </p:nvSpPr>
        <p:spPr>
          <a:xfrm>
            <a:off x="735013" y="2495550"/>
            <a:ext cx="3546475" cy="1119188"/>
          </a:xfrm>
        </p:spPr>
        <p:txBody>
          <a:bodyPr/>
          <a:lstStyle/>
          <a:p>
            <a:endParaRPr lang="en-US"/>
          </a:p>
        </p:txBody>
      </p:sp>
      <p:sp>
        <p:nvSpPr>
          <p:cNvPr id="5" name="Picture Placeholder 4">
            <a:extLst>
              <a:ext uri="{FF2B5EF4-FFF2-40B4-BE49-F238E27FC236}">
                <a16:creationId xmlns:a16="http://schemas.microsoft.com/office/drawing/2014/main" id="{32D9E9EB-3E4C-472F-A7BA-98CFA5350DD9}"/>
              </a:ext>
            </a:extLst>
          </p:cNvPr>
          <p:cNvSpPr>
            <a:spLocks noGrp="1"/>
          </p:cNvSpPr>
          <p:nvPr>
            <p:ph type="pic" sz="quarter" idx="15"/>
          </p:nvPr>
        </p:nvSpPr>
        <p:spPr>
          <a:xfrm>
            <a:off x="717550" y="4095750"/>
            <a:ext cx="3657600" cy="954088"/>
          </a:xfrm>
        </p:spPr>
        <p:txBody>
          <a:bodyPr/>
          <a:lstStyle/>
          <a:p>
            <a:endParaRPr lang="en-US"/>
          </a:p>
        </p:txBody>
      </p:sp>
    </p:spTree>
    <p:extLst>
      <p:ext uri="{BB962C8B-B14F-4D97-AF65-F5344CB8AC3E}">
        <p14:creationId xmlns:p14="http://schemas.microsoft.com/office/powerpoint/2010/main" val="1003606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443972" y="6429709"/>
            <a:ext cx="917999" cy="279914"/>
          </a:xfrm>
          <a:prstGeom prst="rect">
            <a:avLst/>
          </a:prstGeom>
          <a:noFill/>
          <a:ln>
            <a:noFill/>
          </a:ln>
        </p:spPr>
      </p:pic>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9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4" r:id="rId2"/>
    <p:sldLayoutId id="214748369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4583"/>
            <a:ext cx="8272252" cy="1144347"/>
          </a:xfrm>
        </p:spPr>
        <p:txBody>
          <a:bodyPr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66705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3404E0E7-E186-4457-B728-08F8E7ADD930}"/>
              </a:ext>
            </a:extLst>
          </p:cNvPr>
          <p:cNvPicPr>
            <a:picLocks noGrp="1" noChangeAspect="1"/>
          </p:cNvPicPr>
          <p:nvPr>
            <p:ph type="pic" sz="quarter" idx="14"/>
          </p:nvPr>
        </p:nvPicPr>
        <p:blipFill>
          <a:blip r:embed="rId3"/>
          <a:stretch>
            <a:fillRect/>
          </a:stretch>
        </p:blipFill>
        <p:spPr>
          <a:xfrm>
            <a:off x="440805" y="2218522"/>
            <a:ext cx="3247505" cy="4051069"/>
          </a:xfrm>
          <a:prstGeom prst="rect">
            <a:avLst/>
          </a:prstGeom>
        </p:spPr>
      </p:pic>
      <p:sp>
        <p:nvSpPr>
          <p:cNvPr id="4" name="Text Placeholder 3"/>
          <p:cNvSpPr>
            <a:spLocks noGrp="1"/>
          </p:cNvSpPr>
          <p:nvPr>
            <p:ph type="body" idx="2"/>
          </p:nvPr>
        </p:nvSpPr>
        <p:spPr>
          <a:xfrm>
            <a:off x="4580629" y="2871974"/>
            <a:ext cx="2007457"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11</a:t>
            </a:r>
          </a:p>
        </p:txBody>
      </p:sp>
      <p:sp>
        <p:nvSpPr>
          <p:cNvPr id="5" name="Text Placeholder 4"/>
          <p:cNvSpPr>
            <a:spLocks noGrp="1"/>
          </p:cNvSpPr>
          <p:nvPr>
            <p:ph type="body" idx="3"/>
          </p:nvPr>
        </p:nvSpPr>
        <p:spPr>
          <a:xfrm>
            <a:off x="4580628" y="3668904"/>
            <a:ext cx="4131571" cy="374906"/>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Analyzing Quantitative Data</a:t>
            </a:r>
          </a:p>
        </p:txBody>
      </p:sp>
      <p:pic>
        <p:nvPicPr>
          <p:cNvPr id="13" name="Picture Placeholder 12" descr="Pearson Logo">
            <a:extLst>
              <a:ext uri="{FF2B5EF4-FFF2-40B4-BE49-F238E27FC236}">
                <a16:creationId xmlns:a16="http://schemas.microsoft.com/office/drawing/2014/main" id="{B1452051-097A-4E47-A9C4-A6DFE1F8F6A1}"/>
              </a:ext>
            </a:extLst>
          </p:cNvPr>
          <p:cNvPicPr>
            <a:picLocks noGrp="1" noChangeAspect="1"/>
          </p:cNvPicPr>
          <p:nvPr>
            <p:ph type="pic" sz="quarter" idx="15"/>
          </p:nvPr>
        </p:nvPicPr>
        <p:blipFill>
          <a:blip r:embed="rId4"/>
          <a:stretch>
            <a:fillRect/>
          </a:stretch>
        </p:blipFill>
        <p:spPr>
          <a:xfrm>
            <a:off x="441719" y="6436570"/>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36123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5"/>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Exploring and Organizing a Data Set</a:t>
            </a:r>
          </a:p>
        </p:txBody>
      </p:sp>
      <p:sp>
        <p:nvSpPr>
          <p:cNvPr id="3" name="Text Placeholder 2"/>
          <p:cNvSpPr>
            <a:spLocks noGrp="1"/>
          </p:cNvSpPr>
          <p:nvPr>
            <p:ph type="body" idx="1"/>
          </p:nvPr>
        </p:nvSpPr>
        <p:spPr>
          <a:xfrm>
            <a:off x="457200" y="1464012"/>
            <a:ext cx="8229600" cy="3198756"/>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Statistics: computational procedures that enable us to find patterns and meaning in numerical data</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Data need to be organized before they are analyzed</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Whatever the researcher does to prepare will affect the meaning that the data reveal</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Every researcher should be able to provide a clear, logical rationale for the procedure used data</a:t>
            </a:r>
          </a:p>
        </p:txBody>
      </p:sp>
    </p:spTree>
    <p:extLst>
      <p:ext uri="{BB962C8B-B14F-4D97-AF65-F5344CB8AC3E}">
        <p14:creationId xmlns:p14="http://schemas.microsoft.com/office/powerpoint/2010/main" val="2932277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565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Organizing Data</a:t>
            </a:r>
          </a:p>
        </p:txBody>
      </p:sp>
      <p:sp>
        <p:nvSpPr>
          <p:cNvPr id="3" name="Text Placeholder 2"/>
          <p:cNvSpPr>
            <a:spLocks noGrp="1"/>
          </p:cNvSpPr>
          <p:nvPr>
            <p:ph type="body" idx="1"/>
          </p:nvPr>
        </p:nvSpPr>
        <p:spPr>
          <a:xfrm>
            <a:off x="457200" y="1464009"/>
            <a:ext cx="8229600" cy="166756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To identify patterns, first organize the data in meaningful ways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 a table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 a graph</a:t>
            </a:r>
          </a:p>
        </p:txBody>
      </p:sp>
    </p:spTree>
    <p:extLst>
      <p:ext uri="{BB962C8B-B14F-4D97-AF65-F5344CB8AC3E}">
        <p14:creationId xmlns:p14="http://schemas.microsoft.com/office/powerpoint/2010/main" val="2401551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123"/>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Use the Computer to Organize and Analyze Data</a:t>
            </a:r>
          </a:p>
        </p:txBody>
      </p:sp>
      <p:sp>
        <p:nvSpPr>
          <p:cNvPr id="3" name="Text Placeholder 2"/>
          <p:cNvSpPr>
            <a:spLocks noGrp="1"/>
          </p:cNvSpPr>
          <p:nvPr>
            <p:ph type="body" idx="1"/>
          </p:nvPr>
        </p:nvSpPr>
        <p:spPr>
          <a:xfrm>
            <a:off x="457200" y="1969855"/>
            <a:ext cx="8229600" cy="356808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Electronic spreadsheet: a software program that allows a researcher to manipulate data displayed in a table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Uses of electronic spreadsheets: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Sorting data</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Recoding data</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Calculating formulas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Graphing from the data</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Employing “trial and error” explorations</a:t>
            </a:r>
          </a:p>
        </p:txBody>
      </p:sp>
    </p:spTree>
    <p:extLst>
      <p:ext uri="{BB962C8B-B14F-4D97-AF65-F5344CB8AC3E}">
        <p14:creationId xmlns:p14="http://schemas.microsoft.com/office/powerpoint/2010/main" val="986139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Choosing Statistics</a:t>
            </a:r>
          </a:p>
        </p:txBody>
      </p:sp>
      <p:sp>
        <p:nvSpPr>
          <p:cNvPr id="3" name="Text Placeholder 2"/>
          <p:cNvSpPr>
            <a:spLocks noGrp="1"/>
          </p:cNvSpPr>
          <p:nvPr>
            <p:ph type="body" idx="1"/>
          </p:nvPr>
        </p:nvSpPr>
        <p:spPr>
          <a:xfrm>
            <a:off x="457200" y="1464011"/>
            <a:ext cx="8229600" cy="314489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Two major functions of statistics</a:t>
            </a:r>
          </a:p>
          <a:p>
            <a:pPr marL="741553" lvl="1" indent="-284353">
              <a:spcAft>
                <a:spcPct val="0"/>
              </a:spcAft>
              <a:buSzPts val="2400"/>
            </a:pPr>
            <a:r>
              <a:rPr lang="en-US" sz="2400" b="1" kern="1200" dirty="0">
                <a:solidFill>
                  <a:srgbClr val="000000"/>
                </a:solidFill>
                <a:latin typeface="Arial" panose="020B0604020202020204" pitchFamily="34" charset="0"/>
                <a:ea typeface="+mn-ea"/>
                <a:cs typeface="Arial" panose="020B0604020202020204" pitchFamily="34" charset="0"/>
              </a:rPr>
              <a:t>Descriptive statistics </a:t>
            </a:r>
            <a:r>
              <a:rPr lang="en-US" sz="2400" kern="1200" dirty="0">
                <a:solidFill>
                  <a:srgbClr val="000000"/>
                </a:solidFill>
                <a:latin typeface="Arial" panose="020B0604020202020204" pitchFamily="34" charset="0"/>
                <a:ea typeface="+mn-ea"/>
                <a:cs typeface="Arial" panose="020B0604020202020204" pitchFamily="34" charset="0"/>
              </a:rPr>
              <a:t>describe what the data look like, how broadly they are spread, and how closely two or more variables within the data are associated with another.</a:t>
            </a:r>
          </a:p>
          <a:p>
            <a:pPr marL="741553" lvl="1" indent="-284353">
              <a:spcAft>
                <a:spcPct val="0"/>
              </a:spcAft>
              <a:buSzPts val="2400"/>
            </a:pPr>
            <a:r>
              <a:rPr lang="en-US" sz="2400" b="1" kern="1200" dirty="0">
                <a:solidFill>
                  <a:srgbClr val="000000"/>
                </a:solidFill>
                <a:latin typeface="Arial" panose="020B0604020202020204" pitchFamily="34" charset="0"/>
                <a:ea typeface="+mn-ea"/>
                <a:cs typeface="Arial" panose="020B0604020202020204" pitchFamily="34" charset="0"/>
              </a:rPr>
              <a:t>Inferential statistics </a:t>
            </a:r>
            <a:r>
              <a:rPr lang="en-US" sz="2400" kern="1200" dirty="0">
                <a:solidFill>
                  <a:srgbClr val="000000"/>
                </a:solidFill>
                <a:latin typeface="Arial" panose="020B0604020202020204" pitchFamily="34" charset="0"/>
                <a:ea typeface="+mn-ea"/>
                <a:cs typeface="Arial" panose="020B0604020202020204" pitchFamily="34" charset="0"/>
              </a:rPr>
              <a:t>allow us to draw inferences about large populations by collecting data on relatively small samples.</a:t>
            </a:r>
          </a:p>
        </p:txBody>
      </p:sp>
    </p:spTree>
    <p:extLst>
      <p:ext uri="{BB962C8B-B14F-4D97-AF65-F5344CB8AC3E}">
        <p14:creationId xmlns:p14="http://schemas.microsoft.com/office/powerpoint/2010/main" val="2614139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125"/>
            <a:ext cx="8229600" cy="1144347"/>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Statistics as Estimates of Population Parameters</a:t>
            </a:r>
          </a:p>
        </p:txBody>
      </p:sp>
      <p:sp>
        <p:nvSpPr>
          <p:cNvPr id="13" name="Content Placeholder 12">
            <a:extLst>
              <a:ext uri="{FF2B5EF4-FFF2-40B4-BE49-F238E27FC236}">
                <a16:creationId xmlns:a16="http://schemas.microsoft.com/office/drawing/2014/main" id="{51FC29A0-60AB-4FC9-A603-23AAEB93888E}"/>
              </a:ext>
            </a:extLst>
          </p:cNvPr>
          <p:cNvSpPr>
            <a:spLocks noGrp="1"/>
          </p:cNvSpPr>
          <p:nvPr>
            <p:ph sz="quarter" idx="13"/>
          </p:nvPr>
        </p:nvSpPr>
        <p:spPr>
          <a:xfrm>
            <a:off x="457200" y="1966781"/>
            <a:ext cx="8255000" cy="1744511"/>
          </a:xfrm>
        </p:spPr>
        <p:txBody>
          <a:bodyPr lIns="0" tIns="18000" rIns="0" bIns="18000">
            <a:spAutoFit/>
          </a:bodyPr>
          <a:lstStyle/>
          <a:p>
            <a:pPr marL="342900" indent="-342900"/>
            <a:r>
              <a:rPr lang="en-US" sz="2400" dirty="0">
                <a:latin typeface="Arial" panose="020B0604020202020204" pitchFamily="34" charset="0"/>
                <a:cs typeface="Arial" panose="020B0604020202020204" pitchFamily="34" charset="0"/>
              </a:rPr>
              <a:t>Parameter:</a:t>
            </a:r>
          </a:p>
          <a:p>
            <a:pPr marL="829818" lvl="1" indent="-342900"/>
            <a:r>
              <a:rPr lang="en-US" sz="2400" dirty="0">
                <a:latin typeface="Arial" panose="020B0604020202020204" pitchFamily="34" charset="0"/>
                <a:cs typeface="Arial" panose="020B0604020202020204" pitchFamily="34" charset="0"/>
              </a:rPr>
              <a:t>characteristic or quality of a population</a:t>
            </a:r>
          </a:p>
          <a:p>
            <a:pPr marL="1229868" lvl="2" indent="-342900"/>
            <a:r>
              <a:rPr lang="en-US" sz="2400" dirty="0">
                <a:latin typeface="Arial" panose="020B0604020202020204" pitchFamily="34" charset="0"/>
                <a:cs typeface="Arial" panose="020B0604020202020204" pitchFamily="34" charset="0"/>
              </a:rPr>
              <a:t>Parameters of a circle</a:t>
            </a:r>
          </a:p>
          <a:p>
            <a:pPr marL="1687068" lvl="3" indent="-342900"/>
            <a:r>
              <a:rPr lang="en-US" sz="2400" dirty="0">
                <a:latin typeface="Arial" panose="020B0604020202020204" pitchFamily="34" charset="0"/>
                <a:cs typeface="Arial" panose="020B0604020202020204" pitchFamily="34" charset="0"/>
              </a:rPr>
              <a:t>diameter is twice the radius (r)</a:t>
            </a:r>
          </a:p>
        </p:txBody>
      </p:sp>
      <p:sp>
        <p:nvSpPr>
          <p:cNvPr id="16" name="Content Placeholder 15">
            <a:extLst>
              <a:ext uri="{FF2B5EF4-FFF2-40B4-BE49-F238E27FC236}">
                <a16:creationId xmlns:a16="http://schemas.microsoft.com/office/drawing/2014/main" id="{16FE26C8-3FAE-40DA-9599-2B5CEA923631}"/>
              </a:ext>
            </a:extLst>
          </p:cNvPr>
          <p:cNvSpPr>
            <a:spLocks noGrp="1"/>
          </p:cNvSpPr>
          <p:nvPr>
            <p:ph sz="quarter" idx="14"/>
          </p:nvPr>
        </p:nvSpPr>
        <p:spPr>
          <a:xfrm>
            <a:off x="457200" y="3752007"/>
            <a:ext cx="5029199" cy="405683"/>
          </a:xfrm>
        </p:spPr>
        <p:txBody>
          <a:bodyPr wrap="square" lIns="0" tIns="18000" rIns="0" bIns="18000">
            <a:spAutoFit/>
          </a:bodyPr>
          <a:lstStyle/>
          <a:p>
            <a:pPr marL="1704531" lvl="3" indent="-360363"/>
            <a:r>
              <a:rPr lang="en-US" sz="2400" dirty="0">
                <a:latin typeface="Arial" panose="020B0604020202020204" pitchFamily="34" charset="0"/>
                <a:cs typeface="Arial" panose="020B0604020202020204" pitchFamily="34" charset="0"/>
              </a:rPr>
              <a:t>circumference is always</a:t>
            </a:r>
          </a:p>
        </p:txBody>
      </p:sp>
      <p:graphicFrame>
        <p:nvGraphicFramePr>
          <p:cNvPr id="25" name="Object 24" descr="2 pi r.">
            <a:extLst>
              <a:ext uri="{FF2B5EF4-FFF2-40B4-BE49-F238E27FC236}">
                <a16:creationId xmlns:a16="http://schemas.microsoft.com/office/drawing/2014/main" id="{5E0DCF7B-CCEE-4E75-975D-0C0EF66CC740}"/>
              </a:ext>
            </a:extLst>
          </p:cNvPr>
          <p:cNvGraphicFramePr>
            <a:graphicFrameLocks noChangeAspect="1"/>
          </p:cNvGraphicFramePr>
          <p:nvPr>
            <p:extLst>
              <p:ext uri="{D42A27DB-BD31-4B8C-83A1-F6EECF244321}">
                <p14:modId xmlns:p14="http://schemas.microsoft.com/office/powerpoint/2010/main" val="2049378002"/>
              </p:ext>
            </p:extLst>
          </p:nvPr>
        </p:nvGraphicFramePr>
        <p:xfrm>
          <a:off x="5618047" y="3767274"/>
          <a:ext cx="573088" cy="379412"/>
        </p:xfrm>
        <a:graphic>
          <a:graphicData uri="http://schemas.openxmlformats.org/presentationml/2006/ole">
            <mc:AlternateContent xmlns:mc="http://schemas.openxmlformats.org/markup-compatibility/2006">
              <mc:Choice xmlns:v="urn:schemas-microsoft-com:vml" Requires="v">
                <p:oleObj spid="_x0000_s1070" name="Equation" r:id="rId3" imgW="266400" imgH="177480" progId="Equation.DSMT4">
                  <p:embed/>
                </p:oleObj>
              </mc:Choice>
              <mc:Fallback>
                <p:oleObj name="Equation" r:id="rId3" imgW="266400" imgH="177480" progId="Equation.DSMT4">
                  <p:embed/>
                  <p:pic>
                    <p:nvPicPr>
                      <p:cNvPr id="15" name="Object 14" descr="2 pi r"/>
                      <p:cNvPicPr/>
                      <p:nvPr/>
                    </p:nvPicPr>
                    <p:blipFill>
                      <a:blip r:embed="rId4"/>
                      <a:stretch>
                        <a:fillRect/>
                      </a:stretch>
                    </p:blipFill>
                    <p:spPr>
                      <a:xfrm>
                        <a:off x="5618047" y="3767274"/>
                        <a:ext cx="573088" cy="379412"/>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7D6DC4D2-6DE8-444E-8D03-EA2AF174FA23}"/>
              </a:ext>
            </a:extLst>
          </p:cNvPr>
          <p:cNvSpPr>
            <a:spLocks noGrp="1"/>
          </p:cNvSpPr>
          <p:nvPr>
            <p:ph sz="quarter" idx="15"/>
          </p:nvPr>
        </p:nvSpPr>
        <p:spPr>
          <a:xfrm>
            <a:off x="457201" y="4229909"/>
            <a:ext cx="3646317" cy="405683"/>
          </a:xfrm>
        </p:spPr>
        <p:txBody>
          <a:bodyPr wrap="square" lIns="0" tIns="18000" rIns="0" bIns="18000">
            <a:spAutoFit/>
          </a:bodyPr>
          <a:lstStyle/>
          <a:p>
            <a:pPr marL="1704975" lvl="3" indent="-360363"/>
            <a:r>
              <a:rPr lang="en-US" sz="2400" dirty="0">
                <a:latin typeface="Arial" panose="020B0604020202020204" pitchFamily="34" charset="0"/>
                <a:cs typeface="Arial" panose="020B0604020202020204" pitchFamily="34" charset="0"/>
              </a:rPr>
              <a:t>area is always</a:t>
            </a:r>
          </a:p>
        </p:txBody>
      </p:sp>
      <p:graphicFrame>
        <p:nvGraphicFramePr>
          <p:cNvPr id="26" name="Object 25" descr="pi r squared.">
            <a:extLst>
              <a:ext uri="{FF2B5EF4-FFF2-40B4-BE49-F238E27FC236}">
                <a16:creationId xmlns:a16="http://schemas.microsoft.com/office/drawing/2014/main" id="{A59C5D13-7EDF-40C3-9DD9-231F6A0C137E}"/>
              </a:ext>
            </a:extLst>
          </p:cNvPr>
          <p:cNvGraphicFramePr>
            <a:graphicFrameLocks noChangeAspect="1"/>
          </p:cNvGraphicFramePr>
          <p:nvPr>
            <p:extLst>
              <p:ext uri="{D42A27DB-BD31-4B8C-83A1-F6EECF244321}">
                <p14:modId xmlns:p14="http://schemas.microsoft.com/office/powerpoint/2010/main" val="3216948130"/>
              </p:ext>
            </p:extLst>
          </p:nvPr>
        </p:nvGraphicFramePr>
        <p:xfrm>
          <a:off x="4228211" y="4173295"/>
          <a:ext cx="517525" cy="434975"/>
        </p:xfrm>
        <a:graphic>
          <a:graphicData uri="http://schemas.openxmlformats.org/presentationml/2006/ole">
            <mc:AlternateContent xmlns:mc="http://schemas.openxmlformats.org/markup-compatibility/2006">
              <mc:Choice xmlns:v="urn:schemas-microsoft-com:vml" Requires="v">
                <p:oleObj spid="_x0000_s1071" name="Equation" r:id="rId5" imgW="241200" imgH="203040" progId="Equation.DSMT4">
                  <p:embed/>
                </p:oleObj>
              </mc:Choice>
              <mc:Fallback>
                <p:oleObj name="Equation" r:id="rId5" imgW="241200" imgH="203040" progId="Equation.DSMT4">
                  <p:embed/>
                  <p:pic>
                    <p:nvPicPr>
                      <p:cNvPr id="14" name="Object 13" descr="Pi R squared"/>
                      <p:cNvPicPr/>
                      <p:nvPr/>
                    </p:nvPicPr>
                    <p:blipFill>
                      <a:blip r:embed="rId6"/>
                      <a:stretch>
                        <a:fillRect/>
                      </a:stretch>
                    </p:blipFill>
                    <p:spPr>
                      <a:xfrm>
                        <a:off x="4228211" y="4173295"/>
                        <a:ext cx="517525" cy="434975"/>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EE1C4DC5-17DD-4E30-9DAE-C53F9C8F145C}"/>
              </a:ext>
            </a:extLst>
          </p:cNvPr>
          <p:cNvSpPr>
            <a:spLocks noGrp="1"/>
          </p:cNvSpPr>
          <p:nvPr>
            <p:ph sz="quarter" idx="16"/>
          </p:nvPr>
        </p:nvSpPr>
        <p:spPr>
          <a:xfrm>
            <a:off x="457200" y="4690179"/>
            <a:ext cx="8229600" cy="1221291"/>
          </a:xfrm>
        </p:spPr>
        <p:txBody>
          <a:bodyPr lIns="0" tIns="18000" rIns="0" bIns="18000">
            <a:spAutoFit/>
          </a:bodyPr>
          <a:lstStyle/>
          <a:p>
            <a:pPr marL="360363" indent="-360363"/>
            <a:r>
              <a:rPr lang="en-US" sz="2400" dirty="0">
                <a:latin typeface="Arial" panose="020B0604020202020204" pitchFamily="34" charset="0"/>
                <a:cs typeface="Arial" panose="020B0604020202020204" pitchFamily="34" charset="0"/>
              </a:rPr>
              <a:t>Statistic</a:t>
            </a:r>
          </a:p>
          <a:p>
            <a:pPr marL="847725" lvl="1" indent="-360363"/>
            <a:r>
              <a:rPr lang="en-US" sz="2400" dirty="0">
                <a:latin typeface="Arial" panose="020B0604020202020204" pitchFamily="34" charset="0"/>
                <a:cs typeface="Arial" panose="020B0604020202020204" pitchFamily="34" charset="0"/>
              </a:rPr>
              <a:t>Any calculation we perform for the sample rather than the population</a:t>
            </a:r>
          </a:p>
        </p:txBody>
      </p:sp>
    </p:spTree>
    <p:extLst>
      <p:ext uri="{BB962C8B-B14F-4D97-AF65-F5344CB8AC3E}">
        <p14:creationId xmlns:p14="http://schemas.microsoft.com/office/powerpoint/2010/main" val="923844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Nature of the Data </a:t>
            </a:r>
            <a:r>
              <a:rPr lang="en-US" sz="2800" kern="1200" dirty="0">
                <a:latin typeface="+mj-lt"/>
                <a:ea typeface="+mj-ea"/>
                <a:cs typeface="Times New Roman" panose="02020603050405020304" pitchFamily="18" charset="0"/>
              </a:rPr>
              <a:t>(1 of 5)</a:t>
            </a:r>
          </a:p>
        </p:txBody>
      </p:sp>
      <p:sp>
        <p:nvSpPr>
          <p:cNvPr id="3" name="Text Placeholder 2"/>
          <p:cNvSpPr>
            <a:spLocks noGrp="1"/>
          </p:cNvSpPr>
          <p:nvPr>
            <p:ph type="body" idx="1"/>
          </p:nvPr>
        </p:nvSpPr>
        <p:spPr>
          <a:xfrm>
            <a:off x="457200" y="1464012"/>
            <a:ext cx="8229600" cy="329878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nature of the data helps determine the statistic that is necessary</a:t>
            </a:r>
            <a:endParaRPr lang="en-US" sz="2400" kern="1200" dirty="0">
              <a:solidFill>
                <a:prstClr val="black"/>
              </a:solidFill>
              <a:latin typeface="Arial" panose="020B0604020202020204" pitchFamily="34" charset="0"/>
              <a:ea typeface="+mn-ea"/>
              <a:cs typeface="Arial" panose="020B0604020202020204" pitchFamily="34" charset="0"/>
            </a:endParaRP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Have your data been collected for a single group or for two or more groups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Were continuous or discrete variables involved</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Continuous = infinite number of possible values</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Discrete = finite, small number of possible values that are independent of each other</a:t>
            </a:r>
          </a:p>
        </p:txBody>
      </p:sp>
    </p:spTree>
    <p:extLst>
      <p:ext uri="{BB962C8B-B14F-4D97-AF65-F5344CB8AC3E}">
        <p14:creationId xmlns:p14="http://schemas.microsoft.com/office/powerpoint/2010/main" val="3208111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Nature of the Data </a:t>
            </a:r>
            <a:r>
              <a:rPr lang="en-US" sz="2800" kern="1200" dirty="0">
                <a:latin typeface="+mj-lt"/>
                <a:ea typeface="+mj-ea"/>
                <a:cs typeface="Times New Roman" panose="02020603050405020304" pitchFamily="18" charset="0"/>
              </a:rPr>
              <a:t>(2 of 5)</a:t>
            </a:r>
          </a:p>
        </p:txBody>
      </p:sp>
      <p:sp>
        <p:nvSpPr>
          <p:cNvPr id="3" name="Text Placeholder 2"/>
          <p:cNvSpPr>
            <a:spLocks noGrp="1"/>
          </p:cNvSpPr>
          <p:nvPr>
            <p:ph type="body" idx="1"/>
          </p:nvPr>
        </p:nvSpPr>
        <p:spPr>
          <a:xfrm>
            <a:off x="457200" y="1464010"/>
            <a:ext cx="8229600" cy="337572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nature of the data helps determine the statistic that is necessary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Do you have nominal, ordinal, interval, or ratio data</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Nominal = separate, non-ranked categories</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Ordinal = sequenced categories</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Interval = sequenced categories with equal units of measurement</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Ratio = equal intervals AND true zero point</a:t>
            </a:r>
          </a:p>
        </p:txBody>
      </p:sp>
    </p:spTree>
    <p:extLst>
      <p:ext uri="{BB962C8B-B14F-4D97-AF65-F5344CB8AC3E}">
        <p14:creationId xmlns:p14="http://schemas.microsoft.com/office/powerpoint/2010/main" val="4072550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Nature of the Data </a:t>
            </a:r>
            <a:r>
              <a:rPr lang="en-US" sz="2800" kern="1200" dirty="0">
                <a:latin typeface="+mj-lt"/>
                <a:ea typeface="+mj-ea"/>
                <a:cs typeface="Times New Roman" panose="02020603050405020304" pitchFamily="18" charset="0"/>
              </a:rPr>
              <a:t>(3 of 5)</a:t>
            </a:r>
          </a:p>
        </p:txBody>
      </p:sp>
      <p:sp>
        <p:nvSpPr>
          <p:cNvPr id="3" name="Text Placeholder 2"/>
          <p:cNvSpPr>
            <a:spLocks noGrp="1"/>
          </p:cNvSpPr>
          <p:nvPr>
            <p:ph type="body" idx="1"/>
          </p:nvPr>
        </p:nvSpPr>
        <p:spPr>
          <a:xfrm>
            <a:off x="457200" y="1464008"/>
            <a:ext cx="8229600" cy="1513679"/>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Many statistical procedures are built on the notion of a normal distribution. You may know this as the “bell curve” or the “normal curve.” This normal distribution has several distinguishing characteristics:</a:t>
            </a:r>
          </a:p>
        </p:txBody>
      </p:sp>
      <p:sp>
        <p:nvSpPr>
          <p:cNvPr id="5" name="Content Placeholder 4"/>
          <p:cNvSpPr>
            <a:spLocks noGrp="1"/>
          </p:cNvSpPr>
          <p:nvPr>
            <p:ph sz="quarter" idx="13"/>
          </p:nvPr>
        </p:nvSpPr>
        <p:spPr>
          <a:xfrm>
            <a:off x="457200" y="3047875"/>
            <a:ext cx="8229600" cy="1898400"/>
          </a:xfrm>
        </p:spPr>
        <p:txBody>
          <a:bodyPr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It is horizontally symmetrical.</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Its highest point is at its midpoint.</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Predictable percentages of the population like within any given portion of the curve.</a:t>
            </a:r>
            <a:endParaRPr lang="en-US" sz="2400" dirty="0">
              <a:latin typeface="Arial" panose="020B0604020202020204" pitchFamily="34" charset="0"/>
              <a:cs typeface="Arial" panose="020B0604020202020204" pitchFamily="34" charset="0"/>
            </a:endParaRPr>
          </a:p>
        </p:txBody>
      </p:sp>
      <p:sp>
        <p:nvSpPr>
          <p:cNvPr id="6" name="Content Placeholder 5"/>
          <p:cNvSpPr>
            <a:spLocks noGrp="1"/>
          </p:cNvSpPr>
          <p:nvPr>
            <p:ph sz="quarter" idx="14"/>
          </p:nvPr>
        </p:nvSpPr>
        <p:spPr>
          <a:xfrm>
            <a:off x="457200" y="5006066"/>
            <a:ext cx="8232775" cy="405683"/>
          </a:xfrm>
        </p:spPr>
        <p:txBody>
          <a:bodyPr lIns="0" tIns="18000" rIns="0" bIns="18000">
            <a:spAutoFit/>
          </a:bodyPr>
          <a:lstStyle/>
          <a:p>
            <a:pPr lvl="1"/>
            <a:r>
              <a:rPr lang="en-US" sz="2400" dirty="0">
                <a:latin typeface="Arial" panose="020B0604020202020204" pitchFamily="34" charset="0"/>
                <a:cs typeface="Arial" panose="020B0604020202020204" pitchFamily="34" charset="0"/>
              </a:rPr>
              <a:t>68-95-99.7 rule</a:t>
            </a:r>
          </a:p>
        </p:txBody>
      </p:sp>
    </p:spTree>
    <p:extLst>
      <p:ext uri="{BB962C8B-B14F-4D97-AF65-F5344CB8AC3E}">
        <p14:creationId xmlns:p14="http://schemas.microsoft.com/office/powerpoint/2010/main" val="531169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Nature of the Data </a:t>
            </a:r>
            <a:r>
              <a:rPr lang="en-US" sz="2800" kern="1200" dirty="0">
                <a:latin typeface="+mj-lt"/>
                <a:ea typeface="+mj-ea"/>
                <a:cs typeface="Times New Roman" panose="02020603050405020304" pitchFamily="18" charset="0"/>
              </a:rPr>
              <a:t>(4 of 5)</a:t>
            </a:r>
          </a:p>
        </p:txBody>
      </p:sp>
      <p:sp>
        <p:nvSpPr>
          <p:cNvPr id="3" name="Text Placeholder 2"/>
          <p:cNvSpPr>
            <a:spLocks noGrp="1"/>
          </p:cNvSpPr>
          <p:nvPr>
            <p:ph type="body" idx="1"/>
          </p:nvPr>
        </p:nvSpPr>
        <p:spPr>
          <a:xfrm>
            <a:off x="457200" y="1454285"/>
            <a:ext cx="8229600" cy="285250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nature of the data helps determine the statistic that is necessary</a:t>
            </a:r>
            <a:endParaRPr lang="en-US" sz="2400" kern="1200" dirty="0">
              <a:solidFill>
                <a:prstClr val="black"/>
              </a:solidFill>
              <a:latin typeface="Arial" panose="020B0604020202020204" pitchFamily="34" charset="0"/>
              <a:ea typeface="+mn-ea"/>
              <a:cs typeface="Arial" panose="020B0604020202020204" pitchFamily="34" charset="0"/>
            </a:endParaRP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Are the data normally distributed, skewed, or kurtic?</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Normal: Horizontally symmetrical frequency distribution </a:t>
            </a:r>
            <a:r>
              <a:rPr lang="en-US" sz="2400" kern="1200" dirty="0">
                <a:solidFill>
                  <a:srgbClr val="000000"/>
                </a:solidFill>
                <a:latin typeface="Arial" panose="020B0604020202020204" pitchFamily="34" charset="0"/>
                <a:ea typeface="Verdana" panose="020B0604030504040204" pitchFamily="34" charset="0"/>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scores at the center are most frequent</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Predictable percentages of the population lie within any given portion of the normal curve</a:t>
            </a:r>
          </a:p>
        </p:txBody>
      </p:sp>
    </p:spTree>
    <p:extLst>
      <p:ext uri="{BB962C8B-B14F-4D97-AF65-F5344CB8AC3E}">
        <p14:creationId xmlns:p14="http://schemas.microsoft.com/office/powerpoint/2010/main" val="1217119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5"/>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Nature of the Data </a:t>
            </a:r>
            <a:r>
              <a:rPr lang="en-US" sz="2800" kern="1200" dirty="0">
                <a:latin typeface="+mj-lt"/>
                <a:ea typeface="+mj-ea"/>
                <a:cs typeface="Times New Roman" panose="02020603050405020304" pitchFamily="18" charset="0"/>
              </a:rPr>
              <a:t>(5 of 5)</a:t>
            </a:r>
          </a:p>
        </p:txBody>
      </p:sp>
      <p:sp>
        <p:nvSpPr>
          <p:cNvPr id="3" name="Text Placeholder 2"/>
          <p:cNvSpPr>
            <a:spLocks noGrp="1"/>
          </p:cNvSpPr>
          <p:nvPr>
            <p:ph type="body" idx="1"/>
          </p:nvPr>
        </p:nvSpPr>
        <p:spPr>
          <a:xfrm>
            <a:off x="457200" y="1464011"/>
            <a:ext cx="8229600" cy="389334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nature of the data helps determine the statistic that is necessary</a:t>
            </a:r>
            <a:endParaRPr lang="en-US" sz="2400" kern="1200" dirty="0">
              <a:solidFill>
                <a:prstClr val="black"/>
              </a:solidFill>
              <a:latin typeface="Arial" panose="020B0604020202020204" pitchFamily="34" charset="0"/>
              <a:ea typeface="+mn-ea"/>
              <a:cs typeface="Arial" panose="020B0604020202020204" pitchFamily="34" charset="0"/>
            </a:endParaRP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Skewed: Not symmetrical – scores that are most frequent can be anywhere along the X axis</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Peak to the left of midpoint = positively skewed</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Peak to the right of the midpoint = negatively skewed</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Kurtic: peaked/pointy (leptokurtic) or flat (platykurtic)</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Percentile ranks are an example</a:t>
            </a:r>
          </a:p>
        </p:txBody>
      </p:sp>
    </p:spTree>
    <p:extLst>
      <p:ext uri="{BB962C8B-B14F-4D97-AF65-F5344CB8AC3E}">
        <p14:creationId xmlns:p14="http://schemas.microsoft.com/office/powerpoint/2010/main" val="1671534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852"/>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Choosing between Parametric and Nonparametric Statistics</a:t>
            </a:r>
          </a:p>
        </p:txBody>
      </p:sp>
      <p:sp>
        <p:nvSpPr>
          <p:cNvPr id="3" name="Text Placeholder 2"/>
          <p:cNvSpPr>
            <a:spLocks noGrp="1"/>
          </p:cNvSpPr>
          <p:nvPr>
            <p:ph type="body" idx="1"/>
          </p:nvPr>
        </p:nvSpPr>
        <p:spPr>
          <a:xfrm>
            <a:off x="457200" y="1989313"/>
            <a:ext cx="8229600" cy="2752480"/>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Parametric statistics are used when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data reflect an interval or ratio scale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data fall in a normal distribution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Nonparametric statistics are used when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data are ordinal in nature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data distribution is non-normal</a:t>
            </a:r>
          </a:p>
        </p:txBody>
      </p:sp>
    </p:spTree>
    <p:extLst>
      <p:ext uri="{BB962C8B-B14F-4D97-AF65-F5344CB8AC3E}">
        <p14:creationId xmlns:p14="http://schemas.microsoft.com/office/powerpoint/2010/main" val="1079496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Descriptive Statistics</a:t>
            </a:r>
          </a:p>
        </p:txBody>
      </p:sp>
      <p:sp>
        <p:nvSpPr>
          <p:cNvPr id="3" name="Text Placeholder 2"/>
          <p:cNvSpPr>
            <a:spLocks noGrp="1"/>
          </p:cNvSpPr>
          <p:nvPr>
            <p:ph type="body" idx="1"/>
          </p:nvPr>
        </p:nvSpPr>
        <p:spPr>
          <a:xfrm>
            <a:off x="457200" y="1464008"/>
            <a:ext cx="8229600" cy="152906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Measures of central tendency</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Measures of variability</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Measures of association</a:t>
            </a:r>
          </a:p>
        </p:txBody>
      </p:sp>
    </p:spTree>
    <p:extLst>
      <p:ext uri="{BB962C8B-B14F-4D97-AF65-F5344CB8AC3E}">
        <p14:creationId xmlns:p14="http://schemas.microsoft.com/office/powerpoint/2010/main" val="2355615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Measures of Central Tendency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4008"/>
            <a:ext cx="8229600" cy="226773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Techniques for finding a central point around which the data revolve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Descriptive statistics </a:t>
            </a:r>
            <a:r>
              <a:rPr lang="en-US" sz="2400" b="1" kern="1200" dirty="0">
                <a:solidFill>
                  <a:srgbClr val="000000"/>
                </a:solidFill>
                <a:latin typeface="Arial" panose="020B0604020202020204" pitchFamily="34" charset="0"/>
                <a:ea typeface="+mn-ea"/>
                <a:cs typeface="Arial" panose="020B0604020202020204" pitchFamily="34" charset="0"/>
              </a:rPr>
              <a:t>describe </a:t>
            </a:r>
            <a:r>
              <a:rPr lang="en-US" sz="2400" kern="1200" dirty="0">
                <a:solidFill>
                  <a:srgbClr val="000000"/>
                </a:solidFill>
                <a:latin typeface="Arial" panose="020B0604020202020204" pitchFamily="34" charset="0"/>
                <a:ea typeface="+mn-ea"/>
                <a:cs typeface="Arial" panose="020B0604020202020204" pitchFamily="34" charset="0"/>
              </a:rPr>
              <a:t>a body of data.</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Three things a researcher might want to know about the data set:</a:t>
            </a:r>
          </a:p>
        </p:txBody>
      </p:sp>
      <p:sp>
        <p:nvSpPr>
          <p:cNvPr id="4" name="Text Placeholder 3"/>
          <p:cNvSpPr>
            <a:spLocks noGrp="1"/>
          </p:cNvSpPr>
          <p:nvPr>
            <p:ph type="body" idx="2"/>
          </p:nvPr>
        </p:nvSpPr>
        <p:spPr>
          <a:xfrm>
            <a:off x="457200" y="3946816"/>
            <a:ext cx="8229600" cy="1667567"/>
          </a:xfrm>
        </p:spPr>
        <p:txBody>
          <a:bodyPr lIns="0" tIns="18000" rIns="0" bIns="18000">
            <a:spAutoFit/>
          </a:bodyPr>
          <a:lstStyle/>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Points of central tendency</a:t>
            </a:r>
          </a:p>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Amount of variability</a:t>
            </a:r>
          </a:p>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Extent to which two or more variables are associated with one another</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9822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Measures of Central Tendency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4011"/>
            <a:ext cx="8229600" cy="3452671"/>
          </a:xfrm>
        </p:spPr>
        <p:txBody>
          <a:bodyPr wrap="square" lIns="0" tIns="18000" rIns="0" bIns="18000">
            <a:spAutoFit/>
          </a:bodyPr>
          <a:lstStyle/>
          <a:p>
            <a:pPr>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Mode: the single number or score that occurs most frequently</a:t>
            </a:r>
          </a:p>
          <a:p>
            <a:pPr>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Median: the numerical center of a set of data – the number in the middle of the (ordered) set of scores</a:t>
            </a:r>
          </a:p>
          <a:p>
            <a:pPr>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Mean: the arithmetic average of the scores within the data set</a:t>
            </a:r>
          </a:p>
          <a:p>
            <a:pPr marL="740664" lvl="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May need geometric mean for some data sets (e.g., growth)</a:t>
            </a:r>
          </a:p>
        </p:txBody>
      </p:sp>
    </p:spTree>
    <p:extLst>
      <p:ext uri="{BB962C8B-B14F-4D97-AF65-F5344CB8AC3E}">
        <p14:creationId xmlns:p14="http://schemas.microsoft.com/office/powerpoint/2010/main" val="3094200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4"/>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Measures of Variability </a:t>
            </a:r>
            <a:r>
              <a:rPr lang="en-US" sz="2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57200" y="1464009"/>
            <a:ext cx="8229600" cy="285250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Extent to which data points cluster around point of central tendency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Range: value reflecting the spread of data from lowest to highest value (highest score minus lowest score)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Interquartile range: Quartile 3 – Quartile 1</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Five-number summary (lowest, highest, Q1, Q3, and median)</a:t>
            </a:r>
          </a:p>
        </p:txBody>
      </p:sp>
    </p:spTree>
    <p:extLst>
      <p:ext uri="{BB962C8B-B14F-4D97-AF65-F5344CB8AC3E}">
        <p14:creationId xmlns:p14="http://schemas.microsoft.com/office/powerpoint/2010/main" val="3456965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5"/>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Measures of Variability </a:t>
            </a:r>
            <a:r>
              <a:rPr lang="en-US" sz="2800" kern="1200" dirty="0">
                <a:latin typeface="+mj-lt"/>
                <a:ea typeface="+mj-ea"/>
                <a:cs typeface="Times New Roman" panose="02020603050405020304" pitchFamily="18" charset="0"/>
              </a:rPr>
              <a:t>(2 of 3)</a:t>
            </a:r>
          </a:p>
        </p:txBody>
      </p:sp>
      <p:sp>
        <p:nvSpPr>
          <p:cNvPr id="3" name="Text Placeholder 2"/>
          <p:cNvSpPr>
            <a:spLocks noGrp="1"/>
          </p:cNvSpPr>
          <p:nvPr>
            <p:ph type="body" idx="1"/>
          </p:nvPr>
        </p:nvSpPr>
        <p:spPr>
          <a:xfrm>
            <a:off x="457200" y="1464010"/>
            <a:ext cx="8229600" cy="2890979"/>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Average deviation: the average of differences of each score and the mean score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Standard deviation: standardized way of computing the distance between each score and the mean; takes negative numbers into account</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measure of variability most commonly used in statistical procedures</a:t>
            </a:r>
          </a:p>
        </p:txBody>
      </p:sp>
    </p:spTree>
    <p:extLst>
      <p:ext uri="{BB962C8B-B14F-4D97-AF65-F5344CB8AC3E}">
        <p14:creationId xmlns:p14="http://schemas.microsoft.com/office/powerpoint/2010/main" val="815234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Measures of Variability </a:t>
            </a:r>
            <a:r>
              <a:rPr lang="en-US" sz="2800" kern="1200" dirty="0">
                <a:latin typeface="+mj-lt"/>
                <a:ea typeface="+mj-ea"/>
                <a:cs typeface="Times New Roman" panose="02020603050405020304" pitchFamily="18" charset="0"/>
              </a:rPr>
              <a:t>(3 of 3)</a:t>
            </a:r>
          </a:p>
        </p:txBody>
      </p:sp>
      <p:sp>
        <p:nvSpPr>
          <p:cNvPr id="3" name="Text Placeholder 2"/>
          <p:cNvSpPr>
            <a:spLocks noGrp="1"/>
          </p:cNvSpPr>
          <p:nvPr>
            <p:ph type="body" idx="1"/>
          </p:nvPr>
        </p:nvSpPr>
        <p:spPr>
          <a:xfrm>
            <a:off x="457200" y="1464008"/>
            <a:ext cx="8229600" cy="2075371"/>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Norm-referenced score: reflects where each person in the group is, relative to other members of the group</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Standard score: tells us how far an individual’s performance is from the mean, with respect to standard deviation units</a:t>
            </a:r>
          </a:p>
        </p:txBody>
      </p:sp>
    </p:spTree>
    <p:extLst>
      <p:ext uri="{BB962C8B-B14F-4D97-AF65-F5344CB8AC3E}">
        <p14:creationId xmlns:p14="http://schemas.microsoft.com/office/powerpoint/2010/main" val="1500249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Keep It in Perspective</a:t>
            </a:r>
          </a:p>
        </p:txBody>
      </p:sp>
      <p:sp>
        <p:nvSpPr>
          <p:cNvPr id="3" name="Text Placeholder 2"/>
          <p:cNvSpPr>
            <a:spLocks noGrp="1"/>
          </p:cNvSpPr>
          <p:nvPr>
            <p:ph type="body" idx="1"/>
          </p:nvPr>
        </p:nvSpPr>
        <p:spPr>
          <a:xfrm>
            <a:off x="457200" y="1464008"/>
            <a:ext cx="8229600" cy="1898400"/>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Statistics related to central tendency and variability provide a beginning point from which to view data</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Statistical manipulation of the data is not research</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Research demands interpretation of the data</a:t>
            </a:r>
          </a:p>
        </p:txBody>
      </p:sp>
    </p:spTree>
    <p:extLst>
      <p:ext uri="{BB962C8B-B14F-4D97-AF65-F5344CB8AC3E}">
        <p14:creationId xmlns:p14="http://schemas.microsoft.com/office/powerpoint/2010/main" val="2967481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Measures of Association</a:t>
            </a:r>
          </a:p>
        </p:txBody>
      </p:sp>
      <p:sp>
        <p:nvSpPr>
          <p:cNvPr id="7" name="Content Placeholder 6">
            <a:extLst>
              <a:ext uri="{FF2B5EF4-FFF2-40B4-BE49-F238E27FC236}">
                <a16:creationId xmlns:a16="http://schemas.microsoft.com/office/drawing/2014/main" id="{4EE32B9D-F794-4504-847D-AC5747271229}"/>
              </a:ext>
            </a:extLst>
          </p:cNvPr>
          <p:cNvSpPr>
            <a:spLocks noGrp="1"/>
          </p:cNvSpPr>
          <p:nvPr>
            <p:ph sz="quarter" idx="13"/>
          </p:nvPr>
        </p:nvSpPr>
        <p:spPr>
          <a:xfrm>
            <a:off x="457200" y="1454954"/>
            <a:ext cx="8229600" cy="1667567"/>
          </a:xfrm>
        </p:spPr>
        <p:txBody>
          <a:bodyPr lIns="0" tIns="18000" rIns="0" bIns="18000">
            <a:spAutoFit/>
          </a:bodyPr>
          <a:lstStyle/>
          <a:p>
            <a:pPr marL="342900" indent="-342900"/>
            <a:r>
              <a:rPr lang="en-US" sz="2400" dirty="0">
                <a:latin typeface="Arial" panose="020B0604020202020204" pitchFamily="34" charset="0"/>
                <a:cs typeface="Arial" panose="020B0604020202020204" pitchFamily="34" charset="0"/>
              </a:rPr>
              <a:t>Correlation: statistical process that allows the researcher to identify any relationship between variables</a:t>
            </a:r>
          </a:p>
          <a:p>
            <a:pPr marL="829818" lvl="1" indent="-342900"/>
            <a:r>
              <a:rPr lang="en-US" sz="2400" dirty="0">
                <a:latin typeface="Arial" panose="020B0604020202020204" pitchFamily="34" charset="0"/>
                <a:cs typeface="Arial" panose="020B0604020202020204" pitchFamily="34" charset="0"/>
              </a:rPr>
              <a:t>Results in a statistic (number) between −1 and +1</a:t>
            </a:r>
          </a:p>
          <a:p>
            <a:pPr marL="829818" lvl="1" indent="-342900"/>
            <a:r>
              <a:rPr lang="en-US" sz="2400" dirty="0">
                <a:latin typeface="Arial" panose="020B0604020202020204" pitchFamily="34" charset="0"/>
                <a:cs typeface="Arial" panose="020B0604020202020204" pitchFamily="34" charset="0"/>
              </a:rPr>
              <a:t>This number is known as a correlation coefficient</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8232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705"/>
            <a:ext cx="8229600" cy="590349"/>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Correlation </a:t>
            </a:r>
            <a:r>
              <a:rPr lang="en-US" sz="2800" kern="1200">
                <a:latin typeface="+mj-lt"/>
                <a:ea typeface="+mj-ea"/>
                <a:cs typeface="Times New Roman" panose="02020603050405020304" pitchFamily="18" charset="0"/>
              </a:rPr>
              <a:t>(1 of 2)</a:t>
            </a:r>
          </a:p>
        </p:txBody>
      </p:sp>
      <p:sp>
        <p:nvSpPr>
          <p:cNvPr id="7" name="Content Placeholder 6">
            <a:extLst>
              <a:ext uri="{FF2B5EF4-FFF2-40B4-BE49-F238E27FC236}">
                <a16:creationId xmlns:a16="http://schemas.microsoft.com/office/drawing/2014/main" id="{39882D08-25DE-43C7-BDCB-34BAB3E004B5}"/>
              </a:ext>
            </a:extLst>
          </p:cNvPr>
          <p:cNvSpPr>
            <a:spLocks noGrp="1"/>
          </p:cNvSpPr>
          <p:nvPr>
            <p:ph sz="quarter" idx="13"/>
          </p:nvPr>
        </p:nvSpPr>
        <p:spPr>
          <a:xfrm>
            <a:off x="457200" y="1460933"/>
            <a:ext cx="8229600" cy="4052836"/>
          </a:xfrm>
        </p:spPr>
        <p:txBody>
          <a:bodyPr lIns="0" tIns="18000" rIns="0" bIns="18000">
            <a:spAutoFit/>
          </a:bodyPr>
          <a:lstStyle/>
          <a:p>
            <a:pPr marL="342900" indent="-342900"/>
            <a:r>
              <a:rPr lang="en-US" sz="2400" dirty="0">
                <a:latin typeface="Arial" panose="020B0604020202020204" pitchFamily="34" charset="0"/>
                <a:cs typeface="Arial" panose="020B0604020202020204" pitchFamily="34" charset="0"/>
              </a:rPr>
              <a:t>Correlation tells us direction</a:t>
            </a:r>
          </a:p>
          <a:p>
            <a:pPr marL="829818" lvl="1" indent="-342900"/>
            <a:r>
              <a:rPr lang="en-US" sz="2400" dirty="0">
                <a:latin typeface="Arial" panose="020B0604020202020204" pitchFamily="34" charset="0"/>
                <a:cs typeface="Arial" panose="020B0604020202020204" pitchFamily="34" charset="0"/>
              </a:rPr>
              <a:t>Positive: as one variable increases, the other variable also increases</a:t>
            </a:r>
          </a:p>
          <a:p>
            <a:pPr marL="829818" lvl="1" indent="-342900"/>
            <a:r>
              <a:rPr lang="en-US" sz="2400" dirty="0">
                <a:latin typeface="Arial" panose="020B0604020202020204" pitchFamily="34" charset="0"/>
                <a:cs typeface="Arial" panose="020B0604020202020204" pitchFamily="34" charset="0"/>
              </a:rPr>
              <a:t>Negative: as one variable increases, the other variable decreases</a:t>
            </a:r>
          </a:p>
          <a:p>
            <a:pPr marL="342900" indent="-342900"/>
            <a:r>
              <a:rPr lang="en-US" sz="2400" dirty="0">
                <a:latin typeface="Arial" panose="020B0604020202020204" pitchFamily="34" charset="0"/>
                <a:cs typeface="Arial" panose="020B0604020202020204" pitchFamily="34" charset="0"/>
              </a:rPr>
              <a:t>Closer to +1 or −1: strong correlation</a:t>
            </a:r>
          </a:p>
          <a:p>
            <a:pPr marL="829818" lvl="1" indent="-342900"/>
            <a:r>
              <a:rPr lang="en-US" sz="2400" dirty="0">
                <a:latin typeface="Arial" panose="020B0604020202020204" pitchFamily="34" charset="0"/>
                <a:cs typeface="Arial" panose="020B0604020202020204" pitchFamily="34" charset="0"/>
              </a:rPr>
              <a:t>Variables closely related</a:t>
            </a:r>
          </a:p>
          <a:p>
            <a:pPr marL="829818" lvl="1" indent="-342900"/>
            <a:r>
              <a:rPr lang="en-US" sz="2400" dirty="0">
                <a:latin typeface="Arial" panose="020B0604020202020204" pitchFamily="34" charset="0"/>
                <a:cs typeface="Arial" panose="020B0604020202020204" pitchFamily="34" charset="0"/>
              </a:rPr>
              <a:t>Can make predictions</a:t>
            </a:r>
          </a:p>
          <a:p>
            <a:pPr marL="342900" indent="-342900"/>
            <a:r>
              <a:rPr lang="en-US" sz="2400" dirty="0">
                <a:latin typeface="Arial" panose="020B0604020202020204" pitchFamily="34" charset="0"/>
                <a:cs typeface="Arial" panose="020B0604020202020204" pitchFamily="34" charset="0"/>
              </a:rPr>
              <a:t>Closer to 0: weak correlation</a:t>
            </a:r>
          </a:p>
        </p:txBody>
      </p:sp>
    </p:spTree>
    <p:extLst>
      <p:ext uri="{BB962C8B-B14F-4D97-AF65-F5344CB8AC3E}">
        <p14:creationId xmlns:p14="http://schemas.microsoft.com/office/powerpoint/2010/main" val="2997853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Correlation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4010"/>
            <a:ext cx="8229600" cy="1782984"/>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 variety of statistical tests measure correlation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Correlation does not necessarily imply causation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Ask yourself, “What might be the underlying reason for the association?”</a:t>
            </a:r>
          </a:p>
        </p:txBody>
      </p:sp>
    </p:spTree>
    <p:extLst>
      <p:ext uri="{BB962C8B-B14F-4D97-AF65-F5344CB8AC3E}">
        <p14:creationId xmlns:p14="http://schemas.microsoft.com/office/powerpoint/2010/main" val="1156944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Inferential Statistics</a:t>
            </a:r>
          </a:p>
        </p:txBody>
      </p:sp>
      <p:sp>
        <p:nvSpPr>
          <p:cNvPr id="3" name="Text Placeholder 2"/>
          <p:cNvSpPr>
            <a:spLocks noGrp="1"/>
          </p:cNvSpPr>
          <p:nvPr>
            <p:ph type="body" idx="1"/>
          </p:nvPr>
        </p:nvSpPr>
        <p:spPr>
          <a:xfrm>
            <a:off x="457200" y="1464011"/>
            <a:ext cx="8229600" cy="1336708"/>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Used to draw inferences about a population from a smaller sample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Two main functions:</a:t>
            </a:r>
          </a:p>
        </p:txBody>
      </p:sp>
      <p:sp>
        <p:nvSpPr>
          <p:cNvPr id="4" name="Text Placeholder 3"/>
          <p:cNvSpPr>
            <a:spLocks noGrp="1"/>
          </p:cNvSpPr>
          <p:nvPr>
            <p:ph type="body" idx="2"/>
          </p:nvPr>
        </p:nvSpPr>
        <p:spPr>
          <a:xfrm>
            <a:off x="457200" y="2848546"/>
            <a:ext cx="8229600" cy="851959"/>
          </a:xfrm>
        </p:spPr>
        <p:txBody>
          <a:bodyPr lIns="0" tIns="18000" rIns="0" bIns="18000">
            <a:spAutoFit/>
          </a:bodyPr>
          <a:lstStyle/>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Estimate population parameter from a random sample</a:t>
            </a:r>
          </a:p>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Test statistically based hypotheses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5417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7195"/>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Estimating Population Parameters </a:t>
            </a:r>
            <a:r>
              <a:rPr lang="en-US" sz="24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4008"/>
            <a:ext cx="8229600" cy="277556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Point estimate: single statistic that is taken as a reasonable estimate of the corresponding population parameter</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Example: Sample mean used to estimate population mean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Typically does not correspond exactly with its true equivalent in the population</a:t>
            </a:r>
          </a:p>
        </p:txBody>
      </p:sp>
    </p:spTree>
    <p:extLst>
      <p:ext uri="{BB962C8B-B14F-4D97-AF65-F5344CB8AC3E}">
        <p14:creationId xmlns:p14="http://schemas.microsoft.com/office/powerpoint/2010/main" val="3199873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7197"/>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Estimating Population Parameters </a:t>
            </a:r>
            <a:r>
              <a:rPr lang="en-US" sz="24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4009"/>
            <a:ext cx="8229600" cy="2521647"/>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Interval estimate: a range within which a population parameter probably lies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Sometimes called “confidence interval”</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Attaches a certain level of confidence that the estimated range does indeed contain the population parameter</a:t>
            </a:r>
          </a:p>
        </p:txBody>
      </p:sp>
    </p:spTree>
    <p:extLst>
      <p:ext uri="{BB962C8B-B14F-4D97-AF65-F5344CB8AC3E}">
        <p14:creationId xmlns:p14="http://schemas.microsoft.com/office/powerpoint/2010/main" val="1595491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Testing Hypotheses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4009"/>
            <a:ext cx="8229600" cy="851959"/>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Researchers begin with a null hypothesis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Any result observed is the result of chance alone</a:t>
            </a:r>
          </a:p>
        </p:txBody>
      </p:sp>
    </p:spTree>
    <p:extLst>
      <p:ext uri="{BB962C8B-B14F-4D97-AF65-F5344CB8AC3E}">
        <p14:creationId xmlns:p14="http://schemas.microsoft.com/office/powerpoint/2010/main" val="547246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4"/>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Testing Hypotheses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31800" y="1065426"/>
            <a:ext cx="8229600" cy="4124176"/>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Testing the Null Hypothesis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Using data from a sample to make inferences about the population from which the sample is drawn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Are these results simply “due to chance” – the fact that this specific sample was tested</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Do the results accurately reflect the population</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Researchers reject “chance alone” if the results surpass a pre-set cutoff level</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“Significance Level” or “alpha level” (a)</a:t>
            </a:r>
          </a:p>
        </p:txBody>
      </p:sp>
    </p:spTree>
    <p:extLst>
      <p:ext uri="{BB962C8B-B14F-4D97-AF65-F5344CB8AC3E}">
        <p14:creationId xmlns:p14="http://schemas.microsoft.com/office/powerpoint/2010/main" val="2301351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2"/>
            <a:ext cx="8229600" cy="590349"/>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Errors in Hypothesis Testing </a:t>
            </a:r>
            <a:r>
              <a:rPr lang="en-US" sz="2800" kern="1200">
                <a:latin typeface="+mj-lt"/>
                <a:ea typeface="+mj-ea"/>
                <a:cs typeface="Times New Roman" panose="02020603050405020304" pitchFamily="18" charset="0"/>
              </a:rPr>
              <a:t>(1 of 2)</a:t>
            </a:r>
          </a:p>
        </p:txBody>
      </p:sp>
      <p:sp>
        <p:nvSpPr>
          <p:cNvPr id="7" name="Content Placeholder 6">
            <a:extLst>
              <a:ext uri="{FF2B5EF4-FFF2-40B4-BE49-F238E27FC236}">
                <a16:creationId xmlns:a16="http://schemas.microsoft.com/office/drawing/2014/main" id="{1A5D78B5-B28D-40DC-9F60-B72A8848AAAC}"/>
              </a:ext>
            </a:extLst>
          </p:cNvPr>
          <p:cNvSpPr>
            <a:spLocks noGrp="1"/>
          </p:cNvSpPr>
          <p:nvPr>
            <p:ph sz="quarter" idx="13"/>
          </p:nvPr>
        </p:nvSpPr>
        <p:spPr>
          <a:xfrm>
            <a:off x="457200" y="1460935"/>
            <a:ext cx="1085914" cy="405683"/>
          </a:xfrm>
        </p:spPr>
        <p:txBody>
          <a:bodyPr wrap="square" lIns="0" tIns="18000" rIns="0" bIns="18000">
            <a:spAutoFit/>
          </a:bodyPr>
          <a:lstStyle/>
          <a:p>
            <a:pPr marL="360363" indent="-360363"/>
            <a:r>
              <a:rPr lang="en-US" sz="2400" dirty="0">
                <a:latin typeface="Arial" panose="020B0604020202020204" pitchFamily="34" charset="0"/>
                <a:cs typeface="Arial" panose="020B0604020202020204" pitchFamily="34" charset="0"/>
              </a:rPr>
              <a:t>Type</a:t>
            </a:r>
          </a:p>
        </p:txBody>
      </p:sp>
      <p:graphicFrame>
        <p:nvGraphicFramePr>
          <p:cNvPr id="17" name="Object 16" descr="Roman numeral one.">
            <a:extLst>
              <a:ext uri="{FF2B5EF4-FFF2-40B4-BE49-F238E27FC236}">
                <a16:creationId xmlns:a16="http://schemas.microsoft.com/office/drawing/2014/main" id="{DB4FC03C-2B0A-48F4-BCE2-4009BEB2C75D}"/>
              </a:ext>
            </a:extLst>
          </p:cNvPr>
          <p:cNvGraphicFramePr>
            <a:graphicFrameLocks noChangeAspect="1"/>
          </p:cNvGraphicFramePr>
          <p:nvPr>
            <p:extLst>
              <p:ext uri="{D42A27DB-BD31-4B8C-83A1-F6EECF244321}">
                <p14:modId xmlns:p14="http://schemas.microsoft.com/office/powerpoint/2010/main" val="1732385320"/>
              </p:ext>
            </p:extLst>
          </p:nvPr>
        </p:nvGraphicFramePr>
        <p:xfrm>
          <a:off x="1681660" y="1475961"/>
          <a:ext cx="217488" cy="385763"/>
        </p:xfrm>
        <a:graphic>
          <a:graphicData uri="http://schemas.openxmlformats.org/presentationml/2006/ole">
            <mc:AlternateContent xmlns:mc="http://schemas.openxmlformats.org/markup-compatibility/2006">
              <mc:Choice xmlns:v="urn:schemas-microsoft-com:vml" Requires="v">
                <p:oleObj spid="_x0000_s2072" name="Equation" r:id="rId3" imgW="101520" imgH="164880" progId="Equation.DSMT4">
                  <p:embed/>
                </p:oleObj>
              </mc:Choice>
              <mc:Fallback>
                <p:oleObj name="Equation" r:id="rId3" imgW="101520" imgH="164880" progId="Equation.DSMT4">
                  <p:embed/>
                  <p:pic>
                    <p:nvPicPr>
                      <p:cNvPr id="18" name="Object 17">
                        <a:extLst>
                          <a:ext uri="{FF2B5EF4-FFF2-40B4-BE49-F238E27FC236}">
                            <a16:creationId xmlns:a16="http://schemas.microsoft.com/office/drawing/2014/main" id="{E09FE737-0F57-481D-9E3E-3BFFE33B479A}"/>
                          </a:ext>
                        </a:extLst>
                      </p:cNvPr>
                      <p:cNvPicPr/>
                      <p:nvPr/>
                    </p:nvPicPr>
                    <p:blipFill>
                      <a:blip r:embed="rId4"/>
                      <a:stretch>
                        <a:fillRect/>
                      </a:stretch>
                    </p:blipFill>
                    <p:spPr>
                      <a:xfrm>
                        <a:off x="1681660" y="1475961"/>
                        <a:ext cx="217488" cy="385763"/>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62E8845-D21A-4F6F-80E4-B2D0EDF41521}"/>
              </a:ext>
            </a:extLst>
          </p:cNvPr>
          <p:cNvSpPr>
            <a:spLocks noGrp="1"/>
          </p:cNvSpPr>
          <p:nvPr>
            <p:ph sz="quarter" idx="14"/>
          </p:nvPr>
        </p:nvSpPr>
        <p:spPr>
          <a:xfrm>
            <a:off x="1992847" y="1458773"/>
            <a:ext cx="904671" cy="405683"/>
          </a:xfrm>
        </p:spPr>
        <p:txBody>
          <a:bodyPr lIns="0" tIns="18000" rIns="0" bIns="18000">
            <a:spAutoFit/>
          </a:bodyPr>
          <a:lstStyle/>
          <a:p>
            <a:pPr marL="432" indent="0">
              <a:buNone/>
            </a:pPr>
            <a:r>
              <a:rPr lang="en-US" sz="2400" dirty="0">
                <a:latin typeface="Arial" panose="020B0604020202020204" pitchFamily="34" charset="0"/>
                <a:cs typeface="Arial" panose="020B0604020202020204" pitchFamily="34" charset="0"/>
              </a:rPr>
              <a:t>error</a:t>
            </a:r>
          </a:p>
        </p:txBody>
      </p:sp>
      <p:sp>
        <p:nvSpPr>
          <p:cNvPr id="9" name="Content Placeholder 8">
            <a:extLst>
              <a:ext uri="{FF2B5EF4-FFF2-40B4-BE49-F238E27FC236}">
                <a16:creationId xmlns:a16="http://schemas.microsoft.com/office/drawing/2014/main" id="{855F3078-5C22-40CE-86B3-2EA840751E14}"/>
              </a:ext>
            </a:extLst>
          </p:cNvPr>
          <p:cNvSpPr>
            <a:spLocks noGrp="1"/>
          </p:cNvSpPr>
          <p:nvPr>
            <p:ph sz="quarter" idx="15"/>
          </p:nvPr>
        </p:nvSpPr>
        <p:spPr>
          <a:xfrm>
            <a:off x="457200" y="1992539"/>
            <a:ext cx="8229600" cy="1221291"/>
          </a:xfrm>
        </p:spPr>
        <p:txBody>
          <a:bodyPr lIns="0" tIns="18000" rIns="0" bIns="18000">
            <a:spAutoFit/>
          </a:bodyPr>
          <a:lstStyle/>
          <a:p>
            <a:pPr marL="847725" lvl="1" indent="-360363"/>
            <a:r>
              <a:rPr lang="en-US" sz="2400" dirty="0">
                <a:latin typeface="Arial" panose="020B0604020202020204" pitchFamily="34" charset="0"/>
                <a:cs typeface="Arial" panose="020B0604020202020204" pitchFamily="34" charset="0"/>
              </a:rPr>
              <a:t>Incorrectly rejecting the null hypothesis</a:t>
            </a:r>
          </a:p>
          <a:p>
            <a:pPr marL="847725" lvl="1" indent="-360363"/>
            <a:r>
              <a:rPr lang="en-US" sz="2400" dirty="0">
                <a:latin typeface="Arial" panose="020B0604020202020204" pitchFamily="34" charset="0"/>
                <a:cs typeface="Arial" panose="020B0604020202020204" pitchFamily="34" charset="0"/>
              </a:rPr>
              <a:t>“This result is not due to chance” – but it </a:t>
            </a:r>
            <a:r>
              <a:rPr lang="en-US" sz="2400" kern="1200" dirty="0">
                <a:solidFill>
                  <a:srgbClr val="000000"/>
                </a:solidFill>
                <a:latin typeface="Arial" panose="020B0604020202020204" pitchFamily="34" charset="0"/>
                <a:ea typeface="+mn-ea"/>
                <a:cs typeface="Arial" panose="020B0604020202020204" pitchFamily="34" charset="0"/>
              </a:rPr>
              <a:t>really I</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S</a:t>
            </a:r>
            <a:r>
              <a:rPr lang="en-US" sz="2400" dirty="0">
                <a:latin typeface="Arial" panose="020B0604020202020204" pitchFamily="34" charset="0"/>
                <a:cs typeface="Arial" panose="020B0604020202020204" pitchFamily="34" charset="0"/>
              </a:rPr>
              <a:t> due to chance</a:t>
            </a:r>
          </a:p>
        </p:txBody>
      </p:sp>
    </p:spTree>
    <p:extLst>
      <p:ext uri="{BB962C8B-B14F-4D97-AF65-F5344CB8AC3E}">
        <p14:creationId xmlns:p14="http://schemas.microsoft.com/office/powerpoint/2010/main" val="76483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2"/>
            <a:ext cx="8229600" cy="590349"/>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Errors in Hypothesis Testing </a:t>
            </a:r>
            <a:r>
              <a:rPr lang="en-US" sz="2800" kern="1200">
                <a:latin typeface="+mj-lt"/>
                <a:ea typeface="+mj-ea"/>
                <a:cs typeface="Times New Roman" panose="02020603050405020304" pitchFamily="18" charset="0"/>
              </a:rPr>
              <a:t>(2 of 2)</a:t>
            </a:r>
          </a:p>
        </p:txBody>
      </p:sp>
      <p:sp>
        <p:nvSpPr>
          <p:cNvPr id="7" name="Content Placeholder 6">
            <a:extLst>
              <a:ext uri="{FF2B5EF4-FFF2-40B4-BE49-F238E27FC236}">
                <a16:creationId xmlns:a16="http://schemas.microsoft.com/office/drawing/2014/main" id="{1A5D78B5-B28D-40DC-9F60-B72A8848AAAC}"/>
              </a:ext>
            </a:extLst>
          </p:cNvPr>
          <p:cNvSpPr>
            <a:spLocks noGrp="1"/>
          </p:cNvSpPr>
          <p:nvPr>
            <p:ph sz="quarter" idx="13"/>
          </p:nvPr>
        </p:nvSpPr>
        <p:spPr>
          <a:xfrm>
            <a:off x="457200" y="1460935"/>
            <a:ext cx="1041603" cy="405683"/>
          </a:xfrm>
        </p:spPr>
        <p:txBody>
          <a:bodyPr wrap="square" lIns="0" tIns="18000" rIns="0" bIns="18000">
            <a:spAutoFit/>
          </a:bodyPr>
          <a:lstStyle/>
          <a:p>
            <a:pPr marL="360363" indent="-360363"/>
            <a:r>
              <a:rPr lang="en-US" sz="2400" dirty="0">
                <a:latin typeface="Arial" panose="020B0604020202020204" pitchFamily="34" charset="0"/>
                <a:cs typeface="Arial" panose="020B0604020202020204" pitchFamily="34" charset="0"/>
              </a:rPr>
              <a:t>Type</a:t>
            </a:r>
          </a:p>
        </p:txBody>
      </p:sp>
      <p:graphicFrame>
        <p:nvGraphicFramePr>
          <p:cNvPr id="17" name="Object 16" descr="Roman numeral two.">
            <a:extLst>
              <a:ext uri="{FF2B5EF4-FFF2-40B4-BE49-F238E27FC236}">
                <a16:creationId xmlns:a16="http://schemas.microsoft.com/office/drawing/2014/main" id="{DB4FC03C-2B0A-48F4-BCE2-4009BEB2C75D}"/>
              </a:ext>
            </a:extLst>
          </p:cNvPr>
          <p:cNvGraphicFramePr>
            <a:graphicFrameLocks noChangeAspect="1"/>
          </p:cNvGraphicFramePr>
          <p:nvPr>
            <p:extLst>
              <p:ext uri="{D42A27DB-BD31-4B8C-83A1-F6EECF244321}">
                <p14:modId xmlns:p14="http://schemas.microsoft.com/office/powerpoint/2010/main" val="2723238164"/>
              </p:ext>
            </p:extLst>
          </p:nvPr>
        </p:nvGraphicFramePr>
        <p:xfrm>
          <a:off x="1623496" y="1466647"/>
          <a:ext cx="327025" cy="385763"/>
        </p:xfrm>
        <a:graphic>
          <a:graphicData uri="http://schemas.openxmlformats.org/presentationml/2006/ole">
            <mc:AlternateContent xmlns:mc="http://schemas.openxmlformats.org/markup-compatibility/2006">
              <mc:Choice xmlns:v="urn:schemas-microsoft-com:vml" Requires="v">
                <p:oleObj spid="_x0000_s3096" name="Equation" r:id="rId3" imgW="152280" imgH="164880" progId="Equation.DSMT4">
                  <p:embed/>
                </p:oleObj>
              </mc:Choice>
              <mc:Fallback>
                <p:oleObj name="Equation" r:id="rId3" imgW="152280" imgH="164880" progId="Equation.DSMT4">
                  <p:embed/>
                  <p:pic>
                    <p:nvPicPr>
                      <p:cNvPr id="17" name="Object 16">
                        <a:extLst>
                          <a:ext uri="{FF2B5EF4-FFF2-40B4-BE49-F238E27FC236}">
                            <a16:creationId xmlns:a16="http://schemas.microsoft.com/office/drawing/2014/main" id="{DB4FC03C-2B0A-48F4-BCE2-4009BEB2C75D}"/>
                          </a:ext>
                        </a:extLst>
                      </p:cNvPr>
                      <p:cNvPicPr/>
                      <p:nvPr/>
                    </p:nvPicPr>
                    <p:blipFill>
                      <a:blip r:embed="rId4"/>
                      <a:stretch>
                        <a:fillRect/>
                      </a:stretch>
                    </p:blipFill>
                    <p:spPr>
                      <a:xfrm>
                        <a:off x="1623496" y="1466647"/>
                        <a:ext cx="327025" cy="385763"/>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62E8845-D21A-4F6F-80E4-B2D0EDF41521}"/>
              </a:ext>
            </a:extLst>
          </p:cNvPr>
          <p:cNvSpPr>
            <a:spLocks noGrp="1"/>
          </p:cNvSpPr>
          <p:nvPr>
            <p:ph sz="quarter" idx="14"/>
          </p:nvPr>
        </p:nvSpPr>
        <p:spPr>
          <a:xfrm>
            <a:off x="2040015" y="1472628"/>
            <a:ext cx="904671" cy="405683"/>
          </a:xfrm>
        </p:spPr>
        <p:txBody>
          <a:bodyPr lIns="0" tIns="18000" rIns="0" bIns="18000">
            <a:spAutoFit/>
          </a:bodyPr>
          <a:lstStyle/>
          <a:p>
            <a:pPr marL="432" indent="0">
              <a:buNone/>
            </a:pPr>
            <a:r>
              <a:rPr lang="en-US" sz="2400" dirty="0">
                <a:latin typeface="Arial" panose="020B0604020202020204" pitchFamily="34" charset="0"/>
                <a:cs typeface="Arial" panose="020B0604020202020204" pitchFamily="34" charset="0"/>
              </a:rPr>
              <a:t>Error</a:t>
            </a:r>
          </a:p>
        </p:txBody>
      </p:sp>
      <p:sp>
        <p:nvSpPr>
          <p:cNvPr id="9" name="Content Placeholder 8">
            <a:extLst>
              <a:ext uri="{FF2B5EF4-FFF2-40B4-BE49-F238E27FC236}">
                <a16:creationId xmlns:a16="http://schemas.microsoft.com/office/drawing/2014/main" id="{855F3078-5C22-40CE-86B3-2EA840751E14}"/>
              </a:ext>
            </a:extLst>
          </p:cNvPr>
          <p:cNvSpPr>
            <a:spLocks noGrp="1"/>
          </p:cNvSpPr>
          <p:nvPr>
            <p:ph sz="quarter" idx="15"/>
          </p:nvPr>
        </p:nvSpPr>
        <p:spPr>
          <a:xfrm>
            <a:off x="457200" y="1992539"/>
            <a:ext cx="8229600" cy="1667567"/>
          </a:xfrm>
        </p:spPr>
        <p:txBody>
          <a:bodyPr lIns="0" tIns="18000" rIns="0" bIns="18000">
            <a:spAutoFit/>
          </a:bodyPr>
          <a:lstStyle/>
          <a:p>
            <a:pPr marL="847725" lvl="1" indent="-360363"/>
            <a:r>
              <a:rPr lang="en-US" sz="2400" dirty="0">
                <a:latin typeface="Arial" panose="020B0604020202020204" pitchFamily="34" charset="0"/>
                <a:cs typeface="Arial" panose="020B0604020202020204" pitchFamily="34" charset="0"/>
              </a:rPr>
              <a:t>Concluding that a result was due to chance when in fact it was not</a:t>
            </a:r>
          </a:p>
          <a:p>
            <a:pPr marL="847725" lvl="1" indent="-360363"/>
            <a:r>
              <a:rPr lang="en-US" sz="2400" dirty="0">
                <a:latin typeface="Arial" panose="020B0604020202020204" pitchFamily="34" charset="0"/>
                <a:cs typeface="Arial" panose="020B0604020202020204" pitchFamily="34" charset="0"/>
              </a:rPr>
              <a:t>Failing to reject a null hypothesis that is actually false</a:t>
            </a:r>
          </a:p>
          <a:p>
            <a:pPr marL="847725" lvl="1" indent="-360363"/>
            <a:r>
              <a:rPr lang="en-US" sz="2400" dirty="0">
                <a:latin typeface="Arial" panose="020B0604020202020204" pitchFamily="34" charset="0"/>
                <a:cs typeface="Arial" panose="020B0604020202020204" pitchFamily="34" charset="0"/>
              </a:rPr>
              <a:t>Also known as a beta error</a:t>
            </a:r>
          </a:p>
        </p:txBody>
      </p:sp>
    </p:spTree>
    <p:extLst>
      <p:ext uri="{BB962C8B-B14F-4D97-AF65-F5344CB8AC3E}">
        <p14:creationId xmlns:p14="http://schemas.microsoft.com/office/powerpoint/2010/main" val="3900548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124"/>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Suggestions for Increasing the Power of a Statistical Test</a:t>
            </a:r>
          </a:p>
        </p:txBody>
      </p:sp>
      <p:sp>
        <p:nvSpPr>
          <p:cNvPr id="3" name="Text Placeholder 2"/>
          <p:cNvSpPr>
            <a:spLocks noGrp="1"/>
          </p:cNvSpPr>
          <p:nvPr>
            <p:ph type="body" idx="1"/>
          </p:nvPr>
        </p:nvSpPr>
        <p:spPr>
          <a:xfrm>
            <a:off x="457200" y="1989309"/>
            <a:ext cx="8229600" cy="2829424"/>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Use as large a sample as is reasonably possible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Maximize the validity and reliability of your measures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If logically defensible and logistically practical, obtain repeated measures of your dependent variable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Use parametric rather than non-parametric statistics whenever possible</a:t>
            </a:r>
          </a:p>
        </p:txBody>
      </p:sp>
    </p:spTree>
    <p:extLst>
      <p:ext uri="{BB962C8B-B14F-4D97-AF65-F5344CB8AC3E}">
        <p14:creationId xmlns:p14="http://schemas.microsoft.com/office/powerpoint/2010/main" val="1720763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73"/>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Meta-Analysis</a:t>
            </a:r>
          </a:p>
        </p:txBody>
      </p:sp>
      <p:sp>
        <p:nvSpPr>
          <p:cNvPr id="3" name="Text Placeholder 2"/>
          <p:cNvSpPr>
            <a:spLocks noGrp="1"/>
          </p:cNvSpPr>
          <p:nvPr>
            <p:ph type="body" idx="1"/>
          </p:nvPr>
        </p:nvSpPr>
        <p:spPr>
          <a:xfrm>
            <a:off x="457200" y="1464011"/>
            <a:ext cx="8229600" cy="3414199"/>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Used to analyze and draw conclusions about other researchers’ statistical analyses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When conducting a meta-analysis, the researcher:</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Conducts an extensive search for relevant studies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Identifies appropriate studies to include in the meta-analysis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Converts each study’s results to a common statistical index</a:t>
            </a:r>
          </a:p>
        </p:txBody>
      </p:sp>
    </p:spTree>
    <p:extLst>
      <p:ext uri="{BB962C8B-B14F-4D97-AF65-F5344CB8AC3E}">
        <p14:creationId xmlns:p14="http://schemas.microsoft.com/office/powerpoint/2010/main" val="261546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5639"/>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Statistical Software Packages</a:t>
            </a:r>
          </a:p>
        </p:txBody>
      </p:sp>
      <p:sp>
        <p:nvSpPr>
          <p:cNvPr id="3" name="Text Placeholder 2"/>
          <p:cNvSpPr>
            <a:spLocks noGrp="1"/>
          </p:cNvSpPr>
          <p:nvPr>
            <p:ph type="body" idx="1"/>
          </p:nvPr>
        </p:nvSpPr>
        <p:spPr>
          <a:xfrm>
            <a:off x="457200" y="1464011"/>
            <a:ext cx="8229600" cy="3908732"/>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Commercially available options include: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P</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S</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S, S</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A</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S, S</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Y</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S</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T</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A</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T, Minitab, Statistica</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Freeware programs include AdaMSoft and R, for example</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Advantages of using a statistcal program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Range of available statistics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User-friendliness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Assumption testing</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Graphics</a:t>
            </a:r>
          </a:p>
        </p:txBody>
      </p:sp>
    </p:spTree>
    <p:extLst>
      <p:ext uri="{BB962C8B-B14F-4D97-AF65-F5344CB8AC3E}">
        <p14:creationId xmlns:p14="http://schemas.microsoft.com/office/powerpoint/2010/main" val="34842069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536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Interpretation of the Data</a:t>
            </a:r>
          </a:p>
        </p:txBody>
      </p:sp>
      <p:sp>
        <p:nvSpPr>
          <p:cNvPr id="3" name="Text Placeholder 2"/>
          <p:cNvSpPr>
            <a:spLocks noGrp="1"/>
          </p:cNvSpPr>
          <p:nvPr>
            <p:ph type="body" idx="1"/>
          </p:nvPr>
        </p:nvSpPr>
        <p:spPr>
          <a:xfrm>
            <a:off x="457200" y="1464011"/>
            <a:ext cx="8229600" cy="405683"/>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Interpreting the data means several things:</a:t>
            </a:r>
          </a:p>
        </p:txBody>
      </p:sp>
      <p:sp>
        <p:nvSpPr>
          <p:cNvPr id="4" name="Text Placeholder 3"/>
          <p:cNvSpPr>
            <a:spLocks noGrp="1"/>
          </p:cNvSpPr>
          <p:nvPr>
            <p:ph type="body" idx="2"/>
          </p:nvPr>
        </p:nvSpPr>
        <p:spPr>
          <a:xfrm>
            <a:off x="457200" y="1944170"/>
            <a:ext cx="8229600" cy="2852507"/>
          </a:xfrm>
        </p:spPr>
        <p:txBody>
          <a:bodyPr lIns="0" tIns="18000" rIns="0" bIns="18000">
            <a:spAutoFit/>
          </a:bodyPr>
          <a:lstStyle/>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Relating the findings to the original research problem and to the specific research questions and hypotheses</a:t>
            </a:r>
          </a:p>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Relating the findings to preexisting literature, concepts, theories, and research studies</a:t>
            </a:r>
          </a:p>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Determining whether the findings have practical significance as well as statistical significance</a:t>
            </a:r>
          </a:p>
          <a:p>
            <a:pPr marL="740664" lvl="1" indent="-429768">
              <a:spcAft>
                <a:spcPct val="0"/>
              </a:spcAft>
              <a:buSzPts val="2400"/>
              <a:buFont typeface="+mj-lt"/>
              <a:buAutoNum type="arabicPeriod"/>
            </a:pPr>
            <a:r>
              <a:rPr lang="en-US" sz="2400" kern="1200" dirty="0">
                <a:solidFill>
                  <a:srgbClr val="000000"/>
                </a:solidFill>
                <a:latin typeface="Arial" panose="020B0604020202020204" pitchFamily="34" charset="0"/>
                <a:cs typeface="Arial" panose="020B0604020202020204" pitchFamily="34" charset="0"/>
              </a:rPr>
              <a:t>Identifying limitations of the study</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9007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0259"/>
            <a:ext cx="8272252"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C123DBB5-E2DD-466E-A3FB-A327E5D9CB4D}"/>
              </a:ext>
            </a:extLst>
          </p:cNvPr>
          <p:cNvPicPr>
            <a:picLocks noGrp="1" noChangeAspect="1"/>
          </p:cNvPicPr>
          <p:nvPr>
            <p:ph type="pic" sz="quarter" idx="11"/>
          </p:nvPr>
        </p:nvPicPr>
        <p:blipFill>
          <a:blip r:embed="rId2"/>
          <a:stretch>
            <a:fillRect/>
          </a:stretch>
        </p:blipFill>
        <p:spPr>
          <a:xfrm>
            <a:off x="565268" y="2718488"/>
            <a:ext cx="1276350" cy="1438275"/>
          </a:xfrm>
          <a:prstGeom prst="rect">
            <a:avLst/>
          </a:prstGeom>
        </p:spPr>
      </p:pic>
      <p:sp>
        <p:nvSpPr>
          <p:cNvPr id="6" name="Content Placeholder 2">
            <a:extLst>
              <a:ext uri="{FF2B5EF4-FFF2-40B4-BE49-F238E27FC236}">
                <a16:creationId xmlns:a16="http://schemas.microsoft.com/office/drawing/2014/main" id="{0DAE52C9-82A2-4E0A-BF89-DC1F4086C3EF}"/>
              </a:ext>
            </a:extLst>
          </p:cNvPr>
          <p:cNvSpPr>
            <a:spLocks noGrp="1"/>
          </p:cNvSpPr>
          <p:nvPr>
            <p:ph sz="quarter" idx="10"/>
          </p:nvPr>
        </p:nvSpPr>
        <p:spPr>
          <a:xfrm>
            <a:off x="2096216" y="1826558"/>
            <a:ext cx="6614274"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4756594"/>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05B2579-1531-44FB-B0C6-F10CD63E6B02}"/>
</file>

<file path=customXml/itemProps2.xml><?xml version="1.0" encoding="utf-8"?>
<ds:datastoreItem xmlns:ds="http://schemas.openxmlformats.org/officeDocument/2006/customXml" ds:itemID="{1B8FCFB3-5884-4524-8C3E-739A11E7D419}"/>
</file>

<file path=customXml/itemProps3.xml><?xml version="1.0" encoding="utf-8"?>
<ds:datastoreItem xmlns:ds="http://schemas.openxmlformats.org/officeDocument/2006/customXml" ds:itemID="{19099616-71A7-467A-858B-5523DBE24EF4}"/>
</file>

<file path=docProps/app.xml><?xml version="1.0" encoding="utf-8"?>
<Properties xmlns="http://schemas.openxmlformats.org/officeDocument/2006/extended-properties" xmlns:vt="http://schemas.openxmlformats.org/officeDocument/2006/docPropsVTypes">
  <TotalTime>8406</TotalTime>
  <Words>1746</Words>
  <Application>Microsoft Office PowerPoint</Application>
  <PresentationFormat>On-screen Show (4:3)</PresentationFormat>
  <Paragraphs>188</Paragraphs>
  <Slides>34</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34</vt:i4>
      </vt:variant>
    </vt:vector>
  </HeadingPairs>
  <TitlesOfParts>
    <vt:vector size="42" baseType="lpstr">
      <vt:lpstr>Arial</vt:lpstr>
      <vt:lpstr>Arial (Headings)</vt:lpstr>
      <vt:lpstr>Noto Sans Symbols</vt:lpstr>
      <vt:lpstr>Times New Roman</vt:lpstr>
      <vt:lpstr>Verdana</vt:lpstr>
      <vt:lpstr>508 Lecture</vt:lpstr>
      <vt:lpstr>1_508 Lecture</vt:lpstr>
      <vt:lpstr>Equation</vt:lpstr>
      <vt:lpstr>Practical Research: Planning and Design</vt:lpstr>
      <vt:lpstr>Exploring and Organizing a Data Set</vt:lpstr>
      <vt:lpstr>Organizing Data</vt:lpstr>
      <vt:lpstr>Use the Computer to Organize and Analyze Data</vt:lpstr>
      <vt:lpstr>Choosing Statistics</vt:lpstr>
      <vt:lpstr>Statistics as Estimates of Population Parameters</vt:lpstr>
      <vt:lpstr>The Nature of the Data (1 of 5)</vt:lpstr>
      <vt:lpstr>The Nature of the Data (2 of 5)</vt:lpstr>
      <vt:lpstr>The Nature of the Data (3 of 5)</vt:lpstr>
      <vt:lpstr>The Nature of the Data (4 of 5)</vt:lpstr>
      <vt:lpstr>The Nature of the Data (5 of 5)</vt:lpstr>
      <vt:lpstr>Choosing between Parametric and Nonparametric Statistics</vt:lpstr>
      <vt:lpstr>Descriptive Statistics</vt:lpstr>
      <vt:lpstr>Measures of Central Tendency (1 of 2)</vt:lpstr>
      <vt:lpstr>Measures of Central Tendency (2 of 2)</vt:lpstr>
      <vt:lpstr>Measures of Variability (1 of 3)</vt:lpstr>
      <vt:lpstr>Measures of Variability (2 of 3)</vt:lpstr>
      <vt:lpstr>Measures of Variability (3 of 3)</vt:lpstr>
      <vt:lpstr>Keep It in Perspective</vt:lpstr>
      <vt:lpstr>Measures of Association</vt:lpstr>
      <vt:lpstr>Correlation (1 of 2)</vt:lpstr>
      <vt:lpstr>Correlation (2 of 2)</vt:lpstr>
      <vt:lpstr>Inferential Statistics</vt:lpstr>
      <vt:lpstr>Estimating Population Parameters (1 of 2)</vt:lpstr>
      <vt:lpstr>Estimating Population Parameters (2 of 2)</vt:lpstr>
      <vt:lpstr>Testing Hypotheses (1 of 2)</vt:lpstr>
      <vt:lpstr>Testing Hypotheses (2 of 2)</vt:lpstr>
      <vt:lpstr>Errors in Hypothesis Testing (1 of 2)</vt:lpstr>
      <vt:lpstr>Errors in Hypothesis Testing (2 of 2)</vt:lpstr>
      <vt:lpstr>Suggestions for Increasing the Power of a Statistical Test</vt:lpstr>
      <vt:lpstr>Meta-Analysis</vt:lpstr>
      <vt:lpstr>Statistical Software Packages</vt:lpstr>
      <vt:lpstr>Interpretation of the Data</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11</dc:title>
  <dc:subject>TED/Careers</dc:subject>
  <dc:creator>Leedy and Ormrod</dc:creator>
  <cp:keywords>Practical Research</cp:keywords>
  <cp:lastModifiedBy>Arthideepa Karunakaran, Integra-PDY, IN</cp:lastModifiedBy>
  <cp:revision>940</cp:revision>
  <dcterms:modified xsi:type="dcterms:W3CDTF">2021-10-22T07:39:31Z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