
<file path=[Content_Types].xml><?xml version="1.0" encoding="utf-8"?>
<Types xmlns="http://schemas.openxmlformats.org/package/2006/content-types">
  <Default Extension="bin" ContentType="application/vnd.openxmlformats-officedocument.oleObject"/>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4"/>
    <p:sldMasterId id="2147483660" r:id="rId5"/>
  </p:sldMasterIdLst>
  <p:notesMasterIdLst>
    <p:notesMasterId r:id="rId40"/>
  </p:notesMasterIdLst>
  <p:handoutMasterIdLst>
    <p:handoutMasterId r:id="rId41"/>
  </p:handoutMasterIdLst>
  <p:sldIdLst>
    <p:sldId id="340" r:id="rId6"/>
    <p:sldId id="307" r:id="rId7"/>
    <p:sldId id="308" r:id="rId8"/>
    <p:sldId id="309" r:id="rId9"/>
    <p:sldId id="310" r:id="rId10"/>
    <p:sldId id="339" r:id="rId11"/>
    <p:sldId id="312" r:id="rId12"/>
    <p:sldId id="313" r:id="rId13"/>
    <p:sldId id="314" r:id="rId14"/>
    <p:sldId id="315" r:id="rId15"/>
    <p:sldId id="316" r:id="rId16"/>
    <p:sldId id="317" r:id="rId17"/>
    <p:sldId id="318" r:id="rId18"/>
    <p:sldId id="319" r:id="rId19"/>
    <p:sldId id="320" r:id="rId20"/>
    <p:sldId id="321" r:id="rId21"/>
    <p:sldId id="322" r:id="rId22"/>
    <p:sldId id="323" r:id="rId23"/>
    <p:sldId id="324" r:id="rId24"/>
    <p:sldId id="325" r:id="rId25"/>
    <p:sldId id="326" r:id="rId26"/>
    <p:sldId id="327" r:id="rId27"/>
    <p:sldId id="328" r:id="rId28"/>
    <p:sldId id="329" r:id="rId29"/>
    <p:sldId id="330" r:id="rId30"/>
    <p:sldId id="331" r:id="rId31"/>
    <p:sldId id="332" r:id="rId32"/>
    <p:sldId id="333" r:id="rId33"/>
    <p:sldId id="342" r:id="rId34"/>
    <p:sldId id="335" r:id="rId35"/>
    <p:sldId id="336" r:id="rId36"/>
    <p:sldId id="337" r:id="rId37"/>
    <p:sldId id="338" r:id="rId38"/>
    <p:sldId id="341" r:id="rId39"/>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459" userDrawn="1">
          <p15:clr>
            <a:srgbClr val="A4A3A4"/>
          </p15:clr>
        </p15:guide>
        <p15:guide id="4" orient="horz" pos="300" userDrawn="1">
          <p15:clr>
            <a:srgbClr val="A4A3A4"/>
          </p15:clr>
        </p15:guide>
        <p15:guide id="5" orient="horz" pos="913" userDrawn="1">
          <p15:clr>
            <a:srgbClr val="A4A3A4"/>
          </p15:clr>
        </p15:guide>
        <p15:guide id="6" orient="horz" pos="4088" userDrawn="1">
          <p15:clr>
            <a:srgbClr val="A4A3A4"/>
          </p15:clr>
        </p15:guide>
        <p15:guide id="7" pos="272" userDrawn="1">
          <p15:clr>
            <a:srgbClr val="A4A3A4"/>
          </p15:clr>
        </p15:guide>
        <p15:guide id="8" pos="548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effrey Holcomb" initials="" lastIdx="3" clrIdx="0"/>
  <p:cmAuthor id="1" name="Ruchi Sachdev" initials="" lastIdx="8" clrIdx="1"/>
  <p:cmAuthor id="2" name="Sarah Reusché" initials="" lastIdx="13" clrIdx="2"/>
  <p:cmAuthor id="3" name="Nitin Shankar" initials="" lastIdx="6" clrIdx="3"/>
  <p:cmAuthor id="4" name="Kristen Flathman" initials="" lastIdx="1" clrIdx="4"/>
  <p:cmAuthor id="5" name="Ben Schroeter" initials=""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0F9630F-82C1-40B7-BC3A-925EFCFF5E92}">
  <a:tblStyle styleId="{40F9630F-82C1-40B7-BC3A-925EFCFF5E92}" styleName="Table_0">
    <a:wholeTbl>
      <a:tcTxStyle b="off" i="off">
        <a:font>
          <a:latin typeface="Arial"/>
          <a:ea typeface="Arial"/>
          <a:cs typeface="Arial"/>
        </a:font>
        <a:schemeClr val="dk1"/>
      </a:tcTxStyle>
      <a:tcStyle>
        <a:tcBdr>
          <a:left>
            <a:ln w="9525" cap="flat" cmpd="sng">
              <a:solidFill>
                <a:srgbClr val="000000">
                  <a:alpha val="0"/>
                </a:srgbClr>
              </a:solidFill>
              <a:prstDash val="solid"/>
              <a:round/>
              <a:headEnd type="none" w="med" len="med"/>
              <a:tailEnd type="none" w="med" len="med"/>
            </a:ln>
          </a:left>
          <a:right>
            <a:ln w="9525" cap="flat" cmpd="sng">
              <a:solidFill>
                <a:srgbClr val="000000">
                  <a:alpha val="0"/>
                </a:srgbClr>
              </a:solidFill>
              <a:prstDash val="solid"/>
              <a:round/>
              <a:headEnd type="none" w="med" len="med"/>
              <a:tailEnd type="none" w="med" len="med"/>
            </a:ln>
          </a:right>
          <a:top>
            <a:ln w="12700" cap="flat" cmpd="sng">
              <a:solidFill>
                <a:schemeClr val="accent1"/>
              </a:solidFill>
              <a:prstDash val="solid"/>
              <a:round/>
              <a:headEnd type="none" w="med" len="med"/>
              <a:tailEnd type="none" w="med" len="med"/>
            </a:ln>
          </a:top>
          <a:bottom>
            <a:ln w="12700" cap="flat" cmpd="sng">
              <a:solidFill>
                <a:schemeClr val="accent1"/>
              </a:solidFill>
              <a:prstDash val="solid"/>
              <a:round/>
              <a:headEnd type="none" w="med" len="med"/>
              <a:tailEnd type="none" w="med" len="med"/>
            </a:ln>
          </a:bottom>
          <a:insideH>
            <a:ln w="9525" cap="flat" cmpd="sng">
              <a:solidFill>
                <a:srgbClr val="000000">
                  <a:alpha val="0"/>
                </a:srgbClr>
              </a:solidFill>
              <a:prstDash val="solid"/>
              <a:round/>
              <a:headEnd type="none" w="med" len="med"/>
              <a:tailEnd type="none" w="med" len="med"/>
            </a:ln>
          </a:insideH>
          <a:insideV>
            <a:ln w="9525" cap="flat" cmpd="sng">
              <a:solidFill>
                <a:srgbClr val="000000">
                  <a:alpha val="0"/>
                </a:srgbClr>
              </a:solidFill>
              <a:prstDash val="solid"/>
              <a:round/>
              <a:headEnd type="none" w="med" len="med"/>
              <a:tailEnd type="none" w="med" len="med"/>
            </a:ln>
          </a:insideV>
        </a:tcBdr>
        <a:fill>
          <a:solidFill>
            <a:srgbClr val="FFFFFF">
              <a:alpha val="0"/>
            </a:srgbClr>
          </a:solid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i="off"/>
      <a:tcStyle>
        <a:tcBdr/>
      </a:tcStyle>
    </a:lastCol>
    <a:firstCol>
      <a:tcTxStyle b="on" i="off"/>
      <a:tcStyle>
        <a:tcBdr/>
      </a:tcStyle>
    </a:firstCol>
    <a:lastRow>
      <a:tcTxStyle b="on" i="off"/>
      <a:tcStyle>
        <a:tcBdr>
          <a:top>
            <a:ln w="12700" cap="flat" cmpd="sng">
              <a:solidFill>
                <a:schemeClr val="accent1"/>
              </a:solidFill>
              <a:prstDash val="solid"/>
              <a:round/>
              <a:headEnd type="none" w="med" len="med"/>
              <a:tailEnd type="none" w="med" len="med"/>
            </a:ln>
          </a:top>
        </a:tcBdr>
        <a:fill>
          <a:solidFill>
            <a:srgbClr val="FFFFFF">
              <a:alpha val="0"/>
            </a:srgbClr>
          </a:solidFill>
        </a:fill>
      </a:tcStyle>
    </a:lastRow>
    <a:firstRow>
      <a:tcTxStyle b="on" i="off"/>
      <a:tcStyle>
        <a:tcBdr>
          <a:bottom>
            <a:ln w="12700" cap="flat" cmpd="sng">
              <a:solidFill>
                <a:schemeClr val="accent1"/>
              </a:solidFill>
              <a:prstDash val="solid"/>
              <a:round/>
              <a:headEnd type="none" w="med" len="med"/>
              <a:tailEnd type="none" w="med" len="med"/>
            </a:ln>
          </a:bottom>
        </a:tcBdr>
        <a:fill>
          <a:solidFill>
            <a:srgbClr val="FFFFFF">
              <a:alpha val="0"/>
            </a:srgb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430" autoAdjust="0"/>
    <p:restoredTop sz="95259" autoAdjust="0"/>
  </p:normalViewPr>
  <p:slideViewPr>
    <p:cSldViewPr snapToGrid="0" snapToObjects="1">
      <p:cViewPr varScale="1">
        <p:scale>
          <a:sx n="77" d="100"/>
          <a:sy n="77" d="100"/>
        </p:scale>
        <p:origin x="1536" y="53"/>
      </p:cViewPr>
      <p:guideLst>
        <p:guide orient="horz" pos="2160"/>
        <p:guide pos="2880"/>
        <p:guide orient="horz" pos="459"/>
        <p:guide orient="horz" pos="300"/>
        <p:guide orient="horz" pos="913"/>
        <p:guide orient="horz" pos="4088"/>
        <p:guide pos="272"/>
        <p:guide pos="5488"/>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commentAuthors" Target="commentAuthors.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presProps" Target="presProps.xml"/><Relationship Id="rId8" Type="http://schemas.openxmlformats.org/officeDocument/2006/relationships/slide" Target="slides/slide3.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tableStyles" Target="tableStyles.xml"/><Relationship Id="rId20" Type="http://schemas.openxmlformats.org/officeDocument/2006/relationships/slide" Target="slides/slide15.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885CB01-6679-D646-ACB3-8B04B786C15F}" type="datetimeFigureOut">
              <a:rPr lang="en-US" smtClean="0"/>
              <a:t>5/31/2026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82AC0F4D-8A6F-1C4A-B6BF-1558431E4F79}" type="slidenum">
              <a:rPr lang="en-US" smtClean="0"/>
              <a:t>‹#›</a:t>
            </a:fld>
            <a:endParaRPr lang="en-US"/>
          </a:p>
        </p:txBody>
      </p:sp>
    </p:spTree>
    <p:extLst>
      <p:ext uri="{BB962C8B-B14F-4D97-AF65-F5344CB8AC3E}">
        <p14:creationId xmlns:p14="http://schemas.microsoft.com/office/powerpoint/2010/main" val="35540630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2971799" cy="4572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 name="Shape 4"/>
          <p:cNvSpPr txBox="1">
            <a:spLocks noGrp="1"/>
          </p:cNvSpPr>
          <p:nvPr>
            <p:ph type="dt" idx="10"/>
          </p:nvPr>
        </p:nvSpPr>
        <p:spPr>
          <a:xfrm>
            <a:off x="3884612" y="0"/>
            <a:ext cx="2971799" cy="457200"/>
          </a:xfrm>
          <a:prstGeom prst="rect">
            <a:avLst/>
          </a:prstGeom>
          <a:noFill/>
          <a:ln>
            <a:noFill/>
          </a:ln>
        </p:spPr>
        <p:txBody>
          <a:bodyPr lIns="91425" tIns="91425" rIns="91425" bIns="91425" anchor="t" anchorCtr="0"/>
          <a:lstStyle>
            <a:lvl1pPr marL="0" marR="0" lvl="0" indent="0" algn="r"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 name="Shape 5"/>
          <p:cNvSpPr>
            <a:spLocks noGrp="1" noRot="1" noChangeAspect="1"/>
          </p:cNvSpPr>
          <p:nvPr>
            <p:ph type="sldImg" idx="3"/>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6" name="Shape 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200" b="0" i="0" u="none" strike="noStrike" cap="none">
                <a:solidFill>
                  <a:schemeClr val="dk1"/>
                </a:solidFill>
                <a:latin typeface="Arial"/>
                <a:ea typeface="Arial"/>
                <a:cs typeface="Arial"/>
                <a:sym typeface="Arial"/>
              </a:defRPr>
            </a:lvl2pPr>
            <a:lvl3pPr marL="914400" marR="0" lvl="2" indent="0" algn="l" rtl="0">
              <a:spcBef>
                <a:spcPts val="0"/>
              </a:spcBef>
              <a:buNone/>
              <a:defRPr sz="1200" b="0" i="0" u="none" strike="noStrike" cap="none">
                <a:solidFill>
                  <a:schemeClr val="dk1"/>
                </a:solidFill>
                <a:latin typeface="Arial"/>
                <a:ea typeface="Arial"/>
                <a:cs typeface="Arial"/>
                <a:sym typeface="Arial"/>
              </a:defRPr>
            </a:lvl3pPr>
            <a:lvl4pPr marL="1371600" marR="0" lvl="3" indent="0" algn="l" rtl="0">
              <a:spcBef>
                <a:spcPts val="0"/>
              </a:spcBef>
              <a:buNone/>
              <a:defRPr sz="1200" b="0" i="0" u="none" strike="noStrike" cap="none">
                <a:solidFill>
                  <a:schemeClr val="dk1"/>
                </a:solidFill>
                <a:latin typeface="Arial"/>
                <a:ea typeface="Arial"/>
                <a:cs typeface="Arial"/>
                <a:sym typeface="Arial"/>
              </a:defRPr>
            </a:lvl4pPr>
            <a:lvl5pPr marL="1828800" marR="0" lvl="4" indent="0" algn="l" rtl="0">
              <a:spcBef>
                <a:spcPts val="0"/>
              </a:spcBef>
              <a:buNone/>
              <a:defRPr sz="1200" b="0" i="0" u="none" strike="noStrike" cap="none">
                <a:solidFill>
                  <a:schemeClr val="dk1"/>
                </a:solidFill>
                <a:latin typeface="Arial"/>
                <a:ea typeface="Arial"/>
                <a:cs typeface="Arial"/>
                <a:sym typeface="Arial"/>
              </a:defRPr>
            </a:lvl5pPr>
            <a:lvl6pPr marL="2286000" marR="0" lvl="5" indent="0" algn="l" rtl="0">
              <a:spcBef>
                <a:spcPts val="0"/>
              </a:spcBef>
              <a:buNone/>
              <a:defRPr sz="1200" b="0" i="0" u="none" strike="noStrike" cap="none">
                <a:solidFill>
                  <a:schemeClr val="dk1"/>
                </a:solidFill>
                <a:latin typeface="Arial"/>
                <a:ea typeface="Arial"/>
                <a:cs typeface="Arial"/>
                <a:sym typeface="Arial"/>
              </a:defRPr>
            </a:lvl6pPr>
            <a:lvl7pPr marL="2743200" marR="0" lvl="6" indent="0" algn="l" rtl="0">
              <a:spcBef>
                <a:spcPts val="0"/>
              </a:spcBef>
              <a:buNone/>
              <a:defRPr sz="1200" b="0" i="0" u="none" strike="noStrike" cap="none">
                <a:solidFill>
                  <a:schemeClr val="dk1"/>
                </a:solidFill>
                <a:latin typeface="Arial"/>
                <a:ea typeface="Arial"/>
                <a:cs typeface="Arial"/>
                <a:sym typeface="Arial"/>
              </a:defRPr>
            </a:lvl7pPr>
            <a:lvl8pPr marL="3200400" marR="0" lvl="7" indent="0" algn="l" rtl="0">
              <a:spcBef>
                <a:spcPts val="0"/>
              </a:spcBef>
              <a:buNone/>
              <a:defRPr sz="1200" b="0" i="0" u="none" strike="noStrike" cap="none">
                <a:solidFill>
                  <a:schemeClr val="dk1"/>
                </a:solidFill>
                <a:latin typeface="Arial"/>
                <a:ea typeface="Arial"/>
                <a:cs typeface="Arial"/>
                <a:sym typeface="Arial"/>
              </a:defRPr>
            </a:lvl8pPr>
            <a:lvl9pPr marL="3657600" marR="0" lvl="8" indent="0" algn="l" rtl="0">
              <a:spcBef>
                <a:spcPts val="0"/>
              </a:spcBef>
              <a:buNone/>
              <a:defRPr sz="1200" b="0" i="0" u="none" strike="noStrike" cap="none">
                <a:solidFill>
                  <a:schemeClr val="dk1"/>
                </a:solidFill>
                <a:latin typeface="Arial"/>
                <a:ea typeface="Arial"/>
                <a:cs typeface="Arial"/>
                <a:sym typeface="Arial"/>
              </a:defRPr>
            </a:lvl9pPr>
          </a:lstStyle>
          <a:p>
            <a:endParaRPr/>
          </a:p>
        </p:txBody>
      </p:sp>
      <p:sp>
        <p:nvSpPr>
          <p:cNvPr id="7" name="Shape 7"/>
          <p:cNvSpPr txBox="1">
            <a:spLocks noGrp="1"/>
          </p:cNvSpPr>
          <p:nvPr>
            <p:ph type="ftr" idx="11"/>
          </p:nvPr>
        </p:nvSpPr>
        <p:spPr>
          <a:xfrm>
            <a:off x="0" y="8685213"/>
            <a:ext cx="2971799" cy="457200"/>
          </a:xfrm>
          <a:prstGeom prst="rect">
            <a:avLst/>
          </a:prstGeom>
          <a:noFill/>
          <a:ln>
            <a:noFill/>
          </a:ln>
        </p:spPr>
        <p:txBody>
          <a:bodyPr lIns="91425" tIns="91425" rIns="91425" bIns="91425" anchor="b"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8" name="Shape 8"/>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b="0" i="0" u="none" strike="noStrike" cap="none">
                <a:solidFill>
                  <a:schemeClr val="dk1"/>
                </a:solidFill>
                <a:latin typeface="Arial"/>
                <a:ea typeface="Arial"/>
                <a:cs typeface="Arial"/>
                <a:sym typeface="Arial"/>
              </a:rPr>
              <a:t>‹#›</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2457102709"/>
      </p:ext>
    </p:extLst>
  </p:cSld>
  <p:clrMap bg1="lt1" tx1="dk1" bg2="dk2" tx2="lt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cap="none" dirty="0">
                <a:solidFill>
                  <a:schemeClr val="dk1"/>
                </a:solidFill>
                <a:latin typeface="Arial"/>
                <a:ea typeface="Arial"/>
                <a:cs typeface="Arial"/>
                <a:sym typeface="Arial"/>
              </a:rPr>
              <a:t>If this PowerPoint presentation contains mathematical equations, you may need to check that your computer has the following installed:</a:t>
            </a:r>
          </a:p>
          <a:p>
            <a:r>
              <a:rPr lang="en-US" sz="1200" b="0" i="0" u="none" strike="noStrike" kern="1200" cap="none" dirty="0">
                <a:solidFill>
                  <a:schemeClr val="dk1"/>
                </a:solidFill>
                <a:latin typeface="Arial"/>
                <a:ea typeface="Arial"/>
                <a:cs typeface="Arial"/>
                <a:sym typeface="Arial"/>
              </a:rPr>
              <a:t>1) Math Type Plugin</a:t>
            </a:r>
          </a:p>
          <a:p>
            <a:r>
              <a:rPr lang="en-US" sz="1200" b="0" i="0" u="none" strike="noStrike" kern="1200" cap="none" dirty="0">
                <a:solidFill>
                  <a:schemeClr val="dk1"/>
                </a:solidFill>
                <a:latin typeface="Arial"/>
                <a:ea typeface="Arial"/>
                <a:cs typeface="Arial"/>
                <a:sym typeface="Arial"/>
              </a:rPr>
              <a:t>2) Math Player (free versions available)</a:t>
            </a:r>
          </a:p>
          <a:p>
            <a:r>
              <a:rPr lang="en-US" sz="1200" b="0" i="0" u="none" strike="noStrike" kern="1200" cap="none" dirty="0">
                <a:solidFill>
                  <a:schemeClr val="dk1"/>
                </a:solidFill>
                <a:latin typeface="Arial"/>
                <a:ea typeface="Arial"/>
                <a:cs typeface="Arial"/>
                <a:sym typeface="Arial"/>
              </a:rPr>
              <a:t>3) NVDA Reader (free versions available)</a:t>
            </a:r>
            <a:endParaRPr lang="en-US" dirty="0"/>
          </a:p>
        </p:txBody>
      </p:sp>
      <p:sp>
        <p:nvSpPr>
          <p:cNvPr id="4" name="Slide Number Placeholder 3"/>
          <p:cNvSpPr>
            <a:spLocks noGrp="1"/>
          </p:cNvSpPr>
          <p:nvPr>
            <p:ph type="sldNum" idx="10"/>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Arial"/>
                <a:ea typeface="Arial"/>
                <a:cs typeface="Arial"/>
                <a:sym typeface="Arial"/>
              </a:rPr>
              <a:t>1</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17502984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Shape 17"/>
        <p:cNvGrpSpPr/>
        <p:nvPr/>
      </p:nvGrpSpPr>
      <p:grpSpPr>
        <a:xfrm>
          <a:off x="0" y="0"/>
          <a:ext cx="0" cy="0"/>
          <a:chOff x="0" y="0"/>
          <a:chExt cx="0" cy="0"/>
        </a:xfrm>
      </p:grpSpPr>
      <p:sp>
        <p:nvSpPr>
          <p:cNvPr id="18" name="Shape 18"/>
          <p:cNvSpPr/>
          <p:nvPr/>
        </p:nvSpPr>
        <p:spPr>
          <a:xfrm>
            <a:off x="0" y="0"/>
            <a:ext cx="9144000" cy="3886200"/>
          </a:xfrm>
          <a:prstGeom prst="rect">
            <a:avLst/>
          </a:prstGeom>
          <a:solidFill>
            <a:srgbClr val="007FA3"/>
          </a:solidFill>
          <a:ln w="25400" cap="flat" cmpd="sng">
            <a:solidFill>
              <a:srgbClr val="007FA3"/>
            </a:solidFill>
            <a:prstDash val="solid"/>
            <a:round/>
            <a:headEnd type="none" w="med" len="med"/>
            <a:tailEnd type="none" w="med" len="med"/>
          </a:ln>
        </p:spPr>
        <p:txBody>
          <a:bodyPr lIns="91425" tIns="45700" rIns="91425" bIns="45700" anchor="ctr" anchorCtr="0">
            <a:noAutofit/>
          </a:bodyPr>
          <a:lstStyle/>
          <a:p>
            <a:pPr marL="0" marR="0" lvl="0" indent="0" algn="ctr" rtl="0">
              <a:spcBef>
                <a:spcPts val="0"/>
              </a:spcBef>
              <a:buNone/>
            </a:pPr>
            <a:endParaRPr sz="1800" b="0" i="0" u="none" strike="noStrike" cap="none">
              <a:solidFill>
                <a:schemeClr val="lt1"/>
              </a:solidFill>
              <a:latin typeface="Arial"/>
              <a:ea typeface="Arial"/>
              <a:cs typeface="Arial"/>
              <a:sym typeface="Arial"/>
            </a:endParaRPr>
          </a:p>
        </p:txBody>
      </p:sp>
      <p:sp>
        <p:nvSpPr>
          <p:cNvPr id="19" name="Shape 19"/>
          <p:cNvSpPr txBox="1">
            <a:spLocks noGrp="1"/>
          </p:cNvSpPr>
          <p:nvPr>
            <p:ph type="ctrTitle"/>
          </p:nvPr>
        </p:nvSpPr>
        <p:spPr>
          <a:xfrm>
            <a:off x="685800" y="762000"/>
            <a:ext cx="7772400" cy="2838451"/>
          </a:xfrm>
          <a:prstGeom prst="rect">
            <a:avLst/>
          </a:prstGeom>
          <a:noFill/>
          <a:ln>
            <a:noFill/>
          </a:ln>
        </p:spPr>
        <p:txBody>
          <a:bodyPr lIns="91425" tIns="91425" rIns="91425" bIns="91425" anchor="b" anchorCtr="0"/>
          <a:lstStyle>
            <a:lvl1pPr marL="0" marR="0" lvl="0" indent="0" algn="l" rtl="0">
              <a:lnSpc>
                <a:spcPct val="100000"/>
              </a:lnSpc>
              <a:spcBef>
                <a:spcPts val="0"/>
              </a:spcBef>
              <a:buClr>
                <a:schemeClr val="lt1"/>
              </a:buClr>
              <a:buFont typeface="Times New Roman"/>
              <a:buNone/>
              <a:defRPr sz="3600" b="1" i="0" u="none" strike="noStrike" cap="none">
                <a:solidFill>
                  <a:schemeClr val="lt1"/>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20" name="Shape 20"/>
          <p:cNvSpPr txBox="1">
            <a:spLocks noGrp="1"/>
          </p:cNvSpPr>
          <p:nvPr>
            <p:ph type="subTitle" idx="1"/>
          </p:nvPr>
        </p:nvSpPr>
        <p:spPr>
          <a:xfrm>
            <a:off x="674687" y="3962400"/>
            <a:ext cx="7794625" cy="175260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1800" b="0" i="0" u="none" strike="noStrike" cap="none">
                <a:solidFill>
                  <a:schemeClr val="dk1"/>
                </a:solidFill>
                <a:latin typeface="Arial"/>
                <a:ea typeface="Arial"/>
                <a:cs typeface="Arial"/>
                <a:sym typeface="Arial"/>
              </a:defRPr>
            </a:lvl1pPr>
            <a:lvl2pPr marL="457200" marR="0" lvl="1"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2pPr>
            <a:lvl3pPr marL="914400" marR="0" lvl="2" indent="0" algn="ctr" rtl="0">
              <a:spcBef>
                <a:spcPts val="600"/>
              </a:spcBef>
              <a:buClr>
                <a:srgbClr val="007FA3"/>
              </a:buClr>
              <a:buFont typeface="Noto Sans Symbols"/>
              <a:buNone/>
              <a:defRPr sz="1600" b="0" i="0" u="none" strike="noStrike" cap="none">
                <a:solidFill>
                  <a:srgbClr val="888888"/>
                </a:solidFill>
                <a:latin typeface="Arial"/>
                <a:ea typeface="Arial"/>
                <a:cs typeface="Arial"/>
                <a:sym typeface="Arial"/>
              </a:defRPr>
            </a:lvl3pPr>
            <a:lvl4pPr marL="1371600" marR="0" lvl="3"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4pPr>
            <a:lvl5pPr marL="1828800" marR="0" lvl="4"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5pPr>
            <a:lvl6pPr marL="2286000" marR="0" lvl="5"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6pPr>
            <a:lvl7pPr marL="2743200" marR="0" lvl="6"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7pPr>
            <a:lvl8pPr marL="3200400" marR="0" lvl="7"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8pPr>
            <a:lvl9pPr marL="3657600" marR="0" lvl="8"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9pPr>
          </a:lstStyle>
          <a:p>
            <a:endParaRPr dirty="0"/>
          </a:p>
        </p:txBody>
      </p:sp>
      <p:sp>
        <p:nvSpPr>
          <p:cNvPr id="21" name="Shape 21"/>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dirty="0"/>
          </a:p>
        </p:txBody>
      </p:sp>
      <p:sp>
        <p:nvSpPr>
          <p:cNvPr id="22" name="Shape 22"/>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23" name="Shape 23"/>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2457349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gure + Caption">
    <p:spTree>
      <p:nvGrpSpPr>
        <p:cNvPr id="1" name="Shape 53"/>
        <p:cNvGrpSpPr/>
        <p:nvPr/>
      </p:nvGrpSpPr>
      <p:grpSpPr>
        <a:xfrm>
          <a:off x="0" y="0"/>
          <a:ext cx="0" cy="0"/>
          <a:chOff x="0" y="0"/>
          <a:chExt cx="0" cy="0"/>
        </a:xfrm>
      </p:grpSpPr>
      <p:sp>
        <p:nvSpPr>
          <p:cNvPr id="54" name="Shape 54"/>
          <p:cNvSpPr txBox="1">
            <a:spLocks noGrp="1"/>
          </p:cNvSpPr>
          <p:nvPr>
            <p:ph type="title"/>
          </p:nvPr>
        </p:nvSpPr>
        <p:spPr>
          <a:xfrm>
            <a:off x="457200" y="228600"/>
            <a:ext cx="8229600" cy="1066799"/>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55" name="Shape 55"/>
          <p:cNvSpPr txBox="1">
            <a:spLocks noGrp="1"/>
          </p:cNvSpPr>
          <p:nvPr>
            <p:ph type="body" idx="1"/>
          </p:nvPr>
        </p:nvSpPr>
        <p:spPr>
          <a:xfrm>
            <a:off x="457200" y="5368160"/>
            <a:ext cx="8229600" cy="916856"/>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8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56" name="Shape 56"/>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7" name="Shape 57"/>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8" name="Shape 58"/>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dk1"/>
                </a:solidFill>
                <a:latin typeface="Arial"/>
                <a:ea typeface="Arial"/>
                <a:cs typeface="Arial"/>
                <a:sym typeface="Arial"/>
              </a:rPr>
              <a:t>‹#›</a:t>
            </a:fld>
            <a:endParaRPr lang="en-US" sz="9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28263026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26" name="Content Placeholder"/>
          <p:cNvSpPr txBox="1">
            <a:spLocks noGrp="1"/>
          </p:cNvSpPr>
          <p:nvPr>
            <p:ph type="body" idx="1"/>
          </p:nvPr>
        </p:nvSpPr>
        <p:spPr>
          <a:xfrm>
            <a:off x="457200" y="1600200"/>
            <a:ext cx="8229600" cy="4525963"/>
          </a:xfrm>
          <a:prstGeom prst="rect">
            <a:avLst/>
          </a:prstGeom>
          <a:noFill/>
          <a:ln>
            <a:noFill/>
          </a:ln>
        </p:spPr>
        <p:txBody>
          <a:bodyPr lIns="91425" tIns="91425" rIns="91425" bIns="91425" anchor="t" anchorCtr="0"/>
          <a:lstStyle>
            <a:lvl1pPr marL="255600" marR="0" lvl="0" indent="-255600" algn="l" rtl="0">
              <a:spcBef>
                <a:spcPts val="1500"/>
              </a:spcBef>
              <a:buClr>
                <a:srgbClr val="007FA3"/>
              </a:buClr>
              <a:buSzPct val="100000"/>
              <a:buFont typeface="Arial" panose="020B0604020202020204" pitchFamily="34" charset="0"/>
              <a:buChar char="•"/>
              <a:tabLst>
                <a:tab pos="176213" algn="l"/>
              </a:tabLst>
              <a:defRPr sz="1600" b="0" i="0" u="none" strike="noStrike" cap="none">
                <a:solidFill>
                  <a:schemeClr val="dk1"/>
                </a:solidFill>
                <a:latin typeface="Arial"/>
                <a:ea typeface="Arial"/>
                <a:cs typeface="Arial"/>
                <a:sym typeface="Arial"/>
              </a:defRPr>
            </a:lvl1pPr>
            <a:lvl2pPr marL="742950" marR="0" lvl="1" indent="-283464"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2286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lang="en-IN" dirty="0"/>
          </a:p>
          <a:p>
            <a:pPr lvl="1"/>
            <a:endParaRPr lang="en-IN" dirty="0"/>
          </a:p>
          <a:p>
            <a:pPr lvl="2"/>
            <a:endParaRPr lang="en-IN"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and 5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26" name="Content Placeholder 1"/>
          <p:cNvSpPr txBox="1">
            <a:spLocks noGrp="1"/>
          </p:cNvSpPr>
          <p:nvPr>
            <p:ph type="body" idx="1"/>
          </p:nvPr>
        </p:nvSpPr>
        <p:spPr>
          <a:xfrm>
            <a:off x="457200" y="1600201"/>
            <a:ext cx="8229600" cy="533400"/>
          </a:xfrm>
          <a:prstGeom prst="rect">
            <a:avLst/>
          </a:prstGeom>
          <a:noFill/>
          <a:ln>
            <a:noFill/>
          </a:ln>
        </p:spPr>
        <p:txBody>
          <a:bodyPr lIns="91425" tIns="91425" rIns="91425" bIns="91425" anchor="t" anchorCtr="0"/>
          <a:lstStyle>
            <a:lvl1pPr marL="255600" marR="0" lvl="0" indent="-255600" algn="l" rtl="0">
              <a:spcBef>
                <a:spcPts val="1500"/>
              </a:spcBef>
              <a:buClr>
                <a:srgbClr val="007FA3"/>
              </a:buClr>
              <a:buSzPct val="100000"/>
              <a:buFont typeface="Arial" panose="020B0604020202020204" pitchFamily="34" charset="0"/>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lang="en-IN" dirty="0"/>
          </a:p>
        </p:txBody>
      </p:sp>
      <p:sp>
        <p:nvSpPr>
          <p:cNvPr id="3" name="Content Placeholder 2"/>
          <p:cNvSpPr>
            <a:spLocks noGrp="1"/>
          </p:cNvSpPr>
          <p:nvPr>
            <p:ph sz="quarter" idx="13"/>
          </p:nvPr>
        </p:nvSpPr>
        <p:spPr>
          <a:xfrm>
            <a:off x="457200" y="2278063"/>
            <a:ext cx="8229600" cy="5588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5" name="Content Placeholder 4"/>
          <p:cNvSpPr>
            <a:spLocks noGrp="1"/>
          </p:cNvSpPr>
          <p:nvPr>
            <p:ph sz="quarter" idx="14"/>
          </p:nvPr>
        </p:nvSpPr>
        <p:spPr>
          <a:xfrm>
            <a:off x="457200" y="2954338"/>
            <a:ext cx="8232775" cy="6096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7" name="Content Placeholder 6"/>
          <p:cNvSpPr>
            <a:spLocks noGrp="1"/>
          </p:cNvSpPr>
          <p:nvPr>
            <p:ph sz="quarter" idx="15"/>
          </p:nvPr>
        </p:nvSpPr>
        <p:spPr>
          <a:xfrm>
            <a:off x="457200" y="3733800"/>
            <a:ext cx="8229600" cy="5508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9" name="Content Placeholder 8"/>
          <p:cNvSpPr>
            <a:spLocks noGrp="1"/>
          </p:cNvSpPr>
          <p:nvPr>
            <p:ph sz="quarter" idx="16"/>
          </p:nvPr>
        </p:nvSpPr>
        <p:spPr>
          <a:xfrm>
            <a:off x="457200" y="4427538"/>
            <a:ext cx="8229600" cy="652462"/>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11" name="Content Placeholder 10"/>
          <p:cNvSpPr>
            <a:spLocks noGrp="1"/>
          </p:cNvSpPr>
          <p:nvPr>
            <p:ph sz="quarter" idx="17"/>
          </p:nvPr>
        </p:nvSpPr>
        <p:spPr>
          <a:xfrm>
            <a:off x="457200" y="5181600"/>
            <a:ext cx="8229600" cy="5000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Tree>
    <p:extLst>
      <p:ext uri="{BB962C8B-B14F-4D97-AF65-F5344CB8AC3E}">
        <p14:creationId xmlns:p14="http://schemas.microsoft.com/office/powerpoint/2010/main" val="3428980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Title and 5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26" name="Content Placeholder 1"/>
          <p:cNvSpPr txBox="1">
            <a:spLocks noGrp="1"/>
          </p:cNvSpPr>
          <p:nvPr>
            <p:ph type="body" idx="1"/>
          </p:nvPr>
        </p:nvSpPr>
        <p:spPr>
          <a:xfrm>
            <a:off x="457200" y="1600201"/>
            <a:ext cx="8229600" cy="533400"/>
          </a:xfrm>
          <a:prstGeom prst="rect">
            <a:avLst/>
          </a:prstGeom>
          <a:noFill/>
          <a:ln>
            <a:noFill/>
          </a:ln>
        </p:spPr>
        <p:txBody>
          <a:bodyPr lIns="91425" tIns="91425" rIns="91425" bIns="91425" anchor="t" anchorCtr="0"/>
          <a:lstStyle>
            <a:lvl1pPr marL="255600" marR="0" lvl="0" indent="-255600" algn="l" rtl="0">
              <a:spcBef>
                <a:spcPts val="1500"/>
              </a:spcBef>
              <a:buClr>
                <a:srgbClr val="007FA3"/>
              </a:buClr>
              <a:buSzPct val="100000"/>
              <a:buFont typeface="Arial" panose="020B0604020202020204" pitchFamily="34" charset="0"/>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lang="en-IN" dirty="0"/>
          </a:p>
        </p:txBody>
      </p:sp>
      <p:sp>
        <p:nvSpPr>
          <p:cNvPr id="3" name="Content Placeholder 2"/>
          <p:cNvSpPr>
            <a:spLocks noGrp="1"/>
          </p:cNvSpPr>
          <p:nvPr>
            <p:ph sz="quarter" idx="13"/>
          </p:nvPr>
        </p:nvSpPr>
        <p:spPr>
          <a:xfrm>
            <a:off x="457200" y="2278063"/>
            <a:ext cx="8229600" cy="5588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5" name="Content Placeholder 4"/>
          <p:cNvSpPr>
            <a:spLocks noGrp="1"/>
          </p:cNvSpPr>
          <p:nvPr>
            <p:ph sz="quarter" idx="14"/>
          </p:nvPr>
        </p:nvSpPr>
        <p:spPr>
          <a:xfrm>
            <a:off x="457200" y="2954338"/>
            <a:ext cx="8232775" cy="6096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7" name="Content Placeholder 6"/>
          <p:cNvSpPr>
            <a:spLocks noGrp="1"/>
          </p:cNvSpPr>
          <p:nvPr>
            <p:ph sz="quarter" idx="15"/>
          </p:nvPr>
        </p:nvSpPr>
        <p:spPr>
          <a:xfrm>
            <a:off x="457200" y="3733800"/>
            <a:ext cx="8229600" cy="5508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9" name="Content Placeholder 8"/>
          <p:cNvSpPr>
            <a:spLocks noGrp="1"/>
          </p:cNvSpPr>
          <p:nvPr>
            <p:ph sz="quarter" idx="16"/>
          </p:nvPr>
        </p:nvSpPr>
        <p:spPr>
          <a:xfrm>
            <a:off x="457200" y="4427538"/>
            <a:ext cx="8229600" cy="652462"/>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11" name="Content Placeholder 10"/>
          <p:cNvSpPr>
            <a:spLocks noGrp="1"/>
          </p:cNvSpPr>
          <p:nvPr>
            <p:ph sz="quarter" idx="17"/>
          </p:nvPr>
        </p:nvSpPr>
        <p:spPr>
          <a:xfrm>
            <a:off x="457200" y="5181600"/>
            <a:ext cx="8229600" cy="5000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4" name="Content Placeholder 3"/>
          <p:cNvSpPr>
            <a:spLocks noGrp="1"/>
          </p:cNvSpPr>
          <p:nvPr>
            <p:ph sz="quarter" idx="18"/>
          </p:nvPr>
        </p:nvSpPr>
        <p:spPr>
          <a:xfrm>
            <a:off x="457200" y="5811838"/>
            <a:ext cx="8229600" cy="457200"/>
          </a:xfrm>
        </p:spPr>
        <p:txBody>
          <a:bodyPr/>
          <a:lstStyle>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7"/>
          <p:cNvSpPr>
            <a:spLocks noGrp="1"/>
          </p:cNvSpPr>
          <p:nvPr>
            <p:ph sz="quarter" idx="19"/>
          </p:nvPr>
        </p:nvSpPr>
        <p:spPr>
          <a:xfrm>
            <a:off x="3657601" y="6418263"/>
            <a:ext cx="479834" cy="2984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11"/>
          <p:cNvSpPr>
            <a:spLocks noGrp="1"/>
          </p:cNvSpPr>
          <p:nvPr>
            <p:ph sz="quarter" idx="20"/>
          </p:nvPr>
        </p:nvSpPr>
        <p:spPr>
          <a:xfrm>
            <a:off x="5503863" y="6418263"/>
            <a:ext cx="453317" cy="29845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3"/>
          <p:cNvSpPr>
            <a:spLocks noGrp="1"/>
          </p:cNvSpPr>
          <p:nvPr>
            <p:ph sz="quarter" idx="21"/>
          </p:nvPr>
        </p:nvSpPr>
        <p:spPr>
          <a:xfrm>
            <a:off x="7200900" y="6418263"/>
            <a:ext cx="576027" cy="29845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p:cNvSpPr>
            <a:spLocks noGrp="1"/>
          </p:cNvSpPr>
          <p:nvPr>
            <p:ph sz="quarter" idx="22"/>
          </p:nvPr>
        </p:nvSpPr>
        <p:spPr>
          <a:xfrm flipH="1">
            <a:off x="7976101" y="6418263"/>
            <a:ext cx="778599" cy="29845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447949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Chapter Opener">
    <p:spTree>
      <p:nvGrpSpPr>
        <p:cNvPr id="1" name="Shape 37"/>
        <p:cNvGrpSpPr/>
        <p:nvPr/>
      </p:nvGrpSpPr>
      <p:grpSpPr>
        <a:xfrm>
          <a:off x="0" y="0"/>
          <a:ext cx="0" cy="0"/>
          <a:chOff x="0" y="0"/>
          <a:chExt cx="0" cy="0"/>
        </a:xfrm>
      </p:grpSpPr>
      <p:sp>
        <p:nvSpPr>
          <p:cNvPr id="38" name="Shape 38"/>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39" name="Shape 39"/>
          <p:cNvSpPr txBox="1">
            <a:spLocks noGrp="1"/>
          </p:cNvSpPr>
          <p:nvPr>
            <p:ph type="body" idx="1"/>
          </p:nvPr>
        </p:nvSpPr>
        <p:spPr>
          <a:xfrm>
            <a:off x="457200" y="816429"/>
            <a:ext cx="8229600" cy="47897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40" name="Shape 40"/>
          <p:cNvSpPr txBox="1">
            <a:spLocks noGrp="1"/>
          </p:cNvSpPr>
          <p:nvPr>
            <p:ph type="body" idx="2"/>
          </p:nvPr>
        </p:nvSpPr>
        <p:spPr>
          <a:xfrm>
            <a:off x="5029200" y="1600200"/>
            <a:ext cx="3657600" cy="1600198"/>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30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44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9pPr>
          </a:lstStyle>
          <a:p>
            <a:endParaRPr/>
          </a:p>
        </p:txBody>
      </p:sp>
      <p:sp>
        <p:nvSpPr>
          <p:cNvPr id="41" name="Shape 41"/>
          <p:cNvSpPr txBox="1">
            <a:spLocks noGrp="1"/>
          </p:cNvSpPr>
          <p:nvPr>
            <p:ph type="body" idx="3"/>
          </p:nvPr>
        </p:nvSpPr>
        <p:spPr>
          <a:xfrm>
            <a:off x="5029200" y="3200400"/>
            <a:ext cx="3657600" cy="292576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2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42" name="Shape 42"/>
          <p:cNvSpPr txBox="1">
            <a:spLocks noGrp="1"/>
          </p:cNvSpPr>
          <p:nvPr>
            <p:ph type="ftr" idx="11"/>
          </p:nvPr>
        </p:nvSpPr>
        <p:spPr>
          <a:xfrm>
            <a:off x="93969" y="6165337"/>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3" name="Shape 4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 Learning Objectives and Content">
    <p:spTree>
      <p:nvGrpSpPr>
        <p:cNvPr id="1" name="Shape 61"/>
        <p:cNvGrpSpPr/>
        <p:nvPr/>
      </p:nvGrpSpPr>
      <p:grpSpPr>
        <a:xfrm>
          <a:off x="0" y="0"/>
          <a:ext cx="0" cy="0"/>
          <a:chOff x="0" y="0"/>
          <a:chExt cx="0" cy="0"/>
        </a:xfrm>
      </p:grpSpPr>
      <p:sp>
        <p:nvSpPr>
          <p:cNvPr id="62" name="Shape 62"/>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63" name="Shape 63"/>
          <p:cNvSpPr txBox="1">
            <a:spLocks noGrp="1"/>
          </p:cNvSpPr>
          <p:nvPr>
            <p:ph type="body" idx="1"/>
          </p:nvPr>
        </p:nvSpPr>
        <p:spPr>
          <a:xfrm>
            <a:off x="457200" y="816429"/>
            <a:ext cx="8229600" cy="402769"/>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16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64" name="Shape 64"/>
          <p:cNvSpPr txBox="1">
            <a:spLocks noGrp="1"/>
          </p:cNvSpPr>
          <p:nvPr>
            <p:ph type="body" idx="2"/>
          </p:nvPr>
        </p:nvSpPr>
        <p:spPr>
          <a:xfrm>
            <a:off x="457200" y="1600200"/>
            <a:ext cx="8229600" cy="4525963"/>
          </a:xfrm>
          <a:prstGeom prst="rect">
            <a:avLst/>
          </a:prstGeom>
          <a:noFill/>
          <a:ln>
            <a:noFill/>
          </a:ln>
        </p:spPr>
        <p:txBody>
          <a:bodyPr lIns="91425" tIns="91425" rIns="91425" bIns="91425" anchor="t" anchorCtr="0"/>
          <a:lstStyle>
            <a:lvl1pPr marL="256032" marR="0" lvl="0" indent="-2560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dirty="0"/>
          </a:p>
        </p:txBody>
      </p:sp>
      <p:sp>
        <p:nvSpPr>
          <p:cNvPr id="65" name="Shape 65"/>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66" name="Shape 66"/>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67" name="Shape 67"/>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Shape 68"/>
        <p:cNvGrpSpPr/>
        <p:nvPr/>
      </p:nvGrpSpPr>
      <p:grpSpPr>
        <a:xfrm>
          <a:off x="0" y="0"/>
          <a:ext cx="0" cy="0"/>
          <a:chOff x="0" y="0"/>
          <a:chExt cx="0" cy="0"/>
        </a:xfrm>
      </p:grpSpPr>
      <p:sp>
        <p:nvSpPr>
          <p:cNvPr id="69" name="Shape 69"/>
          <p:cNvSpPr txBox="1">
            <a:spLocks noGrp="1"/>
          </p:cNvSpPr>
          <p:nvPr>
            <p:ph type="title"/>
          </p:nvPr>
        </p:nvSpPr>
        <p:spPr>
          <a:xfrm>
            <a:off x="685800" y="1447800"/>
            <a:ext cx="7772400" cy="2152651"/>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70" name="Shape 70"/>
          <p:cNvSpPr txBox="1">
            <a:spLocks noGrp="1"/>
          </p:cNvSpPr>
          <p:nvPr>
            <p:ph type="body" idx="1"/>
          </p:nvPr>
        </p:nvSpPr>
        <p:spPr>
          <a:xfrm>
            <a:off x="674687" y="3962400"/>
            <a:ext cx="7794626" cy="175260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1600" b="0" i="0" u="none" strike="noStrike" cap="none">
                <a:solidFill>
                  <a:srgbClr val="007FA3"/>
                </a:solidFill>
                <a:latin typeface="Arial"/>
                <a:ea typeface="Arial"/>
                <a:cs typeface="Arial"/>
                <a:sym typeface="Arial"/>
              </a:defRPr>
            </a:lvl1pPr>
            <a:lvl2pPr marL="457200" marR="0" lvl="1" indent="0" algn="l" rtl="0">
              <a:spcBef>
                <a:spcPts val="600"/>
              </a:spcBef>
              <a:buClr>
                <a:srgbClr val="007FA3"/>
              </a:buClr>
              <a:buFont typeface="Arial"/>
              <a:buNone/>
              <a:defRPr sz="1800" b="0" i="0" u="none" strike="noStrike" cap="none">
                <a:solidFill>
                  <a:srgbClr val="888888"/>
                </a:solidFill>
                <a:latin typeface="Arial"/>
                <a:ea typeface="Arial"/>
                <a:cs typeface="Arial"/>
                <a:sym typeface="Arial"/>
              </a:defRPr>
            </a:lvl2pPr>
            <a:lvl3pPr marL="914400" marR="0" lvl="2" indent="0" algn="l" rtl="0">
              <a:spcBef>
                <a:spcPts val="600"/>
              </a:spcBef>
              <a:buClr>
                <a:srgbClr val="007FA3"/>
              </a:buClr>
              <a:buFont typeface="Noto Sans Symbols"/>
              <a:buNone/>
              <a:defRPr sz="1600" b="0" i="0" u="none" strike="noStrike" cap="none">
                <a:solidFill>
                  <a:srgbClr val="888888"/>
                </a:solidFill>
                <a:latin typeface="Arial"/>
                <a:ea typeface="Arial"/>
                <a:cs typeface="Arial"/>
                <a:sym typeface="Arial"/>
              </a:defRPr>
            </a:lvl3pPr>
            <a:lvl4pPr marL="1371600" marR="0" lvl="3" indent="0" algn="l" rtl="0">
              <a:spcBef>
                <a:spcPts val="600"/>
              </a:spcBef>
              <a:buClr>
                <a:srgbClr val="007FA3"/>
              </a:buClr>
              <a:buFont typeface="Arial"/>
              <a:buNone/>
              <a:defRPr sz="1400" b="0" i="0" u="none" strike="noStrike" cap="none">
                <a:solidFill>
                  <a:srgbClr val="888888"/>
                </a:solidFill>
                <a:latin typeface="Arial"/>
                <a:ea typeface="Arial"/>
                <a:cs typeface="Arial"/>
                <a:sym typeface="Arial"/>
              </a:defRPr>
            </a:lvl4pPr>
            <a:lvl5pPr marL="1828800" marR="0" lvl="4" indent="0" algn="l" rtl="0">
              <a:spcBef>
                <a:spcPts val="600"/>
              </a:spcBef>
              <a:buClr>
                <a:srgbClr val="007FA3"/>
              </a:buClr>
              <a:buFont typeface="Arial"/>
              <a:buNone/>
              <a:defRPr sz="1400" b="0" i="0" u="none" strike="noStrike" cap="none">
                <a:solidFill>
                  <a:srgbClr val="888888"/>
                </a:solidFill>
                <a:latin typeface="Arial"/>
                <a:ea typeface="Arial"/>
                <a:cs typeface="Arial"/>
                <a:sym typeface="Arial"/>
              </a:defRPr>
            </a:lvl5pPr>
            <a:lvl6pPr marL="2286000" marR="0" lvl="5"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6pPr>
            <a:lvl7pPr marL="2743200" marR="0" lvl="6"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7pPr>
            <a:lvl8pPr marL="3200400" marR="0" lvl="7"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8pPr>
            <a:lvl9pPr marL="3657600" marR="0" lvl="8"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9pPr>
          </a:lstStyle>
          <a:p>
            <a:endParaRPr/>
          </a:p>
        </p:txBody>
      </p:sp>
      <p:sp>
        <p:nvSpPr>
          <p:cNvPr id="71" name="Shape 71"/>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2" name="Shape 72"/>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3" name="Shape 73"/>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Title Only">
    <p:spTree>
      <p:nvGrpSpPr>
        <p:cNvPr id="1" name="Shape 74"/>
        <p:cNvGrpSpPr/>
        <p:nvPr/>
      </p:nvGrpSpPr>
      <p:grpSpPr>
        <a:xfrm>
          <a:off x="0" y="0"/>
          <a:ext cx="0" cy="0"/>
          <a:chOff x="0" y="0"/>
          <a:chExt cx="0" cy="0"/>
        </a:xfrm>
      </p:grpSpPr>
      <p:sp>
        <p:nvSpPr>
          <p:cNvPr id="75" name="Shape 75"/>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76" name="Shape 76"/>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7" name="Shape 77"/>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8" name="Shape 78"/>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Two Content">
    <p:spTree>
      <p:nvGrpSpPr>
        <p:cNvPr id="1" name="Shape 30"/>
        <p:cNvGrpSpPr/>
        <p:nvPr/>
      </p:nvGrpSpPr>
      <p:grpSpPr>
        <a:xfrm>
          <a:off x="0" y="0"/>
          <a:ext cx="0" cy="0"/>
          <a:chOff x="0" y="0"/>
          <a:chExt cx="0" cy="0"/>
        </a:xfrm>
      </p:grpSpPr>
      <p:sp>
        <p:nvSpPr>
          <p:cNvPr id="31" name="Shape 3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32" name="Shape 32"/>
          <p:cNvSpPr txBox="1">
            <a:spLocks noGrp="1"/>
          </p:cNvSpPr>
          <p:nvPr>
            <p:ph type="body" idx="1"/>
          </p:nvPr>
        </p:nvSpPr>
        <p:spPr>
          <a:xfrm>
            <a:off x="457200" y="1600200"/>
            <a:ext cx="8229600" cy="2163763"/>
          </a:xfrm>
          <a:prstGeom prst="rect">
            <a:avLst/>
          </a:prstGeom>
          <a:noFill/>
          <a:ln>
            <a:noFill/>
          </a:ln>
        </p:spPr>
        <p:txBody>
          <a:bodyPr lIns="91425" tIns="91425" rIns="91425" bIns="91425" anchor="t" anchorCtr="0"/>
          <a:lstStyle>
            <a:lvl1pPr marL="256032" marR="0" lvl="0" indent="-2560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283464"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2286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6pPr>
            <a:lvl7pPr marL="2971800" marR="0" lvl="6"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7pPr>
            <a:lvl8pPr marL="3429000" marR="0" lvl="7"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8pPr>
            <a:lvl9pPr marL="3886200" marR="0" lvl="8"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9pPr>
          </a:lstStyle>
          <a:p>
            <a:endParaRPr lang="en-US" dirty="0"/>
          </a:p>
          <a:p>
            <a:pPr lvl="1"/>
            <a:endParaRPr lang="en-US" dirty="0"/>
          </a:p>
          <a:p>
            <a:pPr lvl="2"/>
            <a:endParaRPr dirty="0"/>
          </a:p>
        </p:txBody>
      </p:sp>
      <p:sp>
        <p:nvSpPr>
          <p:cNvPr id="33" name="Shape 33"/>
          <p:cNvSpPr txBox="1">
            <a:spLocks noGrp="1"/>
          </p:cNvSpPr>
          <p:nvPr>
            <p:ph type="body" idx="2"/>
          </p:nvPr>
        </p:nvSpPr>
        <p:spPr>
          <a:xfrm>
            <a:off x="457200" y="3962400"/>
            <a:ext cx="8229600" cy="2163763"/>
          </a:xfrm>
          <a:prstGeom prst="rect">
            <a:avLst/>
          </a:prstGeom>
          <a:noFill/>
          <a:ln>
            <a:noFill/>
          </a:ln>
        </p:spPr>
        <p:txBody>
          <a:bodyPr lIns="91425" tIns="91425" rIns="91425" bIns="91425" anchor="t" anchorCtr="0"/>
          <a:lstStyle>
            <a:lvl1pPr marL="256032" marR="0" lvl="0" indent="-2560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283464"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2286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6pPr>
            <a:lvl7pPr marL="2971800" marR="0" lvl="6"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7pPr>
            <a:lvl8pPr marL="3429000" marR="0" lvl="7"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8pPr>
            <a:lvl9pPr marL="3886200" marR="0" lvl="8"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9pPr>
          </a:lstStyle>
          <a:p>
            <a:endParaRPr lang="en-US" dirty="0"/>
          </a:p>
          <a:p>
            <a:pPr lvl="1"/>
            <a:endParaRPr lang="en-US" dirty="0"/>
          </a:p>
          <a:p>
            <a:pPr lvl="2"/>
            <a:endParaRPr dirty="0"/>
          </a:p>
        </p:txBody>
      </p:sp>
      <p:sp>
        <p:nvSpPr>
          <p:cNvPr id="34" name="Shape 34"/>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5" name="Shape 35"/>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6" name="Shape 36"/>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1461762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Blank">
    <p:spTree>
      <p:nvGrpSpPr>
        <p:cNvPr id="1" name="Shape 79"/>
        <p:cNvGrpSpPr/>
        <p:nvPr/>
      </p:nvGrpSpPr>
      <p:grpSpPr>
        <a:xfrm>
          <a:off x="0" y="0"/>
          <a:ext cx="0" cy="0"/>
          <a:chOff x="0" y="0"/>
          <a:chExt cx="0" cy="0"/>
        </a:xfrm>
      </p:grpSpPr>
      <p:sp>
        <p:nvSpPr>
          <p:cNvPr id="80" name="Shape 80"/>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81" name="Shape 81"/>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82" name="Shape 82"/>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dk1"/>
                </a:solidFill>
                <a:latin typeface="Arial"/>
                <a:ea typeface="Arial"/>
                <a:cs typeface="Arial"/>
                <a:sym typeface="Arial"/>
              </a:rPr>
              <a:t>‹#›</a:t>
            </a:fld>
            <a:endParaRPr lang="en-US" sz="900" b="0" i="0" u="none" strike="noStrike" cap="none">
              <a:solidFill>
                <a:schemeClr val="dk1"/>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 name="Content Placeholder 2">
            <a:extLst>
              <a:ext uri="{FF2B5EF4-FFF2-40B4-BE49-F238E27FC236}">
                <a16:creationId xmlns:a16="http://schemas.microsoft.com/office/drawing/2014/main" id="{64CBB54A-3ADF-4B42-A676-D66841A7CBE6}"/>
              </a:ext>
            </a:extLst>
          </p:cNvPr>
          <p:cNvSpPr>
            <a:spLocks noGrp="1"/>
          </p:cNvSpPr>
          <p:nvPr>
            <p:ph sz="quarter" idx="10"/>
          </p:nvPr>
        </p:nvSpPr>
        <p:spPr>
          <a:xfrm>
            <a:off x="1811338" y="2033588"/>
            <a:ext cx="4418012" cy="1395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143D67E2-7630-4A76-8A6E-4D3A9AF910FD}"/>
              </a:ext>
            </a:extLst>
          </p:cNvPr>
          <p:cNvSpPr>
            <a:spLocks noGrp="1"/>
          </p:cNvSpPr>
          <p:nvPr>
            <p:ph type="pic" sz="quarter" idx="11"/>
          </p:nvPr>
        </p:nvSpPr>
        <p:spPr>
          <a:xfrm>
            <a:off x="2127250" y="4149725"/>
            <a:ext cx="4418013" cy="1200150"/>
          </a:xfrm>
        </p:spPr>
        <p:txBody>
          <a:bodyPr/>
          <a:lstStyle/>
          <a:p>
            <a:endParaRPr lang="en-US"/>
          </a:p>
        </p:txBody>
      </p:sp>
    </p:spTree>
    <p:extLst>
      <p:ext uri="{BB962C8B-B14F-4D97-AF65-F5344CB8AC3E}">
        <p14:creationId xmlns:p14="http://schemas.microsoft.com/office/powerpoint/2010/main" val="17309781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hapter Opener">
    <p:spTree>
      <p:nvGrpSpPr>
        <p:cNvPr id="1" name="Shape 37"/>
        <p:cNvGrpSpPr/>
        <p:nvPr/>
      </p:nvGrpSpPr>
      <p:grpSpPr>
        <a:xfrm>
          <a:off x="0" y="0"/>
          <a:ext cx="0" cy="0"/>
          <a:chOff x="0" y="0"/>
          <a:chExt cx="0" cy="0"/>
        </a:xfrm>
      </p:grpSpPr>
      <p:sp>
        <p:nvSpPr>
          <p:cNvPr id="38" name="Shape 38"/>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39" name="Shape 39"/>
          <p:cNvSpPr txBox="1">
            <a:spLocks noGrp="1"/>
          </p:cNvSpPr>
          <p:nvPr>
            <p:ph type="body" idx="1"/>
          </p:nvPr>
        </p:nvSpPr>
        <p:spPr>
          <a:xfrm>
            <a:off x="457200" y="816429"/>
            <a:ext cx="8229600" cy="47897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40" name="Shape 40"/>
          <p:cNvSpPr txBox="1">
            <a:spLocks noGrp="1"/>
          </p:cNvSpPr>
          <p:nvPr>
            <p:ph type="body" idx="2"/>
          </p:nvPr>
        </p:nvSpPr>
        <p:spPr>
          <a:xfrm>
            <a:off x="5029200" y="1600200"/>
            <a:ext cx="3657600" cy="1600198"/>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30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44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9pPr>
          </a:lstStyle>
          <a:p>
            <a:endParaRPr/>
          </a:p>
        </p:txBody>
      </p:sp>
      <p:sp>
        <p:nvSpPr>
          <p:cNvPr id="41" name="Shape 41"/>
          <p:cNvSpPr txBox="1">
            <a:spLocks noGrp="1"/>
          </p:cNvSpPr>
          <p:nvPr>
            <p:ph type="body" idx="3"/>
          </p:nvPr>
        </p:nvSpPr>
        <p:spPr>
          <a:xfrm>
            <a:off x="5029200" y="3200400"/>
            <a:ext cx="3657600" cy="292576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2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42" name="Shape 42"/>
          <p:cNvSpPr txBox="1">
            <a:spLocks noGrp="1"/>
          </p:cNvSpPr>
          <p:nvPr>
            <p:ph type="ftr" idx="11"/>
          </p:nvPr>
        </p:nvSpPr>
        <p:spPr>
          <a:xfrm>
            <a:off x="93969" y="6165337"/>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3" name="Shape 4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
        <p:nvSpPr>
          <p:cNvPr id="9" name="Shape 39"/>
          <p:cNvSpPr txBox="1">
            <a:spLocks noGrp="1"/>
          </p:cNvSpPr>
          <p:nvPr>
            <p:ph type="body" idx="13"/>
          </p:nvPr>
        </p:nvSpPr>
        <p:spPr>
          <a:xfrm>
            <a:off x="474779" y="1500547"/>
            <a:ext cx="8229600" cy="20515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Tree>
    <p:extLst>
      <p:ext uri="{BB962C8B-B14F-4D97-AF65-F5344CB8AC3E}">
        <p14:creationId xmlns:p14="http://schemas.microsoft.com/office/powerpoint/2010/main" val="30688579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1"/>
          <p:cNvSpPr>
            <a:spLocks noGrp="1"/>
          </p:cNvSpPr>
          <p:nvPr>
            <p:ph type="ftr" idx="10"/>
          </p:nvPr>
        </p:nvSpPr>
        <p:spPr/>
        <p:txBody>
          <a:bodyPr/>
          <a:lstStyle/>
          <a:p>
            <a:endParaRPr lang="en-IN"/>
          </a:p>
        </p:txBody>
      </p:sp>
      <p:sp>
        <p:nvSpPr>
          <p:cNvPr id="3" name="Date Placeholder 2"/>
          <p:cNvSpPr>
            <a:spLocks noGrp="1"/>
          </p:cNvSpPr>
          <p:nvPr>
            <p:ph type="dt" idx="11"/>
          </p:nvPr>
        </p:nvSpPr>
        <p:spPr/>
        <p:txBody>
          <a:bodyPr/>
          <a:lstStyle/>
          <a:p>
            <a:endParaRPr lang="en-IN"/>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900" b="0" i="0" u="none" strike="noStrike" cap="none" smtClean="0">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10466093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Chapter Opener">
    <p:spTree>
      <p:nvGrpSpPr>
        <p:cNvPr id="1" name="Shape 37"/>
        <p:cNvGrpSpPr/>
        <p:nvPr/>
      </p:nvGrpSpPr>
      <p:grpSpPr>
        <a:xfrm>
          <a:off x="0" y="0"/>
          <a:ext cx="0" cy="0"/>
          <a:chOff x="0" y="0"/>
          <a:chExt cx="0" cy="0"/>
        </a:xfrm>
      </p:grpSpPr>
      <p:sp>
        <p:nvSpPr>
          <p:cNvPr id="38" name="Shape 38"/>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9" name="Shape 39"/>
          <p:cNvSpPr txBox="1">
            <a:spLocks noGrp="1"/>
          </p:cNvSpPr>
          <p:nvPr>
            <p:ph type="body" idx="1"/>
          </p:nvPr>
        </p:nvSpPr>
        <p:spPr>
          <a:xfrm>
            <a:off x="457200" y="816429"/>
            <a:ext cx="8229600" cy="47897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40" name="Shape 40"/>
          <p:cNvSpPr txBox="1">
            <a:spLocks noGrp="1"/>
          </p:cNvSpPr>
          <p:nvPr>
            <p:ph type="body" idx="2"/>
          </p:nvPr>
        </p:nvSpPr>
        <p:spPr>
          <a:xfrm>
            <a:off x="5029200" y="1600200"/>
            <a:ext cx="3657600" cy="1600198"/>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30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44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9pPr>
          </a:lstStyle>
          <a:p>
            <a:endParaRPr/>
          </a:p>
        </p:txBody>
      </p:sp>
      <p:sp>
        <p:nvSpPr>
          <p:cNvPr id="41" name="Shape 41"/>
          <p:cNvSpPr txBox="1">
            <a:spLocks noGrp="1"/>
          </p:cNvSpPr>
          <p:nvPr>
            <p:ph type="body" idx="3"/>
          </p:nvPr>
        </p:nvSpPr>
        <p:spPr>
          <a:xfrm>
            <a:off x="5029200" y="3200400"/>
            <a:ext cx="3657600" cy="292576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2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42" name="Shape 42"/>
          <p:cNvSpPr txBox="1">
            <a:spLocks noGrp="1"/>
          </p:cNvSpPr>
          <p:nvPr>
            <p:ph type="ftr" idx="11"/>
          </p:nvPr>
        </p:nvSpPr>
        <p:spPr>
          <a:xfrm>
            <a:off x="93969" y="6165337"/>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3" name="Shape 4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
        <p:nvSpPr>
          <p:cNvPr id="9" name="Shape 39"/>
          <p:cNvSpPr txBox="1">
            <a:spLocks noGrp="1"/>
          </p:cNvSpPr>
          <p:nvPr>
            <p:ph type="body" idx="13"/>
          </p:nvPr>
        </p:nvSpPr>
        <p:spPr>
          <a:xfrm>
            <a:off x="474779" y="1500547"/>
            <a:ext cx="8229600" cy="20515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3" name="Picture Placeholder 2">
            <a:extLst>
              <a:ext uri="{FF2B5EF4-FFF2-40B4-BE49-F238E27FC236}">
                <a16:creationId xmlns:a16="http://schemas.microsoft.com/office/drawing/2014/main" id="{A7B86D8D-7E57-4733-AA5A-C6136254BFEA}"/>
              </a:ext>
            </a:extLst>
          </p:cNvPr>
          <p:cNvSpPr>
            <a:spLocks noGrp="1"/>
          </p:cNvSpPr>
          <p:nvPr>
            <p:ph type="pic" sz="quarter" idx="14"/>
          </p:nvPr>
        </p:nvSpPr>
        <p:spPr>
          <a:xfrm>
            <a:off x="735013" y="2495550"/>
            <a:ext cx="3546475" cy="1119188"/>
          </a:xfrm>
        </p:spPr>
        <p:txBody>
          <a:bodyPr/>
          <a:lstStyle/>
          <a:p>
            <a:endParaRPr lang="en-US"/>
          </a:p>
        </p:txBody>
      </p:sp>
      <p:sp>
        <p:nvSpPr>
          <p:cNvPr id="5" name="Picture Placeholder 4">
            <a:extLst>
              <a:ext uri="{FF2B5EF4-FFF2-40B4-BE49-F238E27FC236}">
                <a16:creationId xmlns:a16="http://schemas.microsoft.com/office/drawing/2014/main" id="{32D9E9EB-3E4C-472F-A7BA-98CFA5350DD9}"/>
              </a:ext>
            </a:extLst>
          </p:cNvPr>
          <p:cNvSpPr>
            <a:spLocks noGrp="1"/>
          </p:cNvSpPr>
          <p:nvPr>
            <p:ph type="pic" sz="quarter" idx="15"/>
          </p:nvPr>
        </p:nvSpPr>
        <p:spPr>
          <a:xfrm>
            <a:off x="717550" y="4095750"/>
            <a:ext cx="3657600" cy="954088"/>
          </a:xfrm>
        </p:spPr>
        <p:txBody>
          <a:bodyPr/>
          <a:lstStyle/>
          <a:p>
            <a:endParaRPr lang="en-US"/>
          </a:p>
        </p:txBody>
      </p:sp>
    </p:spTree>
    <p:extLst>
      <p:ext uri="{BB962C8B-B14F-4D97-AF65-F5344CB8AC3E}">
        <p14:creationId xmlns:p14="http://schemas.microsoft.com/office/powerpoint/2010/main" val="10036065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slideLayout" Target="../slideLayouts/slideLayout14.xml"/><Relationship Id="rId1" Type="http://schemas.openxmlformats.org/officeDocument/2006/relationships/slideLayout" Target="../slideLayouts/slideLayout1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Shape 10"/>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11" name="Shape 11"/>
          <p:cNvSpPr txBox="1">
            <a:spLocks noGrp="1"/>
          </p:cNvSpPr>
          <p:nvPr>
            <p:ph type="body" idx="1"/>
          </p:nvPr>
        </p:nvSpPr>
        <p:spPr>
          <a:xfrm>
            <a:off x="457200" y="1600200"/>
            <a:ext cx="8229600" cy="4525963"/>
          </a:xfrm>
          <a:prstGeom prst="rect">
            <a:avLst/>
          </a:prstGeom>
          <a:noFill/>
          <a:ln>
            <a:noFill/>
          </a:ln>
        </p:spPr>
        <p:txBody>
          <a:bodyPr lIns="91425" tIns="91425" rIns="91425" bIns="91425" anchor="t" anchorCtr="0"/>
          <a:lstStyle>
            <a:lvl1pPr marL="256032" marR="0" lvl="0" indent="-1544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dirty="0"/>
          </a:p>
        </p:txBody>
      </p:sp>
      <p:sp>
        <p:nvSpPr>
          <p:cNvPr id="12" name="Shape 12"/>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3" name="Shape 1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4" name="Shape 1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pic>
        <p:nvPicPr>
          <p:cNvPr id="15" name="Shape 15" descr="Pearson Logo"/>
          <p:cNvPicPr preferRelativeResize="0"/>
          <p:nvPr/>
        </p:nvPicPr>
        <p:blipFill rotWithShape="1">
          <a:blip r:embed="rId14">
            <a:alphaModFix/>
          </a:blip>
          <a:srcRect/>
          <a:stretch/>
        </p:blipFill>
        <p:spPr>
          <a:xfrm>
            <a:off x="443972" y="6429709"/>
            <a:ext cx="917999" cy="279914"/>
          </a:xfrm>
          <a:prstGeom prst="rect">
            <a:avLst/>
          </a:prstGeom>
          <a:noFill/>
          <a:ln>
            <a:noFill/>
          </a:ln>
        </p:spPr>
      </p:pic>
      <p:sp>
        <p:nvSpPr>
          <p:cNvPr id="9" name="Text Placeholder 5"/>
          <p:cNvSpPr txBox="1">
            <a:spLocks/>
          </p:cNvSpPr>
          <p:nvPr userDrawn="1"/>
        </p:nvSpPr>
        <p:spPr>
          <a:xfrm>
            <a:off x="2773680" y="6451421"/>
            <a:ext cx="5986222" cy="221018"/>
          </a:xfrm>
          <a:prstGeom prst="rect">
            <a:avLst/>
          </a:prstGeom>
        </p:spPr>
        <p:txBody>
          <a:bodyPr lIns="0" tIns="18000" rIns="0" bIns="18000" anchor="ctr">
            <a:spAutoFit/>
          </a:bodyPr>
          <a:lstStyle>
            <a:defPPr marR="0" lvl="0" algn="l" rtl="0">
              <a:lnSpc>
                <a:spcPct val="100000"/>
              </a:lnSpc>
              <a:spcBef>
                <a:spcPts val="0"/>
              </a:spcBef>
              <a:spcAft>
                <a:spcPts val="0"/>
              </a:spcAft>
            </a:defPPr>
            <a:lvl1pPr marL="255588" marR="0" lvl="0" indent="-25558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a:lstStyle>
          <a:p>
            <a:pPr algn="r"/>
            <a:r>
              <a:rPr lang="en-US" altLang="en-US" sz="1200" dirty="0">
                <a:solidFill>
                  <a:schemeClr val="tx1"/>
                </a:solidFill>
                <a:latin typeface="Verdana"/>
                <a:ea typeface="Verdana" panose="020B0604030504040204" pitchFamily="34" charset="0"/>
                <a:cs typeface="Verdana" panose="020B0604030504040204" pitchFamily="34" charset="0"/>
              </a:rPr>
              <a:t>Copyright © 2019, 2016, 2013 Pearson Education, Inc. All Rights Reserved</a:t>
            </a: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49" r:id="rId3"/>
    <p:sldLayoutId id="2147483668" r:id="rId4"/>
    <p:sldLayoutId id="2147483669" r:id="rId5"/>
    <p:sldLayoutId id="2147483651" r:id="rId6"/>
    <p:sldLayoutId id="2147483654" r:id="rId7"/>
    <p:sldLayoutId id="2147483655" r:id="rId8"/>
    <p:sldLayoutId id="2147483656" r:id="rId9"/>
    <p:sldLayoutId id="2147483667" r:id="rId10"/>
    <p:sldLayoutId id="2147483657" r:id="rId11"/>
    <p:sldLayoutId id="2147483696"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p:titleStyle>
    <p:bodyStyle>
      <a:defPPr marR="0" lvl="0" algn="l" rtl="0">
        <a:lnSpc>
          <a:spcPct val="100000"/>
        </a:lnSpc>
        <a:spcBef>
          <a:spcPts val="0"/>
        </a:spcBef>
        <a:spcAft>
          <a:spcPts val="0"/>
        </a:spcAft>
      </a:defPPr>
      <a:lvl1pPr marL="255588" marR="0" lvl="0" indent="-25558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9"/>
        <p:cNvGrpSpPr/>
        <p:nvPr/>
      </p:nvGrpSpPr>
      <p:grpSpPr>
        <a:xfrm>
          <a:off x="0" y="0"/>
          <a:ext cx="0" cy="0"/>
          <a:chOff x="0" y="0"/>
          <a:chExt cx="0" cy="0"/>
        </a:xfrm>
      </p:grpSpPr>
      <p:sp>
        <p:nvSpPr>
          <p:cNvPr id="10" name="Shape 10"/>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11" name="Shape 11"/>
          <p:cNvSpPr txBox="1">
            <a:spLocks noGrp="1"/>
          </p:cNvSpPr>
          <p:nvPr>
            <p:ph type="body" idx="1"/>
          </p:nvPr>
        </p:nvSpPr>
        <p:spPr>
          <a:xfrm>
            <a:off x="457200" y="1600200"/>
            <a:ext cx="8229600" cy="4525963"/>
          </a:xfrm>
          <a:prstGeom prst="rect">
            <a:avLst/>
          </a:prstGeom>
          <a:noFill/>
          <a:ln>
            <a:noFill/>
          </a:ln>
        </p:spPr>
        <p:txBody>
          <a:bodyPr lIns="91425" tIns="91425" rIns="91425" bIns="91425" anchor="t" anchorCtr="0"/>
          <a:lstStyle>
            <a:lvl1pPr marL="256032" marR="0" lvl="0" indent="-1544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dirty="0"/>
          </a:p>
        </p:txBody>
      </p:sp>
      <p:sp>
        <p:nvSpPr>
          <p:cNvPr id="12" name="Shape 12"/>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3" name="Shape 1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4" name="Shape 1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200283969"/>
      </p:ext>
    </p:extLst>
  </p:cSld>
  <p:clrMap bg1="lt1" tx1="dk1" bg2="dk2" tx2="lt2" accent1="accent1" accent2="accent2" accent3="accent3" accent4="accent4" accent5="accent5" accent6="accent6" hlink="hlink" folHlink="folHlink"/>
  <p:sldLayoutIdLst>
    <p:sldLayoutId id="2147483664" r:id="rId1"/>
    <p:sldLayoutId id="2147483694" r:id="rId2"/>
    <p:sldLayoutId id="2147483695"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p:titleStyle>
    <p:bodyStyle>
      <a:defPPr marR="0" lvl="0" algn="l" rtl="0">
        <a:lnSpc>
          <a:spcPct val="100000"/>
        </a:lnSpc>
        <a:spcBef>
          <a:spcPts val="0"/>
        </a:spcBef>
        <a:spcAft>
          <a:spcPts val="0"/>
        </a:spcAft>
      </a:defPPr>
      <a:lvl1pPr marL="255588" marR="0" lvl="0" indent="-25603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5.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1.bin"/><Relationship Id="rId1" Type="http://schemas.openxmlformats.org/officeDocument/2006/relationships/slideLayout" Target="../slideLayouts/slideLayout5.xml"/><Relationship Id="rId5" Type="http://schemas.openxmlformats.org/officeDocument/2006/relationships/image" Target="../media/image5.wmf"/><Relationship Id="rId4" Type="http://schemas.openxmlformats.org/officeDocument/2006/relationships/oleObject" Target="../embeddings/oleObject2.bin"/></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3.bin"/><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4.bin"/><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9948" y="314583"/>
            <a:ext cx="8272252" cy="1144347"/>
          </a:xfrm>
        </p:spPr>
        <p:txBody>
          <a:bodyPr lIns="0" tIns="18000" rIns="0" bIns="18000" anchor="t" anchorCtr="0">
            <a:spAutoFit/>
          </a:bodyPr>
          <a:lstStyle/>
          <a:p>
            <a:r>
              <a:rPr lang="en-US" sz="3600" dirty="0">
                <a:latin typeface="+mj-lt"/>
                <a:cs typeface="Times New Roman" panose="02020603050405020304" pitchFamily="18" charset="0"/>
              </a:rPr>
              <a:t>Practical Research: Planning and Design</a:t>
            </a:r>
            <a:endParaRPr lang="en-US" sz="3600" dirty="0">
              <a:solidFill>
                <a:schemeClr val="tx2"/>
              </a:solidFill>
              <a:latin typeface="+mj-lt"/>
              <a:cs typeface="Times New Roman" panose="02020603050405020304" pitchFamily="18" charset="0"/>
            </a:endParaRPr>
          </a:p>
        </p:txBody>
      </p:sp>
      <p:sp>
        <p:nvSpPr>
          <p:cNvPr id="3" name="Text Placeholder 2"/>
          <p:cNvSpPr>
            <a:spLocks noGrp="1"/>
          </p:cNvSpPr>
          <p:nvPr>
            <p:ph type="body" idx="1"/>
          </p:nvPr>
        </p:nvSpPr>
        <p:spPr>
          <a:xfrm>
            <a:off x="439948" y="1667053"/>
            <a:ext cx="8272252" cy="344128"/>
          </a:xfrm>
        </p:spPr>
        <p:txBody>
          <a:bodyPr wrap="square" lIns="0" tIns="18000" rIns="0" bIns="18000" anchor="t" anchorCtr="0">
            <a:spAutoFit/>
          </a:bodyPr>
          <a:lstStyle/>
          <a:p>
            <a:r>
              <a:rPr lang="en-US" dirty="0">
                <a:latin typeface="Arial" panose="020B0604020202020204" pitchFamily="34" charset="0"/>
                <a:cs typeface="Arial" panose="020B0604020202020204" pitchFamily="34" charset="0"/>
              </a:rPr>
              <a:t>Twelfth Edition</a:t>
            </a:r>
          </a:p>
        </p:txBody>
      </p:sp>
      <p:pic>
        <p:nvPicPr>
          <p:cNvPr id="11" name="Picture Placeholder 10" descr="Front Cover: Practical Research: Planning and Design Twelfth Edition by Leedy and Ormrod.">
            <a:extLst>
              <a:ext uri="{FF2B5EF4-FFF2-40B4-BE49-F238E27FC236}">
                <a16:creationId xmlns:a16="http://schemas.microsoft.com/office/drawing/2014/main" id="{3404E0E7-E186-4457-B728-08F8E7ADD930}"/>
              </a:ext>
            </a:extLst>
          </p:cNvPr>
          <p:cNvPicPr>
            <a:picLocks noGrp="1" noChangeAspect="1"/>
          </p:cNvPicPr>
          <p:nvPr>
            <p:ph type="pic" sz="quarter" idx="14"/>
          </p:nvPr>
        </p:nvPicPr>
        <p:blipFill>
          <a:blip r:embed="rId3"/>
          <a:stretch>
            <a:fillRect/>
          </a:stretch>
        </p:blipFill>
        <p:spPr>
          <a:xfrm>
            <a:off x="440805" y="2218522"/>
            <a:ext cx="3247505" cy="4051069"/>
          </a:xfrm>
          <a:prstGeom prst="rect">
            <a:avLst/>
          </a:prstGeom>
        </p:spPr>
      </p:pic>
      <p:sp>
        <p:nvSpPr>
          <p:cNvPr id="4" name="Text Placeholder 3"/>
          <p:cNvSpPr>
            <a:spLocks noGrp="1"/>
          </p:cNvSpPr>
          <p:nvPr>
            <p:ph type="body" idx="2"/>
          </p:nvPr>
        </p:nvSpPr>
        <p:spPr>
          <a:xfrm>
            <a:off x="4580629" y="2871974"/>
            <a:ext cx="2007457" cy="498016"/>
          </a:xfrm>
        </p:spPr>
        <p:txBody>
          <a:bodyPr wrap="square" lIns="0" tIns="18000" rIns="0" bIns="18000" anchor="t" anchorCtr="0">
            <a:spAutoFit/>
          </a:bodyPr>
          <a:lstStyle/>
          <a:p>
            <a:pPr lvl="0"/>
            <a:r>
              <a:rPr lang="en-US" dirty="0">
                <a:latin typeface="Arial" panose="020B0604020202020204" pitchFamily="34" charset="0"/>
                <a:cs typeface="Arial" panose="020B0604020202020204" pitchFamily="34" charset="0"/>
              </a:rPr>
              <a:t>Chapter 11</a:t>
            </a:r>
          </a:p>
        </p:txBody>
      </p:sp>
      <p:sp>
        <p:nvSpPr>
          <p:cNvPr id="5" name="Text Placeholder 4"/>
          <p:cNvSpPr>
            <a:spLocks noGrp="1"/>
          </p:cNvSpPr>
          <p:nvPr>
            <p:ph type="body" idx="3"/>
          </p:nvPr>
        </p:nvSpPr>
        <p:spPr>
          <a:xfrm>
            <a:off x="4580628" y="3668904"/>
            <a:ext cx="4131571" cy="374906"/>
          </a:xfrm>
        </p:spPr>
        <p:txBody>
          <a:bodyPr wrap="square" lIns="0" tIns="18000" rIns="0" bIns="18000">
            <a:spAutoFit/>
          </a:bodyPr>
          <a:lstStyle/>
          <a:p>
            <a:r>
              <a:rPr lang="en-US" altLang="en-US" dirty="0">
                <a:latin typeface="Arial" panose="020B0604020202020204" pitchFamily="34" charset="0"/>
                <a:cs typeface="Arial" panose="020B0604020202020204" pitchFamily="34" charset="0"/>
              </a:rPr>
              <a:t>Analyzing Quantitative Data</a:t>
            </a:r>
          </a:p>
        </p:txBody>
      </p:sp>
      <p:pic>
        <p:nvPicPr>
          <p:cNvPr id="13" name="Picture Placeholder 12" descr="Pearson Logo">
            <a:extLst>
              <a:ext uri="{FF2B5EF4-FFF2-40B4-BE49-F238E27FC236}">
                <a16:creationId xmlns:a16="http://schemas.microsoft.com/office/drawing/2014/main" id="{B1452051-097A-4E47-A9C4-A6DFE1F8F6A1}"/>
              </a:ext>
            </a:extLst>
          </p:cNvPr>
          <p:cNvPicPr>
            <a:picLocks noGrp="1" noChangeAspect="1"/>
          </p:cNvPicPr>
          <p:nvPr>
            <p:ph type="pic" sz="quarter" idx="15"/>
          </p:nvPr>
        </p:nvPicPr>
        <p:blipFill>
          <a:blip r:embed="rId4"/>
          <a:stretch>
            <a:fillRect/>
          </a:stretch>
        </p:blipFill>
        <p:spPr>
          <a:xfrm>
            <a:off x="441719" y="6436570"/>
            <a:ext cx="914400" cy="276225"/>
          </a:xfrm>
          <a:prstGeom prst="rect">
            <a:avLst/>
          </a:prstGeom>
        </p:spPr>
      </p:pic>
      <p:sp>
        <p:nvSpPr>
          <p:cNvPr id="6" name="Text Placeholder 5"/>
          <p:cNvSpPr>
            <a:spLocks noGrp="1"/>
          </p:cNvSpPr>
          <p:nvPr>
            <p:ph type="body" idx="13"/>
          </p:nvPr>
        </p:nvSpPr>
        <p:spPr>
          <a:xfrm>
            <a:off x="2772000" y="6451200"/>
            <a:ext cx="5986800" cy="221018"/>
          </a:xfrm>
        </p:spPr>
        <p:txBody>
          <a:bodyPr lIns="0" tIns="18000" rIns="0" bIns="18000" anchor="ctr">
            <a:spAutoFit/>
          </a:bodyPr>
          <a:lstStyle/>
          <a:p>
            <a:pPr algn="r"/>
            <a:r>
              <a:rPr lang="en-US" altLang="en-US" sz="1200" dirty="0">
                <a:solidFill>
                  <a:schemeClr val="tx1"/>
                </a:solidFill>
                <a:latin typeface="Verdana"/>
                <a:ea typeface="Verdana" panose="020B0604030504040204" pitchFamily="34" charset="0"/>
                <a:cs typeface="Verdana" panose="020B0604030504040204" pitchFamily="34" charset="0"/>
              </a:rPr>
              <a:t>Copyright © 2019, 2016, 2013 Pearson Education, Inc. All Rights Reserved</a:t>
            </a:r>
          </a:p>
        </p:txBody>
      </p:sp>
    </p:spTree>
    <p:extLst>
      <p:ext uri="{BB962C8B-B14F-4D97-AF65-F5344CB8AC3E}">
        <p14:creationId xmlns:p14="http://schemas.microsoft.com/office/powerpoint/2010/main" val="1361234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5"/>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Exploring and Organizing a Data Set</a:t>
            </a:r>
          </a:p>
        </p:txBody>
      </p:sp>
      <p:sp>
        <p:nvSpPr>
          <p:cNvPr id="3" name="Text Placeholder 2"/>
          <p:cNvSpPr>
            <a:spLocks noGrp="1"/>
          </p:cNvSpPr>
          <p:nvPr>
            <p:ph type="body" idx="1"/>
          </p:nvPr>
        </p:nvSpPr>
        <p:spPr>
          <a:xfrm>
            <a:off x="457200" y="1464012"/>
            <a:ext cx="8229600" cy="3198756"/>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Statistics: computational procedures that enable us to find patterns and meaning in numerical data</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Data need to be organized before they are analyzed</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Whatever the researcher does to prepare will affect the meaning that the data reveal</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Every researcher should be able to provide a clear, logical rationale for the procedure used data</a:t>
            </a:r>
          </a:p>
        </p:txBody>
      </p:sp>
    </p:spTree>
    <p:extLst>
      <p:ext uri="{BB962C8B-B14F-4D97-AF65-F5344CB8AC3E}">
        <p14:creationId xmlns:p14="http://schemas.microsoft.com/office/powerpoint/2010/main" val="29322774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5650"/>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Organizing Data</a:t>
            </a:r>
          </a:p>
        </p:txBody>
      </p:sp>
      <p:sp>
        <p:nvSpPr>
          <p:cNvPr id="3" name="Text Placeholder 2"/>
          <p:cNvSpPr>
            <a:spLocks noGrp="1"/>
          </p:cNvSpPr>
          <p:nvPr>
            <p:ph type="body" idx="1"/>
          </p:nvPr>
        </p:nvSpPr>
        <p:spPr>
          <a:xfrm>
            <a:off x="457200" y="1464009"/>
            <a:ext cx="8229600" cy="1667567"/>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To identify patterns, first organize the data in meaningful ways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In a table</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In a graph</a:t>
            </a:r>
          </a:p>
        </p:txBody>
      </p:sp>
    </p:spTree>
    <p:extLst>
      <p:ext uri="{BB962C8B-B14F-4D97-AF65-F5344CB8AC3E}">
        <p14:creationId xmlns:p14="http://schemas.microsoft.com/office/powerpoint/2010/main" val="24015511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923231"/>
            <a:ext cx="8229600" cy="467239"/>
          </a:xfrm>
        </p:spPr>
        <p:txBody>
          <a:bodyPr lIns="0" tIns="18000" rIns="0" bIns="18000">
            <a:spAutoFit/>
          </a:bodyPr>
          <a:lstStyle/>
          <a:p>
            <a:pPr lvl="0">
              <a:spcBef>
                <a:spcPct val="0"/>
              </a:spcBef>
              <a:buClrTx/>
            </a:pPr>
            <a:r>
              <a:rPr lang="en-US" sz="2800" kern="1200" dirty="0">
                <a:latin typeface="+mj-lt"/>
                <a:ea typeface="+mj-ea"/>
                <a:cs typeface="Times New Roman" panose="02020603050405020304" pitchFamily="18" charset="0"/>
              </a:rPr>
              <a:t>Use the Computer to Organize and Analyze Data</a:t>
            </a:r>
          </a:p>
        </p:txBody>
      </p:sp>
      <p:sp>
        <p:nvSpPr>
          <p:cNvPr id="3" name="Text Placeholder 2"/>
          <p:cNvSpPr>
            <a:spLocks noGrp="1"/>
          </p:cNvSpPr>
          <p:nvPr>
            <p:ph type="body" idx="1"/>
          </p:nvPr>
        </p:nvSpPr>
        <p:spPr>
          <a:xfrm>
            <a:off x="457200" y="1969855"/>
            <a:ext cx="8229600" cy="3568088"/>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Electronic spreadsheet: a software program that allows a researcher to manipulate data displayed in a table</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Uses of electronic spreadsheets: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Sorting data</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Recoding data</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Calculating formulas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Graphing from the data</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Employing “trial and error” explorations</a:t>
            </a:r>
          </a:p>
        </p:txBody>
      </p:sp>
    </p:spTree>
    <p:extLst>
      <p:ext uri="{BB962C8B-B14F-4D97-AF65-F5344CB8AC3E}">
        <p14:creationId xmlns:p14="http://schemas.microsoft.com/office/powerpoint/2010/main" val="9861393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8"/>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Choosing Statistics</a:t>
            </a:r>
          </a:p>
        </p:txBody>
      </p:sp>
      <p:sp>
        <p:nvSpPr>
          <p:cNvPr id="3" name="Text Placeholder 2"/>
          <p:cNvSpPr>
            <a:spLocks noGrp="1"/>
          </p:cNvSpPr>
          <p:nvPr>
            <p:ph type="body" idx="1"/>
          </p:nvPr>
        </p:nvSpPr>
        <p:spPr>
          <a:xfrm>
            <a:off x="457200" y="1464011"/>
            <a:ext cx="8229600" cy="3144895"/>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Two major functions of statistics</a:t>
            </a:r>
          </a:p>
          <a:p>
            <a:pPr marL="741553" lvl="1" indent="-284353">
              <a:spcAft>
                <a:spcPct val="0"/>
              </a:spcAft>
              <a:buSzPts val="2400"/>
            </a:pPr>
            <a:r>
              <a:rPr lang="en-US" sz="2400" b="1" kern="1200" dirty="0">
                <a:solidFill>
                  <a:srgbClr val="000000"/>
                </a:solidFill>
                <a:latin typeface="Arial" panose="020B0604020202020204" pitchFamily="34" charset="0"/>
                <a:ea typeface="+mn-ea"/>
                <a:cs typeface="Arial" panose="020B0604020202020204" pitchFamily="34" charset="0"/>
              </a:rPr>
              <a:t>Descriptive statistics </a:t>
            </a:r>
            <a:r>
              <a:rPr lang="en-US" sz="2400" kern="1200" dirty="0">
                <a:solidFill>
                  <a:srgbClr val="000000"/>
                </a:solidFill>
                <a:latin typeface="Arial" panose="020B0604020202020204" pitchFamily="34" charset="0"/>
                <a:ea typeface="+mn-ea"/>
                <a:cs typeface="Arial" panose="020B0604020202020204" pitchFamily="34" charset="0"/>
              </a:rPr>
              <a:t>describe what the data look like, how broadly they are spread, and how closely two or more variables within the data are associated with another.</a:t>
            </a:r>
          </a:p>
          <a:p>
            <a:pPr marL="741553" lvl="1" indent="-284353">
              <a:spcAft>
                <a:spcPct val="0"/>
              </a:spcAft>
              <a:buSzPts val="2400"/>
            </a:pPr>
            <a:r>
              <a:rPr lang="en-US" sz="2400" b="1" kern="1200" dirty="0">
                <a:solidFill>
                  <a:srgbClr val="000000"/>
                </a:solidFill>
                <a:latin typeface="Arial" panose="020B0604020202020204" pitchFamily="34" charset="0"/>
                <a:ea typeface="+mn-ea"/>
                <a:cs typeface="Arial" panose="020B0604020202020204" pitchFamily="34" charset="0"/>
              </a:rPr>
              <a:t>Inferential statistics </a:t>
            </a:r>
            <a:r>
              <a:rPr lang="en-US" sz="2400" kern="1200" dirty="0">
                <a:solidFill>
                  <a:srgbClr val="000000"/>
                </a:solidFill>
                <a:latin typeface="Arial" panose="020B0604020202020204" pitchFamily="34" charset="0"/>
                <a:ea typeface="+mn-ea"/>
                <a:cs typeface="Arial" panose="020B0604020202020204" pitchFamily="34" charset="0"/>
              </a:rPr>
              <a:t>allow us to draw inferences about large populations by collecting data on relatively small samples.</a:t>
            </a:r>
          </a:p>
        </p:txBody>
      </p:sp>
    </p:spTree>
    <p:extLst>
      <p:ext uri="{BB962C8B-B14F-4D97-AF65-F5344CB8AC3E}">
        <p14:creationId xmlns:p14="http://schemas.microsoft.com/office/powerpoint/2010/main" val="2614139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984789"/>
            <a:ext cx="8229600" cy="405683"/>
          </a:xfrm>
        </p:spPr>
        <p:txBody>
          <a:bodyPr lIns="0" tIns="18000" rIns="0" bIns="18000">
            <a:spAutoFit/>
          </a:bodyPr>
          <a:lstStyle/>
          <a:p>
            <a:pPr lvl="0">
              <a:spcBef>
                <a:spcPct val="0"/>
              </a:spcBef>
              <a:buClrTx/>
            </a:pPr>
            <a:r>
              <a:rPr lang="en-US" sz="2400" kern="1200" dirty="0">
                <a:latin typeface="+mj-lt"/>
                <a:ea typeface="+mj-ea"/>
                <a:cs typeface="Times New Roman" panose="02020603050405020304" pitchFamily="18" charset="0"/>
              </a:rPr>
              <a:t>Statistics as Estimates of Population Parameters</a:t>
            </a:r>
          </a:p>
        </p:txBody>
      </p:sp>
      <p:sp>
        <p:nvSpPr>
          <p:cNvPr id="13" name="Content Placeholder 12">
            <a:extLst>
              <a:ext uri="{FF2B5EF4-FFF2-40B4-BE49-F238E27FC236}">
                <a16:creationId xmlns:a16="http://schemas.microsoft.com/office/drawing/2014/main" id="{51FC29A0-60AB-4FC9-A603-23AAEB93888E}"/>
              </a:ext>
            </a:extLst>
          </p:cNvPr>
          <p:cNvSpPr>
            <a:spLocks noGrp="1"/>
          </p:cNvSpPr>
          <p:nvPr>
            <p:ph sz="quarter" idx="13"/>
          </p:nvPr>
        </p:nvSpPr>
        <p:spPr>
          <a:xfrm>
            <a:off x="457200" y="1966781"/>
            <a:ext cx="8255000" cy="1744511"/>
          </a:xfrm>
        </p:spPr>
        <p:txBody>
          <a:bodyPr lIns="0" tIns="18000" rIns="0" bIns="18000">
            <a:spAutoFit/>
          </a:bodyPr>
          <a:lstStyle/>
          <a:p>
            <a:pPr marL="342900" indent="-342900"/>
            <a:r>
              <a:rPr lang="en-US" sz="2400" dirty="0">
                <a:latin typeface="Arial" panose="020B0604020202020204" pitchFamily="34" charset="0"/>
                <a:cs typeface="Arial" panose="020B0604020202020204" pitchFamily="34" charset="0"/>
              </a:rPr>
              <a:t>Parameter:</a:t>
            </a:r>
          </a:p>
          <a:p>
            <a:pPr marL="829818" lvl="1" indent="-342900"/>
            <a:r>
              <a:rPr lang="en-US" sz="2400" dirty="0">
                <a:latin typeface="Arial" panose="020B0604020202020204" pitchFamily="34" charset="0"/>
                <a:cs typeface="Arial" panose="020B0604020202020204" pitchFamily="34" charset="0"/>
              </a:rPr>
              <a:t>characteristic or quality of a population</a:t>
            </a:r>
          </a:p>
          <a:p>
            <a:pPr marL="1229868" lvl="2" indent="-342900"/>
            <a:r>
              <a:rPr lang="en-US" sz="2400" dirty="0">
                <a:latin typeface="Arial" panose="020B0604020202020204" pitchFamily="34" charset="0"/>
                <a:cs typeface="Arial" panose="020B0604020202020204" pitchFamily="34" charset="0"/>
              </a:rPr>
              <a:t>Parameters of a circle</a:t>
            </a:r>
          </a:p>
          <a:p>
            <a:pPr marL="1687068" lvl="3" indent="-342900"/>
            <a:r>
              <a:rPr lang="en-US" sz="2400" dirty="0">
                <a:latin typeface="Arial" panose="020B0604020202020204" pitchFamily="34" charset="0"/>
                <a:cs typeface="Arial" panose="020B0604020202020204" pitchFamily="34" charset="0"/>
              </a:rPr>
              <a:t>diameter is twice the radius (r)</a:t>
            </a:r>
          </a:p>
        </p:txBody>
      </p:sp>
      <p:sp>
        <p:nvSpPr>
          <p:cNvPr id="16" name="Content Placeholder 15">
            <a:extLst>
              <a:ext uri="{FF2B5EF4-FFF2-40B4-BE49-F238E27FC236}">
                <a16:creationId xmlns:a16="http://schemas.microsoft.com/office/drawing/2014/main" id="{16FE26C8-3FAE-40DA-9599-2B5CEA923631}"/>
              </a:ext>
            </a:extLst>
          </p:cNvPr>
          <p:cNvSpPr>
            <a:spLocks noGrp="1"/>
          </p:cNvSpPr>
          <p:nvPr>
            <p:ph sz="quarter" idx="14"/>
          </p:nvPr>
        </p:nvSpPr>
        <p:spPr>
          <a:xfrm>
            <a:off x="457200" y="3752007"/>
            <a:ext cx="5029199" cy="405683"/>
          </a:xfrm>
        </p:spPr>
        <p:txBody>
          <a:bodyPr wrap="square" lIns="0" tIns="18000" rIns="0" bIns="18000">
            <a:spAutoFit/>
          </a:bodyPr>
          <a:lstStyle/>
          <a:p>
            <a:pPr marL="1704531" lvl="3" indent="-360363"/>
            <a:r>
              <a:rPr lang="en-US" sz="2400" dirty="0">
                <a:latin typeface="Arial" panose="020B0604020202020204" pitchFamily="34" charset="0"/>
                <a:cs typeface="Arial" panose="020B0604020202020204" pitchFamily="34" charset="0"/>
              </a:rPr>
              <a:t>circumference is always</a:t>
            </a:r>
          </a:p>
        </p:txBody>
      </p:sp>
      <p:graphicFrame>
        <p:nvGraphicFramePr>
          <p:cNvPr id="25" name="Object 24" descr="2 pi r.">
            <a:extLst>
              <a:ext uri="{FF2B5EF4-FFF2-40B4-BE49-F238E27FC236}">
                <a16:creationId xmlns:a16="http://schemas.microsoft.com/office/drawing/2014/main" id="{5E0DCF7B-CCEE-4E75-975D-0C0EF66CC740}"/>
              </a:ext>
            </a:extLst>
          </p:cNvPr>
          <p:cNvGraphicFramePr>
            <a:graphicFrameLocks noChangeAspect="1"/>
          </p:cNvGraphicFramePr>
          <p:nvPr>
            <p:extLst>
              <p:ext uri="{D42A27DB-BD31-4B8C-83A1-F6EECF244321}">
                <p14:modId xmlns:p14="http://schemas.microsoft.com/office/powerpoint/2010/main" val="2049378002"/>
              </p:ext>
            </p:extLst>
          </p:nvPr>
        </p:nvGraphicFramePr>
        <p:xfrm>
          <a:off x="5618047" y="3767274"/>
          <a:ext cx="573088" cy="379412"/>
        </p:xfrm>
        <a:graphic>
          <a:graphicData uri="http://schemas.openxmlformats.org/presentationml/2006/ole">
            <mc:AlternateContent xmlns:mc="http://schemas.openxmlformats.org/markup-compatibility/2006">
              <mc:Choice xmlns:v="urn:schemas-microsoft-com:vml" Requires="v">
                <p:oleObj name="Equation" r:id="rId2" imgW="266400" imgH="177480" progId="Equation.DSMT4">
                  <p:embed/>
                </p:oleObj>
              </mc:Choice>
              <mc:Fallback>
                <p:oleObj name="Equation" r:id="rId2" imgW="266400" imgH="177480" progId="Equation.DSMT4">
                  <p:embed/>
                  <p:pic>
                    <p:nvPicPr>
                      <p:cNvPr id="15" name="Object 14" descr="2 pi r"/>
                      <p:cNvPicPr/>
                      <p:nvPr/>
                    </p:nvPicPr>
                    <p:blipFill>
                      <a:blip r:embed="rId3"/>
                      <a:stretch>
                        <a:fillRect/>
                      </a:stretch>
                    </p:blipFill>
                    <p:spPr>
                      <a:xfrm>
                        <a:off x="5618047" y="3767274"/>
                        <a:ext cx="573088" cy="379412"/>
                      </a:xfrm>
                      <a:prstGeom prst="rect">
                        <a:avLst/>
                      </a:prstGeom>
                    </p:spPr>
                  </p:pic>
                </p:oleObj>
              </mc:Fallback>
            </mc:AlternateContent>
          </a:graphicData>
        </a:graphic>
      </p:graphicFrame>
      <p:sp>
        <p:nvSpPr>
          <p:cNvPr id="17" name="Content Placeholder 16">
            <a:extLst>
              <a:ext uri="{FF2B5EF4-FFF2-40B4-BE49-F238E27FC236}">
                <a16:creationId xmlns:a16="http://schemas.microsoft.com/office/drawing/2014/main" id="{7D6DC4D2-6DE8-444E-8D03-EA2AF174FA23}"/>
              </a:ext>
            </a:extLst>
          </p:cNvPr>
          <p:cNvSpPr>
            <a:spLocks noGrp="1"/>
          </p:cNvSpPr>
          <p:nvPr>
            <p:ph sz="quarter" idx="15"/>
          </p:nvPr>
        </p:nvSpPr>
        <p:spPr>
          <a:xfrm>
            <a:off x="457201" y="4229909"/>
            <a:ext cx="3646317" cy="405683"/>
          </a:xfrm>
        </p:spPr>
        <p:txBody>
          <a:bodyPr wrap="square" lIns="0" tIns="18000" rIns="0" bIns="18000">
            <a:spAutoFit/>
          </a:bodyPr>
          <a:lstStyle/>
          <a:p>
            <a:pPr marL="1704975" lvl="3" indent="-360363"/>
            <a:r>
              <a:rPr lang="en-US" sz="2400" dirty="0">
                <a:latin typeface="Arial" panose="020B0604020202020204" pitchFamily="34" charset="0"/>
                <a:cs typeface="Arial" panose="020B0604020202020204" pitchFamily="34" charset="0"/>
              </a:rPr>
              <a:t>area is always</a:t>
            </a:r>
          </a:p>
        </p:txBody>
      </p:sp>
      <p:graphicFrame>
        <p:nvGraphicFramePr>
          <p:cNvPr id="26" name="Object 25" descr="pi r squared.">
            <a:extLst>
              <a:ext uri="{FF2B5EF4-FFF2-40B4-BE49-F238E27FC236}">
                <a16:creationId xmlns:a16="http://schemas.microsoft.com/office/drawing/2014/main" id="{A59C5D13-7EDF-40C3-9DD9-231F6A0C137E}"/>
              </a:ext>
            </a:extLst>
          </p:cNvPr>
          <p:cNvGraphicFramePr>
            <a:graphicFrameLocks noChangeAspect="1"/>
          </p:cNvGraphicFramePr>
          <p:nvPr>
            <p:extLst>
              <p:ext uri="{D42A27DB-BD31-4B8C-83A1-F6EECF244321}">
                <p14:modId xmlns:p14="http://schemas.microsoft.com/office/powerpoint/2010/main" val="3216948130"/>
              </p:ext>
            </p:extLst>
          </p:nvPr>
        </p:nvGraphicFramePr>
        <p:xfrm>
          <a:off x="4228211" y="4173295"/>
          <a:ext cx="517525" cy="434975"/>
        </p:xfrm>
        <a:graphic>
          <a:graphicData uri="http://schemas.openxmlformats.org/presentationml/2006/ole">
            <mc:AlternateContent xmlns:mc="http://schemas.openxmlformats.org/markup-compatibility/2006">
              <mc:Choice xmlns:v="urn:schemas-microsoft-com:vml" Requires="v">
                <p:oleObj name="Equation" r:id="rId4" imgW="241200" imgH="203040" progId="Equation.DSMT4">
                  <p:embed/>
                </p:oleObj>
              </mc:Choice>
              <mc:Fallback>
                <p:oleObj name="Equation" r:id="rId4" imgW="241200" imgH="203040" progId="Equation.DSMT4">
                  <p:embed/>
                  <p:pic>
                    <p:nvPicPr>
                      <p:cNvPr id="14" name="Object 13" descr="Pi R squared"/>
                      <p:cNvPicPr/>
                      <p:nvPr/>
                    </p:nvPicPr>
                    <p:blipFill>
                      <a:blip r:embed="rId5"/>
                      <a:stretch>
                        <a:fillRect/>
                      </a:stretch>
                    </p:blipFill>
                    <p:spPr>
                      <a:xfrm>
                        <a:off x="4228211" y="4173295"/>
                        <a:ext cx="517525" cy="434975"/>
                      </a:xfrm>
                      <a:prstGeom prst="rect">
                        <a:avLst/>
                      </a:prstGeom>
                    </p:spPr>
                  </p:pic>
                </p:oleObj>
              </mc:Fallback>
            </mc:AlternateContent>
          </a:graphicData>
        </a:graphic>
      </p:graphicFrame>
      <p:sp>
        <p:nvSpPr>
          <p:cNvPr id="18" name="Content Placeholder 17">
            <a:extLst>
              <a:ext uri="{FF2B5EF4-FFF2-40B4-BE49-F238E27FC236}">
                <a16:creationId xmlns:a16="http://schemas.microsoft.com/office/drawing/2014/main" id="{EE1C4DC5-17DD-4E30-9DAE-C53F9C8F145C}"/>
              </a:ext>
            </a:extLst>
          </p:cNvPr>
          <p:cNvSpPr>
            <a:spLocks noGrp="1"/>
          </p:cNvSpPr>
          <p:nvPr>
            <p:ph sz="quarter" idx="16"/>
          </p:nvPr>
        </p:nvSpPr>
        <p:spPr>
          <a:xfrm>
            <a:off x="457200" y="4690179"/>
            <a:ext cx="8229600" cy="1221291"/>
          </a:xfrm>
        </p:spPr>
        <p:txBody>
          <a:bodyPr lIns="0" tIns="18000" rIns="0" bIns="18000">
            <a:spAutoFit/>
          </a:bodyPr>
          <a:lstStyle/>
          <a:p>
            <a:pPr marL="360363" indent="-360363"/>
            <a:r>
              <a:rPr lang="en-US" sz="2400" dirty="0">
                <a:latin typeface="Arial" panose="020B0604020202020204" pitchFamily="34" charset="0"/>
                <a:cs typeface="Arial" panose="020B0604020202020204" pitchFamily="34" charset="0"/>
              </a:rPr>
              <a:t>Statistic</a:t>
            </a:r>
          </a:p>
          <a:p>
            <a:pPr marL="847725" lvl="1" indent="-360363"/>
            <a:r>
              <a:rPr lang="en-US" sz="2400" dirty="0">
                <a:latin typeface="Arial" panose="020B0604020202020204" pitchFamily="34" charset="0"/>
                <a:cs typeface="Arial" panose="020B0604020202020204" pitchFamily="34" charset="0"/>
              </a:rPr>
              <a:t>Any calculation we perform for the sample rather than the population</a:t>
            </a:r>
          </a:p>
        </p:txBody>
      </p:sp>
    </p:spTree>
    <p:extLst>
      <p:ext uri="{BB962C8B-B14F-4D97-AF65-F5344CB8AC3E}">
        <p14:creationId xmlns:p14="http://schemas.microsoft.com/office/powerpoint/2010/main" val="9238441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6"/>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The Nature of the Data </a:t>
            </a:r>
            <a:r>
              <a:rPr lang="en-US" sz="2800" kern="1200" dirty="0">
                <a:latin typeface="+mj-lt"/>
                <a:ea typeface="+mj-ea"/>
                <a:cs typeface="Times New Roman" panose="02020603050405020304" pitchFamily="18" charset="0"/>
              </a:rPr>
              <a:t>(1 of 5)</a:t>
            </a:r>
          </a:p>
        </p:txBody>
      </p:sp>
      <p:sp>
        <p:nvSpPr>
          <p:cNvPr id="3" name="Text Placeholder 2"/>
          <p:cNvSpPr>
            <a:spLocks noGrp="1"/>
          </p:cNvSpPr>
          <p:nvPr>
            <p:ph type="body" idx="1"/>
          </p:nvPr>
        </p:nvSpPr>
        <p:spPr>
          <a:xfrm>
            <a:off x="457200" y="1464012"/>
            <a:ext cx="8229600" cy="3298783"/>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The nature of the data helps determine the statistic that is necessary</a:t>
            </a:r>
            <a:endParaRPr lang="en-US" sz="2400" kern="1200" dirty="0">
              <a:solidFill>
                <a:prstClr val="black"/>
              </a:solidFill>
              <a:latin typeface="Arial" panose="020B0604020202020204" pitchFamily="34" charset="0"/>
              <a:ea typeface="+mn-ea"/>
              <a:cs typeface="Arial" panose="020B0604020202020204" pitchFamily="34" charset="0"/>
            </a:endParaRP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Have your data been collected for a single group or for two or more groups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Were continuous or discrete variables involved</a:t>
            </a:r>
          </a:p>
          <a:p>
            <a:pPr marL="1144778" lvl="2" indent="-230378">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Continuous = infinite number of possible values</a:t>
            </a:r>
          </a:p>
          <a:p>
            <a:pPr marL="1144778" lvl="2" indent="-230378">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Discrete = finite, small number of possible values that are independent of each other</a:t>
            </a:r>
          </a:p>
        </p:txBody>
      </p:sp>
    </p:spTree>
    <p:extLst>
      <p:ext uri="{BB962C8B-B14F-4D97-AF65-F5344CB8AC3E}">
        <p14:creationId xmlns:p14="http://schemas.microsoft.com/office/powerpoint/2010/main" val="32081119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8"/>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The Nature of the Data </a:t>
            </a:r>
            <a:r>
              <a:rPr lang="en-US" sz="2800" kern="1200" dirty="0">
                <a:latin typeface="+mj-lt"/>
                <a:ea typeface="+mj-ea"/>
                <a:cs typeface="Times New Roman" panose="02020603050405020304" pitchFamily="18" charset="0"/>
              </a:rPr>
              <a:t>(2 of 5)</a:t>
            </a:r>
          </a:p>
        </p:txBody>
      </p:sp>
      <p:sp>
        <p:nvSpPr>
          <p:cNvPr id="3" name="Text Placeholder 2"/>
          <p:cNvSpPr>
            <a:spLocks noGrp="1"/>
          </p:cNvSpPr>
          <p:nvPr>
            <p:ph type="body" idx="1"/>
          </p:nvPr>
        </p:nvSpPr>
        <p:spPr>
          <a:xfrm>
            <a:off x="457200" y="1464010"/>
            <a:ext cx="8229600" cy="3375727"/>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The nature of the data helps determine the statistic that is necessary</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Do you have nominal, ordinal, interval, or ratio data</a:t>
            </a:r>
          </a:p>
          <a:p>
            <a:pPr marL="1144778" lvl="2" indent="-230378">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Nominal = separate, non-ranked categories</a:t>
            </a:r>
          </a:p>
          <a:p>
            <a:pPr marL="1144778" lvl="2" indent="-230378">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Ordinal = sequenced categories</a:t>
            </a:r>
          </a:p>
          <a:p>
            <a:pPr marL="1144778" lvl="2" indent="-230378">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Interval = sequenced categories with equal units of measurement</a:t>
            </a:r>
          </a:p>
          <a:p>
            <a:pPr marL="1144778" lvl="2" indent="-230378">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Ratio = equal intervals AND true zero point</a:t>
            </a:r>
          </a:p>
        </p:txBody>
      </p:sp>
    </p:spTree>
    <p:extLst>
      <p:ext uri="{BB962C8B-B14F-4D97-AF65-F5344CB8AC3E}">
        <p14:creationId xmlns:p14="http://schemas.microsoft.com/office/powerpoint/2010/main" val="40725501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72"/>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The Nature of the Data </a:t>
            </a:r>
            <a:r>
              <a:rPr lang="en-US" sz="2800" kern="1200" dirty="0">
                <a:latin typeface="+mj-lt"/>
                <a:ea typeface="+mj-ea"/>
                <a:cs typeface="Times New Roman" panose="02020603050405020304" pitchFamily="18" charset="0"/>
              </a:rPr>
              <a:t>(3 of 5)</a:t>
            </a:r>
          </a:p>
        </p:txBody>
      </p:sp>
      <p:sp>
        <p:nvSpPr>
          <p:cNvPr id="3" name="Text Placeholder 2"/>
          <p:cNvSpPr>
            <a:spLocks noGrp="1"/>
          </p:cNvSpPr>
          <p:nvPr>
            <p:ph type="body" idx="1"/>
          </p:nvPr>
        </p:nvSpPr>
        <p:spPr>
          <a:xfrm>
            <a:off x="457200" y="1464008"/>
            <a:ext cx="8229600" cy="1513679"/>
          </a:xfrm>
        </p:spPr>
        <p:txBody>
          <a:bodyPr wrap="square" lIns="0" tIns="18000" rIns="0" bIns="18000">
            <a:spAutoFit/>
          </a:bodyPr>
          <a:lstStyle/>
          <a:p>
            <a:pPr marL="256032" lvl="0" indent="-256032">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Many statistical procedures are built on the notion of a normal distribution. You may know this as the “bell curve” or the “normal curve.” This normal distribution has several distinguishing characteristics:</a:t>
            </a:r>
          </a:p>
        </p:txBody>
      </p:sp>
      <p:sp>
        <p:nvSpPr>
          <p:cNvPr id="5" name="Content Placeholder 4"/>
          <p:cNvSpPr>
            <a:spLocks noGrp="1"/>
          </p:cNvSpPr>
          <p:nvPr>
            <p:ph sz="quarter" idx="13"/>
          </p:nvPr>
        </p:nvSpPr>
        <p:spPr>
          <a:xfrm>
            <a:off x="457200" y="3047875"/>
            <a:ext cx="8229600" cy="1898400"/>
          </a:xfrm>
        </p:spPr>
        <p:txBody>
          <a:bodyPr lIns="0" tIns="18000" rIns="0" bIns="18000">
            <a:spAutoFit/>
          </a:bodyPr>
          <a:lstStyle/>
          <a:p>
            <a:pPr marL="432054" lvl="0" indent="-432054">
              <a:spcAft>
                <a:spcPct val="0"/>
              </a:spcAft>
              <a:buSzPts val="2400"/>
              <a:buFont typeface="+mj-lt"/>
              <a:buAutoNum type="arabicPeriod"/>
              <a:tabLst/>
            </a:pPr>
            <a:r>
              <a:rPr lang="en-US" sz="2400" kern="1200" dirty="0">
                <a:solidFill>
                  <a:srgbClr val="000000"/>
                </a:solidFill>
                <a:latin typeface="Arial" panose="020B0604020202020204" pitchFamily="34" charset="0"/>
                <a:cs typeface="Arial" panose="020B0604020202020204" pitchFamily="34" charset="0"/>
              </a:rPr>
              <a:t>It is horizontally symmetrical.</a:t>
            </a:r>
          </a:p>
          <a:p>
            <a:pPr marL="432054" lvl="0" indent="-432054">
              <a:spcAft>
                <a:spcPct val="0"/>
              </a:spcAft>
              <a:buSzPts val="2400"/>
              <a:buFont typeface="+mj-lt"/>
              <a:buAutoNum type="arabicPeriod"/>
              <a:tabLst/>
            </a:pPr>
            <a:r>
              <a:rPr lang="en-US" sz="2400" kern="1200" dirty="0">
                <a:solidFill>
                  <a:srgbClr val="000000"/>
                </a:solidFill>
                <a:latin typeface="Arial" panose="020B0604020202020204" pitchFamily="34" charset="0"/>
                <a:cs typeface="Arial" panose="020B0604020202020204" pitchFamily="34" charset="0"/>
              </a:rPr>
              <a:t>Its highest point is at its midpoint.</a:t>
            </a:r>
          </a:p>
          <a:p>
            <a:pPr marL="432054" lvl="0" indent="-432054">
              <a:spcAft>
                <a:spcPct val="0"/>
              </a:spcAft>
              <a:buSzPts val="2400"/>
              <a:buFont typeface="+mj-lt"/>
              <a:buAutoNum type="arabicPeriod"/>
              <a:tabLst/>
            </a:pPr>
            <a:r>
              <a:rPr lang="en-US" sz="2400" kern="1200" dirty="0">
                <a:solidFill>
                  <a:srgbClr val="000000"/>
                </a:solidFill>
                <a:latin typeface="Arial" panose="020B0604020202020204" pitchFamily="34" charset="0"/>
                <a:cs typeface="Arial" panose="020B0604020202020204" pitchFamily="34" charset="0"/>
              </a:rPr>
              <a:t>Predictable percentages of the population like within any given portion of the curve.</a:t>
            </a:r>
            <a:endParaRPr lang="en-US" sz="2400" dirty="0">
              <a:latin typeface="Arial" panose="020B0604020202020204" pitchFamily="34" charset="0"/>
              <a:cs typeface="Arial" panose="020B0604020202020204" pitchFamily="34" charset="0"/>
            </a:endParaRPr>
          </a:p>
        </p:txBody>
      </p:sp>
      <p:sp>
        <p:nvSpPr>
          <p:cNvPr id="6" name="Content Placeholder 5"/>
          <p:cNvSpPr>
            <a:spLocks noGrp="1"/>
          </p:cNvSpPr>
          <p:nvPr>
            <p:ph sz="quarter" idx="14"/>
          </p:nvPr>
        </p:nvSpPr>
        <p:spPr>
          <a:xfrm>
            <a:off x="457200" y="5006066"/>
            <a:ext cx="8232775" cy="405683"/>
          </a:xfrm>
        </p:spPr>
        <p:txBody>
          <a:bodyPr lIns="0" tIns="18000" rIns="0" bIns="18000">
            <a:spAutoFit/>
          </a:bodyPr>
          <a:lstStyle/>
          <a:p>
            <a:pPr lvl="1"/>
            <a:r>
              <a:rPr lang="en-US" sz="2400" dirty="0">
                <a:latin typeface="Arial" panose="020B0604020202020204" pitchFamily="34" charset="0"/>
                <a:cs typeface="Arial" panose="020B0604020202020204" pitchFamily="34" charset="0"/>
              </a:rPr>
              <a:t>68-95-99.7 rule</a:t>
            </a:r>
          </a:p>
        </p:txBody>
      </p:sp>
    </p:spTree>
    <p:extLst>
      <p:ext uri="{BB962C8B-B14F-4D97-AF65-F5344CB8AC3E}">
        <p14:creationId xmlns:p14="http://schemas.microsoft.com/office/powerpoint/2010/main" val="5311694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70"/>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The Nature of the Data </a:t>
            </a:r>
            <a:r>
              <a:rPr lang="en-US" sz="2800" kern="1200" dirty="0">
                <a:latin typeface="+mj-lt"/>
                <a:ea typeface="+mj-ea"/>
                <a:cs typeface="Times New Roman" panose="02020603050405020304" pitchFamily="18" charset="0"/>
              </a:rPr>
              <a:t>(4 of 5)</a:t>
            </a:r>
          </a:p>
        </p:txBody>
      </p:sp>
      <p:sp>
        <p:nvSpPr>
          <p:cNvPr id="3" name="Text Placeholder 2"/>
          <p:cNvSpPr>
            <a:spLocks noGrp="1"/>
          </p:cNvSpPr>
          <p:nvPr>
            <p:ph type="body" idx="1"/>
          </p:nvPr>
        </p:nvSpPr>
        <p:spPr>
          <a:xfrm>
            <a:off x="457200" y="1454285"/>
            <a:ext cx="8229600" cy="2852507"/>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The nature of the data helps determine the statistic that is necessary</a:t>
            </a:r>
            <a:endParaRPr lang="en-US" sz="2400" kern="1200" dirty="0">
              <a:solidFill>
                <a:prstClr val="black"/>
              </a:solidFill>
              <a:latin typeface="Arial" panose="020B0604020202020204" pitchFamily="34" charset="0"/>
              <a:ea typeface="+mn-ea"/>
              <a:cs typeface="Arial" panose="020B0604020202020204" pitchFamily="34" charset="0"/>
            </a:endParaRP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Are the data normally distributed, skewed, or kurtic?</a:t>
            </a:r>
          </a:p>
          <a:p>
            <a:pPr marL="1144778" lvl="2" indent="-230378">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Normal: Horizontally symmetrical frequency distribution </a:t>
            </a:r>
            <a:r>
              <a:rPr lang="en-US" sz="2400" kern="1200" dirty="0">
                <a:solidFill>
                  <a:srgbClr val="000000"/>
                </a:solidFill>
                <a:latin typeface="Arial" panose="020B0604020202020204" pitchFamily="34" charset="0"/>
                <a:ea typeface="Verdana" panose="020B0604030504040204" pitchFamily="34" charset="0"/>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scores at the center are most frequent</a:t>
            </a:r>
          </a:p>
          <a:p>
            <a:pPr marL="1144778" lvl="2" indent="-230378">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Predictable percentages of the population lie within any given portion of the normal curve</a:t>
            </a:r>
          </a:p>
        </p:txBody>
      </p:sp>
    </p:spTree>
    <p:extLst>
      <p:ext uri="{BB962C8B-B14F-4D97-AF65-F5344CB8AC3E}">
        <p14:creationId xmlns:p14="http://schemas.microsoft.com/office/powerpoint/2010/main" val="12171193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75"/>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The Nature of the Data </a:t>
            </a:r>
            <a:r>
              <a:rPr lang="en-US" sz="2800" kern="1200" dirty="0">
                <a:latin typeface="+mj-lt"/>
                <a:ea typeface="+mj-ea"/>
                <a:cs typeface="Times New Roman" panose="02020603050405020304" pitchFamily="18" charset="0"/>
              </a:rPr>
              <a:t>(5 of 5)</a:t>
            </a:r>
          </a:p>
        </p:txBody>
      </p:sp>
      <p:sp>
        <p:nvSpPr>
          <p:cNvPr id="3" name="Text Placeholder 2"/>
          <p:cNvSpPr>
            <a:spLocks noGrp="1"/>
          </p:cNvSpPr>
          <p:nvPr>
            <p:ph type="body" idx="1"/>
          </p:nvPr>
        </p:nvSpPr>
        <p:spPr>
          <a:xfrm>
            <a:off x="457200" y="1464011"/>
            <a:ext cx="8229600" cy="3893343"/>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The nature of the data helps determine the statistic that is necessary</a:t>
            </a:r>
            <a:endParaRPr lang="en-US" sz="2400" kern="1200" dirty="0">
              <a:solidFill>
                <a:prstClr val="black"/>
              </a:solidFill>
              <a:latin typeface="Arial" panose="020B0604020202020204" pitchFamily="34" charset="0"/>
              <a:ea typeface="+mn-ea"/>
              <a:cs typeface="Arial" panose="020B0604020202020204" pitchFamily="34" charset="0"/>
            </a:endParaRP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Skewed: Not symmetrical – scores that are most frequent can be anywhere along the X axis</a:t>
            </a:r>
          </a:p>
          <a:p>
            <a:pPr marL="1144778" lvl="2" indent="-230378">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Peak to the left of midpoint = positively skewed</a:t>
            </a:r>
          </a:p>
          <a:p>
            <a:pPr marL="1144778" lvl="2" indent="-230378">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Peak to the right of the midpoint = negatively skewed</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Kurtic: peaked/pointy (leptokurtic) or flat (platykurtic)</a:t>
            </a:r>
          </a:p>
          <a:p>
            <a:pPr marL="1144778" lvl="2" indent="-230378">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Percentile ranks are an example</a:t>
            </a:r>
          </a:p>
        </p:txBody>
      </p:sp>
    </p:spTree>
    <p:extLst>
      <p:ext uri="{BB962C8B-B14F-4D97-AF65-F5344CB8AC3E}">
        <p14:creationId xmlns:p14="http://schemas.microsoft.com/office/powerpoint/2010/main" val="1671534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852"/>
            <a:ext cx="8229600" cy="1144347"/>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Choosing between Parametric and Nonparametric Statistics</a:t>
            </a:r>
          </a:p>
        </p:txBody>
      </p:sp>
      <p:sp>
        <p:nvSpPr>
          <p:cNvPr id="3" name="Text Placeholder 2"/>
          <p:cNvSpPr>
            <a:spLocks noGrp="1"/>
          </p:cNvSpPr>
          <p:nvPr>
            <p:ph type="body" idx="1"/>
          </p:nvPr>
        </p:nvSpPr>
        <p:spPr>
          <a:xfrm>
            <a:off x="457200" y="1989313"/>
            <a:ext cx="8229600" cy="2752480"/>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Parametric statistics are used when</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data reflect an interval or ratio scale</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data fall in a normal distribution</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Nonparametric statistics are used when</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data are ordinal in nature</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data distribution is non-normal</a:t>
            </a:r>
          </a:p>
        </p:txBody>
      </p:sp>
    </p:spTree>
    <p:extLst>
      <p:ext uri="{BB962C8B-B14F-4D97-AF65-F5344CB8AC3E}">
        <p14:creationId xmlns:p14="http://schemas.microsoft.com/office/powerpoint/2010/main" val="10794969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72"/>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Descriptive Statistics</a:t>
            </a:r>
          </a:p>
        </p:txBody>
      </p:sp>
      <p:sp>
        <p:nvSpPr>
          <p:cNvPr id="3" name="Text Placeholder 2"/>
          <p:cNvSpPr>
            <a:spLocks noGrp="1"/>
          </p:cNvSpPr>
          <p:nvPr>
            <p:ph type="body" idx="1"/>
          </p:nvPr>
        </p:nvSpPr>
        <p:spPr>
          <a:xfrm>
            <a:off x="457200" y="1464008"/>
            <a:ext cx="8229600" cy="1529068"/>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Measures of central tendency</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Measures of variability</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Measures of association</a:t>
            </a:r>
          </a:p>
        </p:txBody>
      </p:sp>
    </p:spTree>
    <p:extLst>
      <p:ext uri="{BB962C8B-B14F-4D97-AF65-F5344CB8AC3E}">
        <p14:creationId xmlns:p14="http://schemas.microsoft.com/office/powerpoint/2010/main" val="2355615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72"/>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Measures of Central Tendency </a:t>
            </a:r>
            <a:r>
              <a:rPr lang="en-US" sz="2800" kern="1200" dirty="0">
                <a:latin typeface="+mj-lt"/>
                <a:ea typeface="+mj-ea"/>
                <a:cs typeface="Times New Roman" panose="02020603050405020304" pitchFamily="18" charset="0"/>
              </a:rPr>
              <a:t>(1 of 2)</a:t>
            </a:r>
          </a:p>
        </p:txBody>
      </p:sp>
      <p:sp>
        <p:nvSpPr>
          <p:cNvPr id="3" name="Text Placeholder 2"/>
          <p:cNvSpPr>
            <a:spLocks noGrp="1"/>
          </p:cNvSpPr>
          <p:nvPr>
            <p:ph type="body" idx="1"/>
          </p:nvPr>
        </p:nvSpPr>
        <p:spPr>
          <a:xfrm>
            <a:off x="457200" y="1464008"/>
            <a:ext cx="8229600" cy="2267732"/>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Techniques for finding a central point around which the data revolve</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Descriptive statistics </a:t>
            </a:r>
            <a:r>
              <a:rPr lang="en-US" sz="2400" b="1" kern="1200" dirty="0">
                <a:solidFill>
                  <a:srgbClr val="000000"/>
                </a:solidFill>
                <a:latin typeface="Arial" panose="020B0604020202020204" pitchFamily="34" charset="0"/>
                <a:ea typeface="+mn-ea"/>
                <a:cs typeface="Arial" panose="020B0604020202020204" pitchFamily="34" charset="0"/>
              </a:rPr>
              <a:t>describe </a:t>
            </a:r>
            <a:r>
              <a:rPr lang="en-US" sz="2400" kern="1200" dirty="0">
                <a:solidFill>
                  <a:srgbClr val="000000"/>
                </a:solidFill>
                <a:latin typeface="Arial" panose="020B0604020202020204" pitchFamily="34" charset="0"/>
                <a:ea typeface="+mn-ea"/>
                <a:cs typeface="Arial" panose="020B0604020202020204" pitchFamily="34" charset="0"/>
              </a:rPr>
              <a:t>a body of data.</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Three things a researcher might want to know about the data set:</a:t>
            </a:r>
          </a:p>
        </p:txBody>
      </p:sp>
      <p:sp>
        <p:nvSpPr>
          <p:cNvPr id="4" name="Text Placeholder 3"/>
          <p:cNvSpPr>
            <a:spLocks noGrp="1"/>
          </p:cNvSpPr>
          <p:nvPr>
            <p:ph type="body" idx="2"/>
          </p:nvPr>
        </p:nvSpPr>
        <p:spPr>
          <a:xfrm>
            <a:off x="457200" y="3946816"/>
            <a:ext cx="8229600" cy="1667567"/>
          </a:xfrm>
        </p:spPr>
        <p:txBody>
          <a:bodyPr lIns="0" tIns="18000" rIns="0" bIns="18000">
            <a:spAutoFit/>
          </a:bodyPr>
          <a:lstStyle/>
          <a:p>
            <a:pPr marL="740664" lvl="1" indent="-429768">
              <a:spcAft>
                <a:spcPct val="0"/>
              </a:spcAft>
              <a:buSzPts val="2400"/>
              <a:buFont typeface="+mj-lt"/>
              <a:buAutoNum type="arabicPeriod"/>
            </a:pPr>
            <a:r>
              <a:rPr lang="en-US" sz="2400" kern="1200" dirty="0">
                <a:solidFill>
                  <a:srgbClr val="000000"/>
                </a:solidFill>
                <a:latin typeface="Arial" panose="020B0604020202020204" pitchFamily="34" charset="0"/>
                <a:cs typeface="Arial" panose="020B0604020202020204" pitchFamily="34" charset="0"/>
              </a:rPr>
              <a:t>Points of central tendency</a:t>
            </a:r>
          </a:p>
          <a:p>
            <a:pPr marL="740664" lvl="1" indent="-429768">
              <a:spcAft>
                <a:spcPct val="0"/>
              </a:spcAft>
              <a:buSzPts val="2400"/>
              <a:buFont typeface="+mj-lt"/>
              <a:buAutoNum type="arabicPeriod"/>
            </a:pPr>
            <a:r>
              <a:rPr lang="en-US" sz="2400" kern="1200" dirty="0">
                <a:solidFill>
                  <a:srgbClr val="000000"/>
                </a:solidFill>
                <a:latin typeface="Arial" panose="020B0604020202020204" pitchFamily="34" charset="0"/>
                <a:cs typeface="Arial" panose="020B0604020202020204" pitchFamily="34" charset="0"/>
              </a:rPr>
              <a:t>Amount of variability</a:t>
            </a:r>
          </a:p>
          <a:p>
            <a:pPr marL="740664" lvl="1" indent="-429768">
              <a:spcAft>
                <a:spcPct val="0"/>
              </a:spcAft>
              <a:buSzPts val="2400"/>
              <a:buFont typeface="+mj-lt"/>
              <a:buAutoNum type="arabicPeriod"/>
            </a:pPr>
            <a:r>
              <a:rPr lang="en-US" sz="2400" kern="1200" dirty="0">
                <a:solidFill>
                  <a:srgbClr val="000000"/>
                </a:solidFill>
                <a:latin typeface="Arial" panose="020B0604020202020204" pitchFamily="34" charset="0"/>
                <a:cs typeface="Arial" panose="020B0604020202020204" pitchFamily="34" charset="0"/>
              </a:rPr>
              <a:t>Extent to which two or more variables are associated with one another</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98228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6"/>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Measures of Central Tendency </a:t>
            </a:r>
            <a:r>
              <a:rPr lang="en-US" sz="2800" kern="1200" dirty="0">
                <a:latin typeface="+mj-lt"/>
                <a:ea typeface="+mj-ea"/>
                <a:cs typeface="Times New Roman" panose="02020603050405020304" pitchFamily="18" charset="0"/>
              </a:rPr>
              <a:t>(2 of 2)</a:t>
            </a:r>
          </a:p>
        </p:txBody>
      </p:sp>
      <p:sp>
        <p:nvSpPr>
          <p:cNvPr id="3" name="Text Placeholder 2"/>
          <p:cNvSpPr>
            <a:spLocks noGrp="1"/>
          </p:cNvSpPr>
          <p:nvPr>
            <p:ph type="body" idx="1"/>
          </p:nvPr>
        </p:nvSpPr>
        <p:spPr>
          <a:xfrm>
            <a:off x="457200" y="1464011"/>
            <a:ext cx="8229600" cy="3452671"/>
          </a:xfrm>
        </p:spPr>
        <p:txBody>
          <a:bodyPr wrap="square" lIns="0" tIns="18000" rIns="0" bIns="18000">
            <a:spAutoFit/>
          </a:bodyPr>
          <a:lstStyle/>
          <a:p>
            <a:pPr>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Mode: the single number or score that occurs most frequently</a:t>
            </a:r>
          </a:p>
          <a:p>
            <a:pPr>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Median: the numerical center of a set of data – the number in the middle of the (ordered) set of scores</a:t>
            </a:r>
          </a:p>
          <a:p>
            <a:pPr>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Mean: the arithmetic average of the scores within the data set</a:t>
            </a:r>
          </a:p>
          <a:p>
            <a:pPr marL="740664" lvl="1">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May need geometric mean for some data sets (e.g., growth)</a:t>
            </a:r>
          </a:p>
        </p:txBody>
      </p:sp>
    </p:spTree>
    <p:extLst>
      <p:ext uri="{BB962C8B-B14F-4D97-AF65-F5344CB8AC3E}">
        <p14:creationId xmlns:p14="http://schemas.microsoft.com/office/powerpoint/2010/main" val="30942005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4"/>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Measures of Variability </a:t>
            </a:r>
            <a:r>
              <a:rPr lang="en-US" sz="2800" kern="1200" dirty="0">
                <a:latin typeface="+mj-lt"/>
                <a:ea typeface="+mj-ea"/>
                <a:cs typeface="Times New Roman" panose="02020603050405020304" pitchFamily="18" charset="0"/>
              </a:rPr>
              <a:t>(1 of 3)</a:t>
            </a:r>
          </a:p>
        </p:txBody>
      </p:sp>
      <p:sp>
        <p:nvSpPr>
          <p:cNvPr id="3" name="Text Placeholder 2"/>
          <p:cNvSpPr>
            <a:spLocks noGrp="1"/>
          </p:cNvSpPr>
          <p:nvPr>
            <p:ph type="body" idx="1"/>
          </p:nvPr>
        </p:nvSpPr>
        <p:spPr>
          <a:xfrm>
            <a:off x="457200" y="1464009"/>
            <a:ext cx="8229600" cy="2852507"/>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Extent to which data points cluster around point of central tendency</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Range: value reflecting the spread of data from lowest to highest value (highest score minus lowest score)</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Interquartile range: Quartile 3 – Quartile 1</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Five-number summary (lowest, highest, Q1, Q3, and median)</a:t>
            </a:r>
          </a:p>
        </p:txBody>
      </p:sp>
    </p:spTree>
    <p:extLst>
      <p:ext uri="{BB962C8B-B14F-4D97-AF65-F5344CB8AC3E}">
        <p14:creationId xmlns:p14="http://schemas.microsoft.com/office/powerpoint/2010/main" val="34569656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5"/>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Measures of Variability </a:t>
            </a:r>
            <a:r>
              <a:rPr lang="en-US" sz="2800" kern="1200" dirty="0">
                <a:latin typeface="+mj-lt"/>
                <a:ea typeface="+mj-ea"/>
                <a:cs typeface="Times New Roman" panose="02020603050405020304" pitchFamily="18" charset="0"/>
              </a:rPr>
              <a:t>(2 of 3)</a:t>
            </a:r>
          </a:p>
        </p:txBody>
      </p:sp>
      <p:sp>
        <p:nvSpPr>
          <p:cNvPr id="3" name="Text Placeholder 2"/>
          <p:cNvSpPr>
            <a:spLocks noGrp="1"/>
          </p:cNvSpPr>
          <p:nvPr>
            <p:ph type="body" idx="1"/>
          </p:nvPr>
        </p:nvSpPr>
        <p:spPr>
          <a:xfrm>
            <a:off x="457200" y="1464010"/>
            <a:ext cx="8229600" cy="2890979"/>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Average deviation: the average of differences of each score and the mean score</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Standard deviation: standardized way of computing the distance between each score and the mean; takes negative numbers into account</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the measure of variability most commonly used in statistical procedures</a:t>
            </a:r>
          </a:p>
        </p:txBody>
      </p:sp>
    </p:spTree>
    <p:extLst>
      <p:ext uri="{BB962C8B-B14F-4D97-AF65-F5344CB8AC3E}">
        <p14:creationId xmlns:p14="http://schemas.microsoft.com/office/powerpoint/2010/main" val="815234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6"/>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Measures of Variability </a:t>
            </a:r>
            <a:r>
              <a:rPr lang="en-US" sz="2800" kern="1200" dirty="0">
                <a:latin typeface="+mj-lt"/>
                <a:ea typeface="+mj-ea"/>
                <a:cs typeface="Times New Roman" panose="02020603050405020304" pitchFamily="18" charset="0"/>
              </a:rPr>
              <a:t>(3 of 3)</a:t>
            </a:r>
          </a:p>
        </p:txBody>
      </p:sp>
      <p:sp>
        <p:nvSpPr>
          <p:cNvPr id="3" name="Text Placeholder 2"/>
          <p:cNvSpPr>
            <a:spLocks noGrp="1"/>
          </p:cNvSpPr>
          <p:nvPr>
            <p:ph type="body" idx="1"/>
          </p:nvPr>
        </p:nvSpPr>
        <p:spPr>
          <a:xfrm>
            <a:off x="457200" y="1464008"/>
            <a:ext cx="8229600" cy="2075371"/>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Norm-referenced score: reflects where each person in the group is, relative to other members of the group</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Standard score: tells us how far an individual’s performance is from the mean, with respect to standard deviation units</a:t>
            </a:r>
          </a:p>
        </p:txBody>
      </p:sp>
    </p:spTree>
    <p:extLst>
      <p:ext uri="{BB962C8B-B14F-4D97-AF65-F5344CB8AC3E}">
        <p14:creationId xmlns:p14="http://schemas.microsoft.com/office/powerpoint/2010/main" val="15002497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70"/>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Keep It in Perspective</a:t>
            </a:r>
          </a:p>
        </p:txBody>
      </p:sp>
      <p:sp>
        <p:nvSpPr>
          <p:cNvPr id="3" name="Text Placeholder 2"/>
          <p:cNvSpPr>
            <a:spLocks noGrp="1"/>
          </p:cNvSpPr>
          <p:nvPr>
            <p:ph type="body" idx="1"/>
          </p:nvPr>
        </p:nvSpPr>
        <p:spPr>
          <a:xfrm>
            <a:off x="457200" y="1464008"/>
            <a:ext cx="8229600" cy="1898400"/>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Statistics related to central tendency and variability provide a beginning point from which to view data</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Statistical manipulation of the data is not research</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Research demands interpretation of the data</a:t>
            </a:r>
          </a:p>
        </p:txBody>
      </p:sp>
    </p:spTree>
    <p:extLst>
      <p:ext uri="{BB962C8B-B14F-4D97-AF65-F5344CB8AC3E}">
        <p14:creationId xmlns:p14="http://schemas.microsoft.com/office/powerpoint/2010/main" val="29674811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6"/>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Measures of Association</a:t>
            </a:r>
          </a:p>
        </p:txBody>
      </p:sp>
      <p:sp>
        <p:nvSpPr>
          <p:cNvPr id="7" name="Content Placeholder 6">
            <a:extLst>
              <a:ext uri="{FF2B5EF4-FFF2-40B4-BE49-F238E27FC236}">
                <a16:creationId xmlns:a16="http://schemas.microsoft.com/office/drawing/2014/main" id="{4EE32B9D-F794-4504-847D-AC5747271229}"/>
              </a:ext>
            </a:extLst>
          </p:cNvPr>
          <p:cNvSpPr>
            <a:spLocks noGrp="1"/>
          </p:cNvSpPr>
          <p:nvPr>
            <p:ph sz="quarter" idx="13"/>
          </p:nvPr>
        </p:nvSpPr>
        <p:spPr>
          <a:xfrm>
            <a:off x="457200" y="1454954"/>
            <a:ext cx="8229600" cy="1667567"/>
          </a:xfrm>
        </p:spPr>
        <p:txBody>
          <a:bodyPr lIns="0" tIns="18000" rIns="0" bIns="18000">
            <a:spAutoFit/>
          </a:bodyPr>
          <a:lstStyle/>
          <a:p>
            <a:pPr marL="342900" indent="-342900"/>
            <a:r>
              <a:rPr lang="en-US" sz="2400" dirty="0">
                <a:latin typeface="Arial" panose="020B0604020202020204" pitchFamily="34" charset="0"/>
                <a:cs typeface="Arial" panose="020B0604020202020204" pitchFamily="34" charset="0"/>
              </a:rPr>
              <a:t>Correlation: statistical process that allows the researcher to identify any relationship between variables</a:t>
            </a:r>
          </a:p>
          <a:p>
            <a:pPr marL="829818" lvl="1" indent="-342900"/>
            <a:r>
              <a:rPr lang="en-US" sz="2400" dirty="0">
                <a:latin typeface="Arial" panose="020B0604020202020204" pitchFamily="34" charset="0"/>
                <a:cs typeface="Arial" panose="020B0604020202020204" pitchFamily="34" charset="0"/>
              </a:rPr>
              <a:t>Results in a statistic (number) between −1 and +1</a:t>
            </a:r>
          </a:p>
          <a:p>
            <a:pPr marL="829818" lvl="1" indent="-342900"/>
            <a:r>
              <a:rPr lang="en-US" sz="2400" dirty="0">
                <a:latin typeface="Arial" panose="020B0604020202020204" pitchFamily="34" charset="0"/>
                <a:cs typeface="Arial" panose="020B0604020202020204" pitchFamily="34" charset="0"/>
              </a:rPr>
              <a:t>This number is known as a correlation coefficient</a:t>
            </a:r>
            <a:endParaRPr lang="en-IN"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182329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705"/>
            <a:ext cx="8229600" cy="590349"/>
          </a:xfrm>
        </p:spPr>
        <p:txBody>
          <a:bodyPr lIns="0" tIns="18000" rIns="0" bIns="18000">
            <a:spAutoFit/>
          </a:bodyPr>
          <a:lstStyle/>
          <a:p>
            <a:pPr lvl="0">
              <a:spcBef>
                <a:spcPct val="0"/>
              </a:spcBef>
              <a:buClrTx/>
            </a:pPr>
            <a:r>
              <a:rPr lang="en-US" sz="3600" kern="1200">
                <a:latin typeface="+mj-lt"/>
                <a:ea typeface="+mj-ea"/>
                <a:cs typeface="Times New Roman" panose="02020603050405020304" pitchFamily="18" charset="0"/>
              </a:rPr>
              <a:t>Correlation </a:t>
            </a:r>
            <a:r>
              <a:rPr lang="en-US" sz="2800" kern="1200">
                <a:latin typeface="+mj-lt"/>
                <a:ea typeface="+mj-ea"/>
                <a:cs typeface="Times New Roman" panose="02020603050405020304" pitchFamily="18" charset="0"/>
              </a:rPr>
              <a:t>(1 of 2)</a:t>
            </a:r>
          </a:p>
        </p:txBody>
      </p:sp>
      <p:sp>
        <p:nvSpPr>
          <p:cNvPr id="7" name="Content Placeholder 6">
            <a:extLst>
              <a:ext uri="{FF2B5EF4-FFF2-40B4-BE49-F238E27FC236}">
                <a16:creationId xmlns:a16="http://schemas.microsoft.com/office/drawing/2014/main" id="{39882D08-25DE-43C7-BDCB-34BAB3E004B5}"/>
              </a:ext>
            </a:extLst>
          </p:cNvPr>
          <p:cNvSpPr>
            <a:spLocks noGrp="1"/>
          </p:cNvSpPr>
          <p:nvPr>
            <p:ph sz="quarter" idx="13"/>
          </p:nvPr>
        </p:nvSpPr>
        <p:spPr>
          <a:xfrm>
            <a:off x="457200" y="1460933"/>
            <a:ext cx="8229600" cy="4052836"/>
          </a:xfrm>
        </p:spPr>
        <p:txBody>
          <a:bodyPr lIns="0" tIns="18000" rIns="0" bIns="18000">
            <a:spAutoFit/>
          </a:bodyPr>
          <a:lstStyle/>
          <a:p>
            <a:pPr marL="342900" indent="-342900"/>
            <a:r>
              <a:rPr lang="en-US" sz="2400" dirty="0">
                <a:latin typeface="Arial" panose="020B0604020202020204" pitchFamily="34" charset="0"/>
                <a:cs typeface="Arial" panose="020B0604020202020204" pitchFamily="34" charset="0"/>
              </a:rPr>
              <a:t>Correlation tells us direction</a:t>
            </a:r>
          </a:p>
          <a:p>
            <a:pPr marL="829818" lvl="1" indent="-342900"/>
            <a:r>
              <a:rPr lang="en-US" sz="2400" dirty="0">
                <a:latin typeface="Arial" panose="020B0604020202020204" pitchFamily="34" charset="0"/>
                <a:cs typeface="Arial" panose="020B0604020202020204" pitchFamily="34" charset="0"/>
              </a:rPr>
              <a:t>Positive: as one variable increases, the other variable also increases</a:t>
            </a:r>
          </a:p>
          <a:p>
            <a:pPr marL="829818" lvl="1" indent="-342900"/>
            <a:r>
              <a:rPr lang="en-US" sz="2400" dirty="0">
                <a:latin typeface="Arial" panose="020B0604020202020204" pitchFamily="34" charset="0"/>
                <a:cs typeface="Arial" panose="020B0604020202020204" pitchFamily="34" charset="0"/>
              </a:rPr>
              <a:t>Negative: as one variable increases, the other variable decreases</a:t>
            </a:r>
          </a:p>
          <a:p>
            <a:pPr marL="342900" indent="-342900"/>
            <a:r>
              <a:rPr lang="en-US" sz="2400" dirty="0">
                <a:latin typeface="Arial" panose="020B0604020202020204" pitchFamily="34" charset="0"/>
                <a:cs typeface="Arial" panose="020B0604020202020204" pitchFamily="34" charset="0"/>
              </a:rPr>
              <a:t>Closer to +1 or −1: strong correlation</a:t>
            </a:r>
          </a:p>
          <a:p>
            <a:pPr marL="829818" lvl="1" indent="-342900"/>
            <a:r>
              <a:rPr lang="en-US" sz="2400" dirty="0">
                <a:latin typeface="Arial" panose="020B0604020202020204" pitchFamily="34" charset="0"/>
                <a:cs typeface="Arial" panose="020B0604020202020204" pitchFamily="34" charset="0"/>
              </a:rPr>
              <a:t>Variables closely related</a:t>
            </a:r>
          </a:p>
          <a:p>
            <a:pPr marL="829818" lvl="1" indent="-342900"/>
            <a:r>
              <a:rPr lang="en-US" sz="2400" dirty="0">
                <a:latin typeface="Arial" panose="020B0604020202020204" pitchFamily="34" charset="0"/>
                <a:cs typeface="Arial" panose="020B0604020202020204" pitchFamily="34" charset="0"/>
              </a:rPr>
              <a:t>Can make predictions</a:t>
            </a:r>
          </a:p>
          <a:p>
            <a:pPr marL="342900" indent="-342900"/>
            <a:r>
              <a:rPr lang="en-US" sz="2400" dirty="0">
                <a:latin typeface="Arial" panose="020B0604020202020204" pitchFamily="34" charset="0"/>
                <a:cs typeface="Arial" panose="020B0604020202020204" pitchFamily="34" charset="0"/>
              </a:rPr>
              <a:t>Closer to 0: weak correlation</a:t>
            </a:r>
          </a:p>
        </p:txBody>
      </p:sp>
    </p:spTree>
    <p:extLst>
      <p:ext uri="{BB962C8B-B14F-4D97-AF65-F5344CB8AC3E}">
        <p14:creationId xmlns:p14="http://schemas.microsoft.com/office/powerpoint/2010/main" val="29978532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6"/>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Correlation </a:t>
            </a:r>
            <a:r>
              <a:rPr lang="en-US" sz="2800" kern="1200" dirty="0">
                <a:latin typeface="+mj-lt"/>
                <a:ea typeface="+mj-ea"/>
                <a:cs typeface="Times New Roman" panose="02020603050405020304" pitchFamily="18" charset="0"/>
              </a:rPr>
              <a:t>(2 of 2)</a:t>
            </a:r>
          </a:p>
        </p:txBody>
      </p:sp>
      <p:sp>
        <p:nvSpPr>
          <p:cNvPr id="3" name="Text Placeholder 2"/>
          <p:cNvSpPr>
            <a:spLocks noGrp="1"/>
          </p:cNvSpPr>
          <p:nvPr>
            <p:ph type="body" idx="1"/>
          </p:nvPr>
        </p:nvSpPr>
        <p:spPr>
          <a:xfrm>
            <a:off x="457200" y="1464010"/>
            <a:ext cx="8229600" cy="1782984"/>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A variety of statistical tests measure correlation</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Correlation does not necessarily imply causation</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Ask yourself, “What might be the underlying reason for the association?”</a:t>
            </a:r>
          </a:p>
        </p:txBody>
      </p:sp>
    </p:spTree>
    <p:extLst>
      <p:ext uri="{BB962C8B-B14F-4D97-AF65-F5344CB8AC3E}">
        <p14:creationId xmlns:p14="http://schemas.microsoft.com/office/powerpoint/2010/main" val="1156944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70"/>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Inferential Statistics</a:t>
            </a:r>
          </a:p>
        </p:txBody>
      </p:sp>
      <p:sp>
        <p:nvSpPr>
          <p:cNvPr id="3" name="Text Placeholder 2"/>
          <p:cNvSpPr>
            <a:spLocks noGrp="1"/>
          </p:cNvSpPr>
          <p:nvPr>
            <p:ph type="body" idx="1"/>
          </p:nvPr>
        </p:nvSpPr>
        <p:spPr>
          <a:xfrm>
            <a:off x="457200" y="1464011"/>
            <a:ext cx="8229600" cy="1336708"/>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Used to draw inferences about a population from a smaller sample</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Two main functions:</a:t>
            </a:r>
          </a:p>
        </p:txBody>
      </p:sp>
      <p:sp>
        <p:nvSpPr>
          <p:cNvPr id="4" name="Text Placeholder 3"/>
          <p:cNvSpPr>
            <a:spLocks noGrp="1"/>
          </p:cNvSpPr>
          <p:nvPr>
            <p:ph type="body" idx="2"/>
          </p:nvPr>
        </p:nvSpPr>
        <p:spPr>
          <a:xfrm>
            <a:off x="457200" y="2848546"/>
            <a:ext cx="8229600" cy="851959"/>
          </a:xfrm>
        </p:spPr>
        <p:txBody>
          <a:bodyPr lIns="0" tIns="18000" rIns="0" bIns="18000">
            <a:spAutoFit/>
          </a:bodyPr>
          <a:lstStyle/>
          <a:p>
            <a:pPr marL="740664" lvl="1" indent="-429768">
              <a:spcAft>
                <a:spcPct val="0"/>
              </a:spcAft>
              <a:buSzPts val="2400"/>
              <a:buFont typeface="+mj-lt"/>
              <a:buAutoNum type="arabicPeriod"/>
            </a:pPr>
            <a:r>
              <a:rPr lang="en-US" sz="2400" kern="1200" dirty="0">
                <a:solidFill>
                  <a:srgbClr val="000000"/>
                </a:solidFill>
                <a:latin typeface="Arial" panose="020B0604020202020204" pitchFamily="34" charset="0"/>
                <a:cs typeface="Arial" panose="020B0604020202020204" pitchFamily="34" charset="0"/>
              </a:rPr>
              <a:t>Estimate population parameter from a random sample</a:t>
            </a:r>
          </a:p>
          <a:p>
            <a:pPr marL="740664" lvl="1" indent="-429768">
              <a:spcAft>
                <a:spcPct val="0"/>
              </a:spcAft>
              <a:buSzPts val="2400"/>
              <a:buFont typeface="+mj-lt"/>
              <a:buAutoNum type="arabicPeriod"/>
            </a:pPr>
            <a:r>
              <a:rPr lang="en-US" sz="2400" kern="1200" dirty="0">
                <a:solidFill>
                  <a:srgbClr val="000000"/>
                </a:solidFill>
                <a:latin typeface="Arial" panose="020B0604020202020204" pitchFamily="34" charset="0"/>
                <a:cs typeface="Arial" panose="020B0604020202020204" pitchFamily="34" charset="0"/>
              </a:rPr>
              <a:t>Test statistically based hypotheses</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254178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7195"/>
            <a:ext cx="8229600" cy="528794"/>
          </a:xfrm>
        </p:spPr>
        <p:txBody>
          <a:bodyPr lIns="0" tIns="18000" rIns="0" bIns="18000">
            <a:spAutoFit/>
          </a:bodyPr>
          <a:lstStyle/>
          <a:p>
            <a:pPr lvl="0">
              <a:spcBef>
                <a:spcPct val="0"/>
              </a:spcBef>
              <a:buClrTx/>
            </a:pPr>
            <a:r>
              <a:rPr lang="en-US" sz="3200" kern="1200" dirty="0">
                <a:latin typeface="+mj-lt"/>
                <a:ea typeface="+mj-ea"/>
                <a:cs typeface="Times New Roman" panose="02020603050405020304" pitchFamily="18" charset="0"/>
              </a:rPr>
              <a:t>Estimating Population Parameters </a:t>
            </a:r>
            <a:r>
              <a:rPr lang="en-US" sz="2400" kern="1200" dirty="0">
                <a:latin typeface="+mj-lt"/>
                <a:ea typeface="+mj-ea"/>
                <a:cs typeface="Times New Roman" panose="02020603050405020304" pitchFamily="18" charset="0"/>
              </a:rPr>
              <a:t>(1 of 2)</a:t>
            </a:r>
          </a:p>
        </p:txBody>
      </p:sp>
      <p:sp>
        <p:nvSpPr>
          <p:cNvPr id="3" name="Text Placeholder 2"/>
          <p:cNvSpPr>
            <a:spLocks noGrp="1"/>
          </p:cNvSpPr>
          <p:nvPr>
            <p:ph type="body" idx="1"/>
          </p:nvPr>
        </p:nvSpPr>
        <p:spPr>
          <a:xfrm>
            <a:off x="457200" y="1464008"/>
            <a:ext cx="8229600" cy="2775563"/>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Point estimate: single statistic that is taken as a reasonable estimate of the corresponding population parameter</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Example: Sample mean used to estimate population mean</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Typically does not correspond exactly with its true equivalent in the population</a:t>
            </a:r>
          </a:p>
        </p:txBody>
      </p:sp>
    </p:spTree>
    <p:extLst>
      <p:ext uri="{BB962C8B-B14F-4D97-AF65-F5344CB8AC3E}">
        <p14:creationId xmlns:p14="http://schemas.microsoft.com/office/powerpoint/2010/main" val="3199873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7197"/>
            <a:ext cx="8229600" cy="528794"/>
          </a:xfrm>
        </p:spPr>
        <p:txBody>
          <a:bodyPr lIns="0" tIns="18000" rIns="0" bIns="18000">
            <a:spAutoFit/>
          </a:bodyPr>
          <a:lstStyle/>
          <a:p>
            <a:pPr lvl="0">
              <a:spcBef>
                <a:spcPct val="0"/>
              </a:spcBef>
              <a:buClrTx/>
            </a:pPr>
            <a:r>
              <a:rPr lang="en-US" sz="3200" kern="1200" dirty="0">
                <a:latin typeface="+mj-lt"/>
                <a:ea typeface="+mj-ea"/>
                <a:cs typeface="Times New Roman" panose="02020603050405020304" pitchFamily="18" charset="0"/>
              </a:rPr>
              <a:t>Estimating Population Parameters </a:t>
            </a:r>
            <a:r>
              <a:rPr lang="en-US" sz="2400" kern="1200" dirty="0">
                <a:latin typeface="+mj-lt"/>
                <a:ea typeface="+mj-ea"/>
                <a:cs typeface="Times New Roman" panose="02020603050405020304" pitchFamily="18" charset="0"/>
              </a:rPr>
              <a:t>(2 of 2)</a:t>
            </a:r>
          </a:p>
        </p:txBody>
      </p:sp>
      <p:sp>
        <p:nvSpPr>
          <p:cNvPr id="3" name="Text Placeholder 2"/>
          <p:cNvSpPr>
            <a:spLocks noGrp="1"/>
          </p:cNvSpPr>
          <p:nvPr>
            <p:ph type="body" idx="1"/>
          </p:nvPr>
        </p:nvSpPr>
        <p:spPr>
          <a:xfrm>
            <a:off x="457200" y="1464009"/>
            <a:ext cx="8229600" cy="2521647"/>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Interval estimate: a range within which a population parameter probably lies</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Sometimes called “confidence interval”</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Attaches a certain level of confidence that the estimated range does indeed contain the population parameter</a:t>
            </a:r>
          </a:p>
        </p:txBody>
      </p:sp>
    </p:spTree>
    <p:extLst>
      <p:ext uri="{BB962C8B-B14F-4D97-AF65-F5344CB8AC3E}">
        <p14:creationId xmlns:p14="http://schemas.microsoft.com/office/powerpoint/2010/main" val="15954913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8"/>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Testing Hypotheses </a:t>
            </a:r>
            <a:r>
              <a:rPr lang="en-US" sz="2800" kern="1200" dirty="0">
                <a:latin typeface="+mj-lt"/>
                <a:ea typeface="+mj-ea"/>
                <a:cs typeface="Times New Roman" panose="02020603050405020304" pitchFamily="18" charset="0"/>
              </a:rPr>
              <a:t>(1 of 2)</a:t>
            </a:r>
          </a:p>
        </p:txBody>
      </p:sp>
      <p:sp>
        <p:nvSpPr>
          <p:cNvPr id="3" name="Text Placeholder 2"/>
          <p:cNvSpPr>
            <a:spLocks noGrp="1"/>
          </p:cNvSpPr>
          <p:nvPr>
            <p:ph type="body" idx="1"/>
          </p:nvPr>
        </p:nvSpPr>
        <p:spPr>
          <a:xfrm>
            <a:off x="457200" y="1464009"/>
            <a:ext cx="8229600" cy="851959"/>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Researchers begin with a null hypothesis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Any result observed is the result of chance alone</a:t>
            </a:r>
          </a:p>
        </p:txBody>
      </p:sp>
    </p:spTree>
    <p:extLst>
      <p:ext uri="{BB962C8B-B14F-4D97-AF65-F5344CB8AC3E}">
        <p14:creationId xmlns:p14="http://schemas.microsoft.com/office/powerpoint/2010/main" val="5472460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74"/>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Testing Hypotheses </a:t>
            </a:r>
            <a:r>
              <a:rPr lang="en-US" sz="2800" kern="1200" dirty="0">
                <a:latin typeface="+mj-lt"/>
                <a:ea typeface="+mj-ea"/>
                <a:cs typeface="Times New Roman" panose="02020603050405020304" pitchFamily="18" charset="0"/>
              </a:rPr>
              <a:t>(2 of 2)</a:t>
            </a:r>
          </a:p>
        </p:txBody>
      </p:sp>
      <p:sp>
        <p:nvSpPr>
          <p:cNvPr id="3" name="Text Placeholder 2"/>
          <p:cNvSpPr>
            <a:spLocks noGrp="1"/>
          </p:cNvSpPr>
          <p:nvPr>
            <p:ph type="body" idx="1"/>
          </p:nvPr>
        </p:nvSpPr>
        <p:spPr>
          <a:xfrm>
            <a:off x="431800" y="1065426"/>
            <a:ext cx="8229600" cy="4124176"/>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Testing the Null Hypothesis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Using data from a sample to make inferences about the population from which the sample is drawn</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Are these results simply “due to chance” – the fact that this specific sample was tested</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Do the results accurately reflect the population</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Researchers reject “chance alone” if the results surpass a pre-set cutoff level</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“Significance Level” or “alpha level” (a)</a:t>
            </a:r>
          </a:p>
        </p:txBody>
      </p:sp>
    </p:spTree>
    <p:extLst>
      <p:ext uri="{BB962C8B-B14F-4D97-AF65-F5344CB8AC3E}">
        <p14:creationId xmlns:p14="http://schemas.microsoft.com/office/powerpoint/2010/main" val="23013513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72"/>
            <a:ext cx="8229600" cy="590349"/>
          </a:xfrm>
        </p:spPr>
        <p:txBody>
          <a:bodyPr lIns="0" tIns="18000" rIns="0" bIns="18000">
            <a:spAutoFit/>
          </a:bodyPr>
          <a:lstStyle/>
          <a:p>
            <a:pPr lvl="0">
              <a:spcBef>
                <a:spcPct val="0"/>
              </a:spcBef>
              <a:buClrTx/>
            </a:pPr>
            <a:r>
              <a:rPr lang="en-US" sz="3600" kern="1200">
                <a:latin typeface="+mj-lt"/>
                <a:ea typeface="+mj-ea"/>
                <a:cs typeface="Times New Roman" panose="02020603050405020304" pitchFamily="18" charset="0"/>
              </a:rPr>
              <a:t>Errors in Hypothesis Testing </a:t>
            </a:r>
            <a:r>
              <a:rPr lang="en-US" sz="2800" kern="1200">
                <a:latin typeface="+mj-lt"/>
                <a:ea typeface="+mj-ea"/>
                <a:cs typeface="Times New Roman" panose="02020603050405020304" pitchFamily="18" charset="0"/>
              </a:rPr>
              <a:t>(1 of 2)</a:t>
            </a:r>
          </a:p>
        </p:txBody>
      </p:sp>
      <p:sp>
        <p:nvSpPr>
          <p:cNvPr id="7" name="Content Placeholder 6">
            <a:extLst>
              <a:ext uri="{FF2B5EF4-FFF2-40B4-BE49-F238E27FC236}">
                <a16:creationId xmlns:a16="http://schemas.microsoft.com/office/drawing/2014/main" id="{1A5D78B5-B28D-40DC-9F60-B72A8848AAAC}"/>
              </a:ext>
            </a:extLst>
          </p:cNvPr>
          <p:cNvSpPr>
            <a:spLocks noGrp="1"/>
          </p:cNvSpPr>
          <p:nvPr>
            <p:ph sz="quarter" idx="13"/>
          </p:nvPr>
        </p:nvSpPr>
        <p:spPr>
          <a:xfrm>
            <a:off x="457200" y="1460935"/>
            <a:ext cx="1085914" cy="405683"/>
          </a:xfrm>
        </p:spPr>
        <p:txBody>
          <a:bodyPr wrap="square" lIns="0" tIns="18000" rIns="0" bIns="18000">
            <a:spAutoFit/>
          </a:bodyPr>
          <a:lstStyle/>
          <a:p>
            <a:pPr marL="360363" indent="-360363"/>
            <a:r>
              <a:rPr lang="en-US" sz="2400" dirty="0">
                <a:latin typeface="Arial" panose="020B0604020202020204" pitchFamily="34" charset="0"/>
                <a:cs typeface="Arial" panose="020B0604020202020204" pitchFamily="34" charset="0"/>
              </a:rPr>
              <a:t>Type</a:t>
            </a:r>
          </a:p>
        </p:txBody>
      </p:sp>
      <p:graphicFrame>
        <p:nvGraphicFramePr>
          <p:cNvPr id="17" name="Object 16" descr="Roman numeral one.">
            <a:extLst>
              <a:ext uri="{FF2B5EF4-FFF2-40B4-BE49-F238E27FC236}">
                <a16:creationId xmlns:a16="http://schemas.microsoft.com/office/drawing/2014/main" id="{DB4FC03C-2B0A-48F4-BCE2-4009BEB2C75D}"/>
              </a:ext>
            </a:extLst>
          </p:cNvPr>
          <p:cNvGraphicFramePr>
            <a:graphicFrameLocks noChangeAspect="1"/>
          </p:cNvGraphicFramePr>
          <p:nvPr>
            <p:extLst>
              <p:ext uri="{D42A27DB-BD31-4B8C-83A1-F6EECF244321}">
                <p14:modId xmlns:p14="http://schemas.microsoft.com/office/powerpoint/2010/main" val="1732385320"/>
              </p:ext>
            </p:extLst>
          </p:nvPr>
        </p:nvGraphicFramePr>
        <p:xfrm>
          <a:off x="1681660" y="1475961"/>
          <a:ext cx="217488" cy="385763"/>
        </p:xfrm>
        <a:graphic>
          <a:graphicData uri="http://schemas.openxmlformats.org/presentationml/2006/ole">
            <mc:AlternateContent xmlns:mc="http://schemas.openxmlformats.org/markup-compatibility/2006">
              <mc:Choice xmlns:v="urn:schemas-microsoft-com:vml" Requires="v">
                <p:oleObj name="Equation" r:id="rId2" imgW="101520" imgH="164880" progId="Equation.DSMT4">
                  <p:embed/>
                </p:oleObj>
              </mc:Choice>
              <mc:Fallback>
                <p:oleObj name="Equation" r:id="rId2" imgW="101520" imgH="164880" progId="Equation.DSMT4">
                  <p:embed/>
                  <p:pic>
                    <p:nvPicPr>
                      <p:cNvPr id="18" name="Object 17">
                        <a:extLst>
                          <a:ext uri="{FF2B5EF4-FFF2-40B4-BE49-F238E27FC236}">
                            <a16:creationId xmlns:a16="http://schemas.microsoft.com/office/drawing/2014/main" id="{E09FE737-0F57-481D-9E3E-3BFFE33B479A}"/>
                          </a:ext>
                        </a:extLst>
                      </p:cNvPr>
                      <p:cNvPicPr/>
                      <p:nvPr/>
                    </p:nvPicPr>
                    <p:blipFill>
                      <a:blip r:embed="rId3"/>
                      <a:stretch>
                        <a:fillRect/>
                      </a:stretch>
                    </p:blipFill>
                    <p:spPr>
                      <a:xfrm>
                        <a:off x="1681660" y="1475961"/>
                        <a:ext cx="217488" cy="385763"/>
                      </a:xfrm>
                      <a:prstGeom prst="rect">
                        <a:avLst/>
                      </a:prstGeom>
                    </p:spPr>
                  </p:pic>
                </p:oleObj>
              </mc:Fallback>
            </mc:AlternateContent>
          </a:graphicData>
        </a:graphic>
      </p:graphicFrame>
      <p:sp>
        <p:nvSpPr>
          <p:cNvPr id="8" name="Content Placeholder 7">
            <a:extLst>
              <a:ext uri="{FF2B5EF4-FFF2-40B4-BE49-F238E27FC236}">
                <a16:creationId xmlns:a16="http://schemas.microsoft.com/office/drawing/2014/main" id="{F62E8845-D21A-4F6F-80E4-B2D0EDF41521}"/>
              </a:ext>
            </a:extLst>
          </p:cNvPr>
          <p:cNvSpPr>
            <a:spLocks noGrp="1"/>
          </p:cNvSpPr>
          <p:nvPr>
            <p:ph sz="quarter" idx="14"/>
          </p:nvPr>
        </p:nvSpPr>
        <p:spPr>
          <a:xfrm>
            <a:off x="1992847" y="1458773"/>
            <a:ext cx="904671" cy="405683"/>
          </a:xfrm>
        </p:spPr>
        <p:txBody>
          <a:bodyPr lIns="0" tIns="18000" rIns="0" bIns="18000">
            <a:spAutoFit/>
          </a:bodyPr>
          <a:lstStyle/>
          <a:p>
            <a:pPr marL="432" indent="0">
              <a:buNone/>
            </a:pPr>
            <a:r>
              <a:rPr lang="en-US" sz="2400" dirty="0">
                <a:latin typeface="Arial" panose="020B0604020202020204" pitchFamily="34" charset="0"/>
                <a:cs typeface="Arial" panose="020B0604020202020204" pitchFamily="34" charset="0"/>
              </a:rPr>
              <a:t>error</a:t>
            </a:r>
          </a:p>
        </p:txBody>
      </p:sp>
      <p:sp>
        <p:nvSpPr>
          <p:cNvPr id="9" name="Content Placeholder 8">
            <a:extLst>
              <a:ext uri="{FF2B5EF4-FFF2-40B4-BE49-F238E27FC236}">
                <a16:creationId xmlns:a16="http://schemas.microsoft.com/office/drawing/2014/main" id="{855F3078-5C22-40CE-86B3-2EA840751E14}"/>
              </a:ext>
            </a:extLst>
          </p:cNvPr>
          <p:cNvSpPr>
            <a:spLocks noGrp="1"/>
          </p:cNvSpPr>
          <p:nvPr>
            <p:ph sz="quarter" idx="15"/>
          </p:nvPr>
        </p:nvSpPr>
        <p:spPr>
          <a:xfrm>
            <a:off x="457200" y="1992539"/>
            <a:ext cx="8229600" cy="1221291"/>
          </a:xfrm>
        </p:spPr>
        <p:txBody>
          <a:bodyPr lIns="0" tIns="18000" rIns="0" bIns="18000">
            <a:spAutoFit/>
          </a:bodyPr>
          <a:lstStyle/>
          <a:p>
            <a:pPr marL="847725" lvl="1" indent="-360363"/>
            <a:r>
              <a:rPr lang="en-US" sz="2400" dirty="0">
                <a:latin typeface="Arial" panose="020B0604020202020204" pitchFamily="34" charset="0"/>
                <a:cs typeface="Arial" panose="020B0604020202020204" pitchFamily="34" charset="0"/>
              </a:rPr>
              <a:t>Incorrectly rejecting the null hypothesis</a:t>
            </a:r>
          </a:p>
          <a:p>
            <a:pPr marL="847725" lvl="1" indent="-360363"/>
            <a:r>
              <a:rPr lang="en-US" sz="2400" dirty="0">
                <a:latin typeface="Arial" panose="020B0604020202020204" pitchFamily="34" charset="0"/>
                <a:cs typeface="Arial" panose="020B0604020202020204" pitchFamily="34" charset="0"/>
              </a:rPr>
              <a:t>“This result is not due to chance” – but it </a:t>
            </a:r>
            <a:r>
              <a:rPr lang="en-US" sz="2400" kern="1200" dirty="0">
                <a:solidFill>
                  <a:srgbClr val="000000"/>
                </a:solidFill>
                <a:latin typeface="Arial" panose="020B0604020202020204" pitchFamily="34" charset="0"/>
                <a:ea typeface="+mn-ea"/>
                <a:cs typeface="Arial" panose="020B0604020202020204" pitchFamily="34" charset="0"/>
              </a:rPr>
              <a:t>really I</a:t>
            </a:r>
            <a:r>
              <a:rPr lang="en-US" sz="100" kern="1200" dirty="0">
                <a:solidFill>
                  <a:srgbClr val="000000"/>
                </a:solidFill>
                <a:latin typeface="Arial" panose="020B0604020202020204" pitchFamily="34" charset="0"/>
                <a:ea typeface="+mn-ea"/>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S</a:t>
            </a:r>
            <a:r>
              <a:rPr lang="en-US" sz="2400" dirty="0">
                <a:latin typeface="Arial" panose="020B0604020202020204" pitchFamily="34" charset="0"/>
                <a:cs typeface="Arial" panose="020B0604020202020204" pitchFamily="34" charset="0"/>
              </a:rPr>
              <a:t> due to chance</a:t>
            </a:r>
          </a:p>
        </p:txBody>
      </p:sp>
    </p:spTree>
    <p:extLst>
      <p:ext uri="{BB962C8B-B14F-4D97-AF65-F5344CB8AC3E}">
        <p14:creationId xmlns:p14="http://schemas.microsoft.com/office/powerpoint/2010/main" val="76483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72"/>
            <a:ext cx="8229600" cy="590349"/>
          </a:xfrm>
        </p:spPr>
        <p:txBody>
          <a:bodyPr lIns="0" tIns="18000" rIns="0" bIns="18000">
            <a:spAutoFit/>
          </a:bodyPr>
          <a:lstStyle/>
          <a:p>
            <a:pPr lvl="0">
              <a:spcBef>
                <a:spcPct val="0"/>
              </a:spcBef>
              <a:buClrTx/>
            </a:pPr>
            <a:r>
              <a:rPr lang="en-US" sz="3600" kern="1200">
                <a:latin typeface="+mj-lt"/>
                <a:ea typeface="+mj-ea"/>
                <a:cs typeface="Times New Roman" panose="02020603050405020304" pitchFamily="18" charset="0"/>
              </a:rPr>
              <a:t>Errors in Hypothesis Testing </a:t>
            </a:r>
            <a:r>
              <a:rPr lang="en-US" sz="2800" kern="1200">
                <a:latin typeface="+mj-lt"/>
                <a:ea typeface="+mj-ea"/>
                <a:cs typeface="Times New Roman" panose="02020603050405020304" pitchFamily="18" charset="0"/>
              </a:rPr>
              <a:t>(2 of 2)</a:t>
            </a:r>
          </a:p>
        </p:txBody>
      </p:sp>
      <p:sp>
        <p:nvSpPr>
          <p:cNvPr id="7" name="Content Placeholder 6">
            <a:extLst>
              <a:ext uri="{FF2B5EF4-FFF2-40B4-BE49-F238E27FC236}">
                <a16:creationId xmlns:a16="http://schemas.microsoft.com/office/drawing/2014/main" id="{1A5D78B5-B28D-40DC-9F60-B72A8848AAAC}"/>
              </a:ext>
            </a:extLst>
          </p:cNvPr>
          <p:cNvSpPr>
            <a:spLocks noGrp="1"/>
          </p:cNvSpPr>
          <p:nvPr>
            <p:ph sz="quarter" idx="13"/>
          </p:nvPr>
        </p:nvSpPr>
        <p:spPr>
          <a:xfrm>
            <a:off x="457200" y="1460935"/>
            <a:ext cx="1041603" cy="405683"/>
          </a:xfrm>
        </p:spPr>
        <p:txBody>
          <a:bodyPr wrap="square" lIns="0" tIns="18000" rIns="0" bIns="18000">
            <a:spAutoFit/>
          </a:bodyPr>
          <a:lstStyle/>
          <a:p>
            <a:pPr marL="360363" indent="-360363"/>
            <a:r>
              <a:rPr lang="en-US" sz="2400" dirty="0">
                <a:latin typeface="Arial" panose="020B0604020202020204" pitchFamily="34" charset="0"/>
                <a:cs typeface="Arial" panose="020B0604020202020204" pitchFamily="34" charset="0"/>
              </a:rPr>
              <a:t>Type</a:t>
            </a:r>
          </a:p>
        </p:txBody>
      </p:sp>
      <p:graphicFrame>
        <p:nvGraphicFramePr>
          <p:cNvPr id="17" name="Object 16" descr="Roman numeral two.">
            <a:extLst>
              <a:ext uri="{FF2B5EF4-FFF2-40B4-BE49-F238E27FC236}">
                <a16:creationId xmlns:a16="http://schemas.microsoft.com/office/drawing/2014/main" id="{DB4FC03C-2B0A-48F4-BCE2-4009BEB2C75D}"/>
              </a:ext>
            </a:extLst>
          </p:cNvPr>
          <p:cNvGraphicFramePr>
            <a:graphicFrameLocks noChangeAspect="1"/>
          </p:cNvGraphicFramePr>
          <p:nvPr>
            <p:extLst>
              <p:ext uri="{D42A27DB-BD31-4B8C-83A1-F6EECF244321}">
                <p14:modId xmlns:p14="http://schemas.microsoft.com/office/powerpoint/2010/main" val="2723238164"/>
              </p:ext>
            </p:extLst>
          </p:nvPr>
        </p:nvGraphicFramePr>
        <p:xfrm>
          <a:off x="1623496" y="1466647"/>
          <a:ext cx="327025" cy="385763"/>
        </p:xfrm>
        <a:graphic>
          <a:graphicData uri="http://schemas.openxmlformats.org/presentationml/2006/ole">
            <mc:AlternateContent xmlns:mc="http://schemas.openxmlformats.org/markup-compatibility/2006">
              <mc:Choice xmlns:v="urn:schemas-microsoft-com:vml" Requires="v">
                <p:oleObj name="Equation" r:id="rId2" imgW="152280" imgH="164880" progId="Equation.DSMT4">
                  <p:embed/>
                </p:oleObj>
              </mc:Choice>
              <mc:Fallback>
                <p:oleObj name="Equation" r:id="rId2" imgW="152280" imgH="164880" progId="Equation.DSMT4">
                  <p:embed/>
                  <p:pic>
                    <p:nvPicPr>
                      <p:cNvPr id="17" name="Object 16">
                        <a:extLst>
                          <a:ext uri="{FF2B5EF4-FFF2-40B4-BE49-F238E27FC236}">
                            <a16:creationId xmlns:a16="http://schemas.microsoft.com/office/drawing/2014/main" id="{DB4FC03C-2B0A-48F4-BCE2-4009BEB2C75D}"/>
                          </a:ext>
                        </a:extLst>
                      </p:cNvPr>
                      <p:cNvPicPr/>
                      <p:nvPr/>
                    </p:nvPicPr>
                    <p:blipFill>
                      <a:blip r:embed="rId3"/>
                      <a:stretch>
                        <a:fillRect/>
                      </a:stretch>
                    </p:blipFill>
                    <p:spPr>
                      <a:xfrm>
                        <a:off x="1623496" y="1466647"/>
                        <a:ext cx="327025" cy="385763"/>
                      </a:xfrm>
                      <a:prstGeom prst="rect">
                        <a:avLst/>
                      </a:prstGeom>
                    </p:spPr>
                  </p:pic>
                </p:oleObj>
              </mc:Fallback>
            </mc:AlternateContent>
          </a:graphicData>
        </a:graphic>
      </p:graphicFrame>
      <p:sp>
        <p:nvSpPr>
          <p:cNvPr id="8" name="Content Placeholder 7">
            <a:extLst>
              <a:ext uri="{FF2B5EF4-FFF2-40B4-BE49-F238E27FC236}">
                <a16:creationId xmlns:a16="http://schemas.microsoft.com/office/drawing/2014/main" id="{F62E8845-D21A-4F6F-80E4-B2D0EDF41521}"/>
              </a:ext>
            </a:extLst>
          </p:cNvPr>
          <p:cNvSpPr>
            <a:spLocks noGrp="1"/>
          </p:cNvSpPr>
          <p:nvPr>
            <p:ph sz="quarter" idx="14"/>
          </p:nvPr>
        </p:nvSpPr>
        <p:spPr>
          <a:xfrm>
            <a:off x="2040015" y="1472628"/>
            <a:ext cx="904671" cy="405683"/>
          </a:xfrm>
        </p:spPr>
        <p:txBody>
          <a:bodyPr lIns="0" tIns="18000" rIns="0" bIns="18000">
            <a:spAutoFit/>
          </a:bodyPr>
          <a:lstStyle/>
          <a:p>
            <a:pPr marL="432" indent="0">
              <a:buNone/>
            </a:pPr>
            <a:r>
              <a:rPr lang="en-US" sz="2400" dirty="0">
                <a:latin typeface="Arial" panose="020B0604020202020204" pitchFamily="34" charset="0"/>
                <a:cs typeface="Arial" panose="020B0604020202020204" pitchFamily="34" charset="0"/>
              </a:rPr>
              <a:t>Error</a:t>
            </a:r>
          </a:p>
        </p:txBody>
      </p:sp>
      <p:sp>
        <p:nvSpPr>
          <p:cNvPr id="9" name="Content Placeholder 8">
            <a:extLst>
              <a:ext uri="{FF2B5EF4-FFF2-40B4-BE49-F238E27FC236}">
                <a16:creationId xmlns:a16="http://schemas.microsoft.com/office/drawing/2014/main" id="{855F3078-5C22-40CE-86B3-2EA840751E14}"/>
              </a:ext>
            </a:extLst>
          </p:cNvPr>
          <p:cNvSpPr>
            <a:spLocks noGrp="1"/>
          </p:cNvSpPr>
          <p:nvPr>
            <p:ph sz="quarter" idx="15"/>
          </p:nvPr>
        </p:nvSpPr>
        <p:spPr>
          <a:xfrm>
            <a:off x="457200" y="1992539"/>
            <a:ext cx="8229600" cy="1667567"/>
          </a:xfrm>
        </p:spPr>
        <p:txBody>
          <a:bodyPr lIns="0" tIns="18000" rIns="0" bIns="18000">
            <a:spAutoFit/>
          </a:bodyPr>
          <a:lstStyle/>
          <a:p>
            <a:pPr marL="847725" lvl="1" indent="-360363"/>
            <a:r>
              <a:rPr lang="en-US" sz="2400" dirty="0">
                <a:latin typeface="Arial" panose="020B0604020202020204" pitchFamily="34" charset="0"/>
                <a:cs typeface="Arial" panose="020B0604020202020204" pitchFamily="34" charset="0"/>
              </a:rPr>
              <a:t>Concluding that a result was due to chance when in fact it was not</a:t>
            </a:r>
          </a:p>
          <a:p>
            <a:pPr marL="847725" lvl="1" indent="-360363"/>
            <a:r>
              <a:rPr lang="en-US" sz="2400" dirty="0">
                <a:latin typeface="Arial" panose="020B0604020202020204" pitchFamily="34" charset="0"/>
                <a:cs typeface="Arial" panose="020B0604020202020204" pitchFamily="34" charset="0"/>
              </a:rPr>
              <a:t>Failing to reject a null hypothesis that is actually false</a:t>
            </a:r>
          </a:p>
          <a:p>
            <a:pPr marL="847725" lvl="1" indent="-360363"/>
            <a:r>
              <a:rPr lang="en-US" sz="2400" dirty="0">
                <a:latin typeface="Arial" panose="020B0604020202020204" pitchFamily="34" charset="0"/>
                <a:cs typeface="Arial" panose="020B0604020202020204" pitchFamily="34" charset="0"/>
              </a:rPr>
              <a:t>Also known as a beta error</a:t>
            </a:r>
          </a:p>
        </p:txBody>
      </p:sp>
    </p:spTree>
    <p:extLst>
      <p:ext uri="{BB962C8B-B14F-4D97-AF65-F5344CB8AC3E}">
        <p14:creationId xmlns:p14="http://schemas.microsoft.com/office/powerpoint/2010/main" val="39005489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046343"/>
            <a:ext cx="8229600" cy="344128"/>
          </a:xfrm>
        </p:spPr>
        <p:txBody>
          <a:bodyPr lIns="0" tIns="18000" rIns="0" bIns="18000">
            <a:spAutoFit/>
          </a:bodyPr>
          <a:lstStyle/>
          <a:p>
            <a:pPr lvl="0">
              <a:spcBef>
                <a:spcPct val="0"/>
              </a:spcBef>
              <a:buClrTx/>
            </a:pPr>
            <a:r>
              <a:rPr lang="en-US" sz="2000" kern="1200" dirty="0">
                <a:latin typeface="+mj-lt"/>
                <a:ea typeface="+mj-ea"/>
                <a:cs typeface="Times New Roman" panose="02020603050405020304" pitchFamily="18" charset="0"/>
              </a:rPr>
              <a:t>Suggestions for Increasing the Power of a Statistical Test</a:t>
            </a:r>
          </a:p>
        </p:txBody>
      </p:sp>
      <p:sp>
        <p:nvSpPr>
          <p:cNvPr id="3" name="Text Placeholder 2"/>
          <p:cNvSpPr>
            <a:spLocks noGrp="1"/>
          </p:cNvSpPr>
          <p:nvPr>
            <p:ph type="body" idx="1"/>
          </p:nvPr>
        </p:nvSpPr>
        <p:spPr>
          <a:xfrm>
            <a:off x="457200" y="1989309"/>
            <a:ext cx="8229600" cy="2829424"/>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Use as large a sample as is reasonably possible</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Maximize the validity and reliability of your measures</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If logically defensible and logistically practical, obtain repeated measures of your dependent variable</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Use parametric rather than non-parametric statistics whenever possible</a:t>
            </a:r>
          </a:p>
        </p:txBody>
      </p:sp>
    </p:spTree>
    <p:extLst>
      <p:ext uri="{BB962C8B-B14F-4D97-AF65-F5344CB8AC3E}">
        <p14:creationId xmlns:p14="http://schemas.microsoft.com/office/powerpoint/2010/main" val="17207637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73"/>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Meta-Analysis</a:t>
            </a:r>
          </a:p>
        </p:txBody>
      </p:sp>
      <p:sp>
        <p:nvSpPr>
          <p:cNvPr id="3" name="Text Placeholder 2"/>
          <p:cNvSpPr>
            <a:spLocks noGrp="1"/>
          </p:cNvSpPr>
          <p:nvPr>
            <p:ph type="body" idx="1"/>
          </p:nvPr>
        </p:nvSpPr>
        <p:spPr>
          <a:xfrm>
            <a:off x="457200" y="1464011"/>
            <a:ext cx="8229600" cy="3414199"/>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Used to analyze and draw conclusions about other researchers’ statistical analyses</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When conducting a meta-analysis, the researcher:</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Conducts an extensive search for relevant studies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Identifies appropriate studies to include in the meta-analysis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Converts each study’s results to a common statistical index</a:t>
            </a:r>
          </a:p>
        </p:txBody>
      </p:sp>
    </p:spTree>
    <p:extLst>
      <p:ext uri="{BB962C8B-B14F-4D97-AF65-F5344CB8AC3E}">
        <p14:creationId xmlns:p14="http://schemas.microsoft.com/office/powerpoint/2010/main" val="2615469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5639"/>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Statistical Software Packages</a:t>
            </a:r>
          </a:p>
        </p:txBody>
      </p:sp>
      <p:sp>
        <p:nvSpPr>
          <p:cNvPr id="3" name="Text Placeholder 2"/>
          <p:cNvSpPr>
            <a:spLocks noGrp="1"/>
          </p:cNvSpPr>
          <p:nvPr>
            <p:ph type="body" idx="1"/>
          </p:nvPr>
        </p:nvSpPr>
        <p:spPr>
          <a:xfrm>
            <a:off x="457200" y="1464011"/>
            <a:ext cx="8229600" cy="3908732"/>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Commercially available options include:</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S</a:t>
            </a:r>
            <a:r>
              <a:rPr lang="en-US" sz="100" kern="1200" dirty="0">
                <a:solidFill>
                  <a:srgbClr val="000000"/>
                </a:solidFill>
                <a:latin typeface="Arial" panose="020B0604020202020204" pitchFamily="34" charset="0"/>
                <a:ea typeface="+mn-ea"/>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P</a:t>
            </a:r>
            <a:r>
              <a:rPr lang="en-US" sz="100" kern="1200" dirty="0">
                <a:solidFill>
                  <a:srgbClr val="000000"/>
                </a:solidFill>
                <a:latin typeface="Arial" panose="020B0604020202020204" pitchFamily="34" charset="0"/>
                <a:ea typeface="+mn-ea"/>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S</a:t>
            </a:r>
            <a:r>
              <a:rPr lang="en-US" sz="100" kern="1200" dirty="0">
                <a:solidFill>
                  <a:srgbClr val="000000"/>
                </a:solidFill>
                <a:latin typeface="Arial" panose="020B0604020202020204" pitchFamily="34" charset="0"/>
                <a:ea typeface="+mn-ea"/>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S, S</a:t>
            </a:r>
            <a:r>
              <a:rPr lang="en-US" sz="100" kern="1200" dirty="0">
                <a:solidFill>
                  <a:srgbClr val="000000"/>
                </a:solidFill>
                <a:latin typeface="Arial" panose="020B0604020202020204" pitchFamily="34" charset="0"/>
                <a:ea typeface="+mn-ea"/>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A</a:t>
            </a:r>
            <a:r>
              <a:rPr lang="en-US" sz="100" kern="1200" dirty="0">
                <a:solidFill>
                  <a:srgbClr val="000000"/>
                </a:solidFill>
                <a:latin typeface="Arial" panose="020B0604020202020204" pitchFamily="34" charset="0"/>
                <a:ea typeface="+mn-ea"/>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S, S</a:t>
            </a:r>
            <a:r>
              <a:rPr lang="en-US" sz="100" kern="1200" dirty="0">
                <a:solidFill>
                  <a:srgbClr val="000000"/>
                </a:solidFill>
                <a:latin typeface="Arial" panose="020B0604020202020204" pitchFamily="34" charset="0"/>
                <a:ea typeface="+mn-ea"/>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Y</a:t>
            </a:r>
            <a:r>
              <a:rPr lang="en-US" sz="100" kern="1200" dirty="0">
                <a:solidFill>
                  <a:srgbClr val="000000"/>
                </a:solidFill>
                <a:latin typeface="Arial" panose="020B0604020202020204" pitchFamily="34" charset="0"/>
                <a:ea typeface="+mn-ea"/>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S</a:t>
            </a:r>
            <a:r>
              <a:rPr lang="en-US" sz="100" kern="1200" dirty="0">
                <a:solidFill>
                  <a:srgbClr val="000000"/>
                </a:solidFill>
                <a:latin typeface="Arial" panose="020B0604020202020204" pitchFamily="34" charset="0"/>
                <a:ea typeface="+mn-ea"/>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T</a:t>
            </a:r>
            <a:r>
              <a:rPr lang="en-US" sz="100" kern="1200" dirty="0">
                <a:solidFill>
                  <a:srgbClr val="000000"/>
                </a:solidFill>
                <a:latin typeface="Arial" panose="020B0604020202020204" pitchFamily="34" charset="0"/>
                <a:ea typeface="+mn-ea"/>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A</a:t>
            </a:r>
            <a:r>
              <a:rPr lang="en-US" sz="100" kern="1200" dirty="0">
                <a:solidFill>
                  <a:srgbClr val="000000"/>
                </a:solidFill>
                <a:latin typeface="Arial" panose="020B0604020202020204" pitchFamily="34" charset="0"/>
                <a:ea typeface="+mn-ea"/>
                <a:cs typeface="Arial" panose="020B0604020202020204" pitchFamily="34" charset="0"/>
              </a:rPr>
              <a:t> </a:t>
            </a:r>
            <a:r>
              <a:rPr lang="en-US" sz="2400" kern="1200" dirty="0">
                <a:solidFill>
                  <a:srgbClr val="000000"/>
                </a:solidFill>
                <a:latin typeface="Arial" panose="020B0604020202020204" pitchFamily="34" charset="0"/>
                <a:ea typeface="+mn-ea"/>
                <a:cs typeface="Arial" panose="020B0604020202020204" pitchFamily="34" charset="0"/>
              </a:rPr>
              <a:t>T, Minitab, Statistica</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Freeware programs include AdaMSoft and R, for example</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Advantages of using a statistcal program</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Range of available statistics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User-friendliness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Assumption testing</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Graphics</a:t>
            </a:r>
          </a:p>
        </p:txBody>
      </p:sp>
    </p:spTree>
    <p:extLst>
      <p:ext uri="{BB962C8B-B14F-4D97-AF65-F5344CB8AC3E}">
        <p14:creationId xmlns:p14="http://schemas.microsoft.com/office/powerpoint/2010/main" val="34842069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5368"/>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Interpretation of the Data</a:t>
            </a:r>
          </a:p>
        </p:txBody>
      </p:sp>
      <p:sp>
        <p:nvSpPr>
          <p:cNvPr id="3" name="Text Placeholder 2"/>
          <p:cNvSpPr>
            <a:spLocks noGrp="1"/>
          </p:cNvSpPr>
          <p:nvPr>
            <p:ph type="body" idx="1"/>
          </p:nvPr>
        </p:nvSpPr>
        <p:spPr>
          <a:xfrm>
            <a:off x="457200" y="1464011"/>
            <a:ext cx="8229600" cy="405683"/>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Interpreting the data means several things:</a:t>
            </a:r>
          </a:p>
        </p:txBody>
      </p:sp>
      <p:sp>
        <p:nvSpPr>
          <p:cNvPr id="4" name="Text Placeholder 3"/>
          <p:cNvSpPr>
            <a:spLocks noGrp="1"/>
          </p:cNvSpPr>
          <p:nvPr>
            <p:ph type="body" idx="2"/>
          </p:nvPr>
        </p:nvSpPr>
        <p:spPr>
          <a:xfrm>
            <a:off x="457200" y="1944170"/>
            <a:ext cx="8229600" cy="2852507"/>
          </a:xfrm>
        </p:spPr>
        <p:txBody>
          <a:bodyPr lIns="0" tIns="18000" rIns="0" bIns="18000">
            <a:spAutoFit/>
          </a:bodyPr>
          <a:lstStyle/>
          <a:p>
            <a:pPr marL="740664" lvl="1" indent="-429768">
              <a:spcAft>
                <a:spcPct val="0"/>
              </a:spcAft>
              <a:buSzPts val="2400"/>
              <a:buFont typeface="+mj-lt"/>
              <a:buAutoNum type="arabicPeriod"/>
            </a:pPr>
            <a:r>
              <a:rPr lang="en-US" sz="2400" kern="1200" dirty="0">
                <a:solidFill>
                  <a:srgbClr val="000000"/>
                </a:solidFill>
                <a:latin typeface="Arial" panose="020B0604020202020204" pitchFamily="34" charset="0"/>
                <a:cs typeface="Arial" panose="020B0604020202020204" pitchFamily="34" charset="0"/>
              </a:rPr>
              <a:t>Relating the findings to the original research problem and to the specific research questions and hypotheses</a:t>
            </a:r>
          </a:p>
          <a:p>
            <a:pPr marL="740664" lvl="1" indent="-429768">
              <a:spcAft>
                <a:spcPct val="0"/>
              </a:spcAft>
              <a:buSzPts val="2400"/>
              <a:buFont typeface="+mj-lt"/>
              <a:buAutoNum type="arabicPeriod"/>
            </a:pPr>
            <a:r>
              <a:rPr lang="en-US" sz="2400" kern="1200" dirty="0">
                <a:solidFill>
                  <a:srgbClr val="000000"/>
                </a:solidFill>
                <a:latin typeface="Arial" panose="020B0604020202020204" pitchFamily="34" charset="0"/>
                <a:cs typeface="Arial" panose="020B0604020202020204" pitchFamily="34" charset="0"/>
              </a:rPr>
              <a:t>Relating the findings to preexisting literature, concepts, theories, and research studies</a:t>
            </a:r>
          </a:p>
          <a:p>
            <a:pPr marL="740664" lvl="1" indent="-429768">
              <a:spcAft>
                <a:spcPct val="0"/>
              </a:spcAft>
              <a:buSzPts val="2400"/>
              <a:buFont typeface="+mj-lt"/>
              <a:buAutoNum type="arabicPeriod"/>
            </a:pPr>
            <a:r>
              <a:rPr lang="en-US" sz="2400" kern="1200" dirty="0">
                <a:solidFill>
                  <a:srgbClr val="000000"/>
                </a:solidFill>
                <a:latin typeface="Arial" panose="020B0604020202020204" pitchFamily="34" charset="0"/>
                <a:cs typeface="Arial" panose="020B0604020202020204" pitchFamily="34" charset="0"/>
              </a:rPr>
              <a:t>Determining whether the findings have practical significance as well as statistical significance</a:t>
            </a:r>
          </a:p>
          <a:p>
            <a:pPr marL="740664" lvl="1" indent="-429768">
              <a:spcAft>
                <a:spcPct val="0"/>
              </a:spcAft>
              <a:buSzPts val="2400"/>
              <a:buFont typeface="+mj-lt"/>
              <a:buAutoNum type="arabicPeriod"/>
            </a:pPr>
            <a:r>
              <a:rPr lang="en-US" sz="2400" kern="1200" dirty="0">
                <a:solidFill>
                  <a:srgbClr val="000000"/>
                </a:solidFill>
                <a:latin typeface="Arial" panose="020B0604020202020204" pitchFamily="34" charset="0"/>
                <a:cs typeface="Arial" panose="020B0604020202020204" pitchFamily="34" charset="0"/>
              </a:rPr>
              <a:t>Identifying limitations of the study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490070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9948" y="310259"/>
            <a:ext cx="8272252" cy="590349"/>
          </a:xfrm>
        </p:spPr>
        <p:txBody>
          <a:bodyPr wrap="square" lIns="0" tIns="18000" rIns="0" bIns="18000" anchor="t" anchorCtr="0">
            <a:spAutoFit/>
          </a:bodyPr>
          <a:lstStyle/>
          <a:p>
            <a:pPr lvl="0">
              <a:spcBef>
                <a:spcPct val="0"/>
              </a:spcBef>
              <a:buClrTx/>
            </a:pPr>
            <a:r>
              <a:rPr lang="en-US" altLang="en-US" sz="3600" kern="1200" dirty="0">
                <a:ea typeface="+mj-ea"/>
                <a:cs typeface="Times New Roman" panose="02020603050405020304" pitchFamily="18" charset="0"/>
              </a:rPr>
              <a:t>Copyright</a:t>
            </a:r>
            <a:endParaRPr lang="en-US" altLang="en-US" sz="3600" b="0" kern="1200" dirty="0">
              <a:ea typeface="+mj-ea"/>
              <a:cs typeface="Times New Roman" panose="02020603050405020304" pitchFamily="18" charset="0"/>
            </a:endParaRPr>
          </a:p>
        </p:txBody>
      </p:sp>
      <p:pic>
        <p:nvPicPr>
          <p:cNvPr id="8" name="Picture Placeholder 7" descr="Warning">
            <a:extLst>
              <a:ext uri="{FF2B5EF4-FFF2-40B4-BE49-F238E27FC236}">
                <a16:creationId xmlns:a16="http://schemas.microsoft.com/office/drawing/2014/main" id="{C123DBB5-E2DD-466E-A3FB-A327E5D9CB4D}"/>
              </a:ext>
            </a:extLst>
          </p:cNvPr>
          <p:cNvPicPr>
            <a:picLocks noGrp="1" noChangeAspect="1"/>
          </p:cNvPicPr>
          <p:nvPr>
            <p:ph type="pic" sz="quarter" idx="11"/>
          </p:nvPr>
        </p:nvPicPr>
        <p:blipFill>
          <a:blip r:embed="rId2"/>
          <a:stretch>
            <a:fillRect/>
          </a:stretch>
        </p:blipFill>
        <p:spPr>
          <a:xfrm>
            <a:off x="565268" y="2718488"/>
            <a:ext cx="1276350" cy="1438275"/>
          </a:xfrm>
          <a:prstGeom prst="rect">
            <a:avLst/>
          </a:prstGeom>
        </p:spPr>
      </p:pic>
      <p:sp>
        <p:nvSpPr>
          <p:cNvPr id="6" name="Content Placeholder 2">
            <a:extLst>
              <a:ext uri="{FF2B5EF4-FFF2-40B4-BE49-F238E27FC236}">
                <a16:creationId xmlns:a16="http://schemas.microsoft.com/office/drawing/2014/main" id="{0DAE52C9-82A2-4E0A-BF89-DC1F4086C3EF}"/>
              </a:ext>
            </a:extLst>
          </p:cNvPr>
          <p:cNvSpPr>
            <a:spLocks noGrp="1"/>
          </p:cNvSpPr>
          <p:nvPr>
            <p:ph sz="quarter" idx="10"/>
          </p:nvPr>
        </p:nvSpPr>
        <p:spPr>
          <a:xfrm>
            <a:off x="2096216" y="1826558"/>
            <a:ext cx="6614274" cy="3260978"/>
          </a:xfrm>
        </p:spPr>
        <p:style>
          <a:lnRef idx="2">
            <a:schemeClr val="dk1"/>
          </a:lnRef>
          <a:fillRef idx="1">
            <a:schemeClr val="lt1"/>
          </a:fillRef>
          <a:effectRef idx="0">
            <a:schemeClr val="dk1"/>
          </a:effectRef>
          <a:fontRef idx="minor">
            <a:schemeClr val="dk1"/>
          </a:fontRef>
        </p:style>
        <p:txBody>
          <a:bodyPr wrap="square" lIns="273600" tIns="273600" rIns="273600" bIns="273600">
            <a:spAutoFit/>
          </a:bodyPr>
          <a:lstStyle/>
          <a:p>
            <a:pPr marL="432" indent="0">
              <a:buNone/>
            </a:pPr>
            <a:r>
              <a:rPr lang="en-US" b="1" dirty="0">
                <a:latin typeface="Arial" panose="020B0604020202020204" pitchFamily="34" charset="0"/>
                <a:cs typeface="Arial" panose="020B0604020202020204" pitchFamily="34" charset="0"/>
              </a:rPr>
              <a:t>This work is protected by United States copyright laws and is</a:t>
            </a:r>
            <a:r>
              <a:rPr lang="en-US" b="1" baseline="0"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provided solely for the use of instructors in teaching their courses and assessing student learning. Dissemination or sale of any part of this work (including on the World Wide Web) will destroy the integrity of the work and is not permitted. The work and materials from it should never be made available to students except by instructors using the accompanying text in their classes. All recipients of this work are expected to abide by these restrictions and to honor the intended pedagogical purposes and the needs of other instructors who rely on these materials.</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84756594"/>
      </p:ext>
    </p:extLst>
  </p:cSld>
  <p:clrMapOvr>
    <a:masterClrMapping/>
  </p:clrMapOvr>
</p:sld>
</file>

<file path=ppt/theme/theme1.xml><?xml version="1.0" encoding="utf-8"?>
<a:theme xmlns:a="http://schemas.openxmlformats.org/drawingml/2006/main" name="508 Lecture">
  <a:themeElements>
    <a:clrScheme name="Custom 7">
      <a:dk1>
        <a:srgbClr val="000000"/>
      </a:dk1>
      <a:lt1>
        <a:srgbClr val="FFFFFF"/>
      </a:lt1>
      <a:dk2>
        <a:srgbClr val="000000"/>
      </a:dk2>
      <a:lt2>
        <a:srgbClr val="007FA3"/>
      </a:lt2>
      <a:accent1>
        <a:srgbClr val="3C1581"/>
      </a:accent1>
      <a:accent2>
        <a:srgbClr val="1A6C7C"/>
      </a:accent2>
      <a:accent3>
        <a:srgbClr val="CC730D"/>
      </a:accent3>
      <a:accent4>
        <a:srgbClr val="B2AA00"/>
      </a:accent4>
      <a:accent5>
        <a:srgbClr val="1B9332"/>
      </a:accent5>
      <a:accent6>
        <a:srgbClr val="7F7F7F"/>
      </a:accent6>
      <a:hlink>
        <a:srgbClr val="3C1581"/>
      </a:hlink>
      <a:folHlink>
        <a:srgbClr val="7F7F7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508 Lecture">
  <a:themeElements>
    <a:clrScheme name="Custom 7">
      <a:dk1>
        <a:srgbClr val="000000"/>
      </a:dk1>
      <a:lt1>
        <a:srgbClr val="FFFFFF"/>
      </a:lt1>
      <a:dk2>
        <a:srgbClr val="000000"/>
      </a:dk2>
      <a:lt2>
        <a:srgbClr val="007FA3"/>
      </a:lt2>
      <a:accent1>
        <a:srgbClr val="3C1581"/>
      </a:accent1>
      <a:accent2>
        <a:srgbClr val="1A6C7C"/>
      </a:accent2>
      <a:accent3>
        <a:srgbClr val="CC730D"/>
      </a:accent3>
      <a:accent4>
        <a:srgbClr val="B2AA00"/>
      </a:accent4>
      <a:accent5>
        <a:srgbClr val="1B9332"/>
      </a:accent5>
      <a:accent6>
        <a:srgbClr val="7F7F7F"/>
      </a:accent6>
      <a:hlink>
        <a:srgbClr val="3C1581"/>
      </a:hlink>
      <a:folHlink>
        <a:srgbClr val="7F7F7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6D90B95B22DD945BDFF45EB84A5E21C" ma:contentTypeVersion="12" ma:contentTypeDescription="Create a new document." ma:contentTypeScope="" ma:versionID="9ee3781bcb6633d132c89161492bb118">
  <xsd:schema xmlns:xsd="http://www.w3.org/2001/XMLSchema" xmlns:xs="http://www.w3.org/2001/XMLSchema" xmlns:p="http://schemas.microsoft.com/office/2006/metadata/properties" xmlns:ns2="7c1bd8dc-4e40-424f-a15f-9ffcd522197f" xmlns:ns3="6125ffc9-2c56-435e-8267-1393444907b2" targetNamespace="http://schemas.microsoft.com/office/2006/metadata/properties" ma:root="true" ma:fieldsID="d3e430f46b92204fb5a3381a429c4dbe" ns2:_="" ns3:_="">
    <xsd:import namespace="7c1bd8dc-4e40-424f-a15f-9ffcd522197f"/>
    <xsd:import namespace="6125ffc9-2c56-435e-8267-1393444907b2"/>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c1bd8dc-4e40-424f-a15f-9ffcd522197f"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6125ffc9-2c56-435e-8267-1393444907b2"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B8FCFB3-5884-4524-8C3E-739A11E7D419}">
  <ds:schemaRefs>
    <ds:schemaRef ds:uri="http://schemas.microsoft.com/sharepoint/v3/contenttype/forms"/>
  </ds:schemaRefs>
</ds:datastoreItem>
</file>

<file path=customXml/itemProps2.xml><?xml version="1.0" encoding="utf-8"?>
<ds:datastoreItem xmlns:ds="http://schemas.openxmlformats.org/officeDocument/2006/customXml" ds:itemID="{905B2579-1531-44FB-B0C6-F10CD63E6B0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c1bd8dc-4e40-424f-a15f-9ffcd522197f"/>
    <ds:schemaRef ds:uri="6125ffc9-2c56-435e-8267-1393444907b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9099616-71A7-467A-858B-5523DBE24EF4}">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8407</TotalTime>
  <Words>1746</Words>
  <Application>Microsoft Office PowerPoint</Application>
  <PresentationFormat>On-screen Show (4:3)</PresentationFormat>
  <Paragraphs>188</Paragraphs>
  <Slides>34</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34</vt:i4>
      </vt:variant>
    </vt:vector>
  </HeadingPairs>
  <TitlesOfParts>
    <vt:vector size="42" baseType="lpstr">
      <vt:lpstr>Arial</vt:lpstr>
      <vt:lpstr>Arial (Headings)</vt:lpstr>
      <vt:lpstr>Noto Sans Symbols</vt:lpstr>
      <vt:lpstr>Times New Roman</vt:lpstr>
      <vt:lpstr>Verdana</vt:lpstr>
      <vt:lpstr>508 Lecture</vt:lpstr>
      <vt:lpstr>1_508 Lecture</vt:lpstr>
      <vt:lpstr>Equation</vt:lpstr>
      <vt:lpstr>Practical Research: Planning and Design</vt:lpstr>
      <vt:lpstr>Exploring and Organizing a Data Set</vt:lpstr>
      <vt:lpstr>Organizing Data</vt:lpstr>
      <vt:lpstr>Use the Computer to Organize and Analyze Data</vt:lpstr>
      <vt:lpstr>Choosing Statistics</vt:lpstr>
      <vt:lpstr>Statistics as Estimates of Population Parameters</vt:lpstr>
      <vt:lpstr>The Nature of the Data (1 of 5)</vt:lpstr>
      <vt:lpstr>The Nature of the Data (2 of 5)</vt:lpstr>
      <vt:lpstr>The Nature of the Data (3 of 5)</vt:lpstr>
      <vt:lpstr>The Nature of the Data (4 of 5)</vt:lpstr>
      <vt:lpstr>The Nature of the Data (5 of 5)</vt:lpstr>
      <vt:lpstr>Choosing between Parametric and Nonparametric Statistics</vt:lpstr>
      <vt:lpstr>Descriptive Statistics</vt:lpstr>
      <vt:lpstr>Measures of Central Tendency (1 of 2)</vt:lpstr>
      <vt:lpstr>Measures of Central Tendency (2 of 2)</vt:lpstr>
      <vt:lpstr>Measures of Variability (1 of 3)</vt:lpstr>
      <vt:lpstr>Measures of Variability (2 of 3)</vt:lpstr>
      <vt:lpstr>Measures of Variability (3 of 3)</vt:lpstr>
      <vt:lpstr>Keep It in Perspective</vt:lpstr>
      <vt:lpstr>Measures of Association</vt:lpstr>
      <vt:lpstr>Correlation (1 of 2)</vt:lpstr>
      <vt:lpstr>Correlation (2 of 2)</vt:lpstr>
      <vt:lpstr>Inferential Statistics</vt:lpstr>
      <vt:lpstr>Estimating Population Parameters (1 of 2)</vt:lpstr>
      <vt:lpstr>Estimating Population Parameters (2 of 2)</vt:lpstr>
      <vt:lpstr>Testing Hypotheses (1 of 2)</vt:lpstr>
      <vt:lpstr>Testing Hypotheses (2 of 2)</vt:lpstr>
      <vt:lpstr>Errors in Hypothesis Testing (1 of 2)</vt:lpstr>
      <vt:lpstr>Errors in Hypothesis Testing (2 of 2)</vt:lpstr>
      <vt:lpstr>Suggestions for Increasing the Power of a Statistical Test</vt:lpstr>
      <vt:lpstr>Meta-Analysis</vt:lpstr>
      <vt:lpstr>Statistical Software Packages</vt:lpstr>
      <vt:lpstr>Interpretation of the Data</vt:lpstr>
      <vt:lpstr>Copyright</vt:lpstr>
    </vt:vector>
  </TitlesOfParts>
  <Company>Pearson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Practical Research: Planning and Design, Twelfth Edition, Chapter 11</dc:title>
  <dc:subject>TED/Careers</dc:subject>
  <dc:creator>Leedy and Ormrod</dc:creator>
  <cp:keywords>Practical Research</cp:keywords>
  <cp:lastModifiedBy>Md. Shakil Hossain</cp:lastModifiedBy>
  <cp:revision>941</cp:revision>
  <dcterms:modified xsi:type="dcterms:W3CDTF">2026-05-31T16:33:41Z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UniqueId">
    <vt:lpwstr>682739</vt:lpwstr>
  </property>
  <property fmtid="{D5CDD505-2E9C-101B-9397-08002B2CF9AE}" pid="3" name="Offisync_ServerID">
    <vt:lpwstr>7e960520-0e88-4f05-9fa0-24079b61e486</vt:lpwstr>
  </property>
  <property fmtid="{D5CDD505-2E9C-101B-9397-08002B2CF9AE}" pid="4" name="Offisync_UpdateToken">
    <vt:lpwstr>2</vt:lpwstr>
  </property>
  <property fmtid="{D5CDD505-2E9C-101B-9397-08002B2CF9AE}" pid="5" name="Jive_VersionGuid">
    <vt:lpwstr>2e874262-9747-49d3-bf1e-677aeb587663</vt:lpwstr>
  </property>
  <property fmtid="{D5CDD505-2E9C-101B-9397-08002B2CF9AE}" pid="6" name="Offisync_ProviderInitializationData">
    <vt:lpwstr>https://neo.pearson.com</vt:lpwstr>
  </property>
  <property fmtid="{D5CDD505-2E9C-101B-9397-08002B2CF9AE}" pid="7" name="Jive_LatestUserAccountName">
    <vt:lpwstr>joel</vt:lpwstr>
  </property>
  <property fmtid="{D5CDD505-2E9C-101B-9397-08002B2CF9AE}" pid="8" name="ContentTypeId">
    <vt:lpwstr>0x01010086D90B95B22DD945BDFF45EB84A5E21C</vt:lpwstr>
  </property>
</Properties>
</file>