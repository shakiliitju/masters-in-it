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9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Fraunces ExtraBold" panose="020B0604020202020204" charset="0"/>
      <p:regular r:id="rId17"/>
    </p:embeddedFont>
    <p:embeddedFont>
      <p:font typeface="Gill Sans MT" panose="020B0502020104020203" pitchFamily="34" charset="0"/>
      <p:regular r:id="rId18"/>
    </p:embeddedFont>
    <p:embeddedFont>
      <p:font typeface="Nobile" panose="020B0604020202020204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375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310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361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547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4646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0384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5799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1113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6936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759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9159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3987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07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044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16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757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746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614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9961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3384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3537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98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723519"/>
            <a:ext cx="5797296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47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  <p:sldLayoutId id="2147483816" r:id="rId18"/>
    <p:sldLayoutId id="2147483817" r:id="rId19"/>
    <p:sldLayoutId id="2147483818" r:id="rId20"/>
    <p:sldLayoutId id="2147483819" r:id="rId21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0571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Deepfake Audio Detection in Call Centers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2042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Conceptual Framework Using Spectral and Temporal Analysis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590577"/>
            <a:ext cx="4722763" cy="447824"/>
          </a:xfrm>
          <a:prstGeom prst="roundRect">
            <a:avLst>
              <a:gd name="adj" fmla="val 22793"/>
            </a:avLst>
          </a:prstGeom>
          <a:solidFill>
            <a:srgbClr val="DDEEE0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2633067"/>
            <a:ext cx="4552652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QASSIM UNIVERSITY · COLLEGE OF COMPUTER · IT DEPARTMENT · 1446/1447 (2025/2026)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25119" y="3197870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Students: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Muaz Abdullahi · Bilaminu Ishola · Hamzah Elnour · Md. Shakil Hossain · Ajmal Hamidi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Supervisor: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Dr. Mahfoudh Saeed Ali Mohammed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01" y="618679"/>
            <a:ext cx="5158457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Deepfake Audio Threat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72901" y="1234157"/>
            <a:ext cx="47691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Generative AI now produces highly realistic synthetic speech, exposing voice authentication in call centers to three attack types: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72901" y="1801267"/>
            <a:ext cx="2320230" cy="1614041"/>
          </a:xfrm>
          <a:prstGeom prst="roundRect">
            <a:avLst>
              <a:gd name="adj" fmla="val 7535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607963" y="1936328"/>
            <a:ext cx="182247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Text-to-Speech (TTS)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7963" y="2224683"/>
            <a:ext cx="2050107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Generates artificial speech from text using models like Tacotron + WaveNet, mimicking target voices without the attacker speaking.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1868" y="1801267"/>
            <a:ext cx="2320230" cy="1614041"/>
          </a:xfrm>
          <a:prstGeom prst="roundRect">
            <a:avLst>
              <a:gd name="adj" fmla="val 7535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3056930" y="1936328"/>
            <a:ext cx="188974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Voice Conversion (VC)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56930" y="2224683"/>
            <a:ext cx="2050107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Transforms an attacker's live speech to sound like a target speaker while preserving linguistic content — dangerous in real-time calls.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2901" y="3544044"/>
            <a:ext cx="4769197" cy="980703"/>
          </a:xfrm>
          <a:prstGeom prst="roundRect">
            <a:avLst>
              <a:gd name="adj" fmla="val 12400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607963" y="367910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Replay Attacks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7963" y="3967460"/>
            <a:ext cx="449907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Replays pre-recorded genuine speech to bypass authentication; may include channel distortions from recording and playback.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268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918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Existing detection systems are optimized for clean laboratory audio — failing under real-world telephony conditions.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75470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7069" y="1975470"/>
            <a:ext cx="76200" cy="1081757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714077" y="2136279"/>
            <a:ext cx="19823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Generalization Deficit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4077" y="2442790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Performance degrades on unseen synthesis techniques and telephony distortions.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975470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3792" y="1975470"/>
            <a:ext cx="76200" cy="1081757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4860801" y="2136279"/>
            <a:ext cx="20383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Real-Time Constraints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60801" y="2442790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High-accuracy models fail to meet strict latency requirements for live call authentication.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198986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069" y="3198986"/>
            <a:ext cx="76200" cy="1081757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4" name="Text 12"/>
          <p:cNvSpPr/>
          <p:nvPr/>
        </p:nvSpPr>
        <p:spPr>
          <a:xfrm>
            <a:off x="714077" y="3359795"/>
            <a:ext cx="24422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Environmental Robustness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4077" y="3666306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Codec compression, packet loss, and background noise obscure synthetic speech artifacts.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198986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3792" y="3198986"/>
            <a:ext cx="76200" cy="1081757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8" name="Text 16"/>
          <p:cNvSpPr/>
          <p:nvPr/>
        </p:nvSpPr>
        <p:spPr>
          <a:xfrm>
            <a:off x="4860801" y="3359795"/>
            <a:ext cx="21071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Integration Complexity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60801" y="3666306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Most systems lack APIs or microservices for IVR, CRM, and fraud pipeline integration.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2127"/>
            <a:ext cx="63280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Research Questions &amp;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19473"/>
            <a:ext cx="22407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Research Questions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82688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RQ1: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Limitations of existing detection in call centers?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RQ2: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How to combine spectral and temporal analysis?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RQ3: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Which features best identify voice spoofing?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RQ4: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How to design for real-time detection?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RQ5: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How to ensure robustness against distortions and emerging techniques?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61947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1982688"/>
            <a:ext cx="3902943" cy="228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Review existing detection techniques and limitations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Examine spectral and temporal feature extraction methods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Design a unified spectral-temporal conceptual framework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 key components and processes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Evaluate real-time telephony support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Propose robustness strategies against evolving deepfakes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35384"/>
            <a:ext cx="5412135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Literature Review: Key Findings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925413"/>
            <a:ext cx="871760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Nine representative studies benchmarked — most achieve high accuracy on clean data but lack telephony robustness.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6393" y="1224335"/>
            <a:ext cx="8291215" cy="2813521"/>
          </a:xfrm>
          <a:prstGeom prst="roundRect">
            <a:avLst>
              <a:gd name="adj" fmla="val 389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1155" y="1229097"/>
            <a:ext cx="8281690" cy="316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53120" y="1296665"/>
            <a:ext cx="203314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77455" y="1296665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Approach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68117" y="1296665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24426" y="1296665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80734" y="1296665"/>
            <a:ext cx="186749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Limitation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1155" y="1545431"/>
            <a:ext cx="8281690" cy="49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53120" y="1612999"/>
            <a:ext cx="203314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Shahzad et al. [21]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77455" y="1612999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VGGish-LSTM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68117" y="1612999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ASVspoof 2019 LA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24426" y="1612999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99.11% Acc; EER 1.18%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80734" y="1612999"/>
            <a:ext cx="14102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dependency; overfitting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1155" y="2042964"/>
            <a:ext cx="8281690" cy="49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53120" y="2110532"/>
            <a:ext cx="203314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Verma et al. [22]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77455" y="2110532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SE-1D CNN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68117" y="2110532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ASVspoof 2019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24426" y="2110532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97.64% Acc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80734" y="2110532"/>
            <a:ext cx="14102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cost; limited accents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1155" y="2540496"/>
            <a:ext cx="8281690" cy="49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53120" y="2608064"/>
            <a:ext cx="203314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Kwak et al. [24]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77455" y="2608064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ResMax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68117" y="2608064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ASVspoof 2019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24426" y="2608064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EER 0.37% (PA)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80734" y="2608064"/>
            <a:ext cx="14102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CQT-only; no temporal modeling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1155" y="3038029"/>
            <a:ext cx="8281690" cy="49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53120" y="3105596"/>
            <a:ext cx="203314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Chugh et al. [26]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77455" y="3105596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VGG16/VGG19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68117" y="3105596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Audio-visual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24426" y="3105596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99.96% (STFT)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80734" y="3105596"/>
            <a:ext cx="14102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~138M params; no dropout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1155" y="3535561"/>
            <a:ext cx="8281690" cy="49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53120" y="3603129"/>
            <a:ext cx="203314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Malik &amp; Changalvala [29]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77455" y="3603129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 CNN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68117" y="3603129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248 images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24426" y="3603129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100% Acc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80734" y="3603129"/>
            <a:ext cx="14102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Tiny dataset; poor generalizability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6393" y="4155579"/>
            <a:ext cx="8291215" cy="652537"/>
          </a:xfrm>
          <a:prstGeom prst="roundRect">
            <a:avLst>
              <a:gd name="adj" fmla="val 16803"/>
            </a:avLst>
          </a:prstGeom>
          <a:solidFill>
            <a:srgbClr val="FCF2B5"/>
          </a:solidFill>
          <a:ln/>
        </p:spPr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08" y="4325020"/>
            <a:ext cx="152251" cy="121816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822275" y="4290640"/>
            <a:ext cx="777351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Research Gap:</a:t>
            </a:r>
            <a:r>
              <a:rPr lang="en-US" sz="9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No existing system combines spectral-temporal fusion, telephony robustness, real-time deployment, and continuous learning.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267072"/>
            <a:ext cx="450584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Proposed Conceptual Framework</a:t>
            </a:r>
            <a:endParaRPr lang="en-US" sz="1850" dirty="0"/>
          </a:p>
        </p:txBody>
      </p:sp>
      <p:pic>
        <p:nvPicPr>
          <p:cNvPr id="5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5875" y="1557545"/>
            <a:ext cx="6553200" cy="23266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5875" y="4621634"/>
            <a:ext cx="6572250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proposed conceptual framework for deepfake audio detection in call center environments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65373"/>
            <a:ext cx="4645968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Dual-Stream Analysis Engine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1407468"/>
            <a:ext cx="4970190" cy="2816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5071" y="943273"/>
            <a:ext cx="2549054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Spectral Stream — 2D-CNN + SE Attention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25071" y="1386260"/>
            <a:ext cx="2549054" cy="974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Processes log-mel spectrograms (128 bins) with four convolutional blocks and Squeeze-and-Excitation attention. Detects irregular harmonics, spectral smoothing, and vocoder artifacts. Outputs a </a:t>
            </a:r>
            <a:r>
              <a:rPr lang="en-US" sz="8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512-dimensional spectral embedding</a:t>
            </a: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25071" y="2450455"/>
            <a:ext cx="246980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Temporal Stream — BiLSTM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25071" y="2716932"/>
            <a:ext cx="2549054" cy="811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Two stacked BiLSTM layers (128 hidden units per direction) model long-range prosodic dependencies — rhythm, timing consistency, and articulation transitions. Outputs a </a:t>
            </a:r>
            <a:r>
              <a:rPr lang="en-US" sz="8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256-dimensional temporal embedding</a:t>
            </a: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25071" y="3618756"/>
            <a:ext cx="210249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Fusion &amp; Classification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25071" y="3885233"/>
            <a:ext cx="2549054" cy="811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Concatenated embeddings pass through a dense fusion layer (256 neurons, dropout 0.3) with softmax binary classification. Bayesian belief updating enables progressive multi-turn fraud alerting.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7147"/>
            <a:ext cx="73791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Implementation &amp; Experimental Setup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93652"/>
            <a:ext cx="4004965" cy="1270471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7354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Development Stack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041922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3.10+ · TensorFlow 2.15 / PyTorch 2.1 · Librosa · FFmpeg · ONNX Runtime · FastAPI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593652"/>
            <a:ext cx="4005039" cy="1270471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17354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Datasets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2041922"/>
            <a:ext cx="37215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ASVspoof 2019 (LA &amp; PA) + ASVspoof 2021. Telephony degradation: G.711/G.729/Opus codecs, MUSAN noise at 5–20 dB SNR, 1–10% packet loss.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005882"/>
            <a:ext cx="4004965" cy="1270471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637877" y="31476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Training Config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877" y="3454152"/>
            <a:ext cx="37214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AdamW optimizer · Focal Loss (γ=2.0) · Cosine annealing · 5-fold cross-validation · Up to 50 epochs with early stopping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3005882"/>
            <a:ext cx="4005039" cy="1270471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13" name="Text 11"/>
          <p:cNvSpPr/>
          <p:nvPr/>
        </p:nvSpPr>
        <p:spPr>
          <a:xfrm>
            <a:off x="4784601" y="31476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Metrics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4601" y="3454152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Accuracy, Precision, Recall, F1-Score, EER, t-DCF, Processing Latency (target &lt;100 ms), Model Footprint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52127"/>
            <a:ext cx="432933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Comparative Evaluation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971550"/>
            <a:ext cx="870212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Multi-dimensional comparison across 12 criteria vs. nine benchmarked systems. Scale: ✓✓ Strong · ✓ Moderate · ✗ Weak/Absent.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41871" y="1289000"/>
            <a:ext cx="8260259" cy="3502372"/>
          </a:xfrm>
          <a:prstGeom prst="roundRect">
            <a:avLst>
              <a:gd name="adj" fmla="val 324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6633" y="1293763"/>
            <a:ext cx="8250734" cy="3353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3063" y="1365945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Criterion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85629" y="1365945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Proposed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70710" y="1365945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Shahzad [21]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5791" y="1365945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Kwak [24]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40873" y="1365945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Chugh [26]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6633" y="1629073"/>
            <a:ext cx="8250734" cy="5262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73063" y="1701254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Spectral-Temporal Fusion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5629" y="1701254"/>
            <a:ext cx="122790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Dual-stream CNN-LSTM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70710" y="1701254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VGGish-LSTM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55791" y="1701254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CQT only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40873" y="1701254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Spectrogram only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6633" y="2155329"/>
            <a:ext cx="8250734" cy="5262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73063" y="2227511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Telephony Preprocessing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85629" y="2227511"/>
            <a:ext cx="122790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Codec + packet loss + noise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70710" y="2227511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Clean audio only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55791" y="2227511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Clean audio only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40873" y="2227511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Clean audio only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6633" y="2681585"/>
            <a:ext cx="8250734" cy="5262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73063" y="2753767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Latency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885629" y="2753767"/>
            <a:ext cx="122790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Target &lt;100 ms, INT8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70710" y="2753767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Offline only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55791" y="2753767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286K params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40873" y="2753767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~138M params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6633" y="3207841"/>
            <a:ext cx="8250734" cy="5262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73063" y="3280023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Progressive Scoring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885629" y="3280023"/>
            <a:ext cx="122790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Bayesian belief update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70710" y="3280023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Frame-level only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55791" y="3280023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Frame-level only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340873" y="3280023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Frame-level only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6633" y="3734098"/>
            <a:ext cx="8250734" cy="5262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73063" y="3806279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Deployment Architecture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85629" y="3806279"/>
            <a:ext cx="122790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FastAPI + SIP/PBX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70710" y="3806279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Lab prototype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55791" y="3806279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 Edge-suitable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40873" y="3806279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Lab prototype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6633" y="4260354"/>
            <a:ext cx="8250734" cy="5262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73063" y="4332536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Continuous Learning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885629" y="4332536"/>
            <a:ext cx="122790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 Incremental fine-tuning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370710" y="4332536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Static model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855791" y="4332536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Static model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40873" y="4332536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Static model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871" y="404440"/>
            <a:ext cx="4848820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Conclusions &amp; Future Work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870871" y="967606"/>
            <a:ext cx="4831259" cy="1118518"/>
          </a:xfrm>
          <a:prstGeom prst="roundRect">
            <a:avLst>
              <a:gd name="adj" fmla="val 6131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56583" y="967606"/>
            <a:ext cx="57150" cy="1118518"/>
          </a:xfrm>
          <a:prstGeom prst="roundRect">
            <a:avLst>
              <a:gd name="adj" fmla="val 198837"/>
            </a:avLst>
          </a:prstGeom>
          <a:solidFill>
            <a:srgbClr val="438951"/>
          </a:solidFill>
          <a:ln/>
        </p:spPr>
      </p:sp>
      <p:sp>
        <p:nvSpPr>
          <p:cNvPr id="6" name="Text 3"/>
          <p:cNvSpPr/>
          <p:nvPr/>
        </p:nvSpPr>
        <p:spPr>
          <a:xfrm>
            <a:off x="4054227" y="1108100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Contributions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54227" y="1372791"/>
            <a:ext cx="450740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Six-module call-center framework · Hybrid spectral-temporal features · CNN + BiLSTM dual-stream · Adaptive Bayesian fusion · Telecom robustness · Sub-100 ms deployment-ready architecture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70871" y="2198563"/>
            <a:ext cx="4831259" cy="1118518"/>
          </a:xfrm>
          <a:prstGeom prst="roundRect">
            <a:avLst>
              <a:gd name="adj" fmla="val 6131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56583" y="2198563"/>
            <a:ext cx="57150" cy="1118518"/>
          </a:xfrm>
          <a:prstGeom prst="roundRect">
            <a:avLst>
              <a:gd name="adj" fmla="val 198837"/>
            </a:avLst>
          </a:prstGeom>
          <a:solidFill>
            <a:srgbClr val="438951"/>
          </a:solidFill>
          <a:ln/>
        </p:spPr>
      </p:sp>
      <p:sp>
        <p:nvSpPr>
          <p:cNvPr id="10" name="Text 7"/>
          <p:cNvSpPr/>
          <p:nvPr/>
        </p:nvSpPr>
        <p:spPr>
          <a:xfrm>
            <a:off x="4054227" y="2339057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54227" y="2603748"/>
            <a:ext cx="450740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Conceptual design — not yet empirically validated · ASVspoof datasets may not reflect full call-center diversity · Audio-only (no multimodal biometrics) · Requires continuous updates as deepfake techniques evolve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70871" y="3429521"/>
            <a:ext cx="4831259" cy="1309464"/>
          </a:xfrm>
          <a:prstGeom prst="roundRect">
            <a:avLst>
              <a:gd name="adj" fmla="val 5237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56583" y="3429521"/>
            <a:ext cx="57150" cy="1309464"/>
          </a:xfrm>
          <a:prstGeom prst="roundRect">
            <a:avLst>
              <a:gd name="adj" fmla="val 198837"/>
            </a:avLst>
          </a:prstGeom>
          <a:solidFill>
            <a:srgbClr val="438951"/>
          </a:solidFill>
          <a:ln/>
        </p:spPr>
      </p:sp>
      <p:sp>
        <p:nvSpPr>
          <p:cNvPr id="14" name="Text 11"/>
          <p:cNvSpPr/>
          <p:nvPr/>
        </p:nvSpPr>
        <p:spPr>
          <a:xfrm>
            <a:off x="4054227" y="357001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Future Directions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54227" y="3834705"/>
            <a:ext cx="4507409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 implementation and real call-center deployment · Integrate Wav2Vec 2.0, HuBERT, WavLM · Multilingual and multi-accent testing · Explainable AI (SHAP/LIME) · Adversarial robustness evaluation · Privacy and regulatory compliance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12</TotalTime>
  <Words>950</Words>
  <Application>Microsoft Office PowerPoint</Application>
  <PresentationFormat>On-screen Show (16:9)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Fraunces ExtraBold</vt:lpstr>
      <vt:lpstr>Calibri</vt:lpstr>
      <vt:lpstr>Nobile</vt:lpstr>
      <vt:lpstr>Arial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Md. Shakil Hossain</cp:lastModifiedBy>
  <cp:revision>4</cp:revision>
  <dcterms:created xsi:type="dcterms:W3CDTF">2026-05-27T13:54:44Z</dcterms:created>
  <dcterms:modified xsi:type="dcterms:W3CDTF">2026-05-27T14:31:04Z</dcterms:modified>
</cp:coreProperties>
</file>