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61" r:id="rId4"/>
    <p:sldId id="260" r:id="rId5"/>
    <p:sldId id="258" r:id="rId6"/>
    <p:sldId id="272" r:id="rId7"/>
    <p:sldId id="264" r:id="rId8"/>
    <p:sldId id="259" r:id="rId9"/>
    <p:sldId id="263" r:id="rId10"/>
    <p:sldId id="271" r:id="rId11"/>
    <p:sldId id="273" r:id="rId12"/>
    <p:sldId id="274" r:id="rId13"/>
    <p:sldId id="269" r:id="rId14"/>
    <p:sldId id="267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691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2719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936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5009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0598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1195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1595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" name="Shape 2"/>
          <p:cNvSpPr/>
          <p:nvPr/>
        </p:nvSpPr>
        <p:spPr>
          <a:xfrm>
            <a:off x="6583680" y="-457200"/>
            <a:ext cx="3200400" cy="3200400"/>
          </a:xfrm>
          <a:prstGeom prst="ellipse">
            <a:avLst/>
          </a:prstGeom>
          <a:solidFill>
            <a:srgbClr val="1565C0">
              <a:alpha val="20000"/>
            </a:srgbClr>
          </a:solidFill>
          <a:ln w="12700">
            <a:solidFill>
              <a:srgbClr val="1565C0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0" y="2286000"/>
            <a:ext cx="2286000" cy="2286000"/>
          </a:xfrm>
          <a:prstGeom prst="ellipse">
            <a:avLst/>
          </a:prstGeom>
          <a:solidFill>
            <a:srgbClr val="00BCD4">
              <a:alpha val="15000"/>
            </a:srgbClr>
          </a:solidFill>
          <a:ln w="12700">
            <a:solidFill>
              <a:srgbClr val="00BCD4">
                <a:alpha val="1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14369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 Audio Detection in Call Centers</a:t>
            </a:r>
          </a:p>
        </p:txBody>
      </p:sp>
      <p:sp>
        <p:nvSpPr>
          <p:cNvPr id="9" name="Text 7"/>
          <p:cNvSpPr/>
          <p:nvPr/>
        </p:nvSpPr>
        <p:spPr>
          <a:xfrm>
            <a:off x="411479" y="1864239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Framework Using Spectral and Temporal Analysis</a:t>
            </a:r>
          </a:p>
        </p:txBody>
      </p:sp>
      <p:sp>
        <p:nvSpPr>
          <p:cNvPr id="11" name="Shape 9"/>
          <p:cNvSpPr/>
          <p:nvPr/>
        </p:nvSpPr>
        <p:spPr>
          <a:xfrm>
            <a:off x="411479" y="2743199"/>
            <a:ext cx="4875135" cy="54865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2880359"/>
            <a:ext cx="3474720" cy="10487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Muaz Abdullahi </a:t>
            </a:r>
          </a:p>
          <a:p>
            <a:pPr marL="0" indent="0">
              <a:buNone/>
            </a:pPr>
            <a:r>
              <a:rPr lang="en-US" sz="1300" dirty="0" err="1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Bilaminu</a:t>
            </a: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Ishola</a:t>
            </a: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Hamzah </a:t>
            </a:r>
            <a:r>
              <a:rPr lang="en-US" sz="1300" dirty="0" err="1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Elnour</a:t>
            </a: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Md. Shakil Hossain 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Ajmal Hamidi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" y="404164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Dr. </a:t>
            </a:r>
            <a:r>
              <a:rPr lang="en-US" sz="1200" i="1" dirty="0" err="1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Mahfoudh</a:t>
            </a:r>
            <a:r>
              <a:rPr lang="en-US" sz="12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Saeed Ali Mohammed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9728" y="4892040"/>
            <a:ext cx="9034272" cy="251460"/>
          </a:xfrm>
          <a:prstGeom prst="rect">
            <a:avLst/>
          </a:prstGeom>
          <a:solidFill>
            <a:srgbClr val="1565C0">
              <a:alpha val="6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</a:rPr>
              <a:t>Master of Science in Information Technology | College of Computer  | Qassim University |  Kingdom of Saudi Arabia</a:t>
            </a:r>
            <a:endParaRPr lang="en-US" sz="900" dirty="0"/>
          </a:p>
        </p:txBody>
      </p:sp>
      <p:sp>
        <p:nvSpPr>
          <p:cNvPr id="16" name="Freeform 6">
            <a:extLst>
              <a:ext uri="{FF2B5EF4-FFF2-40B4-BE49-F238E27FC236}">
                <a16:creationId xmlns:a16="http://schemas.microsoft.com/office/drawing/2014/main" id="{D66C2221-D5AD-416E-9FD0-029004DA3CBB}"/>
              </a:ext>
            </a:extLst>
          </p:cNvPr>
          <p:cNvSpPr/>
          <p:nvPr/>
        </p:nvSpPr>
        <p:spPr>
          <a:xfrm>
            <a:off x="6767556" y="80021"/>
            <a:ext cx="2286000" cy="849748"/>
          </a:xfrm>
          <a:custGeom>
            <a:avLst/>
            <a:gdLst/>
            <a:ahLst/>
            <a:cxnLst/>
            <a:rect l="l" t="t" r="r" b="b"/>
            <a:pathLst>
              <a:path w="4029963" h="1191339">
                <a:moveTo>
                  <a:pt x="0" y="0"/>
                </a:moveTo>
                <a:lnTo>
                  <a:pt x="4029963" y="0"/>
                </a:lnTo>
                <a:lnTo>
                  <a:pt x="4029963" y="1191339"/>
                </a:lnTo>
                <a:lnTo>
                  <a:pt x="0" y="11913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5368"/>
            <a:ext cx="9144000" cy="7772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30986"/>
            <a:ext cx="841248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30986"/>
            <a:ext cx="594360" cy="69494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30986"/>
            <a:ext cx="594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01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60120" y="1149858"/>
            <a:ext cx="45720" cy="4572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1113282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 Statement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97280" y="1405890"/>
            <a:ext cx="7498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Background, motivation, objectives, and research questions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835658"/>
            <a:ext cx="841248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835658"/>
            <a:ext cx="594360" cy="694944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1835658"/>
            <a:ext cx="594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02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960120" y="1954530"/>
            <a:ext cx="45720" cy="4572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1917954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97280" y="2210562"/>
            <a:ext cx="7498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forecasting methods, ML approaches, and BI frameworks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640330"/>
            <a:ext cx="841248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640330"/>
            <a:ext cx="594360" cy="69494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2640330"/>
            <a:ext cx="594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03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960120" y="2759202"/>
            <a:ext cx="45720" cy="4572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1097280" y="2722626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097280" y="3015234"/>
            <a:ext cx="7498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pipeline, star schema data warehouse, feature engineering &amp; ML models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445002"/>
            <a:ext cx="841248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445002"/>
            <a:ext cx="594360" cy="694944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3445002"/>
            <a:ext cx="594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04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960120" y="3563874"/>
            <a:ext cx="45720" cy="45720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27" name="Text 25"/>
          <p:cNvSpPr/>
          <p:nvPr/>
        </p:nvSpPr>
        <p:spPr>
          <a:xfrm>
            <a:off x="1097280" y="3527298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&amp; Experimental Setup</a:t>
            </a:r>
          </a:p>
        </p:txBody>
      </p:sp>
      <p:sp>
        <p:nvSpPr>
          <p:cNvPr id="28" name="Text 26"/>
          <p:cNvSpPr/>
          <p:nvPr/>
        </p:nvSpPr>
        <p:spPr>
          <a:xfrm>
            <a:off x="1097280" y="3819906"/>
            <a:ext cx="7498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— Linear Regression, Random Forest &amp; XGBoost comparison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4249674"/>
            <a:ext cx="841248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4249674"/>
            <a:ext cx="594360" cy="694944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4249674"/>
            <a:ext cx="594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05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960120" y="4368546"/>
            <a:ext cx="45720" cy="4572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3" name="Text 31"/>
          <p:cNvSpPr/>
          <p:nvPr/>
        </p:nvSpPr>
        <p:spPr>
          <a:xfrm>
            <a:off x="1097280" y="433197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1097280" y="4624578"/>
            <a:ext cx="7498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findings, study limitations, and recommended next steps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Deepfake Audio Threat</a:t>
            </a:r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29" name="Shape 27"/>
          <p:cNvSpPr/>
          <p:nvPr/>
        </p:nvSpPr>
        <p:spPr>
          <a:xfrm>
            <a:off x="274320" y="1801368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1801368"/>
            <a:ext cx="3931920" cy="36576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274320" y="26060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Model Evaluation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57200" y="2212848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02040"/>
                </a:solidFill>
              </a:rPr>
              <a:t>Generates artificial speech from text using models like </a:t>
            </a:r>
            <a:r>
              <a:rPr lang="en-US" sz="1100" dirty="0" err="1">
                <a:solidFill>
                  <a:srgbClr val="102040"/>
                </a:solidFill>
              </a:rPr>
              <a:t>Tacotron</a:t>
            </a:r>
            <a:r>
              <a:rPr lang="en-US" sz="1100" dirty="0">
                <a:solidFill>
                  <a:srgbClr val="102040"/>
                </a:solidFill>
              </a:rPr>
              <a:t> + </a:t>
            </a:r>
            <a:r>
              <a:rPr lang="en-US" sz="1100" dirty="0" err="1">
                <a:solidFill>
                  <a:srgbClr val="102040"/>
                </a:solidFill>
              </a:rPr>
              <a:t>WaveNet</a:t>
            </a:r>
            <a:r>
              <a:rPr lang="en-US" sz="1100" dirty="0">
                <a:solidFill>
                  <a:srgbClr val="102040"/>
                </a:solidFill>
              </a:rPr>
              <a:t>, mimicking target voices without the attacker speaking.</a:t>
            </a:r>
          </a:p>
        </p:txBody>
      </p:sp>
      <p:sp>
        <p:nvSpPr>
          <p:cNvPr id="33" name="Shape 31"/>
          <p:cNvSpPr/>
          <p:nvPr/>
        </p:nvSpPr>
        <p:spPr>
          <a:xfrm>
            <a:off x="4663440" y="1801368"/>
            <a:ext cx="41148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63440" y="1801368"/>
            <a:ext cx="4114800" cy="36576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5" name="Text 33"/>
          <p:cNvSpPr/>
          <p:nvPr/>
        </p:nvSpPr>
        <p:spPr>
          <a:xfrm>
            <a:off x="4663440" y="18013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Voice Conversion (VC)</a:t>
            </a:r>
          </a:p>
        </p:txBody>
      </p:sp>
      <p:sp>
        <p:nvSpPr>
          <p:cNvPr id="36" name="Text 34"/>
          <p:cNvSpPr/>
          <p:nvPr/>
        </p:nvSpPr>
        <p:spPr>
          <a:xfrm>
            <a:off x="4846320" y="2212848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02040"/>
                </a:solidFill>
              </a:rPr>
              <a:t>Transforms an attacker's live speech to sound like a target speaker while preserving linguistic content — dangerous in real-time calls.</a:t>
            </a:r>
          </a:p>
        </p:txBody>
      </p:sp>
      <p:sp>
        <p:nvSpPr>
          <p:cNvPr id="38" name="Text 36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65C0"/>
                </a:solidFill>
              </a:rPr>
              <a:t>🛠  Tools &amp; Technologies</a:t>
            </a:r>
            <a:endParaRPr lang="en-US" sz="1400" dirty="0"/>
          </a:p>
        </p:txBody>
      </p:sp>
      <p:sp>
        <p:nvSpPr>
          <p:cNvPr id="40" name="Shape 31">
            <a:extLst>
              <a:ext uri="{FF2B5EF4-FFF2-40B4-BE49-F238E27FC236}">
                <a16:creationId xmlns:a16="http://schemas.microsoft.com/office/drawing/2014/main" id="{B195BC3B-52D0-4F9E-989B-5DDAEA914A01}"/>
              </a:ext>
            </a:extLst>
          </p:cNvPr>
          <p:cNvSpPr/>
          <p:nvPr/>
        </p:nvSpPr>
        <p:spPr>
          <a:xfrm>
            <a:off x="182880" y="914400"/>
            <a:ext cx="8778240" cy="59436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41" name="Text 32">
            <a:extLst>
              <a:ext uri="{FF2B5EF4-FFF2-40B4-BE49-F238E27FC236}">
                <a16:creationId xmlns:a16="http://schemas.microsoft.com/office/drawing/2014/main" id="{D64325B4-90D8-49C4-A2FB-36D8B2FFBC11}"/>
              </a:ext>
            </a:extLst>
          </p:cNvPr>
          <p:cNvSpPr/>
          <p:nvPr/>
        </p:nvSpPr>
        <p:spPr>
          <a:xfrm>
            <a:off x="320040" y="91440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02040"/>
                </a:solidFill>
              </a:rPr>
              <a:t>Generative AI now produces highly realistic synthetic speech, exposing voice authentication in call centers to three attack types:</a:t>
            </a:r>
          </a:p>
        </p:txBody>
      </p:sp>
      <p:sp>
        <p:nvSpPr>
          <p:cNvPr id="42" name="Text 33">
            <a:extLst>
              <a:ext uri="{FF2B5EF4-FFF2-40B4-BE49-F238E27FC236}">
                <a16:creationId xmlns:a16="http://schemas.microsoft.com/office/drawing/2014/main" id="{BE98A18C-1635-4B27-8164-C2AA8287294E}"/>
              </a:ext>
            </a:extLst>
          </p:cNvPr>
          <p:cNvSpPr/>
          <p:nvPr/>
        </p:nvSpPr>
        <p:spPr>
          <a:xfrm>
            <a:off x="292608" y="1807464"/>
            <a:ext cx="3913632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Text-to-Speech (TTS)</a:t>
            </a:r>
          </a:p>
        </p:txBody>
      </p:sp>
      <p:sp>
        <p:nvSpPr>
          <p:cNvPr id="43" name="Shape 24">
            <a:extLst>
              <a:ext uri="{FF2B5EF4-FFF2-40B4-BE49-F238E27FC236}">
                <a16:creationId xmlns:a16="http://schemas.microsoft.com/office/drawing/2014/main" id="{297B4BF9-507D-4995-A084-C5228EAD52B0}"/>
              </a:ext>
            </a:extLst>
          </p:cNvPr>
          <p:cNvSpPr/>
          <p:nvPr/>
        </p:nvSpPr>
        <p:spPr>
          <a:xfrm>
            <a:off x="2491740" y="3566160"/>
            <a:ext cx="4160520" cy="133273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" name="Shape 25">
            <a:extLst>
              <a:ext uri="{FF2B5EF4-FFF2-40B4-BE49-F238E27FC236}">
                <a16:creationId xmlns:a16="http://schemas.microsoft.com/office/drawing/2014/main" id="{D354F9AB-68CC-4EC1-B952-6F7A3988DBD7}"/>
              </a:ext>
            </a:extLst>
          </p:cNvPr>
          <p:cNvSpPr/>
          <p:nvPr/>
        </p:nvSpPr>
        <p:spPr>
          <a:xfrm>
            <a:off x="2491740" y="3566160"/>
            <a:ext cx="4160520" cy="347472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5" name="Text 26">
            <a:extLst>
              <a:ext uri="{FF2B5EF4-FFF2-40B4-BE49-F238E27FC236}">
                <a16:creationId xmlns:a16="http://schemas.microsoft.com/office/drawing/2014/main" id="{8CEDCA04-3145-41AE-9DDF-96CC174074F3}"/>
              </a:ext>
            </a:extLst>
          </p:cNvPr>
          <p:cNvSpPr/>
          <p:nvPr/>
        </p:nvSpPr>
        <p:spPr>
          <a:xfrm>
            <a:off x="2491740" y="356616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Replay Attacks</a:t>
            </a:r>
          </a:p>
        </p:txBody>
      </p:sp>
      <p:sp>
        <p:nvSpPr>
          <p:cNvPr id="46" name="Text 6">
            <a:extLst>
              <a:ext uri="{FF2B5EF4-FFF2-40B4-BE49-F238E27FC236}">
                <a16:creationId xmlns:a16="http://schemas.microsoft.com/office/drawing/2014/main" id="{3E4F2D09-19E4-442A-B768-8C9A1B30F54B}"/>
              </a:ext>
            </a:extLst>
          </p:cNvPr>
          <p:cNvSpPr/>
          <p:nvPr/>
        </p:nvSpPr>
        <p:spPr>
          <a:xfrm>
            <a:off x="2628900" y="4227576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SzPct val="100000"/>
            </a:pPr>
            <a:r>
              <a:rPr lang="en-US" sz="1100" dirty="0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Replays pre-recorded genuine speech to bypass authentication; may include channel distortions from recording and playback.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60120"/>
            <a:ext cx="416052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4160520" cy="34747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96012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Generalization Deficit</a:t>
            </a:r>
          </a:p>
        </p:txBody>
      </p:sp>
      <p:sp>
        <p:nvSpPr>
          <p:cNvPr id="8" name="Text 6"/>
          <p:cNvSpPr/>
          <p:nvPr/>
        </p:nvSpPr>
        <p:spPr>
          <a:xfrm>
            <a:off x="411480" y="1598168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SzPct val="100000"/>
            </a:pPr>
            <a:r>
              <a:rPr lang="en-US" sz="1100" dirty="0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degrades on unseen synthesis techniques and telephony distortions.</a:t>
            </a:r>
          </a:p>
        </p:txBody>
      </p:sp>
      <p:sp>
        <p:nvSpPr>
          <p:cNvPr id="12" name="Shape 10"/>
          <p:cNvSpPr/>
          <p:nvPr/>
        </p:nvSpPr>
        <p:spPr>
          <a:xfrm>
            <a:off x="4754880" y="960120"/>
            <a:ext cx="416052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960120"/>
            <a:ext cx="4160520" cy="347472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96012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Real-Time Constraints</a:t>
            </a:r>
          </a:p>
        </p:txBody>
      </p:sp>
      <p:sp>
        <p:nvSpPr>
          <p:cNvPr id="19" name="Shape 17"/>
          <p:cNvSpPr/>
          <p:nvPr/>
        </p:nvSpPr>
        <p:spPr>
          <a:xfrm>
            <a:off x="274320" y="2953512"/>
            <a:ext cx="4160520" cy="133273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953512"/>
            <a:ext cx="4160520" cy="347472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2953512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Environmental Robustness</a:t>
            </a:r>
          </a:p>
        </p:txBody>
      </p:sp>
      <p:sp>
        <p:nvSpPr>
          <p:cNvPr id="26" name="Shape 24"/>
          <p:cNvSpPr/>
          <p:nvPr/>
        </p:nvSpPr>
        <p:spPr>
          <a:xfrm>
            <a:off x="4754880" y="2953512"/>
            <a:ext cx="4160520" cy="133273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2953512"/>
            <a:ext cx="4160520" cy="347472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0" y="2953512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Integration Complexity</a:t>
            </a:r>
          </a:p>
        </p:txBody>
      </p:sp>
      <p:sp>
        <p:nvSpPr>
          <p:cNvPr id="33" name="Text 6">
            <a:extLst>
              <a:ext uri="{FF2B5EF4-FFF2-40B4-BE49-F238E27FC236}">
                <a16:creationId xmlns:a16="http://schemas.microsoft.com/office/drawing/2014/main" id="{B7FB25AD-666F-4C59-BCCF-2ED7AD6AD39B}"/>
              </a:ext>
            </a:extLst>
          </p:cNvPr>
          <p:cNvSpPr/>
          <p:nvPr/>
        </p:nvSpPr>
        <p:spPr>
          <a:xfrm>
            <a:off x="4892040" y="1604010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SzPct val="100000"/>
            </a:pPr>
            <a:r>
              <a:rPr lang="en-US" sz="1100" dirty="0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High-accuracy models fail to meet strict latency requirements for live call authentication.</a:t>
            </a:r>
          </a:p>
        </p:txBody>
      </p:sp>
      <p:sp>
        <p:nvSpPr>
          <p:cNvPr id="34" name="Text 6">
            <a:extLst>
              <a:ext uri="{FF2B5EF4-FFF2-40B4-BE49-F238E27FC236}">
                <a16:creationId xmlns:a16="http://schemas.microsoft.com/office/drawing/2014/main" id="{55F450D3-CB3A-41B8-9E65-FA5CC1484BE9}"/>
              </a:ext>
            </a:extLst>
          </p:cNvPr>
          <p:cNvSpPr/>
          <p:nvPr/>
        </p:nvSpPr>
        <p:spPr>
          <a:xfrm>
            <a:off x="411480" y="3611118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SzPct val="100000"/>
            </a:pPr>
            <a:r>
              <a:rPr lang="en-US" sz="1100" dirty="0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 compression, packet loss, and background noise obscure synthetic speech artifacts.</a:t>
            </a:r>
          </a:p>
        </p:txBody>
      </p:sp>
      <p:sp>
        <p:nvSpPr>
          <p:cNvPr id="35" name="Text 6">
            <a:extLst>
              <a:ext uri="{FF2B5EF4-FFF2-40B4-BE49-F238E27FC236}">
                <a16:creationId xmlns:a16="http://schemas.microsoft.com/office/drawing/2014/main" id="{9CAFE194-BD8F-447A-9629-B3A218016645}"/>
              </a:ext>
            </a:extLst>
          </p:cNvPr>
          <p:cNvSpPr/>
          <p:nvPr/>
        </p:nvSpPr>
        <p:spPr>
          <a:xfrm>
            <a:off x="4892040" y="3614928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SzPct val="100000"/>
            </a:pPr>
            <a:r>
              <a:rPr lang="en-US" sz="1100" dirty="0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systems lack APIs or microservices for IVR, CRM, and fraud pipeline integration.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 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5" name="Shape 3"/>
          <p:cNvSpPr/>
          <p:nvPr/>
        </p:nvSpPr>
        <p:spPr>
          <a:xfrm>
            <a:off x="2724912" y="1005840"/>
            <a:ext cx="402336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24912" y="1005840"/>
            <a:ext cx="4023360" cy="3657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2724912" y="10058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Research Questions</a:t>
            </a:r>
          </a:p>
        </p:txBody>
      </p:sp>
      <p:sp>
        <p:nvSpPr>
          <p:cNvPr id="8" name="Shape 6"/>
          <p:cNvSpPr/>
          <p:nvPr/>
        </p:nvSpPr>
        <p:spPr>
          <a:xfrm>
            <a:off x="2862072" y="1646688"/>
            <a:ext cx="201168" cy="201168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2862072" y="16466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136392" y="150876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RQ1: Limitations of existing detection in call centers?</a:t>
            </a:r>
          </a:p>
        </p:txBody>
      </p:sp>
      <p:sp>
        <p:nvSpPr>
          <p:cNvPr id="11" name="Shape 9"/>
          <p:cNvSpPr/>
          <p:nvPr/>
        </p:nvSpPr>
        <p:spPr>
          <a:xfrm>
            <a:off x="2862072" y="2222760"/>
            <a:ext cx="201168" cy="201168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2862072" y="22227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136392" y="2084832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RQ2: How to combine spectral and temporal analysis?</a:t>
            </a:r>
          </a:p>
        </p:txBody>
      </p:sp>
      <p:sp>
        <p:nvSpPr>
          <p:cNvPr id="14" name="Shape 12"/>
          <p:cNvSpPr/>
          <p:nvPr/>
        </p:nvSpPr>
        <p:spPr>
          <a:xfrm>
            <a:off x="2862072" y="2798832"/>
            <a:ext cx="201168" cy="201168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2862072" y="27988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136392" y="2660904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RQ3: Which features best identify voice spoofing?</a:t>
            </a:r>
          </a:p>
        </p:txBody>
      </p:sp>
      <p:sp>
        <p:nvSpPr>
          <p:cNvPr id="17" name="Shape 15"/>
          <p:cNvSpPr/>
          <p:nvPr/>
        </p:nvSpPr>
        <p:spPr>
          <a:xfrm>
            <a:off x="2862072" y="3374904"/>
            <a:ext cx="201168" cy="201168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2862072" y="33749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136392" y="3236976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RQ4: How to design for real-time detection?</a:t>
            </a:r>
          </a:p>
        </p:txBody>
      </p:sp>
      <p:sp>
        <p:nvSpPr>
          <p:cNvPr id="20" name="Shape 18"/>
          <p:cNvSpPr/>
          <p:nvPr/>
        </p:nvSpPr>
        <p:spPr>
          <a:xfrm>
            <a:off x="2862072" y="3950976"/>
            <a:ext cx="201168" cy="201168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2862072" y="39509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136392" y="381304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RQ5: How to ensure robustness against distortions and emerging techniques?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restige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5" name="Shape 3"/>
          <p:cNvSpPr/>
          <p:nvPr/>
        </p:nvSpPr>
        <p:spPr>
          <a:xfrm>
            <a:off x="2724912" y="1005840"/>
            <a:ext cx="4023360" cy="381609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24912" y="1005840"/>
            <a:ext cx="4023360" cy="3657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2724912" y="10058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Objectives</a:t>
            </a:r>
          </a:p>
        </p:txBody>
      </p:sp>
      <p:sp>
        <p:nvSpPr>
          <p:cNvPr id="8" name="Shape 6"/>
          <p:cNvSpPr/>
          <p:nvPr/>
        </p:nvSpPr>
        <p:spPr>
          <a:xfrm>
            <a:off x="2862072" y="1646688"/>
            <a:ext cx="201168" cy="201168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2862072" y="16466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136392" y="150876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existing detection techniques and limitations</a:t>
            </a:r>
          </a:p>
        </p:txBody>
      </p:sp>
      <p:sp>
        <p:nvSpPr>
          <p:cNvPr id="11" name="Shape 9"/>
          <p:cNvSpPr/>
          <p:nvPr/>
        </p:nvSpPr>
        <p:spPr>
          <a:xfrm>
            <a:off x="2862072" y="2222760"/>
            <a:ext cx="201168" cy="201168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2862072" y="22227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136392" y="2084832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 spectral and temporal feature extraction methods</a:t>
            </a:r>
          </a:p>
        </p:txBody>
      </p:sp>
      <p:sp>
        <p:nvSpPr>
          <p:cNvPr id="14" name="Shape 12"/>
          <p:cNvSpPr/>
          <p:nvPr/>
        </p:nvSpPr>
        <p:spPr>
          <a:xfrm>
            <a:off x="2862072" y="2798832"/>
            <a:ext cx="201168" cy="201168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2862072" y="27988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136392" y="2660904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unified spectral-temporal conceptual framework</a:t>
            </a:r>
          </a:p>
        </p:txBody>
      </p:sp>
      <p:sp>
        <p:nvSpPr>
          <p:cNvPr id="17" name="Shape 15"/>
          <p:cNvSpPr/>
          <p:nvPr/>
        </p:nvSpPr>
        <p:spPr>
          <a:xfrm>
            <a:off x="2862072" y="3374904"/>
            <a:ext cx="201168" cy="201168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2862072" y="33749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136392" y="3236976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key components and processes</a:t>
            </a:r>
          </a:p>
        </p:txBody>
      </p:sp>
      <p:sp>
        <p:nvSpPr>
          <p:cNvPr id="20" name="Shape 18"/>
          <p:cNvSpPr/>
          <p:nvPr/>
        </p:nvSpPr>
        <p:spPr>
          <a:xfrm>
            <a:off x="2862072" y="3950976"/>
            <a:ext cx="201168" cy="201168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2862072" y="39509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136392" y="381304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real-time telephony support</a:t>
            </a:r>
          </a:p>
        </p:txBody>
      </p:sp>
      <p:sp>
        <p:nvSpPr>
          <p:cNvPr id="23" name="Shape 18">
            <a:extLst>
              <a:ext uri="{FF2B5EF4-FFF2-40B4-BE49-F238E27FC236}">
                <a16:creationId xmlns:a16="http://schemas.microsoft.com/office/drawing/2014/main" id="{E9D07451-9C89-4859-9554-FB77B9AF9AB0}"/>
              </a:ext>
            </a:extLst>
          </p:cNvPr>
          <p:cNvSpPr/>
          <p:nvPr/>
        </p:nvSpPr>
        <p:spPr>
          <a:xfrm>
            <a:off x="2851912" y="4418336"/>
            <a:ext cx="201168" cy="201168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92ABCF63-7C06-4BF0-8FC5-8E10DB55C4EC}"/>
              </a:ext>
            </a:extLst>
          </p:cNvPr>
          <p:cNvSpPr/>
          <p:nvPr/>
        </p:nvSpPr>
        <p:spPr>
          <a:xfrm>
            <a:off x="3126232" y="428040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 robustness strategies against evolving deepfakes</a:t>
            </a:r>
          </a:p>
        </p:txBody>
      </p:sp>
      <p:sp>
        <p:nvSpPr>
          <p:cNvPr id="25" name="Text 19">
            <a:extLst>
              <a:ext uri="{FF2B5EF4-FFF2-40B4-BE49-F238E27FC236}">
                <a16:creationId xmlns:a16="http://schemas.microsoft.com/office/drawing/2014/main" id="{3F37B6D5-4BC4-499F-BF62-83ED3C47C5F0}"/>
              </a:ext>
            </a:extLst>
          </p:cNvPr>
          <p:cNvSpPr/>
          <p:nvPr/>
        </p:nvSpPr>
        <p:spPr>
          <a:xfrm>
            <a:off x="2848737" y="441960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6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56665212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Review: Key Findings</a:t>
            </a:r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0897B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9111236"/>
              </p:ext>
            </p:extLst>
          </p:nvPr>
        </p:nvGraphicFramePr>
        <p:xfrm>
          <a:off x="274320" y="960120"/>
          <a:ext cx="8595360" cy="25146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08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60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909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Study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Sales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7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Limitation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39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Shahzad et al. [21]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 err="1">
                          <a:solidFill>
                            <a:srgbClr val="102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VGGish</a:t>
                      </a:r>
                      <a:r>
                        <a:rPr lang="en-US" sz="1200" dirty="0">
                          <a:solidFill>
                            <a:srgbClr val="102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-LSTM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 err="1">
                          <a:solidFill>
                            <a:srgbClr val="102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ASVspoof</a:t>
                      </a:r>
                      <a:r>
                        <a:rPr lang="en-US" sz="1200" dirty="0">
                          <a:solidFill>
                            <a:srgbClr val="102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2019 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99.11% Acc; EER 1.18%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 dependency; overfitting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Verma et al. [22]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SE-1D CNN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 err="1">
                          <a:solidFill>
                            <a:srgbClr val="102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ASVspoof</a:t>
                      </a:r>
                      <a:r>
                        <a:rPr lang="en-US" sz="1200" dirty="0">
                          <a:solidFill>
                            <a:srgbClr val="102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2019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97.64% Acc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cost; limited accents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Kwak et al. [24]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 err="1">
                          <a:solidFill>
                            <a:srgbClr val="102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ResMax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 err="1">
                          <a:solidFill>
                            <a:srgbClr val="102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ASVspoof</a:t>
                      </a:r>
                      <a:r>
                        <a:rPr lang="en-US" sz="1200" dirty="0">
                          <a:solidFill>
                            <a:srgbClr val="102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2019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EER 0.37% (PA)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CQT-only; no temporal modeling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 err="1">
                          <a:solidFill>
                            <a:srgbClr val="102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Chugh</a:t>
                      </a:r>
                      <a:r>
                        <a:rPr lang="en-US" sz="1200" dirty="0">
                          <a:solidFill>
                            <a:srgbClr val="102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et al. [26]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VGG16/VGG19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Audio-visual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99.96% (STFT)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~138M params; no dropout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Malik &amp; </a:t>
                      </a:r>
                      <a:r>
                        <a:rPr lang="en-US" sz="1200" dirty="0" err="1">
                          <a:solidFill>
                            <a:srgbClr val="102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Changalvala</a:t>
                      </a:r>
                      <a:r>
                        <a:rPr lang="en-US" sz="1200" dirty="0">
                          <a:solidFill>
                            <a:srgbClr val="102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[29]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CNN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248 images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Acc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Tiny dataset; poor generalizability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3782568"/>
            <a:ext cx="8595360" cy="116738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3782568"/>
            <a:ext cx="8595360" cy="347472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8" name="Text 5"/>
          <p:cNvSpPr/>
          <p:nvPr/>
        </p:nvSpPr>
        <p:spPr>
          <a:xfrm>
            <a:off x="274320" y="378256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Research Gap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94360" y="4349496"/>
            <a:ext cx="8092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existing system combines spectral-temporal fusion, telephony robustness, real-time deployment, and continuous learning.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Conceptual Framework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FFB300"/>
          </a:solidFill>
          <a:ln/>
        </p:spPr>
      </p:sp>
      <p:pic>
        <p:nvPicPr>
          <p:cNvPr id="25" name="Image 1">
            <a:extLst>
              <a:ext uri="{FF2B5EF4-FFF2-40B4-BE49-F238E27FC236}">
                <a16:creationId xmlns:a16="http://schemas.microsoft.com/office/drawing/2014/main" id="{E8AC3604-2F53-4BBA-BA78-C0A6A59D62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0174" y="1371601"/>
            <a:ext cx="7863767" cy="279196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Dual-Stream Analysis Engine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87552"/>
            <a:ext cx="269748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87552"/>
            <a:ext cx="2697480" cy="5120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011936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Spectral Stream — </a:t>
            </a:r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2D-CNN + SE Attention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200400" y="987552"/>
            <a:ext cx="269748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0" y="987552"/>
            <a:ext cx="2697480" cy="41148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20" name="Text 18"/>
          <p:cNvSpPr/>
          <p:nvPr/>
        </p:nvSpPr>
        <p:spPr>
          <a:xfrm>
            <a:off x="3200400" y="987552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Temporal Stream — </a:t>
            </a:r>
            <a:r>
              <a:rPr lang="en-US" sz="1400" b="1" dirty="0" err="1">
                <a:solidFill>
                  <a:srgbClr val="FFFFFF"/>
                </a:solidFill>
              </a:rPr>
              <a:t>BiLSTM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126480" y="987552"/>
            <a:ext cx="269748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26480" y="987552"/>
            <a:ext cx="2697480" cy="411480"/>
          </a:xfrm>
          <a:prstGeom prst="rect">
            <a:avLst/>
          </a:prstGeom>
          <a:solidFill>
            <a:srgbClr val="E53935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126480" y="987552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Fusion &amp; Classification</a:t>
            </a:r>
            <a:endParaRPr lang="en-US" sz="1400" dirty="0"/>
          </a:p>
        </p:txBody>
      </p:sp>
      <p:sp>
        <p:nvSpPr>
          <p:cNvPr id="45" name="Text 30">
            <a:extLst>
              <a:ext uri="{FF2B5EF4-FFF2-40B4-BE49-F238E27FC236}">
                <a16:creationId xmlns:a16="http://schemas.microsoft.com/office/drawing/2014/main" id="{FF301720-29D4-41DA-906D-24FD3CB85B7D}"/>
              </a:ext>
            </a:extLst>
          </p:cNvPr>
          <p:cNvSpPr/>
          <p:nvPr/>
        </p:nvSpPr>
        <p:spPr>
          <a:xfrm>
            <a:off x="457200" y="1735073"/>
            <a:ext cx="2298192" cy="1431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100" dirty="0">
                <a:solidFill>
                  <a:srgbClr val="102040"/>
                </a:solidFill>
              </a:rPr>
              <a:t>Processes log-</a:t>
            </a:r>
            <a:r>
              <a:rPr lang="en-US" sz="1100" dirty="0" err="1">
                <a:solidFill>
                  <a:srgbClr val="102040"/>
                </a:solidFill>
              </a:rPr>
              <a:t>mel</a:t>
            </a:r>
            <a:r>
              <a:rPr lang="en-US" sz="1100" dirty="0">
                <a:solidFill>
                  <a:srgbClr val="102040"/>
                </a:solidFill>
              </a:rPr>
              <a:t> spectrograms (128 bins) with four convolutional blocks and Squeeze-and-Excitation attention. Detects irregular harmonics, spectral smoothing, and vocoder artifacts. Outputs a 512-dimensional spectral embedding.</a:t>
            </a:r>
          </a:p>
        </p:txBody>
      </p:sp>
      <p:sp>
        <p:nvSpPr>
          <p:cNvPr id="46" name="Text 30">
            <a:extLst>
              <a:ext uri="{FF2B5EF4-FFF2-40B4-BE49-F238E27FC236}">
                <a16:creationId xmlns:a16="http://schemas.microsoft.com/office/drawing/2014/main" id="{2B4F1910-9E4E-4C52-B105-6B6352AED8CE}"/>
              </a:ext>
            </a:extLst>
          </p:cNvPr>
          <p:cNvSpPr/>
          <p:nvPr/>
        </p:nvSpPr>
        <p:spPr>
          <a:xfrm>
            <a:off x="3401568" y="1643633"/>
            <a:ext cx="2298192" cy="1431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100" dirty="0">
                <a:solidFill>
                  <a:srgbClr val="102040"/>
                </a:solidFill>
              </a:rPr>
              <a:t>Two stacked </a:t>
            </a:r>
            <a:r>
              <a:rPr lang="en-US" sz="1100" dirty="0" err="1">
                <a:solidFill>
                  <a:srgbClr val="102040"/>
                </a:solidFill>
              </a:rPr>
              <a:t>BiLSTM</a:t>
            </a:r>
            <a:r>
              <a:rPr lang="en-US" sz="1100" dirty="0">
                <a:solidFill>
                  <a:srgbClr val="102040"/>
                </a:solidFill>
              </a:rPr>
              <a:t> layers (128 hidden units per direction) model long-range prosodic dependencies — rhythm, timing consistency, and articulation transitions. Outputs a 256-dimensional temporal embedding.</a:t>
            </a:r>
          </a:p>
        </p:txBody>
      </p:sp>
      <p:sp>
        <p:nvSpPr>
          <p:cNvPr id="47" name="Text 30">
            <a:extLst>
              <a:ext uri="{FF2B5EF4-FFF2-40B4-BE49-F238E27FC236}">
                <a16:creationId xmlns:a16="http://schemas.microsoft.com/office/drawing/2014/main" id="{3FB73BF2-3576-4356-A52A-D8C386C52987}"/>
              </a:ext>
            </a:extLst>
          </p:cNvPr>
          <p:cNvSpPr/>
          <p:nvPr/>
        </p:nvSpPr>
        <p:spPr>
          <a:xfrm>
            <a:off x="6327648" y="1655825"/>
            <a:ext cx="2298192" cy="1431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100" dirty="0">
                <a:solidFill>
                  <a:srgbClr val="102040"/>
                </a:solidFill>
              </a:rPr>
              <a:t>Concatenated embeddings pass through a dense fusion layer (256 neurons, dropout 0.3) with </a:t>
            </a:r>
            <a:r>
              <a:rPr lang="en-US" sz="1100" dirty="0" err="1">
                <a:solidFill>
                  <a:srgbClr val="102040"/>
                </a:solidFill>
              </a:rPr>
              <a:t>softmax</a:t>
            </a:r>
            <a:r>
              <a:rPr lang="en-US" sz="1100" dirty="0">
                <a:solidFill>
                  <a:srgbClr val="102040"/>
                </a:solidFill>
              </a:rPr>
              <a:t> binary classification. Bayesian belief updating enables progressive multi-turn fraud alerting.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&amp; Experimental Setup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60120"/>
            <a:ext cx="4160520" cy="140817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4160520" cy="34747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96012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Development Stack</a:t>
            </a:r>
          </a:p>
        </p:txBody>
      </p:sp>
      <p:sp>
        <p:nvSpPr>
          <p:cNvPr id="8" name="Text 6"/>
          <p:cNvSpPr/>
          <p:nvPr/>
        </p:nvSpPr>
        <p:spPr>
          <a:xfrm>
            <a:off x="411480" y="1598168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SzPct val="100000"/>
            </a:pPr>
            <a:r>
              <a:rPr lang="en-US" sz="1100" dirty="0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 · TensorFlow 2.15 / </a:t>
            </a:r>
            <a:r>
              <a:rPr lang="en-US" sz="1100" dirty="0" err="1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r>
              <a:rPr lang="en-US" sz="1100" dirty="0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2.1 · </a:t>
            </a:r>
            <a:r>
              <a:rPr lang="en-US" sz="1100" dirty="0" err="1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Librosa</a:t>
            </a:r>
            <a:r>
              <a:rPr lang="en-US" sz="1100" dirty="0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1100" dirty="0" err="1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FFmpeg</a:t>
            </a:r>
            <a:r>
              <a:rPr lang="en-US" sz="1100" dirty="0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ONNX Runtime · </a:t>
            </a:r>
            <a:r>
              <a:rPr lang="en-US" sz="1100" dirty="0" err="1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00" dirty="0">
              <a:solidFill>
                <a:srgbClr val="10204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754880" y="960120"/>
            <a:ext cx="4160520" cy="140817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960120"/>
            <a:ext cx="4160520" cy="347472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96012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Datasets</a:t>
            </a:r>
          </a:p>
        </p:txBody>
      </p:sp>
      <p:sp>
        <p:nvSpPr>
          <p:cNvPr id="19" name="Shape 17"/>
          <p:cNvSpPr/>
          <p:nvPr/>
        </p:nvSpPr>
        <p:spPr>
          <a:xfrm>
            <a:off x="274320" y="2953512"/>
            <a:ext cx="4160520" cy="133273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953512"/>
            <a:ext cx="4160520" cy="347472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2953512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Training Config</a:t>
            </a:r>
          </a:p>
        </p:txBody>
      </p:sp>
      <p:sp>
        <p:nvSpPr>
          <p:cNvPr id="26" name="Shape 24"/>
          <p:cNvSpPr/>
          <p:nvPr/>
        </p:nvSpPr>
        <p:spPr>
          <a:xfrm>
            <a:off x="4754880" y="2953512"/>
            <a:ext cx="4160520" cy="133273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2953512"/>
            <a:ext cx="4160520" cy="347472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0" y="2953512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Key Metrics</a:t>
            </a:r>
          </a:p>
        </p:txBody>
      </p:sp>
      <p:sp>
        <p:nvSpPr>
          <p:cNvPr id="33" name="Text 6">
            <a:extLst>
              <a:ext uri="{FF2B5EF4-FFF2-40B4-BE49-F238E27FC236}">
                <a16:creationId xmlns:a16="http://schemas.microsoft.com/office/drawing/2014/main" id="{B7FB25AD-666F-4C59-BCCF-2ED7AD6AD39B}"/>
              </a:ext>
            </a:extLst>
          </p:cNvPr>
          <p:cNvSpPr/>
          <p:nvPr/>
        </p:nvSpPr>
        <p:spPr>
          <a:xfrm>
            <a:off x="4892040" y="1567434"/>
            <a:ext cx="3886200" cy="585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SzPct val="100000"/>
            </a:pPr>
            <a:r>
              <a:rPr lang="en-US" sz="1100" dirty="0" err="1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ASVspoof</a:t>
            </a:r>
            <a:r>
              <a:rPr lang="en-US" sz="1100" dirty="0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2019 (LA &amp; PA) + </a:t>
            </a:r>
            <a:r>
              <a:rPr lang="en-US" sz="1100" dirty="0" err="1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ASVspoof</a:t>
            </a:r>
            <a:r>
              <a:rPr lang="en-US" sz="1100" dirty="0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2021. Telephony degradation: G.711/G.729/Opus codecs, MUSAN noise at 5–20 dB SNR, 1–10% packet loss.</a:t>
            </a:r>
          </a:p>
        </p:txBody>
      </p:sp>
      <p:sp>
        <p:nvSpPr>
          <p:cNvPr id="34" name="Text 6">
            <a:extLst>
              <a:ext uri="{FF2B5EF4-FFF2-40B4-BE49-F238E27FC236}">
                <a16:creationId xmlns:a16="http://schemas.microsoft.com/office/drawing/2014/main" id="{55F450D3-CB3A-41B8-9E65-FA5CC1484BE9}"/>
              </a:ext>
            </a:extLst>
          </p:cNvPr>
          <p:cNvSpPr/>
          <p:nvPr/>
        </p:nvSpPr>
        <p:spPr>
          <a:xfrm>
            <a:off x="411480" y="3611118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SzPct val="100000"/>
            </a:pPr>
            <a:r>
              <a:rPr lang="en-US" sz="1100" dirty="0" err="1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</a:t>
            </a:r>
            <a:r>
              <a:rPr lang="en-US" sz="1100" dirty="0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optimizer · Focal Loss (γ=2.0) · Cosine annealing · 5-fold cross-validation · Up to 50 epochs with early stopping</a:t>
            </a:r>
          </a:p>
        </p:txBody>
      </p:sp>
      <p:sp>
        <p:nvSpPr>
          <p:cNvPr id="35" name="Text 6">
            <a:extLst>
              <a:ext uri="{FF2B5EF4-FFF2-40B4-BE49-F238E27FC236}">
                <a16:creationId xmlns:a16="http://schemas.microsoft.com/office/drawing/2014/main" id="{9CAFE194-BD8F-447A-9629-B3A218016645}"/>
              </a:ext>
            </a:extLst>
          </p:cNvPr>
          <p:cNvSpPr/>
          <p:nvPr/>
        </p:nvSpPr>
        <p:spPr>
          <a:xfrm>
            <a:off x="4892040" y="3614928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SzPct val="100000"/>
            </a:pPr>
            <a:r>
              <a:rPr lang="en-US" sz="1100" dirty="0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Precision, Recall, F1-Score, EER, t-DCF, Processing Latency (target &lt;100 </a:t>
            </a:r>
            <a:r>
              <a:rPr lang="en-US" sz="1100" dirty="0" err="1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r>
              <a:rPr lang="en-US" sz="1100" dirty="0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Model Footprint</a:t>
            </a:r>
          </a:p>
        </p:txBody>
      </p:sp>
    </p:spTree>
    <p:extLst>
      <p:ext uri="{BB962C8B-B14F-4D97-AF65-F5344CB8AC3E}">
        <p14:creationId xmlns:p14="http://schemas.microsoft.com/office/powerpoint/2010/main" val="99777690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Evaluation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0897B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4420059"/>
              </p:ext>
            </p:extLst>
          </p:nvPr>
        </p:nvGraphicFramePr>
        <p:xfrm>
          <a:off x="274320" y="960120"/>
          <a:ext cx="8595360" cy="26670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Criterion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Shahzad [21]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Kwak [24]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7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Chugh</a:t>
                      </a: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[26]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39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Spectral-Temporal Fusion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✓✓ Dual-stream CNN-LSTM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✓✓ </a:t>
                      </a:r>
                      <a:r>
                        <a:rPr lang="en-US" sz="1200" dirty="0" err="1">
                          <a:solidFill>
                            <a:srgbClr val="102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VGGish</a:t>
                      </a:r>
                      <a:r>
                        <a:rPr lang="en-US" sz="1200" dirty="0">
                          <a:solidFill>
                            <a:srgbClr val="102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-LSTM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CQT only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Spectrogram only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Telephony Preprocessing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✓✓ Codec + packet loss + noise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Clean audio only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Clean audio only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Clean audio only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Latency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✓✓ Target &lt;100 </a:t>
                      </a:r>
                      <a:r>
                        <a:rPr lang="en-US" sz="1200" dirty="0" err="1">
                          <a:solidFill>
                            <a:srgbClr val="102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</a:t>
                      </a:r>
                      <a:r>
                        <a:rPr lang="en-US" sz="1200" dirty="0">
                          <a:solidFill>
                            <a:srgbClr val="102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INT8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Offline only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✓✓ 286K params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~138M params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Progressive Scoring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✓✓ Bayesian belief update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Frame-level only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Frame-level only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Frame-level only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 Architecture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✓✓ </a:t>
                      </a:r>
                      <a:r>
                        <a:rPr lang="en-US" sz="1200" dirty="0" err="1">
                          <a:solidFill>
                            <a:srgbClr val="102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</a:t>
                      </a:r>
                      <a:r>
                        <a:rPr lang="en-US" sz="1200" dirty="0">
                          <a:solidFill>
                            <a:srgbClr val="102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+ SIP/PBX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Lab prototype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Edge-suitable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Lab prototype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594360" y="3959352"/>
            <a:ext cx="8092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Multi-dimensional comparison across 12 criteria vs. nine benchmarked systems. Scale: ✓✓ Strong · ✓ Moderate · ✗ Weak/Absent.</a:t>
            </a:r>
          </a:p>
        </p:txBody>
      </p:sp>
    </p:spTree>
    <p:extLst>
      <p:ext uri="{BB962C8B-B14F-4D97-AF65-F5344CB8AC3E}">
        <p14:creationId xmlns:p14="http://schemas.microsoft.com/office/powerpoint/2010/main" val="38757651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05840"/>
            <a:ext cx="402336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4023360" cy="3657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0058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Key Contributions</a:t>
            </a:r>
          </a:p>
        </p:txBody>
      </p:sp>
      <p:sp>
        <p:nvSpPr>
          <p:cNvPr id="8" name="Shape 6"/>
          <p:cNvSpPr/>
          <p:nvPr/>
        </p:nvSpPr>
        <p:spPr>
          <a:xfrm>
            <a:off x="411480" y="1646688"/>
            <a:ext cx="201168" cy="201168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6466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85800" y="150876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Six-module call-center framework</a:t>
            </a:r>
          </a:p>
        </p:txBody>
      </p:sp>
      <p:sp>
        <p:nvSpPr>
          <p:cNvPr id="11" name="Shape 9"/>
          <p:cNvSpPr/>
          <p:nvPr/>
        </p:nvSpPr>
        <p:spPr>
          <a:xfrm>
            <a:off x="411480" y="2222760"/>
            <a:ext cx="201168" cy="201168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22227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85800" y="2084832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spectral-temporal features </a:t>
            </a:r>
          </a:p>
        </p:txBody>
      </p:sp>
      <p:sp>
        <p:nvSpPr>
          <p:cNvPr id="14" name="Shape 12"/>
          <p:cNvSpPr/>
          <p:nvPr/>
        </p:nvSpPr>
        <p:spPr>
          <a:xfrm>
            <a:off x="411480" y="2798832"/>
            <a:ext cx="201168" cy="201168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27988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85800" y="2660904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+ </a:t>
            </a:r>
            <a:r>
              <a:rPr lang="en-US" sz="1000" dirty="0" err="1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</a:t>
            </a:r>
            <a:r>
              <a:rPr lang="en-US" sz="1000" dirty="0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dual-stream </a:t>
            </a:r>
          </a:p>
        </p:txBody>
      </p:sp>
      <p:sp>
        <p:nvSpPr>
          <p:cNvPr id="17" name="Shape 15"/>
          <p:cNvSpPr/>
          <p:nvPr/>
        </p:nvSpPr>
        <p:spPr>
          <a:xfrm>
            <a:off x="411480" y="3374904"/>
            <a:ext cx="201168" cy="201168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33749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85800" y="3236976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Bayesian fusion </a:t>
            </a:r>
          </a:p>
        </p:txBody>
      </p:sp>
      <p:sp>
        <p:nvSpPr>
          <p:cNvPr id="20" name="Shape 18"/>
          <p:cNvSpPr/>
          <p:nvPr/>
        </p:nvSpPr>
        <p:spPr>
          <a:xfrm>
            <a:off x="411480" y="3950976"/>
            <a:ext cx="201168" cy="201168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39509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85800" y="381304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Sub-100 </a:t>
            </a:r>
            <a:r>
              <a:rPr lang="en-US" sz="1000" dirty="0" err="1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r>
              <a:rPr lang="en-US" sz="1000" dirty="0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deployment-ready architecture</a:t>
            </a:r>
          </a:p>
        </p:txBody>
      </p:sp>
      <p:sp>
        <p:nvSpPr>
          <p:cNvPr id="23" name="Shape 21"/>
          <p:cNvSpPr/>
          <p:nvPr/>
        </p:nvSpPr>
        <p:spPr>
          <a:xfrm>
            <a:off x="4572000" y="1005840"/>
            <a:ext cx="429768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0" y="1005840"/>
            <a:ext cx="4297680" cy="36576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0" y="10058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Limitations</a:t>
            </a:r>
            <a:endParaRPr lang="en-US" sz="1600" dirty="0"/>
          </a:p>
        </p:txBody>
      </p:sp>
      <p:sp>
        <p:nvSpPr>
          <p:cNvPr id="38" name="Shape 6">
            <a:extLst>
              <a:ext uri="{FF2B5EF4-FFF2-40B4-BE49-F238E27FC236}">
                <a16:creationId xmlns:a16="http://schemas.microsoft.com/office/drawing/2014/main" id="{13EA69F6-00F5-4058-9CEC-3E59A8D0E1A3}"/>
              </a:ext>
            </a:extLst>
          </p:cNvPr>
          <p:cNvSpPr/>
          <p:nvPr/>
        </p:nvSpPr>
        <p:spPr>
          <a:xfrm>
            <a:off x="4831080" y="1628400"/>
            <a:ext cx="201168" cy="201168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39" name="Text 7">
            <a:extLst>
              <a:ext uri="{FF2B5EF4-FFF2-40B4-BE49-F238E27FC236}">
                <a16:creationId xmlns:a16="http://schemas.microsoft.com/office/drawing/2014/main" id="{EA338A94-F624-406C-9F6A-B24321F4C0B4}"/>
              </a:ext>
            </a:extLst>
          </p:cNvPr>
          <p:cNvSpPr/>
          <p:nvPr/>
        </p:nvSpPr>
        <p:spPr>
          <a:xfrm>
            <a:off x="4831080" y="16284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59CFC033-77B4-44CE-8C25-04FDC3E2C395}"/>
              </a:ext>
            </a:extLst>
          </p:cNvPr>
          <p:cNvSpPr/>
          <p:nvPr/>
        </p:nvSpPr>
        <p:spPr>
          <a:xfrm>
            <a:off x="5105400" y="1490472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design — not yet empirically validated </a:t>
            </a:r>
            <a:endParaRPr lang="en-US" sz="1000" dirty="0"/>
          </a:p>
        </p:txBody>
      </p:sp>
      <p:sp>
        <p:nvSpPr>
          <p:cNvPr id="41" name="Shape 9">
            <a:extLst>
              <a:ext uri="{FF2B5EF4-FFF2-40B4-BE49-F238E27FC236}">
                <a16:creationId xmlns:a16="http://schemas.microsoft.com/office/drawing/2014/main" id="{6BBD1657-9305-4655-B07B-2BE5DA60524D}"/>
              </a:ext>
            </a:extLst>
          </p:cNvPr>
          <p:cNvSpPr/>
          <p:nvPr/>
        </p:nvSpPr>
        <p:spPr>
          <a:xfrm>
            <a:off x="4831080" y="2204472"/>
            <a:ext cx="201168" cy="201168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42" name="Text 10">
            <a:extLst>
              <a:ext uri="{FF2B5EF4-FFF2-40B4-BE49-F238E27FC236}">
                <a16:creationId xmlns:a16="http://schemas.microsoft.com/office/drawing/2014/main" id="{1FE48A79-676F-4097-9E33-E9038496AC78}"/>
              </a:ext>
            </a:extLst>
          </p:cNvPr>
          <p:cNvSpPr/>
          <p:nvPr/>
        </p:nvSpPr>
        <p:spPr>
          <a:xfrm>
            <a:off x="4831080" y="22044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43" name="Text 11">
            <a:extLst>
              <a:ext uri="{FF2B5EF4-FFF2-40B4-BE49-F238E27FC236}">
                <a16:creationId xmlns:a16="http://schemas.microsoft.com/office/drawing/2014/main" id="{16638C9E-B74A-4019-A8F3-3E8E7EDC2CA7}"/>
              </a:ext>
            </a:extLst>
          </p:cNvPr>
          <p:cNvSpPr/>
          <p:nvPr/>
        </p:nvSpPr>
        <p:spPr>
          <a:xfrm>
            <a:off x="5105400" y="2066544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ASVspoof</a:t>
            </a:r>
            <a:r>
              <a:rPr lang="en-US" sz="1000" dirty="0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datasets may not reflect full call-center diversity </a:t>
            </a:r>
            <a:endParaRPr lang="en-US" sz="1000" dirty="0"/>
          </a:p>
        </p:txBody>
      </p:sp>
      <p:sp>
        <p:nvSpPr>
          <p:cNvPr id="44" name="Shape 12">
            <a:extLst>
              <a:ext uri="{FF2B5EF4-FFF2-40B4-BE49-F238E27FC236}">
                <a16:creationId xmlns:a16="http://schemas.microsoft.com/office/drawing/2014/main" id="{6B49B3A1-36ED-4856-8280-0F204269FEF1}"/>
              </a:ext>
            </a:extLst>
          </p:cNvPr>
          <p:cNvSpPr/>
          <p:nvPr/>
        </p:nvSpPr>
        <p:spPr>
          <a:xfrm>
            <a:off x="4831080" y="2780544"/>
            <a:ext cx="201168" cy="201168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45" name="Text 13">
            <a:extLst>
              <a:ext uri="{FF2B5EF4-FFF2-40B4-BE49-F238E27FC236}">
                <a16:creationId xmlns:a16="http://schemas.microsoft.com/office/drawing/2014/main" id="{437A3ECE-D616-4A14-84F2-C2CB1F8F47CE}"/>
              </a:ext>
            </a:extLst>
          </p:cNvPr>
          <p:cNvSpPr/>
          <p:nvPr/>
        </p:nvSpPr>
        <p:spPr>
          <a:xfrm>
            <a:off x="4831080" y="27805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46" name="Text 14">
            <a:extLst>
              <a:ext uri="{FF2B5EF4-FFF2-40B4-BE49-F238E27FC236}">
                <a16:creationId xmlns:a16="http://schemas.microsoft.com/office/drawing/2014/main" id="{E84DC7B2-16EB-47E7-808F-92439778B5FE}"/>
              </a:ext>
            </a:extLst>
          </p:cNvPr>
          <p:cNvSpPr/>
          <p:nvPr/>
        </p:nvSpPr>
        <p:spPr>
          <a:xfrm>
            <a:off x="5105400" y="2642616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Audio-only (no multimodal biometrics) </a:t>
            </a:r>
          </a:p>
        </p:txBody>
      </p:sp>
      <p:sp>
        <p:nvSpPr>
          <p:cNvPr id="47" name="Shape 15">
            <a:extLst>
              <a:ext uri="{FF2B5EF4-FFF2-40B4-BE49-F238E27FC236}">
                <a16:creationId xmlns:a16="http://schemas.microsoft.com/office/drawing/2014/main" id="{118E486F-25F3-4A21-8CAB-89F79E45670C}"/>
              </a:ext>
            </a:extLst>
          </p:cNvPr>
          <p:cNvSpPr/>
          <p:nvPr/>
        </p:nvSpPr>
        <p:spPr>
          <a:xfrm>
            <a:off x="4831080" y="3356616"/>
            <a:ext cx="201168" cy="201168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48" name="Text 16">
            <a:extLst>
              <a:ext uri="{FF2B5EF4-FFF2-40B4-BE49-F238E27FC236}">
                <a16:creationId xmlns:a16="http://schemas.microsoft.com/office/drawing/2014/main" id="{2767904B-7483-4CEA-BC21-5C50C7CFEB68}"/>
              </a:ext>
            </a:extLst>
          </p:cNvPr>
          <p:cNvSpPr/>
          <p:nvPr/>
        </p:nvSpPr>
        <p:spPr>
          <a:xfrm>
            <a:off x="4831080" y="33566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49" name="Text 17">
            <a:extLst>
              <a:ext uri="{FF2B5EF4-FFF2-40B4-BE49-F238E27FC236}">
                <a16:creationId xmlns:a16="http://schemas.microsoft.com/office/drawing/2014/main" id="{65BDE157-7461-475A-A903-8782D2B8F635}"/>
              </a:ext>
            </a:extLst>
          </p:cNvPr>
          <p:cNvSpPr/>
          <p:nvPr/>
        </p:nvSpPr>
        <p:spPr>
          <a:xfrm>
            <a:off x="5105400" y="321868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continuous updates as deepfake techniques evolve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30986"/>
            <a:ext cx="841248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30986"/>
            <a:ext cx="594360" cy="69494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30986"/>
            <a:ext cx="594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01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60120" y="1149858"/>
            <a:ext cx="45720" cy="4572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1261872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implementation and real call-center deployment </a:t>
            </a:r>
          </a:p>
        </p:txBody>
      </p:sp>
      <p:sp>
        <p:nvSpPr>
          <p:cNvPr id="11" name="Shape 9"/>
          <p:cNvSpPr/>
          <p:nvPr/>
        </p:nvSpPr>
        <p:spPr>
          <a:xfrm>
            <a:off x="365760" y="1835658"/>
            <a:ext cx="841248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835658"/>
            <a:ext cx="594360" cy="694944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1835658"/>
            <a:ext cx="594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02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960120" y="1954530"/>
            <a:ext cx="45720" cy="4572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7" name="Shape 15"/>
          <p:cNvSpPr/>
          <p:nvPr/>
        </p:nvSpPr>
        <p:spPr>
          <a:xfrm>
            <a:off x="365760" y="2640330"/>
            <a:ext cx="841248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640330"/>
            <a:ext cx="594360" cy="69494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2640330"/>
            <a:ext cx="594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03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960120" y="2759202"/>
            <a:ext cx="45720" cy="4572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3" name="Shape 21"/>
          <p:cNvSpPr/>
          <p:nvPr/>
        </p:nvSpPr>
        <p:spPr>
          <a:xfrm>
            <a:off x="365760" y="3445002"/>
            <a:ext cx="841248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445002"/>
            <a:ext cx="594360" cy="694944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3445002"/>
            <a:ext cx="594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04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960120" y="3563874"/>
            <a:ext cx="45720" cy="45720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29" name="Shape 27"/>
          <p:cNvSpPr/>
          <p:nvPr/>
        </p:nvSpPr>
        <p:spPr>
          <a:xfrm>
            <a:off x="365760" y="4249674"/>
            <a:ext cx="841248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4249674"/>
            <a:ext cx="594360" cy="694944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4249674"/>
            <a:ext cx="594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05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960120" y="4368546"/>
            <a:ext cx="45720" cy="4572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44" name="Text 7">
            <a:extLst>
              <a:ext uri="{FF2B5EF4-FFF2-40B4-BE49-F238E27FC236}">
                <a16:creationId xmlns:a16="http://schemas.microsoft.com/office/drawing/2014/main" id="{D675E87E-7CB9-4010-A97B-9F7E8C706314}"/>
              </a:ext>
            </a:extLst>
          </p:cNvPr>
          <p:cNvSpPr/>
          <p:nvPr/>
        </p:nvSpPr>
        <p:spPr>
          <a:xfrm>
            <a:off x="1143000" y="2036826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Wav2Vec 2.0, </a:t>
            </a:r>
            <a:r>
              <a:rPr lang="en-US" sz="1600" b="1" dirty="0" err="1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HuBERT</a:t>
            </a:r>
            <a:r>
              <a:rPr lang="en-US" sz="1600" b="1" dirty="0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b="1" dirty="0" err="1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WavLM</a:t>
            </a:r>
            <a:r>
              <a:rPr lang="en-US" sz="1600" b="1" dirty="0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</p:txBody>
      </p:sp>
      <p:sp>
        <p:nvSpPr>
          <p:cNvPr id="45" name="Text 7">
            <a:extLst>
              <a:ext uri="{FF2B5EF4-FFF2-40B4-BE49-F238E27FC236}">
                <a16:creationId xmlns:a16="http://schemas.microsoft.com/office/drawing/2014/main" id="{183D1012-0395-4483-A5DF-FACEB98CDFC8}"/>
              </a:ext>
            </a:extLst>
          </p:cNvPr>
          <p:cNvSpPr/>
          <p:nvPr/>
        </p:nvSpPr>
        <p:spPr>
          <a:xfrm>
            <a:off x="1143000" y="2841498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and multi-accent testing </a:t>
            </a:r>
          </a:p>
        </p:txBody>
      </p:sp>
      <p:sp>
        <p:nvSpPr>
          <p:cNvPr id="46" name="Text 7">
            <a:extLst>
              <a:ext uri="{FF2B5EF4-FFF2-40B4-BE49-F238E27FC236}">
                <a16:creationId xmlns:a16="http://schemas.microsoft.com/office/drawing/2014/main" id="{6B541BCE-C9BC-4C33-A11B-27277CF82061}"/>
              </a:ext>
            </a:extLst>
          </p:cNvPr>
          <p:cNvSpPr/>
          <p:nvPr/>
        </p:nvSpPr>
        <p:spPr>
          <a:xfrm>
            <a:off x="1143000" y="364617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(SHAP/LIME) </a:t>
            </a:r>
            <a:endParaRPr lang="en-US" sz="1600" b="1" dirty="0">
              <a:solidFill>
                <a:srgbClr val="10204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7" name="Text 7">
            <a:extLst>
              <a:ext uri="{FF2B5EF4-FFF2-40B4-BE49-F238E27FC236}">
                <a16:creationId xmlns:a16="http://schemas.microsoft.com/office/drawing/2014/main" id="{A5AB1616-AD71-46EF-B48D-02963E54619E}"/>
              </a:ext>
            </a:extLst>
          </p:cNvPr>
          <p:cNvSpPr/>
          <p:nvPr/>
        </p:nvSpPr>
        <p:spPr>
          <a:xfrm>
            <a:off x="1143000" y="4450842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robustness evaluation </a:t>
            </a:r>
          </a:p>
        </p:txBody>
      </p:sp>
    </p:spTree>
    <p:extLst>
      <p:ext uri="{BB962C8B-B14F-4D97-AF65-F5344CB8AC3E}">
        <p14:creationId xmlns:p14="http://schemas.microsoft.com/office/powerpoint/2010/main" val="30584566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05072" y="-914400"/>
            <a:ext cx="4572000" cy="4572000"/>
          </a:xfrm>
          <a:prstGeom prst="ellipse">
            <a:avLst/>
          </a:prstGeom>
          <a:solidFill>
            <a:srgbClr val="1565C0">
              <a:alpha val="20000"/>
            </a:srgbClr>
          </a:solidFill>
          <a:ln w="12700">
            <a:solidFill>
              <a:srgbClr val="1565C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00897B">
              <a:alpha val="15000"/>
            </a:srgbClr>
          </a:solidFill>
          <a:ln w="12700">
            <a:solidFill>
              <a:srgbClr val="00897B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—  Questions Welcome</a:t>
            </a:r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8412480" cy="4572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31" name="Freeform 2">
            <a:extLst>
              <a:ext uri="{FF2B5EF4-FFF2-40B4-BE49-F238E27FC236}">
                <a16:creationId xmlns:a16="http://schemas.microsoft.com/office/drawing/2014/main" id="{C6A4EE01-9B88-477E-88F2-D0182558DFDA}"/>
              </a:ext>
            </a:extLst>
          </p:cNvPr>
          <p:cNvSpPr/>
          <p:nvPr/>
        </p:nvSpPr>
        <p:spPr>
          <a:xfrm>
            <a:off x="3138929" y="868681"/>
            <a:ext cx="3085138" cy="3503918"/>
          </a:xfrm>
          <a:custGeom>
            <a:avLst/>
            <a:gdLst/>
            <a:ahLst/>
            <a:cxnLst/>
            <a:rect l="l" t="t" r="r" b="b"/>
            <a:pathLst>
              <a:path w="6799707" h="8229600">
                <a:moveTo>
                  <a:pt x="0" y="0"/>
                </a:moveTo>
                <a:lnTo>
                  <a:pt x="6799708" y="0"/>
                </a:lnTo>
                <a:lnTo>
                  <a:pt x="679970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873979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981</Words>
  <Application>Microsoft Office PowerPoint</Application>
  <PresentationFormat>On-screen Show (16:9)</PresentationFormat>
  <Paragraphs>200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Integrated BI and ML for E-Commerce Sales Forecasting</dc:title>
  <dc:subject>PptxGenJS Presentation</dc:subject>
  <dc:creator>PptxGenJS</dc:creator>
  <cp:lastModifiedBy>Md. Shakil Hossain</cp:lastModifiedBy>
  <cp:revision>15</cp:revision>
  <dcterms:created xsi:type="dcterms:W3CDTF">2026-05-10T14:01:29Z</dcterms:created>
  <dcterms:modified xsi:type="dcterms:W3CDTF">2026-05-28T12:20:39Z</dcterms:modified>
</cp:coreProperties>
</file>