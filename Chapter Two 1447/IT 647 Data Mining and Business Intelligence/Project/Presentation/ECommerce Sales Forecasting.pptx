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6" r:id="rId7"/>
    <p:sldId id="261" r:id="rId8"/>
    <p:sldId id="262" r:id="rId9"/>
    <p:sldId id="263" r:id="rId10"/>
    <p:sldId id="264" r:id="rId11"/>
    <p:sldId id="268" r:id="rId12"/>
    <p:sldId id="26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ED-44F5-A1AE-1D4AF0A211E2}"/>
              </c:ext>
            </c:extLst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ED-44F5-A1AE-1D4AF0A211E2}"/>
              </c:ext>
            </c:extLst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ED-44F5-A1AE-1D4AF0A211E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0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0.9819</c:v>
                </c:pt>
                <c:pt idx="1">
                  <c:v>0.82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ED-44F5-A1AE-1D4AF0A211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1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44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16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19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5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F187D102-B045-463C-9A1F-E968668FC7EA}"/>
              </a:ext>
            </a:extLst>
          </p:cNvPr>
          <p:cNvSpPr/>
          <p:nvPr/>
        </p:nvSpPr>
        <p:spPr>
          <a:xfrm>
            <a:off x="3731807" y="2712848"/>
            <a:ext cx="2155334" cy="1761888"/>
          </a:xfrm>
          <a:custGeom>
            <a:avLst/>
            <a:gdLst/>
            <a:ahLst/>
            <a:cxnLst/>
            <a:rect l="l" t="t" r="r" b="b"/>
            <a:pathLst>
              <a:path w="3727838" h="3396993">
                <a:moveTo>
                  <a:pt x="0" y="0"/>
                </a:moveTo>
                <a:lnTo>
                  <a:pt x="3727839" y="0"/>
                </a:lnTo>
                <a:lnTo>
                  <a:pt x="3727839" y="3396993"/>
                </a:lnTo>
                <a:lnTo>
                  <a:pt x="0" y="339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229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Business Intelligence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Machine Learning Approach for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11479" y="2743199"/>
            <a:ext cx="4875135" cy="54865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880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Biliaminu Ishola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Shakil Hossain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 Hamidi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Mona Alsaleem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" y="4892040"/>
            <a:ext cx="9034272" cy="25146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Master of Science in Information Technology | College of Computer  | Qassim University |  Kingdom of Saudi Arabia</a:t>
            </a:r>
            <a:endParaRPr lang="en-US" sz="900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D66C2221-D5AD-416E-9FD0-029004DA3CBB}"/>
              </a:ext>
            </a:extLst>
          </p:cNvPr>
          <p:cNvSpPr/>
          <p:nvPr/>
        </p:nvSpPr>
        <p:spPr>
          <a:xfrm>
            <a:off x="6767556" y="80021"/>
            <a:ext cx="2286000" cy="849748"/>
          </a:xfrm>
          <a:custGeom>
            <a:avLst/>
            <a:gdLst/>
            <a:ahLst/>
            <a:cxnLst/>
            <a:rect l="l" t="t" r="r" b="b"/>
            <a:pathLst>
              <a:path w="4029963" h="1191339">
                <a:moveTo>
                  <a:pt x="0" y="0"/>
                </a:moveTo>
                <a:lnTo>
                  <a:pt x="4029963" y="0"/>
                </a:lnTo>
                <a:lnTo>
                  <a:pt x="4029963" y="1191339"/>
                </a:lnTo>
                <a:lnTo>
                  <a:pt x="0" y="1191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30986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1149858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11328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405890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motivation, objectives, and research questions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35658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1954530"/>
            <a:ext cx="4572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91795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210562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forecasting methods, ML approaches, and BI frameworks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4033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60120" y="2759202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72262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015234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pipeline, star schema data warehouse, feature engineering &amp; ML models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45002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60120" y="3563874"/>
            <a:ext cx="4572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52729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3819906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Linear Regression, Random Forest &amp; XGBoost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49674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0120" y="4368546"/>
            <a:ext cx="4572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433197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97280" y="462457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study limitations, and recommended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646688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46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sources — sales, feedback &amp; marketing kept in silos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22760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22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084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only delivers lagging indicators, not forecasts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98832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98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6609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models fail to capture non-linear sales behavior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374904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74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23697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forecasting during promotions (Black Friday, etc.)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950976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50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38130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prediction updates as transactions occur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Proposed Solution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0916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BI–ML Framework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1783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UCI Online Retail Dataset with state-of-the-art ML models integrated into a BI dashboard for proactive, data-driven decisions.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641540"/>
            <a:ext cx="164592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trend analysis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126172"/>
            <a:ext cx="164592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999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time effects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610804"/>
            <a:ext cx="164592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4838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impact assessment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095436"/>
            <a:ext cx="164592" cy="16459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9684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dashboard for managers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4297680"/>
            <a:ext cx="4023360" cy="3200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Shift: Reactive Insights  →  Proactive Insights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Accuracy Improvement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15981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How does BI-ML integration enhance forecasting accuracy?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Influential Features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2953512"/>
            <a:ext cx="4160520" cy="133273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Algorithm Comparison</a:t>
            </a:r>
          </a:p>
        </p:txBody>
      </p:sp>
      <p:sp>
        <p:nvSpPr>
          <p:cNvPr id="26" name="Shape 24"/>
          <p:cNvSpPr/>
          <p:nvPr/>
        </p:nvSpPr>
        <p:spPr>
          <a:xfrm>
            <a:off x="4754880" y="2953512"/>
            <a:ext cx="4160520" cy="133273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Interpretability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B7FB25AD-666F-4C59-BCCF-2ED7AD6AD39B}"/>
              </a:ext>
            </a:extLst>
          </p:cNvPr>
          <p:cNvSpPr/>
          <p:nvPr/>
        </p:nvSpPr>
        <p:spPr>
          <a:xfrm>
            <a:off x="4892040" y="160401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Which data features impact sales predictions most?</a:t>
            </a:r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55F450D3-CB3A-41B8-9E65-FA5CC1484BE9}"/>
              </a:ext>
            </a:extLst>
          </p:cNvPr>
          <p:cNvSpPr/>
          <p:nvPr/>
        </p:nvSpPr>
        <p:spPr>
          <a:xfrm>
            <a:off x="411480" y="361111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Which ML models perform best in a BI environment?</a:t>
            </a: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CAFE194-BD8F-447A-9629-B3A218016645}"/>
              </a:ext>
            </a:extLst>
          </p:cNvPr>
          <p:cNvSpPr/>
          <p:nvPr/>
        </p:nvSpPr>
        <p:spPr>
          <a:xfrm>
            <a:off x="4892040" y="361492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sz="11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How does integration improve decision-making for managers?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15206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Framework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integrated BI-ML pipeline for e-commerce weekly sales forecasting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73152" cy="16916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796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19472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19472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Linear Regression, Random Forest &amp; XGBoost against each other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26080"/>
            <a:ext cx="73152" cy="16916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2136692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impactful features (unit price, quantity, country, time)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73152" cy="1691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6487008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19472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Decisions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19472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predictions accessible to non-technical managers via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Traditional 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ARIMA, ETS — strong on trend/seasonality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on high-volatility &amp; promotions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20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model non-linear interactions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M3/M4: no single method dominates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ML for Forecasting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3441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23.2% lower error vs ARIMA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8249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robust ensembles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020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captures sequence dependencies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35915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Transformers: long-range attention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53512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BI Frameworks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(Kimball) for warehousing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6758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Dimension table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0142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for stakeholders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3525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for BI+ML pipelines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953512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92040" y="33375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explainability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6758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for model monitoring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0142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errors → 15–20% inventory cost savings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3525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technical debt (Sculley et al.)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5954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1508760" cy="137160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Source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481328"/>
            <a:ext cx="1362456" cy="822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481328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UCI Online Retail Dataset</a:t>
            </a:r>
          </a:p>
          <a:p>
            <a:pPr marL="0" indent="0" algn="ctr">
              <a:buNone/>
            </a:pPr>
            <a:r>
              <a:rPr lang="en-US" sz="900" dirty="0"/>
              <a:t>541K transactions</a:t>
            </a:r>
          </a:p>
        </p:txBody>
      </p:sp>
      <p:sp>
        <p:nvSpPr>
          <p:cNvPr id="9" name="Shape 7"/>
          <p:cNvSpPr/>
          <p:nvPr/>
        </p:nvSpPr>
        <p:spPr>
          <a:xfrm>
            <a:off x="1783080" y="1645920"/>
            <a:ext cx="228600" cy="9144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1005840"/>
            <a:ext cx="1508760" cy="137160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11680" y="1005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ETL Process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84832" y="1481328"/>
            <a:ext cx="1362456" cy="822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1481328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Extract → Clean → Transform</a:t>
            </a:r>
          </a:p>
          <a:p>
            <a:pPr marL="0" indent="0" algn="ctr">
              <a:buNone/>
            </a:pPr>
            <a:r>
              <a:rPr lang="en-US" sz="900" dirty="0"/>
              <a:t>Derive revenue features</a:t>
            </a:r>
          </a:p>
        </p:txBody>
      </p:sp>
      <p:sp>
        <p:nvSpPr>
          <p:cNvPr id="14" name="Shape 12"/>
          <p:cNvSpPr/>
          <p:nvPr/>
        </p:nvSpPr>
        <p:spPr>
          <a:xfrm>
            <a:off x="3520440" y="1645920"/>
            <a:ext cx="228600" cy="9144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1005840"/>
            <a:ext cx="1508760" cy="1371600"/>
          </a:xfrm>
          <a:prstGeom prst="rect">
            <a:avLst/>
          </a:prstGeom>
          <a:solidFill>
            <a:srgbClr val="00BC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005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Warehouse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22192" y="1481328"/>
            <a:ext cx="1362456" cy="822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822192" y="1481328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Star Schema</a:t>
            </a:r>
          </a:p>
          <a:p>
            <a:pPr marL="0" indent="0" algn="ctr">
              <a:buNone/>
            </a:pPr>
            <a:r>
              <a:rPr lang="en-US" sz="900" dirty="0"/>
              <a:t>Fact + Dim tables</a:t>
            </a:r>
          </a:p>
        </p:txBody>
      </p:sp>
      <p:sp>
        <p:nvSpPr>
          <p:cNvPr id="19" name="Shape 17"/>
          <p:cNvSpPr/>
          <p:nvPr/>
        </p:nvSpPr>
        <p:spPr>
          <a:xfrm>
            <a:off x="5257800" y="1645920"/>
            <a:ext cx="228600" cy="9144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0" y="1005840"/>
            <a:ext cx="1508760" cy="1371600"/>
          </a:xfrm>
          <a:prstGeom prst="rect">
            <a:avLst/>
          </a:prstGeom>
          <a:solidFill>
            <a:srgbClr val="FFB3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005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Eng.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59552" y="1481328"/>
            <a:ext cx="1362456" cy="822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59552" y="1481328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Lag features, rolling</a:t>
            </a:r>
          </a:p>
          <a:p>
            <a:pPr marL="0" indent="0" algn="ctr">
              <a:buNone/>
            </a:pPr>
            <a:r>
              <a:rPr lang="en-US" sz="900" dirty="0"/>
              <a:t>means, trend capture</a:t>
            </a:r>
          </a:p>
        </p:txBody>
      </p:sp>
      <p:sp>
        <p:nvSpPr>
          <p:cNvPr id="24" name="Shape 22"/>
          <p:cNvSpPr/>
          <p:nvPr/>
        </p:nvSpPr>
        <p:spPr>
          <a:xfrm>
            <a:off x="6995160" y="1645920"/>
            <a:ext cx="228600" cy="9144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1005840"/>
            <a:ext cx="1508760" cy="1371600"/>
          </a:xfrm>
          <a:prstGeom prst="rect">
            <a:avLst/>
          </a:prstGeom>
          <a:solidFill>
            <a:srgbClr val="E539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005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ML Models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96912" y="1481328"/>
            <a:ext cx="1362456" cy="822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96912" y="1481328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Linear Reg. / Random</a:t>
            </a:r>
          </a:p>
          <a:p>
            <a:pPr marL="0" indent="0" algn="ctr">
              <a:buNone/>
            </a:pPr>
            <a:r>
              <a:rPr lang="en-US" sz="900" dirty="0"/>
              <a:t>Forest / XGBoost</a:t>
            </a:r>
          </a:p>
        </p:txBody>
      </p:sp>
      <p:sp>
        <p:nvSpPr>
          <p:cNvPr id="29" name="Shape 27"/>
          <p:cNvSpPr/>
          <p:nvPr/>
        </p:nvSpPr>
        <p:spPr>
          <a:xfrm>
            <a:off x="274320" y="2606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606040"/>
            <a:ext cx="3931920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Evaluation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3017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40"/>
                </a:solidFill>
              </a:rPr>
              <a:t>80/20 chronological train-test 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040"/>
                </a:solidFill>
              </a:rPr>
              <a:t>MAE  |  RMSE  |  R² (variance explained)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6060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Integration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30175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40"/>
                </a:solidFill>
              </a:rPr>
              <a:t>Streamlit dashboard visualizing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040"/>
                </a:solidFill>
              </a:rPr>
              <a:t>actual vs. predicted weekly sales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040"/>
                </a:solidFill>
              </a:rPr>
              <a:t>for non-technical decision-makers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114800"/>
            <a:ext cx="8503920" cy="8229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🛠  Tools &amp; Technologies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040"/>
                </a:solidFill>
              </a:rPr>
              <a:t>Python  ·  Pandas  ·  Scikit-Learn  ·  XGBoost  ·  Matplotlib  ·  Streamlit  ·  Visual Studio Code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&amp;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828800"/>
            <a:ext cx="2743200" cy="201168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FactWeeklySales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0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Week_ID (PK)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2432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Total_Sales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Transaction_Count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0" y="2871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Customer_Count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0" y="3090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Quantity_Sold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0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Unique_Products_Sold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35295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Avg_Order_Value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645920"/>
            <a:ext cx="2377440" cy="1645920"/>
          </a:xfrm>
          <a:prstGeom prst="rect">
            <a:avLst/>
          </a:prstGeom>
          <a:solidFill>
            <a:srgbClr val="00897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" y="1645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DimDate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Date_ID (PK)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2494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Week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Month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2724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Quarter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9626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Year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2606040"/>
            <a:ext cx="640080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" y="3520440"/>
            <a:ext cx="2377440" cy="1280160"/>
          </a:xfrm>
          <a:prstGeom prst="rect">
            <a:avLst/>
          </a:prstGeom>
          <a:solidFill>
            <a:srgbClr val="00BCD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DimProduct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Product_ID (PK)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4142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Description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4398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UnitPrice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0" y="3794760"/>
            <a:ext cx="640080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2194560"/>
            <a:ext cx="2286000" cy="1097280"/>
          </a:xfrm>
          <a:prstGeom prst="rect">
            <a:avLst/>
          </a:prstGeom>
          <a:solidFill>
            <a:srgbClr val="FFB3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2194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DimCustomer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2560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Customer_ID (PK)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20840" y="2816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Country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0" y="2606040"/>
            <a:ext cx="640080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" y="914400"/>
            <a:ext cx="8778240" cy="5943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2040"/>
                </a:solidFill>
              </a:rPr>
              <a:t>Feature Engineering: Lag_1 / Lag_2 / Lag_3 (prior week sales)  +  Rolling Mean (N weeks smoothing)  +  Transaction Count · Customer Count · Avg Order Value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87552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69748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875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Linear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565C0"/>
                </a:solidFill>
              </a:rPr>
              <a:t>0.9819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331720" cy="27432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MAE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2040"/>
                </a:solidFill>
              </a:rPr>
              <a:t>~12,500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2331720" cy="27432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RMSE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286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2040"/>
                </a:solidFill>
              </a:rPr>
              <a:t>~16,800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331720" cy="384048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97B"/>
                </a:solidFill>
              </a:rPr>
              <a:t>Best Overall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987552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987552"/>
            <a:ext cx="269748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9875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897B"/>
                </a:solidFill>
              </a:rPr>
              <a:t>0.82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83280" y="1783080"/>
            <a:ext cx="2331720" cy="27432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MAE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2040"/>
                </a:solidFill>
              </a:rPr>
              <a:t>~25,000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2176272"/>
            <a:ext cx="2331720" cy="27432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RMSE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286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2040"/>
                </a:solidFill>
              </a:rPr>
              <a:t>~32,000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743200"/>
            <a:ext cx="2331720" cy="384048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Complex Patterns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987552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987552"/>
            <a:ext cx="2697480" cy="41148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26480" y="9875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93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R²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1508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3935"/>
                </a:solidFill>
              </a:rPr>
              <a:t>~0.60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1783080"/>
            <a:ext cx="2331720" cy="27432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MAE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2040"/>
                </a:solidFill>
              </a:rPr>
              <a:t>~35,000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2176272"/>
            <a:ext cx="2331720" cy="27432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RMSE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2286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2040"/>
                </a:solidFill>
              </a:rPr>
              <a:t>~45,000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2743200"/>
            <a:ext cx="2331720" cy="384048"/>
          </a:xfrm>
          <a:prstGeom prst="rect">
            <a:avLst/>
          </a:prstGeom>
          <a:solidFill>
            <a:srgbClr val="E53935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3935"/>
                </a:solidFill>
              </a:rPr>
              <a:t>Needs Tuning</a:t>
            </a:r>
            <a:endParaRPr lang="en-US" sz="14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74320" y="4005072"/>
          <a:ext cx="8595360" cy="987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 — Actual vs. Forecast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21628"/>
              </p:ext>
            </p:extLst>
          </p:nvPr>
        </p:nvGraphicFramePr>
        <p:xfrm>
          <a:off x="274320" y="960120"/>
          <a:ext cx="859536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Sales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2011-10-10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277,034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288,445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256,561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288,610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2011-10-17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207,615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210,366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225,070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2011-10-24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246,805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242,304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288,610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2011-10-31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230,566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239,097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249,120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288,610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2011-11-07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262,301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255,078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2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288,610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429000"/>
            <a:ext cx="8595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Interpretations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" y="3822192"/>
            <a:ext cx="9144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7"/>
          <p:cNvSpPr/>
          <p:nvPr/>
        </p:nvSpPr>
        <p:spPr>
          <a:xfrm>
            <a:off x="594360" y="379476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(R²=0.9819): Most consistent — data structure is primarily linear, making simpler model superior.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4169664"/>
            <a:ext cx="91440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4142232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Captures complex patterns but higher variance — requires additional hyperparameter tuning.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4517136"/>
            <a:ext cx="91440" cy="25603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4489704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Produced constant predictions — insufficient feature engineering or parameter misconfiguration.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C8A3543-8743-491A-A158-EC99CECC5A90}"/>
              </a:ext>
            </a:extLst>
          </p:cNvPr>
          <p:cNvGrpSpPr/>
          <p:nvPr/>
        </p:nvGrpSpPr>
        <p:grpSpPr>
          <a:xfrm>
            <a:off x="1979407" y="1172391"/>
            <a:ext cx="5029200" cy="3319272"/>
            <a:chOff x="365760" y="1051560"/>
            <a:chExt cx="5029200" cy="3319272"/>
          </a:xfrm>
        </p:grpSpPr>
        <p:sp>
          <p:nvSpPr>
            <p:cNvPr id="36" name="Shape 5">
              <a:extLst>
                <a:ext uri="{FF2B5EF4-FFF2-40B4-BE49-F238E27FC236}">
                  <a16:creationId xmlns:a16="http://schemas.microsoft.com/office/drawing/2014/main" id="{FA76F77E-C0A0-477B-8898-1B79805B4C95}"/>
                </a:ext>
              </a:extLst>
            </p:cNvPr>
            <p:cNvSpPr/>
            <p:nvPr/>
          </p:nvSpPr>
          <p:spPr>
            <a:xfrm>
              <a:off x="365760" y="1051560"/>
              <a:ext cx="5029200" cy="713232"/>
            </a:xfrm>
            <a:prstGeom prst="rect">
              <a:avLst/>
            </a:prstGeom>
            <a:solidFill>
              <a:srgbClr val="1A3A6A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7" name="Shape 6">
              <a:extLst>
                <a:ext uri="{FF2B5EF4-FFF2-40B4-BE49-F238E27FC236}">
                  <a16:creationId xmlns:a16="http://schemas.microsoft.com/office/drawing/2014/main" id="{B242A45F-E56D-4D68-B8B4-B83986976934}"/>
                </a:ext>
              </a:extLst>
            </p:cNvPr>
            <p:cNvSpPr/>
            <p:nvPr/>
          </p:nvSpPr>
          <p:spPr>
            <a:xfrm>
              <a:off x="365760" y="1051560"/>
              <a:ext cx="73152" cy="713232"/>
            </a:xfrm>
            <a:prstGeom prst="rect">
              <a:avLst/>
            </a:prstGeom>
            <a:solidFill>
              <a:srgbClr val="FFB300"/>
            </a:solidFill>
            <a:ln/>
          </p:spPr>
        </p:sp>
        <p:sp>
          <p:nvSpPr>
            <p:cNvPr id="38" name="Shape 9">
              <a:extLst>
                <a:ext uri="{FF2B5EF4-FFF2-40B4-BE49-F238E27FC236}">
                  <a16:creationId xmlns:a16="http://schemas.microsoft.com/office/drawing/2014/main" id="{E249FDEE-7FAA-441B-A74B-A112916C85C7}"/>
                </a:ext>
              </a:extLst>
            </p:cNvPr>
            <p:cNvSpPr/>
            <p:nvPr/>
          </p:nvSpPr>
          <p:spPr>
            <a:xfrm>
              <a:off x="365760" y="1920240"/>
              <a:ext cx="5029200" cy="713232"/>
            </a:xfrm>
            <a:prstGeom prst="rect">
              <a:avLst/>
            </a:prstGeom>
            <a:solidFill>
              <a:srgbClr val="1A3A6A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C75F5A97-723C-4AAC-BB11-434C4CDEB2B7}"/>
                </a:ext>
              </a:extLst>
            </p:cNvPr>
            <p:cNvSpPr/>
            <p:nvPr/>
          </p:nvSpPr>
          <p:spPr>
            <a:xfrm>
              <a:off x="365760" y="1920240"/>
              <a:ext cx="73152" cy="713232"/>
            </a:xfrm>
            <a:prstGeom prst="rect">
              <a:avLst/>
            </a:prstGeom>
            <a:solidFill>
              <a:srgbClr val="FFB300"/>
            </a:solidFill>
            <a:ln/>
          </p:spPr>
        </p:sp>
        <p:sp>
          <p:nvSpPr>
            <p:cNvPr id="40" name="Shape 13">
              <a:extLst>
                <a:ext uri="{FF2B5EF4-FFF2-40B4-BE49-F238E27FC236}">
                  <a16:creationId xmlns:a16="http://schemas.microsoft.com/office/drawing/2014/main" id="{A337B00B-9848-4087-9F22-7E7A1B15AD6D}"/>
                </a:ext>
              </a:extLst>
            </p:cNvPr>
            <p:cNvSpPr/>
            <p:nvPr/>
          </p:nvSpPr>
          <p:spPr>
            <a:xfrm>
              <a:off x="365760" y="2788920"/>
              <a:ext cx="5029200" cy="713232"/>
            </a:xfrm>
            <a:prstGeom prst="rect">
              <a:avLst/>
            </a:prstGeom>
            <a:solidFill>
              <a:srgbClr val="1A3A6A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1" name="Shape 14">
              <a:extLst>
                <a:ext uri="{FF2B5EF4-FFF2-40B4-BE49-F238E27FC236}">
                  <a16:creationId xmlns:a16="http://schemas.microsoft.com/office/drawing/2014/main" id="{E35FFCA5-2B4E-4F6D-BBD1-471C3EF1DE7F}"/>
                </a:ext>
              </a:extLst>
            </p:cNvPr>
            <p:cNvSpPr/>
            <p:nvPr/>
          </p:nvSpPr>
          <p:spPr>
            <a:xfrm>
              <a:off x="365760" y="2788920"/>
              <a:ext cx="73152" cy="713232"/>
            </a:xfrm>
            <a:prstGeom prst="rect">
              <a:avLst/>
            </a:prstGeom>
            <a:solidFill>
              <a:srgbClr val="FFB300"/>
            </a:solidFill>
            <a:ln/>
          </p:spPr>
        </p:sp>
        <p:sp>
          <p:nvSpPr>
            <p:cNvPr id="42" name="Shape 17">
              <a:extLst>
                <a:ext uri="{FF2B5EF4-FFF2-40B4-BE49-F238E27FC236}">
                  <a16:creationId xmlns:a16="http://schemas.microsoft.com/office/drawing/2014/main" id="{3A8773E3-6F2A-458B-B125-3F5D70161F1F}"/>
                </a:ext>
              </a:extLst>
            </p:cNvPr>
            <p:cNvSpPr/>
            <p:nvPr/>
          </p:nvSpPr>
          <p:spPr>
            <a:xfrm>
              <a:off x="365760" y="3657600"/>
              <a:ext cx="5029200" cy="713232"/>
            </a:xfrm>
            <a:prstGeom prst="rect">
              <a:avLst/>
            </a:prstGeom>
            <a:solidFill>
              <a:srgbClr val="1A3A6A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3" name="Shape 18">
              <a:extLst>
                <a:ext uri="{FF2B5EF4-FFF2-40B4-BE49-F238E27FC236}">
                  <a16:creationId xmlns:a16="http://schemas.microsoft.com/office/drawing/2014/main" id="{64AE3AF4-F07E-4D73-A710-2AAF6161C3F6}"/>
                </a:ext>
              </a:extLst>
            </p:cNvPr>
            <p:cNvSpPr/>
            <p:nvPr/>
          </p:nvSpPr>
          <p:spPr>
            <a:xfrm>
              <a:off x="365760" y="3657600"/>
              <a:ext cx="73152" cy="713232"/>
            </a:xfrm>
            <a:prstGeom prst="rect">
              <a:avLst/>
            </a:prstGeom>
            <a:solidFill>
              <a:srgbClr val="FFB300"/>
            </a:solidFill>
            <a:ln/>
          </p:spPr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EB7AE2-A448-4DF2-A9E1-924784623F66}"/>
              </a:ext>
            </a:extLst>
          </p:cNvPr>
          <p:cNvGrpSpPr/>
          <p:nvPr/>
        </p:nvGrpSpPr>
        <p:grpSpPr>
          <a:xfrm>
            <a:off x="2116567" y="1286691"/>
            <a:ext cx="4754880" cy="3172968"/>
            <a:chOff x="502920" y="1124712"/>
            <a:chExt cx="4754880" cy="3172968"/>
          </a:xfrm>
        </p:grpSpPr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D8ED5758-5AF3-4493-A618-1E22F45D7F32}"/>
                </a:ext>
              </a:extLst>
            </p:cNvPr>
            <p:cNvSpPr/>
            <p:nvPr/>
          </p:nvSpPr>
          <p:spPr>
            <a:xfrm>
              <a:off x="502920" y="116128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✅</a:t>
              </a:r>
              <a:endParaRPr lang="en-US" sz="1800" dirty="0"/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3F49FB24-D17C-4A1A-BCB0-CE8CD1F47444}"/>
                </a:ext>
              </a:extLst>
            </p:cNvPr>
            <p:cNvSpPr/>
            <p:nvPr/>
          </p:nvSpPr>
          <p:spPr>
            <a:xfrm>
              <a:off x="1005840" y="1124712"/>
              <a:ext cx="42519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Integrated ETL + Star Schema + ML pipeline successfully built for weekly e-commerce sales forecasting</a:t>
              </a:r>
              <a:endParaRPr lang="en-US" sz="1200" dirty="0"/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F8F4267C-F7D3-453C-8468-4C76AEA6DD59}"/>
                </a:ext>
              </a:extLst>
            </p:cNvPr>
            <p:cNvSpPr/>
            <p:nvPr/>
          </p:nvSpPr>
          <p:spPr>
            <a:xfrm>
              <a:off x="502920" y="202996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🏆</a:t>
              </a:r>
              <a:endParaRPr lang="en-US" sz="1800" dirty="0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DE3F3E40-AC23-4FD8-ADF1-C2E636BAAFD3}"/>
                </a:ext>
              </a:extLst>
            </p:cNvPr>
            <p:cNvSpPr/>
            <p:nvPr/>
          </p:nvSpPr>
          <p:spPr>
            <a:xfrm>
              <a:off x="1005840" y="1993392"/>
              <a:ext cx="42519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Linear Regression outperformed with R²=0.9819 — proving simpler models win when data structure supports it</a:t>
              </a:r>
              <a:endParaRPr lang="en-US" sz="1200" dirty="0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60D62BC2-9798-4638-9E8D-7330DF403060}"/>
                </a:ext>
              </a:extLst>
            </p:cNvPr>
            <p:cNvSpPr/>
            <p:nvPr/>
          </p:nvSpPr>
          <p:spPr>
            <a:xfrm>
              <a:off x="502920" y="289864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📈</a:t>
              </a:r>
              <a:endParaRPr lang="en-US" sz="1800" dirty="0"/>
            </a:p>
          </p:txBody>
        </p:sp>
        <p:sp>
          <p:nvSpPr>
            <p:cNvPr id="50" name="Text 16">
              <a:extLst>
                <a:ext uri="{FF2B5EF4-FFF2-40B4-BE49-F238E27FC236}">
                  <a16:creationId xmlns:a16="http://schemas.microsoft.com/office/drawing/2014/main" id="{0227B4C1-002B-48F8-997C-486346CA088B}"/>
                </a:ext>
              </a:extLst>
            </p:cNvPr>
            <p:cNvSpPr/>
            <p:nvPr/>
          </p:nvSpPr>
          <p:spPr>
            <a:xfrm>
              <a:off x="1005840" y="2862072"/>
              <a:ext cx="42519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 engineering (lag, rolling mean, transaction/customer counts) was critical to model performance</a:t>
              </a:r>
              <a:endParaRPr lang="en-US" sz="12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6AB9E252-97F5-4FA8-B751-A0C0B9B998FB}"/>
                </a:ext>
              </a:extLst>
            </p:cNvPr>
            <p:cNvSpPr/>
            <p:nvPr/>
          </p:nvSpPr>
          <p:spPr>
            <a:xfrm>
              <a:off x="502920" y="376732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🖥</a:t>
              </a:r>
              <a:endParaRPr lang="en-US" sz="1800" dirty="0"/>
            </a:p>
          </p:txBody>
        </p:sp>
        <p:sp>
          <p:nvSpPr>
            <p:cNvPr id="52" name="Text 20">
              <a:extLst>
                <a:ext uri="{FF2B5EF4-FFF2-40B4-BE49-F238E27FC236}">
                  <a16:creationId xmlns:a16="http://schemas.microsoft.com/office/drawing/2014/main" id="{E4225440-3B8C-4784-9ABB-DB97D3FC05F1}"/>
                </a:ext>
              </a:extLst>
            </p:cNvPr>
            <p:cNvSpPr/>
            <p:nvPr/>
          </p:nvSpPr>
          <p:spPr>
            <a:xfrm>
              <a:off x="1005840" y="3730752"/>
              <a:ext cx="425196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 dashboard makes AI insights accessible to non-technical business managers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2662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30986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3098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1149858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261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future-week forecasting (beyond test set)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1835658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3565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1954530"/>
            <a:ext cx="45720" cy="4572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64033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4033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60120" y="2759202"/>
            <a:ext cx="457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445002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44500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60120" y="3563874"/>
            <a:ext cx="4572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4249674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24967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0120" y="4368546"/>
            <a:ext cx="45720" cy="4572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D675E87E-7CB9-4010-A97B-9F7E8C706314}"/>
              </a:ext>
            </a:extLst>
          </p:cNvPr>
          <p:cNvSpPr/>
          <p:nvPr/>
        </p:nvSpPr>
        <p:spPr>
          <a:xfrm>
            <a:off x="1143000" y="203682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ARIMA / LSTM deep learning models</a:t>
            </a: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183D1012-0395-4483-A5DF-FACEB98CDFC8}"/>
              </a:ext>
            </a:extLst>
          </p:cNvPr>
          <p:cNvSpPr/>
          <p:nvPr/>
        </p:nvSpPr>
        <p:spPr>
          <a:xfrm>
            <a:off x="1143000" y="284149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holidays, promotions, seasonality</a:t>
            </a: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B541BCE-C9BC-4C33-A11B-27277CF82061}"/>
              </a:ext>
            </a:extLst>
          </p:cNvPr>
          <p:cNvSpPr/>
          <p:nvPr/>
        </p:nvSpPr>
        <p:spPr>
          <a:xfrm>
            <a:off x="1143000" y="364617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streaming updates</a:t>
            </a: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A5AB1616-AD71-46EF-B48D-02963E54619E}"/>
              </a:ext>
            </a:extLst>
          </p:cNvPr>
          <p:cNvSpPr/>
          <p:nvPr/>
        </p:nvSpPr>
        <p:spPr>
          <a:xfrm>
            <a:off x="1143000" y="445084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deployment of Streamlit dashboard</a:t>
            </a:r>
          </a:p>
        </p:txBody>
      </p:sp>
    </p:spTree>
    <p:extLst>
      <p:ext uri="{BB962C8B-B14F-4D97-AF65-F5344CB8AC3E}">
        <p14:creationId xmlns:p14="http://schemas.microsoft.com/office/powerpoint/2010/main" val="3058456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5072" y="-914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C6A4EE01-9B88-477E-88F2-D0182558DFDA}"/>
              </a:ext>
            </a:extLst>
          </p:cNvPr>
          <p:cNvSpPr/>
          <p:nvPr/>
        </p:nvSpPr>
        <p:spPr>
          <a:xfrm>
            <a:off x="3138929" y="868681"/>
            <a:ext cx="3085138" cy="3503918"/>
          </a:xfrm>
          <a:custGeom>
            <a:avLst/>
            <a:gdLst/>
            <a:ahLst/>
            <a:cxnLst/>
            <a:rect l="l" t="t" r="r" b="b"/>
            <a:pathLst>
              <a:path w="6799707" h="8229600">
                <a:moveTo>
                  <a:pt x="0" y="0"/>
                </a:moveTo>
                <a:lnTo>
                  <a:pt x="6799708" y="0"/>
                </a:lnTo>
                <a:lnTo>
                  <a:pt x="67997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73979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883</Words>
  <Application>Microsoft Office PowerPoint</Application>
  <PresentationFormat>On-screen Show (16:9)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BI and ML for E-Commerce Sales Forecasting</dc:title>
  <dc:subject>PptxGenJS Presentation</dc:subject>
  <dc:creator>PptxGenJS</dc:creator>
  <cp:lastModifiedBy>Md. Shakil Hossain</cp:lastModifiedBy>
  <cp:revision>5</cp:revision>
  <dcterms:created xsi:type="dcterms:W3CDTF">2026-05-10T14:01:29Z</dcterms:created>
  <dcterms:modified xsi:type="dcterms:W3CDTF">2026-05-10T15:29:55Z</dcterms:modified>
</cp:coreProperties>
</file>