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59" r:id="rId6"/>
    <p:sldId id="266" r:id="rId7"/>
    <p:sldId id="261" r:id="rId8"/>
    <p:sldId id="262" r:id="rId9"/>
    <p:sldId id="263" r:id="rId10"/>
    <p:sldId id="264" r:id="rId11"/>
    <p:sldId id="268" r:id="rId12"/>
    <p:sldId id="269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6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Score</c:v>
                </c:pt>
              </c:strCache>
            </c:strRef>
          </c:tx>
          <c:spPr>
            <a:solidFill>
              <a:srgbClr val="1565C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AED-44F5-A1AE-1D4AF0A211E2}"/>
              </c:ext>
            </c:extLst>
          </c:dPt>
          <c:dPt>
            <c:idx val="1"/>
            <c:invertIfNegative val="0"/>
            <c:bubble3D val="0"/>
            <c:spPr>
              <a:solidFill>
                <a:srgbClr val="00897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AED-44F5-A1AE-1D4AF0A211E2}"/>
              </c:ext>
            </c:extLst>
          </c:dPt>
          <c:dPt>
            <c:idx val="2"/>
            <c:invertIfNegative val="0"/>
            <c:bubble3D val="0"/>
            <c:spPr>
              <a:solidFill>
                <a:srgbClr val="E5393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AED-44F5-A1AE-1D4AF0A211E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0204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Linear Regression</c:v>
                </c:pt>
                <c:pt idx="1">
                  <c:v>Random Forest</c:v>
                </c:pt>
                <c:pt idx="2">
                  <c:v>XGBoost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0.9819</c:v>
                </c:pt>
                <c:pt idx="1">
                  <c:v>0.82</c:v>
                </c:pt>
                <c:pt idx="2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AED-44F5-A1AE-1D4AF0A211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0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46E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27191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75448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3165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1195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159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2">
            <a:extLst>
              <a:ext uri="{FF2B5EF4-FFF2-40B4-BE49-F238E27FC236}">
                <a16:creationId xmlns:a16="http://schemas.microsoft.com/office/drawing/2014/main" id="{F187D102-B045-463C-9A1F-E968668FC7EA}"/>
              </a:ext>
            </a:extLst>
          </p:cNvPr>
          <p:cNvSpPr/>
          <p:nvPr/>
        </p:nvSpPr>
        <p:spPr>
          <a:xfrm>
            <a:off x="3731807" y="2712848"/>
            <a:ext cx="2155334" cy="1761888"/>
          </a:xfrm>
          <a:custGeom>
            <a:avLst/>
            <a:gdLst/>
            <a:ahLst/>
            <a:cxnLst/>
            <a:rect l="l" t="t" r="r" b="b"/>
            <a:pathLst>
              <a:path w="3727838" h="3396993">
                <a:moveTo>
                  <a:pt x="0" y="0"/>
                </a:moveTo>
                <a:lnTo>
                  <a:pt x="3727839" y="0"/>
                </a:lnTo>
                <a:lnTo>
                  <a:pt x="3727839" y="3396993"/>
                </a:lnTo>
                <a:lnTo>
                  <a:pt x="0" y="33969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0" y="-457200"/>
            <a:ext cx="3200400" cy="3200400"/>
          </a:xfrm>
          <a:prstGeom prst="ellipse">
            <a:avLst/>
          </a:prstGeom>
          <a:solidFill>
            <a:srgbClr val="1565C0">
              <a:alpha val="20000"/>
            </a:srgbClr>
          </a:solidFill>
          <a:ln w="12700">
            <a:solidFill>
              <a:srgbClr val="1565C0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0" y="2286000"/>
            <a:ext cx="2286000" cy="2286000"/>
          </a:xfrm>
          <a:prstGeom prst="ellipse">
            <a:avLst/>
          </a:prstGeom>
          <a:solidFill>
            <a:srgbClr val="00BCD4">
              <a:alpha val="15000"/>
            </a:srgbClr>
          </a:solidFill>
          <a:ln w="12700">
            <a:solidFill>
              <a:srgbClr val="00BCD4">
                <a:alpha val="1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822960"/>
            <a:ext cx="6858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Business Intelligence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11480" y="146304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Machine Learning Approach for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11480" y="201168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Sales Forecasting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11479" y="2743199"/>
            <a:ext cx="4875135" cy="54865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880360"/>
            <a:ext cx="3474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Biliaminu Ishola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Md. Shakil Hossain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Ajmal Hamidi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7490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Dr. Mona Alsaleem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9728" y="4892040"/>
            <a:ext cx="9034272" cy="251460"/>
          </a:xfrm>
          <a:prstGeom prst="rect">
            <a:avLst/>
          </a:prstGeom>
          <a:solidFill>
            <a:srgbClr val="1565C0">
              <a:alpha val="6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92040"/>
            <a:ext cx="82296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B0BEC5"/>
                </a:solidFill>
              </a:rPr>
              <a:t>Master of Science in Information Technology | College of Computer  | Qassim University |  Kingdom of Saudi Arabia</a:t>
            </a:r>
            <a:endParaRPr lang="en-US" sz="900" dirty="0"/>
          </a:p>
        </p:txBody>
      </p:sp>
      <p:sp>
        <p:nvSpPr>
          <p:cNvPr id="16" name="Freeform 6">
            <a:extLst>
              <a:ext uri="{FF2B5EF4-FFF2-40B4-BE49-F238E27FC236}">
                <a16:creationId xmlns:a16="http://schemas.microsoft.com/office/drawing/2014/main" id="{D66C2221-D5AD-416E-9FD0-029004DA3CBB}"/>
              </a:ext>
            </a:extLst>
          </p:cNvPr>
          <p:cNvSpPr/>
          <p:nvPr/>
        </p:nvSpPr>
        <p:spPr>
          <a:xfrm>
            <a:off x="6767556" y="80021"/>
            <a:ext cx="2286000" cy="849748"/>
          </a:xfrm>
          <a:custGeom>
            <a:avLst/>
            <a:gdLst/>
            <a:ahLst/>
            <a:cxnLst/>
            <a:rect l="l" t="t" r="r" b="b"/>
            <a:pathLst>
              <a:path w="4029963" h="1191339">
                <a:moveTo>
                  <a:pt x="0" y="0"/>
                </a:moveTo>
                <a:lnTo>
                  <a:pt x="4029963" y="0"/>
                </a:lnTo>
                <a:lnTo>
                  <a:pt x="4029963" y="1191339"/>
                </a:lnTo>
                <a:lnTo>
                  <a:pt x="0" y="11913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6000">
        <p15:prstTrans prst="curtains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15368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Outline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30986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30986"/>
            <a:ext cx="594360" cy="69494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3098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60120" y="1149858"/>
            <a:ext cx="45720" cy="4572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11328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097280" y="1405890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motivation, objectives, and research questions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1835658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835658"/>
            <a:ext cx="594360" cy="694944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83565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60120" y="1954530"/>
            <a:ext cx="45720" cy="4572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191795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97280" y="2210562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forecasting methods, ML approaches, and BI frameworks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640330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640330"/>
            <a:ext cx="594360" cy="69494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64033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60120" y="2759202"/>
            <a:ext cx="45720" cy="4572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1097280" y="272262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97280" y="3015234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pipeline, star schema data warehouse, feature engineering &amp; ML models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445002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445002"/>
            <a:ext cx="594360" cy="694944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44500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960120" y="3563874"/>
            <a:ext cx="45720" cy="4572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7" name="Text 25"/>
          <p:cNvSpPr/>
          <p:nvPr/>
        </p:nvSpPr>
        <p:spPr>
          <a:xfrm>
            <a:off x="1097280" y="352729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97280" y="3819906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— Linear Regression, Random Forest &amp; XGBoost comparison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249674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4249674"/>
            <a:ext cx="594360" cy="694944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24967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05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0120" y="4368546"/>
            <a:ext cx="45720" cy="45720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3" name="Text 31"/>
          <p:cNvSpPr/>
          <p:nvPr/>
        </p:nvSpPr>
        <p:spPr>
          <a:xfrm>
            <a:off x="1097280" y="433197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1097280" y="4624578"/>
            <a:ext cx="7498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findings, study limitations, and recommended next steps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Statement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05840"/>
            <a:ext cx="402336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05840"/>
            <a:ext cx="4023360" cy="36576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0058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Problem Statement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11480" y="1646688"/>
            <a:ext cx="201168" cy="201168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64668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85800" y="1508760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data sources — sales, feedback &amp; marketing kept in silos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2222760"/>
            <a:ext cx="201168" cy="201168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22227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2084832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BI only delivers lagging indicators, not forecasts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798832"/>
            <a:ext cx="201168" cy="201168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79883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85800" y="2660904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models fail to capture non-linear sales behavior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374904"/>
            <a:ext cx="201168" cy="201168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337490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85800" y="323697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Inefficient forecasting during promotions (Black Friday, etc.)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3950976"/>
            <a:ext cx="201168" cy="201168"/>
          </a:xfrm>
          <a:prstGeom prst="ellipse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9509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" y="3813048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prediction updates as transactions occur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0" y="1005840"/>
            <a:ext cx="42976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1005840"/>
            <a:ext cx="4297680" cy="36576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10058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Proposed Solution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709160" y="1463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BI–ML Framework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70916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UCI Online Retail Dataset with state-of-the-art ML models integrated into a BI dashboard for proactive, data-driven decisions.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709160" y="2641540"/>
            <a:ext cx="164592" cy="1645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25146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sales trend analysis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3126172"/>
            <a:ext cx="164592" cy="1645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29992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&amp; time effects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09160" y="3610804"/>
            <a:ext cx="164592" cy="1645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348386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impact assessment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4095436"/>
            <a:ext cx="164592" cy="16459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5" name="Text 33"/>
          <p:cNvSpPr/>
          <p:nvPr/>
        </p:nvSpPr>
        <p:spPr>
          <a:xfrm>
            <a:off x="4983480" y="396849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BI dashboard for managers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4297680"/>
            <a:ext cx="4023360" cy="32004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7" name="Text 35"/>
          <p:cNvSpPr/>
          <p:nvPr/>
        </p:nvSpPr>
        <p:spPr>
          <a:xfrm>
            <a:off x="470916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565C0"/>
                </a:solidFill>
              </a:rPr>
              <a:t>Shift: Reactive Insights  →  Proactive Insights</a:t>
            </a:r>
            <a:endParaRPr lang="en-US" sz="1100"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60120"/>
            <a:ext cx="416052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Accuracy Improvement</a:t>
            </a:r>
          </a:p>
        </p:txBody>
      </p:sp>
      <p:sp>
        <p:nvSpPr>
          <p:cNvPr id="8" name="Text 6"/>
          <p:cNvSpPr/>
          <p:nvPr/>
        </p:nvSpPr>
        <p:spPr>
          <a:xfrm>
            <a:off x="411480" y="159816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SzPct val="100000"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RQ1: How does BI-ML integration enhance forecasting accuracy?</a:t>
            </a:r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60520" cy="1280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Influential Features</a:t>
            </a:r>
          </a:p>
        </p:txBody>
      </p:sp>
      <p:sp>
        <p:nvSpPr>
          <p:cNvPr id="19" name="Shape 17"/>
          <p:cNvSpPr/>
          <p:nvPr/>
        </p:nvSpPr>
        <p:spPr>
          <a:xfrm>
            <a:off x="274320" y="2953512"/>
            <a:ext cx="4160520" cy="133273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53512"/>
            <a:ext cx="4160520" cy="34747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95351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Algorithm Comparison</a:t>
            </a:r>
          </a:p>
        </p:txBody>
      </p:sp>
      <p:sp>
        <p:nvSpPr>
          <p:cNvPr id="26" name="Shape 24"/>
          <p:cNvSpPr/>
          <p:nvPr/>
        </p:nvSpPr>
        <p:spPr>
          <a:xfrm>
            <a:off x="4754880" y="2953512"/>
            <a:ext cx="4160520" cy="133273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953512"/>
            <a:ext cx="4160520" cy="347472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295351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Interpretability</a:t>
            </a:r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B7FB25AD-666F-4C59-BCCF-2ED7AD6AD39B}"/>
              </a:ext>
            </a:extLst>
          </p:cNvPr>
          <p:cNvSpPr/>
          <p:nvPr/>
        </p:nvSpPr>
        <p:spPr>
          <a:xfrm>
            <a:off x="4892040" y="160401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SzPct val="100000"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RQ2: Which data features impact sales predictions most?</a:t>
            </a:r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5F450D3-CB3A-41B8-9E65-FA5CC1484BE9}"/>
              </a:ext>
            </a:extLst>
          </p:cNvPr>
          <p:cNvSpPr/>
          <p:nvPr/>
        </p:nvSpPr>
        <p:spPr>
          <a:xfrm>
            <a:off x="411480" y="361111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SzPct val="100000"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RQ3: Which ML models perform best in a BI environment?</a:t>
            </a:r>
          </a:p>
        </p:txBody>
      </p:sp>
      <p:sp>
        <p:nvSpPr>
          <p:cNvPr id="35" name="Text 6">
            <a:extLst>
              <a:ext uri="{FF2B5EF4-FFF2-40B4-BE49-F238E27FC236}">
                <a16:creationId xmlns:a16="http://schemas.microsoft.com/office/drawing/2014/main" id="{9CAFE194-BD8F-447A-9629-B3A218016645}"/>
              </a:ext>
            </a:extLst>
          </p:cNvPr>
          <p:cNvSpPr/>
          <p:nvPr/>
        </p:nvSpPr>
        <p:spPr>
          <a:xfrm>
            <a:off x="4892040" y="361492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SzPct val="100000"/>
            </a:pPr>
            <a:r>
              <a:rPr lang="en-US" sz="11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RQ4: How does integration improve decision-making for managers?</a:t>
            </a:r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005840"/>
            <a:ext cx="411480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05840"/>
            <a:ext cx="73152" cy="16916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2152060" y="1143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4632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Framework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84632" y="18745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integrated BI-ML pipeline for e-commerce weekly sales forecasting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11480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73152" cy="169164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2" name="Text 10"/>
          <p:cNvSpPr/>
          <p:nvPr/>
        </p:nvSpPr>
        <p:spPr>
          <a:xfrm>
            <a:off x="6540796" y="1143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⚖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19472" y="1554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919472" y="18745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Linear Regression, Random Forest &amp; XGBoost against each other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926080"/>
            <a:ext cx="411480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926080"/>
            <a:ext cx="73152" cy="169164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17" name="Text 15"/>
          <p:cNvSpPr/>
          <p:nvPr/>
        </p:nvSpPr>
        <p:spPr>
          <a:xfrm>
            <a:off x="2136692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4632" y="3474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Drivers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84632" y="37947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most impactful features (unit price, quantity, country, time)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54880" y="2926080"/>
            <a:ext cx="411480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2926080"/>
            <a:ext cx="73152" cy="1691640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22" name="Text 20"/>
          <p:cNvSpPr/>
          <p:nvPr/>
        </p:nvSpPr>
        <p:spPr>
          <a:xfrm>
            <a:off x="6487008" y="30632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919472" y="3474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Decisions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919472" y="37947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AI predictions accessible to non-technical managers via dashboard</a:t>
            </a:r>
            <a:endParaRPr lang="en-US" sz="1050"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60120"/>
            <a:ext cx="4160520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Traditional Methods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134416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ARIMA, ETS — strong on trend/seasonality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168249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on high-volatility &amp; promotions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02082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model non-linear interactions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359152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M3/M4: no single method dominates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4160520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ML for Forecasting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92040" y="134416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23.2% lower error vs ARIMA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168249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robust ensembles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202082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captures sequence dependencies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2359152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Transformers: long-range attention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2953512"/>
            <a:ext cx="4160520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2953512"/>
            <a:ext cx="4160520" cy="347472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295351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BI Frameworks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11480" y="333756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(Kimball) for warehousing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367588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+ Dimension table design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401421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dashboards for stakeholders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435254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Spark for BI+ML pipelines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2953512"/>
            <a:ext cx="4160520" cy="181051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953512"/>
            <a:ext cx="4160520" cy="347472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0" y="2953512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Integration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92040" y="3337560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values for explainability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92040" y="3675888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for model monitoring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92040" y="401421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errors → 15–20% inventory cost savings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92040" y="4352544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technical debt (Sculley et al.)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459543598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05840"/>
            <a:ext cx="1508760" cy="1371600"/>
          </a:xfrm>
          <a:prstGeom prst="rect">
            <a:avLst/>
          </a:prstGeom>
          <a:solidFill>
            <a:srgbClr val="1565C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0058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7472" y="1481328"/>
            <a:ext cx="1362456" cy="82296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47472" y="1481328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UCI Online Retail Dataset</a:t>
            </a:r>
          </a:p>
          <a:p>
            <a:pPr marL="0" indent="0" algn="ctr">
              <a:buNone/>
            </a:pPr>
            <a:r>
              <a:rPr lang="en-US" sz="900" dirty="0"/>
              <a:t>541K transactions</a:t>
            </a:r>
          </a:p>
        </p:txBody>
      </p:sp>
      <p:sp>
        <p:nvSpPr>
          <p:cNvPr id="9" name="Shape 7"/>
          <p:cNvSpPr/>
          <p:nvPr/>
        </p:nvSpPr>
        <p:spPr>
          <a:xfrm>
            <a:off x="1783080" y="1645920"/>
            <a:ext cx="228600" cy="9144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10" name="Shape 8"/>
          <p:cNvSpPr/>
          <p:nvPr/>
        </p:nvSpPr>
        <p:spPr>
          <a:xfrm>
            <a:off x="2011680" y="1005840"/>
            <a:ext cx="1508760" cy="1371600"/>
          </a:xfrm>
          <a:prstGeom prst="rect">
            <a:avLst/>
          </a:prstGeom>
          <a:solidFill>
            <a:srgbClr val="00897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011680" y="10058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ETL Process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84832" y="1481328"/>
            <a:ext cx="1362456" cy="82296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084832" y="1481328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Extract → Clean → Transform</a:t>
            </a:r>
          </a:p>
          <a:p>
            <a:pPr marL="0" indent="0" algn="ctr">
              <a:buNone/>
            </a:pPr>
            <a:r>
              <a:rPr lang="en-US" sz="900" dirty="0"/>
              <a:t>Derive revenue features</a:t>
            </a:r>
          </a:p>
        </p:txBody>
      </p:sp>
      <p:sp>
        <p:nvSpPr>
          <p:cNvPr id="14" name="Shape 12"/>
          <p:cNvSpPr/>
          <p:nvPr/>
        </p:nvSpPr>
        <p:spPr>
          <a:xfrm>
            <a:off x="3520440" y="1645920"/>
            <a:ext cx="228600" cy="9144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15" name="Shape 13"/>
          <p:cNvSpPr/>
          <p:nvPr/>
        </p:nvSpPr>
        <p:spPr>
          <a:xfrm>
            <a:off x="3749040" y="1005840"/>
            <a:ext cx="1508760" cy="1371600"/>
          </a:xfrm>
          <a:prstGeom prst="rect">
            <a:avLst/>
          </a:prstGeom>
          <a:solidFill>
            <a:srgbClr val="00BCD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49040" y="10058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Warehouse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22192" y="1481328"/>
            <a:ext cx="1362456" cy="82296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822192" y="1481328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Star Schema</a:t>
            </a:r>
          </a:p>
          <a:p>
            <a:pPr marL="0" indent="0" algn="ctr">
              <a:buNone/>
            </a:pPr>
            <a:r>
              <a:rPr lang="en-US" sz="900" dirty="0"/>
              <a:t>Fact + Dim tables</a:t>
            </a:r>
          </a:p>
        </p:txBody>
      </p:sp>
      <p:sp>
        <p:nvSpPr>
          <p:cNvPr id="19" name="Shape 17"/>
          <p:cNvSpPr/>
          <p:nvPr/>
        </p:nvSpPr>
        <p:spPr>
          <a:xfrm>
            <a:off x="5257800" y="1645920"/>
            <a:ext cx="228600" cy="9144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0" y="1005840"/>
            <a:ext cx="1508760" cy="1371600"/>
          </a:xfrm>
          <a:prstGeom prst="rect">
            <a:avLst/>
          </a:prstGeom>
          <a:solidFill>
            <a:srgbClr val="FFB30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0" y="10058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Feature Eng.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559552" y="1481328"/>
            <a:ext cx="1362456" cy="82296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559552" y="1481328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Lag features, rolling</a:t>
            </a:r>
          </a:p>
          <a:p>
            <a:pPr marL="0" indent="0" algn="ctr">
              <a:buNone/>
            </a:pPr>
            <a:r>
              <a:rPr lang="en-US" sz="900" dirty="0"/>
              <a:t>means, trend capture</a:t>
            </a:r>
          </a:p>
        </p:txBody>
      </p:sp>
      <p:sp>
        <p:nvSpPr>
          <p:cNvPr id="24" name="Shape 22"/>
          <p:cNvSpPr/>
          <p:nvPr/>
        </p:nvSpPr>
        <p:spPr>
          <a:xfrm>
            <a:off x="6995160" y="1645920"/>
            <a:ext cx="228600" cy="9144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25" name="Shape 23"/>
          <p:cNvSpPr/>
          <p:nvPr/>
        </p:nvSpPr>
        <p:spPr>
          <a:xfrm>
            <a:off x="7223760" y="1005840"/>
            <a:ext cx="1508760" cy="1371600"/>
          </a:xfrm>
          <a:prstGeom prst="rect">
            <a:avLst/>
          </a:prstGeom>
          <a:solidFill>
            <a:srgbClr val="E5393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223760" y="100584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ML Models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296912" y="1481328"/>
            <a:ext cx="1362456" cy="82296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296912" y="1481328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/>
              <a:t>Linear Reg. / Random</a:t>
            </a:r>
          </a:p>
          <a:p>
            <a:pPr marL="0" indent="0" algn="ctr">
              <a:buNone/>
            </a:pPr>
            <a:r>
              <a:rPr lang="en-US" sz="900" dirty="0"/>
              <a:t>Forest / XGBoost</a:t>
            </a:r>
          </a:p>
        </p:txBody>
      </p:sp>
      <p:sp>
        <p:nvSpPr>
          <p:cNvPr id="29" name="Shape 27"/>
          <p:cNvSpPr/>
          <p:nvPr/>
        </p:nvSpPr>
        <p:spPr>
          <a:xfrm>
            <a:off x="274320" y="260604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74320" y="2606040"/>
            <a:ext cx="3931920" cy="36576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2606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Model Evaluation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30175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02040"/>
                </a:solidFill>
              </a:rPr>
              <a:t>80/20 chronological train-test split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02040"/>
                </a:solidFill>
              </a:rPr>
              <a:t>MAE  |  RMSE  |  R² (variance explained)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260604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2606040"/>
            <a:ext cx="4114800" cy="36576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35" name="Text 33"/>
          <p:cNvSpPr/>
          <p:nvPr/>
        </p:nvSpPr>
        <p:spPr>
          <a:xfrm>
            <a:off x="4663440" y="26060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Dashboard Integration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30175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02040"/>
                </a:solidFill>
              </a:rPr>
              <a:t>Streamlit dashboard visualizing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02040"/>
                </a:solidFill>
              </a:rPr>
              <a:t>actual vs. predicted weekly sales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02040"/>
                </a:solidFill>
              </a:rPr>
              <a:t>for non-technical decision-makers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274320" y="4114800"/>
            <a:ext cx="8503920" cy="82296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</a:rPr>
              <a:t>🛠  Tools &amp; Technologies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57200" y="44074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02040"/>
                </a:solidFill>
              </a:rPr>
              <a:t>Python  ·  Pandas  ·  Scikit-Learn  ·  XGBoost  ·  Matplotlib  ·  Streamlit  ·  Visual Studio Code</a:t>
            </a:r>
            <a:endParaRPr lang="en-US" sz="1050" dirty="0"/>
          </a:p>
        </p:txBody>
      </p:sp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 &amp; Feature Engineering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1828800"/>
            <a:ext cx="2743200" cy="2011680"/>
          </a:xfrm>
          <a:prstGeom prst="rect">
            <a:avLst/>
          </a:prstGeom>
          <a:solidFill>
            <a:srgbClr val="1565C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0" y="18288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FactWeeklySales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291840" y="22128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Week_ID (PK)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91840" y="243230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Total_Sales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291840" y="26517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Transaction_Count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91840" y="287121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Customer_Count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291840" y="3090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Quantity_Sold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91840" y="331012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Unique_Products_Sold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291840" y="352958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Avg_Order_Value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82880" y="1645920"/>
            <a:ext cx="2377440" cy="1645920"/>
          </a:xfrm>
          <a:prstGeom prst="rect">
            <a:avLst/>
          </a:prstGeom>
          <a:solidFill>
            <a:srgbClr val="00897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82880" y="164592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DimDate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20040" y="20116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Date_ID (PK)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0040" y="224942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Week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0040" y="2487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Month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0040" y="272491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Quarter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20040" y="296265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Year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560320" y="2606040"/>
            <a:ext cx="640080" cy="4572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22" name="Shape 20"/>
          <p:cNvSpPr/>
          <p:nvPr/>
        </p:nvSpPr>
        <p:spPr>
          <a:xfrm>
            <a:off x="182880" y="3520440"/>
            <a:ext cx="2377440" cy="1280160"/>
          </a:xfrm>
          <a:prstGeom prst="rect">
            <a:avLst/>
          </a:prstGeom>
          <a:solidFill>
            <a:srgbClr val="00BCD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82880" y="352044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DimProduct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20040" y="388620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Product_ID (PK)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0040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Description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20040" y="43982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UnitPrice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560320" y="3794760"/>
            <a:ext cx="640080" cy="4572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28" name="Shape 26"/>
          <p:cNvSpPr/>
          <p:nvPr/>
        </p:nvSpPr>
        <p:spPr>
          <a:xfrm>
            <a:off x="6583680" y="2194560"/>
            <a:ext cx="2286000" cy="1097280"/>
          </a:xfrm>
          <a:prstGeom prst="rect">
            <a:avLst/>
          </a:prstGeom>
          <a:solidFill>
            <a:srgbClr val="FFB30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83680" y="21945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DimCustomer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20840" y="2560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Customer_ID (PK)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720840" y="281635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FFFFF"/>
                </a:solidFill>
              </a:rPr>
              <a:t>Country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943600" y="2606040"/>
            <a:ext cx="640080" cy="45720"/>
          </a:xfrm>
          <a:prstGeom prst="rect">
            <a:avLst/>
          </a:prstGeom>
          <a:solidFill>
            <a:srgbClr val="546E7A"/>
          </a:solidFill>
          <a:ln/>
        </p:spPr>
      </p:sp>
      <p:sp>
        <p:nvSpPr>
          <p:cNvPr id="33" name="Shape 31"/>
          <p:cNvSpPr/>
          <p:nvPr/>
        </p:nvSpPr>
        <p:spPr>
          <a:xfrm>
            <a:off x="182880" y="914400"/>
            <a:ext cx="8778240" cy="594360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4" name="Text 32"/>
          <p:cNvSpPr/>
          <p:nvPr/>
        </p:nvSpPr>
        <p:spPr>
          <a:xfrm>
            <a:off x="320040" y="91440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02040"/>
                </a:solidFill>
              </a:rPr>
              <a:t>Feature Engineering: Lag_1 / Lag_2 / Lag_3 (prior week sales)  +  Rolling Mean (N weeks smoothing)  +  Transaction Count · Customer Count · Avg Order Value</a:t>
            </a:r>
            <a:endParaRPr lang="en-US" sz="1000" dirty="0"/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Model Performance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987552"/>
            <a:ext cx="26974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987552"/>
            <a:ext cx="2697480" cy="41148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98755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Linear Regression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R²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565C0"/>
                </a:solidFill>
              </a:rPr>
              <a:t>0.9819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783080"/>
            <a:ext cx="2331720" cy="27432"/>
          </a:xfrm>
          <a:prstGeom prst="rect">
            <a:avLst/>
          </a:prstGeom>
          <a:solidFill>
            <a:srgbClr val="B0BEC5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901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MAE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02040"/>
                </a:solidFill>
              </a:rPr>
              <a:t>~12,500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176272"/>
            <a:ext cx="2331720" cy="27432"/>
          </a:xfrm>
          <a:prstGeom prst="rect">
            <a:avLst/>
          </a:prstGeom>
          <a:solidFill>
            <a:srgbClr val="B0BEC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2860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RMSE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286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02040"/>
                </a:solidFill>
              </a:rPr>
              <a:t>~16,800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2331720" cy="384048"/>
          </a:xfrm>
          <a:prstGeom prst="rect">
            <a:avLst/>
          </a:prstGeom>
          <a:solidFill>
            <a:srgbClr val="00897B">
              <a:alpha val="2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43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897B"/>
                </a:solidFill>
              </a:rPr>
              <a:t>Best Overall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00400" y="987552"/>
            <a:ext cx="26974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987552"/>
            <a:ext cx="2697480" cy="41148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98755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Random Forest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383280" y="1508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R²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297680" y="15087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0897B"/>
                </a:solidFill>
              </a:rPr>
              <a:t>0.82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83280" y="1783080"/>
            <a:ext cx="2331720" cy="27432"/>
          </a:xfrm>
          <a:prstGeom prst="rect">
            <a:avLst/>
          </a:prstGeom>
          <a:solidFill>
            <a:srgbClr val="B0BEC5"/>
          </a:solidFill>
          <a:ln/>
        </p:spPr>
      </p:sp>
      <p:sp>
        <p:nvSpPr>
          <p:cNvPr id="24" name="Text 22"/>
          <p:cNvSpPr/>
          <p:nvPr/>
        </p:nvSpPr>
        <p:spPr>
          <a:xfrm>
            <a:off x="3383280" y="1901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MAE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297680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02040"/>
                </a:solidFill>
              </a:rPr>
              <a:t>~25,000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383280" y="2176272"/>
            <a:ext cx="2331720" cy="27432"/>
          </a:xfrm>
          <a:prstGeom prst="rect">
            <a:avLst/>
          </a:prstGeom>
          <a:solidFill>
            <a:srgbClr val="B0BEC5"/>
          </a:solidFill>
          <a:ln/>
        </p:spPr>
      </p:sp>
      <p:sp>
        <p:nvSpPr>
          <p:cNvPr id="27" name="Text 25"/>
          <p:cNvSpPr/>
          <p:nvPr/>
        </p:nvSpPr>
        <p:spPr>
          <a:xfrm>
            <a:off x="3383280" y="22860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RMSE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286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02040"/>
                </a:solidFill>
              </a:rPr>
              <a:t>~32,000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83280" y="2743200"/>
            <a:ext cx="2331720" cy="384048"/>
          </a:xfrm>
          <a:prstGeom prst="rect">
            <a:avLst/>
          </a:prstGeom>
          <a:solidFill>
            <a:srgbClr val="1565C0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43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</a:rPr>
              <a:t>Complex Patterns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126480" y="987552"/>
            <a:ext cx="26974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26480" y="987552"/>
            <a:ext cx="2697480" cy="411480"/>
          </a:xfrm>
          <a:prstGeom prst="rect">
            <a:avLst/>
          </a:prstGeom>
          <a:solidFill>
            <a:srgbClr val="E53935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126480" y="98755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XGBoost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309360" y="15087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R²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150876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53935"/>
                </a:solidFill>
              </a:rPr>
              <a:t>~0.60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309360" y="1783080"/>
            <a:ext cx="2331720" cy="27432"/>
          </a:xfrm>
          <a:prstGeom prst="rect">
            <a:avLst/>
          </a:prstGeom>
          <a:solidFill>
            <a:srgbClr val="B0BEC5"/>
          </a:solidFill>
          <a:ln/>
        </p:spPr>
      </p:sp>
      <p:sp>
        <p:nvSpPr>
          <p:cNvPr id="37" name="Text 35"/>
          <p:cNvSpPr/>
          <p:nvPr/>
        </p:nvSpPr>
        <p:spPr>
          <a:xfrm>
            <a:off x="6309360" y="190195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MAE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223760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02040"/>
                </a:solidFill>
              </a:rPr>
              <a:t>~35,000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2176272"/>
            <a:ext cx="2331720" cy="27432"/>
          </a:xfrm>
          <a:prstGeom prst="rect">
            <a:avLst/>
          </a:prstGeom>
          <a:solidFill>
            <a:srgbClr val="B0BEC5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22860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7A"/>
                </a:solidFill>
              </a:rPr>
              <a:t>RMSE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223760" y="2286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102040"/>
                </a:solidFill>
              </a:rPr>
              <a:t>~45,000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309360" y="2743200"/>
            <a:ext cx="2331720" cy="384048"/>
          </a:xfrm>
          <a:prstGeom prst="rect">
            <a:avLst/>
          </a:prstGeom>
          <a:solidFill>
            <a:srgbClr val="E53935">
              <a:alpha val="2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6309360" y="27432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53935"/>
                </a:solidFill>
              </a:rPr>
              <a:t>Needs Tuning</a:t>
            </a:r>
            <a:endParaRPr lang="en-US" sz="1400" dirty="0"/>
          </a:p>
        </p:txBody>
      </p:sp>
      <p:graphicFrame>
        <p:nvGraphicFramePr>
          <p:cNvPr id="44" name="Chart 0"/>
          <p:cNvGraphicFramePr/>
          <p:nvPr/>
        </p:nvGraphicFramePr>
        <p:xfrm>
          <a:off x="274320" y="4005072"/>
          <a:ext cx="8595360" cy="9875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Predictions — Actual vs. Forecast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897B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121628"/>
              </p:ext>
            </p:extLst>
          </p:nvPr>
        </p:nvGraphicFramePr>
        <p:xfrm>
          <a:off x="274320" y="960120"/>
          <a:ext cx="8595360" cy="22860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Sales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3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7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39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2011-10-10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288,445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256,561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2011-10-17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207,615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210,366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230,222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225,070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2011-10-24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246,805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250,376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242,304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2011-10-31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230,566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239,097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249,120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2011-11-07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254,970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262,301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255,078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02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288,610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29000"/>
            <a:ext cx="859536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29000"/>
            <a:ext cx="8595360" cy="34747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8" name="Text 5"/>
          <p:cNvSpPr/>
          <p:nvPr/>
        </p:nvSpPr>
        <p:spPr>
          <a:xfrm>
            <a:off x="274320" y="34290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Key Interpretations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11480" y="3822192"/>
            <a:ext cx="91440" cy="256032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5" name="Text 7"/>
          <p:cNvSpPr/>
          <p:nvPr/>
        </p:nvSpPr>
        <p:spPr>
          <a:xfrm>
            <a:off x="594360" y="3794760"/>
            <a:ext cx="8092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(R²=0.9819): Most consistent — data structure is primarily linear, making simpler model superior.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11480" y="4169664"/>
            <a:ext cx="91440" cy="25603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4142232"/>
            <a:ext cx="8092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Forest: Captures complex patterns but higher variance — requires additional hyperparameter tuning.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11480" y="4517136"/>
            <a:ext cx="91440" cy="256032"/>
          </a:xfrm>
          <a:prstGeom prst="rect">
            <a:avLst/>
          </a:prstGeom>
          <a:solidFill>
            <a:srgbClr val="E53935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4489704"/>
            <a:ext cx="8092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Produced constant predictions — insufficient feature engineering or parameter misconfiguration.</a:t>
            </a:r>
            <a:endParaRPr lang="en-US" sz="1200" dirty="0"/>
          </a:p>
        </p:txBody>
      </p:sp>
    </p:spTree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24967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05</a:t>
            </a:r>
            <a:endParaRPr lang="en-US" sz="170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C8A3543-8743-491A-A158-EC99CECC5A90}"/>
              </a:ext>
            </a:extLst>
          </p:cNvPr>
          <p:cNvGrpSpPr/>
          <p:nvPr/>
        </p:nvGrpSpPr>
        <p:grpSpPr>
          <a:xfrm>
            <a:off x="1979407" y="1172391"/>
            <a:ext cx="5029200" cy="3319272"/>
            <a:chOff x="365760" y="1051560"/>
            <a:chExt cx="5029200" cy="3319272"/>
          </a:xfrm>
        </p:grpSpPr>
        <p:sp>
          <p:nvSpPr>
            <p:cNvPr id="36" name="Shape 5">
              <a:extLst>
                <a:ext uri="{FF2B5EF4-FFF2-40B4-BE49-F238E27FC236}">
                  <a16:creationId xmlns:a16="http://schemas.microsoft.com/office/drawing/2014/main" id="{FA76F77E-C0A0-477B-8898-1B79805B4C95}"/>
                </a:ext>
              </a:extLst>
            </p:cNvPr>
            <p:cNvSpPr/>
            <p:nvPr/>
          </p:nvSpPr>
          <p:spPr>
            <a:xfrm>
              <a:off x="365760" y="1051560"/>
              <a:ext cx="5029200" cy="713232"/>
            </a:xfrm>
            <a:prstGeom prst="rect">
              <a:avLst/>
            </a:prstGeom>
            <a:solidFill>
              <a:srgbClr val="1A3A6A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37" name="Shape 6">
              <a:extLst>
                <a:ext uri="{FF2B5EF4-FFF2-40B4-BE49-F238E27FC236}">
                  <a16:creationId xmlns:a16="http://schemas.microsoft.com/office/drawing/2014/main" id="{B242A45F-E56D-4D68-B8B4-B83986976934}"/>
                </a:ext>
              </a:extLst>
            </p:cNvPr>
            <p:cNvSpPr/>
            <p:nvPr/>
          </p:nvSpPr>
          <p:spPr>
            <a:xfrm>
              <a:off x="365760" y="1051560"/>
              <a:ext cx="73152" cy="713232"/>
            </a:xfrm>
            <a:prstGeom prst="rect">
              <a:avLst/>
            </a:prstGeom>
            <a:solidFill>
              <a:srgbClr val="FFB300"/>
            </a:solidFill>
            <a:ln/>
          </p:spPr>
        </p:sp>
        <p:sp>
          <p:nvSpPr>
            <p:cNvPr id="38" name="Shape 9">
              <a:extLst>
                <a:ext uri="{FF2B5EF4-FFF2-40B4-BE49-F238E27FC236}">
                  <a16:creationId xmlns:a16="http://schemas.microsoft.com/office/drawing/2014/main" id="{E249FDEE-7FAA-441B-A74B-A112916C85C7}"/>
                </a:ext>
              </a:extLst>
            </p:cNvPr>
            <p:cNvSpPr/>
            <p:nvPr/>
          </p:nvSpPr>
          <p:spPr>
            <a:xfrm>
              <a:off x="365760" y="1920240"/>
              <a:ext cx="5029200" cy="713232"/>
            </a:xfrm>
            <a:prstGeom prst="rect">
              <a:avLst/>
            </a:prstGeom>
            <a:solidFill>
              <a:srgbClr val="1A3A6A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39" name="Shape 10">
              <a:extLst>
                <a:ext uri="{FF2B5EF4-FFF2-40B4-BE49-F238E27FC236}">
                  <a16:creationId xmlns:a16="http://schemas.microsoft.com/office/drawing/2014/main" id="{C75F5A97-723C-4AAC-BB11-434C4CDEB2B7}"/>
                </a:ext>
              </a:extLst>
            </p:cNvPr>
            <p:cNvSpPr/>
            <p:nvPr/>
          </p:nvSpPr>
          <p:spPr>
            <a:xfrm>
              <a:off x="365760" y="1920240"/>
              <a:ext cx="73152" cy="713232"/>
            </a:xfrm>
            <a:prstGeom prst="rect">
              <a:avLst/>
            </a:prstGeom>
            <a:solidFill>
              <a:srgbClr val="FFB300"/>
            </a:solidFill>
            <a:ln/>
          </p:spPr>
        </p:sp>
        <p:sp>
          <p:nvSpPr>
            <p:cNvPr id="40" name="Shape 13">
              <a:extLst>
                <a:ext uri="{FF2B5EF4-FFF2-40B4-BE49-F238E27FC236}">
                  <a16:creationId xmlns:a16="http://schemas.microsoft.com/office/drawing/2014/main" id="{A337B00B-9848-4087-9F22-7E7A1B15AD6D}"/>
                </a:ext>
              </a:extLst>
            </p:cNvPr>
            <p:cNvSpPr/>
            <p:nvPr/>
          </p:nvSpPr>
          <p:spPr>
            <a:xfrm>
              <a:off x="365760" y="2788920"/>
              <a:ext cx="5029200" cy="713232"/>
            </a:xfrm>
            <a:prstGeom prst="rect">
              <a:avLst/>
            </a:prstGeom>
            <a:solidFill>
              <a:srgbClr val="1A3A6A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41" name="Shape 14">
              <a:extLst>
                <a:ext uri="{FF2B5EF4-FFF2-40B4-BE49-F238E27FC236}">
                  <a16:creationId xmlns:a16="http://schemas.microsoft.com/office/drawing/2014/main" id="{E35FFCA5-2B4E-4F6D-BBD1-471C3EF1DE7F}"/>
                </a:ext>
              </a:extLst>
            </p:cNvPr>
            <p:cNvSpPr/>
            <p:nvPr/>
          </p:nvSpPr>
          <p:spPr>
            <a:xfrm>
              <a:off x="365760" y="2788920"/>
              <a:ext cx="73152" cy="713232"/>
            </a:xfrm>
            <a:prstGeom prst="rect">
              <a:avLst/>
            </a:prstGeom>
            <a:solidFill>
              <a:srgbClr val="FFB300"/>
            </a:solidFill>
            <a:ln/>
          </p:spPr>
        </p:sp>
        <p:sp>
          <p:nvSpPr>
            <p:cNvPr id="42" name="Shape 17">
              <a:extLst>
                <a:ext uri="{FF2B5EF4-FFF2-40B4-BE49-F238E27FC236}">
                  <a16:creationId xmlns:a16="http://schemas.microsoft.com/office/drawing/2014/main" id="{3A8773E3-6F2A-458B-B125-3F5D70161F1F}"/>
                </a:ext>
              </a:extLst>
            </p:cNvPr>
            <p:cNvSpPr/>
            <p:nvPr/>
          </p:nvSpPr>
          <p:spPr>
            <a:xfrm>
              <a:off x="365760" y="3657600"/>
              <a:ext cx="5029200" cy="713232"/>
            </a:xfrm>
            <a:prstGeom prst="rect">
              <a:avLst/>
            </a:prstGeom>
            <a:solidFill>
              <a:srgbClr val="1A3A6A"/>
            </a:solidFill>
            <a:ln/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</p:sp>
        <p:sp>
          <p:nvSpPr>
            <p:cNvPr id="43" name="Shape 18">
              <a:extLst>
                <a:ext uri="{FF2B5EF4-FFF2-40B4-BE49-F238E27FC236}">
                  <a16:creationId xmlns:a16="http://schemas.microsoft.com/office/drawing/2014/main" id="{64AE3AF4-F07E-4D73-A710-2AAF6161C3F6}"/>
                </a:ext>
              </a:extLst>
            </p:cNvPr>
            <p:cNvSpPr/>
            <p:nvPr/>
          </p:nvSpPr>
          <p:spPr>
            <a:xfrm>
              <a:off x="365760" y="3657600"/>
              <a:ext cx="73152" cy="713232"/>
            </a:xfrm>
            <a:prstGeom prst="rect">
              <a:avLst/>
            </a:prstGeom>
            <a:solidFill>
              <a:srgbClr val="FFB300"/>
            </a:solidFill>
            <a:ln/>
          </p:spPr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EB7AE2-A448-4DF2-A9E1-924784623F66}"/>
              </a:ext>
            </a:extLst>
          </p:cNvPr>
          <p:cNvGrpSpPr/>
          <p:nvPr/>
        </p:nvGrpSpPr>
        <p:grpSpPr>
          <a:xfrm>
            <a:off x="2116567" y="1286691"/>
            <a:ext cx="4754880" cy="3172968"/>
            <a:chOff x="502920" y="1124712"/>
            <a:chExt cx="4754880" cy="3172968"/>
          </a:xfrm>
        </p:grpSpPr>
        <p:sp>
          <p:nvSpPr>
            <p:cNvPr id="45" name="Text 7">
              <a:extLst>
                <a:ext uri="{FF2B5EF4-FFF2-40B4-BE49-F238E27FC236}">
                  <a16:creationId xmlns:a16="http://schemas.microsoft.com/office/drawing/2014/main" id="{D8ED5758-5AF3-4493-A618-1E22F45D7F32}"/>
                </a:ext>
              </a:extLst>
            </p:cNvPr>
            <p:cNvSpPr/>
            <p:nvPr/>
          </p:nvSpPr>
          <p:spPr>
            <a:xfrm>
              <a:off x="502920" y="1161288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800" dirty="0">
                  <a:solidFill>
                    <a:srgbClr val="000000"/>
                  </a:solidFill>
                </a:rPr>
                <a:t>✅</a:t>
              </a:r>
              <a:endParaRPr lang="en-US" sz="1800" dirty="0"/>
            </a:p>
          </p:txBody>
        </p:sp>
        <p:sp>
          <p:nvSpPr>
            <p:cNvPr id="46" name="Text 8">
              <a:extLst>
                <a:ext uri="{FF2B5EF4-FFF2-40B4-BE49-F238E27FC236}">
                  <a16:creationId xmlns:a16="http://schemas.microsoft.com/office/drawing/2014/main" id="{3F49FB24-D17C-4A1A-BCB0-CE8CD1F47444}"/>
                </a:ext>
              </a:extLst>
            </p:cNvPr>
            <p:cNvSpPr/>
            <p:nvPr/>
          </p:nvSpPr>
          <p:spPr>
            <a:xfrm>
              <a:off x="1005840" y="1124712"/>
              <a:ext cx="425196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2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Integrated ETL + Star Schema + ML pipeline successfully built for weekly e-commerce sales forecasting</a:t>
              </a:r>
              <a:endParaRPr lang="en-US" sz="1200" dirty="0"/>
            </a:p>
          </p:txBody>
        </p:sp>
        <p:sp>
          <p:nvSpPr>
            <p:cNvPr id="47" name="Text 11">
              <a:extLst>
                <a:ext uri="{FF2B5EF4-FFF2-40B4-BE49-F238E27FC236}">
                  <a16:creationId xmlns:a16="http://schemas.microsoft.com/office/drawing/2014/main" id="{F8F4267C-F7D3-453C-8468-4C76AEA6DD59}"/>
                </a:ext>
              </a:extLst>
            </p:cNvPr>
            <p:cNvSpPr/>
            <p:nvPr/>
          </p:nvSpPr>
          <p:spPr>
            <a:xfrm>
              <a:off x="502920" y="2029968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800" dirty="0">
                  <a:solidFill>
                    <a:srgbClr val="000000"/>
                  </a:solidFill>
                </a:rPr>
                <a:t>🏆</a:t>
              </a:r>
              <a:endParaRPr lang="en-US" sz="1800" dirty="0"/>
            </a:p>
          </p:txBody>
        </p:sp>
        <p:sp>
          <p:nvSpPr>
            <p:cNvPr id="48" name="Text 12">
              <a:extLst>
                <a:ext uri="{FF2B5EF4-FFF2-40B4-BE49-F238E27FC236}">
                  <a16:creationId xmlns:a16="http://schemas.microsoft.com/office/drawing/2014/main" id="{DE3F3E40-AC23-4FD8-ADF1-C2E636BAAFD3}"/>
                </a:ext>
              </a:extLst>
            </p:cNvPr>
            <p:cNvSpPr/>
            <p:nvPr/>
          </p:nvSpPr>
          <p:spPr>
            <a:xfrm>
              <a:off x="1005840" y="1993392"/>
              <a:ext cx="425196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2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Linear Regression outperformed with R²=0.9819 — proving simpler models win when data structure supports it</a:t>
              </a:r>
              <a:endParaRPr lang="en-US" sz="1200" dirty="0"/>
            </a:p>
          </p:txBody>
        </p:sp>
        <p:sp>
          <p:nvSpPr>
            <p:cNvPr id="49" name="Text 15">
              <a:extLst>
                <a:ext uri="{FF2B5EF4-FFF2-40B4-BE49-F238E27FC236}">
                  <a16:creationId xmlns:a16="http://schemas.microsoft.com/office/drawing/2014/main" id="{60D62BC2-9798-4638-9E8D-7330DF403060}"/>
                </a:ext>
              </a:extLst>
            </p:cNvPr>
            <p:cNvSpPr/>
            <p:nvPr/>
          </p:nvSpPr>
          <p:spPr>
            <a:xfrm>
              <a:off x="502920" y="2898648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800" dirty="0">
                  <a:solidFill>
                    <a:srgbClr val="000000"/>
                  </a:solidFill>
                </a:rPr>
                <a:t>📈</a:t>
              </a:r>
              <a:endParaRPr lang="en-US" sz="1800" dirty="0"/>
            </a:p>
          </p:txBody>
        </p:sp>
        <p:sp>
          <p:nvSpPr>
            <p:cNvPr id="50" name="Text 16">
              <a:extLst>
                <a:ext uri="{FF2B5EF4-FFF2-40B4-BE49-F238E27FC236}">
                  <a16:creationId xmlns:a16="http://schemas.microsoft.com/office/drawing/2014/main" id="{0227B4C1-002B-48F8-997C-486346CA088B}"/>
                </a:ext>
              </a:extLst>
            </p:cNvPr>
            <p:cNvSpPr/>
            <p:nvPr/>
          </p:nvSpPr>
          <p:spPr>
            <a:xfrm>
              <a:off x="1005840" y="2862072"/>
              <a:ext cx="425196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2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Feature engineering (lag, rolling mean, transaction/customer counts) was critical to model performance</a:t>
              </a:r>
              <a:endParaRPr lang="en-US" sz="1200" dirty="0"/>
            </a:p>
          </p:txBody>
        </p:sp>
        <p:sp>
          <p:nvSpPr>
            <p:cNvPr id="51" name="Text 19">
              <a:extLst>
                <a:ext uri="{FF2B5EF4-FFF2-40B4-BE49-F238E27FC236}">
                  <a16:creationId xmlns:a16="http://schemas.microsoft.com/office/drawing/2014/main" id="{6AB9E252-97F5-4FA8-B751-A0C0B9B998FB}"/>
                </a:ext>
              </a:extLst>
            </p:cNvPr>
            <p:cNvSpPr/>
            <p:nvPr/>
          </p:nvSpPr>
          <p:spPr>
            <a:xfrm>
              <a:off x="502920" y="3767328"/>
              <a:ext cx="45720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800" dirty="0">
                  <a:solidFill>
                    <a:srgbClr val="000000"/>
                  </a:solidFill>
                </a:rPr>
                <a:t>🖥</a:t>
              </a:r>
              <a:endParaRPr lang="en-US" sz="1800" dirty="0"/>
            </a:p>
          </p:txBody>
        </p:sp>
        <p:sp>
          <p:nvSpPr>
            <p:cNvPr id="52" name="Text 20">
              <a:extLst>
                <a:ext uri="{FF2B5EF4-FFF2-40B4-BE49-F238E27FC236}">
                  <a16:creationId xmlns:a16="http://schemas.microsoft.com/office/drawing/2014/main" id="{E4225440-3B8C-4784-9ABB-DB97D3FC05F1}"/>
                </a:ext>
              </a:extLst>
            </p:cNvPr>
            <p:cNvSpPr/>
            <p:nvPr/>
          </p:nvSpPr>
          <p:spPr>
            <a:xfrm>
              <a:off x="1005840" y="3730752"/>
              <a:ext cx="4251960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r>
                <a:rPr lang="en-US" sz="1200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Streamlit dashboard makes AI insights accessible to non-technical business managers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2662506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00BCD4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1030986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030986"/>
            <a:ext cx="594360" cy="69494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030986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960120" y="1149858"/>
            <a:ext cx="45720" cy="4572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126187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future-week forecasting (beyond test set)</a:t>
            </a:r>
          </a:p>
        </p:txBody>
      </p:sp>
      <p:sp>
        <p:nvSpPr>
          <p:cNvPr id="11" name="Shape 9"/>
          <p:cNvSpPr/>
          <p:nvPr/>
        </p:nvSpPr>
        <p:spPr>
          <a:xfrm>
            <a:off x="365760" y="1835658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835658"/>
            <a:ext cx="594360" cy="694944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835658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960120" y="1954530"/>
            <a:ext cx="45720" cy="4572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7" name="Shape 15"/>
          <p:cNvSpPr/>
          <p:nvPr/>
        </p:nvSpPr>
        <p:spPr>
          <a:xfrm>
            <a:off x="365760" y="2640330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640330"/>
            <a:ext cx="594360" cy="69494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640330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60120" y="2759202"/>
            <a:ext cx="45720" cy="45720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3" name="Shape 21"/>
          <p:cNvSpPr/>
          <p:nvPr/>
        </p:nvSpPr>
        <p:spPr>
          <a:xfrm>
            <a:off x="365760" y="3445002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445002"/>
            <a:ext cx="594360" cy="694944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445002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960120" y="3563874"/>
            <a:ext cx="45720" cy="45720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29" name="Shape 27"/>
          <p:cNvSpPr/>
          <p:nvPr/>
        </p:nvSpPr>
        <p:spPr>
          <a:xfrm>
            <a:off x="365760" y="4249674"/>
            <a:ext cx="8412480" cy="6949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4249674"/>
            <a:ext cx="594360" cy="694944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249674"/>
            <a:ext cx="594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</a:rPr>
              <a:t>05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960120" y="4368546"/>
            <a:ext cx="45720" cy="457200"/>
          </a:xfrm>
          <a:prstGeom prst="rect">
            <a:avLst/>
          </a:prstGeom>
          <a:solidFill>
            <a:srgbClr val="0D1B3E"/>
          </a:solidFill>
          <a:ln/>
        </p:spPr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D675E87E-7CB9-4010-A97B-9F7E8C706314}"/>
              </a:ext>
            </a:extLst>
          </p:cNvPr>
          <p:cNvSpPr/>
          <p:nvPr/>
        </p:nvSpPr>
        <p:spPr>
          <a:xfrm>
            <a:off x="1143000" y="203682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ARIMA / LSTM deep learning models</a:t>
            </a: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183D1012-0395-4483-A5DF-FACEB98CDFC8}"/>
              </a:ext>
            </a:extLst>
          </p:cNvPr>
          <p:cNvSpPr/>
          <p:nvPr/>
        </p:nvSpPr>
        <p:spPr>
          <a:xfrm>
            <a:off x="1143000" y="284149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holidays, promotions, seasonality</a:t>
            </a: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6B541BCE-C9BC-4C33-A11B-27277CF82061}"/>
              </a:ext>
            </a:extLst>
          </p:cNvPr>
          <p:cNvSpPr/>
          <p:nvPr/>
        </p:nvSpPr>
        <p:spPr>
          <a:xfrm>
            <a:off x="1143000" y="364617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data streaming updates</a:t>
            </a:r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A5AB1616-AD71-46EF-B48D-02963E54619E}"/>
              </a:ext>
            </a:extLst>
          </p:cNvPr>
          <p:cNvSpPr/>
          <p:nvPr/>
        </p:nvSpPr>
        <p:spPr>
          <a:xfrm>
            <a:off x="1143000" y="445084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2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deployment of Streamlit dashboard</a:t>
            </a:r>
          </a:p>
        </p:txBody>
      </p:sp>
    </p:spTree>
    <p:extLst>
      <p:ext uri="{BB962C8B-B14F-4D97-AF65-F5344CB8AC3E}">
        <p14:creationId xmlns:p14="http://schemas.microsoft.com/office/powerpoint/2010/main" val="3058456681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05072" y="-914400"/>
            <a:ext cx="4572000" cy="4572000"/>
          </a:xfrm>
          <a:prstGeom prst="ellipse">
            <a:avLst/>
          </a:prstGeom>
          <a:solidFill>
            <a:srgbClr val="1565C0">
              <a:alpha val="20000"/>
            </a:srgbClr>
          </a:solidFill>
          <a:ln w="12700">
            <a:solidFill>
              <a:srgbClr val="1565C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3657600" cy="3657600"/>
          </a:xfrm>
          <a:prstGeom prst="ellipse">
            <a:avLst/>
          </a:prstGeom>
          <a:solidFill>
            <a:srgbClr val="00897B">
              <a:alpha val="15000"/>
            </a:srgbClr>
          </a:solidFill>
          <a:ln w="12700">
            <a:solidFill>
              <a:srgbClr val="00897B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27432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Questions Welcome</a:t>
            </a:r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8412480" cy="45720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31" name="Freeform 2">
            <a:extLst>
              <a:ext uri="{FF2B5EF4-FFF2-40B4-BE49-F238E27FC236}">
                <a16:creationId xmlns:a16="http://schemas.microsoft.com/office/drawing/2014/main" id="{C6A4EE01-9B88-477E-88F2-D0182558DFDA}"/>
              </a:ext>
            </a:extLst>
          </p:cNvPr>
          <p:cNvSpPr/>
          <p:nvPr/>
        </p:nvSpPr>
        <p:spPr>
          <a:xfrm>
            <a:off x="3138929" y="868681"/>
            <a:ext cx="3085138" cy="3503918"/>
          </a:xfrm>
          <a:custGeom>
            <a:avLst/>
            <a:gdLst/>
            <a:ahLst/>
            <a:cxnLst/>
            <a:rect l="l" t="t" r="r" b="b"/>
            <a:pathLst>
              <a:path w="6799707" h="8229600">
                <a:moveTo>
                  <a:pt x="0" y="0"/>
                </a:moveTo>
                <a:lnTo>
                  <a:pt x="6799708" y="0"/>
                </a:lnTo>
                <a:lnTo>
                  <a:pt x="6799708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87397938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883</Words>
  <Application>Microsoft Office PowerPoint</Application>
  <PresentationFormat>On-screen Show (16:9)</PresentationFormat>
  <Paragraphs>230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Integrated BI and ML for E-Commerce Sales Forecasting</dc:title>
  <dc:subject>PptxGenJS Presentation</dc:subject>
  <dc:creator>PptxGenJS</dc:creator>
  <cp:lastModifiedBy>Md. Shakil Hossain</cp:lastModifiedBy>
  <cp:revision>6</cp:revision>
  <dcterms:created xsi:type="dcterms:W3CDTF">2026-05-10T14:01:29Z</dcterms:created>
  <dcterms:modified xsi:type="dcterms:W3CDTF">2026-05-13T10:19:44Z</dcterms:modified>
</cp:coreProperties>
</file>