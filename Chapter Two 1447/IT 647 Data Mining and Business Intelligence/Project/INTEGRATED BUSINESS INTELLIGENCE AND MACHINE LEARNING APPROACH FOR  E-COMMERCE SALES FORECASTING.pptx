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1 Bold" charset="1" panose="00000000000000000000"/>
      <p:regular r:id="rId17"/>
    </p:embeddedFont>
    <p:embeddedFont>
      <p:font typeface="Open Sans 2" charset="1" panose="020B0606030504020204"/>
      <p:regular r:id="rId18"/>
    </p:embeddedFont>
    <p:embeddedFont>
      <p:font typeface="Open Sans 2 Bold" charset="1" panose="020B0806030504020204"/>
      <p:regular r:id="rId19"/>
    </p:embeddedFont>
    <p:embeddedFont>
      <p:font typeface="TT Hoves Bold" charset="1" panose="02000003020000060003"/>
      <p:regular r:id="rId20"/>
    </p:embeddedFont>
    <p:embeddedFont>
      <p:font typeface="DM Sans Bold" charset="1" panose="00000000000000000000"/>
      <p:regular r:id="rId21"/>
    </p:embeddedFont>
    <p:embeddedFont>
      <p:font typeface="DM Sans" charset="1" panose="00000000000000000000"/>
      <p:regular r:id="rId22"/>
    </p:embeddedFont>
    <p:embeddedFont>
      <p:font typeface="TT Hoves" charset="1" panose="02000003020000060003"/>
      <p:regular r:id="rId23"/>
    </p:embeddedFont>
    <p:embeddedFont>
      <p:font typeface="Public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22.png" Type="http://schemas.openxmlformats.org/officeDocument/2006/relationships/image"/><Relationship Id="rId20" Target="../media/image40.pn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23" Target="../media/image43.png" Type="http://schemas.openxmlformats.org/officeDocument/2006/relationships/image"/><Relationship Id="rId24" Target="../media/image44.svg" Type="http://schemas.openxmlformats.org/officeDocument/2006/relationships/image"/><Relationship Id="rId25" Target="../media/image45.png" Type="http://schemas.openxmlformats.org/officeDocument/2006/relationships/image"/><Relationship Id="rId26" Target="../media/image46.svg" Type="http://schemas.openxmlformats.org/officeDocument/2006/relationships/image"/><Relationship Id="rId27" Target="../media/image47.png" Type="http://schemas.openxmlformats.org/officeDocument/2006/relationships/image"/><Relationship Id="rId28" Target="../media/image48.sv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media/image65.png" Type="http://schemas.openxmlformats.org/officeDocument/2006/relationships/image"/><Relationship Id="rId15" Target="../media/image6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69.png" Type="http://schemas.openxmlformats.org/officeDocument/2006/relationships/image"/><Relationship Id="rId19" Target="../media/image70.svg" Type="http://schemas.openxmlformats.org/officeDocument/2006/relationships/image"/><Relationship Id="rId2" Target="../media/image53.png" Type="http://schemas.openxmlformats.org/officeDocument/2006/relationships/image"/><Relationship Id="rId20" Target="../media/image71.png" Type="http://schemas.openxmlformats.org/officeDocument/2006/relationships/image"/><Relationship Id="rId21" Target="../media/image72.svg" Type="http://schemas.openxmlformats.org/officeDocument/2006/relationships/image"/><Relationship Id="rId22" Target="../media/image73.png" Type="http://schemas.openxmlformats.org/officeDocument/2006/relationships/image"/><Relationship Id="rId23" Target="../media/image74.svg" Type="http://schemas.openxmlformats.org/officeDocument/2006/relationships/image"/><Relationship Id="rId24" Target="../media/image75.png" Type="http://schemas.openxmlformats.org/officeDocument/2006/relationships/image"/><Relationship Id="rId25" Target="../media/image76.svg" Type="http://schemas.openxmlformats.org/officeDocument/2006/relationships/image"/><Relationship Id="rId26" Target="../media/image77.png" Type="http://schemas.openxmlformats.org/officeDocument/2006/relationships/image"/><Relationship Id="rId27" Target="../media/image78.sv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sv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7920" y="6284832"/>
            <a:ext cx="3727838" cy="3396993"/>
          </a:xfrm>
          <a:custGeom>
            <a:avLst/>
            <a:gdLst/>
            <a:ahLst/>
            <a:cxnLst/>
            <a:rect r="r" b="b" t="t" l="l"/>
            <a:pathLst>
              <a:path h="3396993" w="3727838">
                <a:moveTo>
                  <a:pt x="0" y="0"/>
                </a:moveTo>
                <a:lnTo>
                  <a:pt x="3727839" y="0"/>
                </a:lnTo>
                <a:lnTo>
                  <a:pt x="3727839" y="3396993"/>
                </a:lnTo>
                <a:lnTo>
                  <a:pt x="0" y="3396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5351" y="2751771"/>
            <a:ext cx="14412072" cy="347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b="true" sz="6599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INTEGRATED BI &amp; ML </a:t>
            </a:r>
            <a:r>
              <a:rPr lang="en-US" sz="6599" b="true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APPROACH </a:t>
            </a:r>
            <a:r>
              <a:rPr lang="en-US" b="true" sz="6599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 </a:t>
            </a:r>
          </a:p>
          <a:p>
            <a:pPr algn="ctr">
              <a:lnSpc>
                <a:spcPts val="9239"/>
              </a:lnSpc>
            </a:pPr>
            <a:r>
              <a:rPr lang="en-US" b="true" sz="6599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E-COMMERCE SALES FORECASTING</a:t>
            </a:r>
          </a:p>
        </p:txBody>
      </p:sp>
      <p:sp>
        <p:nvSpPr>
          <p:cNvPr name="AutoShape 4" id="4"/>
          <p:cNvSpPr/>
          <p:nvPr/>
        </p:nvSpPr>
        <p:spPr>
          <a:xfrm rot="-5400000">
            <a:off x="-1508187" y="5525316"/>
            <a:ext cx="4173075" cy="0"/>
          </a:xfrm>
          <a:prstGeom prst="line">
            <a:avLst/>
          </a:prstGeom>
          <a:ln cap="flat" w="38100">
            <a:solidFill>
              <a:srgbClr val="49B0B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rot="0">
            <a:off x="559301" y="7592804"/>
            <a:ext cx="8584699" cy="0"/>
          </a:xfrm>
          <a:prstGeom prst="line">
            <a:avLst/>
          </a:prstGeom>
          <a:ln cap="flat" w="38100">
            <a:solidFill>
              <a:srgbClr val="49B0B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830891" y="592695"/>
            <a:ext cx="4029963" cy="1191339"/>
          </a:xfrm>
          <a:custGeom>
            <a:avLst/>
            <a:gdLst/>
            <a:ahLst/>
            <a:cxnLst/>
            <a:rect r="r" b="b" t="t" l="l"/>
            <a:pathLst>
              <a:path h="1191339" w="4029963">
                <a:moveTo>
                  <a:pt x="0" y="0"/>
                </a:moveTo>
                <a:lnTo>
                  <a:pt x="4029963" y="0"/>
                </a:lnTo>
                <a:lnTo>
                  <a:pt x="4029963" y="1191339"/>
                </a:lnTo>
                <a:lnTo>
                  <a:pt x="0" y="1191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954754"/>
            <a:ext cx="3028985" cy="3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351">
                <a:solidFill>
                  <a:srgbClr val="016A95"/>
                </a:solidFill>
                <a:latin typeface="Open Sans 2"/>
                <a:ea typeface="Open Sans 2"/>
                <a:cs typeface="Open Sans 2"/>
                <a:sym typeface="Open Sans 2"/>
              </a:rPr>
              <a:t>Presentation By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4595"/>
            <a:ext cx="6383862" cy="122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351">
                <a:solidFill>
                  <a:srgbClr val="1675D5"/>
                </a:solidFill>
                <a:latin typeface="Open Sans 2"/>
                <a:ea typeface="Open Sans 2"/>
                <a:cs typeface="Open Sans 2"/>
                <a:sym typeface="Open Sans 2"/>
              </a:rPr>
              <a:t>Master of Science in Information Technology</a:t>
            </a:r>
          </a:p>
          <a:p>
            <a:pPr algn="l">
              <a:lnSpc>
                <a:spcPts val="3291"/>
              </a:lnSpc>
            </a:pPr>
            <a:r>
              <a:rPr lang="en-US" sz="2351">
                <a:solidFill>
                  <a:srgbClr val="1675D5"/>
                </a:solidFill>
                <a:latin typeface="Open Sans 2"/>
                <a:ea typeface="Open Sans 2"/>
                <a:cs typeface="Open Sans 2"/>
                <a:sym typeface="Open Sans 2"/>
              </a:rPr>
              <a:t>College of Computer</a:t>
            </a:r>
          </a:p>
          <a:p>
            <a:pPr algn="l">
              <a:lnSpc>
                <a:spcPts val="3291"/>
              </a:lnSpc>
            </a:pPr>
            <a:r>
              <a:rPr lang="en-US" sz="2351">
                <a:solidFill>
                  <a:srgbClr val="1675D5"/>
                </a:solidFill>
                <a:latin typeface="Open Sans 2"/>
                <a:ea typeface="Open Sans 2"/>
                <a:cs typeface="Open Sans 2"/>
                <a:sym typeface="Open Sans 2"/>
              </a:rPr>
              <a:t>Qassim University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354691"/>
            <a:ext cx="3166349" cy="127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b="true" sz="2458">
                <a:solidFill>
                  <a:srgbClr val="016A9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AJMAL</a:t>
            </a:r>
          </a:p>
          <a:p>
            <a:pPr algn="l">
              <a:lnSpc>
                <a:spcPts val="3441"/>
              </a:lnSpc>
            </a:pPr>
            <a:r>
              <a:rPr lang="en-US" b="true" sz="2458">
                <a:solidFill>
                  <a:srgbClr val="016A9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SHAKIL HOSSAIN</a:t>
            </a:r>
          </a:p>
          <a:p>
            <a:pPr algn="l">
              <a:lnSpc>
                <a:spcPts val="3441"/>
              </a:lnSpc>
            </a:pPr>
            <a:r>
              <a:rPr lang="en-US" b="true" sz="2458">
                <a:solidFill>
                  <a:srgbClr val="016A9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BUNYAMIN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1199" y="4077439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4" y="0"/>
                </a:lnTo>
                <a:lnTo>
                  <a:pt x="5071584" y="314141"/>
                </a:lnTo>
                <a:lnTo>
                  <a:pt x="0" y="31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34857" y="4077439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5" y="0"/>
                </a:lnTo>
                <a:lnTo>
                  <a:pt x="5071585" y="314141"/>
                </a:lnTo>
                <a:lnTo>
                  <a:pt x="0" y="31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41199" y="5829220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4" y="0"/>
                </a:lnTo>
                <a:lnTo>
                  <a:pt x="5071584" y="314141"/>
                </a:lnTo>
                <a:lnTo>
                  <a:pt x="0" y="31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34857" y="5829220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5" y="0"/>
                </a:lnTo>
                <a:lnTo>
                  <a:pt x="5071585" y="314141"/>
                </a:lnTo>
                <a:lnTo>
                  <a:pt x="0" y="31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41199" y="7581000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4" y="0"/>
                </a:lnTo>
                <a:lnTo>
                  <a:pt x="5071584" y="314141"/>
                </a:lnTo>
                <a:lnTo>
                  <a:pt x="0" y="31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34857" y="7581000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5" y="0"/>
                </a:lnTo>
                <a:lnTo>
                  <a:pt x="5071585" y="314141"/>
                </a:lnTo>
                <a:lnTo>
                  <a:pt x="0" y="31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41199" y="9332781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4" y="0"/>
                </a:lnTo>
                <a:lnTo>
                  <a:pt x="5071584" y="314140"/>
                </a:lnTo>
                <a:lnTo>
                  <a:pt x="0" y="31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34857" y="9332781"/>
            <a:ext cx="5071585" cy="314141"/>
          </a:xfrm>
          <a:custGeom>
            <a:avLst/>
            <a:gdLst/>
            <a:ahLst/>
            <a:cxnLst/>
            <a:rect r="r" b="b" t="t" l="l"/>
            <a:pathLst>
              <a:path h="314141" w="5071585">
                <a:moveTo>
                  <a:pt x="0" y="0"/>
                </a:moveTo>
                <a:lnTo>
                  <a:pt x="5071585" y="0"/>
                </a:lnTo>
                <a:lnTo>
                  <a:pt x="5071585" y="314140"/>
                </a:lnTo>
                <a:lnTo>
                  <a:pt x="0" y="31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84925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841199" y="2632879"/>
            <a:ext cx="5071585" cy="1575305"/>
            <a:chOff x="0" y="0"/>
            <a:chExt cx="1335726" cy="414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409583" y="3144032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Introduction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841199" y="4384660"/>
            <a:ext cx="5071585" cy="1575305"/>
            <a:chOff x="0" y="0"/>
            <a:chExt cx="1335726" cy="4148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41199" y="6136440"/>
            <a:ext cx="5071585" cy="1575305"/>
            <a:chOff x="0" y="0"/>
            <a:chExt cx="1335726" cy="4148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41199" y="7888221"/>
            <a:ext cx="5071585" cy="1575305"/>
            <a:chOff x="0" y="0"/>
            <a:chExt cx="1335726" cy="4148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true" rot="5400000">
            <a:off x="2142976" y="7691970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1851965"/>
                </a:moveTo>
                <a:lnTo>
                  <a:pt x="1929129" y="1851965"/>
                </a:lnTo>
                <a:lnTo>
                  <a:pt x="1929129" y="0"/>
                </a:lnTo>
                <a:lnTo>
                  <a:pt x="0" y="0"/>
                </a:lnTo>
                <a:lnTo>
                  <a:pt x="0" y="185196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034857" y="2632879"/>
            <a:ext cx="5071585" cy="1575305"/>
            <a:chOff x="0" y="0"/>
            <a:chExt cx="1335726" cy="4148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34857" y="4384660"/>
            <a:ext cx="5071585" cy="1575305"/>
            <a:chOff x="0" y="0"/>
            <a:chExt cx="1335726" cy="4148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34857" y="6136440"/>
            <a:ext cx="5071585" cy="1575305"/>
            <a:chOff x="0" y="0"/>
            <a:chExt cx="1335726" cy="4148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34857" y="7888221"/>
            <a:ext cx="5071585" cy="1575305"/>
            <a:chOff x="0" y="0"/>
            <a:chExt cx="1335726" cy="4148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35726" cy="414895"/>
            </a:xfrm>
            <a:custGeom>
              <a:avLst/>
              <a:gdLst/>
              <a:ahLst/>
              <a:cxnLst/>
              <a:rect r="r" b="b" t="t" l="l"/>
              <a:pathLst>
                <a:path h="414895" w="1335726">
                  <a:moveTo>
                    <a:pt x="18318" y="0"/>
                  </a:moveTo>
                  <a:lnTo>
                    <a:pt x="1317408" y="0"/>
                  </a:lnTo>
                  <a:cubicBezTo>
                    <a:pt x="1327525" y="0"/>
                    <a:pt x="1335726" y="8201"/>
                    <a:pt x="1335726" y="18318"/>
                  </a:cubicBezTo>
                  <a:lnTo>
                    <a:pt x="1335726" y="396577"/>
                  </a:lnTo>
                  <a:cubicBezTo>
                    <a:pt x="1335726" y="406694"/>
                    <a:pt x="1327525" y="414895"/>
                    <a:pt x="1317408" y="414895"/>
                  </a:cubicBezTo>
                  <a:lnTo>
                    <a:pt x="18318" y="414895"/>
                  </a:lnTo>
                  <a:cubicBezTo>
                    <a:pt x="8201" y="414895"/>
                    <a:pt x="0" y="406694"/>
                    <a:pt x="0" y="396577"/>
                  </a:cubicBezTo>
                  <a:lnTo>
                    <a:pt x="0" y="18318"/>
                  </a:lnTo>
                  <a:cubicBezTo>
                    <a:pt x="0" y="8201"/>
                    <a:pt x="8201" y="0"/>
                    <a:pt x="18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335726" cy="46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true" rot="5400000">
            <a:off x="9331036" y="7691970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1851965"/>
                </a:moveTo>
                <a:lnTo>
                  <a:pt x="1929130" y="1851965"/>
                </a:lnTo>
                <a:lnTo>
                  <a:pt x="1929130" y="0"/>
                </a:lnTo>
                <a:lnTo>
                  <a:pt x="0" y="0"/>
                </a:lnTo>
                <a:lnTo>
                  <a:pt x="0" y="185196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2142976" y="5996153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0"/>
                </a:moveTo>
                <a:lnTo>
                  <a:pt x="1929129" y="0"/>
                </a:lnTo>
                <a:lnTo>
                  <a:pt x="1929129" y="1851964"/>
                </a:lnTo>
                <a:lnTo>
                  <a:pt x="0" y="18519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400000">
            <a:off x="9331036" y="5996153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0"/>
                </a:moveTo>
                <a:lnTo>
                  <a:pt x="1929130" y="0"/>
                </a:lnTo>
                <a:lnTo>
                  <a:pt x="1929130" y="1851964"/>
                </a:lnTo>
                <a:lnTo>
                  <a:pt x="0" y="18519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true" rot="5400000">
            <a:off x="2142976" y="4304764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1851964"/>
                </a:moveTo>
                <a:lnTo>
                  <a:pt x="1929129" y="1851964"/>
                </a:lnTo>
                <a:lnTo>
                  <a:pt x="1929129" y="0"/>
                </a:lnTo>
                <a:lnTo>
                  <a:pt x="0" y="0"/>
                </a:lnTo>
                <a:lnTo>
                  <a:pt x="0" y="1851964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true" rot="5400000">
            <a:off x="9331036" y="4304764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1851964"/>
                </a:moveTo>
                <a:lnTo>
                  <a:pt x="1929130" y="1851964"/>
                </a:lnTo>
                <a:lnTo>
                  <a:pt x="1929130" y="0"/>
                </a:lnTo>
                <a:lnTo>
                  <a:pt x="0" y="0"/>
                </a:lnTo>
                <a:lnTo>
                  <a:pt x="0" y="1851964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2142976" y="2610333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0"/>
                </a:moveTo>
                <a:lnTo>
                  <a:pt x="1929129" y="0"/>
                </a:lnTo>
                <a:lnTo>
                  <a:pt x="1929129" y="1851964"/>
                </a:lnTo>
                <a:lnTo>
                  <a:pt x="0" y="18519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9331036" y="2610333"/>
            <a:ext cx="1929130" cy="1851965"/>
          </a:xfrm>
          <a:custGeom>
            <a:avLst/>
            <a:gdLst/>
            <a:ahLst/>
            <a:cxnLst/>
            <a:rect r="r" b="b" t="t" l="l"/>
            <a:pathLst>
              <a:path h="1851965" w="1929130">
                <a:moveTo>
                  <a:pt x="0" y="0"/>
                </a:moveTo>
                <a:lnTo>
                  <a:pt x="1929130" y="0"/>
                </a:lnTo>
                <a:lnTo>
                  <a:pt x="1929130" y="1851964"/>
                </a:lnTo>
                <a:lnTo>
                  <a:pt x="0" y="18519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2606409" y="3001676"/>
            <a:ext cx="1002262" cy="1002262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F56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94470" y="3001676"/>
            <a:ext cx="1002262" cy="1002262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A6A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606409" y="4696107"/>
            <a:ext cx="1002262" cy="1002262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4B7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94470" y="4696107"/>
            <a:ext cx="1002262" cy="1002262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C79D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606409" y="6387496"/>
            <a:ext cx="1002262" cy="1002262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6A9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94470" y="6387496"/>
            <a:ext cx="1002262" cy="1002262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E387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606409" y="8083314"/>
            <a:ext cx="1002262" cy="1002262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89F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794470" y="8083314"/>
            <a:ext cx="1002262" cy="1002262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FA70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08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OUTLINE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414342" y="4815124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Research Question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14342" y="6386247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Project Objectives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414342" y="8138028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78784" y="3061756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Proposed Idea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678784" y="4838463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Sources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678784" y="6503405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Methodology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602584" y="8317098"/>
            <a:ext cx="412531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Outcomes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2339" y="290991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4689" y="2902602"/>
            <a:ext cx="14961281" cy="442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Project Scope: Synergy between Descriptive and Predictive Analytics.</a:t>
            </a:r>
          </a:p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Core Definitions: BI (What happened?) vs. ML (What will happen?).</a:t>
            </a:r>
          </a:p>
          <a:p>
            <a:pPr algn="l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The E-commerce Challenge: Moving from Static Reports to Proactive Insights.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4324" y="2142678"/>
            <a:ext cx="11704976" cy="681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Accuracy Improvement:</a:t>
            </a:r>
          </a:p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RQ1: How does BI-ML integration enhance forecasting accuracy?</a:t>
            </a:r>
          </a:p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Influential Features: </a:t>
            </a:r>
          </a:p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RQ2: Which data features impact sales predictions most?</a:t>
            </a:r>
          </a:p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Algorithm Comparison:</a:t>
            </a:r>
          </a:p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RQ3: Which ML models perform best in a BI environment?</a:t>
            </a:r>
          </a:p>
          <a:p>
            <a:pPr algn="l">
              <a:lnSpc>
                <a:spcPts val="5407"/>
              </a:lnSpc>
            </a:pPr>
            <a:r>
              <a:rPr lang="en-US" sz="31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Interpretability:</a:t>
            </a:r>
          </a:p>
          <a:p>
            <a:pPr algn="l" marL="0" indent="0" lvl="0">
              <a:lnSpc>
                <a:spcPts val="5407"/>
              </a:lnSpc>
            </a:pPr>
            <a:r>
              <a:rPr lang="en-US" b="true" sz="31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RQ4: How does integration improve decision-making for managers?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500" y="3086100"/>
            <a:ext cx="4099369" cy="4114800"/>
          </a:xfrm>
          <a:custGeom>
            <a:avLst/>
            <a:gdLst/>
            <a:ahLst/>
            <a:cxnLst/>
            <a:rect r="r" b="b" t="t" l="l"/>
            <a:pathLst>
              <a:path h="4114800" w="4099369">
                <a:moveTo>
                  <a:pt x="0" y="0"/>
                </a:moveTo>
                <a:lnTo>
                  <a:pt x="4099370" y="0"/>
                </a:lnTo>
                <a:lnTo>
                  <a:pt x="409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2339" y="504377"/>
            <a:ext cx="12352823" cy="149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5"/>
              </a:lnSpc>
            </a:pPr>
            <a:r>
              <a:rPr lang="en-US" b="true" sz="86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RESEARCH QUESTIONS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15214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PROJECT OBJECTIVES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10800000">
            <a:off x="2885198" y="6158559"/>
            <a:ext cx="5065470" cy="3573459"/>
          </a:xfrm>
          <a:custGeom>
            <a:avLst/>
            <a:gdLst/>
            <a:ahLst/>
            <a:cxnLst/>
            <a:rect r="r" b="b" t="t" l="l"/>
            <a:pathLst>
              <a:path h="3573459" w="5065470">
                <a:moveTo>
                  <a:pt x="5065470" y="3573459"/>
                </a:moveTo>
                <a:lnTo>
                  <a:pt x="0" y="3573459"/>
                </a:lnTo>
                <a:lnTo>
                  <a:pt x="0" y="0"/>
                </a:lnTo>
                <a:lnTo>
                  <a:pt x="5065470" y="0"/>
                </a:lnTo>
                <a:lnTo>
                  <a:pt x="5065470" y="35734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62161">
            <a:off x="1175372" y="3947622"/>
            <a:ext cx="5901944" cy="653265"/>
          </a:xfrm>
          <a:custGeom>
            <a:avLst/>
            <a:gdLst/>
            <a:ahLst/>
            <a:cxnLst/>
            <a:rect r="r" b="b" t="t" l="l"/>
            <a:pathLst>
              <a:path h="653265" w="5901944">
                <a:moveTo>
                  <a:pt x="0" y="0"/>
                </a:moveTo>
                <a:lnTo>
                  <a:pt x="5901944" y="0"/>
                </a:lnTo>
                <a:lnTo>
                  <a:pt x="5901944" y="653265"/>
                </a:lnTo>
                <a:lnTo>
                  <a:pt x="0" y="65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6798606">
            <a:off x="4250552" y="4698386"/>
            <a:ext cx="5901944" cy="653265"/>
          </a:xfrm>
          <a:custGeom>
            <a:avLst/>
            <a:gdLst/>
            <a:ahLst/>
            <a:cxnLst/>
            <a:rect r="r" b="b" t="t" l="l"/>
            <a:pathLst>
              <a:path h="653265" w="5901944">
                <a:moveTo>
                  <a:pt x="0" y="653265"/>
                </a:moveTo>
                <a:lnTo>
                  <a:pt x="5901944" y="653265"/>
                </a:lnTo>
                <a:lnTo>
                  <a:pt x="5901944" y="0"/>
                </a:lnTo>
                <a:lnTo>
                  <a:pt x="0" y="0"/>
                </a:lnTo>
                <a:lnTo>
                  <a:pt x="0" y="65326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5400000">
            <a:off x="2497860" y="4810004"/>
            <a:ext cx="5901944" cy="653265"/>
          </a:xfrm>
          <a:custGeom>
            <a:avLst/>
            <a:gdLst/>
            <a:ahLst/>
            <a:cxnLst/>
            <a:rect r="r" b="b" t="t" l="l"/>
            <a:pathLst>
              <a:path h="653265" w="5901944">
                <a:moveTo>
                  <a:pt x="0" y="653265"/>
                </a:moveTo>
                <a:lnTo>
                  <a:pt x="5901944" y="653265"/>
                </a:lnTo>
                <a:lnTo>
                  <a:pt x="5901944" y="0"/>
                </a:lnTo>
                <a:lnTo>
                  <a:pt x="0" y="0"/>
                </a:lnTo>
                <a:lnTo>
                  <a:pt x="0" y="6532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3570648">
            <a:off x="-13902" y="5233271"/>
            <a:ext cx="5901944" cy="653265"/>
          </a:xfrm>
          <a:custGeom>
            <a:avLst/>
            <a:gdLst/>
            <a:ahLst/>
            <a:cxnLst/>
            <a:rect r="r" b="b" t="t" l="l"/>
            <a:pathLst>
              <a:path h="653265" w="5901944">
                <a:moveTo>
                  <a:pt x="0" y="653264"/>
                </a:moveTo>
                <a:lnTo>
                  <a:pt x="5901944" y="653264"/>
                </a:lnTo>
                <a:lnTo>
                  <a:pt x="5901944" y="0"/>
                </a:lnTo>
                <a:lnTo>
                  <a:pt x="0" y="0"/>
                </a:lnTo>
                <a:lnTo>
                  <a:pt x="0" y="65326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13327" y="5129770"/>
            <a:ext cx="1299770" cy="129977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675D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85983" y="3715674"/>
            <a:ext cx="1299770" cy="129977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01A2B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98947" y="4325053"/>
            <a:ext cx="1299770" cy="129977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27C27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1639" y="4325053"/>
            <a:ext cx="1299770" cy="129977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FBE2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97492" y="3715674"/>
            <a:ext cx="2878555" cy="2518528"/>
            <a:chOff x="0" y="0"/>
            <a:chExt cx="758138" cy="6633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8138" cy="663316"/>
            </a:xfrm>
            <a:custGeom>
              <a:avLst/>
              <a:gdLst/>
              <a:ahLst/>
              <a:cxnLst/>
              <a:rect r="r" b="b" t="t" l="l"/>
              <a:pathLst>
                <a:path h="663316" w="758138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97492" y="6525299"/>
            <a:ext cx="2878555" cy="2518528"/>
            <a:chOff x="0" y="0"/>
            <a:chExt cx="758138" cy="6633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8138" cy="663316"/>
            </a:xfrm>
            <a:custGeom>
              <a:avLst/>
              <a:gdLst/>
              <a:ahLst/>
              <a:cxnLst/>
              <a:rect r="r" b="b" t="t" l="l"/>
              <a:pathLst>
                <a:path h="663316" w="758138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84994" y="3715674"/>
            <a:ext cx="2878555" cy="2518528"/>
            <a:chOff x="0" y="0"/>
            <a:chExt cx="758138" cy="6633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8138" cy="663316"/>
            </a:xfrm>
            <a:custGeom>
              <a:avLst/>
              <a:gdLst/>
              <a:ahLst/>
              <a:cxnLst/>
              <a:rect r="r" b="b" t="t" l="l"/>
              <a:pathLst>
                <a:path h="663316" w="758138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184994" y="6525299"/>
            <a:ext cx="2878555" cy="2518528"/>
            <a:chOff x="0" y="0"/>
            <a:chExt cx="758138" cy="6633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8138" cy="663316"/>
            </a:xfrm>
            <a:custGeom>
              <a:avLst/>
              <a:gdLst/>
              <a:ahLst/>
              <a:cxnLst/>
              <a:rect r="r" b="b" t="t" l="l"/>
              <a:pathLst>
                <a:path h="663316" w="758138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false" rot="0">
            <a:off x="10484100" y="4170220"/>
            <a:ext cx="731649" cy="139679"/>
          </a:xfrm>
          <a:custGeom>
            <a:avLst/>
            <a:gdLst/>
            <a:ahLst/>
            <a:cxnLst/>
            <a:rect r="r" b="b" t="t" l="l"/>
            <a:pathLst>
              <a:path h="139679" w="73164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true" flipV="false" rot="0">
            <a:off x="10484100" y="6979845"/>
            <a:ext cx="731649" cy="139679"/>
          </a:xfrm>
          <a:custGeom>
            <a:avLst/>
            <a:gdLst/>
            <a:ahLst/>
            <a:cxnLst/>
            <a:rect r="r" b="b" t="t" l="l"/>
            <a:pathLst>
              <a:path h="139679" w="73164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true" flipV="false" rot="0">
            <a:off x="13571602" y="4170220"/>
            <a:ext cx="731649" cy="139679"/>
          </a:xfrm>
          <a:custGeom>
            <a:avLst/>
            <a:gdLst/>
            <a:ahLst/>
            <a:cxnLst/>
            <a:rect r="r" b="b" t="t" l="l"/>
            <a:pathLst>
              <a:path h="139679" w="73164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true" flipV="false" rot="0">
            <a:off x="13571602" y="6979845"/>
            <a:ext cx="731649" cy="139679"/>
          </a:xfrm>
          <a:custGeom>
            <a:avLst/>
            <a:gdLst/>
            <a:ahLst/>
            <a:cxnLst/>
            <a:rect r="r" b="b" t="t" l="l"/>
            <a:pathLst>
              <a:path h="139679" w="73164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0097492" y="6251811"/>
            <a:ext cx="2878555" cy="261687"/>
          </a:xfrm>
          <a:custGeom>
            <a:avLst/>
            <a:gdLst/>
            <a:ahLst/>
            <a:cxnLst/>
            <a:rect r="r" b="b" t="t" l="l"/>
            <a:pathLst>
              <a:path h="261687" w="2878555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184994" y="6251811"/>
            <a:ext cx="2878555" cy="261687"/>
          </a:xfrm>
          <a:custGeom>
            <a:avLst/>
            <a:gdLst/>
            <a:ahLst/>
            <a:cxnLst/>
            <a:rect r="r" b="b" t="t" l="l"/>
            <a:pathLst>
              <a:path h="261687" w="2878555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097492" y="9062877"/>
            <a:ext cx="2878555" cy="261687"/>
          </a:xfrm>
          <a:custGeom>
            <a:avLst/>
            <a:gdLst/>
            <a:ahLst/>
            <a:cxnLst/>
            <a:rect r="r" b="b" t="t" l="l"/>
            <a:pathLst>
              <a:path h="261687" w="2878555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184994" y="9062877"/>
            <a:ext cx="2878555" cy="261687"/>
          </a:xfrm>
          <a:custGeom>
            <a:avLst/>
            <a:gdLst/>
            <a:ahLst/>
            <a:cxnLst/>
            <a:rect r="r" b="b" t="t" l="l"/>
            <a:pathLst>
              <a:path h="261687" w="2878555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811752" y="5493906"/>
            <a:ext cx="502920" cy="571500"/>
          </a:xfrm>
          <a:custGeom>
            <a:avLst/>
            <a:gdLst/>
            <a:ahLst/>
            <a:cxnLst/>
            <a:rect r="r" b="b" t="t" l="l"/>
            <a:pathLst>
              <a:path h="571500" w="502920">
                <a:moveTo>
                  <a:pt x="0" y="0"/>
                </a:moveTo>
                <a:lnTo>
                  <a:pt x="502920" y="0"/>
                </a:lnTo>
                <a:lnTo>
                  <a:pt x="50292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830699" y="4079809"/>
            <a:ext cx="610340" cy="571500"/>
          </a:xfrm>
          <a:custGeom>
            <a:avLst/>
            <a:gdLst/>
            <a:ahLst/>
            <a:cxnLst/>
            <a:rect r="r" b="b" t="t" l="l"/>
            <a:pathLst>
              <a:path h="571500" w="610340">
                <a:moveTo>
                  <a:pt x="0" y="0"/>
                </a:moveTo>
                <a:lnTo>
                  <a:pt x="610340" y="0"/>
                </a:lnTo>
                <a:lnTo>
                  <a:pt x="61034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5108808" y="4636768"/>
            <a:ext cx="680049" cy="676340"/>
          </a:xfrm>
          <a:custGeom>
            <a:avLst/>
            <a:gdLst/>
            <a:ahLst/>
            <a:cxnLst/>
            <a:rect r="r" b="b" t="t" l="l"/>
            <a:pathLst>
              <a:path h="676340" w="680049">
                <a:moveTo>
                  <a:pt x="0" y="0"/>
                </a:moveTo>
                <a:lnTo>
                  <a:pt x="680049" y="0"/>
                </a:lnTo>
                <a:lnTo>
                  <a:pt x="680049" y="676340"/>
                </a:lnTo>
                <a:lnTo>
                  <a:pt x="0" y="6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6978360" y="4664203"/>
            <a:ext cx="446328" cy="621469"/>
          </a:xfrm>
          <a:custGeom>
            <a:avLst/>
            <a:gdLst/>
            <a:ahLst/>
            <a:cxnLst/>
            <a:rect r="r" b="b" t="t" l="l"/>
            <a:pathLst>
              <a:path h="621469" w="446328">
                <a:moveTo>
                  <a:pt x="0" y="0"/>
                </a:moveTo>
                <a:lnTo>
                  <a:pt x="446328" y="0"/>
                </a:lnTo>
                <a:lnTo>
                  <a:pt x="446328" y="621469"/>
                </a:lnTo>
                <a:lnTo>
                  <a:pt x="0" y="62146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4" id="44"/>
          <p:cNvSpPr txBox="true"/>
          <p:nvPr/>
        </p:nvSpPr>
        <p:spPr>
          <a:xfrm rot="0">
            <a:off x="10484100" y="4430269"/>
            <a:ext cx="2105339" cy="48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Framew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ork Development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84100" y="7323091"/>
            <a:ext cx="210533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valuate Models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71602" y="4513466"/>
            <a:ext cx="210533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Identify F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actors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571602" y="7323091"/>
            <a:ext cx="210533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Bridg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the Gap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84100" y="4953521"/>
            <a:ext cx="195043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develop an integrated BI-ML framework for sales.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84100" y="7763146"/>
            <a:ext cx="210533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eva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luate ML algorithms against traditional methods.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71602" y="4953521"/>
            <a:ext cx="210533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ide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ntify key drivers using the UCI Online Retail Dataset.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571602" y="7763146"/>
            <a:ext cx="210533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br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idge the gap between AI and decision-makers.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529" y="3176269"/>
            <a:ext cx="9819942" cy="537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Traditional Forecasting Limitations:</a:t>
            </a: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❌ Siloed data sources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❌ Lagging indicators only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❌ Cannot handle non-linear patterns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❌ Poor accuracy during promotions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❌ No real-time adjustments</a:t>
            </a:r>
          </a:p>
          <a:p>
            <a:pPr algn="l" marL="0" indent="0" lvl="0">
              <a:lnSpc>
                <a:spcPts val="517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5197" y="3183335"/>
            <a:ext cx="5524500" cy="5365671"/>
          </a:xfrm>
          <a:custGeom>
            <a:avLst/>
            <a:gdLst/>
            <a:ahLst/>
            <a:cxnLst/>
            <a:rect r="r" b="b" t="t" l="l"/>
            <a:pathLst>
              <a:path h="5365671" w="5524500">
                <a:moveTo>
                  <a:pt x="0" y="0"/>
                </a:moveTo>
                <a:lnTo>
                  <a:pt x="5524500" y="0"/>
                </a:lnTo>
                <a:lnTo>
                  <a:pt x="5524500" y="5365671"/>
                </a:lnTo>
                <a:lnTo>
                  <a:pt x="0" y="536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 STATEMENT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PROPOSED IDEA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947500" y="4352410"/>
            <a:ext cx="2507456" cy="2551564"/>
            <a:chOff x="0" y="0"/>
            <a:chExt cx="660400" cy="672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672017"/>
            </a:xfrm>
            <a:custGeom>
              <a:avLst/>
              <a:gdLst/>
              <a:ahLst/>
              <a:cxnLst/>
              <a:rect r="r" b="b" t="t" l="l"/>
              <a:pathLst>
                <a:path h="672017" w="660400">
                  <a:moveTo>
                    <a:pt x="220252" y="652948"/>
                  </a:moveTo>
                  <a:cubicBezTo>
                    <a:pt x="254109" y="664462"/>
                    <a:pt x="292600" y="672017"/>
                    <a:pt x="330378" y="672017"/>
                  </a:cubicBezTo>
                  <a:cubicBezTo>
                    <a:pt x="368157" y="672017"/>
                    <a:pt x="404509" y="665540"/>
                    <a:pt x="438009" y="654026"/>
                  </a:cubicBezTo>
                  <a:cubicBezTo>
                    <a:pt x="438723" y="653666"/>
                    <a:pt x="439435" y="653666"/>
                    <a:pt x="440148" y="653307"/>
                  </a:cubicBezTo>
                  <a:cubicBezTo>
                    <a:pt x="565955" y="607252"/>
                    <a:pt x="658618" y="485638"/>
                    <a:pt x="660400" y="346642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46385"/>
                  </a:lnTo>
                  <a:cubicBezTo>
                    <a:pt x="1782" y="486357"/>
                    <a:pt x="93019" y="607972"/>
                    <a:pt x="220252" y="652948"/>
                  </a:cubicBezTo>
                  <a:close/>
                </a:path>
              </a:pathLst>
            </a:custGeom>
            <a:solidFill>
              <a:srgbClr val="FFC801">
                <a:alpha val="1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60400" cy="53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47066" y="4860499"/>
            <a:ext cx="1508323" cy="1497694"/>
            <a:chOff x="0" y="0"/>
            <a:chExt cx="8185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8569" cy="812800"/>
            </a:xfrm>
            <a:custGeom>
              <a:avLst/>
              <a:gdLst/>
              <a:ahLst/>
              <a:cxnLst/>
              <a:rect r="r" b="b" t="t" l="l"/>
              <a:pathLst>
                <a:path h="812800" w="818569">
                  <a:moveTo>
                    <a:pt x="409284" y="0"/>
                  </a:moveTo>
                  <a:cubicBezTo>
                    <a:pt x="183243" y="0"/>
                    <a:pt x="0" y="181951"/>
                    <a:pt x="0" y="406400"/>
                  </a:cubicBezTo>
                  <a:cubicBezTo>
                    <a:pt x="0" y="630849"/>
                    <a:pt x="183243" y="812800"/>
                    <a:pt x="409284" y="812800"/>
                  </a:cubicBezTo>
                  <a:cubicBezTo>
                    <a:pt x="635326" y="812800"/>
                    <a:pt x="818569" y="630849"/>
                    <a:pt x="818569" y="406400"/>
                  </a:cubicBezTo>
                  <a:cubicBezTo>
                    <a:pt x="818569" y="181951"/>
                    <a:pt x="635326" y="0"/>
                    <a:pt x="409284" y="0"/>
                  </a:cubicBezTo>
                  <a:close/>
                </a:path>
              </a:pathLst>
            </a:custGeom>
            <a:solidFill>
              <a:srgbClr val="FFC80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741" y="28575"/>
              <a:ext cx="66508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47500" y="7705719"/>
            <a:ext cx="2494659" cy="2491540"/>
          </a:xfrm>
          <a:custGeom>
            <a:avLst/>
            <a:gdLst/>
            <a:ahLst/>
            <a:cxnLst/>
            <a:rect r="r" b="b" t="t" l="l"/>
            <a:pathLst>
              <a:path h="2491540" w="2494659">
                <a:moveTo>
                  <a:pt x="0" y="0"/>
                </a:moveTo>
                <a:lnTo>
                  <a:pt x="2494659" y="0"/>
                </a:lnTo>
                <a:lnTo>
                  <a:pt x="2494659" y="2491540"/>
                </a:lnTo>
                <a:lnTo>
                  <a:pt x="0" y="2491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47500" y="6903974"/>
            <a:ext cx="2507456" cy="2636356"/>
            <a:chOff x="0" y="0"/>
            <a:chExt cx="660400" cy="694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694349"/>
            </a:xfrm>
            <a:custGeom>
              <a:avLst/>
              <a:gdLst/>
              <a:ahLst/>
              <a:cxnLst/>
              <a:rect r="r" b="b" t="t" l="l"/>
              <a:pathLst>
                <a:path h="694349" w="660400">
                  <a:moveTo>
                    <a:pt x="220252" y="675280"/>
                  </a:moveTo>
                  <a:cubicBezTo>
                    <a:pt x="254109" y="686794"/>
                    <a:pt x="292600" y="694349"/>
                    <a:pt x="330378" y="694349"/>
                  </a:cubicBezTo>
                  <a:cubicBezTo>
                    <a:pt x="368157" y="694349"/>
                    <a:pt x="404509" y="687872"/>
                    <a:pt x="438009" y="676358"/>
                  </a:cubicBezTo>
                  <a:cubicBezTo>
                    <a:pt x="438723" y="675999"/>
                    <a:pt x="439435" y="675999"/>
                    <a:pt x="440148" y="675639"/>
                  </a:cubicBezTo>
                  <a:cubicBezTo>
                    <a:pt x="565955" y="629584"/>
                    <a:pt x="658618" y="507970"/>
                    <a:pt x="660400" y="36847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68204"/>
                  </a:lnTo>
                  <a:cubicBezTo>
                    <a:pt x="1782" y="508689"/>
                    <a:pt x="93019" y="630304"/>
                    <a:pt x="220252" y="67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660400" cy="55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943832" y="7078202"/>
            <a:ext cx="2494659" cy="2491540"/>
          </a:xfrm>
          <a:custGeom>
            <a:avLst/>
            <a:gdLst/>
            <a:ahLst/>
            <a:cxnLst/>
            <a:rect r="r" b="b" t="t" l="l"/>
            <a:pathLst>
              <a:path h="2491540" w="2494659">
                <a:moveTo>
                  <a:pt x="0" y="0"/>
                </a:moveTo>
                <a:lnTo>
                  <a:pt x="2494658" y="0"/>
                </a:lnTo>
                <a:lnTo>
                  <a:pt x="2494658" y="2491540"/>
                </a:lnTo>
                <a:lnTo>
                  <a:pt x="0" y="2491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10800000">
            <a:off x="4906666" y="3724893"/>
            <a:ext cx="2507456" cy="2570470"/>
            <a:chOff x="0" y="0"/>
            <a:chExt cx="660400" cy="6769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676996"/>
            </a:xfrm>
            <a:custGeom>
              <a:avLst/>
              <a:gdLst/>
              <a:ahLst/>
              <a:cxnLst/>
              <a:rect r="r" b="b" t="t" l="l"/>
              <a:pathLst>
                <a:path h="676996" w="660400">
                  <a:moveTo>
                    <a:pt x="220252" y="657927"/>
                  </a:moveTo>
                  <a:cubicBezTo>
                    <a:pt x="254109" y="669441"/>
                    <a:pt x="292600" y="676996"/>
                    <a:pt x="330378" y="676996"/>
                  </a:cubicBezTo>
                  <a:cubicBezTo>
                    <a:pt x="368157" y="676996"/>
                    <a:pt x="404509" y="670519"/>
                    <a:pt x="438009" y="659005"/>
                  </a:cubicBezTo>
                  <a:cubicBezTo>
                    <a:pt x="438723" y="658646"/>
                    <a:pt x="439435" y="658646"/>
                    <a:pt x="440148" y="658287"/>
                  </a:cubicBezTo>
                  <a:cubicBezTo>
                    <a:pt x="565955" y="612231"/>
                    <a:pt x="658618" y="490617"/>
                    <a:pt x="660400" y="35151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51250"/>
                  </a:lnTo>
                  <a:cubicBezTo>
                    <a:pt x="1782" y="491336"/>
                    <a:pt x="93019" y="612951"/>
                    <a:pt x="220252" y="657927"/>
                  </a:cubicBezTo>
                  <a:close/>
                </a:path>
              </a:pathLst>
            </a:custGeom>
            <a:solidFill>
              <a:srgbClr val="A5B73C">
                <a:alpha val="1490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660400" cy="540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06233" y="4232982"/>
            <a:ext cx="1508323" cy="1497694"/>
            <a:chOff x="0" y="0"/>
            <a:chExt cx="818569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8569" cy="812800"/>
            </a:xfrm>
            <a:custGeom>
              <a:avLst/>
              <a:gdLst/>
              <a:ahLst/>
              <a:cxnLst/>
              <a:rect r="r" b="b" t="t" l="l"/>
              <a:pathLst>
                <a:path h="812800" w="818569">
                  <a:moveTo>
                    <a:pt x="409284" y="0"/>
                  </a:moveTo>
                  <a:cubicBezTo>
                    <a:pt x="183243" y="0"/>
                    <a:pt x="0" y="181951"/>
                    <a:pt x="0" y="406400"/>
                  </a:cubicBezTo>
                  <a:cubicBezTo>
                    <a:pt x="0" y="630849"/>
                    <a:pt x="183243" y="812800"/>
                    <a:pt x="409284" y="812800"/>
                  </a:cubicBezTo>
                  <a:cubicBezTo>
                    <a:pt x="635326" y="812800"/>
                    <a:pt x="818569" y="630849"/>
                    <a:pt x="818569" y="406400"/>
                  </a:cubicBezTo>
                  <a:cubicBezTo>
                    <a:pt x="818569" y="181951"/>
                    <a:pt x="635326" y="0"/>
                    <a:pt x="409284" y="0"/>
                  </a:cubicBezTo>
                  <a:close/>
                </a:path>
              </a:pathLst>
            </a:custGeom>
            <a:solidFill>
              <a:srgbClr val="A4B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741" y="28575"/>
              <a:ext cx="66508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06666" y="6276456"/>
            <a:ext cx="2507456" cy="2636356"/>
            <a:chOff x="0" y="0"/>
            <a:chExt cx="660400" cy="6943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694349"/>
            </a:xfrm>
            <a:custGeom>
              <a:avLst/>
              <a:gdLst/>
              <a:ahLst/>
              <a:cxnLst/>
              <a:rect r="r" b="b" t="t" l="l"/>
              <a:pathLst>
                <a:path h="694349" w="660400">
                  <a:moveTo>
                    <a:pt x="220252" y="675280"/>
                  </a:moveTo>
                  <a:cubicBezTo>
                    <a:pt x="254109" y="686794"/>
                    <a:pt x="292600" y="694349"/>
                    <a:pt x="330378" y="694349"/>
                  </a:cubicBezTo>
                  <a:cubicBezTo>
                    <a:pt x="368157" y="694349"/>
                    <a:pt x="404509" y="687872"/>
                    <a:pt x="438009" y="676358"/>
                  </a:cubicBezTo>
                  <a:cubicBezTo>
                    <a:pt x="438723" y="675999"/>
                    <a:pt x="439435" y="675999"/>
                    <a:pt x="440148" y="675639"/>
                  </a:cubicBezTo>
                  <a:cubicBezTo>
                    <a:pt x="565955" y="629584"/>
                    <a:pt x="658618" y="507970"/>
                    <a:pt x="660400" y="36847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68204"/>
                  </a:lnTo>
                  <a:cubicBezTo>
                    <a:pt x="1782" y="508689"/>
                    <a:pt x="93019" y="630304"/>
                    <a:pt x="220252" y="67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660400" cy="55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898648" y="6450684"/>
            <a:ext cx="2494659" cy="2491540"/>
          </a:xfrm>
          <a:custGeom>
            <a:avLst/>
            <a:gdLst/>
            <a:ahLst/>
            <a:cxnLst/>
            <a:rect r="r" b="b" t="t" l="l"/>
            <a:pathLst>
              <a:path h="2491540" w="2494659">
                <a:moveTo>
                  <a:pt x="0" y="0"/>
                </a:moveTo>
                <a:lnTo>
                  <a:pt x="2494659" y="0"/>
                </a:lnTo>
                <a:lnTo>
                  <a:pt x="2494659" y="2491541"/>
                </a:lnTo>
                <a:lnTo>
                  <a:pt x="0" y="249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10800000">
            <a:off x="7890200" y="3097375"/>
            <a:ext cx="2507456" cy="2551564"/>
            <a:chOff x="0" y="0"/>
            <a:chExt cx="660400" cy="6720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400" cy="672017"/>
            </a:xfrm>
            <a:custGeom>
              <a:avLst/>
              <a:gdLst/>
              <a:ahLst/>
              <a:cxnLst/>
              <a:rect r="r" b="b" t="t" l="l"/>
              <a:pathLst>
                <a:path h="672017" w="660400">
                  <a:moveTo>
                    <a:pt x="220252" y="652948"/>
                  </a:moveTo>
                  <a:cubicBezTo>
                    <a:pt x="254109" y="664462"/>
                    <a:pt x="292600" y="672017"/>
                    <a:pt x="330378" y="672017"/>
                  </a:cubicBezTo>
                  <a:cubicBezTo>
                    <a:pt x="368157" y="672017"/>
                    <a:pt x="404509" y="665540"/>
                    <a:pt x="438009" y="654026"/>
                  </a:cubicBezTo>
                  <a:cubicBezTo>
                    <a:pt x="438723" y="653666"/>
                    <a:pt x="439435" y="653666"/>
                    <a:pt x="440148" y="653307"/>
                  </a:cubicBezTo>
                  <a:cubicBezTo>
                    <a:pt x="565955" y="607252"/>
                    <a:pt x="658618" y="485638"/>
                    <a:pt x="660400" y="346642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46385"/>
                  </a:lnTo>
                  <a:cubicBezTo>
                    <a:pt x="1782" y="486357"/>
                    <a:pt x="93019" y="607972"/>
                    <a:pt x="220252" y="652948"/>
                  </a:cubicBezTo>
                  <a:close/>
                </a:path>
              </a:pathLst>
            </a:custGeom>
            <a:solidFill>
              <a:srgbClr val="539B5C">
                <a:alpha val="14902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60400" cy="53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389767" y="3605465"/>
            <a:ext cx="1508323" cy="1497694"/>
            <a:chOff x="0" y="0"/>
            <a:chExt cx="818569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8569" cy="812800"/>
            </a:xfrm>
            <a:custGeom>
              <a:avLst/>
              <a:gdLst/>
              <a:ahLst/>
              <a:cxnLst/>
              <a:rect r="r" b="b" t="t" l="l"/>
              <a:pathLst>
                <a:path h="812800" w="818569">
                  <a:moveTo>
                    <a:pt x="409284" y="0"/>
                  </a:moveTo>
                  <a:cubicBezTo>
                    <a:pt x="183243" y="0"/>
                    <a:pt x="0" y="181951"/>
                    <a:pt x="0" y="406400"/>
                  </a:cubicBezTo>
                  <a:cubicBezTo>
                    <a:pt x="0" y="630849"/>
                    <a:pt x="183243" y="812800"/>
                    <a:pt x="409284" y="812800"/>
                  </a:cubicBezTo>
                  <a:cubicBezTo>
                    <a:pt x="635326" y="812800"/>
                    <a:pt x="818569" y="630849"/>
                    <a:pt x="818569" y="406400"/>
                  </a:cubicBezTo>
                  <a:cubicBezTo>
                    <a:pt x="818569" y="181951"/>
                    <a:pt x="635326" y="0"/>
                    <a:pt x="409284" y="0"/>
                  </a:cubicBezTo>
                  <a:close/>
                </a:path>
              </a:pathLst>
            </a:custGeom>
            <a:solidFill>
              <a:srgbClr val="539B5C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741" y="28575"/>
              <a:ext cx="66508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90200" y="5648939"/>
            <a:ext cx="2507456" cy="2636356"/>
            <a:chOff x="0" y="0"/>
            <a:chExt cx="660400" cy="6943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0400" cy="694349"/>
            </a:xfrm>
            <a:custGeom>
              <a:avLst/>
              <a:gdLst/>
              <a:ahLst/>
              <a:cxnLst/>
              <a:rect r="r" b="b" t="t" l="l"/>
              <a:pathLst>
                <a:path h="694349" w="660400">
                  <a:moveTo>
                    <a:pt x="220252" y="675280"/>
                  </a:moveTo>
                  <a:cubicBezTo>
                    <a:pt x="254109" y="686794"/>
                    <a:pt x="292600" y="694349"/>
                    <a:pt x="330378" y="694349"/>
                  </a:cubicBezTo>
                  <a:cubicBezTo>
                    <a:pt x="368157" y="694349"/>
                    <a:pt x="404509" y="687872"/>
                    <a:pt x="438009" y="676358"/>
                  </a:cubicBezTo>
                  <a:cubicBezTo>
                    <a:pt x="438723" y="675999"/>
                    <a:pt x="439435" y="675999"/>
                    <a:pt x="440148" y="675639"/>
                  </a:cubicBezTo>
                  <a:cubicBezTo>
                    <a:pt x="565955" y="629584"/>
                    <a:pt x="658618" y="507970"/>
                    <a:pt x="660400" y="36847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68204"/>
                  </a:lnTo>
                  <a:cubicBezTo>
                    <a:pt x="1782" y="508689"/>
                    <a:pt x="93019" y="630304"/>
                    <a:pt x="220252" y="67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60400" cy="55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0886675" y="5823167"/>
            <a:ext cx="2494659" cy="2491540"/>
          </a:xfrm>
          <a:custGeom>
            <a:avLst/>
            <a:gdLst/>
            <a:ahLst/>
            <a:cxnLst/>
            <a:rect r="r" b="b" t="t" l="l"/>
            <a:pathLst>
              <a:path h="2491540" w="2494659">
                <a:moveTo>
                  <a:pt x="0" y="0"/>
                </a:moveTo>
                <a:lnTo>
                  <a:pt x="2494659" y="0"/>
                </a:lnTo>
                <a:lnTo>
                  <a:pt x="2494659" y="2491540"/>
                </a:lnTo>
                <a:lnTo>
                  <a:pt x="0" y="2491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-10800000">
            <a:off x="10849367" y="2469858"/>
            <a:ext cx="2507456" cy="2540270"/>
            <a:chOff x="0" y="0"/>
            <a:chExt cx="660400" cy="6690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0400" cy="669042"/>
            </a:xfrm>
            <a:custGeom>
              <a:avLst/>
              <a:gdLst/>
              <a:ahLst/>
              <a:cxnLst/>
              <a:rect r="r" b="b" t="t" l="l"/>
              <a:pathLst>
                <a:path h="669042" w="660400">
                  <a:moveTo>
                    <a:pt x="220252" y="649973"/>
                  </a:moveTo>
                  <a:cubicBezTo>
                    <a:pt x="254109" y="661487"/>
                    <a:pt x="292600" y="669042"/>
                    <a:pt x="330378" y="669042"/>
                  </a:cubicBezTo>
                  <a:cubicBezTo>
                    <a:pt x="368157" y="669042"/>
                    <a:pt x="404509" y="662565"/>
                    <a:pt x="438009" y="651051"/>
                  </a:cubicBezTo>
                  <a:cubicBezTo>
                    <a:pt x="438723" y="650692"/>
                    <a:pt x="439435" y="650692"/>
                    <a:pt x="440148" y="650333"/>
                  </a:cubicBezTo>
                  <a:cubicBezTo>
                    <a:pt x="565955" y="604277"/>
                    <a:pt x="658618" y="482663"/>
                    <a:pt x="660400" y="34373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43478"/>
                  </a:lnTo>
                  <a:cubicBezTo>
                    <a:pt x="1782" y="483382"/>
                    <a:pt x="93019" y="604997"/>
                    <a:pt x="220252" y="649973"/>
                  </a:cubicBezTo>
                  <a:close/>
                </a:path>
              </a:pathLst>
            </a:custGeom>
            <a:solidFill>
              <a:srgbClr val="157664">
                <a:alpha val="14902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660400" cy="532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48933" y="2977947"/>
            <a:ext cx="1508323" cy="1497694"/>
            <a:chOff x="0" y="0"/>
            <a:chExt cx="818569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8569" cy="812800"/>
            </a:xfrm>
            <a:custGeom>
              <a:avLst/>
              <a:gdLst/>
              <a:ahLst/>
              <a:cxnLst/>
              <a:rect r="r" b="b" t="t" l="l"/>
              <a:pathLst>
                <a:path h="812800" w="818569">
                  <a:moveTo>
                    <a:pt x="409284" y="0"/>
                  </a:moveTo>
                  <a:cubicBezTo>
                    <a:pt x="183243" y="0"/>
                    <a:pt x="0" y="181951"/>
                    <a:pt x="0" y="406400"/>
                  </a:cubicBezTo>
                  <a:cubicBezTo>
                    <a:pt x="0" y="630849"/>
                    <a:pt x="183243" y="812800"/>
                    <a:pt x="409284" y="812800"/>
                  </a:cubicBezTo>
                  <a:cubicBezTo>
                    <a:pt x="635326" y="812800"/>
                    <a:pt x="818569" y="630849"/>
                    <a:pt x="818569" y="406400"/>
                  </a:cubicBezTo>
                  <a:cubicBezTo>
                    <a:pt x="818569" y="181951"/>
                    <a:pt x="635326" y="0"/>
                    <a:pt x="409284" y="0"/>
                  </a:cubicBezTo>
                  <a:close/>
                </a:path>
              </a:pathLst>
            </a:custGeom>
            <a:solidFill>
              <a:srgbClr val="157664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741" y="28575"/>
              <a:ext cx="66508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49367" y="4994356"/>
            <a:ext cx="2507456" cy="2663421"/>
            <a:chOff x="0" y="0"/>
            <a:chExt cx="660400" cy="70147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0400" cy="701477"/>
            </a:xfrm>
            <a:custGeom>
              <a:avLst/>
              <a:gdLst/>
              <a:ahLst/>
              <a:cxnLst/>
              <a:rect r="r" b="b" t="t" l="l"/>
              <a:pathLst>
                <a:path h="701477" w="660400">
                  <a:moveTo>
                    <a:pt x="220252" y="682408"/>
                  </a:moveTo>
                  <a:cubicBezTo>
                    <a:pt x="254109" y="693922"/>
                    <a:pt x="292600" y="701477"/>
                    <a:pt x="330378" y="701477"/>
                  </a:cubicBezTo>
                  <a:cubicBezTo>
                    <a:pt x="368157" y="701477"/>
                    <a:pt x="404509" y="695000"/>
                    <a:pt x="438009" y="683486"/>
                  </a:cubicBezTo>
                  <a:cubicBezTo>
                    <a:pt x="438723" y="683127"/>
                    <a:pt x="439435" y="683127"/>
                    <a:pt x="440148" y="682767"/>
                  </a:cubicBezTo>
                  <a:cubicBezTo>
                    <a:pt x="565955" y="636712"/>
                    <a:pt x="658618" y="515098"/>
                    <a:pt x="660400" y="37544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75169"/>
                  </a:lnTo>
                  <a:cubicBezTo>
                    <a:pt x="1782" y="515817"/>
                    <a:pt x="93019" y="637432"/>
                    <a:pt x="220252" y="6824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660400" cy="56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3845841" y="5195650"/>
            <a:ext cx="2494659" cy="2491540"/>
          </a:xfrm>
          <a:custGeom>
            <a:avLst/>
            <a:gdLst/>
            <a:ahLst/>
            <a:cxnLst/>
            <a:rect r="r" b="b" t="t" l="l"/>
            <a:pathLst>
              <a:path h="2491540" w="2494659">
                <a:moveTo>
                  <a:pt x="0" y="0"/>
                </a:moveTo>
                <a:lnTo>
                  <a:pt x="2494659" y="0"/>
                </a:lnTo>
                <a:lnTo>
                  <a:pt x="2494659" y="2491540"/>
                </a:lnTo>
                <a:lnTo>
                  <a:pt x="0" y="2491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-10800000">
            <a:off x="13833044" y="1842341"/>
            <a:ext cx="2507456" cy="2530817"/>
            <a:chOff x="0" y="0"/>
            <a:chExt cx="660400" cy="6665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0400" cy="666553"/>
            </a:xfrm>
            <a:custGeom>
              <a:avLst/>
              <a:gdLst/>
              <a:ahLst/>
              <a:cxnLst/>
              <a:rect r="r" b="b" t="t" l="l"/>
              <a:pathLst>
                <a:path h="666553" w="660400">
                  <a:moveTo>
                    <a:pt x="220252" y="647483"/>
                  </a:moveTo>
                  <a:cubicBezTo>
                    <a:pt x="254109" y="658997"/>
                    <a:pt x="292600" y="666553"/>
                    <a:pt x="330378" y="666553"/>
                  </a:cubicBezTo>
                  <a:cubicBezTo>
                    <a:pt x="368157" y="666553"/>
                    <a:pt x="404509" y="660076"/>
                    <a:pt x="438009" y="648562"/>
                  </a:cubicBezTo>
                  <a:cubicBezTo>
                    <a:pt x="438723" y="648202"/>
                    <a:pt x="439435" y="648202"/>
                    <a:pt x="440148" y="647843"/>
                  </a:cubicBezTo>
                  <a:cubicBezTo>
                    <a:pt x="565955" y="601788"/>
                    <a:pt x="658618" y="480174"/>
                    <a:pt x="660400" y="34129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41046"/>
                  </a:lnTo>
                  <a:cubicBezTo>
                    <a:pt x="1782" y="480892"/>
                    <a:pt x="93019" y="602508"/>
                    <a:pt x="220252" y="647483"/>
                  </a:cubicBezTo>
                  <a:close/>
                </a:path>
              </a:pathLst>
            </a:custGeom>
            <a:solidFill>
              <a:srgbClr val="0E4F55">
                <a:alpha val="14902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660400" cy="530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332610" y="2350430"/>
            <a:ext cx="1508323" cy="1497694"/>
            <a:chOff x="0" y="0"/>
            <a:chExt cx="818569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8569" cy="812800"/>
            </a:xfrm>
            <a:custGeom>
              <a:avLst/>
              <a:gdLst/>
              <a:ahLst/>
              <a:cxnLst/>
              <a:rect r="r" b="b" t="t" l="l"/>
              <a:pathLst>
                <a:path h="812800" w="818569">
                  <a:moveTo>
                    <a:pt x="409284" y="0"/>
                  </a:moveTo>
                  <a:cubicBezTo>
                    <a:pt x="183243" y="0"/>
                    <a:pt x="0" y="181951"/>
                    <a:pt x="0" y="406400"/>
                  </a:cubicBezTo>
                  <a:cubicBezTo>
                    <a:pt x="0" y="630849"/>
                    <a:pt x="183243" y="812800"/>
                    <a:pt x="409284" y="812800"/>
                  </a:cubicBezTo>
                  <a:cubicBezTo>
                    <a:pt x="635326" y="812800"/>
                    <a:pt x="818569" y="630849"/>
                    <a:pt x="818569" y="406400"/>
                  </a:cubicBezTo>
                  <a:cubicBezTo>
                    <a:pt x="818569" y="181951"/>
                    <a:pt x="635326" y="0"/>
                    <a:pt x="409284" y="0"/>
                  </a:cubicBezTo>
                  <a:close/>
                </a:path>
              </a:pathLst>
            </a:custGeom>
            <a:solidFill>
              <a:srgbClr val="172B36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741" y="28575"/>
              <a:ext cx="66508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833044" y="4354312"/>
            <a:ext cx="2507456" cy="2675948"/>
            <a:chOff x="0" y="0"/>
            <a:chExt cx="660400" cy="7047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0400" cy="704776"/>
            </a:xfrm>
            <a:custGeom>
              <a:avLst/>
              <a:gdLst/>
              <a:ahLst/>
              <a:cxnLst/>
              <a:rect r="r" b="b" t="t" l="l"/>
              <a:pathLst>
                <a:path h="704776" w="660400">
                  <a:moveTo>
                    <a:pt x="220252" y="685707"/>
                  </a:moveTo>
                  <a:cubicBezTo>
                    <a:pt x="254109" y="697221"/>
                    <a:pt x="292600" y="704776"/>
                    <a:pt x="330378" y="704776"/>
                  </a:cubicBezTo>
                  <a:cubicBezTo>
                    <a:pt x="368157" y="704776"/>
                    <a:pt x="404509" y="698299"/>
                    <a:pt x="438009" y="686786"/>
                  </a:cubicBezTo>
                  <a:cubicBezTo>
                    <a:pt x="438723" y="686426"/>
                    <a:pt x="439435" y="686426"/>
                    <a:pt x="440148" y="686067"/>
                  </a:cubicBezTo>
                  <a:cubicBezTo>
                    <a:pt x="565955" y="640012"/>
                    <a:pt x="658618" y="518398"/>
                    <a:pt x="660400" y="3786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78393"/>
                  </a:lnTo>
                  <a:cubicBezTo>
                    <a:pt x="1782" y="519116"/>
                    <a:pt x="93019" y="640732"/>
                    <a:pt x="220252" y="6857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660400" cy="568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447066" y="6637979"/>
            <a:ext cx="1508323" cy="477860"/>
            <a:chOff x="0" y="0"/>
            <a:chExt cx="397254" cy="1258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7254" cy="125856"/>
            </a:xfrm>
            <a:custGeom>
              <a:avLst/>
              <a:gdLst/>
              <a:ahLst/>
              <a:cxnLst/>
              <a:rect r="r" b="b" t="t" l="l"/>
              <a:pathLst>
                <a:path h="125856" w="397254">
                  <a:moveTo>
                    <a:pt x="62928" y="0"/>
                  </a:moveTo>
                  <a:lnTo>
                    <a:pt x="334326" y="0"/>
                  </a:lnTo>
                  <a:cubicBezTo>
                    <a:pt x="369080" y="0"/>
                    <a:pt x="397254" y="28174"/>
                    <a:pt x="397254" y="62928"/>
                  </a:cubicBezTo>
                  <a:lnTo>
                    <a:pt x="397254" y="62928"/>
                  </a:lnTo>
                  <a:cubicBezTo>
                    <a:pt x="397254" y="79618"/>
                    <a:pt x="390624" y="95624"/>
                    <a:pt x="378823" y="107425"/>
                  </a:cubicBezTo>
                  <a:cubicBezTo>
                    <a:pt x="367021" y="119226"/>
                    <a:pt x="351015" y="125856"/>
                    <a:pt x="334326" y="125856"/>
                  </a:cubicBezTo>
                  <a:lnTo>
                    <a:pt x="62928" y="125856"/>
                  </a:lnTo>
                  <a:cubicBezTo>
                    <a:pt x="28174" y="125856"/>
                    <a:pt x="0" y="97682"/>
                    <a:pt x="0" y="62928"/>
                  </a:cubicBezTo>
                  <a:lnTo>
                    <a:pt x="0" y="62928"/>
                  </a:lnTo>
                  <a:cubicBezTo>
                    <a:pt x="0" y="28174"/>
                    <a:pt x="28174" y="0"/>
                    <a:pt x="62928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97254" cy="14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06233" y="6010461"/>
            <a:ext cx="1508323" cy="477860"/>
            <a:chOff x="0" y="0"/>
            <a:chExt cx="397254" cy="1258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7254" cy="125856"/>
            </a:xfrm>
            <a:custGeom>
              <a:avLst/>
              <a:gdLst/>
              <a:ahLst/>
              <a:cxnLst/>
              <a:rect r="r" b="b" t="t" l="l"/>
              <a:pathLst>
                <a:path h="125856" w="397254">
                  <a:moveTo>
                    <a:pt x="62928" y="0"/>
                  </a:moveTo>
                  <a:lnTo>
                    <a:pt x="334326" y="0"/>
                  </a:lnTo>
                  <a:cubicBezTo>
                    <a:pt x="369080" y="0"/>
                    <a:pt x="397254" y="28174"/>
                    <a:pt x="397254" y="62928"/>
                  </a:cubicBezTo>
                  <a:lnTo>
                    <a:pt x="397254" y="62928"/>
                  </a:lnTo>
                  <a:cubicBezTo>
                    <a:pt x="397254" y="79618"/>
                    <a:pt x="390624" y="95624"/>
                    <a:pt x="378823" y="107425"/>
                  </a:cubicBezTo>
                  <a:cubicBezTo>
                    <a:pt x="367021" y="119226"/>
                    <a:pt x="351015" y="125856"/>
                    <a:pt x="334326" y="125856"/>
                  </a:cubicBezTo>
                  <a:lnTo>
                    <a:pt x="62928" y="125856"/>
                  </a:lnTo>
                  <a:cubicBezTo>
                    <a:pt x="28174" y="125856"/>
                    <a:pt x="0" y="97682"/>
                    <a:pt x="0" y="62928"/>
                  </a:cubicBezTo>
                  <a:lnTo>
                    <a:pt x="0" y="62928"/>
                  </a:lnTo>
                  <a:cubicBezTo>
                    <a:pt x="0" y="28174"/>
                    <a:pt x="28174" y="0"/>
                    <a:pt x="62928" y="0"/>
                  </a:cubicBez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97254" cy="14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389767" y="5382944"/>
            <a:ext cx="1508323" cy="477860"/>
            <a:chOff x="0" y="0"/>
            <a:chExt cx="397254" cy="1258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7254" cy="125856"/>
            </a:xfrm>
            <a:custGeom>
              <a:avLst/>
              <a:gdLst/>
              <a:ahLst/>
              <a:cxnLst/>
              <a:rect r="r" b="b" t="t" l="l"/>
              <a:pathLst>
                <a:path h="125856" w="397254">
                  <a:moveTo>
                    <a:pt x="62928" y="0"/>
                  </a:moveTo>
                  <a:lnTo>
                    <a:pt x="334326" y="0"/>
                  </a:lnTo>
                  <a:cubicBezTo>
                    <a:pt x="369080" y="0"/>
                    <a:pt x="397254" y="28174"/>
                    <a:pt x="397254" y="62928"/>
                  </a:cubicBezTo>
                  <a:lnTo>
                    <a:pt x="397254" y="62928"/>
                  </a:lnTo>
                  <a:cubicBezTo>
                    <a:pt x="397254" y="79618"/>
                    <a:pt x="390624" y="95624"/>
                    <a:pt x="378823" y="107425"/>
                  </a:cubicBezTo>
                  <a:cubicBezTo>
                    <a:pt x="367021" y="119226"/>
                    <a:pt x="351015" y="125856"/>
                    <a:pt x="334326" y="125856"/>
                  </a:cubicBezTo>
                  <a:lnTo>
                    <a:pt x="62928" y="125856"/>
                  </a:lnTo>
                  <a:cubicBezTo>
                    <a:pt x="28174" y="125856"/>
                    <a:pt x="0" y="97682"/>
                    <a:pt x="0" y="62928"/>
                  </a:cubicBezTo>
                  <a:lnTo>
                    <a:pt x="0" y="62928"/>
                  </a:lnTo>
                  <a:cubicBezTo>
                    <a:pt x="0" y="28174"/>
                    <a:pt x="28174" y="0"/>
                    <a:pt x="62928" y="0"/>
                  </a:cubicBez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97254" cy="14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348933" y="4755426"/>
            <a:ext cx="1508323" cy="477860"/>
            <a:chOff x="0" y="0"/>
            <a:chExt cx="397254" cy="1258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7254" cy="125856"/>
            </a:xfrm>
            <a:custGeom>
              <a:avLst/>
              <a:gdLst/>
              <a:ahLst/>
              <a:cxnLst/>
              <a:rect r="r" b="b" t="t" l="l"/>
              <a:pathLst>
                <a:path h="125856" w="397254">
                  <a:moveTo>
                    <a:pt x="62928" y="0"/>
                  </a:moveTo>
                  <a:lnTo>
                    <a:pt x="334326" y="0"/>
                  </a:lnTo>
                  <a:cubicBezTo>
                    <a:pt x="369080" y="0"/>
                    <a:pt x="397254" y="28174"/>
                    <a:pt x="397254" y="62928"/>
                  </a:cubicBezTo>
                  <a:lnTo>
                    <a:pt x="397254" y="62928"/>
                  </a:lnTo>
                  <a:cubicBezTo>
                    <a:pt x="397254" y="79618"/>
                    <a:pt x="390624" y="95624"/>
                    <a:pt x="378823" y="107425"/>
                  </a:cubicBezTo>
                  <a:cubicBezTo>
                    <a:pt x="367021" y="119226"/>
                    <a:pt x="351015" y="125856"/>
                    <a:pt x="334326" y="125856"/>
                  </a:cubicBezTo>
                  <a:lnTo>
                    <a:pt x="62928" y="125856"/>
                  </a:lnTo>
                  <a:cubicBezTo>
                    <a:pt x="28174" y="125856"/>
                    <a:pt x="0" y="97682"/>
                    <a:pt x="0" y="62928"/>
                  </a:cubicBezTo>
                  <a:lnTo>
                    <a:pt x="0" y="62928"/>
                  </a:lnTo>
                  <a:cubicBezTo>
                    <a:pt x="0" y="28174"/>
                    <a:pt x="28174" y="0"/>
                    <a:pt x="62928" y="0"/>
                  </a:cubicBez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397254" cy="14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332610" y="4127909"/>
            <a:ext cx="1508323" cy="477860"/>
            <a:chOff x="0" y="0"/>
            <a:chExt cx="397254" cy="1258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7254" cy="125856"/>
            </a:xfrm>
            <a:custGeom>
              <a:avLst/>
              <a:gdLst/>
              <a:ahLst/>
              <a:cxnLst/>
              <a:rect r="r" b="b" t="t" l="l"/>
              <a:pathLst>
                <a:path h="125856" w="397254">
                  <a:moveTo>
                    <a:pt x="62928" y="0"/>
                  </a:moveTo>
                  <a:lnTo>
                    <a:pt x="334326" y="0"/>
                  </a:lnTo>
                  <a:cubicBezTo>
                    <a:pt x="369080" y="0"/>
                    <a:pt x="397254" y="28174"/>
                    <a:pt x="397254" y="62928"/>
                  </a:cubicBezTo>
                  <a:lnTo>
                    <a:pt x="397254" y="62928"/>
                  </a:lnTo>
                  <a:cubicBezTo>
                    <a:pt x="397254" y="79618"/>
                    <a:pt x="390624" y="95624"/>
                    <a:pt x="378823" y="107425"/>
                  </a:cubicBezTo>
                  <a:cubicBezTo>
                    <a:pt x="367021" y="119226"/>
                    <a:pt x="351015" y="125856"/>
                    <a:pt x="334326" y="125856"/>
                  </a:cubicBezTo>
                  <a:lnTo>
                    <a:pt x="62928" y="125856"/>
                  </a:lnTo>
                  <a:cubicBezTo>
                    <a:pt x="28174" y="125856"/>
                    <a:pt x="0" y="97682"/>
                    <a:pt x="0" y="62928"/>
                  </a:cubicBezTo>
                  <a:lnTo>
                    <a:pt x="0" y="62928"/>
                  </a:lnTo>
                  <a:cubicBezTo>
                    <a:pt x="0" y="28174"/>
                    <a:pt x="28174" y="0"/>
                    <a:pt x="62928" y="0"/>
                  </a:cubicBezTo>
                  <a:close/>
                </a:path>
              </a:pathLst>
            </a:custGeom>
            <a:solidFill>
              <a:srgbClr val="172B36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397254" cy="14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2209199" y="7299170"/>
            <a:ext cx="198405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His</a:t>
            </a: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torical Sales Patterns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238740" y="7878858"/>
            <a:ext cx="192497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rends, seasonality, growth rates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168366" y="6654062"/>
            <a:ext cx="198405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Product Performance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168160" y="7308695"/>
            <a:ext cx="198446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ategory-wise, SKU-level analysis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151900" y="6112014"/>
            <a:ext cx="198405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Temporal Factors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151695" y="6500191"/>
            <a:ext cx="1984468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Time of day, day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of week, holidays, seasons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11066" y="5484496"/>
            <a:ext cx="198405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Ma</a:t>
            </a: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rketing Impact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110861" y="5872674"/>
            <a:ext cx="198446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motions, campaigns, discounts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094743" y="4856979"/>
            <a:ext cx="198405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Ex</a:t>
            </a:r>
            <a:r>
              <a:rPr lang="en-US" sz="159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ternal Variables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094538" y="5245157"/>
            <a:ext cx="1984468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eather, economic indicators, competitor activity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151761" y="5188868"/>
            <a:ext cx="2040530" cy="82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b="true" sz="495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📊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021052" y="4351816"/>
            <a:ext cx="2278684" cy="107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9"/>
              </a:lnSpc>
              <a:spcBef>
                <a:spcPct val="0"/>
              </a:spcBef>
            </a:pPr>
            <a:r>
              <a:rPr lang="en-US" b="true" sz="646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📦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708607" y="3954270"/>
            <a:ext cx="789126" cy="75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5"/>
              </a:lnSpc>
              <a:spcBef>
                <a:spcPct val="0"/>
              </a:spcBef>
            </a:pPr>
            <a:r>
              <a:rPr lang="en-US" b="true" sz="452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📅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612803" y="3164926"/>
            <a:ext cx="1005094" cy="96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9"/>
              </a:lnSpc>
              <a:spcBef>
                <a:spcPct val="0"/>
              </a:spcBef>
            </a:pPr>
            <a:r>
              <a:rPr lang="en-US" b="true" sz="576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📢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001500" y="2552700"/>
            <a:ext cx="6248542" cy="10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79"/>
              </a:lnSpc>
              <a:spcBef>
                <a:spcPct val="0"/>
              </a:spcBef>
            </a:pPr>
            <a:r>
              <a:rPr lang="en-US" b="true" sz="662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🌦️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5073" y="3151238"/>
            <a:ext cx="7337420" cy="4659262"/>
          </a:xfrm>
          <a:custGeom>
            <a:avLst/>
            <a:gdLst/>
            <a:ahLst/>
            <a:cxnLst/>
            <a:rect r="r" b="b" t="t" l="l"/>
            <a:pathLst>
              <a:path h="4659262" w="7337420">
                <a:moveTo>
                  <a:pt x="0" y="0"/>
                </a:moveTo>
                <a:lnTo>
                  <a:pt x="7337420" y="0"/>
                </a:lnTo>
                <a:lnTo>
                  <a:pt x="7337420" y="4659262"/>
                </a:lnTo>
                <a:lnTo>
                  <a:pt x="0" y="465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SOURCES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48750" y="2740641"/>
            <a:ext cx="8429279" cy="539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3"/>
              </a:lnSpc>
            </a:pPr>
            <a:r>
              <a:rPr lang="en-US" b="true" sz="447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UCI Online</a:t>
            </a:r>
            <a:r>
              <a:rPr lang="en-US" b="true" sz="447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Re</a:t>
            </a:r>
            <a:r>
              <a:rPr lang="en-US" b="true" sz="447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tail Dataset</a:t>
            </a:r>
          </a:p>
          <a:p>
            <a:pPr algn="l">
              <a:lnSpc>
                <a:spcPts val="4593"/>
              </a:lnSpc>
            </a:pPr>
          </a:p>
          <a:p>
            <a:pPr algn="just" marL="0" indent="0" lvl="0">
              <a:lnSpc>
                <a:spcPts val="4593"/>
              </a:lnSpc>
              <a:spcBef>
                <a:spcPct val="0"/>
              </a:spcBef>
            </a:pPr>
            <a:r>
              <a:rPr lang="en-US" b="true" sz="328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UCI Online Retail dataset is a transactional dataset containing all transactions between 01/12/2010 and 09/12/2011 for a UK-based online retailer. It is widely used for tasks like classification, clustering, and exploratory data analysis (EDA).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57999" y="3101290"/>
            <a:ext cx="4664403" cy="2489950"/>
            <a:chOff x="0" y="0"/>
            <a:chExt cx="951960" cy="5081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7999" y="6243462"/>
            <a:ext cx="4664403" cy="2489950"/>
            <a:chOff x="0" y="0"/>
            <a:chExt cx="951960" cy="508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2701" y="3101290"/>
            <a:ext cx="4664403" cy="2489950"/>
            <a:chOff x="0" y="0"/>
            <a:chExt cx="951960" cy="5081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32701" y="6243462"/>
            <a:ext cx="4664403" cy="2489950"/>
            <a:chOff x="0" y="0"/>
            <a:chExt cx="951960" cy="508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5400000">
            <a:off x="318507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5400000">
            <a:off x="318507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5893209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5400000">
            <a:off x="5893209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95766" y="3914782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94D3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05291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7B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79993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C19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79993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175DC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1668168">
            <a:off x="5250247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668168">
            <a:off x="5250247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668168">
            <a:off x="10824949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1668168">
            <a:off x="10824949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707402" y="3101290"/>
            <a:ext cx="4664403" cy="2489950"/>
            <a:chOff x="0" y="0"/>
            <a:chExt cx="951960" cy="5081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07402" y="6243462"/>
            <a:ext cx="4664403" cy="2489950"/>
            <a:chOff x="0" y="0"/>
            <a:chExt cx="951960" cy="5081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true" rot="5400000">
            <a:off x="11467911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true" rot="5400000">
            <a:off x="11467911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5754695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A3C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754695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18418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1668168">
            <a:off x="16399650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1668168">
            <a:off x="16399650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22753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797454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372156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279903" y="7259837"/>
            <a:ext cx="342900" cy="457200"/>
          </a:xfrm>
          <a:custGeom>
            <a:avLst/>
            <a:gdLst/>
            <a:ahLst/>
            <a:cxnLst/>
            <a:rect r="r" b="b" t="t" l="l"/>
            <a:pathLst>
              <a:path h="457200" w="342900">
                <a:moveTo>
                  <a:pt x="0" y="0"/>
                </a:moveTo>
                <a:lnTo>
                  <a:pt x="342900" y="0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787619" y="7259837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1" y="0"/>
                </a:lnTo>
                <a:lnTo>
                  <a:pt x="47687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372156" y="72598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2250923" y="3423157"/>
            <a:ext cx="2240069" cy="1609725"/>
            <a:chOff x="0" y="0"/>
            <a:chExt cx="2986758" cy="214630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9525"/>
              <a:ext cx="2986758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</a:pPr>
              <a:r>
                <a:rPr lang="en-US" b="true" sz="31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</a:t>
              </a:r>
              <a:r>
                <a:rPr lang="en-US" b="true" sz="31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 </a:t>
              </a:r>
              <a:r>
                <a:rPr lang="en-US" b="true" sz="31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Collection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9708" y="1520825"/>
              <a:ext cx="2977050" cy="625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250923" y="6565329"/>
            <a:ext cx="2240069" cy="2616200"/>
            <a:chOff x="0" y="0"/>
            <a:chExt cx="2986758" cy="3488267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0"/>
              <a:ext cx="2986758" cy="273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Machine Lear</a:t>
              </a:r>
              <a:r>
                <a:rPr lang="en-US" b="true" sz="26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ning Model Developm</a:t>
              </a:r>
              <a:r>
                <a:rPr lang="en-US" b="true" sz="26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</a:t>
              </a:r>
            </a:p>
            <a:p>
              <a:pPr algn="ctr">
                <a:lnSpc>
                  <a:spcPts val="3239"/>
                </a:lnSpc>
              </a:pP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9708" y="2955925"/>
              <a:ext cx="2977050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825624" y="3423157"/>
            <a:ext cx="2354369" cy="1331595"/>
            <a:chOff x="0" y="0"/>
            <a:chExt cx="3139158" cy="1775460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0"/>
              <a:ext cx="3139158" cy="1041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</a:t>
              </a:r>
              <a:r>
                <a:rPr lang="en-US" b="true" sz="25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</a:t>
              </a:r>
              <a:r>
                <a:rPr lang="en-US" b="true" sz="25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Preprocessing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0203" y="1266825"/>
              <a:ext cx="3128955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825624" y="6565329"/>
            <a:ext cx="2354369" cy="2262505"/>
            <a:chOff x="0" y="0"/>
            <a:chExt cx="3139158" cy="3016674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0"/>
              <a:ext cx="3139158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</a:t>
              </a: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el Training and Validation</a:t>
              </a:r>
            </a:p>
            <a:p>
              <a:pPr algn="ctr">
                <a:lnSpc>
                  <a:spcPts val="3359"/>
                </a:lnSpc>
              </a:pP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0203" y="2470150"/>
              <a:ext cx="3128955" cy="546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400326" y="3423157"/>
            <a:ext cx="2240069" cy="2206625"/>
            <a:chOff x="0" y="0"/>
            <a:chExt cx="2986758" cy="2942167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0"/>
              <a:ext cx="2986758" cy="218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  <a:r>
                <a:rPr lang="en-US" b="true" sz="26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ata</a:t>
              </a:r>
              <a:r>
                <a:rPr lang="en-US" b="true" sz="26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Warehousing and BI Integration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9708" y="2409825"/>
              <a:ext cx="2977050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400326" y="6565329"/>
            <a:ext cx="2240069" cy="1843405"/>
            <a:chOff x="0" y="0"/>
            <a:chExt cx="2986758" cy="2457874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0"/>
              <a:ext cx="2986758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</a:t>
              </a: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el Evaluation Metrics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9708" y="1911350"/>
              <a:ext cx="2977050" cy="546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9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EXPECTED OUTCOMES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763663">
            <a:off x="1566996" y="3808747"/>
            <a:ext cx="3444061" cy="6051865"/>
          </a:xfrm>
          <a:custGeom>
            <a:avLst/>
            <a:gdLst/>
            <a:ahLst/>
            <a:cxnLst/>
            <a:rect r="r" b="b" t="t" l="l"/>
            <a:pathLst>
              <a:path h="6051865" w="3444061">
                <a:moveTo>
                  <a:pt x="0" y="6051865"/>
                </a:moveTo>
                <a:lnTo>
                  <a:pt x="3444061" y="6051865"/>
                </a:lnTo>
                <a:lnTo>
                  <a:pt x="3444061" y="0"/>
                </a:lnTo>
                <a:lnTo>
                  <a:pt x="0" y="0"/>
                </a:lnTo>
                <a:lnTo>
                  <a:pt x="0" y="6051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763663">
            <a:off x="3268791" y="8196284"/>
            <a:ext cx="892640" cy="89264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75D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-346450">
            <a:off x="5438365" y="3124609"/>
            <a:ext cx="3444061" cy="6051865"/>
          </a:xfrm>
          <a:custGeom>
            <a:avLst/>
            <a:gdLst/>
            <a:ahLst/>
            <a:cxnLst/>
            <a:rect r="r" b="b" t="t" l="l"/>
            <a:pathLst>
              <a:path h="6051865" w="3444061">
                <a:moveTo>
                  <a:pt x="0" y="6051865"/>
                </a:moveTo>
                <a:lnTo>
                  <a:pt x="3444061" y="6051865"/>
                </a:lnTo>
                <a:lnTo>
                  <a:pt x="3444061" y="0"/>
                </a:lnTo>
                <a:lnTo>
                  <a:pt x="0" y="0"/>
                </a:lnTo>
                <a:lnTo>
                  <a:pt x="0" y="60518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346450">
            <a:off x="6919895" y="7550256"/>
            <a:ext cx="892640" cy="8926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A2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345068">
            <a:off x="9472786" y="3120148"/>
            <a:ext cx="3444061" cy="6051865"/>
          </a:xfrm>
          <a:custGeom>
            <a:avLst/>
            <a:gdLst/>
            <a:ahLst/>
            <a:cxnLst/>
            <a:rect r="r" b="b" t="t" l="l"/>
            <a:pathLst>
              <a:path h="6051865" w="3444061">
                <a:moveTo>
                  <a:pt x="0" y="6051864"/>
                </a:moveTo>
                <a:lnTo>
                  <a:pt x="3444062" y="6051864"/>
                </a:lnTo>
                <a:lnTo>
                  <a:pt x="3444062" y="0"/>
                </a:lnTo>
                <a:lnTo>
                  <a:pt x="0" y="0"/>
                </a:lnTo>
                <a:lnTo>
                  <a:pt x="0" y="605186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345068">
            <a:off x="10577838" y="7549343"/>
            <a:ext cx="892640" cy="89264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C2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974850">
            <a:off x="13411398" y="3912283"/>
            <a:ext cx="3444061" cy="6051865"/>
          </a:xfrm>
          <a:custGeom>
            <a:avLst/>
            <a:gdLst/>
            <a:ahLst/>
            <a:cxnLst/>
            <a:rect r="r" b="b" t="t" l="l"/>
            <a:pathLst>
              <a:path h="6051865" w="3444061">
                <a:moveTo>
                  <a:pt x="0" y="6051865"/>
                </a:moveTo>
                <a:lnTo>
                  <a:pt x="3444061" y="6051865"/>
                </a:lnTo>
                <a:lnTo>
                  <a:pt x="3444061" y="0"/>
                </a:lnTo>
                <a:lnTo>
                  <a:pt x="0" y="0"/>
                </a:lnTo>
                <a:lnTo>
                  <a:pt x="0" y="60518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191505" y="8282104"/>
            <a:ext cx="892640" cy="89264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762000">
            <a:off x="3452812" y="8380667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6" y="0"/>
                </a:lnTo>
                <a:lnTo>
                  <a:pt x="523876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-348000">
            <a:off x="7109213" y="7771936"/>
            <a:ext cx="514005" cy="476623"/>
          </a:xfrm>
          <a:custGeom>
            <a:avLst/>
            <a:gdLst/>
            <a:ahLst/>
            <a:cxnLst/>
            <a:rect r="r" b="b" t="t" l="l"/>
            <a:pathLst>
              <a:path h="476623" w="514005">
                <a:moveTo>
                  <a:pt x="0" y="0"/>
                </a:moveTo>
                <a:lnTo>
                  <a:pt x="514004" y="0"/>
                </a:lnTo>
                <a:lnTo>
                  <a:pt x="514004" y="476622"/>
                </a:lnTo>
                <a:lnTo>
                  <a:pt x="0" y="4766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348000">
            <a:off x="10834260" y="7738581"/>
            <a:ext cx="464718" cy="471578"/>
          </a:xfrm>
          <a:custGeom>
            <a:avLst/>
            <a:gdLst/>
            <a:ahLst/>
            <a:cxnLst/>
            <a:rect r="r" b="b" t="t" l="l"/>
            <a:pathLst>
              <a:path h="471578" w="464718">
                <a:moveTo>
                  <a:pt x="0" y="0"/>
                </a:moveTo>
                <a:lnTo>
                  <a:pt x="464719" y="0"/>
                </a:lnTo>
                <a:lnTo>
                  <a:pt x="464719" y="471577"/>
                </a:lnTo>
                <a:lnTo>
                  <a:pt x="0" y="4715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-763663">
            <a:off x="1869007" y="5549805"/>
            <a:ext cx="2427726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select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 m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arn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 model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a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 expecte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p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r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with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tab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ccu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acy.</a:t>
            </a:r>
          </a:p>
        </p:txBody>
      </p:sp>
      <p:sp>
        <p:nvSpPr>
          <p:cNvPr name="TextBox 23" id="23"/>
          <p:cNvSpPr txBox="true"/>
          <p:nvPr/>
        </p:nvSpPr>
        <p:spPr>
          <a:xfrm rot="-763663">
            <a:off x="2032122" y="4381920"/>
            <a:ext cx="154435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675D5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-346450">
            <a:off x="5870665" y="4803266"/>
            <a:ext cx="242772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Random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Forest, and XGBoost are expected to outperform linear models.</a:t>
            </a:r>
          </a:p>
        </p:txBody>
      </p:sp>
      <p:sp>
        <p:nvSpPr>
          <p:cNvPr name="TextBox 25" id="25"/>
          <p:cNvSpPr txBox="true"/>
          <p:nvPr/>
        </p:nvSpPr>
        <p:spPr>
          <a:xfrm rot="-346450">
            <a:off x="6166868" y="3654884"/>
            <a:ext cx="154435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1A2B1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345068">
            <a:off x="10109663" y="4924856"/>
            <a:ext cx="2427726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ped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 da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hbo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rd i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enh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in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ter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of predict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 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ul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</a:t>
            </a:r>
            <a:r>
              <a:rPr lang="en-US" sz="16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345068">
            <a:off x="10643107" y="3650334"/>
            <a:ext cx="154435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7C276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974850">
            <a:off x="14164861" y="5758918"/>
            <a:ext cx="2427726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structured data warehouse model is expected to improve analytical efficiency.</a:t>
            </a:r>
          </a:p>
        </p:txBody>
      </p:sp>
      <p:sp>
        <p:nvSpPr>
          <p:cNvPr name="TextBox 29" id="29"/>
          <p:cNvSpPr txBox="true"/>
          <p:nvPr/>
        </p:nvSpPr>
        <p:spPr>
          <a:xfrm rot="974850">
            <a:off x="14976813" y="4519263"/>
            <a:ext cx="154435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BE24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971999">
            <a:off x="14436324" y="8467658"/>
            <a:ext cx="403003" cy="521533"/>
          </a:xfrm>
          <a:custGeom>
            <a:avLst/>
            <a:gdLst/>
            <a:ahLst/>
            <a:cxnLst/>
            <a:rect r="r" b="b" t="t" l="l"/>
            <a:pathLst>
              <a:path h="521533" w="403003">
                <a:moveTo>
                  <a:pt x="0" y="0"/>
                </a:moveTo>
                <a:lnTo>
                  <a:pt x="403002" y="0"/>
                </a:lnTo>
                <a:lnTo>
                  <a:pt x="403002" y="521532"/>
                </a:lnTo>
                <a:lnTo>
                  <a:pt x="0" y="5215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4146" y="2057400"/>
            <a:ext cx="6799707" cy="8229600"/>
          </a:xfrm>
          <a:custGeom>
            <a:avLst/>
            <a:gdLst/>
            <a:ahLst/>
            <a:cxnLst/>
            <a:rect r="r" b="b" t="t" l="l"/>
            <a:pathLst>
              <a:path h="8229600" w="6799707">
                <a:moveTo>
                  <a:pt x="0" y="0"/>
                </a:moveTo>
                <a:lnTo>
                  <a:pt x="6799708" y="0"/>
                </a:lnTo>
                <a:lnTo>
                  <a:pt x="67997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72339" y="504377"/>
            <a:ext cx="12352823" cy="150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5"/>
              </a:lnSpc>
            </a:pPr>
            <a:r>
              <a:rPr lang="en-US" b="true" sz="8782">
                <a:solidFill>
                  <a:srgbClr val="49B0B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QUESTIONS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DAHBsh06ORs</dc:identifier>
  <dcterms:modified xsi:type="dcterms:W3CDTF">2011-08-01T06:04:30Z</dcterms:modified>
  <cp:revision>1</cp:revision>
  <dc:title>INTEGRATED BUSINESS INTELLIGENCE AND MACHINE LEARNING APPROACH FOR  E-COMMERCE SALES FORECASTING</dc:title>
</cp:coreProperties>
</file>