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8" d="100"/>
          <a:sy n="58" d="100"/>
        </p:scale>
        <p:origin x="89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280160"/>
            <a:ext cx="10360152" cy="3840480"/>
          </a:xfrm>
          <a:prstGeom prst="rect">
            <a:avLst/>
          </a:prstGeom>
          <a:solidFill>
            <a:srgbClr val="0A4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" y="1280160"/>
            <a:ext cx="137160" cy="38404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4440" y="1463040"/>
            <a:ext cx="9601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 dirty="0">
                <a:solidFill>
                  <a:srgbClr val="FFFFFF"/>
                </a:solidFill>
                <a:latin typeface="Calibri"/>
              </a:rPr>
              <a:t>University Event Management System</a:t>
            </a:r>
            <a:r>
              <a:rPr lang="en-US" sz="36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3600" b="1" i="0" dirty="0">
                <a:solidFill>
                  <a:srgbClr val="02C39A"/>
                </a:solidFill>
                <a:latin typeface="Calibri"/>
              </a:rPr>
              <a:t>(UEMS)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25696" y="1963281"/>
            <a:ext cx="31363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CADCFC"/>
                </a:solidFill>
                <a:latin typeface="Calibri"/>
              </a:rPr>
              <a:t>Project Management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20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IT 612 – Project Management in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886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Prepared by: Md. Shakil Hossain   |   Supervised by: Dr. Shabana Habib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BB5D4"/>
                </a:solidFill>
                <a:latin typeface="Calibri"/>
              </a:rPr>
              <a:t>QASSIM UNIVERSITY  |  College of Computer  |  Department of Information Technology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" y="0"/>
            <a:ext cx="12115800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8288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  <a:latin typeface="Calibri"/>
              </a:rPr>
              <a:t>Presentation Agenda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39319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548640" cy="2148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0895" y="1922797"/>
            <a:ext cx="457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79" y="1819987"/>
            <a:ext cx="3200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 dirty="0">
                <a:solidFill>
                  <a:srgbClr val="065A82"/>
                </a:solidFill>
                <a:latin typeface="Calibri"/>
              </a:rPr>
              <a:t>Introduction</a:t>
            </a:r>
            <a:endParaRPr sz="1100" b="1" i="0" dirty="0">
              <a:solidFill>
                <a:srgbClr val="065A82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68679" y="2322907"/>
            <a:ext cx="3200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64748B"/>
                </a:solidFill>
                <a:latin typeface="Calibri"/>
              </a:rPr>
              <a:t>Background, Problem Statement &amp; Objectives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188720"/>
            <a:ext cx="39319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06240" y="1188720"/>
            <a:ext cx="548640" cy="2148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70119" y="1988116"/>
            <a:ext cx="457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30785" y="1818323"/>
            <a:ext cx="3200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 dirty="0">
                <a:solidFill>
                  <a:srgbClr val="065A82"/>
                </a:solidFill>
                <a:latin typeface="Calibri"/>
              </a:rPr>
              <a:t>Project Charter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2185" y="2313838"/>
            <a:ext cx="3200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64748B"/>
                </a:solidFill>
                <a:latin typeface="Calibri"/>
              </a:rPr>
              <a:t>SMART Goals, Stakeholders &amp; Constraints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188720"/>
            <a:ext cx="39319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38160" y="1188720"/>
            <a:ext cx="548640" cy="2148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02040" y="1988116"/>
            <a:ext cx="457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2705" y="1818323"/>
            <a:ext cx="3200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 dirty="0">
                <a:solidFill>
                  <a:srgbClr val="065A82"/>
                </a:solidFill>
                <a:latin typeface="Calibri"/>
              </a:rPr>
              <a:t>Scope &amp; Schedule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14105" y="2313838"/>
            <a:ext cx="3200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64748B"/>
                </a:solidFill>
                <a:latin typeface="Calibri"/>
              </a:rPr>
              <a:t>WBS, Gantt Chart &amp; Critical Path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611880"/>
            <a:ext cx="39319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74320" y="3611880"/>
            <a:ext cx="548640" cy="2148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38200" y="4411276"/>
            <a:ext cx="457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65" y="4241483"/>
            <a:ext cx="3200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 dirty="0">
                <a:solidFill>
                  <a:srgbClr val="065A82"/>
                </a:solidFill>
                <a:latin typeface="Calibri"/>
              </a:rPr>
              <a:t>Cost &amp; Quality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265" y="4736998"/>
            <a:ext cx="3200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64748B"/>
                </a:solidFill>
                <a:latin typeface="Calibri"/>
              </a:rPr>
              <a:t>Budget SAR 285K, Standards &amp; Acceptance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3611880"/>
            <a:ext cx="39319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206240" y="3611880"/>
            <a:ext cx="548640" cy="2148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270119" y="4411276"/>
            <a:ext cx="457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30785" y="4241483"/>
            <a:ext cx="3200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 dirty="0">
                <a:solidFill>
                  <a:srgbClr val="065A82"/>
                </a:solidFill>
                <a:latin typeface="Calibri"/>
              </a:rPr>
              <a:t>Risk &amp; HR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82185" y="4736998"/>
            <a:ext cx="3200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12-Risk Register, RACI Matrix &amp; Team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60" y="3611880"/>
            <a:ext cx="39319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138160" y="3611880"/>
            <a:ext cx="548640" cy="2148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02040" y="4411276"/>
            <a:ext cx="457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62705" y="4241483"/>
            <a:ext cx="32004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 dirty="0">
                <a:solidFill>
                  <a:srgbClr val="065A82"/>
                </a:solidFill>
                <a:latin typeface="Calibri"/>
              </a:rPr>
              <a:t>Communication
&amp; Procurement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14105" y="5194198"/>
            <a:ext cx="3383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Matrix, Tools, Strategy &amp; Vendors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" y="0"/>
            <a:ext cx="12115800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8288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  <a:latin typeface="Calibri"/>
              </a:rPr>
              <a:t>Introduction &amp; Problem Statement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" y="2269970"/>
            <a:ext cx="5394960" cy="2503583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1752" y="2269970"/>
            <a:ext cx="5394960" cy="4114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" y="2297402"/>
            <a:ext cx="5212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Calibri"/>
              </a:rPr>
              <a:t>Organizational Background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727170"/>
            <a:ext cx="5120640" cy="1528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600" dirty="0">
                <a:solidFill>
                  <a:srgbClr val="1A2B3C"/>
                </a:solidFill>
                <a:latin typeface="Calibri"/>
              </a:rPr>
              <a:t>  •  Qassim University – established 2004, </a:t>
            </a:r>
            <a:r>
              <a:rPr sz="1600" dirty="0" err="1">
                <a:solidFill>
                  <a:srgbClr val="1A2B3C"/>
                </a:solidFill>
                <a:latin typeface="Calibri"/>
              </a:rPr>
              <a:t>Buraidah</a:t>
            </a:r>
            <a:r>
              <a:rPr sz="1600" dirty="0">
                <a:solidFill>
                  <a:srgbClr val="1A2B3C"/>
                </a:solidFill>
                <a:latin typeface="Calibri"/>
              </a:rPr>
              <a:t>, KSA</a:t>
            </a:r>
          </a:p>
          <a:p>
            <a:pPr algn="l">
              <a:spcBef>
                <a:spcPts val="400"/>
              </a:spcBef>
            </a:pPr>
            <a:r>
              <a:rPr sz="1600" dirty="0">
                <a:solidFill>
                  <a:srgbClr val="1A2B3C"/>
                </a:solidFill>
                <a:latin typeface="Calibri"/>
              </a:rPr>
              <a:t>  •  60,000+ students; under Ministry of Education</a:t>
            </a:r>
          </a:p>
          <a:p>
            <a:pPr algn="l">
              <a:spcBef>
                <a:spcPts val="400"/>
              </a:spcBef>
            </a:pPr>
            <a:r>
              <a:rPr sz="1600" dirty="0">
                <a:solidFill>
                  <a:srgbClr val="1A2B3C"/>
                </a:solidFill>
                <a:latin typeface="Calibri"/>
              </a:rPr>
              <a:t>  •  College of Computer, Dept. of Information Technology</a:t>
            </a:r>
          </a:p>
          <a:p>
            <a:pPr algn="l">
              <a:spcBef>
                <a:spcPts val="400"/>
              </a:spcBef>
            </a:pPr>
            <a:r>
              <a:rPr sz="1600" dirty="0">
                <a:solidFill>
                  <a:srgbClr val="1A2B3C"/>
                </a:solidFill>
                <a:latin typeface="Calibri"/>
              </a:rPr>
              <a:t>  •  Programs aligned with Vision 2030 digital economy</a:t>
            </a:r>
          </a:p>
          <a:p>
            <a:pPr algn="l">
              <a:spcBef>
                <a:spcPts val="400"/>
              </a:spcBef>
            </a:pPr>
            <a:r>
              <a:rPr sz="1600" dirty="0">
                <a:solidFill>
                  <a:srgbClr val="1A2B3C"/>
                </a:solidFill>
                <a:latin typeface="Calibri"/>
              </a:rPr>
              <a:t>  •  Manages 100s of academic &amp; non-academic events/year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16752" y="2269970"/>
            <a:ext cx="5943600" cy="2503583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16752" y="2269970"/>
            <a:ext cx="594360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53912" y="2297402"/>
            <a:ext cx="5669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Calibri"/>
              </a:rPr>
              <a:t>Current Problems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3912" y="2727170"/>
            <a:ext cx="5669280" cy="1856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600" dirty="0">
                <a:solidFill>
                  <a:srgbClr val="1A2B3C"/>
                </a:solidFill>
                <a:latin typeface="Calibri"/>
              </a:rPr>
              <a:t>  •  Scheduling conflicts – no central venue booking</a:t>
            </a:r>
          </a:p>
          <a:p>
            <a:pPr algn="l">
              <a:spcBef>
                <a:spcPts val="400"/>
              </a:spcBef>
            </a:pPr>
            <a:r>
              <a:rPr sz="1600" dirty="0">
                <a:solidFill>
                  <a:srgbClr val="1A2B3C"/>
                </a:solidFill>
                <a:latin typeface="Calibri"/>
              </a:rPr>
              <a:t>  •  Communication gaps between organizers &amp; participants</a:t>
            </a:r>
          </a:p>
          <a:p>
            <a:pPr algn="l">
              <a:spcBef>
                <a:spcPts val="400"/>
              </a:spcBef>
            </a:pPr>
            <a:r>
              <a:rPr sz="1600" dirty="0">
                <a:solidFill>
                  <a:srgbClr val="1A2B3C"/>
                </a:solidFill>
                <a:latin typeface="Calibri"/>
              </a:rPr>
              <a:t>  •  Budget mismanagement – informal financial tracking</a:t>
            </a:r>
          </a:p>
          <a:p>
            <a:pPr algn="l">
              <a:spcBef>
                <a:spcPts val="400"/>
              </a:spcBef>
            </a:pPr>
            <a:r>
              <a:rPr sz="1600" dirty="0">
                <a:solidFill>
                  <a:srgbClr val="1A2B3C"/>
                </a:solidFill>
                <a:latin typeface="Calibri"/>
              </a:rPr>
              <a:t>  •  Inefficient registration – paper-based, time-consuming</a:t>
            </a:r>
          </a:p>
          <a:p>
            <a:pPr algn="l">
              <a:spcBef>
                <a:spcPts val="400"/>
              </a:spcBef>
            </a:pPr>
            <a:r>
              <a:rPr sz="1600" dirty="0">
                <a:solidFill>
                  <a:srgbClr val="1A2B3C"/>
                </a:solidFill>
                <a:latin typeface="Calibri"/>
              </a:rPr>
              <a:t>  •  No event history or analytics for decision-making</a:t>
            </a:r>
          </a:p>
          <a:p>
            <a:pPr algn="l">
              <a:spcBef>
                <a:spcPts val="400"/>
              </a:spcBef>
            </a:pPr>
            <a:r>
              <a:rPr sz="1600" dirty="0">
                <a:solidFill>
                  <a:srgbClr val="1A2B3C"/>
                </a:solidFill>
                <a:latin typeface="Calibri"/>
              </a:rPr>
              <a:t>  •  Estimated cost: SAR 120,000+/year in lost productivity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" y="0"/>
            <a:ext cx="12115800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8288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  <a:latin typeface="Calibri"/>
              </a:rPr>
              <a:t>Project Charter &amp; SMART Objectives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2743200" cy="13258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124712"/>
            <a:ext cx="2560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02C39A"/>
                </a:solidFill>
                <a:latin typeface="Calibri"/>
              </a:rPr>
              <a:t>Sponsor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59415"/>
            <a:ext cx="25603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Calibri"/>
              </a:rPr>
              <a:t>Qassim University
Rector's Office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097280"/>
            <a:ext cx="2743200" cy="13258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91840" y="1124712"/>
            <a:ext cx="2560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2C39A"/>
                </a:solidFill>
                <a:latin typeface="Calibri"/>
              </a:rPr>
              <a:t>Duration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559415"/>
            <a:ext cx="25603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Calibri"/>
              </a:rPr>
              <a:t>10 Weeks
Feb – Apr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097280"/>
            <a:ext cx="2743200" cy="13258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124712"/>
            <a:ext cx="2560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2C39A"/>
                </a:solidFill>
                <a:latin typeface="Calibri"/>
              </a:rPr>
              <a:t>Budget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559415"/>
            <a:ext cx="2560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Calibri"/>
              </a:rPr>
              <a:t>SAR 285,000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0" y="1097280"/>
            <a:ext cx="2743200" cy="13258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0" y="1124712"/>
            <a:ext cx="2560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2C39A"/>
                </a:solidFill>
                <a:latin typeface="Calibri"/>
              </a:rPr>
              <a:t>Priority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1559415"/>
            <a:ext cx="25603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Calibri"/>
              </a:rPr>
              <a:t>HIGH – Strategic
Digital Transform.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2606040"/>
            <a:ext cx="11658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65A82"/>
                </a:solidFill>
                <a:latin typeface="Calibri"/>
              </a:rPr>
              <a:t>SMART Objectives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017520"/>
            <a:ext cx="2194560" cy="5943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0040" y="3127248"/>
            <a:ext cx="2103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Calibri"/>
              </a:rPr>
              <a:t>S – Specific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68880" y="3017520"/>
            <a:ext cx="94640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606040" y="3127248"/>
            <a:ext cx="9235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1A2B3C"/>
                </a:solidFill>
                <a:latin typeface="Calibri"/>
              </a:rPr>
              <a:t>Develop centralized web-based UEMS for Qassim University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712463"/>
            <a:ext cx="2194560" cy="5943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0040" y="3822191"/>
            <a:ext cx="2103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Calibri"/>
              </a:rPr>
              <a:t>M – Measurable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68880" y="3712463"/>
            <a:ext cx="94640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606040" y="3822191"/>
            <a:ext cx="9235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B3C"/>
                </a:solidFill>
                <a:latin typeface="Calibri"/>
              </a:rPr>
              <a:t>Reduce scheduling conflicts 90% &amp; manual time 75% within 6 months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407408"/>
            <a:ext cx="2194560" cy="5943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0040" y="4517136"/>
            <a:ext cx="2103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Calibri"/>
              </a:rPr>
              <a:t>A – Achievable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68880" y="4407408"/>
            <a:ext cx="94640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606040" y="4517136"/>
            <a:ext cx="9235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B3C"/>
                </a:solidFill>
                <a:latin typeface="Calibri"/>
              </a:rPr>
              <a:t>Complete planning in 10 weeks using QU IT expertise &amp; infrastructure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102352"/>
            <a:ext cx="2194560" cy="5943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20040" y="5212080"/>
            <a:ext cx="2103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Calibri"/>
              </a:rPr>
              <a:t>R – Relevant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68880" y="5102352"/>
            <a:ext cx="94640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606040" y="5212080"/>
            <a:ext cx="9235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B3C"/>
                </a:solidFill>
                <a:latin typeface="Calibri"/>
              </a:rPr>
              <a:t>Aligned with QU digital transformation &amp; Saudi Vision 2030 e-governance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797296"/>
            <a:ext cx="2194560" cy="5943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20040" y="5907024"/>
            <a:ext cx="2103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Calibri"/>
              </a:rPr>
              <a:t>T – Time-bound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68880" y="5797296"/>
            <a:ext cx="94640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606040" y="5907024"/>
            <a:ext cx="9235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B3C"/>
                </a:solidFill>
                <a:latin typeface="Calibri"/>
              </a:rPr>
              <a:t>Full Project Management Plan delivered by April 30,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" y="0"/>
            <a:ext cx="12115800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82880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  <a:latin typeface="Calibri"/>
              </a:rPr>
              <a:t>Scope Management &amp; Work Breakdown Structure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539496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394960" cy="411480"/>
          </a:xfrm>
          <a:prstGeom prst="rect">
            <a:avLst/>
          </a:prstGeom>
          <a:solidFill>
            <a:srgbClr val="02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124712"/>
            <a:ext cx="5120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Calibri"/>
              </a:rPr>
              <a:t>✓  In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554480"/>
            <a:ext cx="516636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600">
                <a:solidFill>
                  <a:srgbClr val="1A2B3C"/>
                </a:solidFill>
                <a:latin typeface="Calibri"/>
              </a:rPr>
              <a:t>  •  Event creation &amp; management module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A2B3C"/>
                </a:solidFill>
                <a:latin typeface="Calibri"/>
              </a:rPr>
              <a:t>  •  Participant registration (email/SMS notifications)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A2B3C"/>
                </a:solidFill>
                <a:latin typeface="Calibri"/>
              </a:rPr>
              <a:t>  •  Venue/resource booking with conflict detection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A2B3C"/>
                </a:solidFill>
                <a:latin typeface="Calibri"/>
              </a:rPr>
              <a:t>  •  Budget management with approval workflow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A2B3C"/>
                </a:solidFill>
                <a:latin typeface="Calibri"/>
              </a:rPr>
              <a:t>  •  Attendance tracking (QR-code check-in)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A2B3C"/>
                </a:solidFill>
                <a:latin typeface="Calibri"/>
              </a:rPr>
              <a:t>  •  Post-event feedback &amp; survey module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A2B3C"/>
                </a:solidFill>
                <a:latin typeface="Calibri"/>
              </a:rPr>
              <a:t>  •  Role-based access (Admin/Coordinator/Faculty/Student)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A2B3C"/>
                </a:solidFill>
                <a:latin typeface="Calibri"/>
              </a:rPr>
              <a:t>  •  MyQU portal SSO integration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A2B3C"/>
                </a:solidFill>
                <a:latin typeface="Calibri"/>
              </a:rPr>
              <a:t>  •  Bilingual interface (Arabic &amp; English)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A2B3C"/>
                </a:solidFill>
                <a:latin typeface="Calibri"/>
              </a:rPr>
              <a:t>  •  System testing plan (unit, integration, UAT)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097280"/>
            <a:ext cx="32004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89320" y="1097280"/>
            <a:ext cx="320040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6480" y="1124712"/>
            <a:ext cx="3017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✗  Out of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554480"/>
            <a:ext cx="3017520" cy="1528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600">
                <a:solidFill>
                  <a:srgbClr val="1A2B3C"/>
                </a:solidFill>
                <a:latin typeface="Calibri"/>
              </a:rPr>
              <a:t>  •  Actual software coding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A2B3C"/>
                </a:solidFill>
                <a:latin typeface="Calibri"/>
              </a:rPr>
              <a:t>  •  Hardware infrastructure setup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A2B3C"/>
                </a:solidFill>
                <a:latin typeface="Calibri"/>
              </a:rPr>
              <a:t>  •  Post-deployment training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A2B3C"/>
                </a:solidFill>
                <a:latin typeface="Calibri"/>
              </a:rPr>
              <a:t>  •  3rd-party platform integration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A2B3C"/>
                </a:solidFill>
                <a:latin typeface="Calibri"/>
              </a:rPr>
              <a:t>  •  Mobile app (iOS/Android)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3886200"/>
            <a:ext cx="59436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89320" y="3886200"/>
            <a:ext cx="5943600" cy="4114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26480" y="3913632"/>
            <a:ext cx="5669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WBS Top-Level Components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4343400"/>
            <a:ext cx="566928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600">
                <a:solidFill>
                  <a:srgbClr val="1A2B3C"/>
                </a:solidFill>
                <a:latin typeface="Calibri"/>
              </a:rPr>
              <a:t>  •  1.0 Project Management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A2B3C"/>
                </a:solidFill>
                <a:latin typeface="Calibri"/>
              </a:rPr>
              <a:t>  •  2.0 Requirements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A2B3C"/>
                </a:solidFill>
                <a:latin typeface="Calibri"/>
              </a:rPr>
              <a:t>  •  3.0 System Design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A2B3C"/>
                </a:solidFill>
                <a:latin typeface="Calibri"/>
              </a:rPr>
              <a:t>  •  4.0 Development (6 modules)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A2B3C"/>
                </a:solidFill>
                <a:latin typeface="Calibri"/>
              </a:rPr>
              <a:t>  •  5.0 Integration &amp; Testing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A2B3C"/>
                </a:solidFill>
                <a:latin typeface="Calibri"/>
              </a:rPr>
              <a:t>  •  6.0 Documentation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A2B3C"/>
                </a:solidFill>
                <a:latin typeface="Calibri"/>
              </a:rPr>
              <a:t>  •  7.0 Deployment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Rectangle 4"/>
          <p:cNvSpPr/>
          <p:nvPr/>
        </p:nvSpPr>
        <p:spPr>
          <a:xfrm>
            <a:off x="73152" y="0"/>
            <a:ext cx="12115800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320040" y="182880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  <a:latin typeface="Calibri"/>
              </a:rPr>
              <a:t>Schedule Management – Gantt &amp; Critical Path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2240280" cy="43891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320040" y="1170432"/>
            <a:ext cx="2103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FFFFFF"/>
                </a:solidFill>
                <a:latin typeface="Calibri"/>
              </a:rPr>
              <a:t>Activity</a:t>
            </a:r>
            <a:endParaRPr sz="11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560320" y="1097280"/>
            <a:ext cx="804672" cy="43891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2651760" y="1170432"/>
            <a:ext cx="685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FFFFFF"/>
                </a:solidFill>
                <a:latin typeface="Calibri"/>
              </a:rPr>
              <a:t>W1</a:t>
            </a:r>
            <a:endParaRPr sz="11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383279" y="1097280"/>
            <a:ext cx="804672" cy="43891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3474720" y="1170432"/>
            <a:ext cx="685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FFFFFF"/>
                </a:solidFill>
                <a:latin typeface="Calibri"/>
              </a:rPr>
              <a:t>W2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097280"/>
            <a:ext cx="804672" cy="43891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4297679" y="1170432"/>
            <a:ext cx="685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FFFFFF"/>
                </a:solidFill>
                <a:latin typeface="Calibri"/>
              </a:rPr>
              <a:t>W3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1097280"/>
            <a:ext cx="804672" cy="43891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TextBox 15"/>
          <p:cNvSpPr txBox="1"/>
          <p:nvPr/>
        </p:nvSpPr>
        <p:spPr>
          <a:xfrm>
            <a:off x="5120640" y="1170432"/>
            <a:ext cx="685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FFFFFF"/>
                </a:solidFill>
                <a:latin typeface="Calibri"/>
              </a:rPr>
              <a:t>W4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0" y="1097280"/>
            <a:ext cx="804672" cy="43891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TextBox 17"/>
          <p:cNvSpPr txBox="1"/>
          <p:nvPr/>
        </p:nvSpPr>
        <p:spPr>
          <a:xfrm>
            <a:off x="5943600" y="1170432"/>
            <a:ext cx="685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  <a:latin typeface="Calibri"/>
              </a:rPr>
              <a:t>W5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1097280"/>
            <a:ext cx="804672" cy="43891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0" name="TextBox 19"/>
          <p:cNvSpPr txBox="1"/>
          <p:nvPr/>
        </p:nvSpPr>
        <p:spPr>
          <a:xfrm>
            <a:off x="6766559" y="1170432"/>
            <a:ext cx="685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  <a:latin typeface="Calibri"/>
              </a:rPr>
              <a:t>W6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79" y="1097280"/>
            <a:ext cx="804672" cy="43891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TextBox 21"/>
          <p:cNvSpPr txBox="1"/>
          <p:nvPr/>
        </p:nvSpPr>
        <p:spPr>
          <a:xfrm>
            <a:off x="7589519" y="1170432"/>
            <a:ext cx="685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  <a:latin typeface="Calibri"/>
              </a:rPr>
              <a:t>W7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1097280"/>
            <a:ext cx="804672" cy="43891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4" name="TextBox 23"/>
          <p:cNvSpPr txBox="1"/>
          <p:nvPr/>
        </p:nvSpPr>
        <p:spPr>
          <a:xfrm>
            <a:off x="8412480" y="1170432"/>
            <a:ext cx="685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  <a:latin typeface="Calibri"/>
              </a:rPr>
              <a:t>W8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0" y="1097280"/>
            <a:ext cx="804672" cy="43891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6" name="TextBox 25"/>
          <p:cNvSpPr txBox="1"/>
          <p:nvPr/>
        </p:nvSpPr>
        <p:spPr>
          <a:xfrm>
            <a:off x="9235440" y="1170432"/>
            <a:ext cx="685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  <a:latin typeface="Calibri"/>
              </a:rPr>
              <a:t>W9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66959" y="1097280"/>
            <a:ext cx="804672" cy="43891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8" name="TextBox 27"/>
          <p:cNvSpPr txBox="1"/>
          <p:nvPr/>
        </p:nvSpPr>
        <p:spPr>
          <a:xfrm>
            <a:off x="10058399" y="1170432"/>
            <a:ext cx="685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  <a:latin typeface="Calibri"/>
              </a:rPr>
              <a:t>W10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1536192"/>
            <a:ext cx="2240280" cy="420623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0" name="TextBox 29"/>
          <p:cNvSpPr txBox="1"/>
          <p:nvPr/>
        </p:nvSpPr>
        <p:spPr>
          <a:xfrm>
            <a:off x="365760" y="1627632"/>
            <a:ext cx="2103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1A2B3C"/>
                </a:solidFill>
                <a:latin typeface="Calibri"/>
              </a:rPr>
              <a:t>Project Charter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60320" y="1536192"/>
            <a:ext cx="804672" cy="420623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2" name="Rectangle 31"/>
          <p:cNvSpPr/>
          <p:nvPr/>
        </p:nvSpPr>
        <p:spPr>
          <a:xfrm>
            <a:off x="2606039" y="1609344"/>
            <a:ext cx="685800" cy="256031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3" name="Rectangle 32"/>
          <p:cNvSpPr/>
          <p:nvPr/>
        </p:nvSpPr>
        <p:spPr>
          <a:xfrm>
            <a:off x="3383279" y="1536192"/>
            <a:ext cx="804672" cy="420623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4" name="Rectangle 33"/>
          <p:cNvSpPr/>
          <p:nvPr/>
        </p:nvSpPr>
        <p:spPr>
          <a:xfrm>
            <a:off x="3428999" y="1609344"/>
            <a:ext cx="685800" cy="256031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5" name="Rectangle 34"/>
          <p:cNvSpPr/>
          <p:nvPr/>
        </p:nvSpPr>
        <p:spPr>
          <a:xfrm>
            <a:off x="4206240" y="1536192"/>
            <a:ext cx="804672" cy="420623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6" name="Rectangle 35"/>
          <p:cNvSpPr/>
          <p:nvPr/>
        </p:nvSpPr>
        <p:spPr>
          <a:xfrm>
            <a:off x="5029200" y="1536192"/>
            <a:ext cx="804672" cy="420623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7" name="Rectangle 36"/>
          <p:cNvSpPr/>
          <p:nvPr/>
        </p:nvSpPr>
        <p:spPr>
          <a:xfrm>
            <a:off x="5852160" y="1536192"/>
            <a:ext cx="804672" cy="420623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8" name="Rectangle 37"/>
          <p:cNvSpPr/>
          <p:nvPr/>
        </p:nvSpPr>
        <p:spPr>
          <a:xfrm>
            <a:off x="6675120" y="1536192"/>
            <a:ext cx="804672" cy="420623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9" name="Rectangle 38"/>
          <p:cNvSpPr/>
          <p:nvPr/>
        </p:nvSpPr>
        <p:spPr>
          <a:xfrm>
            <a:off x="7498079" y="1536192"/>
            <a:ext cx="804672" cy="420623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0" name="Rectangle 39"/>
          <p:cNvSpPr/>
          <p:nvPr/>
        </p:nvSpPr>
        <p:spPr>
          <a:xfrm>
            <a:off x="8321040" y="1536192"/>
            <a:ext cx="804672" cy="420623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1" name="Rectangle 40"/>
          <p:cNvSpPr/>
          <p:nvPr/>
        </p:nvSpPr>
        <p:spPr>
          <a:xfrm>
            <a:off x="9144000" y="1536192"/>
            <a:ext cx="804672" cy="420623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2" name="Rectangle 41"/>
          <p:cNvSpPr/>
          <p:nvPr/>
        </p:nvSpPr>
        <p:spPr>
          <a:xfrm>
            <a:off x="9966959" y="1536192"/>
            <a:ext cx="804672" cy="420623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3" name="Rectangle 42"/>
          <p:cNvSpPr/>
          <p:nvPr/>
        </p:nvSpPr>
        <p:spPr>
          <a:xfrm>
            <a:off x="274320" y="1975104"/>
            <a:ext cx="2240280" cy="420623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4" name="TextBox 43"/>
          <p:cNvSpPr txBox="1"/>
          <p:nvPr/>
        </p:nvSpPr>
        <p:spPr>
          <a:xfrm>
            <a:off x="365760" y="2066544"/>
            <a:ext cx="2103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1A2B3C"/>
                </a:solidFill>
                <a:latin typeface="Calibri"/>
              </a:rPr>
              <a:t>Requirements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560320" y="1975104"/>
            <a:ext cx="804672" cy="420623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6" name="Rectangle 45"/>
          <p:cNvSpPr/>
          <p:nvPr/>
        </p:nvSpPr>
        <p:spPr>
          <a:xfrm>
            <a:off x="3383279" y="1975104"/>
            <a:ext cx="804672" cy="420623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7" name="Rectangle 46"/>
          <p:cNvSpPr/>
          <p:nvPr/>
        </p:nvSpPr>
        <p:spPr>
          <a:xfrm>
            <a:off x="3428999" y="2048256"/>
            <a:ext cx="685800" cy="256031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8" name="Rectangle 47"/>
          <p:cNvSpPr/>
          <p:nvPr/>
        </p:nvSpPr>
        <p:spPr>
          <a:xfrm>
            <a:off x="4206240" y="1975104"/>
            <a:ext cx="804672" cy="420623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9" name="Rectangle 48"/>
          <p:cNvSpPr/>
          <p:nvPr/>
        </p:nvSpPr>
        <p:spPr>
          <a:xfrm>
            <a:off x="4251959" y="2048256"/>
            <a:ext cx="685800" cy="256031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0" name="Rectangle 49"/>
          <p:cNvSpPr/>
          <p:nvPr/>
        </p:nvSpPr>
        <p:spPr>
          <a:xfrm>
            <a:off x="5029200" y="1975104"/>
            <a:ext cx="804672" cy="420623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1" name="Rectangle 50"/>
          <p:cNvSpPr/>
          <p:nvPr/>
        </p:nvSpPr>
        <p:spPr>
          <a:xfrm>
            <a:off x="5852160" y="1975104"/>
            <a:ext cx="804672" cy="420623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2" name="Rectangle 51"/>
          <p:cNvSpPr/>
          <p:nvPr/>
        </p:nvSpPr>
        <p:spPr>
          <a:xfrm>
            <a:off x="6675120" y="1975104"/>
            <a:ext cx="804672" cy="420623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3" name="Rectangle 52"/>
          <p:cNvSpPr/>
          <p:nvPr/>
        </p:nvSpPr>
        <p:spPr>
          <a:xfrm>
            <a:off x="7498079" y="1975104"/>
            <a:ext cx="804672" cy="420623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4" name="Rectangle 53"/>
          <p:cNvSpPr/>
          <p:nvPr/>
        </p:nvSpPr>
        <p:spPr>
          <a:xfrm>
            <a:off x="8321040" y="1975104"/>
            <a:ext cx="804672" cy="420623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5" name="Rectangle 54"/>
          <p:cNvSpPr/>
          <p:nvPr/>
        </p:nvSpPr>
        <p:spPr>
          <a:xfrm>
            <a:off x="9144000" y="1975104"/>
            <a:ext cx="804672" cy="420623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6" name="Rectangle 55"/>
          <p:cNvSpPr/>
          <p:nvPr/>
        </p:nvSpPr>
        <p:spPr>
          <a:xfrm>
            <a:off x="9966959" y="1975104"/>
            <a:ext cx="804672" cy="420623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7" name="Rectangle 56"/>
          <p:cNvSpPr/>
          <p:nvPr/>
        </p:nvSpPr>
        <p:spPr>
          <a:xfrm>
            <a:off x="274320" y="2414015"/>
            <a:ext cx="2240280" cy="420623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8" name="TextBox 57"/>
          <p:cNvSpPr txBox="1"/>
          <p:nvPr/>
        </p:nvSpPr>
        <p:spPr>
          <a:xfrm>
            <a:off x="365760" y="2505456"/>
            <a:ext cx="2103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B3C"/>
                </a:solidFill>
                <a:latin typeface="Calibri"/>
              </a:rPr>
              <a:t>Scope &amp; WBS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560320" y="2414015"/>
            <a:ext cx="804672" cy="420623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0" name="Rectangle 59"/>
          <p:cNvSpPr/>
          <p:nvPr/>
        </p:nvSpPr>
        <p:spPr>
          <a:xfrm>
            <a:off x="3383279" y="2414015"/>
            <a:ext cx="804672" cy="420623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1" name="Rectangle 60"/>
          <p:cNvSpPr/>
          <p:nvPr/>
        </p:nvSpPr>
        <p:spPr>
          <a:xfrm>
            <a:off x="4206240" y="2414015"/>
            <a:ext cx="804672" cy="420623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2" name="Rectangle 61"/>
          <p:cNvSpPr/>
          <p:nvPr/>
        </p:nvSpPr>
        <p:spPr>
          <a:xfrm>
            <a:off x="4251959" y="2487168"/>
            <a:ext cx="685800" cy="256031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3" name="Rectangle 62"/>
          <p:cNvSpPr/>
          <p:nvPr/>
        </p:nvSpPr>
        <p:spPr>
          <a:xfrm>
            <a:off x="5029200" y="2414015"/>
            <a:ext cx="804672" cy="420623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4" name="Rectangle 63"/>
          <p:cNvSpPr/>
          <p:nvPr/>
        </p:nvSpPr>
        <p:spPr>
          <a:xfrm>
            <a:off x="5074920" y="2487168"/>
            <a:ext cx="685800" cy="256031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5" name="Rectangle 64"/>
          <p:cNvSpPr/>
          <p:nvPr/>
        </p:nvSpPr>
        <p:spPr>
          <a:xfrm>
            <a:off x="5852160" y="2414015"/>
            <a:ext cx="804672" cy="420623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6" name="Rectangle 65"/>
          <p:cNvSpPr/>
          <p:nvPr/>
        </p:nvSpPr>
        <p:spPr>
          <a:xfrm>
            <a:off x="6675120" y="2414015"/>
            <a:ext cx="804672" cy="420623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7" name="Rectangle 66"/>
          <p:cNvSpPr/>
          <p:nvPr/>
        </p:nvSpPr>
        <p:spPr>
          <a:xfrm>
            <a:off x="7498079" y="2414015"/>
            <a:ext cx="804672" cy="420623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8" name="Rectangle 67"/>
          <p:cNvSpPr/>
          <p:nvPr/>
        </p:nvSpPr>
        <p:spPr>
          <a:xfrm>
            <a:off x="8321040" y="2414015"/>
            <a:ext cx="804672" cy="420623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9" name="Rectangle 68"/>
          <p:cNvSpPr/>
          <p:nvPr/>
        </p:nvSpPr>
        <p:spPr>
          <a:xfrm>
            <a:off x="9144000" y="2414015"/>
            <a:ext cx="804672" cy="420623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0" name="Rectangle 69"/>
          <p:cNvSpPr/>
          <p:nvPr/>
        </p:nvSpPr>
        <p:spPr>
          <a:xfrm>
            <a:off x="9966959" y="2414015"/>
            <a:ext cx="804672" cy="420623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1" name="Rectangle 70"/>
          <p:cNvSpPr/>
          <p:nvPr/>
        </p:nvSpPr>
        <p:spPr>
          <a:xfrm>
            <a:off x="274320" y="2852928"/>
            <a:ext cx="2240280" cy="420623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2" name="TextBox 71"/>
          <p:cNvSpPr txBox="1"/>
          <p:nvPr/>
        </p:nvSpPr>
        <p:spPr>
          <a:xfrm>
            <a:off x="365760" y="2944368"/>
            <a:ext cx="2103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B3C"/>
                </a:solidFill>
                <a:latin typeface="Calibri"/>
              </a:rPr>
              <a:t>Cost &amp; Budget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560320" y="2852928"/>
            <a:ext cx="804672" cy="420623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4" name="Rectangle 73"/>
          <p:cNvSpPr/>
          <p:nvPr/>
        </p:nvSpPr>
        <p:spPr>
          <a:xfrm>
            <a:off x="3383279" y="2852928"/>
            <a:ext cx="804672" cy="420623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5" name="Rectangle 74"/>
          <p:cNvSpPr/>
          <p:nvPr/>
        </p:nvSpPr>
        <p:spPr>
          <a:xfrm>
            <a:off x="4206240" y="2852928"/>
            <a:ext cx="804672" cy="420623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6" name="Rectangle 75"/>
          <p:cNvSpPr/>
          <p:nvPr/>
        </p:nvSpPr>
        <p:spPr>
          <a:xfrm>
            <a:off x="5029200" y="2852928"/>
            <a:ext cx="804672" cy="420623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7" name="Rectangle 76"/>
          <p:cNvSpPr/>
          <p:nvPr/>
        </p:nvSpPr>
        <p:spPr>
          <a:xfrm>
            <a:off x="5074920" y="2926080"/>
            <a:ext cx="685800" cy="256031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8" name="Rectangle 77"/>
          <p:cNvSpPr/>
          <p:nvPr/>
        </p:nvSpPr>
        <p:spPr>
          <a:xfrm>
            <a:off x="5852160" y="2852928"/>
            <a:ext cx="804672" cy="420623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9" name="Rectangle 78"/>
          <p:cNvSpPr/>
          <p:nvPr/>
        </p:nvSpPr>
        <p:spPr>
          <a:xfrm>
            <a:off x="5897880" y="2926080"/>
            <a:ext cx="685800" cy="256031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0" name="Rectangle 79"/>
          <p:cNvSpPr/>
          <p:nvPr/>
        </p:nvSpPr>
        <p:spPr>
          <a:xfrm>
            <a:off x="6675120" y="2852928"/>
            <a:ext cx="804672" cy="420623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1" name="Rectangle 80"/>
          <p:cNvSpPr/>
          <p:nvPr/>
        </p:nvSpPr>
        <p:spPr>
          <a:xfrm>
            <a:off x="7498079" y="2852928"/>
            <a:ext cx="804672" cy="420623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2" name="Rectangle 81"/>
          <p:cNvSpPr/>
          <p:nvPr/>
        </p:nvSpPr>
        <p:spPr>
          <a:xfrm>
            <a:off x="8321040" y="2852928"/>
            <a:ext cx="804672" cy="420623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3" name="Rectangle 82"/>
          <p:cNvSpPr/>
          <p:nvPr/>
        </p:nvSpPr>
        <p:spPr>
          <a:xfrm>
            <a:off x="9144000" y="2852928"/>
            <a:ext cx="804672" cy="420623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4" name="Rectangle 83"/>
          <p:cNvSpPr/>
          <p:nvPr/>
        </p:nvSpPr>
        <p:spPr>
          <a:xfrm>
            <a:off x="9966959" y="2852928"/>
            <a:ext cx="804672" cy="420623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5" name="Rectangle 84"/>
          <p:cNvSpPr/>
          <p:nvPr/>
        </p:nvSpPr>
        <p:spPr>
          <a:xfrm>
            <a:off x="274320" y="3291839"/>
            <a:ext cx="2240280" cy="420623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6" name="TextBox 85"/>
          <p:cNvSpPr txBox="1"/>
          <p:nvPr/>
        </p:nvSpPr>
        <p:spPr>
          <a:xfrm>
            <a:off x="365760" y="3383279"/>
            <a:ext cx="2103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B3C"/>
                </a:solidFill>
                <a:latin typeface="Calibri"/>
              </a:rPr>
              <a:t>Risk Analysis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560320" y="3291839"/>
            <a:ext cx="804672" cy="420623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8" name="Rectangle 87"/>
          <p:cNvSpPr/>
          <p:nvPr/>
        </p:nvSpPr>
        <p:spPr>
          <a:xfrm>
            <a:off x="3383279" y="3291839"/>
            <a:ext cx="804672" cy="420623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9" name="Rectangle 88"/>
          <p:cNvSpPr/>
          <p:nvPr/>
        </p:nvSpPr>
        <p:spPr>
          <a:xfrm>
            <a:off x="4206240" y="3291839"/>
            <a:ext cx="804672" cy="420623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0" name="Rectangle 89"/>
          <p:cNvSpPr/>
          <p:nvPr/>
        </p:nvSpPr>
        <p:spPr>
          <a:xfrm>
            <a:off x="5029200" y="3291839"/>
            <a:ext cx="804672" cy="420623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1" name="Rectangle 90"/>
          <p:cNvSpPr/>
          <p:nvPr/>
        </p:nvSpPr>
        <p:spPr>
          <a:xfrm>
            <a:off x="5852160" y="3291839"/>
            <a:ext cx="804672" cy="420623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2" name="Rectangle 91"/>
          <p:cNvSpPr/>
          <p:nvPr/>
        </p:nvSpPr>
        <p:spPr>
          <a:xfrm>
            <a:off x="5897880" y="3364991"/>
            <a:ext cx="685800" cy="256031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3" name="Rectangle 92"/>
          <p:cNvSpPr/>
          <p:nvPr/>
        </p:nvSpPr>
        <p:spPr>
          <a:xfrm>
            <a:off x="6675120" y="3291839"/>
            <a:ext cx="804672" cy="420623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4" name="Rectangle 93"/>
          <p:cNvSpPr/>
          <p:nvPr/>
        </p:nvSpPr>
        <p:spPr>
          <a:xfrm>
            <a:off x="6720840" y="3364991"/>
            <a:ext cx="685800" cy="256031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5" name="Rectangle 94"/>
          <p:cNvSpPr/>
          <p:nvPr/>
        </p:nvSpPr>
        <p:spPr>
          <a:xfrm>
            <a:off x="7498079" y="3291839"/>
            <a:ext cx="804672" cy="420623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6" name="Rectangle 95"/>
          <p:cNvSpPr/>
          <p:nvPr/>
        </p:nvSpPr>
        <p:spPr>
          <a:xfrm>
            <a:off x="8321040" y="3291839"/>
            <a:ext cx="804672" cy="420623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7" name="Rectangle 96"/>
          <p:cNvSpPr/>
          <p:nvPr/>
        </p:nvSpPr>
        <p:spPr>
          <a:xfrm>
            <a:off x="9144000" y="3291839"/>
            <a:ext cx="804672" cy="420623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8" name="Rectangle 97"/>
          <p:cNvSpPr/>
          <p:nvPr/>
        </p:nvSpPr>
        <p:spPr>
          <a:xfrm>
            <a:off x="9966959" y="3291839"/>
            <a:ext cx="804672" cy="420623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9" name="Rectangle 98"/>
          <p:cNvSpPr/>
          <p:nvPr/>
        </p:nvSpPr>
        <p:spPr>
          <a:xfrm>
            <a:off x="274320" y="3730752"/>
            <a:ext cx="2240280" cy="420623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0" name="TextBox 99"/>
          <p:cNvSpPr txBox="1"/>
          <p:nvPr/>
        </p:nvSpPr>
        <p:spPr>
          <a:xfrm>
            <a:off x="365760" y="3822191"/>
            <a:ext cx="2103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B3C"/>
                </a:solidFill>
                <a:latin typeface="Calibri"/>
              </a:rPr>
              <a:t>Architecture Design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560320" y="3730752"/>
            <a:ext cx="804672" cy="420623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2" name="Rectangle 101"/>
          <p:cNvSpPr/>
          <p:nvPr/>
        </p:nvSpPr>
        <p:spPr>
          <a:xfrm>
            <a:off x="3383279" y="3730752"/>
            <a:ext cx="804672" cy="420623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3" name="Rectangle 102"/>
          <p:cNvSpPr/>
          <p:nvPr/>
        </p:nvSpPr>
        <p:spPr>
          <a:xfrm>
            <a:off x="4206240" y="3730752"/>
            <a:ext cx="804672" cy="420623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4" name="Rectangle 103"/>
          <p:cNvSpPr/>
          <p:nvPr/>
        </p:nvSpPr>
        <p:spPr>
          <a:xfrm>
            <a:off x="5029200" y="3730752"/>
            <a:ext cx="804672" cy="420623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5" name="Rectangle 104"/>
          <p:cNvSpPr/>
          <p:nvPr/>
        </p:nvSpPr>
        <p:spPr>
          <a:xfrm>
            <a:off x="5852160" y="3730752"/>
            <a:ext cx="804672" cy="420623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6" name="Rectangle 105"/>
          <p:cNvSpPr/>
          <p:nvPr/>
        </p:nvSpPr>
        <p:spPr>
          <a:xfrm>
            <a:off x="6675120" y="3730752"/>
            <a:ext cx="804672" cy="420623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7" name="Rectangle 106"/>
          <p:cNvSpPr/>
          <p:nvPr/>
        </p:nvSpPr>
        <p:spPr>
          <a:xfrm>
            <a:off x="6720840" y="3803904"/>
            <a:ext cx="685800" cy="256031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8" name="Rectangle 107"/>
          <p:cNvSpPr/>
          <p:nvPr/>
        </p:nvSpPr>
        <p:spPr>
          <a:xfrm>
            <a:off x="7498079" y="3730752"/>
            <a:ext cx="804672" cy="420623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9" name="Rectangle 108"/>
          <p:cNvSpPr/>
          <p:nvPr/>
        </p:nvSpPr>
        <p:spPr>
          <a:xfrm>
            <a:off x="7543800" y="3803904"/>
            <a:ext cx="685800" cy="256031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0" name="Rectangle 109"/>
          <p:cNvSpPr/>
          <p:nvPr/>
        </p:nvSpPr>
        <p:spPr>
          <a:xfrm>
            <a:off x="8321040" y="3730752"/>
            <a:ext cx="804672" cy="420623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1" name="Rectangle 110"/>
          <p:cNvSpPr/>
          <p:nvPr/>
        </p:nvSpPr>
        <p:spPr>
          <a:xfrm>
            <a:off x="9144000" y="3730752"/>
            <a:ext cx="804672" cy="420623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2" name="Rectangle 111"/>
          <p:cNvSpPr/>
          <p:nvPr/>
        </p:nvSpPr>
        <p:spPr>
          <a:xfrm>
            <a:off x="9966959" y="3730752"/>
            <a:ext cx="804672" cy="420623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3" name="Rectangle 112"/>
          <p:cNvSpPr/>
          <p:nvPr/>
        </p:nvSpPr>
        <p:spPr>
          <a:xfrm>
            <a:off x="274320" y="4169663"/>
            <a:ext cx="2240280" cy="420623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4" name="TextBox 113"/>
          <p:cNvSpPr txBox="1"/>
          <p:nvPr/>
        </p:nvSpPr>
        <p:spPr>
          <a:xfrm>
            <a:off x="365760" y="4261103"/>
            <a:ext cx="2103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B3C"/>
                </a:solidFill>
                <a:latin typeface="Calibri"/>
              </a:rPr>
              <a:t>Wireframes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560320" y="4169663"/>
            <a:ext cx="804672" cy="420623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6" name="Rectangle 115"/>
          <p:cNvSpPr/>
          <p:nvPr/>
        </p:nvSpPr>
        <p:spPr>
          <a:xfrm>
            <a:off x="3383279" y="4169663"/>
            <a:ext cx="804672" cy="420623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7" name="Rectangle 116"/>
          <p:cNvSpPr/>
          <p:nvPr/>
        </p:nvSpPr>
        <p:spPr>
          <a:xfrm>
            <a:off x="4206240" y="4169663"/>
            <a:ext cx="804672" cy="420623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8" name="Rectangle 117"/>
          <p:cNvSpPr/>
          <p:nvPr/>
        </p:nvSpPr>
        <p:spPr>
          <a:xfrm>
            <a:off x="5029200" y="4169663"/>
            <a:ext cx="804672" cy="420623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9" name="Rectangle 118"/>
          <p:cNvSpPr/>
          <p:nvPr/>
        </p:nvSpPr>
        <p:spPr>
          <a:xfrm>
            <a:off x="5852160" y="4169663"/>
            <a:ext cx="804672" cy="420623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0" name="Rectangle 119"/>
          <p:cNvSpPr/>
          <p:nvPr/>
        </p:nvSpPr>
        <p:spPr>
          <a:xfrm>
            <a:off x="6675120" y="4169663"/>
            <a:ext cx="804672" cy="420623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1" name="Rectangle 120"/>
          <p:cNvSpPr/>
          <p:nvPr/>
        </p:nvSpPr>
        <p:spPr>
          <a:xfrm>
            <a:off x="7498079" y="4169663"/>
            <a:ext cx="804672" cy="420623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2" name="Rectangle 121"/>
          <p:cNvSpPr/>
          <p:nvPr/>
        </p:nvSpPr>
        <p:spPr>
          <a:xfrm>
            <a:off x="7543800" y="4242816"/>
            <a:ext cx="685800" cy="256031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3" name="Rectangle 122"/>
          <p:cNvSpPr/>
          <p:nvPr/>
        </p:nvSpPr>
        <p:spPr>
          <a:xfrm>
            <a:off x="8321040" y="4169663"/>
            <a:ext cx="804672" cy="420623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4" name="Rectangle 123"/>
          <p:cNvSpPr/>
          <p:nvPr/>
        </p:nvSpPr>
        <p:spPr>
          <a:xfrm>
            <a:off x="8366760" y="4242816"/>
            <a:ext cx="685800" cy="256031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5" name="Rectangle 124"/>
          <p:cNvSpPr/>
          <p:nvPr/>
        </p:nvSpPr>
        <p:spPr>
          <a:xfrm>
            <a:off x="9144000" y="4169663"/>
            <a:ext cx="804672" cy="420623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6" name="Rectangle 125"/>
          <p:cNvSpPr/>
          <p:nvPr/>
        </p:nvSpPr>
        <p:spPr>
          <a:xfrm>
            <a:off x="9966959" y="4169663"/>
            <a:ext cx="804672" cy="420623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7" name="Rectangle 126"/>
          <p:cNvSpPr/>
          <p:nvPr/>
        </p:nvSpPr>
        <p:spPr>
          <a:xfrm>
            <a:off x="274320" y="4608576"/>
            <a:ext cx="2240280" cy="420623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8" name="TextBox 127"/>
          <p:cNvSpPr txBox="1"/>
          <p:nvPr/>
        </p:nvSpPr>
        <p:spPr>
          <a:xfrm>
            <a:off x="365760" y="4700016"/>
            <a:ext cx="2103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B3C"/>
                </a:solidFill>
                <a:latin typeface="Calibri"/>
              </a:rPr>
              <a:t>Plan Review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560320" y="4608576"/>
            <a:ext cx="804672" cy="420623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0" name="Rectangle 129"/>
          <p:cNvSpPr/>
          <p:nvPr/>
        </p:nvSpPr>
        <p:spPr>
          <a:xfrm>
            <a:off x="3383279" y="4608576"/>
            <a:ext cx="804672" cy="420623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1" name="Rectangle 130"/>
          <p:cNvSpPr/>
          <p:nvPr/>
        </p:nvSpPr>
        <p:spPr>
          <a:xfrm>
            <a:off x="4206240" y="4608576"/>
            <a:ext cx="804672" cy="420623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2" name="Rectangle 131"/>
          <p:cNvSpPr/>
          <p:nvPr/>
        </p:nvSpPr>
        <p:spPr>
          <a:xfrm>
            <a:off x="5029200" y="4608576"/>
            <a:ext cx="804672" cy="420623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3" name="Rectangle 132"/>
          <p:cNvSpPr/>
          <p:nvPr/>
        </p:nvSpPr>
        <p:spPr>
          <a:xfrm>
            <a:off x="5852160" y="4608576"/>
            <a:ext cx="804672" cy="420623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4" name="Rectangle 133"/>
          <p:cNvSpPr/>
          <p:nvPr/>
        </p:nvSpPr>
        <p:spPr>
          <a:xfrm>
            <a:off x="6675120" y="4608576"/>
            <a:ext cx="804672" cy="420623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5" name="Rectangle 134"/>
          <p:cNvSpPr/>
          <p:nvPr/>
        </p:nvSpPr>
        <p:spPr>
          <a:xfrm>
            <a:off x="7498079" y="4608576"/>
            <a:ext cx="804672" cy="420623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6" name="Rectangle 135"/>
          <p:cNvSpPr/>
          <p:nvPr/>
        </p:nvSpPr>
        <p:spPr>
          <a:xfrm>
            <a:off x="8321040" y="4608576"/>
            <a:ext cx="804672" cy="420623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7" name="Rectangle 136"/>
          <p:cNvSpPr/>
          <p:nvPr/>
        </p:nvSpPr>
        <p:spPr>
          <a:xfrm>
            <a:off x="8366760" y="4681728"/>
            <a:ext cx="685800" cy="256031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8" name="Rectangle 137"/>
          <p:cNvSpPr/>
          <p:nvPr/>
        </p:nvSpPr>
        <p:spPr>
          <a:xfrm>
            <a:off x="9144000" y="4608576"/>
            <a:ext cx="804672" cy="420623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9" name="Rectangle 138"/>
          <p:cNvSpPr/>
          <p:nvPr/>
        </p:nvSpPr>
        <p:spPr>
          <a:xfrm>
            <a:off x="9189720" y="4681728"/>
            <a:ext cx="685800" cy="256031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0" name="Rectangle 139"/>
          <p:cNvSpPr/>
          <p:nvPr/>
        </p:nvSpPr>
        <p:spPr>
          <a:xfrm>
            <a:off x="9966959" y="4608576"/>
            <a:ext cx="804672" cy="420623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1" name="Rectangle 140"/>
          <p:cNvSpPr/>
          <p:nvPr/>
        </p:nvSpPr>
        <p:spPr>
          <a:xfrm>
            <a:off x="274320" y="5047488"/>
            <a:ext cx="2240280" cy="420623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2" name="TextBox 141"/>
          <p:cNvSpPr txBox="1"/>
          <p:nvPr/>
        </p:nvSpPr>
        <p:spPr>
          <a:xfrm>
            <a:off x="365760" y="5138928"/>
            <a:ext cx="2103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B3C"/>
                </a:solidFill>
                <a:latin typeface="Calibri"/>
              </a:rPr>
              <a:t>Final Report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2560320" y="5047488"/>
            <a:ext cx="804672" cy="420623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4" name="Rectangle 143"/>
          <p:cNvSpPr/>
          <p:nvPr/>
        </p:nvSpPr>
        <p:spPr>
          <a:xfrm>
            <a:off x="3383279" y="5047488"/>
            <a:ext cx="804672" cy="420623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5" name="Rectangle 144"/>
          <p:cNvSpPr/>
          <p:nvPr/>
        </p:nvSpPr>
        <p:spPr>
          <a:xfrm>
            <a:off x="4206240" y="5047488"/>
            <a:ext cx="804672" cy="420623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6" name="Rectangle 145"/>
          <p:cNvSpPr/>
          <p:nvPr/>
        </p:nvSpPr>
        <p:spPr>
          <a:xfrm>
            <a:off x="5029200" y="5047488"/>
            <a:ext cx="804672" cy="420623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7" name="Rectangle 146"/>
          <p:cNvSpPr/>
          <p:nvPr/>
        </p:nvSpPr>
        <p:spPr>
          <a:xfrm>
            <a:off x="5852160" y="5047488"/>
            <a:ext cx="804672" cy="420623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8" name="Rectangle 147"/>
          <p:cNvSpPr/>
          <p:nvPr/>
        </p:nvSpPr>
        <p:spPr>
          <a:xfrm>
            <a:off x="6675120" y="5047488"/>
            <a:ext cx="804672" cy="420623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9" name="Rectangle 148"/>
          <p:cNvSpPr/>
          <p:nvPr/>
        </p:nvSpPr>
        <p:spPr>
          <a:xfrm>
            <a:off x="7498079" y="5047488"/>
            <a:ext cx="804672" cy="420623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0" name="Rectangle 149"/>
          <p:cNvSpPr/>
          <p:nvPr/>
        </p:nvSpPr>
        <p:spPr>
          <a:xfrm>
            <a:off x="8321040" y="5047488"/>
            <a:ext cx="804672" cy="420623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1" name="Rectangle 150"/>
          <p:cNvSpPr/>
          <p:nvPr/>
        </p:nvSpPr>
        <p:spPr>
          <a:xfrm>
            <a:off x="9144000" y="5047488"/>
            <a:ext cx="804672" cy="420623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2" name="Rectangle 151"/>
          <p:cNvSpPr/>
          <p:nvPr/>
        </p:nvSpPr>
        <p:spPr>
          <a:xfrm>
            <a:off x="9189720" y="5120640"/>
            <a:ext cx="685800" cy="256031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3" name="Rectangle 152"/>
          <p:cNvSpPr/>
          <p:nvPr/>
        </p:nvSpPr>
        <p:spPr>
          <a:xfrm>
            <a:off x="9966959" y="5047488"/>
            <a:ext cx="804672" cy="420623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4" name="Rectangle 153"/>
          <p:cNvSpPr/>
          <p:nvPr/>
        </p:nvSpPr>
        <p:spPr>
          <a:xfrm>
            <a:off x="274320" y="5486400"/>
            <a:ext cx="2240280" cy="420623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5" name="TextBox 154"/>
          <p:cNvSpPr txBox="1"/>
          <p:nvPr/>
        </p:nvSpPr>
        <p:spPr>
          <a:xfrm>
            <a:off x="365760" y="5577840"/>
            <a:ext cx="2103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B3C"/>
                </a:solidFill>
                <a:latin typeface="Calibri"/>
              </a:rPr>
              <a:t>Submission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2560320" y="5486400"/>
            <a:ext cx="804672" cy="420623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7" name="Rectangle 156"/>
          <p:cNvSpPr/>
          <p:nvPr/>
        </p:nvSpPr>
        <p:spPr>
          <a:xfrm>
            <a:off x="3383279" y="5486400"/>
            <a:ext cx="804672" cy="420623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8" name="Rectangle 157"/>
          <p:cNvSpPr/>
          <p:nvPr/>
        </p:nvSpPr>
        <p:spPr>
          <a:xfrm>
            <a:off x="4206240" y="5486400"/>
            <a:ext cx="804672" cy="420623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9" name="Rectangle 158"/>
          <p:cNvSpPr/>
          <p:nvPr/>
        </p:nvSpPr>
        <p:spPr>
          <a:xfrm>
            <a:off x="5029200" y="5486400"/>
            <a:ext cx="804672" cy="420623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0" name="Rectangle 159"/>
          <p:cNvSpPr/>
          <p:nvPr/>
        </p:nvSpPr>
        <p:spPr>
          <a:xfrm>
            <a:off x="5852160" y="5486400"/>
            <a:ext cx="804672" cy="420623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1" name="Rectangle 160"/>
          <p:cNvSpPr/>
          <p:nvPr/>
        </p:nvSpPr>
        <p:spPr>
          <a:xfrm>
            <a:off x="6675120" y="5486400"/>
            <a:ext cx="804672" cy="420623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2" name="Rectangle 161"/>
          <p:cNvSpPr/>
          <p:nvPr/>
        </p:nvSpPr>
        <p:spPr>
          <a:xfrm>
            <a:off x="7498079" y="5486400"/>
            <a:ext cx="804672" cy="420623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3" name="Rectangle 162"/>
          <p:cNvSpPr/>
          <p:nvPr/>
        </p:nvSpPr>
        <p:spPr>
          <a:xfrm>
            <a:off x="8321040" y="5486400"/>
            <a:ext cx="804672" cy="420623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4" name="Rectangle 163"/>
          <p:cNvSpPr/>
          <p:nvPr/>
        </p:nvSpPr>
        <p:spPr>
          <a:xfrm>
            <a:off x="9144000" y="5486400"/>
            <a:ext cx="804672" cy="420623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5" name="Rectangle 164"/>
          <p:cNvSpPr/>
          <p:nvPr/>
        </p:nvSpPr>
        <p:spPr>
          <a:xfrm>
            <a:off x="9966959" y="5486400"/>
            <a:ext cx="804672" cy="420623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6" name="Rectangle 165"/>
          <p:cNvSpPr/>
          <p:nvPr/>
        </p:nvSpPr>
        <p:spPr>
          <a:xfrm>
            <a:off x="10012680" y="5559552"/>
            <a:ext cx="685800" cy="256031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7" name="Rectangle 166"/>
          <p:cNvSpPr/>
          <p:nvPr/>
        </p:nvSpPr>
        <p:spPr>
          <a:xfrm>
            <a:off x="265112" y="5977057"/>
            <a:ext cx="11658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8" name="Rectangle 167"/>
          <p:cNvSpPr/>
          <p:nvPr/>
        </p:nvSpPr>
        <p:spPr>
          <a:xfrm>
            <a:off x="274320" y="5999783"/>
            <a:ext cx="109728" cy="7315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9" name="TextBox 168"/>
          <p:cNvSpPr txBox="1"/>
          <p:nvPr/>
        </p:nvSpPr>
        <p:spPr>
          <a:xfrm>
            <a:off x="502920" y="6212412"/>
            <a:ext cx="112471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1A2B3C"/>
                </a:solidFill>
                <a:latin typeface="Calibri"/>
              </a:rPr>
              <a:t>Critical Path: A1→A3→A4→A6→A10→A13→A14→A15→A16  |  Total Float: 0  |  Duration: 37 days  |  Schedule tracked via EVM (SPI metric)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" y="0"/>
            <a:ext cx="12115800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Cost Management – Budget SAR 285,000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11658600" cy="4114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124712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Cost Item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124712"/>
            <a:ext cx="16459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SAR Amount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112471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% of Total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508760"/>
            <a:ext cx="116586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158191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3C"/>
                </a:solidFill>
                <a:latin typeface="Calibri"/>
              </a:rPr>
              <a:t>Project Manager (400 hrs × SAR 200)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581912"/>
            <a:ext cx="16459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B3C"/>
                </a:solidFill>
                <a:latin typeface="Calibri"/>
              </a:rPr>
              <a:t>80,000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158191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28.1%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901952"/>
            <a:ext cx="11658600" cy="384048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1975104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3C"/>
                </a:solidFill>
                <a:latin typeface="Calibri"/>
              </a:rPr>
              <a:t>Senior Developers ×2 (480 hrs × SAR 175)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975104"/>
            <a:ext cx="16459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B3C"/>
                </a:solidFill>
                <a:latin typeface="Calibri"/>
              </a:rPr>
              <a:t>84,000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1975104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29.5%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295144"/>
            <a:ext cx="116586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2368296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3C"/>
                </a:solidFill>
                <a:latin typeface="Calibri"/>
              </a:rPr>
              <a:t>Business Analyst (160 hrs × SAR 150)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368296"/>
            <a:ext cx="16459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B3C"/>
                </a:solidFill>
                <a:latin typeface="Calibri"/>
              </a:rPr>
              <a:t>24,000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236829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8.5%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688336"/>
            <a:ext cx="11658600" cy="384048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2761488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3C"/>
                </a:solidFill>
                <a:latin typeface="Calibri"/>
              </a:rPr>
              <a:t>UI/UX Designer (120 hrs × SAR 140)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761488"/>
            <a:ext cx="16459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B3C"/>
                </a:solidFill>
                <a:latin typeface="Calibri"/>
              </a:rPr>
              <a:t>16,800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2761488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5.9%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081528"/>
            <a:ext cx="116586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5760" y="3154680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3C"/>
                </a:solidFill>
                <a:latin typeface="Calibri"/>
              </a:rPr>
              <a:t>QA/Test Engineer (120 hrs × SAR 130)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154680"/>
            <a:ext cx="16459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B3C"/>
                </a:solidFill>
                <a:latin typeface="Calibri"/>
              </a:rPr>
              <a:t>15,600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315468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5.5%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474720"/>
            <a:ext cx="11658600" cy="384048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5760" y="354787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3C"/>
                </a:solidFill>
                <a:latin typeface="Calibri"/>
              </a:rPr>
              <a:t>SMS Gateway API (12 months)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3547872"/>
            <a:ext cx="16459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B3C"/>
                </a:solidFill>
                <a:latin typeface="Calibri"/>
              </a:rPr>
              <a:t>18,000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354787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6.3%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867912"/>
            <a:ext cx="116586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65760" y="3941064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3C"/>
                </a:solidFill>
                <a:latin typeface="Calibri"/>
              </a:rPr>
              <a:t>Email Service – SendGrid (12 months)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3941064"/>
            <a:ext cx="16459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B3C"/>
                </a:solidFill>
                <a:latin typeface="Calibri"/>
              </a:rPr>
              <a:t>9,000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0" y="3941064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3.2%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4261104"/>
            <a:ext cx="11658600" cy="384048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65760" y="4334256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3C"/>
                </a:solidFill>
                <a:latin typeface="Calibri"/>
              </a:rPr>
              <a:t>Cloud Hosting VPS (2 years)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4334256"/>
            <a:ext cx="16459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B3C"/>
                </a:solidFill>
                <a:latin typeface="Calibri"/>
              </a:rPr>
              <a:t>15,000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41280" y="433425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5.3%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4654296"/>
            <a:ext cx="116586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65760" y="4727448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3C"/>
                </a:solidFill>
                <a:latin typeface="Calibri"/>
              </a:rPr>
              <a:t>QR Scanner Hardware (×5 units)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4727448"/>
            <a:ext cx="16459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B3C"/>
                </a:solidFill>
                <a:latin typeface="Calibri"/>
              </a:rPr>
              <a:t>4,000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41280" y="4727448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1.4%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5047488"/>
            <a:ext cx="11658600" cy="384048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65760" y="5120640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3C"/>
                </a:solidFill>
                <a:latin typeface="Calibri"/>
              </a:rPr>
              <a:t>UAT Coordination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5120640"/>
            <a:ext cx="16459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B3C"/>
                </a:solidFill>
                <a:latin typeface="Calibri"/>
              </a:rPr>
              <a:t>5,000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41280" y="512064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1.8%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5486400"/>
            <a:ext cx="11658600" cy="4572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65760" y="55321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TOTAL DIRECT COSTS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21040" y="5532120"/>
            <a:ext cx="16459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271,400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21040" y="5532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+10% contingency → SAR 298,540 total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" y="0"/>
            <a:ext cx="12115800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Risk Management – 12-Risk Register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11658600" cy="3657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12471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124712"/>
            <a:ext cx="4343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0" y="11247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Rating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1247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112471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Strategy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481328"/>
            <a:ext cx="11658600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" y="154533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  <a:latin typeface="Calibri"/>
              </a:rPr>
              <a:t>R01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154533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  <a:latin typeface="Calibri"/>
              </a:rPr>
              <a:t>Scope change after baseline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57800" y="1545336"/>
            <a:ext cx="1051560" cy="3017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03520" y="156362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545336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2B3C"/>
                </a:solidFill>
                <a:latin typeface="Calibri"/>
              </a:rPr>
              <a:t>4×4=16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1545336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Enforce change control; freeze scope Wk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1924812"/>
            <a:ext cx="11658600" cy="429768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0040" y="1988819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  <a:latin typeface="Calibri"/>
              </a:rPr>
              <a:t>R02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1988819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  <a:latin typeface="Calibri"/>
              </a:rPr>
              <a:t>Key team member unavailable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57800" y="1988819"/>
            <a:ext cx="1051560" cy="3017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03520" y="2007107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1988819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2B3C"/>
                </a:solidFill>
                <a:latin typeface="Calibri"/>
              </a:rPr>
              <a:t>3×4=12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1988819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Cross-train team; maintain skills matrix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368296"/>
            <a:ext cx="11658600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0040" y="2432303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  <a:latin typeface="Calibri"/>
              </a:rPr>
              <a:t>R03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2432303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  <a:latin typeface="Calibri"/>
              </a:rPr>
              <a:t>MyQU portal integration failure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57800" y="2432303"/>
            <a:ext cx="1051560" cy="301752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03520" y="2450591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2432303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2B3C"/>
                </a:solidFill>
                <a:latin typeface="Calibri"/>
              </a:rPr>
              <a:t>4×5=20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2432303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Early API testing; involve QU IT from Wk 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2811780"/>
            <a:ext cx="11658600" cy="429768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20040" y="287578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  <a:latin typeface="Calibri"/>
              </a:rPr>
              <a:t>R04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287578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  <a:latin typeface="Calibri"/>
              </a:rPr>
              <a:t>Budget overrun – licensing costs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57800" y="2875788"/>
            <a:ext cx="1051560" cy="301752"/>
          </a:xfrm>
          <a:prstGeom prst="rect">
            <a:avLst/>
          </a:prstGeom>
          <a:solidFill>
            <a:srgbClr val="D4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303520" y="289407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2875788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2B3C"/>
                </a:solidFill>
                <a:latin typeface="Calibri"/>
              </a:rPr>
              <a:t>2×4=8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0" y="2875788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Prefer open-source; 10% contingency reserved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3255264"/>
            <a:ext cx="11658600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20040" y="33192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  <a:latin typeface="Calibri"/>
              </a:rPr>
              <a:t>R05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331927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  <a:latin typeface="Calibri"/>
              </a:rPr>
              <a:t>Late requirements sign-off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57800" y="3319272"/>
            <a:ext cx="1051560" cy="3017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303520" y="33375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3319272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2B3C"/>
                </a:solidFill>
                <a:latin typeface="Calibri"/>
              </a:rPr>
              <a:t>4×4=16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80960" y="3319272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Hard approval deadlines; early escalation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3698748"/>
            <a:ext cx="11658600" cy="429768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20040" y="376275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  <a:latin typeface="Calibri"/>
              </a:rPr>
              <a:t>R06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376275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  <a:latin typeface="Calibri"/>
              </a:rPr>
              <a:t>Data privacy breach in test env.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257800" y="3762756"/>
            <a:ext cx="1051560" cy="3017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303520" y="378104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3762756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2B3C"/>
                </a:solidFill>
                <a:latin typeface="Calibri"/>
              </a:rPr>
              <a:t>2×5=10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80960" y="3762756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Anonymized test data; NCA ECC controls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4142232"/>
            <a:ext cx="11658600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20040" y="4206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  <a:latin typeface="Calibri"/>
              </a:rPr>
              <a:t>R07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" y="42062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  <a:latin typeface="Calibri"/>
              </a:rPr>
              <a:t>Poor user adoption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257800" y="4206240"/>
            <a:ext cx="1051560" cy="301752"/>
          </a:xfrm>
          <a:prstGeom prst="rect">
            <a:avLst/>
          </a:prstGeom>
          <a:solidFill>
            <a:srgbClr val="D4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303520" y="422452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0" y="4206240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2B3C"/>
                </a:solidFill>
                <a:latin typeface="Calibri"/>
              </a:rPr>
              <a:t>3×3=9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80960" y="4206240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Involve users in UAT; conduct training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" y="4585716"/>
            <a:ext cx="11658600" cy="429768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20040" y="464972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  <a:latin typeface="Calibri"/>
              </a:rPr>
              <a:t>R08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2960" y="464972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  <a:latin typeface="Calibri"/>
              </a:rPr>
              <a:t>Vendor delay for QR hardware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257800" y="4649724"/>
            <a:ext cx="1051560" cy="301752"/>
          </a:xfrm>
          <a:prstGeom prst="rect">
            <a:avLst/>
          </a:prstGeom>
          <a:solidFill>
            <a:srgbClr val="02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303520" y="466801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Low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92240" y="4649724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2B3C"/>
                </a:solidFill>
                <a:latin typeface="Calibri"/>
              </a:rPr>
              <a:t>2×3=6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80960" y="4649724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Order early Wk 3; identify backup vendor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4320" y="5029200"/>
            <a:ext cx="11658600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320040" y="509320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  <a:latin typeface="Calibri"/>
              </a:rPr>
              <a:t>R09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2960" y="509320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  <a:latin typeface="Calibri"/>
              </a:rPr>
              <a:t>Technical debt from rushed dev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257800" y="5093208"/>
            <a:ext cx="1051560" cy="3017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303520" y="511149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92240" y="5093208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2B3C"/>
                </a:solidFill>
                <a:latin typeface="Calibri"/>
              </a:rPr>
              <a:t>3×4=12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680960" y="5093208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Enforce code review; no-shortcuts policy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74320" y="5472684"/>
            <a:ext cx="11658600" cy="429768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320040" y="55366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  <a:latin typeface="Calibri"/>
              </a:rPr>
              <a:t>R10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2960" y="553669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  <a:latin typeface="Calibri"/>
              </a:rPr>
              <a:t>Arabic/English miscommunication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257800" y="5536692"/>
            <a:ext cx="1051560" cy="301752"/>
          </a:xfrm>
          <a:prstGeom prst="rect">
            <a:avLst/>
          </a:prstGeom>
          <a:solidFill>
            <a:srgbClr val="D4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5303520" y="555498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92240" y="5536692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2B3C"/>
                </a:solidFill>
                <a:latin typeface="Calibri"/>
              </a:rPr>
              <a:t>3×3=9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680960" y="5536692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Bilingual minutes &amp; documentation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74320" y="5916168"/>
            <a:ext cx="11658600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320040" y="598017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  <a:latin typeface="Calibri"/>
              </a:rPr>
              <a:t>R11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22960" y="598017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  <a:latin typeface="Calibri"/>
              </a:rPr>
              <a:t>Scope creep – informal requests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257800" y="5980176"/>
            <a:ext cx="1051560" cy="3017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303520" y="599846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492240" y="5980176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2B3C"/>
                </a:solidFill>
                <a:latin typeface="Calibri"/>
              </a:rPr>
              <a:t>4×3=12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680960" y="5980176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Formal change control; stakeholder education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74320" y="6359652"/>
            <a:ext cx="11658600" cy="429768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320040" y="64236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  <a:latin typeface="Calibri"/>
              </a:rPr>
              <a:t>R12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22960" y="64236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  <a:latin typeface="Calibri"/>
              </a:rPr>
              <a:t>Insufficient testing time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257800" y="6423660"/>
            <a:ext cx="1051560" cy="3017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5303520" y="644194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492240" y="6423660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2B3C"/>
                </a:solidFill>
                <a:latin typeface="Calibri"/>
              </a:rPr>
              <a:t>3×4=12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680960" y="6423660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Parallel dev/testing; buffer in Wks 8–9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" y="0"/>
            <a:ext cx="12115800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Human Resource &amp; Communication Management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548640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486400" cy="4114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12471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Project Team (Matrix Structure)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" y="1572768"/>
            <a:ext cx="5449824" cy="585216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160934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  <a:latin typeface="Calibri"/>
              </a:rPr>
              <a:t>Project Manager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14600" y="1627632"/>
            <a:ext cx="502920" cy="2286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23744" y="1636776"/>
            <a:ext cx="484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86537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Overall planning, reporting, stakeholder comm.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" y="2185416"/>
            <a:ext cx="5449824" cy="585216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" y="222199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  <a:latin typeface="Calibri"/>
              </a:rPr>
              <a:t>Business Analyst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14600" y="2240280"/>
            <a:ext cx="502920" cy="2286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523744" y="2249424"/>
            <a:ext cx="484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75%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247802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Requirements gathering, WBS, scope docs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" y="2798064"/>
            <a:ext cx="5449824" cy="585216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" y="283464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  <a:latin typeface="Calibri"/>
              </a:rPr>
              <a:t>Lead Architect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14600" y="2852928"/>
            <a:ext cx="502920" cy="2286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523744" y="2862072"/>
            <a:ext cx="484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60%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309067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System architecture, tech selection, design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" y="3410712"/>
            <a:ext cx="5449824" cy="585216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1480" y="344728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  <a:latin typeface="Calibri"/>
              </a:rPr>
              <a:t>Senior Developer 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14600" y="3465576"/>
            <a:ext cx="502920" cy="2286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523744" y="3474720"/>
            <a:ext cx="484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370332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Event, Registration &amp; Database modules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8" y="4023360"/>
            <a:ext cx="5449824" cy="585216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11480" y="405993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  <a:latin typeface="Calibri"/>
              </a:rPr>
              <a:t>Senior Developer 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14600" y="4078224"/>
            <a:ext cx="502920" cy="2286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523744" y="4087368"/>
            <a:ext cx="484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431596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Budget, Attendance, Feedback &amp; API modules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2608" y="4636008"/>
            <a:ext cx="5449824" cy="585216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11480" y="467258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  <a:latin typeface="Calibri"/>
              </a:rPr>
              <a:t>UI/UX Designer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14600" y="4690872"/>
            <a:ext cx="502920" cy="2286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523744" y="4700016"/>
            <a:ext cx="484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80%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492861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Wireframes, prototypes, bilingual design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2608" y="5248656"/>
            <a:ext cx="5449824" cy="585216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11480" y="528523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  <a:latin typeface="Calibri"/>
              </a:rPr>
              <a:t>QA/Test Engineer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14600" y="5303520"/>
            <a:ext cx="502920" cy="2286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523744" y="5312664"/>
            <a:ext cx="484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554126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Test planning, execution, UAT coordination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2608" y="5861304"/>
            <a:ext cx="5449824" cy="585216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11480" y="589788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  <a:latin typeface="Calibri"/>
              </a:rPr>
              <a:t>IT Infrastructure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14600" y="5916168"/>
            <a:ext cx="502920" cy="2286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523744" y="5925312"/>
            <a:ext cx="484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25%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" y="615391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Server setup, network, deployment env.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80760" y="1097280"/>
            <a:ext cx="585216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080760" y="1097280"/>
            <a:ext cx="5852160" cy="4114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217920" y="112471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Communication Matrix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99048" y="1572768"/>
            <a:ext cx="5815584" cy="630936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217920" y="1609344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  <a:latin typeface="Calibri"/>
              </a:rPr>
              <a:t>Weekly Status Report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17920" y="1865376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Sponsor, IT Head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17920" y="2002536"/>
            <a:ext cx="5577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C7293"/>
                </a:solidFill>
                <a:latin typeface="Calibri"/>
              </a:rPr>
              <a:t>Sunday Email + SharePoint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99048" y="2231136"/>
            <a:ext cx="5815584" cy="630936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217920" y="226771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  <a:latin typeface="Calibri"/>
              </a:rPr>
              <a:t>Team Stand-up Meeting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17920" y="2523744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Project Team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17920" y="2660904"/>
            <a:ext cx="5577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C7293"/>
                </a:solidFill>
                <a:latin typeface="Calibri"/>
              </a:rPr>
              <a:t>Monday 9AM – MS Teams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99048" y="2889504"/>
            <a:ext cx="5815584" cy="630936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217920" y="292608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  <a:latin typeface="Calibri"/>
              </a:rPr>
              <a:t>Phase Gate Review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17920" y="3182112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All Stakeholders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17920" y="3319272"/>
            <a:ext cx="5577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C7293"/>
                </a:solidFill>
                <a:latin typeface="Calibri"/>
              </a:rPr>
              <a:t>End of phase – In-person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099048" y="3547872"/>
            <a:ext cx="5815584" cy="630936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217920" y="358444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  <a:latin typeface="Calibri"/>
              </a:rPr>
              <a:t>Risk Log Update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17920" y="3840480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PM + Leads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17920" y="3977639"/>
            <a:ext cx="5577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C7293"/>
                </a:solidFill>
                <a:latin typeface="Calibri"/>
              </a:rPr>
              <a:t>Bi-weekly SharePoint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099048" y="4206240"/>
            <a:ext cx="5815584" cy="630936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217920" y="4242816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  <a:latin typeface="Calibri"/>
              </a:rPr>
              <a:t>Change Request Notif.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17920" y="4498848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Relevant Parties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17920" y="4636007"/>
            <a:ext cx="5577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C7293"/>
                </a:solidFill>
                <a:latin typeface="Calibri"/>
              </a:rPr>
              <a:t>As needed – Email/CRF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99048" y="4864607"/>
            <a:ext cx="5815584" cy="630936"/>
          </a:xfrm>
          <a:prstGeom prst="rect">
            <a:avLst/>
          </a:prstGeom>
          <a:solidFill>
            <a:srgbClr val="E8F4FB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217920" y="4901183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  <a:latin typeface="Calibri"/>
              </a:rPr>
              <a:t>Student/Faculty Bulletin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17920" y="5157216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All QU Users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17920" y="5294375"/>
            <a:ext cx="5577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C7293"/>
                </a:solidFill>
                <a:latin typeface="Calibri"/>
              </a:rPr>
              <a:t>Monthly – MyQU Portal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099048" y="5522976"/>
            <a:ext cx="5815584" cy="630936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217920" y="555955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  <a:latin typeface="Calibri"/>
              </a:rPr>
              <a:t>Final Presentation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17920" y="5815584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All Stakeholders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17920" y="5952744"/>
            <a:ext cx="5577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C7293"/>
                </a:solidFill>
                <a:latin typeface="Calibri"/>
              </a:rPr>
              <a:t>Week 10 – In-person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" y="0"/>
            <a:ext cx="12115800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Stakeholder Management – Power/Interest Grid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594360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2880360"/>
            <a:ext cx="548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5A82"/>
                </a:solidFill>
                <a:latin typeface="Calibri"/>
              </a:rPr>
              <a:t>HIGH
POWER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502920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4748B"/>
                </a:solidFill>
                <a:latin typeface="Calibri"/>
              </a:rPr>
              <a:t>LOW
POWER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126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4748B"/>
                </a:solidFill>
                <a:latin typeface="Calibri"/>
              </a:rPr>
              <a:t>LOW INTEREST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6126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5A82"/>
                </a:solidFill>
                <a:latin typeface="Calibri"/>
              </a:rPr>
              <a:t>HIGH INTEREST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1143000"/>
            <a:ext cx="2377440" cy="2514600"/>
          </a:xfrm>
          <a:prstGeom prst="rect">
            <a:avLst/>
          </a:prstGeom>
          <a:solidFill>
            <a:srgbClr val="065A8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12344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KEEP
SATISFIED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182880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QU Finance Dept.
NCA (Regulator)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1143000"/>
            <a:ext cx="2651760" cy="2514600"/>
          </a:xfrm>
          <a:prstGeom prst="rect">
            <a:avLst/>
          </a:prstGeom>
          <a:solidFill>
            <a:srgbClr val="027A5E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20440" y="1234440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MANAGE
CLOSELY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1828800"/>
            <a:ext cx="246887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Rector's Office
IT Dept. Head
QU IT Infrastructure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749039"/>
            <a:ext cx="2377440" cy="2286000"/>
          </a:xfrm>
          <a:prstGeom prst="rect">
            <a:avLst/>
          </a:prstGeom>
          <a:solidFill>
            <a:srgbClr val="D48A0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3840479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MONITOR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434840"/>
            <a:ext cx="21945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External Vendors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3749039"/>
            <a:ext cx="2651760" cy="2286000"/>
          </a:xfrm>
          <a:prstGeom prst="rect">
            <a:avLst/>
          </a:prstGeom>
          <a:solidFill>
            <a:srgbClr val="1C7293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520440" y="3840479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KEEP
INFORMED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4434840"/>
            <a:ext cx="2468879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Students
Faculty Members
Event Coordinators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097280"/>
            <a:ext cx="544068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92240" y="1097280"/>
            <a:ext cx="5440680" cy="4114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29400" y="112471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Engagement Strategies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1572768"/>
            <a:ext cx="182880" cy="1097280"/>
          </a:xfrm>
          <a:prstGeom prst="rect">
            <a:avLst/>
          </a:prstGeom>
          <a:solidFill>
            <a:srgbClr val="02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766560" y="161848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7A5E"/>
                </a:solidFill>
                <a:latin typeface="Calibri"/>
              </a:rPr>
              <a:t>Manage Closely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1938528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Weekly status meetings, direct involvement in phase gates, proactive issue escalation, dedicated relationship log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2807208"/>
            <a:ext cx="182880" cy="10972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66560" y="28529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alibri"/>
              </a:rPr>
              <a:t>Keep Satisfied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3172968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Monthly summary reports, formal compliance docs, engagement at milestones and financial/regulatory approvals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4041648"/>
            <a:ext cx="182880" cy="10972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766560" y="40873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Keep Informed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4407408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Monthly MyQU bulletins, UAT participation, feedback surveys, active input in requirements &amp; testing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2240" y="5276088"/>
            <a:ext cx="182880" cy="1097280"/>
          </a:xfrm>
          <a:prstGeom prst="rect">
            <a:avLst/>
          </a:prstGeom>
          <a:solidFill>
            <a:srgbClr val="D4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766560" y="532180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8A00"/>
                </a:solidFill>
                <a:latin typeface="Calibri"/>
              </a:rPr>
              <a:t>Monitor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5641848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Procurement processes and contract performance management; updates only as relevant to deliverables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3703320" cy="4114800"/>
          </a:xfrm>
          <a:prstGeom prst="rect">
            <a:avLst/>
          </a:prstGeom>
          <a:solidFill>
            <a:srgbClr val="0A4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3703320" cy="914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2C39A"/>
                </a:solidFill>
                <a:latin typeface="Calibri"/>
              </a:rPr>
              <a:t>Comprehensive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10512"/>
            <a:ext cx="3429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Covers all 13 PMBOK knowledge areas. Includes Charter, WBS, Gantt chart, cost baseline, quality standards, RACI matrix, 12-risk register, procurement plan &amp; stakeholder engagement strategy.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9392" y="1143000"/>
            <a:ext cx="3703320" cy="4114800"/>
          </a:xfrm>
          <a:prstGeom prst="rect">
            <a:avLst/>
          </a:prstGeom>
          <a:solidFill>
            <a:srgbClr val="0A4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79392" y="1143000"/>
            <a:ext cx="3703320" cy="914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16552" y="128016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2C39A"/>
                </a:solidFill>
                <a:latin typeface="Calibri"/>
              </a:rPr>
              <a:t>Strategic Alignment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6552" y="1810512"/>
            <a:ext cx="3429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UEMS directly supports Qassim University's digital transformation &amp; Saudi Vision 2030 e-governance goals. Replaces fragmented manual processes with a centralized, bilingual, role-based digital platform.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3024" y="1143000"/>
            <a:ext cx="3703320" cy="4114800"/>
          </a:xfrm>
          <a:prstGeom prst="rect">
            <a:avLst/>
          </a:prstGeom>
          <a:solidFill>
            <a:srgbClr val="0A4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93024" y="1143000"/>
            <a:ext cx="3703320" cy="914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30184" y="128016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2C39A"/>
                </a:solidFill>
                <a:latin typeface="Calibri"/>
              </a:rPr>
              <a:t>Measurable Outcomes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4" y="1810512"/>
            <a:ext cx="3429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90% reduction in scheduling conflicts. 75% reduction in manual processing time. SAR 120K+ annual savings expected. ROI within 18 months of deployment. System uptime ≥ 99.5%.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394960"/>
            <a:ext cx="11384280" cy="8229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555955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5A82"/>
                </a:solidFill>
                <a:latin typeface="Calibri"/>
              </a:rPr>
              <a:t>Budget: SAR 285,000  |  Duration: 10 Weeks (Feb–Apr 2026)  |  Prepared by: Md. Shakil Hossain  |  Supervised by: Dr. Shabana Habib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1323</Words>
  <Application>Microsoft Office PowerPoint</Application>
  <PresentationFormat>Custom</PresentationFormat>
  <Paragraphs>288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Md. Shakil Hossain</cp:lastModifiedBy>
  <cp:revision>6</cp:revision>
  <dcterms:created xsi:type="dcterms:W3CDTF">2013-01-27T09:14:16Z</dcterms:created>
  <dcterms:modified xsi:type="dcterms:W3CDTF">2026-04-29T21:41:13Z</dcterms:modified>
  <cp:category/>
</cp:coreProperties>
</file>