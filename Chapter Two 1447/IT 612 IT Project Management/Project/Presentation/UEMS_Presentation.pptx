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8" d="100"/>
          <a:sy n="58" d="100"/>
        </p:scale>
        <p:origin x="896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1280160"/>
            <a:ext cx="10360152" cy="3840480"/>
          </a:xfrm>
          <a:prstGeom prst="rect">
            <a:avLst/>
          </a:prstGeom>
          <a:solidFill>
            <a:srgbClr val="0A4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bg2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37160" cy="3840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34440" y="1463040"/>
            <a:ext cx="9601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 dirty="0">
                <a:solidFill>
                  <a:srgbClr val="FFFFFF"/>
                </a:solidFill>
                <a:latin typeface="Calibri"/>
              </a:rPr>
              <a:t>University Event Management System</a:t>
            </a:r>
            <a:r>
              <a:rPr lang="en-US" sz="3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3600" b="1" i="0" dirty="0">
                <a:solidFill>
                  <a:srgbClr val="02C39A"/>
                </a:solidFill>
                <a:latin typeface="Calibri"/>
              </a:rPr>
              <a:t>(UEMS)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5696" y="1963281"/>
            <a:ext cx="31363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00B0F0"/>
                </a:solidFill>
                <a:latin typeface="Calibri"/>
              </a:rPr>
              <a:t>Project Management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2892623"/>
            <a:ext cx="98576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00B0F0"/>
                </a:solidFill>
                <a:latin typeface="Calibri"/>
              </a:rPr>
              <a:t>IT 612 – Project Management in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3302075"/>
            <a:ext cx="32004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Presented by: </a:t>
            </a:r>
          </a:p>
          <a:p>
            <a:pPr algn="ctr"/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Md. Shakil Hossain		472118102</a:t>
            </a:r>
          </a:p>
          <a:p>
            <a:pPr algn="ctr"/>
            <a:r>
              <a:rPr lang="en-US" sz="1300" b="0" i="0" dirty="0" err="1">
                <a:solidFill>
                  <a:srgbClr val="00B0F0"/>
                </a:solidFill>
                <a:latin typeface="Calibri"/>
              </a:rPr>
              <a:t>Dafaallh</a:t>
            </a:r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lang="en-US" sz="1300" b="0" i="0" dirty="0" err="1">
                <a:solidFill>
                  <a:srgbClr val="00B0F0"/>
                </a:solidFill>
                <a:latin typeface="Calibri"/>
              </a:rPr>
              <a:t>Alrayh</a:t>
            </a:r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 Mustafa	472118115</a:t>
            </a:r>
          </a:p>
          <a:p>
            <a:pPr algn="ctr"/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Ajmal Hamidi			472117941</a:t>
            </a:r>
          </a:p>
          <a:p>
            <a:pPr algn="ctr"/>
            <a:r>
              <a:rPr lang="en-US" sz="1300" b="0" i="0" dirty="0" err="1">
                <a:solidFill>
                  <a:srgbClr val="00B0F0"/>
                </a:solidFill>
                <a:latin typeface="Calibri"/>
              </a:rPr>
              <a:t>Zayad</a:t>
            </a:r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lang="en-US" sz="1300" b="0" i="0" dirty="0" err="1">
                <a:solidFill>
                  <a:srgbClr val="00B0F0"/>
                </a:solidFill>
                <a:latin typeface="Calibri"/>
              </a:rPr>
              <a:t>Aldajan</a:t>
            </a:r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 		472117937</a:t>
            </a:r>
          </a:p>
          <a:p>
            <a:pPr algn="ctr"/>
            <a:r>
              <a:rPr lang="en-US" sz="1300" b="0" i="0" dirty="0" err="1">
                <a:solidFill>
                  <a:srgbClr val="00B0F0"/>
                </a:solidFill>
                <a:latin typeface="Calibri"/>
              </a:rPr>
              <a:t>Biliaminu</a:t>
            </a:r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 </a:t>
            </a:r>
            <a:r>
              <a:rPr lang="en-US" sz="1300" b="0" i="0" dirty="0" err="1">
                <a:solidFill>
                  <a:srgbClr val="00B0F0"/>
                </a:solidFill>
                <a:latin typeface="Calibri"/>
              </a:rPr>
              <a:t>Ishola</a:t>
            </a:r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 		472117942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BB5D4"/>
                </a:solidFill>
                <a:latin typeface="Calibri"/>
              </a:rPr>
              <a:t>QASSIM UNIVERSITY  |  College of Computer  |  Department of Information Technology  | 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91BFE7-A63D-4EEC-B3AF-A2D22DED232F}"/>
              </a:ext>
            </a:extLst>
          </p:cNvPr>
          <p:cNvSpPr txBox="1"/>
          <p:nvPr/>
        </p:nvSpPr>
        <p:spPr>
          <a:xfrm>
            <a:off x="8074025" y="3527357"/>
            <a:ext cx="3200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Supervised To: </a:t>
            </a:r>
          </a:p>
          <a:p>
            <a:pPr algn="ctr"/>
            <a:r>
              <a:rPr lang="en-US" sz="1300" b="0" i="0" dirty="0">
                <a:solidFill>
                  <a:srgbClr val="00B0F0"/>
                </a:solidFill>
                <a:latin typeface="Calibri"/>
              </a:rPr>
              <a:t>Dr. Shabana Habib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Presentation Agenda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931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48640" cy="2148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0895" y="1922797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79" y="1819987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065A82"/>
                </a:solidFill>
                <a:latin typeface="Calibri"/>
              </a:rPr>
              <a:t>Introduction</a:t>
            </a:r>
            <a:endParaRPr sz="1100" b="1" i="0" dirty="0">
              <a:solidFill>
                <a:srgbClr val="065A82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79" y="2322907"/>
            <a:ext cx="3200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64748B"/>
                </a:solidFill>
                <a:latin typeface="Calibri"/>
              </a:rPr>
              <a:t>Background, Problem Statement &amp; Objectives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931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06240" y="1188720"/>
            <a:ext cx="548640" cy="2148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119" y="1988116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30785" y="1818323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065A82"/>
                </a:solidFill>
                <a:latin typeface="Calibri"/>
              </a:rPr>
              <a:t>Project Charter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185" y="2313838"/>
            <a:ext cx="3200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64748B"/>
                </a:solidFill>
                <a:latin typeface="Calibri"/>
              </a:rPr>
              <a:t>SMART Goals, Stakeholders &amp; Constraints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931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188720"/>
            <a:ext cx="548640" cy="2148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02040" y="1988116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2705" y="1818323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065A82"/>
                </a:solidFill>
                <a:latin typeface="Calibri"/>
              </a:rPr>
              <a:t>Scope &amp; Schedule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4105" y="2313838"/>
            <a:ext cx="3200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64748B"/>
                </a:solidFill>
                <a:latin typeface="Calibri"/>
              </a:rPr>
              <a:t>WBS, Gantt Chart &amp; Critical Path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611880"/>
            <a:ext cx="3931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3611880"/>
            <a:ext cx="548640" cy="2148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8200" y="4411276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65" y="4241483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065A82"/>
                </a:solidFill>
                <a:latin typeface="Calibri"/>
              </a:rPr>
              <a:t>Cost &amp;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65" y="4736998"/>
            <a:ext cx="3200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64748B"/>
                </a:solidFill>
                <a:latin typeface="Calibri"/>
              </a:rPr>
              <a:t>Budget SAR 285K, Standards &amp;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611880"/>
            <a:ext cx="3931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06240" y="3611880"/>
            <a:ext cx="548640" cy="2148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70119" y="4411276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0785" y="4241483"/>
            <a:ext cx="3200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065A82"/>
                </a:solidFill>
                <a:latin typeface="Calibri"/>
              </a:rPr>
              <a:t>Risk &amp; HR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82185" y="4736998"/>
            <a:ext cx="3200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12-Risk Register, RACI Matrix &amp; Team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611880"/>
            <a:ext cx="3931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138160" y="3611880"/>
            <a:ext cx="548640" cy="2148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02040" y="4411276"/>
            <a:ext cx="457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62705" y="4241483"/>
            <a:ext cx="32004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065A82"/>
                </a:solidFill>
                <a:latin typeface="Calibri"/>
              </a:rPr>
              <a:t>Communication
&amp; Procurement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4105" y="5194198"/>
            <a:ext cx="3383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Matrix, Tools, Strategy &amp; Vendors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Introduction &amp; 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2269970"/>
            <a:ext cx="5394960" cy="2503583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1752" y="2269970"/>
            <a:ext cx="5394960" cy="4114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2297402"/>
            <a:ext cx="5212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Organizational 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727170"/>
            <a:ext cx="512064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Qassim University – established 2004, </a:t>
            </a:r>
            <a:r>
              <a:rPr sz="1600" dirty="0" err="1">
                <a:solidFill>
                  <a:srgbClr val="1A2B3C"/>
                </a:solidFill>
                <a:latin typeface="Calibri"/>
              </a:rPr>
              <a:t>Buraidah</a:t>
            </a:r>
            <a:r>
              <a:rPr sz="1600" dirty="0">
                <a:solidFill>
                  <a:srgbClr val="1A2B3C"/>
                </a:solidFill>
                <a:latin typeface="Calibri"/>
              </a:rPr>
              <a:t>, KSA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60,000+ students; under Ministry of Education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College of Computer, Dept. of Information Technology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Programs aligned with Vision 2030 digital economy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Manages 100s of academic &amp; non-academic events/year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16752" y="2269970"/>
            <a:ext cx="5943600" cy="2503583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16752" y="2269970"/>
            <a:ext cx="59436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53912" y="2297402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Current Problems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2727170"/>
            <a:ext cx="5669280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Scheduling conflicts – no central venue booking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Communication gaps between organizers &amp; participants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Budget mismanagement – informal financial tracking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Inefficient registration – paper-based, time-consuming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No event history or analytics for decision-making</a:t>
            </a:r>
          </a:p>
          <a:p>
            <a:pPr algn="l">
              <a:spcBef>
                <a:spcPts val="400"/>
              </a:spcBef>
            </a:pPr>
            <a:r>
              <a:rPr sz="1600" dirty="0">
                <a:solidFill>
                  <a:srgbClr val="1A2B3C"/>
                </a:solidFill>
                <a:latin typeface="Calibri"/>
              </a:rPr>
              <a:t>  •  Estimated cost: SAR 120,000+/year in lost productivity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Project Charter &amp; SMART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2743200" cy="13258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124712"/>
            <a:ext cx="2560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02C39A"/>
                </a:solidFill>
                <a:latin typeface="Calibri"/>
              </a:rPr>
              <a:t>Sponsor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59415"/>
            <a:ext cx="2560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Qassim University
Rector's Office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97280"/>
            <a:ext cx="2743200" cy="13258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124712"/>
            <a:ext cx="2560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2C39A"/>
                </a:solidFill>
                <a:latin typeface="Calibri"/>
              </a:rPr>
              <a:t>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559415"/>
            <a:ext cx="2560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10 Weeks
Feb – Apr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2743200" cy="13258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124712"/>
            <a:ext cx="2560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2C39A"/>
                </a:solidFill>
                <a:latin typeface="Calibri"/>
              </a:rPr>
              <a:t>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559415"/>
            <a:ext cx="2560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SAR 285,000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743200" cy="13258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0" y="1124712"/>
            <a:ext cx="2560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2C39A"/>
                </a:solidFill>
                <a:latin typeface="Calibri"/>
              </a:rPr>
              <a:t>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559415"/>
            <a:ext cx="2560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HIGH – Strategic
Digital Transform.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606040"/>
            <a:ext cx="11658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SMART 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2194560" cy="5943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3127248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S – Specific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3017520"/>
            <a:ext cx="9464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06040" y="3127248"/>
            <a:ext cx="92354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1A2B3C"/>
                </a:solidFill>
                <a:latin typeface="Calibri"/>
              </a:rPr>
              <a:t>Develop centralized web-based UEMS for Qassim University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712463"/>
            <a:ext cx="2194560" cy="5943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" y="3822191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M – Measurable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3712463"/>
            <a:ext cx="9464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06040" y="3822191"/>
            <a:ext cx="92354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Reduce scheduling conflicts 90% &amp; manual time 75% within 6 months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407408"/>
            <a:ext cx="2194560" cy="5943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" y="4517136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A – Achievable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407408"/>
            <a:ext cx="9464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606040" y="4517136"/>
            <a:ext cx="92354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Complete planning in 10 weeks using QU IT expertise &amp; infrastructure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102352"/>
            <a:ext cx="2194560" cy="59436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0040" y="5212080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R – Relevant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68880" y="5102352"/>
            <a:ext cx="9464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606040" y="5212080"/>
            <a:ext cx="92354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Aligned with QU digital transformation &amp; Saudi Vision 2030 e-governance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797296"/>
            <a:ext cx="2194560" cy="5943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" y="5907024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Calibri"/>
              </a:rPr>
              <a:t>T – Time-bound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68880" y="5797296"/>
            <a:ext cx="9464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606040" y="5907024"/>
            <a:ext cx="92354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Full Project Management Plan delivered by April 30,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Scope Management &amp; Work Breakdown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539496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5394960" cy="411480"/>
          </a:xfrm>
          <a:prstGeom prst="rect">
            <a:avLst/>
          </a:prstGeom>
          <a:solidFill>
            <a:srgbClr val="02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24712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✓  In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554480"/>
            <a:ext cx="516636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Event creation &amp; management module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Participant registration (email/SMS notifications)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Venue/resource booking with conflict detection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Budget management with approval workflow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Attendance tracking (QR-code check-in)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Post-event feedback &amp; survey module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Role-based access (Admin/Coordinator/Faculty/Student)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MyQU portal SSO integration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Bilingual interface (Arabic &amp; English)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System testing plan (unit, integration, UAT)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097280"/>
            <a:ext cx="3200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89320" y="1097280"/>
            <a:ext cx="32004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124712"/>
            <a:ext cx="3017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  Out of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554480"/>
            <a:ext cx="301752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Actual software coding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Hardware infrastructure setup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Post-deployment training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3rd-party platform integration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Mobile app (iOS/Android)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3886200"/>
            <a:ext cx="594360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89320" y="3886200"/>
            <a:ext cx="594360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0" y="3913632"/>
            <a:ext cx="5669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WBS Top-Level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4343400"/>
            <a:ext cx="566928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1.0 Project Management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2.0 Requirements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3.0 System Design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4.0 Development (6 modules)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5.0 Integration &amp; Testing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6.0 Documentation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1A2B3C"/>
                </a:solidFill>
                <a:latin typeface="Calibri"/>
              </a:rPr>
              <a:t>  •  7.0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65A394-3B2E-49E5-ADA0-5FC84FCFBE90}"/>
              </a:ext>
            </a:extLst>
          </p:cNvPr>
          <p:cNvSpPr/>
          <p:nvPr/>
        </p:nvSpPr>
        <p:spPr>
          <a:xfrm>
            <a:off x="1938087" y="1005840"/>
            <a:ext cx="7669503" cy="5669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UEMS Life Cycle Diagram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DC2545E4-7D78-4F62-B040-67D37B042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5912" y="1016534"/>
            <a:ext cx="5884430" cy="536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86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65A394-3B2E-49E5-ADA0-5FC84FCFBE90}"/>
              </a:ext>
            </a:extLst>
          </p:cNvPr>
          <p:cNvSpPr/>
          <p:nvPr/>
        </p:nvSpPr>
        <p:spPr>
          <a:xfrm>
            <a:off x="1938087" y="1005840"/>
            <a:ext cx="7669503" cy="529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Calibri"/>
              </a:rPr>
              <a:t>Activity Network Diagram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DC2545E4-7D78-4F62-B040-67D37B042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431929" y="1016534"/>
            <a:ext cx="4732395" cy="536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519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Schedule Management – Gantt &amp; Critical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2240280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320040" y="1170432"/>
            <a:ext cx="2103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  <a:latin typeface="Calibri"/>
              </a:rPr>
              <a:t>Activity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60320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2651760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W1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383279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3474720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W2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297679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W3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5120640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5943600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W5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6766559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W6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7589519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W7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8412480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W8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9235440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W9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59" y="1097280"/>
            <a:ext cx="804672" cy="43891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10058399" y="1170432"/>
            <a:ext cx="685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W10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1536192"/>
            <a:ext cx="2240280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365760" y="1627632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1A2B3C"/>
                </a:solidFill>
                <a:latin typeface="Calibri"/>
              </a:rPr>
              <a:t>Project Charter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0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Rectangle 31"/>
          <p:cNvSpPr/>
          <p:nvPr/>
        </p:nvSpPr>
        <p:spPr>
          <a:xfrm>
            <a:off x="2606039" y="1609344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3" name="Rectangle 32"/>
          <p:cNvSpPr/>
          <p:nvPr/>
        </p:nvSpPr>
        <p:spPr>
          <a:xfrm>
            <a:off x="3383279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Rectangle 33"/>
          <p:cNvSpPr/>
          <p:nvPr/>
        </p:nvSpPr>
        <p:spPr>
          <a:xfrm>
            <a:off x="3428999" y="1609344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206240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Rectangle 35"/>
          <p:cNvSpPr/>
          <p:nvPr/>
        </p:nvSpPr>
        <p:spPr>
          <a:xfrm>
            <a:off x="5029200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7" name="Rectangle 36"/>
          <p:cNvSpPr/>
          <p:nvPr/>
        </p:nvSpPr>
        <p:spPr>
          <a:xfrm>
            <a:off x="5852160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8" name="Rectangle 37"/>
          <p:cNvSpPr/>
          <p:nvPr/>
        </p:nvSpPr>
        <p:spPr>
          <a:xfrm>
            <a:off x="6675120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9" name="Rectangle 38"/>
          <p:cNvSpPr/>
          <p:nvPr/>
        </p:nvSpPr>
        <p:spPr>
          <a:xfrm>
            <a:off x="7498079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Rectangle 39"/>
          <p:cNvSpPr/>
          <p:nvPr/>
        </p:nvSpPr>
        <p:spPr>
          <a:xfrm>
            <a:off x="8321040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1" name="Rectangle 40"/>
          <p:cNvSpPr/>
          <p:nvPr/>
        </p:nvSpPr>
        <p:spPr>
          <a:xfrm>
            <a:off x="9144000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2" name="Rectangle 41"/>
          <p:cNvSpPr/>
          <p:nvPr/>
        </p:nvSpPr>
        <p:spPr>
          <a:xfrm>
            <a:off x="9966959" y="1536192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3" name="Rectangle 42"/>
          <p:cNvSpPr/>
          <p:nvPr/>
        </p:nvSpPr>
        <p:spPr>
          <a:xfrm>
            <a:off x="274320" y="1975104"/>
            <a:ext cx="2240280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365760" y="2066544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1A2B3C"/>
                </a:solidFill>
                <a:latin typeface="Calibri"/>
              </a:rPr>
              <a:t>Requirements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60320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6" name="Rectangle 45"/>
          <p:cNvSpPr/>
          <p:nvPr/>
        </p:nvSpPr>
        <p:spPr>
          <a:xfrm>
            <a:off x="3383279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7" name="Rectangle 46"/>
          <p:cNvSpPr/>
          <p:nvPr/>
        </p:nvSpPr>
        <p:spPr>
          <a:xfrm>
            <a:off x="3428999" y="2048256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8" name="Rectangle 47"/>
          <p:cNvSpPr/>
          <p:nvPr/>
        </p:nvSpPr>
        <p:spPr>
          <a:xfrm>
            <a:off x="4206240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9" name="Rectangle 48"/>
          <p:cNvSpPr/>
          <p:nvPr/>
        </p:nvSpPr>
        <p:spPr>
          <a:xfrm>
            <a:off x="4251959" y="2048256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0" name="Rectangle 49"/>
          <p:cNvSpPr/>
          <p:nvPr/>
        </p:nvSpPr>
        <p:spPr>
          <a:xfrm>
            <a:off x="5029200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1" name="Rectangle 50"/>
          <p:cNvSpPr/>
          <p:nvPr/>
        </p:nvSpPr>
        <p:spPr>
          <a:xfrm>
            <a:off x="5852160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2" name="Rectangle 51"/>
          <p:cNvSpPr/>
          <p:nvPr/>
        </p:nvSpPr>
        <p:spPr>
          <a:xfrm>
            <a:off x="6675120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3" name="Rectangle 52"/>
          <p:cNvSpPr/>
          <p:nvPr/>
        </p:nvSpPr>
        <p:spPr>
          <a:xfrm>
            <a:off x="7498079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4" name="Rectangle 53"/>
          <p:cNvSpPr/>
          <p:nvPr/>
        </p:nvSpPr>
        <p:spPr>
          <a:xfrm>
            <a:off x="8321040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5" name="Rectangle 54"/>
          <p:cNvSpPr/>
          <p:nvPr/>
        </p:nvSpPr>
        <p:spPr>
          <a:xfrm>
            <a:off x="9144000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6" name="Rectangle 55"/>
          <p:cNvSpPr/>
          <p:nvPr/>
        </p:nvSpPr>
        <p:spPr>
          <a:xfrm>
            <a:off x="9966959" y="1975104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7" name="Rectangle 56"/>
          <p:cNvSpPr/>
          <p:nvPr/>
        </p:nvSpPr>
        <p:spPr>
          <a:xfrm>
            <a:off x="274320" y="2414015"/>
            <a:ext cx="2240280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8" name="TextBox 57"/>
          <p:cNvSpPr txBox="1"/>
          <p:nvPr/>
        </p:nvSpPr>
        <p:spPr>
          <a:xfrm>
            <a:off x="365760" y="2505456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Scope &amp; WBS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0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0" name="Rectangle 59"/>
          <p:cNvSpPr/>
          <p:nvPr/>
        </p:nvSpPr>
        <p:spPr>
          <a:xfrm>
            <a:off x="3383279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1" name="Rectangle 60"/>
          <p:cNvSpPr/>
          <p:nvPr/>
        </p:nvSpPr>
        <p:spPr>
          <a:xfrm>
            <a:off x="4206240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2" name="Rectangle 61"/>
          <p:cNvSpPr/>
          <p:nvPr/>
        </p:nvSpPr>
        <p:spPr>
          <a:xfrm>
            <a:off x="4251959" y="2487168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3" name="Rectangle 62"/>
          <p:cNvSpPr/>
          <p:nvPr/>
        </p:nvSpPr>
        <p:spPr>
          <a:xfrm>
            <a:off x="5029200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4" name="Rectangle 63"/>
          <p:cNvSpPr/>
          <p:nvPr/>
        </p:nvSpPr>
        <p:spPr>
          <a:xfrm>
            <a:off x="5074920" y="2487168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5" name="Rectangle 64"/>
          <p:cNvSpPr/>
          <p:nvPr/>
        </p:nvSpPr>
        <p:spPr>
          <a:xfrm>
            <a:off x="5852160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6" name="Rectangle 65"/>
          <p:cNvSpPr/>
          <p:nvPr/>
        </p:nvSpPr>
        <p:spPr>
          <a:xfrm>
            <a:off x="6675120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7" name="Rectangle 66"/>
          <p:cNvSpPr/>
          <p:nvPr/>
        </p:nvSpPr>
        <p:spPr>
          <a:xfrm>
            <a:off x="7498079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8" name="Rectangle 67"/>
          <p:cNvSpPr/>
          <p:nvPr/>
        </p:nvSpPr>
        <p:spPr>
          <a:xfrm>
            <a:off x="8321040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9" name="Rectangle 68"/>
          <p:cNvSpPr/>
          <p:nvPr/>
        </p:nvSpPr>
        <p:spPr>
          <a:xfrm>
            <a:off x="9144000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0" name="Rectangle 69"/>
          <p:cNvSpPr/>
          <p:nvPr/>
        </p:nvSpPr>
        <p:spPr>
          <a:xfrm>
            <a:off x="9966959" y="2414015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1" name="Rectangle 70"/>
          <p:cNvSpPr/>
          <p:nvPr/>
        </p:nvSpPr>
        <p:spPr>
          <a:xfrm>
            <a:off x="274320" y="2852928"/>
            <a:ext cx="2240280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2" name="TextBox 71"/>
          <p:cNvSpPr txBox="1"/>
          <p:nvPr/>
        </p:nvSpPr>
        <p:spPr>
          <a:xfrm>
            <a:off x="365760" y="2944368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Cost &amp; Budget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60320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4" name="Rectangle 73"/>
          <p:cNvSpPr/>
          <p:nvPr/>
        </p:nvSpPr>
        <p:spPr>
          <a:xfrm>
            <a:off x="3383279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5" name="Rectangle 74"/>
          <p:cNvSpPr/>
          <p:nvPr/>
        </p:nvSpPr>
        <p:spPr>
          <a:xfrm>
            <a:off x="4206240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6" name="Rectangle 75"/>
          <p:cNvSpPr/>
          <p:nvPr/>
        </p:nvSpPr>
        <p:spPr>
          <a:xfrm>
            <a:off x="5029200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7" name="Rectangle 76"/>
          <p:cNvSpPr/>
          <p:nvPr/>
        </p:nvSpPr>
        <p:spPr>
          <a:xfrm>
            <a:off x="5074920" y="2926080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8" name="Rectangle 77"/>
          <p:cNvSpPr/>
          <p:nvPr/>
        </p:nvSpPr>
        <p:spPr>
          <a:xfrm>
            <a:off x="5852160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9" name="Rectangle 78"/>
          <p:cNvSpPr/>
          <p:nvPr/>
        </p:nvSpPr>
        <p:spPr>
          <a:xfrm>
            <a:off x="5897880" y="2926080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0" name="Rectangle 79"/>
          <p:cNvSpPr/>
          <p:nvPr/>
        </p:nvSpPr>
        <p:spPr>
          <a:xfrm>
            <a:off x="6675120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1" name="Rectangle 80"/>
          <p:cNvSpPr/>
          <p:nvPr/>
        </p:nvSpPr>
        <p:spPr>
          <a:xfrm>
            <a:off x="7498079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2" name="Rectangle 81"/>
          <p:cNvSpPr/>
          <p:nvPr/>
        </p:nvSpPr>
        <p:spPr>
          <a:xfrm>
            <a:off x="8321040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3" name="Rectangle 82"/>
          <p:cNvSpPr/>
          <p:nvPr/>
        </p:nvSpPr>
        <p:spPr>
          <a:xfrm>
            <a:off x="9144000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4" name="Rectangle 83"/>
          <p:cNvSpPr/>
          <p:nvPr/>
        </p:nvSpPr>
        <p:spPr>
          <a:xfrm>
            <a:off x="9966959" y="2852928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5" name="Rectangle 84"/>
          <p:cNvSpPr/>
          <p:nvPr/>
        </p:nvSpPr>
        <p:spPr>
          <a:xfrm>
            <a:off x="274320" y="3291839"/>
            <a:ext cx="2240280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6" name="TextBox 85"/>
          <p:cNvSpPr txBox="1"/>
          <p:nvPr/>
        </p:nvSpPr>
        <p:spPr>
          <a:xfrm>
            <a:off x="365760" y="3383279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Risk Analysis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560320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8" name="Rectangle 87"/>
          <p:cNvSpPr/>
          <p:nvPr/>
        </p:nvSpPr>
        <p:spPr>
          <a:xfrm>
            <a:off x="3383279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9" name="Rectangle 88"/>
          <p:cNvSpPr/>
          <p:nvPr/>
        </p:nvSpPr>
        <p:spPr>
          <a:xfrm>
            <a:off x="4206240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0" name="Rectangle 89"/>
          <p:cNvSpPr/>
          <p:nvPr/>
        </p:nvSpPr>
        <p:spPr>
          <a:xfrm>
            <a:off x="5029200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1" name="Rectangle 90"/>
          <p:cNvSpPr/>
          <p:nvPr/>
        </p:nvSpPr>
        <p:spPr>
          <a:xfrm>
            <a:off x="5852160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2" name="Rectangle 91"/>
          <p:cNvSpPr/>
          <p:nvPr/>
        </p:nvSpPr>
        <p:spPr>
          <a:xfrm>
            <a:off x="5897880" y="3364991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3" name="Rectangle 92"/>
          <p:cNvSpPr/>
          <p:nvPr/>
        </p:nvSpPr>
        <p:spPr>
          <a:xfrm>
            <a:off x="6675120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4" name="Rectangle 93"/>
          <p:cNvSpPr/>
          <p:nvPr/>
        </p:nvSpPr>
        <p:spPr>
          <a:xfrm>
            <a:off x="6720840" y="3364991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5" name="Rectangle 94"/>
          <p:cNvSpPr/>
          <p:nvPr/>
        </p:nvSpPr>
        <p:spPr>
          <a:xfrm>
            <a:off x="7498079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6" name="Rectangle 95"/>
          <p:cNvSpPr/>
          <p:nvPr/>
        </p:nvSpPr>
        <p:spPr>
          <a:xfrm>
            <a:off x="8321040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7" name="Rectangle 96"/>
          <p:cNvSpPr/>
          <p:nvPr/>
        </p:nvSpPr>
        <p:spPr>
          <a:xfrm>
            <a:off x="9144000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8" name="Rectangle 97"/>
          <p:cNvSpPr/>
          <p:nvPr/>
        </p:nvSpPr>
        <p:spPr>
          <a:xfrm>
            <a:off x="9966959" y="3291839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9" name="Rectangle 98"/>
          <p:cNvSpPr/>
          <p:nvPr/>
        </p:nvSpPr>
        <p:spPr>
          <a:xfrm>
            <a:off x="274320" y="3730752"/>
            <a:ext cx="2240280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0" name="TextBox 99"/>
          <p:cNvSpPr txBox="1"/>
          <p:nvPr/>
        </p:nvSpPr>
        <p:spPr>
          <a:xfrm>
            <a:off x="365760" y="3822191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Architecture Design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560320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2" name="Rectangle 101"/>
          <p:cNvSpPr/>
          <p:nvPr/>
        </p:nvSpPr>
        <p:spPr>
          <a:xfrm>
            <a:off x="3383279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3" name="Rectangle 102"/>
          <p:cNvSpPr/>
          <p:nvPr/>
        </p:nvSpPr>
        <p:spPr>
          <a:xfrm>
            <a:off x="4206240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4" name="Rectangle 103"/>
          <p:cNvSpPr/>
          <p:nvPr/>
        </p:nvSpPr>
        <p:spPr>
          <a:xfrm>
            <a:off x="5029200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5" name="Rectangle 104"/>
          <p:cNvSpPr/>
          <p:nvPr/>
        </p:nvSpPr>
        <p:spPr>
          <a:xfrm>
            <a:off x="5852160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6" name="Rectangle 105"/>
          <p:cNvSpPr/>
          <p:nvPr/>
        </p:nvSpPr>
        <p:spPr>
          <a:xfrm>
            <a:off x="6675120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7" name="Rectangle 106"/>
          <p:cNvSpPr/>
          <p:nvPr/>
        </p:nvSpPr>
        <p:spPr>
          <a:xfrm>
            <a:off x="6720840" y="3803904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8" name="Rectangle 107"/>
          <p:cNvSpPr/>
          <p:nvPr/>
        </p:nvSpPr>
        <p:spPr>
          <a:xfrm>
            <a:off x="7498079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9" name="Rectangle 108"/>
          <p:cNvSpPr/>
          <p:nvPr/>
        </p:nvSpPr>
        <p:spPr>
          <a:xfrm>
            <a:off x="7543800" y="3803904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0" name="Rectangle 109"/>
          <p:cNvSpPr/>
          <p:nvPr/>
        </p:nvSpPr>
        <p:spPr>
          <a:xfrm>
            <a:off x="8321040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1" name="Rectangle 110"/>
          <p:cNvSpPr/>
          <p:nvPr/>
        </p:nvSpPr>
        <p:spPr>
          <a:xfrm>
            <a:off x="9144000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2" name="Rectangle 111"/>
          <p:cNvSpPr/>
          <p:nvPr/>
        </p:nvSpPr>
        <p:spPr>
          <a:xfrm>
            <a:off x="9966959" y="3730752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3" name="Rectangle 112"/>
          <p:cNvSpPr/>
          <p:nvPr/>
        </p:nvSpPr>
        <p:spPr>
          <a:xfrm>
            <a:off x="274320" y="4169663"/>
            <a:ext cx="2240280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4" name="TextBox 113"/>
          <p:cNvSpPr txBox="1"/>
          <p:nvPr/>
        </p:nvSpPr>
        <p:spPr>
          <a:xfrm>
            <a:off x="365760" y="4261103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Wireframes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560320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6" name="Rectangle 115"/>
          <p:cNvSpPr/>
          <p:nvPr/>
        </p:nvSpPr>
        <p:spPr>
          <a:xfrm>
            <a:off x="3383279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7" name="Rectangle 116"/>
          <p:cNvSpPr/>
          <p:nvPr/>
        </p:nvSpPr>
        <p:spPr>
          <a:xfrm>
            <a:off x="4206240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8" name="Rectangle 117"/>
          <p:cNvSpPr/>
          <p:nvPr/>
        </p:nvSpPr>
        <p:spPr>
          <a:xfrm>
            <a:off x="5029200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9" name="Rectangle 118"/>
          <p:cNvSpPr/>
          <p:nvPr/>
        </p:nvSpPr>
        <p:spPr>
          <a:xfrm>
            <a:off x="5852160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0" name="Rectangle 119"/>
          <p:cNvSpPr/>
          <p:nvPr/>
        </p:nvSpPr>
        <p:spPr>
          <a:xfrm>
            <a:off x="6675120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1" name="Rectangle 120"/>
          <p:cNvSpPr/>
          <p:nvPr/>
        </p:nvSpPr>
        <p:spPr>
          <a:xfrm>
            <a:off x="7498079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2" name="Rectangle 121"/>
          <p:cNvSpPr/>
          <p:nvPr/>
        </p:nvSpPr>
        <p:spPr>
          <a:xfrm>
            <a:off x="7543800" y="4242816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3" name="Rectangle 122"/>
          <p:cNvSpPr/>
          <p:nvPr/>
        </p:nvSpPr>
        <p:spPr>
          <a:xfrm>
            <a:off x="8321040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4" name="Rectangle 123"/>
          <p:cNvSpPr/>
          <p:nvPr/>
        </p:nvSpPr>
        <p:spPr>
          <a:xfrm>
            <a:off x="8366760" y="4242816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5" name="Rectangle 124"/>
          <p:cNvSpPr/>
          <p:nvPr/>
        </p:nvSpPr>
        <p:spPr>
          <a:xfrm>
            <a:off x="9144000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6" name="Rectangle 125"/>
          <p:cNvSpPr/>
          <p:nvPr/>
        </p:nvSpPr>
        <p:spPr>
          <a:xfrm>
            <a:off x="9966959" y="4169663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7" name="Rectangle 126"/>
          <p:cNvSpPr/>
          <p:nvPr/>
        </p:nvSpPr>
        <p:spPr>
          <a:xfrm>
            <a:off x="274320" y="4608576"/>
            <a:ext cx="2240280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8" name="TextBox 127"/>
          <p:cNvSpPr txBox="1"/>
          <p:nvPr/>
        </p:nvSpPr>
        <p:spPr>
          <a:xfrm>
            <a:off x="365760" y="4700016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Plan Review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560320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0" name="Rectangle 129"/>
          <p:cNvSpPr/>
          <p:nvPr/>
        </p:nvSpPr>
        <p:spPr>
          <a:xfrm>
            <a:off x="3383279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1" name="Rectangle 130"/>
          <p:cNvSpPr/>
          <p:nvPr/>
        </p:nvSpPr>
        <p:spPr>
          <a:xfrm>
            <a:off x="4206240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2" name="Rectangle 131"/>
          <p:cNvSpPr/>
          <p:nvPr/>
        </p:nvSpPr>
        <p:spPr>
          <a:xfrm>
            <a:off x="5029200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3" name="Rectangle 132"/>
          <p:cNvSpPr/>
          <p:nvPr/>
        </p:nvSpPr>
        <p:spPr>
          <a:xfrm>
            <a:off x="5852160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4" name="Rectangle 133"/>
          <p:cNvSpPr/>
          <p:nvPr/>
        </p:nvSpPr>
        <p:spPr>
          <a:xfrm>
            <a:off x="6675120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5" name="Rectangle 134"/>
          <p:cNvSpPr/>
          <p:nvPr/>
        </p:nvSpPr>
        <p:spPr>
          <a:xfrm>
            <a:off x="7498079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6" name="Rectangle 135"/>
          <p:cNvSpPr/>
          <p:nvPr/>
        </p:nvSpPr>
        <p:spPr>
          <a:xfrm>
            <a:off x="8321040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7" name="Rectangle 136"/>
          <p:cNvSpPr/>
          <p:nvPr/>
        </p:nvSpPr>
        <p:spPr>
          <a:xfrm>
            <a:off x="8366760" y="4681728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8" name="Rectangle 137"/>
          <p:cNvSpPr/>
          <p:nvPr/>
        </p:nvSpPr>
        <p:spPr>
          <a:xfrm>
            <a:off x="9144000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9" name="Rectangle 138"/>
          <p:cNvSpPr/>
          <p:nvPr/>
        </p:nvSpPr>
        <p:spPr>
          <a:xfrm>
            <a:off x="9189720" y="4681728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0" name="Rectangle 139"/>
          <p:cNvSpPr/>
          <p:nvPr/>
        </p:nvSpPr>
        <p:spPr>
          <a:xfrm>
            <a:off x="9966959" y="4608576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1" name="Rectangle 140"/>
          <p:cNvSpPr/>
          <p:nvPr/>
        </p:nvSpPr>
        <p:spPr>
          <a:xfrm>
            <a:off x="274320" y="5047488"/>
            <a:ext cx="2240280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2" name="TextBox 141"/>
          <p:cNvSpPr txBox="1"/>
          <p:nvPr/>
        </p:nvSpPr>
        <p:spPr>
          <a:xfrm>
            <a:off x="365760" y="5138928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Final Report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560320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4" name="Rectangle 143"/>
          <p:cNvSpPr/>
          <p:nvPr/>
        </p:nvSpPr>
        <p:spPr>
          <a:xfrm>
            <a:off x="3383279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5" name="Rectangle 144"/>
          <p:cNvSpPr/>
          <p:nvPr/>
        </p:nvSpPr>
        <p:spPr>
          <a:xfrm>
            <a:off x="4206240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6" name="Rectangle 145"/>
          <p:cNvSpPr/>
          <p:nvPr/>
        </p:nvSpPr>
        <p:spPr>
          <a:xfrm>
            <a:off x="5029200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7" name="Rectangle 146"/>
          <p:cNvSpPr/>
          <p:nvPr/>
        </p:nvSpPr>
        <p:spPr>
          <a:xfrm>
            <a:off x="5852160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8" name="Rectangle 147"/>
          <p:cNvSpPr/>
          <p:nvPr/>
        </p:nvSpPr>
        <p:spPr>
          <a:xfrm>
            <a:off x="6675120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9" name="Rectangle 148"/>
          <p:cNvSpPr/>
          <p:nvPr/>
        </p:nvSpPr>
        <p:spPr>
          <a:xfrm>
            <a:off x="7498079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0" name="Rectangle 149"/>
          <p:cNvSpPr/>
          <p:nvPr/>
        </p:nvSpPr>
        <p:spPr>
          <a:xfrm>
            <a:off x="8321040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1" name="Rectangle 150"/>
          <p:cNvSpPr/>
          <p:nvPr/>
        </p:nvSpPr>
        <p:spPr>
          <a:xfrm>
            <a:off x="9144000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2" name="Rectangle 151"/>
          <p:cNvSpPr/>
          <p:nvPr/>
        </p:nvSpPr>
        <p:spPr>
          <a:xfrm>
            <a:off x="9189720" y="5120640"/>
            <a:ext cx="685800" cy="256031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3" name="Rectangle 152"/>
          <p:cNvSpPr/>
          <p:nvPr/>
        </p:nvSpPr>
        <p:spPr>
          <a:xfrm>
            <a:off x="9966959" y="5047488"/>
            <a:ext cx="804672" cy="420623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4" name="Rectangle 153"/>
          <p:cNvSpPr/>
          <p:nvPr/>
        </p:nvSpPr>
        <p:spPr>
          <a:xfrm>
            <a:off x="274320" y="5486400"/>
            <a:ext cx="2240280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5" name="TextBox 154"/>
          <p:cNvSpPr txBox="1"/>
          <p:nvPr/>
        </p:nvSpPr>
        <p:spPr>
          <a:xfrm>
            <a:off x="365760" y="5577840"/>
            <a:ext cx="2103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Submission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2560320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7" name="Rectangle 156"/>
          <p:cNvSpPr/>
          <p:nvPr/>
        </p:nvSpPr>
        <p:spPr>
          <a:xfrm>
            <a:off x="3383279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8" name="Rectangle 157"/>
          <p:cNvSpPr/>
          <p:nvPr/>
        </p:nvSpPr>
        <p:spPr>
          <a:xfrm>
            <a:off x="4206240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9" name="Rectangle 158"/>
          <p:cNvSpPr/>
          <p:nvPr/>
        </p:nvSpPr>
        <p:spPr>
          <a:xfrm>
            <a:off x="5029200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0" name="Rectangle 159"/>
          <p:cNvSpPr/>
          <p:nvPr/>
        </p:nvSpPr>
        <p:spPr>
          <a:xfrm>
            <a:off x="5852160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1" name="Rectangle 160"/>
          <p:cNvSpPr/>
          <p:nvPr/>
        </p:nvSpPr>
        <p:spPr>
          <a:xfrm>
            <a:off x="6675120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2" name="Rectangle 161"/>
          <p:cNvSpPr/>
          <p:nvPr/>
        </p:nvSpPr>
        <p:spPr>
          <a:xfrm>
            <a:off x="7498079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3" name="Rectangle 162"/>
          <p:cNvSpPr/>
          <p:nvPr/>
        </p:nvSpPr>
        <p:spPr>
          <a:xfrm>
            <a:off x="8321040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4" name="Rectangle 163"/>
          <p:cNvSpPr/>
          <p:nvPr/>
        </p:nvSpPr>
        <p:spPr>
          <a:xfrm>
            <a:off x="9144000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5" name="Rectangle 164"/>
          <p:cNvSpPr/>
          <p:nvPr/>
        </p:nvSpPr>
        <p:spPr>
          <a:xfrm>
            <a:off x="9966959" y="5486400"/>
            <a:ext cx="804672" cy="420623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6" name="Rectangle 165"/>
          <p:cNvSpPr/>
          <p:nvPr/>
        </p:nvSpPr>
        <p:spPr>
          <a:xfrm>
            <a:off x="10012680" y="5559552"/>
            <a:ext cx="685800" cy="256031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7" name="Rectangle 166"/>
          <p:cNvSpPr/>
          <p:nvPr/>
        </p:nvSpPr>
        <p:spPr>
          <a:xfrm>
            <a:off x="265112" y="5977057"/>
            <a:ext cx="11658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8" name="Rectangle 167"/>
          <p:cNvSpPr/>
          <p:nvPr/>
        </p:nvSpPr>
        <p:spPr>
          <a:xfrm>
            <a:off x="274320" y="5999783"/>
            <a:ext cx="109728" cy="7315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9" name="TextBox 168"/>
          <p:cNvSpPr txBox="1"/>
          <p:nvPr/>
        </p:nvSpPr>
        <p:spPr>
          <a:xfrm>
            <a:off x="502920" y="6212412"/>
            <a:ext cx="112471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1A2B3C"/>
                </a:solidFill>
                <a:latin typeface="Calibri"/>
              </a:rPr>
              <a:t>Critical Path: A1→A3→A4→A6→A10→A13→A14→A15→A16  |  Total Float: 0  |  Duration: 37 days  |  Schedule tracked via EVM (SPI metric)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Cost Management – Budget SAR 285,000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1165860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8" name="TextBox 7"/>
          <p:cNvSpPr txBox="1"/>
          <p:nvPr/>
        </p:nvSpPr>
        <p:spPr>
          <a:xfrm>
            <a:off x="365760" y="1124712"/>
            <a:ext cx="7772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Cost Item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2142" y="1102017"/>
            <a:ext cx="1645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SAR Amount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124712"/>
            <a:ext cx="1737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% of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08760"/>
            <a:ext cx="11658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581912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1A2B3C"/>
                </a:solidFill>
                <a:latin typeface="Calibri"/>
              </a:rPr>
              <a:t>Project Manager (400 </a:t>
            </a:r>
            <a:r>
              <a:rPr sz="1600" b="0" i="0" dirty="0" err="1">
                <a:solidFill>
                  <a:srgbClr val="1A2B3C"/>
                </a:solidFill>
                <a:latin typeface="Calibri"/>
              </a:rPr>
              <a:t>hrs</a:t>
            </a:r>
            <a:r>
              <a:rPr sz="1600" b="0" i="0" dirty="0">
                <a:solidFill>
                  <a:srgbClr val="1A2B3C"/>
                </a:solidFill>
                <a:latin typeface="Calibri"/>
              </a:rPr>
              <a:t> × SAR 200)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2142" y="1559217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80,000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1581912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28.1%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01952"/>
            <a:ext cx="11658600" cy="38404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1975104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Senior Developers ×2 (480 hrs × SAR 175)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2142" y="1952409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84,000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975104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29.5%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295144"/>
            <a:ext cx="11658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2368296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Business Analyst (160 hrs × SAR 150)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2142" y="2345601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24,000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368296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8.5%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688336"/>
            <a:ext cx="11658600" cy="38404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2761488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UI/UX Designer (120 hrs × SAR 140)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92142" y="2738793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16,800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761488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5.9%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081528"/>
            <a:ext cx="11658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3154680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QA/Test Engineer (120 hrs × SAR 130)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2142" y="3131985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15,600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3154680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5.5%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474720"/>
            <a:ext cx="11658600" cy="38404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3547872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SMS Gateway API (12 months)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92142" y="3525177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18,000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3547872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6.3%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867912"/>
            <a:ext cx="11658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3941064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Email Service – SendGrid (12 months)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92142" y="3918369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9,000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3941064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3.2%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261104"/>
            <a:ext cx="11658600" cy="38404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4334256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Cloud Hosting VPS (2 years)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92142" y="4311561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15,000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4334256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5.3%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654296"/>
            <a:ext cx="11658600" cy="38404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4727448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QR Scanner Hardware (×5 units)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92142" y="4704753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4,000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4727448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1.4%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5047488"/>
            <a:ext cx="11658600" cy="38404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5760" y="5120640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UAT Coordination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92142" y="5097945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3C"/>
                </a:solidFill>
                <a:latin typeface="Calibri"/>
              </a:rPr>
              <a:t>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5120640"/>
            <a:ext cx="1737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1.8%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486400"/>
            <a:ext cx="11658600" cy="457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5760" y="5532120"/>
            <a:ext cx="777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  <a:latin typeface="Calibri"/>
              </a:rPr>
              <a:t>TOTAL DIRECT COSTS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92142" y="5509425"/>
            <a:ext cx="16459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271,400</a:t>
            </a:r>
            <a:endParaRPr sz="1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892540" y="5513832"/>
            <a:ext cx="4114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FFFFF"/>
                </a:solidFill>
                <a:latin typeface="Calibri"/>
              </a:rPr>
              <a:t>+10% contingency → SAR 298,540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Risk Management – 12-Risk Register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11658600" cy="365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24712"/>
            <a:ext cx="411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124712"/>
            <a:ext cx="4343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124712"/>
            <a:ext cx="1097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124712"/>
            <a:ext cx="1097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124712"/>
            <a:ext cx="4480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81328"/>
            <a:ext cx="1165860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15453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065A82"/>
                </a:solidFill>
                <a:latin typeface="Calibri"/>
              </a:rPr>
              <a:t>R01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45336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1A2B3C"/>
                </a:solidFill>
                <a:latin typeface="Calibri"/>
              </a:rPr>
              <a:t>Scope change after baseline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1545336"/>
            <a:ext cx="1051560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0" y="1563624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545336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1A2B3C"/>
                </a:solidFill>
                <a:latin typeface="Calibri"/>
              </a:rPr>
              <a:t>4×4=16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1545336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64748B"/>
                </a:solidFill>
                <a:latin typeface="Calibri"/>
              </a:rPr>
              <a:t>Enforce change control; freeze scope </a:t>
            </a:r>
            <a:r>
              <a:rPr sz="1600" b="0" i="0" dirty="0" err="1">
                <a:solidFill>
                  <a:srgbClr val="64748B"/>
                </a:solidFill>
                <a:latin typeface="Calibri"/>
              </a:rPr>
              <a:t>Wk</a:t>
            </a:r>
            <a:r>
              <a:rPr sz="1600" b="0" i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24812"/>
            <a:ext cx="11658600" cy="42976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1988819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065A82"/>
                </a:solidFill>
                <a:latin typeface="Calibri"/>
              </a:rPr>
              <a:t>R02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988819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1A2B3C"/>
                </a:solidFill>
                <a:latin typeface="Calibri"/>
              </a:rPr>
              <a:t>Key team member unavailable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57800" y="1988819"/>
            <a:ext cx="1051560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0" y="2007107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988819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3×4=12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1988819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Cross-train team; maintain skills matrix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368296"/>
            <a:ext cx="1165860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" y="2432303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432303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1A2B3C"/>
                </a:solidFill>
                <a:latin typeface="Calibri"/>
              </a:rPr>
              <a:t>MyQU</a:t>
            </a:r>
            <a:r>
              <a:rPr sz="1600" b="0" i="0" dirty="0">
                <a:solidFill>
                  <a:srgbClr val="1A2B3C"/>
                </a:solidFill>
                <a:latin typeface="Calibri"/>
              </a:rPr>
              <a:t> portal integration failure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57800" y="2432303"/>
            <a:ext cx="1051560" cy="301752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03520" y="2450591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432303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4×5=20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2432303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Early API testing; involve QU IT from Wk 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811780"/>
            <a:ext cx="11658600" cy="42976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0040" y="287578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2875788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Budget overrun – licensing costs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57800" y="2875788"/>
            <a:ext cx="1051560" cy="301752"/>
          </a:xfrm>
          <a:prstGeom prst="rect">
            <a:avLst/>
          </a:prstGeom>
          <a:solidFill>
            <a:srgbClr val="D4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0" y="2894076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2875788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2×4=8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875788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Prefer open-source; 10% contingency reserved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255264"/>
            <a:ext cx="1165860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20040" y="33192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319272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Late requirements sign-off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3319272"/>
            <a:ext cx="1051560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303520" y="3337560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3319272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4×4=16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3319272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Hard approval deadlines; early escalation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698748"/>
            <a:ext cx="11658600" cy="42976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20040" y="376275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3762756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1A2B3C"/>
                </a:solidFill>
                <a:latin typeface="Calibri"/>
              </a:rPr>
              <a:t>Data privacy breach in test env.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3762756"/>
            <a:ext cx="1051560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303520" y="3781044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3762756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2×5=10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3762756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Anonymized test data; NCA ECC controls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142232"/>
            <a:ext cx="1165860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20040" y="4206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4206240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Poor user adoption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57800" y="4206240"/>
            <a:ext cx="1051560" cy="301752"/>
          </a:xfrm>
          <a:prstGeom prst="rect">
            <a:avLst/>
          </a:prstGeom>
          <a:solidFill>
            <a:srgbClr val="D4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303520" y="4224528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4206240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3×3=9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4206240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Involve users in UAT; conduct training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4585716"/>
            <a:ext cx="11658600" cy="42976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20040" y="464972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649724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Vendor delay for QR hardware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57800" y="4649724"/>
            <a:ext cx="1051560" cy="301752"/>
          </a:xfrm>
          <a:prstGeom prst="rect">
            <a:avLst/>
          </a:prstGeom>
          <a:solidFill>
            <a:srgbClr val="02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303520" y="4668012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4649724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2×3=6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649724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Order early Wk 3; identify backup vendor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5029200"/>
            <a:ext cx="1165860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20040" y="509320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" y="5093208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Technical debt from rushed dev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57800" y="5093208"/>
            <a:ext cx="1051560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303520" y="5111496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92240" y="5093208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3×4=12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0" y="5093208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Enforce code review; no-shortcuts policy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5472684"/>
            <a:ext cx="11658600" cy="42976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320040" y="55366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960" y="5536692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Arabic/English miscommunication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257800" y="5536692"/>
            <a:ext cx="1051560" cy="301752"/>
          </a:xfrm>
          <a:prstGeom prst="rect">
            <a:avLst/>
          </a:prstGeom>
          <a:solidFill>
            <a:srgbClr val="D4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303520" y="5554980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92240" y="5536692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3×3=9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5536692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Bilingual minutes &amp; documentation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5916168"/>
            <a:ext cx="11658600" cy="429768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20040" y="598017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5980176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Scope creep – informal requests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257800" y="5980176"/>
            <a:ext cx="1051560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303520" y="5998464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92240" y="5980176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4×3=12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80960" y="5980176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Formal change control; stakeholder education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74320" y="6359652"/>
            <a:ext cx="11658600" cy="429768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320040" y="64236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R12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2960" y="6423660"/>
            <a:ext cx="4389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B3C"/>
                </a:solidFill>
                <a:latin typeface="Calibri"/>
              </a:rPr>
              <a:t>Insufficient testing time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257800" y="6423660"/>
            <a:ext cx="1051560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5303520" y="6441948"/>
            <a:ext cx="1005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2240" y="6423660"/>
            <a:ext cx="1143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B3C"/>
                </a:solidFill>
                <a:latin typeface="Calibri"/>
              </a:rPr>
              <a:t>3×4=12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80960" y="6423660"/>
            <a:ext cx="4526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Parallel dev/testing; buffer in Wks 8–9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"/>
              </a:rPr>
              <a:t>Human Resource &amp; Communication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54864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548640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124712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Project Team (Matrix Structure)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572768"/>
            <a:ext cx="5449824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609344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5A82"/>
                </a:solidFill>
                <a:latin typeface="Calibri"/>
              </a:rPr>
              <a:t>Project Manager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1627632"/>
            <a:ext cx="502920" cy="2286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23744" y="1636776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8653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Overall planning, reporting, stakeholder comm.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" y="2185416"/>
            <a:ext cx="5449824" cy="585216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2221992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Business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14600" y="2240280"/>
            <a:ext cx="502920" cy="2286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23744" y="2249424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47802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Requirements gathering, WBS, scope docs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798064"/>
            <a:ext cx="5449824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2834640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Lead Architect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2852928"/>
            <a:ext cx="502920" cy="2286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523744" y="2862072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09067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System architecture, tech selection, design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" y="3410712"/>
            <a:ext cx="5449824" cy="585216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6" name="TextBox 25"/>
          <p:cNvSpPr txBox="1"/>
          <p:nvPr/>
        </p:nvSpPr>
        <p:spPr>
          <a:xfrm>
            <a:off x="411480" y="3447288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Senior Developer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4600" y="3465576"/>
            <a:ext cx="502920" cy="2286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23744" y="3474720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7033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Event, Registration &amp; Database modules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" y="4023360"/>
            <a:ext cx="5449824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059936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Senior Developer 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4078224"/>
            <a:ext cx="502920" cy="2286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523744" y="4087368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31596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Budget, Attendance, Feedback &amp; API modules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" y="4636008"/>
            <a:ext cx="5449824" cy="585216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672584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UI/UX Designer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4690872"/>
            <a:ext cx="502920" cy="2286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523744" y="4700016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492861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Wireframes, prototypes, bilingual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" y="5248656"/>
            <a:ext cx="5449824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5285232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QA/Test Engineer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5303520"/>
            <a:ext cx="502920" cy="2286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523744" y="5312664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54126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Test planning, execution, UAT coordination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" y="5861304"/>
            <a:ext cx="5449824" cy="585216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5897880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IT Infrastructure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14600" y="5916168"/>
            <a:ext cx="502920" cy="2286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523744" y="5925312"/>
            <a:ext cx="4846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15391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Server setup, network, deployment env.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80760" y="1097280"/>
            <a:ext cx="585216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080760" y="1097280"/>
            <a:ext cx="5852160" cy="4114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0" y="1124712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Communication Matrix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99048" y="1572768"/>
            <a:ext cx="5815584" cy="6309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17920" y="1609344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Weekly Status Report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186537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Sponsor, IT Head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2002536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C7293"/>
                </a:solidFill>
                <a:latin typeface="Calibri"/>
              </a:rPr>
              <a:t>Sunday Email + SharePoint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9048" y="2231136"/>
            <a:ext cx="5815584" cy="630936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17920" y="2267712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Team Stand-up Meeting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2523744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Project Team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266090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C7293"/>
                </a:solidFill>
                <a:latin typeface="Calibri"/>
              </a:rPr>
              <a:t>Monday 9AM – MS Teams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99048" y="2889504"/>
            <a:ext cx="5815584" cy="6309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17920" y="2926080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Phase Gate Review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182112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All Stakeholders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3319272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C7293"/>
                </a:solidFill>
                <a:latin typeface="Calibri"/>
              </a:rPr>
              <a:t>End of phase – In-person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99048" y="3547872"/>
            <a:ext cx="5815584" cy="630936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17920" y="3584448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Risk Log Update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4048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PM + Leads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77639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C7293"/>
                </a:solidFill>
                <a:latin typeface="Calibri"/>
              </a:rPr>
              <a:t>Bi-weekly SharePoint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99048" y="4206240"/>
            <a:ext cx="5815584" cy="6309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217920" y="4242816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Change Request Notif.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49884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Relevant Parties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4636007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C7293"/>
                </a:solidFill>
                <a:latin typeface="Calibri"/>
              </a:rPr>
              <a:t>As needed – Email/CRF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99048" y="4864607"/>
            <a:ext cx="5815584" cy="630936"/>
          </a:xfrm>
          <a:prstGeom prst="rect">
            <a:avLst/>
          </a:prstGeom>
          <a:solidFill>
            <a:srgbClr val="E8F4FB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17920" y="4901183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Student/Faculty Bulletin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17920" y="515721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All QU Users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5294375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C7293"/>
                </a:solidFill>
                <a:latin typeface="Calibri"/>
              </a:rPr>
              <a:t>Monthly – MyQU Portal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9048" y="5522976"/>
            <a:ext cx="5815584" cy="630936"/>
          </a:xfrm>
          <a:prstGeom prst="rect">
            <a:avLst/>
          </a:prstGeom>
          <a:solidFill>
            <a:srgbClr val="FFFFFF"/>
          </a:solidFill>
          <a:ln w="381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17920" y="5559552"/>
            <a:ext cx="5577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5A82"/>
                </a:solidFill>
                <a:latin typeface="Calibri"/>
              </a:rPr>
              <a:t>Final Presentation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17920" y="5815584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All Stakeholders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952744"/>
            <a:ext cx="5577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C7293"/>
                </a:solidFill>
                <a:latin typeface="Calibri"/>
              </a:rPr>
              <a:t>Week 10 – In-person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" y="0"/>
            <a:ext cx="12115800" cy="10058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82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Stakeholder Management – Power/Interest Grid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97280"/>
            <a:ext cx="59436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2880360"/>
            <a:ext cx="548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065A82"/>
                </a:solidFill>
                <a:latin typeface="Calibri"/>
              </a:rPr>
              <a:t>HIGH
POWER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502920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64748B"/>
                </a:solidFill>
                <a:latin typeface="Calibri"/>
              </a:rPr>
              <a:t>LOW
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26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LOW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6126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HIGH INTEREST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143000"/>
            <a:ext cx="2377440" cy="2514600"/>
          </a:xfrm>
          <a:prstGeom prst="rect">
            <a:avLst/>
          </a:prstGeom>
          <a:solidFill>
            <a:srgbClr val="065A8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1234440"/>
            <a:ext cx="21945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KEEP
SATISFIED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053571"/>
            <a:ext cx="2194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Calibri"/>
              </a:rPr>
              <a:t>QU Finance Dept.
NCA (Regulator)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1143000"/>
            <a:ext cx="2651760" cy="2514600"/>
          </a:xfrm>
          <a:prstGeom prst="rect">
            <a:avLst/>
          </a:prstGeom>
          <a:solidFill>
            <a:srgbClr val="027A5E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20440" y="1234440"/>
            <a:ext cx="24688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MANAGE
CLOSELY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053571"/>
            <a:ext cx="24688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Calibri"/>
              </a:rPr>
              <a:t>Rector's Office
IT Dept. Head
QU IT 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49039"/>
            <a:ext cx="2377440" cy="2286000"/>
          </a:xfrm>
          <a:prstGeom prst="rect">
            <a:avLst/>
          </a:prstGeom>
          <a:solidFill>
            <a:srgbClr val="D48A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840479"/>
            <a:ext cx="2194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669018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Calibri"/>
              </a:rPr>
              <a:t>External Vendors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749039"/>
            <a:ext cx="2651760" cy="2286000"/>
          </a:xfrm>
          <a:prstGeom prst="rect">
            <a:avLst/>
          </a:prstGeom>
          <a:solidFill>
            <a:srgbClr val="1C7293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20440" y="3840479"/>
            <a:ext cx="24688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KEEP
INFORMED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659611"/>
            <a:ext cx="24688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Calibri"/>
              </a:rPr>
              <a:t>Students
Faculty Members
Event Coordinators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097280"/>
            <a:ext cx="544068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92240" y="1097280"/>
            <a:ext cx="544068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1124712"/>
            <a:ext cx="5212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Engagement Strategies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1572768"/>
            <a:ext cx="182880" cy="1097280"/>
          </a:xfrm>
          <a:prstGeom prst="rect">
            <a:avLst/>
          </a:prstGeom>
          <a:solidFill>
            <a:srgbClr val="027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66560" y="1618488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27A5E"/>
                </a:solidFill>
                <a:latin typeface="Calibri"/>
              </a:rPr>
              <a:t>Manage Closely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1938528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400" b="0" i="0" dirty="0">
                <a:solidFill>
                  <a:srgbClr val="64748B"/>
                </a:solidFill>
                <a:latin typeface="Calibri"/>
              </a:rPr>
              <a:t>Weekly status meetings, direct involvement in phase gates, proactive issue escalation, dedicated relationship 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807208"/>
            <a:ext cx="182880" cy="10972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66560" y="2852928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65A82"/>
                </a:solidFill>
                <a:latin typeface="Calibri"/>
              </a:rPr>
              <a:t>Keep Satisfied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172968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4748B"/>
                </a:solidFill>
                <a:latin typeface="Calibri"/>
              </a:rPr>
              <a:t>Monthly summary reports, formal compliance docs, engagement at milestones and financial/regulatory approvals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4041648"/>
            <a:ext cx="182880" cy="10972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0" y="4087368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C7293"/>
                </a:solidFill>
                <a:latin typeface="Calibri"/>
              </a:rPr>
              <a:t>Keep Informed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407408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4748B"/>
                </a:solidFill>
                <a:latin typeface="Calibri"/>
              </a:rPr>
              <a:t>Monthly </a:t>
            </a:r>
            <a:r>
              <a:rPr sz="1400" b="0" i="0" dirty="0" err="1">
                <a:solidFill>
                  <a:srgbClr val="64748B"/>
                </a:solidFill>
                <a:latin typeface="Calibri"/>
              </a:rPr>
              <a:t>MyQU</a:t>
            </a:r>
            <a:r>
              <a:rPr sz="1400" b="0" i="0" dirty="0">
                <a:solidFill>
                  <a:srgbClr val="64748B"/>
                </a:solidFill>
                <a:latin typeface="Calibri"/>
              </a:rPr>
              <a:t> bulletins, UAT participation, feedback surveys, active input in requirements &amp; testing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5276088"/>
            <a:ext cx="182880" cy="1097280"/>
          </a:xfrm>
          <a:prstGeom prst="rect">
            <a:avLst/>
          </a:prstGeom>
          <a:solidFill>
            <a:srgbClr val="D4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66560" y="5321808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D48A00"/>
                </a:solidFill>
                <a:latin typeface="Calibri"/>
              </a:rPr>
              <a:t>Monitor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641848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64748B"/>
                </a:solidFill>
                <a:latin typeface="Calibri"/>
              </a:rPr>
              <a:t>Procurement processes and contract performance management; updates only as relevant to deliverables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dirty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703320" cy="2849072"/>
          </a:xfrm>
          <a:prstGeom prst="rect">
            <a:avLst/>
          </a:prstGeom>
          <a:solidFill>
            <a:srgbClr val="0A4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703320" cy="91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3429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02C39A"/>
                </a:solidFill>
                <a:latin typeface="Calibri"/>
              </a:rPr>
              <a:t>Comprehensive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10512"/>
            <a:ext cx="3429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 i="0" dirty="0">
                <a:solidFill>
                  <a:srgbClr val="CADCFC"/>
                </a:solidFill>
                <a:latin typeface="Calibri"/>
              </a:rPr>
              <a:t>Covers all 13 PMBOK knowledge areas. Includes Charter, WBS, Gantt chart, cost baseline, quality standards, RACI matrix, 12-risk register, procurement plan &amp; stakeholder engagement strategy.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9392" y="1143000"/>
            <a:ext cx="3703320" cy="2834089"/>
          </a:xfrm>
          <a:prstGeom prst="rect">
            <a:avLst/>
          </a:prstGeom>
          <a:solidFill>
            <a:srgbClr val="0A4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79392" y="1143000"/>
            <a:ext cx="3703320" cy="91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280160"/>
            <a:ext cx="3429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2C39A"/>
                </a:solidFill>
                <a:latin typeface="Calibri"/>
              </a:rPr>
              <a:t>Strategic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1810512"/>
            <a:ext cx="3429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 i="0" dirty="0">
                <a:solidFill>
                  <a:srgbClr val="CADCFC"/>
                </a:solidFill>
                <a:latin typeface="Calibri"/>
              </a:rPr>
              <a:t>UEMS directly supports Qassim University's digital transformation &amp; Saudi Vision 2030 e-governance goals. Replaces fragmented manual processes with a centralized, bilingual, role-based digital platform.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4" y="1143000"/>
            <a:ext cx="3703320" cy="2849072"/>
          </a:xfrm>
          <a:prstGeom prst="rect">
            <a:avLst/>
          </a:prstGeom>
          <a:solidFill>
            <a:srgbClr val="0A4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93024" y="1143000"/>
            <a:ext cx="3703320" cy="91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4" y="1280160"/>
            <a:ext cx="3429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2C39A"/>
                </a:solidFill>
                <a:latin typeface="Calibri"/>
              </a:rPr>
              <a:t>Measurable Outcomes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810512"/>
            <a:ext cx="3429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sz="1600" b="0" i="0" dirty="0">
                <a:solidFill>
                  <a:srgbClr val="CADCFC"/>
                </a:solidFill>
                <a:latin typeface="Calibri"/>
              </a:rPr>
              <a:t>90% reduction in scheduling conflicts. 75% reduction in manual processing time. SAR 120K+ annual savings expected. ROI within 18 months of deployment. System uptime ≥ 99.5%.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1321</Words>
  <Application>Microsoft Office PowerPoint</Application>
  <PresentationFormat>Custom</PresentationFormat>
  <Paragraphs>296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Md. Shakil Hossain</cp:lastModifiedBy>
  <cp:revision>9</cp:revision>
  <dcterms:created xsi:type="dcterms:W3CDTF">2013-01-27T09:14:16Z</dcterms:created>
  <dcterms:modified xsi:type="dcterms:W3CDTF">2026-04-30T18:16:04Z</dcterms:modified>
  <cp:category/>
</cp:coreProperties>
</file>