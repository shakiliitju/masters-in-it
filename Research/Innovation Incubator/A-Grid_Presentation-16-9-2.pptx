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90" r:id="rId1"/>
  </p:sldMasterIdLst>
  <p:notesMasterIdLst>
    <p:notesMasterId r:id="rId11"/>
  </p:notesMasterIdLst>
  <p:sldIdLst>
    <p:sldId id="257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450"/>
    <a:srgbClr val="163D67"/>
    <a:srgbClr val="06A5A8"/>
    <a:srgbClr val="047D87"/>
    <a:srgbClr val="5B4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1"/>
    <p:restoredTop sz="94726"/>
  </p:normalViewPr>
  <p:slideViewPr>
    <p:cSldViewPr snapToGrid="0" snapToObjects="1">
      <p:cViewPr varScale="1">
        <p:scale>
          <a:sx n="58" d="100"/>
          <a:sy n="58" d="100"/>
        </p:scale>
        <p:origin x="10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8121B-863B-7B4D-B171-C9A18B8E77A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51B29-5CFA-844F-9B30-578EEBA93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51B29-5CFA-844F-9B30-578EEBA9314F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01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44619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42136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14709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514224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24523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5813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77887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60498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08525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47439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00199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5274-C9ED-1543-96A3-5362F8A8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1306" y="6240930"/>
            <a:ext cx="780055" cy="254502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C1C971F-DEE6-C04D-887D-3D4DAD7CB2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8C2286-C658-3A40-902D-329EEB6D17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1305" y="1876287"/>
            <a:ext cx="11357112" cy="37901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ar-SA" dirty="0"/>
              <a:t>محتوى الشريحة</a:t>
            </a:r>
            <a:endParaRPr lang="en-SA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1C2E8D-1121-7F46-A0D6-CE07A4D5C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305" y="1043609"/>
            <a:ext cx="11357112" cy="647080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06A5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الشريحة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02342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179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FD9F7-0B21-41A5-4E25-18751C4EAC79}"/>
              </a:ext>
            </a:extLst>
          </p:cNvPr>
          <p:cNvSpPr txBox="1"/>
          <p:nvPr/>
        </p:nvSpPr>
        <p:spPr>
          <a:xfrm>
            <a:off x="5853629" y="4586293"/>
            <a:ext cx="5524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rgbClr val="141450"/>
                </a:solidFill>
                <a:latin typeface="Calibri"/>
              </a:rPr>
              <a:t>A-Grid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DB500-A7E8-A49D-D096-BEC4500B386E}"/>
              </a:ext>
            </a:extLst>
          </p:cNvPr>
          <p:cNvSpPr txBox="1"/>
          <p:nvPr/>
        </p:nvSpPr>
        <p:spPr>
          <a:xfrm>
            <a:off x="5853629" y="5572714"/>
            <a:ext cx="5524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41450"/>
                </a:solidFill>
                <a:latin typeface="Calibri"/>
              </a:rPr>
              <a:t>SmartGrid Monitoring &amp; Fault Detection using AI and PoA² Blockchain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FC4CDF-0488-4738-847C-19EEA2DEE093}"/>
              </a:ext>
            </a:extLst>
          </p:cNvPr>
          <p:cNvCxnSpPr>
            <a:cxnSpLocks/>
          </p:cNvCxnSpPr>
          <p:nvPr/>
        </p:nvCxnSpPr>
        <p:spPr>
          <a:xfrm>
            <a:off x="10852490" y="5372068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88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2E7ED-DF2B-C408-6554-F5A7964C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C971F-DEE6-C04D-887D-3D4DAD7CB2F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D37717-5F49-91ED-6688-60175603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dirty="0">
                <a:solidFill>
                  <a:srgbClr val="141450"/>
                </a:solidFill>
              </a:rPr>
              <a:t>المشكلة:</a:t>
            </a:r>
            <a:endParaRPr lang="en-SA" dirty="0">
              <a:solidFill>
                <a:srgbClr val="14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AD3281-E4A6-7DC1-7136-2650A4333B36}"/>
              </a:ext>
            </a:extLst>
          </p:cNvPr>
          <p:cNvCxnSpPr>
            <a:cxnSpLocks/>
          </p:cNvCxnSpPr>
          <p:nvPr/>
        </p:nvCxnSpPr>
        <p:spPr>
          <a:xfrm>
            <a:off x="11157290" y="1700535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5">
            <a:extLst>
              <a:ext uri="{FF2B5EF4-FFF2-40B4-BE49-F238E27FC236}">
                <a16:creationId xmlns:a16="http://schemas.microsoft.com/office/drawing/2014/main" id="{2B54B28B-3DCA-451F-9714-AA609F471CA3}"/>
              </a:ext>
            </a:extLst>
          </p:cNvPr>
          <p:cNvSpPr/>
          <p:nvPr/>
        </p:nvSpPr>
        <p:spPr>
          <a:xfrm>
            <a:off x="1943100" y="2273516"/>
            <a:ext cx="8321040" cy="484632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2BD9089-418E-4FBB-A75D-E023721AAD49}"/>
              </a:ext>
            </a:extLst>
          </p:cNvPr>
          <p:cNvSpPr/>
          <p:nvPr/>
        </p:nvSpPr>
        <p:spPr>
          <a:xfrm>
            <a:off x="1943100" y="2273516"/>
            <a:ext cx="8321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Global utilities lose </a:t>
            </a:r>
            <a:r>
              <a:rPr lang="en-US" sz="2000" b="1" dirty="0">
                <a:solidFill>
                  <a:srgbClr val="FFD166"/>
                </a:solidFill>
              </a:rPr>
              <a:t>$96B </a:t>
            </a:r>
            <a:r>
              <a:rPr lang="en-US" sz="1300" dirty="0">
                <a:solidFill>
                  <a:srgbClr val="FFFFFF"/>
                </a:solidFill>
              </a:rPr>
              <a:t>annually to Non-Technical Loss (NTL) and undetected faults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103C19A-0E1D-462D-A076-C5AC6D7E8E83}"/>
              </a:ext>
            </a:extLst>
          </p:cNvPr>
          <p:cNvSpPr/>
          <p:nvPr/>
        </p:nvSpPr>
        <p:spPr>
          <a:xfrm>
            <a:off x="1943100" y="303246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B538A3-5436-4BDA-BCEA-734CC764DBA6}"/>
              </a:ext>
            </a:extLst>
          </p:cNvPr>
          <p:cNvSpPr/>
          <p:nvPr/>
        </p:nvSpPr>
        <p:spPr>
          <a:xfrm>
            <a:off x="2080260" y="31056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DBB16D-7084-4332-A15C-CE29FFD9A585}"/>
              </a:ext>
            </a:extLst>
          </p:cNvPr>
          <p:cNvSpPr/>
          <p:nvPr/>
        </p:nvSpPr>
        <p:spPr>
          <a:xfrm>
            <a:off x="2601468" y="31056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Data Integrity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CCB81B6-5329-4B75-8CB9-46C241ECC50E}"/>
              </a:ext>
            </a:extLst>
          </p:cNvPr>
          <p:cNvSpPr/>
          <p:nvPr/>
        </p:nvSpPr>
        <p:spPr>
          <a:xfrm>
            <a:off x="2080260" y="35079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5252"/>
                </a:solidFill>
              </a:rPr>
              <a:t>90%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F976C5E-7BC4-467A-9C45-F7C14B395E2D}"/>
              </a:ext>
            </a:extLst>
          </p:cNvPr>
          <p:cNvSpPr/>
          <p:nvPr/>
        </p:nvSpPr>
        <p:spPr>
          <a:xfrm>
            <a:off x="2080260" y="38737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meter data can be manipulated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78BE9EA-35AF-48C1-B0CE-D83C2D5FB583}"/>
              </a:ext>
            </a:extLst>
          </p:cNvPr>
          <p:cNvSpPr/>
          <p:nvPr/>
        </p:nvSpPr>
        <p:spPr>
          <a:xfrm>
            <a:off x="6240780" y="303246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EE68E23-EB3F-4E78-BBDC-599788D00F6B}"/>
              </a:ext>
            </a:extLst>
          </p:cNvPr>
          <p:cNvSpPr/>
          <p:nvPr/>
        </p:nvSpPr>
        <p:spPr>
          <a:xfrm>
            <a:off x="6377940" y="31056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5DE7080-C334-4686-90C4-5589912FDAE6}"/>
              </a:ext>
            </a:extLst>
          </p:cNvPr>
          <p:cNvSpPr/>
          <p:nvPr/>
        </p:nvSpPr>
        <p:spPr>
          <a:xfrm>
            <a:off x="6899148" y="31056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Response Latency</a:t>
            </a:r>
            <a:endParaRPr lang="en-US" sz="12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8CF1561C-569F-4D41-83FC-D9D42A8AB918}"/>
              </a:ext>
            </a:extLst>
          </p:cNvPr>
          <p:cNvSpPr/>
          <p:nvPr/>
        </p:nvSpPr>
        <p:spPr>
          <a:xfrm>
            <a:off x="6377940" y="35079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</a:rPr>
              <a:t>Minutes</a:t>
            </a:r>
            <a:endParaRPr lang="en-US" sz="2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2FFB6A2-20DA-441D-8F84-3EBCBC6A9C23}"/>
              </a:ext>
            </a:extLst>
          </p:cNvPr>
          <p:cNvSpPr/>
          <p:nvPr/>
        </p:nvSpPr>
        <p:spPr>
          <a:xfrm>
            <a:off x="6377940" y="38737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vs millisecond damage window</a:t>
            </a:r>
            <a:endParaRPr lang="en-US" sz="10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3175CA97-39A9-4B84-8A45-37948B14B7FC}"/>
              </a:ext>
            </a:extLst>
          </p:cNvPr>
          <p:cNvSpPr/>
          <p:nvPr/>
        </p:nvSpPr>
        <p:spPr>
          <a:xfrm>
            <a:off x="1943100" y="440406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54F892ED-D783-4298-9D80-5CA06549B71C}"/>
              </a:ext>
            </a:extLst>
          </p:cNvPr>
          <p:cNvSpPr/>
          <p:nvPr/>
        </p:nvSpPr>
        <p:spPr>
          <a:xfrm>
            <a:off x="2080260" y="44772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1EC790A6-2D8D-4436-A4F2-EB0B87A6AD51}"/>
              </a:ext>
            </a:extLst>
          </p:cNvPr>
          <p:cNvSpPr/>
          <p:nvPr/>
        </p:nvSpPr>
        <p:spPr>
          <a:xfrm>
            <a:off x="2601468" y="44772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Trusted Records</a:t>
            </a:r>
            <a:endParaRPr lang="en-US" sz="12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3AACBBCA-39CE-4BC6-8FB9-D7CE7BC34783}"/>
              </a:ext>
            </a:extLst>
          </p:cNvPr>
          <p:cNvSpPr/>
          <p:nvPr/>
        </p:nvSpPr>
        <p:spPr>
          <a:xfrm>
            <a:off x="2080260" y="48795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Zero</a:t>
            </a:r>
            <a:endParaRPr lang="en-US" sz="2000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A565C809-6CD2-43B9-BE62-5CC9D2DFB54B}"/>
              </a:ext>
            </a:extLst>
          </p:cNvPr>
          <p:cNvSpPr/>
          <p:nvPr/>
        </p:nvSpPr>
        <p:spPr>
          <a:xfrm>
            <a:off x="2080260" y="52453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tamper-proof audit systems</a:t>
            </a:r>
            <a:endParaRPr lang="en-US" sz="10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DB5BD62-E653-43C7-8084-230BD06CCF40}"/>
              </a:ext>
            </a:extLst>
          </p:cNvPr>
          <p:cNvSpPr/>
          <p:nvPr/>
        </p:nvSpPr>
        <p:spPr>
          <a:xfrm>
            <a:off x="6240780" y="440406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03741606-8564-4528-B99E-BEB685E412F4}"/>
              </a:ext>
            </a:extLst>
          </p:cNvPr>
          <p:cNvSpPr/>
          <p:nvPr/>
        </p:nvSpPr>
        <p:spPr>
          <a:xfrm>
            <a:off x="6377940" y="44772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2CF6B5D4-9B6E-428C-9226-89AC7DC35C6F}"/>
              </a:ext>
            </a:extLst>
          </p:cNvPr>
          <p:cNvSpPr/>
          <p:nvPr/>
        </p:nvSpPr>
        <p:spPr>
          <a:xfrm>
            <a:off x="6899148" y="44772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EF18CECF-9696-46EB-83A7-E4B34139453A}"/>
              </a:ext>
            </a:extLst>
          </p:cNvPr>
          <p:cNvSpPr/>
          <p:nvPr/>
        </p:nvSpPr>
        <p:spPr>
          <a:xfrm>
            <a:off x="6377940" y="48795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A1B9A"/>
                </a:solidFill>
              </a:rPr>
              <a:t>Fails</a:t>
            </a:r>
            <a:endParaRPr lang="en-US" sz="20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732ECB9E-C2CA-4677-94E3-E00406234A2E}"/>
              </a:ext>
            </a:extLst>
          </p:cNvPr>
          <p:cNvSpPr/>
          <p:nvPr/>
        </p:nvSpPr>
        <p:spPr>
          <a:xfrm>
            <a:off x="6377940" y="52453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at real-time processing scale</a:t>
            </a:r>
            <a:endParaRPr lang="en-US" sz="100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F4E627C-2953-46BC-B573-471AB058EA97}"/>
              </a:ext>
            </a:extLst>
          </p:cNvPr>
          <p:cNvSpPr/>
          <p:nvPr/>
        </p:nvSpPr>
        <p:spPr>
          <a:xfrm>
            <a:off x="1911096" y="3032468"/>
            <a:ext cx="64008" cy="123444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B5525D05-3653-4037-99FD-28F19E860ED7}"/>
              </a:ext>
            </a:extLst>
          </p:cNvPr>
          <p:cNvSpPr/>
          <p:nvPr/>
        </p:nvSpPr>
        <p:spPr>
          <a:xfrm>
            <a:off x="6208776" y="3032468"/>
            <a:ext cx="64008" cy="1234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412D8FE2-765A-4C7E-BCA0-21595742A079}"/>
              </a:ext>
            </a:extLst>
          </p:cNvPr>
          <p:cNvSpPr/>
          <p:nvPr/>
        </p:nvSpPr>
        <p:spPr>
          <a:xfrm>
            <a:off x="1911096" y="4404068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13D87316-E698-49DB-9BD4-89638E27B5AD}"/>
              </a:ext>
            </a:extLst>
          </p:cNvPr>
          <p:cNvSpPr/>
          <p:nvPr/>
        </p:nvSpPr>
        <p:spPr>
          <a:xfrm>
            <a:off x="6208776" y="4404068"/>
            <a:ext cx="64008" cy="1234440"/>
          </a:xfrm>
          <a:prstGeom prst="rect">
            <a:avLst/>
          </a:prstGeom>
          <a:solidFill>
            <a:srgbClr val="6A1B9A"/>
          </a:solidFill>
          <a:ln/>
        </p:spPr>
      </p:sp>
    </p:spTree>
    <p:extLst>
      <p:ext uri="{BB962C8B-B14F-4D97-AF65-F5344CB8AC3E}">
        <p14:creationId xmlns:p14="http://schemas.microsoft.com/office/powerpoint/2010/main" val="840801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DE01CD-6AD5-8662-AF3F-63E0B873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C971F-DEE6-C04D-887D-3D4DAD7CB2F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426342-1F7A-FDFA-135A-B595B824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dirty="0">
                <a:solidFill>
                  <a:srgbClr val="141450"/>
                </a:solidFill>
              </a:rPr>
              <a:t>الحل:</a:t>
            </a:r>
            <a:endParaRPr lang="en-SA" dirty="0">
              <a:solidFill>
                <a:srgbClr val="14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E63ED8-011F-53B7-F776-BCB6C2EFCD80}"/>
              </a:ext>
            </a:extLst>
          </p:cNvPr>
          <p:cNvCxnSpPr>
            <a:cxnSpLocks/>
          </p:cNvCxnSpPr>
          <p:nvPr/>
        </p:nvCxnSpPr>
        <p:spPr>
          <a:xfrm>
            <a:off x="11157290" y="1700535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5">
            <a:extLst>
              <a:ext uri="{FF2B5EF4-FFF2-40B4-BE49-F238E27FC236}">
                <a16:creationId xmlns:a16="http://schemas.microsoft.com/office/drawing/2014/main" id="{F2A9E851-D52C-45EB-890C-0DF739282B06}"/>
              </a:ext>
            </a:extLst>
          </p:cNvPr>
          <p:cNvSpPr/>
          <p:nvPr/>
        </p:nvSpPr>
        <p:spPr>
          <a:xfrm>
            <a:off x="1889760" y="194832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</a:rPr>
              <a:t>A hybrid AI-Blockchain smart grid monitoring system built on three tightly coupled layers: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7C8CF7C-7605-46C9-9088-AD725C7ADC8E}"/>
              </a:ext>
            </a:extLst>
          </p:cNvPr>
          <p:cNvSpPr/>
          <p:nvPr/>
        </p:nvSpPr>
        <p:spPr>
          <a:xfrm>
            <a:off x="1889760" y="2332373"/>
            <a:ext cx="84124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738AE71-31B2-4485-8937-DB9244032825}"/>
              </a:ext>
            </a:extLst>
          </p:cNvPr>
          <p:cNvSpPr/>
          <p:nvPr/>
        </p:nvSpPr>
        <p:spPr>
          <a:xfrm>
            <a:off x="2072640" y="2405525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B3D70A0-AB3F-4EBE-B5A7-67860AD18E5A}"/>
              </a:ext>
            </a:extLst>
          </p:cNvPr>
          <p:cNvSpPr/>
          <p:nvPr/>
        </p:nvSpPr>
        <p:spPr>
          <a:xfrm>
            <a:off x="2621280" y="2405525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Edge Intelligence Layer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3010CA-7612-4056-B4EC-173ABF824054}"/>
              </a:ext>
            </a:extLst>
          </p:cNvPr>
          <p:cNvSpPr/>
          <p:nvPr/>
        </p:nvSpPr>
        <p:spPr>
          <a:xfrm>
            <a:off x="6736080" y="2423813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— Core Innovation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2530F9-BE70-4941-B699-4A8AFE4BC07E}"/>
              </a:ext>
            </a:extLst>
          </p:cNvPr>
          <p:cNvSpPr/>
          <p:nvPr/>
        </p:nvSpPr>
        <p:spPr>
          <a:xfrm>
            <a:off x="9022080" y="2387237"/>
            <a:ext cx="1005840" cy="256032"/>
          </a:xfrm>
          <a:prstGeom prst="rect">
            <a:avLst/>
          </a:prstGeom>
          <a:solidFill>
            <a:srgbClr val="E05252">
              <a:alpha val="20000"/>
            </a:srgbClr>
          </a:solidFill>
          <a:ln/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B88E75A-65F0-4FE8-BBE9-03F40ADCCD23}"/>
              </a:ext>
            </a:extLst>
          </p:cNvPr>
          <p:cNvSpPr/>
          <p:nvPr/>
        </p:nvSpPr>
        <p:spPr>
          <a:xfrm>
            <a:off x="2621280" y="2734709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Isolation Forest + LSTM models detect voltage anomalies, energy theft patterns, and equipment faults in milliseconds — directly at the edge device, before data leaves the source.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71030F5D-C335-4F02-8352-A3E883CB2C41}"/>
              </a:ext>
            </a:extLst>
          </p:cNvPr>
          <p:cNvSpPr/>
          <p:nvPr/>
        </p:nvSpPr>
        <p:spPr>
          <a:xfrm>
            <a:off x="1889760" y="3493661"/>
            <a:ext cx="84124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79F2482-094F-43DC-813C-6DC098C7B65B}"/>
              </a:ext>
            </a:extLst>
          </p:cNvPr>
          <p:cNvSpPr/>
          <p:nvPr/>
        </p:nvSpPr>
        <p:spPr>
          <a:xfrm>
            <a:off x="2072640" y="3566813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9A1BA7C-C143-45F1-AFC4-D09073DA39C9}"/>
              </a:ext>
            </a:extLst>
          </p:cNvPr>
          <p:cNvSpPr/>
          <p:nvPr/>
        </p:nvSpPr>
        <p:spPr>
          <a:xfrm>
            <a:off x="2621280" y="3566813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Data Trust Layer</a:t>
            </a:r>
            <a:endParaRPr lang="en-US" sz="13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371F596F-4AB5-4633-8C72-A64149AEB8D6}"/>
              </a:ext>
            </a:extLst>
          </p:cNvPr>
          <p:cNvSpPr/>
          <p:nvPr/>
        </p:nvSpPr>
        <p:spPr>
          <a:xfrm>
            <a:off x="6736080" y="3585101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— TEE-Ready</a:t>
            </a:r>
            <a:endParaRPr lang="en-US" sz="10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CCCD748-04B9-4928-8E76-47EBBC557ED4}"/>
              </a:ext>
            </a:extLst>
          </p:cNvPr>
          <p:cNvSpPr/>
          <p:nvPr/>
        </p:nvSpPr>
        <p:spPr>
          <a:xfrm>
            <a:off x="9022080" y="3548525"/>
            <a:ext cx="1005840" cy="256032"/>
          </a:xfrm>
          <a:prstGeom prst="rect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4EC796C-0493-4DA7-9CD6-9D2CF2D1EADB}"/>
              </a:ext>
            </a:extLst>
          </p:cNvPr>
          <p:cNvSpPr/>
          <p:nvPr/>
        </p:nvSpPr>
        <p:spPr>
          <a:xfrm>
            <a:off x="2621280" y="3895997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Software-based validation verifies sensor data integrity before blockchain submission. TEE-ready design allows optional hardware-level trust anchoring without day-one hardware requirements.</a:t>
            </a:r>
            <a:endParaRPr lang="en-US" sz="100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AEBD77CE-4DA0-426B-9194-A6184869BEEE}"/>
              </a:ext>
            </a:extLst>
          </p:cNvPr>
          <p:cNvSpPr/>
          <p:nvPr/>
        </p:nvSpPr>
        <p:spPr>
          <a:xfrm>
            <a:off x="1889760" y="4654949"/>
            <a:ext cx="84124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F56F5EFB-A6CC-497E-860C-28238F610BB9}"/>
              </a:ext>
            </a:extLst>
          </p:cNvPr>
          <p:cNvSpPr/>
          <p:nvPr/>
        </p:nvSpPr>
        <p:spPr>
          <a:xfrm>
            <a:off x="2072640" y="4728101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⛓️</a:t>
            </a:r>
            <a:endParaRPr lang="en-US" sz="200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C379241A-2DC5-444D-87BB-DD576DE004AE}"/>
              </a:ext>
            </a:extLst>
          </p:cNvPr>
          <p:cNvSpPr/>
          <p:nvPr/>
        </p:nvSpPr>
        <p:spPr>
          <a:xfrm>
            <a:off x="2621280" y="4728101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Blockchain Trust Layer</a:t>
            </a:r>
            <a:endParaRPr lang="en-US" sz="13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B3F11172-A8A0-4964-B7D1-2C57F533260F}"/>
              </a:ext>
            </a:extLst>
          </p:cNvPr>
          <p:cNvSpPr/>
          <p:nvPr/>
        </p:nvSpPr>
        <p:spPr>
          <a:xfrm>
            <a:off x="6736080" y="4746389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— Purechain PoA²</a:t>
            </a:r>
            <a:endParaRPr lang="en-US" sz="1000" dirty="0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09BF0791-FBDD-4238-9BE0-02DFA466562A}"/>
              </a:ext>
            </a:extLst>
          </p:cNvPr>
          <p:cNvSpPr/>
          <p:nvPr/>
        </p:nvSpPr>
        <p:spPr>
          <a:xfrm>
            <a:off x="9022080" y="4709813"/>
            <a:ext cx="1005840" cy="256032"/>
          </a:xfrm>
          <a:prstGeom prst="rect">
            <a:avLst/>
          </a:prstGeom>
          <a:solidFill>
            <a:srgbClr val="6A1B9A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61D8AF92-DDFC-4A93-B1C0-1DBC2B3FA188}"/>
              </a:ext>
            </a:extLst>
          </p:cNvPr>
          <p:cNvSpPr/>
          <p:nvPr/>
        </p:nvSpPr>
        <p:spPr>
          <a:xfrm>
            <a:off x="2621280" y="5057285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Purechain's PoA² consensus creates an immutable record of verified data and fault events — enabling full forensic audit trails and tamper-proof accountability with &lt;2-3s finality.</a:t>
            </a:r>
            <a:endParaRPr lang="en-US" sz="10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1C9AB2B1-70FA-4D30-A013-5D92F7797FF7}"/>
              </a:ext>
            </a:extLst>
          </p:cNvPr>
          <p:cNvSpPr/>
          <p:nvPr/>
        </p:nvSpPr>
        <p:spPr>
          <a:xfrm>
            <a:off x="1832283" y="2327073"/>
            <a:ext cx="73152" cy="1024128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AFA06543-AD2A-4D28-833E-55C231C208FA}"/>
              </a:ext>
            </a:extLst>
          </p:cNvPr>
          <p:cNvSpPr/>
          <p:nvPr/>
        </p:nvSpPr>
        <p:spPr>
          <a:xfrm>
            <a:off x="1832283" y="3488361"/>
            <a:ext cx="73152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7E883057-CC09-4ACA-933E-DA4793141579}"/>
              </a:ext>
            </a:extLst>
          </p:cNvPr>
          <p:cNvSpPr/>
          <p:nvPr/>
        </p:nvSpPr>
        <p:spPr>
          <a:xfrm>
            <a:off x="1832283" y="4649649"/>
            <a:ext cx="73152" cy="10241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7CDDA87-6AC2-43F6-93CB-FD27E7EA744C}"/>
              </a:ext>
            </a:extLst>
          </p:cNvPr>
          <p:cNvSpPr/>
          <p:nvPr/>
        </p:nvSpPr>
        <p:spPr>
          <a:xfrm>
            <a:off x="9022080" y="2352265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</a:rPr>
              <a:t>Layer 1</a:t>
            </a:r>
            <a:endParaRPr lang="en-US" sz="9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23A1C6DC-CD0F-433B-8FDE-21EC4ED3FDE4}"/>
              </a:ext>
            </a:extLst>
          </p:cNvPr>
          <p:cNvSpPr/>
          <p:nvPr/>
        </p:nvSpPr>
        <p:spPr>
          <a:xfrm>
            <a:off x="9022080" y="3513553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</a:rPr>
              <a:t>Layer 2</a:t>
            </a:r>
            <a:endParaRPr lang="en-US" sz="9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2111E1A-0476-45AF-A290-D63F54915AAD}"/>
              </a:ext>
            </a:extLst>
          </p:cNvPr>
          <p:cNvSpPr/>
          <p:nvPr/>
        </p:nvSpPr>
        <p:spPr>
          <a:xfrm>
            <a:off x="9022080" y="467484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</a:rPr>
              <a:t>Layer 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13126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BB2F84-BDC7-FDFB-931A-A2A15B4D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C971F-DEE6-C04D-887D-3D4DAD7CB2F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8F841-D748-2A7A-C75A-C822EF3D0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305" y="1876287"/>
            <a:ext cx="5432681" cy="4364643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sz="2000" b="1" dirty="0">
                <a:solidFill>
                  <a:srgbClr val="141450"/>
                </a:solidFill>
                <a:latin typeface="Calibri"/>
              </a:rPr>
              <a:t>IoT / Data Layer</a:t>
            </a:r>
          </a:p>
          <a:p>
            <a:pPr marL="457200" indent="-457200" algn="just">
              <a:buChar char="•"/>
            </a:pPr>
            <a:r>
              <a:rPr lang="en-US" sz="1800" dirty="0">
                <a:solidFill>
                  <a:srgbClr val="444466"/>
                </a:solidFill>
                <a:latin typeface="Calibri"/>
              </a:rPr>
              <a:t>Smart meters (or simulated devices) measuring energy production, consumption, voltage, and current.</a:t>
            </a:r>
          </a:p>
          <a:p>
            <a:pPr algn="just">
              <a:buNone/>
            </a:pPr>
            <a:r>
              <a:rPr lang="en-US" sz="2000" b="1" dirty="0">
                <a:solidFill>
                  <a:srgbClr val="141450"/>
                </a:solidFill>
                <a:latin typeface="Calibri"/>
              </a:rPr>
              <a:t>Edge &amp; Middleware Layer</a:t>
            </a:r>
          </a:p>
          <a:p>
            <a:pPr marL="457200" indent="-457200" algn="just">
              <a:buChar char="•"/>
            </a:pPr>
            <a:r>
              <a:rPr lang="en-US" sz="1800" dirty="0">
                <a:solidFill>
                  <a:srgbClr val="444466"/>
                </a:solidFill>
                <a:latin typeface="Calibri"/>
              </a:rPr>
              <a:t>Built with Node.js / Python — performs data validation, AI-based fault detection, and data filtering.</a:t>
            </a:r>
          </a:p>
          <a:p>
            <a:pPr algn="just">
              <a:buNone/>
            </a:pPr>
            <a:r>
              <a:rPr lang="en-US" sz="2000" b="1" dirty="0">
                <a:solidFill>
                  <a:srgbClr val="141450"/>
                </a:solidFill>
                <a:latin typeface="Calibri"/>
              </a:rPr>
              <a:t>Storage Layer</a:t>
            </a:r>
          </a:p>
          <a:p>
            <a:pPr marL="457200" indent="-457200" algn="just">
              <a:buChar char="•"/>
            </a:pPr>
            <a:r>
              <a:rPr lang="en-US" sz="1800" dirty="0">
                <a:solidFill>
                  <a:srgbClr val="444466"/>
                </a:solidFill>
                <a:latin typeface="Calibri"/>
              </a:rPr>
              <a:t>IPFS (off-chain) stores full sensor data; blockchain (on-chain) stores hash + metadata. Achieves &gt;70% storage reduction.</a:t>
            </a:r>
          </a:p>
          <a:p>
            <a:pPr algn="just">
              <a:buNone/>
            </a:pPr>
            <a:r>
              <a:rPr lang="en-US" sz="2000" b="1" dirty="0">
                <a:solidFill>
                  <a:srgbClr val="141450"/>
                </a:solidFill>
                <a:latin typeface="Calibri"/>
              </a:rPr>
              <a:t>Blockchain Layer</a:t>
            </a:r>
          </a:p>
          <a:p>
            <a:pPr marL="457200" indent="-457200" algn="just">
              <a:buChar char="•"/>
            </a:pPr>
            <a:r>
              <a:rPr lang="en-US" sz="1800" dirty="0" err="1">
                <a:solidFill>
                  <a:srgbClr val="444466"/>
                </a:solidFill>
                <a:latin typeface="Calibri"/>
              </a:rPr>
              <a:t>Purechain</a:t>
            </a:r>
            <a:r>
              <a:rPr lang="en-US" sz="1800" dirty="0">
                <a:solidFill>
                  <a:srgbClr val="444466"/>
                </a:solidFill>
                <a:latin typeface="Calibri"/>
              </a:rPr>
              <a:t> PoA² handles transaction validation, consensus, and immutable recording with &lt;2-3s finality.</a:t>
            </a:r>
          </a:p>
          <a:p>
            <a:pPr algn="just">
              <a:buNone/>
            </a:pPr>
            <a:r>
              <a:rPr lang="en-US" sz="2000" b="1" dirty="0">
                <a:solidFill>
                  <a:srgbClr val="141450"/>
                </a:solidFill>
                <a:latin typeface="Calibri"/>
              </a:rPr>
              <a:t>Application Layer</a:t>
            </a:r>
          </a:p>
          <a:p>
            <a:pPr marL="457200" indent="-457200" algn="just">
              <a:buChar char="•"/>
            </a:pPr>
            <a:r>
              <a:rPr lang="en-US" sz="1800" dirty="0">
                <a:solidFill>
                  <a:srgbClr val="444466"/>
                </a:solidFill>
                <a:latin typeface="Calibri"/>
              </a:rPr>
              <a:t>Dashboard displaying energy usage, fault alerts, and historical data.</a:t>
            </a:r>
          </a:p>
          <a:p>
            <a:pPr algn="just"/>
            <a:endParaRPr lang="en-S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2EADD7-EAD0-8301-9896-2A94B306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dirty="0">
                <a:solidFill>
                  <a:srgbClr val="141450"/>
                </a:solidFill>
              </a:rPr>
              <a:t>القيمة التنافسية:</a:t>
            </a:r>
            <a:endParaRPr lang="en-SA" dirty="0">
              <a:solidFill>
                <a:srgbClr val="14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EA9815-A759-CD83-2CE7-8AB174B71594}"/>
              </a:ext>
            </a:extLst>
          </p:cNvPr>
          <p:cNvCxnSpPr>
            <a:cxnSpLocks/>
          </p:cNvCxnSpPr>
          <p:nvPr/>
        </p:nvCxnSpPr>
        <p:spPr>
          <a:xfrm>
            <a:off x="11157290" y="1700535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A1BE2A4-C2E2-4BBD-874D-D68F9E70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737" y="2084324"/>
            <a:ext cx="5432680" cy="373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50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5">
            <a:extLst>
              <a:ext uri="{FF2B5EF4-FFF2-40B4-BE49-F238E27FC236}">
                <a16:creationId xmlns:a16="http://schemas.microsoft.com/office/drawing/2014/main" id="{FFAF8031-0898-4B77-9F00-DE3567FA40C5}"/>
              </a:ext>
            </a:extLst>
          </p:cNvPr>
          <p:cNvSpPr/>
          <p:nvPr/>
        </p:nvSpPr>
        <p:spPr>
          <a:xfrm>
            <a:off x="4704056" y="3306745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10AFC7-80C6-A5D0-B413-971AE322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C971F-DEE6-C04D-887D-3D4DAD7CB2F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DEC25B-AE6B-BD99-6C30-82F13364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dirty="0">
                <a:solidFill>
                  <a:srgbClr val="141450"/>
                </a:solidFill>
              </a:rPr>
              <a:t>حجم السوق:</a:t>
            </a:r>
            <a:endParaRPr lang="en-SA" dirty="0">
              <a:solidFill>
                <a:srgbClr val="14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9BB4D-72F3-0638-62C3-AC38121373C5}"/>
              </a:ext>
            </a:extLst>
          </p:cNvPr>
          <p:cNvCxnSpPr>
            <a:cxnSpLocks/>
          </p:cNvCxnSpPr>
          <p:nvPr/>
        </p:nvCxnSpPr>
        <p:spPr>
          <a:xfrm>
            <a:off x="11157290" y="1700535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5">
            <a:extLst>
              <a:ext uri="{FF2B5EF4-FFF2-40B4-BE49-F238E27FC236}">
                <a16:creationId xmlns:a16="http://schemas.microsoft.com/office/drawing/2014/main" id="{2D1EEABB-F257-4802-9138-CB1020C096FE}"/>
              </a:ext>
            </a:extLst>
          </p:cNvPr>
          <p:cNvSpPr/>
          <p:nvPr/>
        </p:nvSpPr>
        <p:spPr>
          <a:xfrm>
            <a:off x="2374174" y="211226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$103.4B</a:t>
            </a:r>
            <a:endParaRPr lang="en-US" sz="4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0E839A1-93C6-4368-85C0-1E7AD6008E01}"/>
              </a:ext>
            </a:extLst>
          </p:cNvPr>
          <p:cNvSpPr/>
          <p:nvPr/>
        </p:nvSpPr>
        <p:spPr>
          <a:xfrm>
            <a:off x="2374174" y="2770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</a:rPr>
              <a:t>Global Smart Grid Market by 2030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FF4EED-1A33-475D-9CE3-AC425A677A8A}"/>
              </a:ext>
            </a:extLst>
          </p:cNvPr>
          <p:cNvSpPr/>
          <p:nvPr/>
        </p:nvSpPr>
        <p:spPr>
          <a:xfrm>
            <a:off x="5711734" y="22037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</a:rPr>
              <a:t>↑ 17.2% CAGR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141C5B4-F8E1-4359-8855-B0FC79BD33E0}"/>
              </a:ext>
            </a:extLst>
          </p:cNvPr>
          <p:cNvSpPr/>
          <p:nvPr/>
        </p:nvSpPr>
        <p:spPr>
          <a:xfrm>
            <a:off x="7037614" y="22494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</a:rPr>
              <a:t>from $33.9B in 2023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E86B8E-E657-4BFA-8A15-4B9B49246FDA}"/>
              </a:ext>
            </a:extLst>
          </p:cNvPr>
          <p:cNvSpPr/>
          <p:nvPr/>
        </p:nvSpPr>
        <p:spPr>
          <a:xfrm>
            <a:off x="2374174" y="3255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Grid Monitoring &amp; Faults</a:t>
            </a:r>
            <a:endParaRPr lang="en-US" sz="10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5629FE21-5E61-4CCA-BED9-3D4641AA10BD}"/>
              </a:ext>
            </a:extLst>
          </p:cNvPr>
          <p:cNvSpPr/>
          <p:nvPr/>
        </p:nvSpPr>
        <p:spPr>
          <a:xfrm>
            <a:off x="4705894" y="3310128"/>
            <a:ext cx="4659782" cy="16459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89F4FB59-0E1D-4E4F-B355-C1A842A5CFE5}"/>
              </a:ext>
            </a:extLst>
          </p:cNvPr>
          <p:cNvSpPr/>
          <p:nvPr/>
        </p:nvSpPr>
        <p:spPr>
          <a:xfrm>
            <a:off x="9552214" y="32552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</a:rPr>
              <a:t>$12.1B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AA44F78-14DE-4977-B758-A1251F06EBD2}"/>
              </a:ext>
            </a:extLst>
          </p:cNvPr>
          <p:cNvSpPr/>
          <p:nvPr/>
        </p:nvSpPr>
        <p:spPr>
          <a:xfrm>
            <a:off x="2374174" y="3639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AI in Energy</a:t>
            </a:r>
            <a:endParaRPr lang="en-US" sz="10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EE7D2F92-013B-43E8-82BA-5DD2048E726B}"/>
              </a:ext>
            </a:extLst>
          </p:cNvPr>
          <p:cNvSpPr/>
          <p:nvPr/>
        </p:nvSpPr>
        <p:spPr>
          <a:xfrm>
            <a:off x="4705894" y="3694176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E2E8AF43-538B-48C7-B035-8A76998AF5FF}"/>
              </a:ext>
            </a:extLst>
          </p:cNvPr>
          <p:cNvSpPr/>
          <p:nvPr/>
        </p:nvSpPr>
        <p:spPr>
          <a:xfrm>
            <a:off x="4705894" y="3694176"/>
            <a:ext cx="3043123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01077BD6-03AC-4E84-8979-B4D8D99CC000}"/>
              </a:ext>
            </a:extLst>
          </p:cNvPr>
          <p:cNvSpPr/>
          <p:nvPr/>
        </p:nvSpPr>
        <p:spPr>
          <a:xfrm>
            <a:off x="9552214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</a:rPr>
              <a:t>$7.9B</a:t>
            </a:r>
            <a:endParaRPr lang="en-US" sz="1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893FB71F-5AE9-4FFB-A70C-17CEEB4A5222}"/>
              </a:ext>
            </a:extLst>
          </p:cNvPr>
          <p:cNvSpPr/>
          <p:nvPr/>
        </p:nvSpPr>
        <p:spPr>
          <a:xfrm>
            <a:off x="2374174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Blockchain in Energy</a:t>
            </a:r>
            <a:endParaRPr lang="en-US" sz="10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CBF44C1D-63C3-4EF1-9334-BB98973AA350}"/>
              </a:ext>
            </a:extLst>
          </p:cNvPr>
          <p:cNvSpPr/>
          <p:nvPr/>
        </p:nvSpPr>
        <p:spPr>
          <a:xfrm>
            <a:off x="4705894" y="4078224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519342B0-56AC-4EAB-A68F-96C0463E1165}"/>
              </a:ext>
            </a:extLst>
          </p:cNvPr>
          <p:cNvSpPr/>
          <p:nvPr/>
        </p:nvSpPr>
        <p:spPr>
          <a:xfrm>
            <a:off x="4705894" y="4078224"/>
            <a:ext cx="2377440" cy="16459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AC72BE48-D6D0-4D04-8F2F-8818A7315C26}"/>
              </a:ext>
            </a:extLst>
          </p:cNvPr>
          <p:cNvSpPr/>
          <p:nvPr/>
        </p:nvSpPr>
        <p:spPr>
          <a:xfrm>
            <a:off x="9552214" y="4023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</a:rPr>
              <a:t>$6.2B</a:t>
            </a:r>
            <a:endParaRPr lang="en-US" sz="10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3D8C6390-B1D1-4CAB-95EA-E59A281615EC}"/>
              </a:ext>
            </a:extLst>
          </p:cNvPr>
          <p:cNvSpPr/>
          <p:nvPr/>
        </p:nvSpPr>
        <p:spPr>
          <a:xfrm>
            <a:off x="2374174" y="4407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Energy Theft Detection</a:t>
            </a:r>
            <a:endParaRPr lang="en-US" sz="10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9FD01104-F3F4-4202-A257-BC443993F9A9}"/>
              </a:ext>
            </a:extLst>
          </p:cNvPr>
          <p:cNvSpPr/>
          <p:nvPr/>
        </p:nvSpPr>
        <p:spPr>
          <a:xfrm>
            <a:off x="4705894" y="4462272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1FCBC2ED-DADF-4FEC-9D87-B03E1BEACB43}"/>
              </a:ext>
            </a:extLst>
          </p:cNvPr>
          <p:cNvSpPr/>
          <p:nvPr/>
        </p:nvSpPr>
        <p:spPr>
          <a:xfrm>
            <a:off x="4705894" y="4462272"/>
            <a:ext cx="1901952" cy="16459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D3E0C4FE-7B54-4499-8D6C-C6E8810683F6}"/>
              </a:ext>
            </a:extLst>
          </p:cNvPr>
          <p:cNvSpPr/>
          <p:nvPr/>
        </p:nvSpPr>
        <p:spPr>
          <a:xfrm>
            <a:off x="9552214" y="44074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</a:rPr>
              <a:t>$4.8B</a:t>
            </a:r>
            <a:endParaRPr lang="en-US" sz="10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ADEEE8F8-D53E-415E-9CB2-B6A359F8F94C}"/>
              </a:ext>
            </a:extLst>
          </p:cNvPr>
          <p:cNvSpPr/>
          <p:nvPr/>
        </p:nvSpPr>
        <p:spPr>
          <a:xfrm>
            <a:off x="2374174" y="4855464"/>
            <a:ext cx="4114800" cy="82296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60D2C1F-F1CE-47C7-AAC9-C74760236528}"/>
              </a:ext>
            </a:extLst>
          </p:cNvPr>
          <p:cNvSpPr/>
          <p:nvPr/>
        </p:nvSpPr>
        <p:spPr>
          <a:xfrm>
            <a:off x="2511334" y="4928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🏙 GCC &amp; MENA</a:t>
            </a:r>
            <a:endParaRPr lang="en-US" sz="10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548B4216-5F30-4A85-8AAC-19B2EEB5B789}"/>
              </a:ext>
            </a:extLst>
          </p:cNvPr>
          <p:cNvSpPr/>
          <p:nvPr/>
        </p:nvSpPr>
        <p:spPr>
          <a:xfrm>
            <a:off x="2511334" y="5148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Saudi Vision 2030 investments exceed $20B — A-Grid aligns directly with NEOM and SEC grid modernization.</a:t>
            </a:r>
            <a:endParaRPr lang="en-US" sz="90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94AEDDF0-368C-4F9C-A4A2-610889D15277}"/>
              </a:ext>
            </a:extLst>
          </p:cNvPr>
          <p:cNvSpPr/>
          <p:nvPr/>
        </p:nvSpPr>
        <p:spPr>
          <a:xfrm>
            <a:off x="6671854" y="4855464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5A8E50C2-2BDD-4DA2-BBFF-6FCECE363015}"/>
              </a:ext>
            </a:extLst>
          </p:cNvPr>
          <p:cNvSpPr/>
          <p:nvPr/>
        </p:nvSpPr>
        <p:spPr>
          <a:xfrm>
            <a:off x="6809014" y="4928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🌍 Global Drivers</a:t>
            </a:r>
            <a:endParaRPr lang="en-US" sz="10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57F210E-C134-464D-AB73-8219AFFE7C04}"/>
              </a:ext>
            </a:extLst>
          </p:cNvPr>
          <p:cNvSpPr/>
          <p:nvPr/>
        </p:nvSpPr>
        <p:spPr>
          <a:xfrm>
            <a:off x="6809014" y="5148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Energy digitalization mandates, renewable integration, and grid modernization programs worldwide.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018371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8D47F6-7091-30A6-FC2F-891C2FD0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C971F-DEE6-C04D-887D-3D4DAD7CB2F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DE3867-664A-D68B-A102-A559E478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dirty="0">
                <a:solidFill>
                  <a:srgbClr val="141450"/>
                </a:solidFill>
              </a:rPr>
              <a:t>المنافسين:</a:t>
            </a:r>
            <a:endParaRPr lang="en-SA" dirty="0">
              <a:solidFill>
                <a:srgbClr val="14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E8269E-217E-CFBA-26B7-0B28BE17381A}"/>
              </a:ext>
            </a:extLst>
          </p:cNvPr>
          <p:cNvCxnSpPr>
            <a:cxnSpLocks/>
          </p:cNvCxnSpPr>
          <p:nvPr/>
        </p:nvCxnSpPr>
        <p:spPr>
          <a:xfrm>
            <a:off x="11157290" y="1700535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">
            <a:extLst>
              <a:ext uri="{FF2B5EF4-FFF2-40B4-BE49-F238E27FC236}">
                <a16:creationId xmlns:a16="http://schemas.microsoft.com/office/drawing/2014/main" id="{1A59444E-572D-4A75-9E7B-40859EFB2F44}"/>
              </a:ext>
            </a:extLst>
          </p:cNvPr>
          <p:cNvSpPr txBox="1"/>
          <p:nvPr/>
        </p:nvSpPr>
        <p:spPr>
          <a:xfrm>
            <a:off x="457200" y="1700000"/>
            <a:ext cx="11353800" cy="3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00" dirty="0">
                <a:solidFill>
                  <a:srgbClr val="667799"/>
                </a:solidFill>
                <a:latin typeface="Calibri"/>
              </a:rPr>
              <a:t>A-Grid sits at the intersection of three markets — no single competitor covers all three layers simultaneously.</a:t>
            </a:r>
          </a:p>
        </p:txBody>
      </p:sp>
      <p:graphicFrame>
        <p:nvGraphicFramePr>
          <p:cNvPr id="9" name="CompetitorTable">
            <a:extLst>
              <a:ext uri="{FF2B5EF4-FFF2-40B4-BE49-F238E27FC236}">
                <a16:creationId xmlns:a16="http://schemas.microsoft.com/office/drawing/2014/main" id="{94FB74A3-F69F-4E9B-AD02-32842822C7F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150000"/>
          <a:ext cx="1135380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Competitor</a:t>
                      </a:r>
                    </a:p>
                  </a:txBody>
                  <a:tcPr>
                    <a:solidFill>
                      <a:srgbClr val="141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Edge AI</a:t>
                      </a:r>
                    </a:p>
                  </a:txBody>
                  <a:tcPr>
                    <a:solidFill>
                      <a:srgbClr val="141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Blockchain Trust</a:t>
                      </a:r>
                    </a:p>
                  </a:txBody>
                  <a:tcPr>
                    <a:solidFill>
                      <a:srgbClr val="141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Real-Time Faults</a:t>
                      </a:r>
                    </a:p>
                  </a:txBody>
                  <a:tcPr>
                    <a:solidFill>
                      <a:srgbClr val="1414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Data Validation</a:t>
                      </a:r>
                    </a:p>
                  </a:txBody>
                  <a:tcPr>
                    <a:solidFill>
                      <a:srgbClr val="1414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141450"/>
                          </a:solidFill>
                          <a:latin typeface="Calibri"/>
                        </a:rPr>
                        <a:t>ABB / Siemens / Schneider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C3333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C3333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A500"/>
                          </a:solidFill>
                          <a:latin typeface="Calibri"/>
                        </a:rPr>
                        <a:t>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C3333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141450"/>
                          </a:solidFill>
                          <a:latin typeface="Calibri"/>
                        </a:rPr>
                        <a:t>Power Ledger / Grid+ / WePower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C3333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2BD9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C3333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C3333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141450"/>
                          </a:solidFill>
                          <a:latin typeface="Calibri"/>
                        </a:rPr>
                        <a:t>Utilidata / AutoGrid / Awesense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2BD9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C3333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2BD9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0A500"/>
                          </a:solidFill>
                          <a:latin typeface="Calibri"/>
                        </a:rPr>
                        <a:t>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A-Grid (Our Solution)</a:t>
                      </a:r>
                    </a:p>
                  </a:txBody>
                  <a:tcPr>
                    <a:solidFill>
                      <a:srgbClr val="02BD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2BD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2BD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2BD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2BD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Legend">
            <a:extLst>
              <a:ext uri="{FF2B5EF4-FFF2-40B4-BE49-F238E27FC236}">
                <a16:creationId xmlns:a16="http://schemas.microsoft.com/office/drawing/2014/main" id="{29AFE092-04AB-45D8-92EA-E19535B76046}"/>
              </a:ext>
            </a:extLst>
          </p:cNvPr>
          <p:cNvSpPr txBox="1"/>
          <p:nvPr/>
        </p:nvSpPr>
        <p:spPr>
          <a:xfrm>
            <a:off x="457200" y="4970000"/>
            <a:ext cx="113538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>
                <a:solidFill>
                  <a:srgbClr val="02BD9C"/>
                </a:solidFill>
                <a:latin typeface="Calibri"/>
              </a:rPr>
              <a:t>✓ Yes</a:t>
            </a:r>
            <a:r>
              <a:rPr lang="en-US" sz="1100" dirty="0">
                <a:solidFill>
                  <a:srgbClr val="888888"/>
                </a:solidFill>
                <a:latin typeface="Calibri"/>
              </a:rPr>
              <a:t>     </a:t>
            </a:r>
            <a:r>
              <a:rPr lang="en-US" sz="1100" b="1" dirty="0">
                <a:solidFill>
                  <a:srgbClr val="CC3333"/>
                </a:solidFill>
                <a:latin typeface="Calibri"/>
              </a:rPr>
              <a:t>✕ No</a:t>
            </a:r>
            <a:r>
              <a:rPr lang="en-US" sz="1100" dirty="0">
                <a:solidFill>
                  <a:srgbClr val="888888"/>
                </a:solidFill>
                <a:latin typeface="Calibri"/>
              </a:rPr>
              <a:t>     </a:t>
            </a:r>
            <a:r>
              <a:rPr lang="en-US" sz="1100" b="1" dirty="0">
                <a:solidFill>
                  <a:srgbClr val="F0A500"/>
                </a:solidFill>
                <a:latin typeface="Calibri"/>
              </a:rPr>
              <a:t>∼ Partial</a:t>
            </a:r>
          </a:p>
        </p:txBody>
      </p:sp>
    </p:spTree>
    <p:extLst>
      <p:ext uri="{BB962C8B-B14F-4D97-AF65-F5344CB8AC3E}">
        <p14:creationId xmlns:p14="http://schemas.microsoft.com/office/powerpoint/2010/main" val="2482416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6A38-1BC7-DB03-C177-E4DA813C3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2">
            <a:extLst>
              <a:ext uri="{FF2B5EF4-FFF2-40B4-BE49-F238E27FC236}">
                <a16:creationId xmlns:a16="http://schemas.microsoft.com/office/drawing/2014/main" id="{5F2ECE95-C4C3-47BF-BFBE-5CCC4E1346F9}"/>
              </a:ext>
            </a:extLst>
          </p:cNvPr>
          <p:cNvSpPr/>
          <p:nvPr/>
        </p:nvSpPr>
        <p:spPr>
          <a:xfrm>
            <a:off x="7817540" y="2369419"/>
            <a:ext cx="260604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33848B-4576-F6BA-7528-8BB5F682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C971F-DEE6-C04D-887D-3D4DAD7CB2F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E253A1-89EB-52EB-7B0E-94FF53D50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dirty="0">
                <a:solidFill>
                  <a:srgbClr val="141450"/>
                </a:solidFill>
              </a:rPr>
              <a:t>الخطة المستقبلية:</a:t>
            </a:r>
            <a:endParaRPr lang="en-SA" dirty="0">
              <a:solidFill>
                <a:srgbClr val="14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BB73B3-CAC3-3D94-C4A0-BCB70607C896}"/>
              </a:ext>
            </a:extLst>
          </p:cNvPr>
          <p:cNvCxnSpPr>
            <a:cxnSpLocks/>
          </p:cNvCxnSpPr>
          <p:nvPr/>
        </p:nvCxnSpPr>
        <p:spPr>
          <a:xfrm>
            <a:off x="11157290" y="1700535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12">
            <a:extLst>
              <a:ext uri="{FF2B5EF4-FFF2-40B4-BE49-F238E27FC236}">
                <a16:creationId xmlns:a16="http://schemas.microsoft.com/office/drawing/2014/main" id="{775068BE-8634-4065-8954-C4E71C63AF04}"/>
              </a:ext>
            </a:extLst>
          </p:cNvPr>
          <p:cNvSpPr/>
          <p:nvPr/>
        </p:nvSpPr>
        <p:spPr>
          <a:xfrm>
            <a:off x="2153340" y="2382119"/>
            <a:ext cx="260604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B2BDC1-64B0-454D-86E8-3CB3656F90B8}"/>
              </a:ext>
            </a:extLst>
          </p:cNvPr>
          <p:cNvSpPr/>
          <p:nvPr/>
        </p:nvSpPr>
        <p:spPr>
          <a:xfrm>
            <a:off x="2315392" y="2524867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</a:rPr>
              <a:t>Year 1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B6706B-3F9C-4519-A0E9-0A675ECDACBA}"/>
              </a:ext>
            </a:extLst>
          </p:cNvPr>
          <p:cNvSpPr/>
          <p:nvPr/>
        </p:nvSpPr>
        <p:spPr>
          <a:xfrm>
            <a:off x="2287960" y="289062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/>
              <a:t>Prototype to Pilot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37011E9-0B5F-4F7F-902D-BAF9B7184B2F}"/>
              </a:ext>
            </a:extLst>
          </p:cNvPr>
          <p:cNvSpPr/>
          <p:nvPr/>
        </p:nvSpPr>
        <p:spPr>
          <a:xfrm>
            <a:off x="2315392" y="331125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/>
              <a:t>Edge AI + blockchain integration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251642-2F15-4FDC-BA65-1A4F9EF40604}"/>
              </a:ext>
            </a:extLst>
          </p:cNvPr>
          <p:cNvSpPr/>
          <p:nvPr/>
        </p:nvSpPr>
        <p:spPr>
          <a:xfrm>
            <a:off x="2315392" y="381417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/>
              <a:t>Pilot with KSA/GCC utility partner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73BBCFD-8531-4421-AB1E-67D28A15F860}"/>
              </a:ext>
            </a:extLst>
          </p:cNvPr>
          <p:cNvSpPr/>
          <p:nvPr/>
        </p:nvSpPr>
        <p:spPr>
          <a:xfrm>
            <a:off x="2315392" y="431709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/>
              <a:t>Publish benchmarks: latency, TPS, NTL accuracy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97CD5C6-75D0-4A9B-BB9F-69DBCDF8C8FC}"/>
              </a:ext>
            </a:extLst>
          </p:cNvPr>
          <p:cNvSpPr/>
          <p:nvPr/>
        </p:nvSpPr>
        <p:spPr>
          <a:xfrm>
            <a:off x="4985440" y="2369419"/>
            <a:ext cx="260604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5340225-E83D-45D4-A6D8-E40186BED13F}"/>
              </a:ext>
            </a:extLst>
          </p:cNvPr>
          <p:cNvSpPr/>
          <p:nvPr/>
        </p:nvSpPr>
        <p:spPr>
          <a:xfrm>
            <a:off x="5095168" y="289062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Commercialization</a:t>
            </a:r>
            <a:endParaRPr lang="en-US" sz="13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B313D82-2258-4E8B-BEB7-B784C72659F8}"/>
              </a:ext>
            </a:extLst>
          </p:cNvPr>
          <p:cNvSpPr/>
          <p:nvPr/>
        </p:nvSpPr>
        <p:spPr>
          <a:xfrm>
            <a:off x="5122600" y="331125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Launch Forensic-as-a-Service (FaaS)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8EC9CDB-0F87-45B9-84A3-1DC5A4B1C0EF}"/>
              </a:ext>
            </a:extLst>
          </p:cNvPr>
          <p:cNvSpPr/>
          <p:nvPr/>
        </p:nvSpPr>
        <p:spPr>
          <a:xfrm>
            <a:off x="5122600" y="381417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Energy Trust Score for prosumers</a:t>
            </a:r>
            <a:endParaRPr lang="en-US" sz="1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FCEC2C6D-E812-4AD7-AD24-EF2D4A236F9B}"/>
              </a:ext>
            </a:extLst>
          </p:cNvPr>
          <p:cNvSpPr/>
          <p:nvPr/>
        </p:nvSpPr>
        <p:spPr>
          <a:xfrm>
            <a:off x="5122600" y="431709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3+ MENA utility deployments</a:t>
            </a:r>
            <a:endParaRPr lang="en-US" sz="10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31335625-5FB5-4122-8E31-F522F21A1B56}"/>
              </a:ext>
            </a:extLst>
          </p:cNvPr>
          <p:cNvSpPr/>
          <p:nvPr/>
        </p:nvSpPr>
        <p:spPr>
          <a:xfrm>
            <a:off x="7929808" y="2524867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Year 4+</a:t>
            </a:r>
            <a:endParaRPr lang="en-US" sz="90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FDE44089-5C0F-4419-90CB-6B06CD434164}"/>
              </a:ext>
            </a:extLst>
          </p:cNvPr>
          <p:cNvSpPr/>
          <p:nvPr/>
        </p:nvSpPr>
        <p:spPr>
          <a:xfrm>
            <a:off x="7902376" y="289062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Scale &amp; Research</a:t>
            </a:r>
            <a:endParaRPr lang="en-US" sz="13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B377DFF4-2281-41E6-BB1F-50CDFAB68E06}"/>
              </a:ext>
            </a:extLst>
          </p:cNvPr>
          <p:cNvSpPr/>
          <p:nvPr/>
        </p:nvSpPr>
        <p:spPr>
          <a:xfrm>
            <a:off x="7929808" y="331125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Federated learning across grid nodes</a:t>
            </a:r>
            <a:endParaRPr lang="en-US" sz="1000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EEA249C4-FC14-47FE-9340-7FB23C5050E7}"/>
              </a:ext>
            </a:extLst>
          </p:cNvPr>
          <p:cNvSpPr/>
          <p:nvPr/>
        </p:nvSpPr>
        <p:spPr>
          <a:xfrm>
            <a:off x="7929808" y="381417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Hardware TEE integration</a:t>
            </a:r>
            <a:endParaRPr lang="en-US" sz="10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7840AD74-A7E5-4A6D-BA8C-CDFD13562FD4}"/>
              </a:ext>
            </a:extLst>
          </p:cNvPr>
          <p:cNvSpPr/>
          <p:nvPr/>
        </p:nvSpPr>
        <p:spPr>
          <a:xfrm>
            <a:off x="7929808" y="4317091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IEEE &amp; IEC standardization</a:t>
            </a:r>
            <a:endParaRPr lang="en-US" sz="1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9CC0B2CE-8FCD-43D0-9603-BFB66745B65A}"/>
              </a:ext>
            </a:extLst>
          </p:cNvPr>
          <p:cNvSpPr/>
          <p:nvPr/>
        </p:nvSpPr>
        <p:spPr>
          <a:xfrm>
            <a:off x="5171591" y="2523089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</a:rPr>
              <a:t>Year 2–3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646631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F1D3-E737-3FB1-D96C-435FACAD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BD123-44C4-D705-1023-F8AD5ABB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C971F-DEE6-C04D-887D-3D4DAD7CB2F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58AC8C-F018-75A0-ECAD-B69F686A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A" dirty="0">
                <a:solidFill>
                  <a:srgbClr val="141450"/>
                </a:solidFill>
              </a:rPr>
              <a:t>الفريق:</a:t>
            </a:r>
            <a:endParaRPr lang="en-SA" dirty="0">
              <a:solidFill>
                <a:srgbClr val="14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8E5193-8883-20F7-C65B-1903E87EBF59}"/>
              </a:ext>
            </a:extLst>
          </p:cNvPr>
          <p:cNvCxnSpPr>
            <a:cxnSpLocks/>
          </p:cNvCxnSpPr>
          <p:nvPr/>
        </p:nvCxnSpPr>
        <p:spPr>
          <a:xfrm>
            <a:off x="11157290" y="1700535"/>
            <a:ext cx="409723" cy="0"/>
          </a:xfrm>
          <a:prstGeom prst="line">
            <a:avLst/>
          </a:prstGeom>
          <a:ln w="28575">
            <a:solidFill>
              <a:srgbClr val="02B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hape 5">
            <a:extLst>
              <a:ext uri="{FF2B5EF4-FFF2-40B4-BE49-F238E27FC236}">
                <a16:creationId xmlns:a16="http://schemas.microsoft.com/office/drawing/2014/main" id="{AF44B1FB-66C9-4798-B11F-33BF4E555484}"/>
              </a:ext>
            </a:extLst>
          </p:cNvPr>
          <p:cNvSpPr/>
          <p:nvPr/>
        </p:nvSpPr>
        <p:spPr>
          <a:xfrm>
            <a:off x="2011680" y="2221992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01150C9C-C9E2-4331-BC60-2A47307EA91F}"/>
              </a:ext>
            </a:extLst>
          </p:cNvPr>
          <p:cNvSpPr/>
          <p:nvPr/>
        </p:nvSpPr>
        <p:spPr>
          <a:xfrm>
            <a:off x="2148840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AA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13D0299-1381-4CEA-8890-182516476CED}"/>
              </a:ext>
            </a:extLst>
          </p:cNvPr>
          <p:cNvSpPr/>
          <p:nvPr/>
        </p:nvSpPr>
        <p:spPr>
          <a:xfrm>
            <a:off x="2926080" y="23865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Ali Ahmad Bukar</a:t>
            </a:r>
            <a:endParaRPr lang="en-US" sz="12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13228528-6215-41D1-A41B-AFCE221C7FBE}"/>
              </a:ext>
            </a:extLst>
          </p:cNvPr>
          <p:cNvSpPr/>
          <p:nvPr/>
        </p:nvSpPr>
        <p:spPr>
          <a:xfrm>
            <a:off x="2926080" y="26791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0A896"/>
                </a:solidFill>
              </a:rPr>
              <a:t>BACKEND &amp; SYSTEMS ENGINEER</a:t>
            </a:r>
            <a:endParaRPr lang="en-US" sz="8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F49BC2FA-6D28-4443-9448-821287E3E5DA}"/>
              </a:ext>
            </a:extLst>
          </p:cNvPr>
          <p:cNvSpPr/>
          <p:nvPr/>
        </p:nvSpPr>
        <p:spPr>
          <a:xfrm>
            <a:off x="2148840" y="302666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Core architecture, backend infrastructure, and AI-blockchain integration.</a:t>
            </a:r>
            <a:endParaRPr lang="en-US" sz="10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1DD583EA-1956-4194-8FA9-BD5A2494F3BD}"/>
              </a:ext>
            </a:extLst>
          </p:cNvPr>
          <p:cNvSpPr/>
          <p:nvPr/>
        </p:nvSpPr>
        <p:spPr>
          <a:xfrm>
            <a:off x="6309360" y="2221992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0F7803DE-E93F-4DBD-9004-63DBC6A966B3}"/>
              </a:ext>
            </a:extLst>
          </p:cNvPr>
          <p:cNvSpPr/>
          <p:nvPr/>
        </p:nvSpPr>
        <p:spPr>
          <a:xfrm>
            <a:off x="6446520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</a:rPr>
              <a:t>AH</a:t>
            </a:r>
            <a:endParaRPr lang="en-US" sz="14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D1C0B327-3567-4D3B-9DA8-C2C38DFEDD84}"/>
              </a:ext>
            </a:extLst>
          </p:cNvPr>
          <p:cNvSpPr/>
          <p:nvPr/>
        </p:nvSpPr>
        <p:spPr>
          <a:xfrm>
            <a:off x="7223760" y="23865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Alhassan Hashim</a:t>
            </a:r>
            <a:endParaRPr lang="en-US" sz="1200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0987E830-E130-4B7B-BE88-33888303DA11}"/>
              </a:ext>
            </a:extLst>
          </p:cNvPr>
          <p:cNvSpPr/>
          <p:nvPr/>
        </p:nvSpPr>
        <p:spPr>
          <a:xfrm>
            <a:off x="7223760" y="26791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A1B9A"/>
                </a:solidFill>
              </a:rPr>
              <a:t>BLOCKCHAIN ARCHITECT</a:t>
            </a:r>
            <a:endParaRPr lang="en-US" sz="8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72ACAEC5-4D3A-4D8C-A493-3FCD2B819C90}"/>
              </a:ext>
            </a:extLst>
          </p:cNvPr>
          <p:cNvSpPr/>
          <p:nvPr/>
        </p:nvSpPr>
        <p:spPr>
          <a:xfrm>
            <a:off x="6446520" y="302666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Designs PoA² consensus on Purechain — immutable fault recording and audit trails.</a:t>
            </a:r>
            <a:endParaRPr lang="en-US" sz="100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5D10BC29-B18F-4C47-B62C-001D547710CC}"/>
              </a:ext>
            </a:extLst>
          </p:cNvPr>
          <p:cNvSpPr/>
          <p:nvPr/>
        </p:nvSpPr>
        <p:spPr>
          <a:xfrm>
            <a:off x="2011680" y="4050792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F7A1C43B-79BB-47E4-BE43-B695C7606D7F}"/>
              </a:ext>
            </a:extLst>
          </p:cNvPr>
          <p:cNvSpPr/>
          <p:nvPr/>
        </p:nvSpPr>
        <p:spPr>
          <a:xfrm>
            <a:off x="2148840" y="4187952"/>
            <a:ext cx="640080" cy="640080"/>
          </a:xfrm>
          <a:prstGeom prst="ellipse">
            <a:avLst/>
          </a:prstGeom>
          <a:solidFill>
            <a:srgbClr val="FFE4E4"/>
          </a:solidFill>
          <a:ln/>
        </p:spPr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D486AA66-B426-4ED4-94C2-32F797247A7F}"/>
              </a:ext>
            </a:extLst>
          </p:cNvPr>
          <p:cNvSpPr/>
          <p:nvPr/>
        </p:nvSpPr>
        <p:spPr>
          <a:xfrm>
            <a:off x="2926080" y="4215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Umar Faruk Ibrahim</a:t>
            </a:r>
            <a:endParaRPr lang="en-US" sz="12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24933198-DE19-403A-BCFA-A920CDA134FC}"/>
              </a:ext>
            </a:extLst>
          </p:cNvPr>
          <p:cNvSpPr/>
          <p:nvPr/>
        </p:nvSpPr>
        <p:spPr>
          <a:xfrm>
            <a:off x="2926080" y="45079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E05252"/>
                </a:solidFill>
              </a:rPr>
              <a:t>AI &amp; ML ENGINEER</a:t>
            </a:r>
            <a:endParaRPr lang="en-US" sz="800" dirty="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5FD1A5AA-851B-4C8E-A133-6021CA2CBF6D}"/>
              </a:ext>
            </a:extLst>
          </p:cNvPr>
          <p:cNvSpPr/>
          <p:nvPr/>
        </p:nvSpPr>
        <p:spPr>
          <a:xfrm>
            <a:off x="2148840" y="485546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Trains Isolation Forest + LSTM models for millisecond anomaly detection at the edge.</a:t>
            </a:r>
            <a:endParaRPr lang="en-US" sz="1000" dirty="0"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C1B8039B-9371-444D-AF7D-CDDDFC50E19E}"/>
              </a:ext>
            </a:extLst>
          </p:cNvPr>
          <p:cNvSpPr/>
          <p:nvPr/>
        </p:nvSpPr>
        <p:spPr>
          <a:xfrm>
            <a:off x="6309360" y="4050792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F967B314-03C6-457E-917E-298A0FE015C4}"/>
              </a:ext>
            </a:extLst>
          </p:cNvPr>
          <p:cNvSpPr/>
          <p:nvPr/>
        </p:nvSpPr>
        <p:spPr>
          <a:xfrm>
            <a:off x="6446520" y="4187952"/>
            <a:ext cx="640080" cy="640080"/>
          </a:xfrm>
          <a:prstGeom prst="ellipse">
            <a:avLst/>
          </a:prstGeom>
          <a:solidFill>
            <a:srgbClr val="FFF3E0"/>
          </a:solidFill>
          <a:ln/>
        </p:spPr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4D768C43-2853-4BB0-AD35-52A1C626015E}"/>
              </a:ext>
            </a:extLst>
          </p:cNvPr>
          <p:cNvSpPr/>
          <p:nvPr/>
        </p:nvSpPr>
        <p:spPr>
          <a:xfrm>
            <a:off x="7223760" y="4215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Md Shakil Hossain</a:t>
            </a:r>
            <a:endParaRPr lang="en-US" sz="1200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AE9A7298-5955-47A9-898B-82ED6AD3B22D}"/>
              </a:ext>
            </a:extLst>
          </p:cNvPr>
          <p:cNvSpPr/>
          <p:nvPr/>
        </p:nvSpPr>
        <p:spPr>
          <a:xfrm>
            <a:off x="7223760" y="45079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0A500"/>
                </a:solidFill>
              </a:rPr>
              <a:t>DATA &amp; VALIDATION ENGINEER</a:t>
            </a:r>
            <a:endParaRPr lang="en-US" sz="8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50905B0F-0B74-4A20-95E1-373F9E3C26FA}"/>
              </a:ext>
            </a:extLst>
          </p:cNvPr>
          <p:cNvSpPr/>
          <p:nvPr/>
        </p:nvSpPr>
        <p:spPr>
          <a:xfrm>
            <a:off x="6446520" y="485546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Data trust pipeline, TEE-ready design, and IPFS-blockchain hybrid storage (&gt;70% reduction).</a:t>
            </a:r>
            <a:endParaRPr lang="en-US" sz="1000" dirty="0"/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288F4A18-7715-46A3-96E3-8B891D23479D}"/>
              </a:ext>
            </a:extLst>
          </p:cNvPr>
          <p:cNvSpPr/>
          <p:nvPr/>
        </p:nvSpPr>
        <p:spPr>
          <a:xfrm>
            <a:off x="2148840" y="2386584"/>
            <a:ext cx="640080" cy="640080"/>
          </a:xfrm>
          <a:prstGeom prst="ellipse">
            <a:avLst/>
          </a:prstGeom>
          <a:solidFill>
            <a:srgbClr val="E0F5F3"/>
          </a:solidFill>
          <a:ln/>
        </p:spPr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662FCBB8-507D-4059-8B3C-ABC536E8EF92}"/>
              </a:ext>
            </a:extLst>
          </p:cNvPr>
          <p:cNvSpPr/>
          <p:nvPr/>
        </p:nvSpPr>
        <p:spPr>
          <a:xfrm>
            <a:off x="6492240" y="2414016"/>
            <a:ext cx="640080" cy="640080"/>
          </a:xfrm>
          <a:prstGeom prst="ellipse">
            <a:avLst/>
          </a:prstGeom>
          <a:solidFill>
            <a:srgbClr val="EDE7F6"/>
          </a:solidFill>
          <a:ln/>
        </p:spPr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7E3841EB-3F78-4376-A2CB-B5064008E20B}"/>
              </a:ext>
            </a:extLst>
          </p:cNvPr>
          <p:cNvSpPr/>
          <p:nvPr/>
        </p:nvSpPr>
        <p:spPr>
          <a:xfrm>
            <a:off x="214884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AA</a:t>
            </a:r>
            <a:endParaRPr lang="en-US" sz="1400" dirty="0"/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EEEBC6C9-8D50-4775-AFB3-5E248DB9DB89}"/>
              </a:ext>
            </a:extLst>
          </p:cNvPr>
          <p:cNvSpPr/>
          <p:nvPr/>
        </p:nvSpPr>
        <p:spPr>
          <a:xfrm>
            <a:off x="644652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</a:rPr>
              <a:t>AH</a:t>
            </a:r>
            <a:endParaRPr lang="en-US" sz="140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B55B45AB-73A5-4CC8-8A33-72866D4F3DEF}"/>
              </a:ext>
            </a:extLst>
          </p:cNvPr>
          <p:cNvSpPr/>
          <p:nvPr/>
        </p:nvSpPr>
        <p:spPr>
          <a:xfrm>
            <a:off x="2148840" y="4224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</a:rPr>
              <a:t>UF</a:t>
            </a:r>
            <a:endParaRPr lang="en-US" sz="1400" dirty="0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5DED1757-6504-4B6E-9AD5-6037315E763B}"/>
              </a:ext>
            </a:extLst>
          </p:cNvPr>
          <p:cNvSpPr/>
          <p:nvPr/>
        </p:nvSpPr>
        <p:spPr>
          <a:xfrm>
            <a:off x="6446520" y="4224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</a:rPr>
              <a:t>MS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09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77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376</TotalTime>
  <Words>601</Words>
  <Application>Microsoft Office PowerPoint</Application>
  <PresentationFormat>Widescreen</PresentationFormat>
  <Paragraphs>136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Office 2013 - 2022 Theme</vt:lpstr>
      <vt:lpstr>PowerPoint Presentation</vt:lpstr>
      <vt:lpstr>المشكلة:</vt:lpstr>
      <vt:lpstr>الحل:</vt:lpstr>
      <vt:lpstr>القيمة التنافسية:</vt:lpstr>
      <vt:lpstr>حجم السوق:</vt:lpstr>
      <vt:lpstr>المنافسين:</vt:lpstr>
      <vt:lpstr>الخطة المستقبلية:</vt:lpstr>
      <vt:lpstr>الفريق: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 Alhmoudi</dc:creator>
  <cp:lastModifiedBy>Md. Shakil Hossain</cp:lastModifiedBy>
  <cp:revision>38</cp:revision>
  <dcterms:created xsi:type="dcterms:W3CDTF">2019-08-29T11:31:05Z</dcterms:created>
  <dcterms:modified xsi:type="dcterms:W3CDTF">2026-05-16T13:02:21Z</dcterms:modified>
</cp:coreProperties>
</file>