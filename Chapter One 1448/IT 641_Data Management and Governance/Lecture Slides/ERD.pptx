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400" r:id="rId34"/>
    <p:sldId id="398" r:id="rId35"/>
    <p:sldId id="290" r:id="rId36"/>
    <p:sldId id="291" r:id="rId37"/>
    <p:sldId id="292" r:id="rId38"/>
    <p:sldId id="293" r:id="rId39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06" d="100"/>
          <a:sy n="206" d="100"/>
        </p:scale>
        <p:origin x="1950" y="1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2613025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8573CBD4-2E5B-4015-BE52-9A6A67F77B6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2613025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9A9C32B1-0B97-4B14-9712-65D8C7909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39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9C32B1-0B97-4B14-9712-65D8C7909AE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13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933CFBDF-B871-494F-7AA0-82CA2B071E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72D97DA-971E-4426-9010-C551FAE43A2D}" type="slidenum">
              <a:rPr lang="en-CA" altLang="en-US" sz="1200">
                <a:latin typeface="Tahoma" panose="020B0604030504040204" pitchFamily="34" charset="0"/>
              </a:rPr>
              <a:pPr/>
              <a:t>33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9DA3F78A-1CFF-2FB1-AA4A-97949786DF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AC205A54-096D-01A8-58A1-D704F4DD95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FD5D05A1-9FFB-0469-A04A-EE8151D201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8BA71C-2EFD-4AC7-9DBD-16DF439FFC3B}" type="slidenum">
              <a:rPr lang="en-CA" altLang="en-US" sz="1200">
                <a:latin typeface="Tahoma" panose="020B0604030504040204" pitchFamily="34" charset="0"/>
              </a:rPr>
              <a:pPr/>
              <a:t>34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50B37EDE-DA60-1A10-943E-12A20BD544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50CEB9FA-E119-57B8-0039-E4C72A328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88003" y="0"/>
            <a:ext cx="720000" cy="3456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14"/>
            <a:ext cx="4419498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1897" y="1240013"/>
            <a:ext cx="4326305" cy="866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slide" Target="slide1.xml"/><Relationship Id="rId7" Type="http://schemas.openxmlformats.org/officeDocument/2006/relationships/slide" Target="slide28.xml"/><Relationship Id="rId2" Type="http://schemas.openxmlformats.org/officeDocument/2006/relationships/slide" Target="slide3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slide" Target="slide7.xml"/><Relationship Id="rId10" Type="http://schemas.openxmlformats.org/officeDocument/2006/relationships/hyperlink" Target="http://www.dcs.bbk.ac.uk/~ptw/" TargetMode="External"/><Relationship Id="rId4" Type="http://schemas.openxmlformats.org/officeDocument/2006/relationships/slide" Target="slide6.xml"/><Relationship Id="rId9" Type="http://schemas.openxmlformats.org/officeDocument/2006/relationships/hyperlink" Target="mailto:ptw@dcs.bbk.ac.uk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" Target="slide6.xml"/><Relationship Id="rId7" Type="http://schemas.openxmlformats.org/officeDocument/2006/relationships/slide" Target="slide31.xml"/><Relationship Id="rId12" Type="http://schemas.openxmlformats.org/officeDocument/2006/relationships/image" Target="../media/image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11" Type="http://schemas.openxmlformats.org/officeDocument/2006/relationships/image" Target="../media/image8.png"/><Relationship Id="rId5" Type="http://schemas.openxmlformats.org/officeDocument/2006/relationships/slide" Target="slide11.xml"/><Relationship Id="rId10" Type="http://schemas.openxmlformats.org/officeDocument/2006/relationships/image" Target="../media/image7.png"/><Relationship Id="rId4" Type="http://schemas.openxmlformats.org/officeDocument/2006/relationships/slide" Target="slide7.xml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10" Type="http://schemas.openxmlformats.org/officeDocument/2006/relationships/slide" Target="slide17.xml"/><Relationship Id="rId4" Type="http://schemas.openxmlformats.org/officeDocument/2006/relationships/slide" Target="slide7.xml"/><Relationship Id="rId9" Type="http://schemas.openxmlformats.org/officeDocument/2006/relationships/slide" Target="slide1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slide" Target="slide6.xml"/><Relationship Id="rId7" Type="http://schemas.openxmlformats.org/officeDocument/2006/relationships/slide" Target="slide31.xml"/><Relationship Id="rId12" Type="http://schemas.openxmlformats.org/officeDocument/2006/relationships/image" Target="../media/image1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11" Type="http://schemas.openxmlformats.org/officeDocument/2006/relationships/image" Target="../media/image14.png"/><Relationship Id="rId5" Type="http://schemas.openxmlformats.org/officeDocument/2006/relationships/slide" Target="slide11.xml"/><Relationship Id="rId10" Type="http://schemas.openxmlformats.org/officeDocument/2006/relationships/image" Target="../media/image13.png"/><Relationship Id="rId4" Type="http://schemas.openxmlformats.org/officeDocument/2006/relationships/slide" Target="slide7.xml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Relationship Id="rId9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slide" Target="slide6.xml"/><Relationship Id="rId7" Type="http://schemas.openxmlformats.org/officeDocument/2006/relationships/slide" Target="slide31.xml"/><Relationship Id="rId12" Type="http://schemas.openxmlformats.org/officeDocument/2006/relationships/image" Target="../media/image1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11" Type="http://schemas.openxmlformats.org/officeDocument/2006/relationships/image" Target="../media/image14.png"/><Relationship Id="rId5" Type="http://schemas.openxmlformats.org/officeDocument/2006/relationships/slide" Target="slide11.xml"/><Relationship Id="rId10" Type="http://schemas.openxmlformats.org/officeDocument/2006/relationships/image" Target="../media/image13.png"/><Relationship Id="rId4" Type="http://schemas.openxmlformats.org/officeDocument/2006/relationships/slide" Target="slide7.xml"/><Relationship Id="rId9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Relationship Id="rId9" Type="http://schemas.openxmlformats.org/officeDocument/2006/relationships/slide" Target="slide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slide" Target="slide1.xml"/><Relationship Id="rId7" Type="http://schemas.openxmlformats.org/officeDocument/2006/relationships/slide" Target="slide2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slide" Target="slide7.xml"/><Relationship Id="rId10" Type="http://schemas.openxmlformats.org/officeDocument/2006/relationships/image" Target="../media/image24.png"/><Relationship Id="rId4" Type="http://schemas.openxmlformats.org/officeDocument/2006/relationships/slide" Target="slide6.xml"/><Relationship Id="rId9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6.png"/><Relationship Id="rId21" Type="http://schemas.openxmlformats.org/officeDocument/2006/relationships/image" Target="../media/image41.png"/><Relationship Id="rId34" Type="http://schemas.openxmlformats.org/officeDocument/2006/relationships/image" Target="../media/image54.png"/><Relationship Id="rId7" Type="http://schemas.openxmlformats.org/officeDocument/2006/relationships/slide" Target="slide31.xml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33" Type="http://schemas.openxmlformats.org/officeDocument/2006/relationships/image" Target="../media/image53.png"/><Relationship Id="rId2" Type="http://schemas.openxmlformats.org/officeDocument/2006/relationships/slide" Target="slide1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32" Type="http://schemas.openxmlformats.org/officeDocument/2006/relationships/image" Target="../media/image52.png"/><Relationship Id="rId37" Type="http://schemas.openxmlformats.org/officeDocument/2006/relationships/image" Target="../media/image57.png"/><Relationship Id="rId5" Type="http://schemas.openxmlformats.org/officeDocument/2006/relationships/slide" Target="slide11.xml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36" Type="http://schemas.openxmlformats.org/officeDocument/2006/relationships/image" Target="../media/image56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31" Type="http://schemas.openxmlformats.org/officeDocument/2006/relationships/image" Target="../media/image51.png"/><Relationship Id="rId4" Type="http://schemas.openxmlformats.org/officeDocument/2006/relationships/slide" Target="slide7.xml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50.png"/><Relationship Id="rId35" Type="http://schemas.openxmlformats.org/officeDocument/2006/relationships/image" Target="../media/image55.png"/><Relationship Id="rId8" Type="http://schemas.openxmlformats.org/officeDocument/2006/relationships/image" Target="../media/image28.png"/><Relationship Id="rId3" Type="http://schemas.openxmlformats.org/officeDocument/2006/relationships/slide" Target="slide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g"/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3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8.xml"/><Relationship Id="rId5" Type="http://schemas.openxmlformats.org/officeDocument/2006/relationships/slide" Target="slide11.xml"/><Relationship Id="rId4" Type="http://schemas.openxmlformats.org/officeDocument/2006/relationships/slide" Target="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8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8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24460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The </a:t>
            </a:r>
            <a:r>
              <a:rPr spc="10" dirty="0"/>
              <a:t>Entity </a:t>
            </a:r>
            <a:r>
              <a:rPr spc="15" dirty="0"/>
              <a:t>Relationship</a:t>
            </a:r>
            <a:r>
              <a:rPr spc="-40" dirty="0"/>
              <a:t> </a:t>
            </a:r>
            <a:r>
              <a:rPr spc="15" dirty="0"/>
              <a:t>Model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1960" y="1071382"/>
            <a:ext cx="3399154" cy="11341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</a:rPr>
              <a:t>An </a:t>
            </a:r>
            <a:r>
              <a:rPr sz="1100" spc="-15" dirty="0">
                <a:latin typeface="Arial"/>
                <a:cs typeface="Arial"/>
              </a:rPr>
              <a:t>example </a:t>
            </a:r>
            <a:r>
              <a:rPr sz="1100" spc="-5" dirty="0">
                <a:latin typeface="Arial"/>
                <a:cs typeface="Arial"/>
              </a:rPr>
              <a:t>of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conceptual </a:t>
            </a:r>
            <a:r>
              <a:rPr sz="1100" spc="-10" dirty="0">
                <a:latin typeface="Arial"/>
                <a:cs typeface="Arial"/>
              </a:rPr>
              <a:t>(high-level) </a:t>
            </a:r>
            <a:r>
              <a:rPr sz="1100" spc="-5" dirty="0">
                <a:latin typeface="Arial"/>
                <a:cs typeface="Arial"/>
              </a:rPr>
              <a:t>data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model</a:t>
            </a:r>
            <a:endParaRPr sz="1100">
              <a:latin typeface="Arial"/>
              <a:cs typeface="Arial"/>
            </a:endParaRPr>
          </a:p>
          <a:p>
            <a:pPr marL="214629" marR="27876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Useful </a:t>
            </a:r>
            <a:r>
              <a:rPr sz="1100" spc="-20" dirty="0">
                <a:latin typeface="Arial"/>
                <a:cs typeface="Arial"/>
              </a:rPr>
              <a:t>for </a:t>
            </a:r>
            <a:r>
              <a:rPr sz="1100" spc="-5" dirty="0">
                <a:latin typeface="Arial"/>
                <a:cs typeface="Arial"/>
              </a:rPr>
              <a:t>design </a:t>
            </a:r>
            <a:r>
              <a:rPr sz="1100" spc="-15" dirty="0">
                <a:latin typeface="Arial"/>
                <a:cs typeface="Arial"/>
              </a:rPr>
              <a:t>before </a:t>
            </a:r>
            <a:r>
              <a:rPr sz="1100" spc="-10" dirty="0">
                <a:latin typeface="Arial"/>
                <a:cs typeface="Arial"/>
              </a:rPr>
              <a:t>moving </a:t>
            </a:r>
            <a:r>
              <a:rPr sz="1100" spc="-5" dirty="0">
                <a:latin typeface="Arial"/>
                <a:cs typeface="Arial"/>
              </a:rPr>
              <a:t>to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15" dirty="0">
                <a:latin typeface="Arial"/>
                <a:cs typeface="Arial"/>
              </a:rPr>
              <a:t>lower </a:t>
            </a:r>
            <a:r>
              <a:rPr sz="1100" spc="-20" dirty="0">
                <a:latin typeface="Arial"/>
                <a:cs typeface="Arial"/>
              </a:rPr>
              <a:t>level  </a:t>
            </a:r>
            <a:r>
              <a:rPr sz="1100" spc="-10" dirty="0">
                <a:latin typeface="Arial"/>
                <a:cs typeface="Arial"/>
              </a:rPr>
              <a:t>model (e.g.</a:t>
            </a:r>
            <a:r>
              <a:rPr sz="1100" spc="-5" dirty="0">
                <a:latin typeface="Arial"/>
                <a:cs typeface="Arial"/>
              </a:rPr>
              <a:t> relational)</a:t>
            </a:r>
            <a:endParaRPr sz="1100">
              <a:latin typeface="Arial"/>
              <a:cs typeface="Arial"/>
            </a:endParaRPr>
          </a:p>
          <a:p>
            <a:pPr marL="214629" indent="-17716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Alternatives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include</a:t>
            </a:r>
            <a:endParaRPr sz="1100">
              <a:latin typeface="Arial"/>
              <a:cs typeface="Arial"/>
            </a:endParaRPr>
          </a:p>
          <a:p>
            <a:pPr marL="492125" lvl="1" indent="-168275">
              <a:lnSpc>
                <a:spcPts val="1200"/>
              </a:lnSpc>
              <a:spcBef>
                <a:spcPts val="175"/>
              </a:spcBef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spc="-5" dirty="0">
                <a:latin typeface="Arial"/>
                <a:cs typeface="Arial"/>
              </a:rPr>
              <a:t>UML (Unified Modelling Language)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</a:t>
            </a:r>
            <a:endParaRPr sz="1000">
              <a:latin typeface="Arial"/>
              <a:cs typeface="Arial"/>
            </a:endParaRPr>
          </a:p>
          <a:p>
            <a:pPr marL="492125" lvl="1" indent="-168275">
              <a:lnSpc>
                <a:spcPts val="1200"/>
              </a:lnSpc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spc="-5" dirty="0">
                <a:latin typeface="Arial"/>
                <a:cs typeface="Arial"/>
              </a:rPr>
              <a:t>ODL (Object Description Language)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3"/>
          <p:cNvSpPr txBox="1"/>
          <p:nvPr/>
        </p:nvSpPr>
        <p:spPr>
          <a:xfrm>
            <a:off x="546723" y="2624636"/>
            <a:ext cx="2886710" cy="530273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75"/>
              </a:spcBef>
            </a:pPr>
            <a:r>
              <a:rPr lang="en-US" sz="6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Copyrights and original material belongs to: Prof. </a:t>
            </a:r>
            <a:r>
              <a:rPr sz="6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Peter</a:t>
            </a:r>
            <a:r>
              <a:rPr sz="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Wood</a:t>
            </a: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sz="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</a:t>
            </a:r>
            <a:r>
              <a:rPr sz="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" spc="-1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ptw@dcs.bbk.ac.uk</a:t>
            </a: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Web:</a:t>
            </a:r>
            <a:r>
              <a:rPr sz="6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" spc="-1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http://www.dcs.bbk.ac.uk/~ptw/</a:t>
            </a:r>
            <a:endParaRPr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13220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Modelling</a:t>
            </a:r>
            <a:r>
              <a:rPr spc="-55" dirty="0"/>
              <a:t> </a:t>
            </a:r>
            <a:r>
              <a:rPr spc="15" dirty="0"/>
              <a:t>Steps</a:t>
            </a: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085" y="434975"/>
            <a:ext cx="3459014" cy="287482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27800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The Components </a:t>
            </a:r>
            <a:r>
              <a:rPr spc="10" dirty="0"/>
              <a:t>of </a:t>
            </a:r>
            <a:r>
              <a:rPr spc="15" dirty="0"/>
              <a:t>the </a:t>
            </a:r>
            <a:r>
              <a:rPr spc="20" dirty="0"/>
              <a:t>ER</a:t>
            </a:r>
            <a:r>
              <a:rPr spc="-35" dirty="0"/>
              <a:t> </a:t>
            </a:r>
            <a:r>
              <a:rPr spc="15" dirty="0"/>
              <a:t>Model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1960" y="763739"/>
            <a:ext cx="3401695" cy="151765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285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Structural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5" dirty="0">
                <a:latin typeface="Arial"/>
                <a:cs typeface="Arial"/>
              </a:rPr>
              <a:t>part</a:t>
            </a:r>
            <a:endParaRPr sz="1100" dirty="0">
              <a:latin typeface="Arial"/>
              <a:cs typeface="Arial"/>
            </a:endParaRPr>
          </a:p>
          <a:p>
            <a:pPr marL="492125" lvl="1" indent="-168275">
              <a:lnSpc>
                <a:spcPts val="1200"/>
              </a:lnSpc>
              <a:spcBef>
                <a:spcPts val="175"/>
              </a:spcBef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spc="-5" dirty="0">
                <a:latin typeface="Arial"/>
                <a:cs typeface="Arial"/>
              </a:rPr>
              <a:t>entity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types</a:t>
            </a:r>
            <a:endParaRPr sz="1000" dirty="0">
              <a:latin typeface="Arial"/>
              <a:cs typeface="Arial"/>
            </a:endParaRPr>
          </a:p>
          <a:p>
            <a:pPr marL="492125" lvl="1" indent="-168275">
              <a:lnSpc>
                <a:spcPts val="1195"/>
              </a:lnSpc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spc="-5" dirty="0">
                <a:latin typeface="Arial"/>
                <a:cs typeface="Arial"/>
              </a:rPr>
              <a:t>attributes</a:t>
            </a:r>
            <a:endParaRPr sz="1000" dirty="0">
              <a:latin typeface="Arial"/>
              <a:cs typeface="Arial"/>
            </a:endParaRPr>
          </a:p>
          <a:p>
            <a:pPr marL="492125" lvl="1" indent="-168275">
              <a:lnSpc>
                <a:spcPts val="1200"/>
              </a:lnSpc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spc="-5" dirty="0">
                <a:latin typeface="Arial"/>
                <a:cs typeface="Arial"/>
              </a:rPr>
              <a:t>relationship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types</a:t>
            </a:r>
            <a:endParaRPr sz="1000" dirty="0">
              <a:latin typeface="Arial"/>
              <a:cs typeface="Arial"/>
            </a:endParaRPr>
          </a:p>
          <a:p>
            <a:pPr marL="214629" indent="-177165">
              <a:lnSpc>
                <a:spcPct val="100000"/>
              </a:lnSpc>
              <a:spcBef>
                <a:spcPts val="195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Integrity</a:t>
            </a:r>
            <a:r>
              <a:rPr sz="1100" spc="-10" dirty="0">
                <a:latin typeface="Arial"/>
                <a:cs typeface="Arial"/>
              </a:rPr>
              <a:t> constraints</a:t>
            </a:r>
            <a:endParaRPr sz="1100" dirty="0">
              <a:latin typeface="Arial"/>
              <a:cs typeface="Arial"/>
            </a:endParaRPr>
          </a:p>
          <a:p>
            <a:pPr marL="492125" marR="30480" lvl="1" indent="-16827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dirty="0">
                <a:latin typeface="Arial"/>
                <a:cs typeface="Arial"/>
              </a:rPr>
              <a:t>primary </a:t>
            </a:r>
            <a:r>
              <a:rPr sz="1000" spc="-15" dirty="0">
                <a:latin typeface="Arial"/>
                <a:cs typeface="Arial"/>
              </a:rPr>
              <a:t>keys for </a:t>
            </a:r>
            <a:r>
              <a:rPr sz="1000" spc="-5" dirty="0">
                <a:latin typeface="Arial"/>
                <a:cs typeface="Arial"/>
              </a:rPr>
              <a:t>entity types and relationship types,  and</a:t>
            </a:r>
            <a:endParaRPr sz="1000" dirty="0">
              <a:latin typeface="Arial"/>
              <a:cs typeface="Arial"/>
            </a:endParaRPr>
          </a:p>
          <a:p>
            <a:pPr marL="492125" marR="123189" lvl="1" indent="-168275">
              <a:lnSpc>
                <a:spcPts val="1200"/>
              </a:lnSpc>
              <a:spcBef>
                <a:spcPts val="30"/>
              </a:spcBef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spc="-5" dirty="0">
                <a:latin typeface="Arial"/>
                <a:cs typeface="Arial"/>
              </a:rPr>
              <a:t>multiplicity (cardinality) constraints </a:t>
            </a:r>
            <a:r>
              <a:rPr sz="1000" spc="-15" dirty="0">
                <a:latin typeface="Arial"/>
                <a:cs typeface="Arial"/>
              </a:rPr>
              <a:t>for </a:t>
            </a:r>
            <a:r>
              <a:rPr sz="1000" spc="-5" dirty="0">
                <a:latin typeface="Arial"/>
                <a:cs typeface="Arial"/>
              </a:rPr>
              <a:t>relationship  types</a:t>
            </a:r>
            <a:endParaRPr sz="10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1502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The Main </a:t>
            </a:r>
            <a:r>
              <a:rPr spc="10" dirty="0"/>
              <a:t>Advantages of </a:t>
            </a:r>
            <a:r>
              <a:rPr spc="15" dirty="0"/>
              <a:t>the </a:t>
            </a:r>
            <a:r>
              <a:rPr spc="20" dirty="0"/>
              <a:t>ER</a:t>
            </a:r>
            <a:r>
              <a:rPr spc="-30" dirty="0"/>
              <a:t> </a:t>
            </a:r>
            <a:r>
              <a:rPr spc="15" dirty="0"/>
              <a:t>Model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41897" y="1055038"/>
            <a:ext cx="3522979" cy="11664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Arial"/>
                <a:cs typeface="Arial"/>
              </a:rPr>
              <a:t>The diagrams </a:t>
            </a:r>
            <a:r>
              <a:rPr sz="1100" spc="-5" dirty="0">
                <a:latin typeface="Arial"/>
                <a:cs typeface="Arial"/>
              </a:rPr>
              <a:t>(ERDs) associated with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entity-relationship  models</a:t>
            </a:r>
            <a:endParaRPr sz="110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5" dirty="0">
                <a:latin typeface="Arial"/>
                <a:cs typeface="Arial"/>
              </a:rPr>
              <a:t>are </a:t>
            </a:r>
            <a:r>
              <a:rPr sz="1100" spc="-10" dirty="0">
                <a:latin typeface="Arial"/>
                <a:cs typeface="Arial"/>
              </a:rPr>
              <a:t>relatively </a:t>
            </a:r>
            <a:r>
              <a:rPr sz="1100" spc="-5" dirty="0">
                <a:latin typeface="Arial"/>
                <a:cs typeface="Arial"/>
              </a:rPr>
              <a:t>simple</a:t>
            </a:r>
            <a:endParaRPr sz="110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5" dirty="0">
                <a:latin typeface="Arial"/>
                <a:cs typeface="Arial"/>
              </a:rPr>
              <a:t>are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user-friendly</a:t>
            </a:r>
            <a:endParaRPr sz="1100">
              <a:latin typeface="Arial"/>
              <a:cs typeface="Arial"/>
            </a:endParaRPr>
          </a:p>
          <a:p>
            <a:pPr marL="314960" marR="454659" indent="-17716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5" dirty="0">
                <a:latin typeface="Arial"/>
                <a:cs typeface="Arial"/>
              </a:rPr>
              <a:t>can </a:t>
            </a:r>
            <a:r>
              <a:rPr sz="1100" spc="-10" dirty="0">
                <a:latin typeface="Arial"/>
                <a:cs typeface="Arial"/>
              </a:rPr>
              <a:t>provide a </a:t>
            </a:r>
            <a:r>
              <a:rPr sz="1100" spc="-5" dirty="0">
                <a:latin typeface="Arial"/>
                <a:cs typeface="Arial"/>
              </a:rPr>
              <a:t>unified </a:t>
            </a:r>
            <a:r>
              <a:rPr sz="1100" spc="-15" dirty="0">
                <a:latin typeface="Arial"/>
                <a:cs typeface="Arial"/>
              </a:rPr>
              <a:t>view </a:t>
            </a:r>
            <a:r>
              <a:rPr sz="1100" spc="-5" dirty="0">
                <a:latin typeface="Arial"/>
                <a:cs typeface="Arial"/>
              </a:rPr>
              <a:t>of data, which is  independent of </a:t>
            </a:r>
            <a:r>
              <a:rPr sz="1100" spc="-15" dirty="0">
                <a:latin typeface="Arial"/>
                <a:cs typeface="Arial"/>
              </a:rPr>
              <a:t>any </a:t>
            </a:r>
            <a:r>
              <a:rPr sz="1100" i="1" spc="-5" dirty="0">
                <a:latin typeface="Arial"/>
                <a:cs typeface="Arial"/>
              </a:rPr>
              <a:t>implemented </a:t>
            </a:r>
            <a:r>
              <a:rPr sz="1100" spc="-5" dirty="0">
                <a:latin typeface="Arial"/>
                <a:cs typeface="Arial"/>
              </a:rPr>
              <a:t>data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model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25133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The Building </a:t>
            </a:r>
            <a:r>
              <a:rPr spc="10" dirty="0"/>
              <a:t>Blocks of </a:t>
            </a:r>
            <a:r>
              <a:rPr spc="15" dirty="0"/>
              <a:t>an</a:t>
            </a:r>
            <a:r>
              <a:rPr spc="-70" dirty="0"/>
              <a:t> </a:t>
            </a:r>
            <a:r>
              <a:rPr spc="20" dirty="0"/>
              <a:t>ERD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1960" y="538731"/>
            <a:ext cx="2471420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Entities </a:t>
            </a:r>
            <a:r>
              <a:rPr sz="1100" spc="-10" dirty="0">
                <a:latin typeface="Arial"/>
                <a:cs typeface="Arial"/>
              </a:rPr>
              <a:t>and </a:t>
            </a:r>
            <a:r>
              <a:rPr sz="1100" spc="-5" dirty="0">
                <a:latin typeface="Arial"/>
                <a:cs typeface="Arial"/>
              </a:rPr>
              <a:t>entity types (entity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sets)</a:t>
            </a:r>
            <a:endParaRPr sz="1100">
              <a:latin typeface="Arial"/>
              <a:cs typeface="Arial"/>
            </a:endParaRPr>
          </a:p>
          <a:p>
            <a:pPr marL="214629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Relationships </a:t>
            </a:r>
            <a:r>
              <a:rPr sz="1100" spc="-10" dirty="0">
                <a:latin typeface="Arial"/>
                <a:cs typeface="Arial"/>
              </a:rPr>
              <a:t>and </a:t>
            </a:r>
            <a:r>
              <a:rPr sz="1100" spc="-5" dirty="0">
                <a:latin typeface="Arial"/>
                <a:cs typeface="Arial"/>
              </a:rPr>
              <a:t>relationship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types</a:t>
            </a:r>
            <a:endParaRPr sz="1100">
              <a:latin typeface="Arial"/>
              <a:cs typeface="Arial"/>
            </a:endParaRPr>
          </a:p>
          <a:p>
            <a:pPr marL="214629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</a:rPr>
              <a:t>Attributes, </a:t>
            </a:r>
            <a:r>
              <a:rPr sz="1100" spc="-20" dirty="0">
                <a:latin typeface="Arial"/>
                <a:cs typeface="Arial"/>
              </a:rPr>
              <a:t>keys </a:t>
            </a:r>
            <a:r>
              <a:rPr sz="1100" spc="-10" dirty="0">
                <a:latin typeface="Arial"/>
                <a:cs typeface="Arial"/>
              </a:rPr>
              <a:t>and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roles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73797" y="1487887"/>
            <a:ext cx="1940410" cy="14305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 dirty="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 dirty="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200913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Entities </a:t>
            </a:r>
            <a:r>
              <a:rPr spc="15" dirty="0"/>
              <a:t>and </a:t>
            </a:r>
            <a:r>
              <a:rPr spc="10" dirty="0"/>
              <a:t>Entity</a:t>
            </a:r>
            <a:r>
              <a:rPr spc="-20" dirty="0"/>
              <a:t> Types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67297" y="726413"/>
            <a:ext cx="318643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Arial"/>
                <a:cs typeface="Arial"/>
              </a:rPr>
              <a:t>An </a:t>
            </a:r>
            <a:r>
              <a:rPr sz="1100" i="1" spc="-5" dirty="0">
                <a:latin typeface="Arial"/>
                <a:cs typeface="Arial"/>
              </a:rPr>
              <a:t>entity </a:t>
            </a:r>
            <a:r>
              <a:rPr sz="1100" spc="-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“thing” that </a:t>
            </a:r>
            <a:r>
              <a:rPr sz="1100" spc="-10" dirty="0">
                <a:latin typeface="Arial"/>
                <a:cs typeface="Arial"/>
              </a:rPr>
              <a:t>exists and </a:t>
            </a:r>
            <a:r>
              <a:rPr sz="1100" spc="-5" dirty="0">
                <a:latin typeface="Arial"/>
                <a:cs typeface="Arial"/>
              </a:rPr>
              <a:t>can </a:t>
            </a:r>
            <a:r>
              <a:rPr sz="1100" spc="-10" dirty="0">
                <a:latin typeface="Arial"/>
                <a:cs typeface="Arial"/>
              </a:rPr>
              <a:t>be </a:t>
            </a:r>
            <a:r>
              <a:rPr sz="1100" spc="-5" dirty="0">
                <a:latin typeface="Arial"/>
                <a:cs typeface="Arial"/>
              </a:rPr>
              <a:t>uniquely  identified, </a:t>
            </a:r>
            <a:r>
              <a:rPr sz="1100" spc="-10" dirty="0">
                <a:latin typeface="Arial"/>
                <a:cs typeface="Arial"/>
              </a:rPr>
              <a:t>e.g., an </a:t>
            </a:r>
            <a:r>
              <a:rPr sz="1100" spc="-5" dirty="0">
                <a:latin typeface="Arial"/>
                <a:cs typeface="Arial"/>
              </a:rPr>
              <a:t>individual person.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7297" y="1222399"/>
            <a:ext cx="317500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Arial"/>
                <a:cs typeface="Arial"/>
              </a:rPr>
              <a:t>An </a:t>
            </a:r>
            <a:r>
              <a:rPr sz="1100" i="1" spc="-5" dirty="0">
                <a:latin typeface="Arial"/>
                <a:cs typeface="Arial"/>
              </a:rPr>
              <a:t>entity type </a:t>
            </a:r>
            <a:r>
              <a:rPr sz="1100" spc="-5" dirty="0">
                <a:latin typeface="Arial"/>
                <a:cs typeface="Arial"/>
              </a:rPr>
              <a:t>(or </a:t>
            </a:r>
            <a:r>
              <a:rPr sz="1100" i="1" spc="-5" dirty="0">
                <a:latin typeface="Arial"/>
                <a:cs typeface="Arial"/>
              </a:rPr>
              <a:t>entity set</a:t>
            </a:r>
            <a:r>
              <a:rPr sz="1100" spc="-5" dirty="0">
                <a:latin typeface="Arial"/>
                <a:cs typeface="Arial"/>
              </a:rPr>
              <a:t>) is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collection of similar  </a:t>
            </a:r>
            <a:r>
              <a:rPr sz="1100" spc="-10" dirty="0">
                <a:latin typeface="Arial"/>
                <a:cs typeface="Arial"/>
              </a:rPr>
              <a:t>entities, e.g., a </a:t>
            </a:r>
            <a:r>
              <a:rPr sz="1100" spc="-5" dirty="0">
                <a:latin typeface="Arial"/>
                <a:cs typeface="Arial"/>
              </a:rPr>
              <a:t>collection of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people.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1897" y="1674594"/>
            <a:ext cx="3600450" cy="10382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Arial"/>
                <a:cs typeface="Arial"/>
              </a:rPr>
              <a:t>An </a:t>
            </a:r>
            <a:r>
              <a:rPr sz="1100" spc="-5" dirty="0">
                <a:latin typeface="Arial"/>
                <a:cs typeface="Arial"/>
              </a:rPr>
              <a:t>entity type</a:t>
            </a:r>
            <a:endParaRPr sz="1100" dirty="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5" dirty="0">
                <a:latin typeface="Arial"/>
                <a:cs typeface="Arial"/>
              </a:rPr>
              <a:t>is similar to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class in object-oriented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languages</a:t>
            </a:r>
            <a:endParaRPr sz="1100" dirty="0">
              <a:latin typeface="Arial"/>
              <a:cs typeface="Arial"/>
            </a:endParaRPr>
          </a:p>
          <a:p>
            <a:pPr marL="314960" marR="30480" indent="-1771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5" dirty="0">
                <a:latin typeface="Arial"/>
                <a:cs typeface="Arial"/>
              </a:rPr>
              <a:t>has associated </a:t>
            </a:r>
            <a:r>
              <a:rPr sz="1100" i="1" spc="-5" dirty="0">
                <a:latin typeface="Arial"/>
                <a:cs typeface="Arial"/>
              </a:rPr>
              <a:t>attributes</a:t>
            </a:r>
            <a:r>
              <a:rPr sz="1100" spc="-5" dirty="0">
                <a:latin typeface="Arial"/>
                <a:cs typeface="Arial"/>
              </a:rPr>
              <a:t>, which represent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properties  of the entities comprising the entity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type</a:t>
            </a:r>
            <a:endParaRPr sz="1100" dirty="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5" dirty="0">
                <a:latin typeface="Arial"/>
                <a:cs typeface="Arial"/>
              </a:rPr>
              <a:t>is represented in </a:t>
            </a:r>
            <a:r>
              <a:rPr sz="1100" spc="-10" dirty="0">
                <a:latin typeface="Arial"/>
                <a:cs typeface="Arial"/>
              </a:rPr>
              <a:t>an ERD </a:t>
            </a:r>
            <a:r>
              <a:rPr sz="1100" spc="-20" dirty="0">
                <a:latin typeface="Arial"/>
                <a:cs typeface="Arial"/>
              </a:rPr>
              <a:t>by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rectangle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7943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Attributes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67297" y="810081"/>
            <a:ext cx="334073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i="1" spc="-5" dirty="0">
                <a:latin typeface="Arial"/>
                <a:cs typeface="Arial"/>
              </a:rPr>
              <a:t>Attribute </a:t>
            </a:r>
            <a:r>
              <a:rPr sz="1100" i="1" spc="-10" dirty="0">
                <a:latin typeface="Arial"/>
                <a:cs typeface="Arial"/>
              </a:rPr>
              <a:t>names </a:t>
            </a:r>
            <a:r>
              <a:rPr sz="1100" spc="-5" dirty="0">
                <a:latin typeface="Arial"/>
                <a:cs typeface="Arial"/>
              </a:rPr>
              <a:t>(or simply </a:t>
            </a:r>
            <a:r>
              <a:rPr sz="1100" i="1" spc="-10" dirty="0">
                <a:latin typeface="Arial"/>
                <a:cs typeface="Arial"/>
              </a:rPr>
              <a:t>attributes</a:t>
            </a:r>
            <a:r>
              <a:rPr sz="1100" spc="-10" dirty="0">
                <a:latin typeface="Arial"/>
                <a:cs typeface="Arial"/>
              </a:rPr>
              <a:t>) </a:t>
            </a:r>
            <a:r>
              <a:rPr sz="1100" spc="-5" dirty="0">
                <a:latin typeface="Arial"/>
                <a:cs typeface="Arial"/>
              </a:rPr>
              <a:t>are properties of  entity</a:t>
            </a:r>
            <a:r>
              <a:rPr sz="1100" spc="-10" dirty="0">
                <a:latin typeface="Arial"/>
                <a:cs typeface="Arial"/>
              </a:rPr>
              <a:t> types.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1960" y="1361730"/>
            <a:ext cx="3454400" cy="118935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14629" marR="161925" indent="-177165">
              <a:lnSpc>
                <a:spcPts val="1200"/>
              </a:lnSpc>
              <a:spcBef>
                <a:spcPts val="229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5" dirty="0">
                <a:latin typeface="Arial"/>
                <a:cs typeface="Arial"/>
              </a:rPr>
              <a:t>attribute usually has only </a:t>
            </a:r>
            <a:r>
              <a:rPr sz="1100" i="1" spc="-5" dirty="0">
                <a:latin typeface="Arial"/>
                <a:cs typeface="Arial"/>
              </a:rPr>
              <a:t>simple </a:t>
            </a:r>
            <a:r>
              <a:rPr sz="1100" spc="-10" dirty="0">
                <a:latin typeface="Arial"/>
                <a:cs typeface="Arial"/>
              </a:rPr>
              <a:t>values (e.g.  </a:t>
            </a:r>
            <a:r>
              <a:rPr sz="1100" spc="-5" dirty="0">
                <a:latin typeface="Arial"/>
                <a:cs typeface="Arial"/>
              </a:rPr>
              <a:t>integers or </a:t>
            </a:r>
            <a:r>
              <a:rPr sz="1100" spc="-10" dirty="0">
                <a:latin typeface="Arial"/>
                <a:cs typeface="Arial"/>
              </a:rPr>
              <a:t>character </a:t>
            </a:r>
            <a:r>
              <a:rPr sz="1100" spc="-5" dirty="0">
                <a:latin typeface="Arial"/>
                <a:cs typeface="Arial"/>
              </a:rPr>
              <a:t>strings)</a:t>
            </a:r>
            <a:endParaRPr sz="1100" dirty="0">
              <a:latin typeface="Arial"/>
              <a:cs typeface="Arial"/>
            </a:endParaRPr>
          </a:p>
          <a:p>
            <a:pPr marL="492125" marR="76200" lvl="1" indent="-168275">
              <a:lnSpc>
                <a:spcPct val="100000"/>
              </a:lnSpc>
              <a:spcBef>
                <a:spcPts val="150"/>
              </a:spcBef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spc="-5" dirty="0">
                <a:latin typeface="Arial"/>
                <a:cs typeface="Arial"/>
              </a:rPr>
              <a:t>represented </a:t>
            </a:r>
            <a:r>
              <a:rPr sz="1000" spc="-15" dirty="0">
                <a:latin typeface="Arial"/>
                <a:cs typeface="Arial"/>
              </a:rPr>
              <a:t>by </a:t>
            </a:r>
            <a:r>
              <a:rPr sz="1000" spc="-5" dirty="0">
                <a:latin typeface="Arial"/>
                <a:cs typeface="Arial"/>
              </a:rPr>
              <a:t>an </a:t>
            </a:r>
            <a:r>
              <a:rPr sz="1000" i="1" spc="-15" dirty="0">
                <a:latin typeface="Arial"/>
                <a:cs typeface="Arial"/>
              </a:rPr>
              <a:t>oval </a:t>
            </a:r>
            <a:r>
              <a:rPr sz="1000" spc="-5" dirty="0">
                <a:latin typeface="Arial"/>
                <a:cs typeface="Arial"/>
              </a:rPr>
              <a:t>in an </a:t>
            </a:r>
            <a:r>
              <a:rPr sz="1000" spc="-20" dirty="0">
                <a:latin typeface="Arial"/>
                <a:cs typeface="Arial"/>
              </a:rPr>
              <a:t>ERD, </a:t>
            </a:r>
            <a:r>
              <a:rPr sz="1000" spc="-5" dirty="0">
                <a:latin typeface="Arial"/>
                <a:cs typeface="Arial"/>
              </a:rPr>
              <a:t>with a line to the  rectangle representing its entity type</a:t>
            </a:r>
            <a:endParaRPr sz="1000" dirty="0">
              <a:latin typeface="Arial"/>
              <a:cs typeface="Arial"/>
            </a:endParaRPr>
          </a:p>
          <a:p>
            <a:pPr marL="214629" marR="30480" indent="-177165">
              <a:lnSpc>
                <a:spcPts val="1200"/>
              </a:lnSpc>
              <a:spcBef>
                <a:spcPts val="33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</a:rPr>
              <a:t>Sometimes </a:t>
            </a:r>
            <a:r>
              <a:rPr sz="1100" i="1" spc="-10" dirty="0">
                <a:latin typeface="Arial"/>
                <a:cs typeface="Arial"/>
              </a:rPr>
              <a:t>multi-valued </a:t>
            </a:r>
            <a:r>
              <a:rPr sz="1100" spc="-5" dirty="0">
                <a:latin typeface="Arial"/>
                <a:cs typeface="Arial"/>
              </a:rPr>
              <a:t>attributes </a:t>
            </a:r>
            <a:r>
              <a:rPr sz="1100" spc="-10" dirty="0">
                <a:latin typeface="Arial"/>
                <a:cs typeface="Arial"/>
              </a:rPr>
              <a:t>(e.g. </a:t>
            </a:r>
            <a:r>
              <a:rPr sz="1100" spc="-5" dirty="0">
                <a:latin typeface="Arial"/>
                <a:cs typeface="Arial"/>
              </a:rPr>
              <a:t>Phones) are  </a:t>
            </a:r>
            <a:r>
              <a:rPr sz="1100" spc="-10" dirty="0">
                <a:latin typeface="Arial"/>
                <a:cs typeface="Arial"/>
              </a:rPr>
              <a:t>allowed</a:t>
            </a:r>
            <a:endParaRPr sz="1100" dirty="0">
              <a:latin typeface="Arial"/>
              <a:cs typeface="Arial"/>
            </a:endParaRPr>
          </a:p>
          <a:p>
            <a:pPr marL="492125" lvl="1" indent="-168275">
              <a:lnSpc>
                <a:spcPct val="100000"/>
              </a:lnSpc>
              <a:spcBef>
                <a:spcPts val="150"/>
              </a:spcBef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spc="-5" dirty="0">
                <a:latin typeface="Arial"/>
                <a:cs typeface="Arial"/>
              </a:rPr>
              <a:t>represented </a:t>
            </a:r>
            <a:r>
              <a:rPr sz="1000" spc="-15" dirty="0">
                <a:latin typeface="Arial"/>
                <a:cs typeface="Arial"/>
              </a:rPr>
              <a:t>by </a:t>
            </a:r>
            <a:r>
              <a:rPr sz="1000" spc="-5" dirty="0">
                <a:latin typeface="Arial"/>
                <a:cs typeface="Arial"/>
              </a:rPr>
              <a:t>a </a:t>
            </a:r>
            <a:r>
              <a:rPr sz="1000" i="1" spc="-10" dirty="0">
                <a:solidFill>
                  <a:srgbClr val="FF0000"/>
                </a:solidFill>
                <a:latin typeface="Arial"/>
                <a:cs typeface="Arial"/>
              </a:rPr>
              <a:t>double </a:t>
            </a:r>
            <a:r>
              <a:rPr sz="1000" i="1" spc="-15" dirty="0">
                <a:solidFill>
                  <a:srgbClr val="FF0000"/>
                </a:solidFill>
                <a:latin typeface="Arial"/>
                <a:cs typeface="Arial"/>
              </a:rPr>
              <a:t>oval </a:t>
            </a:r>
            <a:r>
              <a:rPr sz="1000" spc="-5" dirty="0">
                <a:solidFill>
                  <a:srgbClr val="FF0000"/>
                </a:solidFill>
                <a:latin typeface="Arial"/>
                <a:cs typeface="Arial"/>
              </a:rPr>
              <a:t>in an</a:t>
            </a:r>
            <a:r>
              <a:rPr sz="1000" spc="-1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Arial"/>
                <a:cs typeface="Arial"/>
              </a:rPr>
              <a:t>ERD</a:t>
            </a:r>
            <a:endParaRPr sz="1000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0511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Example </a:t>
            </a:r>
            <a:r>
              <a:rPr spc="10" dirty="0"/>
              <a:t>of Entity </a:t>
            </a:r>
            <a:r>
              <a:rPr spc="-25" dirty="0"/>
              <a:t>Type </a:t>
            </a:r>
            <a:r>
              <a:rPr spc="15" dirty="0"/>
              <a:t>and</a:t>
            </a:r>
            <a:r>
              <a:rPr spc="25" dirty="0"/>
              <a:t> </a:t>
            </a:r>
            <a:r>
              <a:rPr spc="10" dirty="0"/>
              <a:t>Attributes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41960" y="2022880"/>
            <a:ext cx="3078480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15" dirty="0">
                <a:latin typeface="Arial"/>
                <a:cs typeface="Arial"/>
              </a:rPr>
              <a:t>Person </a:t>
            </a:r>
            <a:r>
              <a:rPr sz="1100" spc="-5" dirty="0">
                <a:latin typeface="Arial"/>
                <a:cs typeface="Arial"/>
              </a:rPr>
              <a:t>has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single </a:t>
            </a:r>
            <a:r>
              <a:rPr sz="1100" spc="-10" dirty="0">
                <a:latin typeface="Arial"/>
                <a:cs typeface="Arial"/>
              </a:rPr>
              <a:t>Name, </a:t>
            </a:r>
            <a:r>
              <a:rPr sz="1100" spc="-5" dirty="0">
                <a:latin typeface="Arial"/>
                <a:cs typeface="Arial"/>
              </a:rPr>
              <a:t>Address </a:t>
            </a:r>
            <a:r>
              <a:rPr sz="1100" spc="-10" dirty="0">
                <a:latin typeface="Arial"/>
                <a:cs typeface="Arial"/>
              </a:rPr>
              <a:t>and  </a:t>
            </a:r>
            <a:r>
              <a:rPr sz="1100" spc="-5" dirty="0">
                <a:latin typeface="Arial"/>
                <a:cs typeface="Arial"/>
              </a:rPr>
              <a:t>National </a:t>
            </a:r>
            <a:r>
              <a:rPr sz="1100" spc="-10" dirty="0">
                <a:latin typeface="Arial"/>
                <a:cs typeface="Arial"/>
              </a:rPr>
              <a:t>Insurance number </a:t>
            </a:r>
            <a:r>
              <a:rPr sz="1100" spc="-5" dirty="0">
                <a:latin typeface="Arial"/>
                <a:cs typeface="Arial"/>
              </a:rPr>
              <a:t>(NI#)</a:t>
            </a:r>
            <a:endParaRPr sz="1100">
              <a:latin typeface="Arial"/>
              <a:cs typeface="Arial"/>
            </a:endParaRPr>
          </a:p>
          <a:p>
            <a:pPr marL="214629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15" dirty="0">
                <a:latin typeface="Arial"/>
                <a:cs typeface="Arial"/>
              </a:rPr>
              <a:t>Person </a:t>
            </a:r>
            <a:r>
              <a:rPr sz="1100" spc="-5" dirty="0">
                <a:latin typeface="Arial"/>
                <a:cs typeface="Arial"/>
              </a:rPr>
              <a:t>can </a:t>
            </a:r>
            <a:r>
              <a:rPr sz="1100" spc="-20" dirty="0">
                <a:latin typeface="Arial"/>
                <a:cs typeface="Arial"/>
              </a:rPr>
              <a:t>have </a:t>
            </a:r>
            <a:r>
              <a:rPr sz="1100" spc="-15" dirty="0">
                <a:latin typeface="Arial"/>
                <a:cs typeface="Arial"/>
              </a:rPr>
              <a:t>many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Phones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2" name="صورة 4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117" y="630044"/>
            <a:ext cx="2790825" cy="106708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6534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Domain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71450" y="511175"/>
            <a:ext cx="3604260" cy="25174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17780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Arial"/>
                <a:cs typeface="Arial"/>
              </a:rPr>
              <a:t>The </a:t>
            </a:r>
            <a:r>
              <a:rPr sz="1100" i="1" spc="-10" dirty="0">
                <a:latin typeface="Arial"/>
                <a:cs typeface="Arial"/>
              </a:rPr>
              <a:t>domain </a:t>
            </a:r>
            <a:r>
              <a:rPr sz="1100" spc="-5" dirty="0">
                <a:latin typeface="Arial"/>
                <a:cs typeface="Arial"/>
              </a:rPr>
              <a:t>of an attribute is the set of </a:t>
            </a:r>
            <a:r>
              <a:rPr lang="en-US" sz="1100" spc="-5" dirty="0">
                <a:latin typeface="Arial"/>
                <a:cs typeface="Arial"/>
              </a:rPr>
              <a:t>is the </a:t>
            </a:r>
            <a:r>
              <a:rPr lang="en-US" sz="1100" spc="-5" dirty="0">
                <a:solidFill>
                  <a:srgbClr val="FF0000"/>
                </a:solidFill>
                <a:latin typeface="Arial"/>
                <a:cs typeface="Arial"/>
              </a:rPr>
              <a:t>set of values allowed in an attribute</a:t>
            </a:r>
          </a:p>
          <a:p>
            <a:pPr marL="38100" marR="177800">
              <a:lnSpc>
                <a:spcPct val="102600"/>
              </a:lnSpc>
              <a:spcBef>
                <a:spcPts val="55"/>
              </a:spcBef>
            </a:pPr>
            <a:r>
              <a:rPr lang="en-US" sz="1050" b="1" dirty="0">
                <a:latin typeface="Arial"/>
                <a:cs typeface="Arial"/>
              </a:rPr>
              <a:t>Example</a:t>
            </a:r>
            <a:r>
              <a:rPr lang="en-US" sz="1050" dirty="0">
                <a:latin typeface="Arial"/>
                <a:cs typeface="Arial"/>
              </a:rPr>
              <a:t>:</a:t>
            </a:r>
          </a:p>
          <a:p>
            <a:pPr marL="38100" marR="177800">
              <a:lnSpc>
                <a:spcPct val="102600"/>
              </a:lnSpc>
              <a:spcBef>
                <a:spcPts val="55"/>
              </a:spcBef>
            </a:pPr>
            <a:r>
              <a:rPr lang="en-US" sz="900" dirty="0">
                <a:latin typeface="Arial"/>
                <a:cs typeface="Arial"/>
              </a:rPr>
              <a:t>Rooms in hotel (1-300)</a:t>
            </a:r>
          </a:p>
          <a:p>
            <a:pPr marL="38100" marR="177800">
              <a:lnSpc>
                <a:spcPct val="102600"/>
              </a:lnSpc>
              <a:spcBef>
                <a:spcPts val="55"/>
              </a:spcBef>
            </a:pPr>
            <a:r>
              <a:rPr lang="en-US" sz="900" dirty="0">
                <a:latin typeface="Arial"/>
                <a:cs typeface="Arial"/>
              </a:rPr>
              <a:t>Age (1-99)</a:t>
            </a:r>
          </a:p>
          <a:p>
            <a:pPr marL="38100" marR="177800">
              <a:lnSpc>
                <a:spcPct val="102600"/>
              </a:lnSpc>
              <a:spcBef>
                <a:spcPts val="55"/>
              </a:spcBef>
            </a:pPr>
            <a:r>
              <a:rPr lang="en-US" sz="900" dirty="0">
                <a:latin typeface="Arial"/>
                <a:cs typeface="Arial"/>
              </a:rPr>
              <a:t>Married (yes, no)</a:t>
            </a:r>
          </a:p>
          <a:p>
            <a:pPr marL="38100" marR="177800">
              <a:lnSpc>
                <a:spcPct val="102600"/>
              </a:lnSpc>
              <a:spcBef>
                <a:spcPts val="55"/>
              </a:spcBef>
            </a:pPr>
            <a:r>
              <a:rPr lang="en-US" sz="900" dirty="0">
                <a:latin typeface="Arial"/>
                <a:cs typeface="Arial"/>
              </a:rPr>
              <a:t>Nationality (Nepalese, Indian, American, or British)</a:t>
            </a:r>
          </a:p>
          <a:p>
            <a:pPr marL="38100" marR="177800">
              <a:lnSpc>
                <a:spcPct val="102600"/>
              </a:lnSpc>
              <a:spcBef>
                <a:spcPts val="55"/>
              </a:spcBef>
            </a:pPr>
            <a:r>
              <a:rPr lang="en-US" sz="900" dirty="0">
                <a:latin typeface="Arial"/>
                <a:cs typeface="Arial"/>
              </a:rPr>
              <a:t>Colors (Red, Yellow, Green)</a:t>
            </a:r>
          </a:p>
          <a:p>
            <a:pPr marL="38100" marR="177800">
              <a:lnSpc>
                <a:spcPct val="102600"/>
              </a:lnSpc>
              <a:spcBef>
                <a:spcPts val="55"/>
              </a:spcBef>
            </a:pPr>
            <a:endParaRPr lang="en-US" sz="1050" dirty="0">
              <a:latin typeface="Arial"/>
              <a:cs typeface="Arial"/>
            </a:endParaRPr>
          </a:p>
          <a:p>
            <a:pPr marL="38100" marR="177800">
              <a:lnSpc>
                <a:spcPct val="102600"/>
              </a:lnSpc>
              <a:spcBef>
                <a:spcPts val="55"/>
              </a:spcBef>
            </a:pPr>
            <a:endParaRPr sz="1050" dirty="0">
              <a:latin typeface="Arial"/>
              <a:cs typeface="Arial"/>
            </a:endParaRPr>
          </a:p>
          <a:p>
            <a:pPr marL="209550" indent="-1714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en-US" sz="1100" spc="-10" dirty="0">
                <a:latin typeface="Arial"/>
                <a:cs typeface="Arial"/>
              </a:rPr>
              <a:t>For the relational model, it is a requirement that each part of a tuple be atomic. </a:t>
            </a:r>
          </a:p>
          <a:p>
            <a:pPr marL="209550" indent="-1714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en-US" sz="1100" spc="-10" dirty="0">
                <a:latin typeface="Arial"/>
                <a:cs typeface="Arial"/>
              </a:rPr>
              <a:t>Also, each value in the tuple must be of some basic type, like a string or an integer. </a:t>
            </a:r>
          </a:p>
          <a:p>
            <a:pPr marL="209550" indent="-17145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r>
              <a:rPr lang="en-US" sz="1100" spc="-10" dirty="0">
                <a:latin typeface="Arial"/>
                <a:cs typeface="Arial"/>
              </a:rPr>
              <a:t>Atomic: it cannot be broken into more pieces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15532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Relationship</a:t>
            </a:r>
            <a:r>
              <a:rPr spc="-55" dirty="0"/>
              <a:t> </a:t>
            </a:r>
            <a:r>
              <a:rPr spc="-20" dirty="0"/>
              <a:t>Types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67297" y="330770"/>
            <a:ext cx="355346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Arial"/>
                <a:cs typeface="Arial"/>
              </a:rPr>
              <a:t>A </a:t>
            </a:r>
            <a:r>
              <a:rPr sz="1100" i="1" spc="-5" dirty="0">
                <a:latin typeface="Arial"/>
                <a:cs typeface="Arial"/>
              </a:rPr>
              <a:t>relationship type </a:t>
            </a:r>
            <a:r>
              <a:rPr sz="1100" spc="-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an </a:t>
            </a:r>
            <a:r>
              <a:rPr sz="1100" spc="-5" dirty="0">
                <a:latin typeface="Arial"/>
                <a:cs typeface="Arial"/>
              </a:rPr>
              <a:t>association </a:t>
            </a:r>
            <a:r>
              <a:rPr sz="1100" spc="-10" dirty="0">
                <a:latin typeface="Arial"/>
                <a:cs typeface="Arial"/>
              </a:rPr>
              <a:t>between two </a:t>
            </a:r>
            <a:r>
              <a:rPr sz="1100" spc="-5" dirty="0">
                <a:latin typeface="Arial"/>
                <a:cs typeface="Arial"/>
              </a:rPr>
              <a:t>or </a:t>
            </a:r>
            <a:r>
              <a:rPr sz="1100" spc="-10" dirty="0">
                <a:latin typeface="Arial"/>
                <a:cs typeface="Arial"/>
              </a:rPr>
              <a:t>more  </a:t>
            </a:r>
            <a:r>
              <a:rPr sz="1100" spc="-5" dirty="0">
                <a:latin typeface="Arial"/>
                <a:cs typeface="Arial"/>
              </a:rPr>
              <a:t>entity</a:t>
            </a:r>
            <a:r>
              <a:rPr sz="1100" spc="-10" dirty="0">
                <a:latin typeface="Arial"/>
                <a:cs typeface="Arial"/>
              </a:rPr>
              <a:t> types.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1960" y="902663"/>
            <a:ext cx="3253740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Relationship types are represented in </a:t>
            </a:r>
            <a:r>
              <a:rPr sz="1100" spc="-10" dirty="0">
                <a:latin typeface="Arial"/>
                <a:cs typeface="Arial"/>
              </a:rPr>
              <a:t>an ERD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by  </a:t>
            </a:r>
            <a:r>
              <a:rPr sz="1100" spc="-10" dirty="0">
                <a:latin typeface="Arial"/>
                <a:cs typeface="Arial"/>
              </a:rPr>
              <a:t>diamond shapes,</a:t>
            </a:r>
            <a:endParaRPr sz="1100">
              <a:latin typeface="Arial"/>
              <a:cs typeface="Arial"/>
            </a:endParaRPr>
          </a:p>
          <a:p>
            <a:pPr marL="214629" marR="9652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with lines to </a:t>
            </a: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5" dirty="0">
                <a:latin typeface="Arial"/>
                <a:cs typeface="Arial"/>
              </a:rPr>
              <a:t>of the rectangles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representing  entity types </a:t>
            </a:r>
            <a:r>
              <a:rPr sz="1100" spc="-15" dirty="0">
                <a:latin typeface="Arial"/>
                <a:cs typeface="Arial"/>
              </a:rPr>
              <a:t>involved </a:t>
            </a:r>
            <a:r>
              <a:rPr sz="1100" spc="-5" dirty="0">
                <a:latin typeface="Arial"/>
                <a:cs typeface="Arial"/>
              </a:rPr>
              <a:t>in the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association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7297" y="1856662"/>
            <a:ext cx="336931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Arial"/>
                <a:cs typeface="Arial"/>
              </a:rPr>
              <a:t>Example </a:t>
            </a:r>
            <a:r>
              <a:rPr sz="1100" spc="-5" dirty="0">
                <a:latin typeface="Arial"/>
                <a:cs typeface="Arial"/>
              </a:rPr>
              <a:t>of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relationship type </a:t>
            </a:r>
            <a:r>
              <a:rPr sz="1100" i="1" spc="-25" dirty="0">
                <a:latin typeface="Arial"/>
                <a:cs typeface="Arial"/>
              </a:rPr>
              <a:t>Teaches </a:t>
            </a:r>
            <a:r>
              <a:rPr sz="1100" spc="-10" dirty="0">
                <a:latin typeface="Arial"/>
                <a:cs typeface="Arial"/>
              </a:rPr>
              <a:t>between </a:t>
            </a:r>
            <a:r>
              <a:rPr sz="1100" spc="-5" dirty="0">
                <a:latin typeface="Arial"/>
                <a:cs typeface="Arial"/>
              </a:rPr>
              <a:t>entity  type </a:t>
            </a:r>
            <a:r>
              <a:rPr sz="1100" i="1" spc="-5" dirty="0">
                <a:latin typeface="Arial"/>
                <a:cs typeface="Arial"/>
              </a:rPr>
              <a:t>Lecturer </a:t>
            </a:r>
            <a:r>
              <a:rPr sz="1100" spc="-10" dirty="0">
                <a:latin typeface="Arial"/>
                <a:cs typeface="Arial"/>
              </a:rPr>
              <a:t>and </a:t>
            </a:r>
            <a:r>
              <a:rPr sz="1100" spc="-5" dirty="0">
                <a:latin typeface="Arial"/>
                <a:cs typeface="Arial"/>
              </a:rPr>
              <a:t>entity type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Student</a:t>
            </a:r>
            <a:r>
              <a:rPr sz="1100" spc="-5" dirty="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47304" y="2381199"/>
            <a:ext cx="793750" cy="793750"/>
          </a:xfrm>
          <a:custGeom>
            <a:avLst/>
            <a:gdLst/>
            <a:ahLst/>
            <a:cxnLst/>
            <a:rect l="l" t="t" r="r" b="b"/>
            <a:pathLst>
              <a:path w="793750" h="793750">
                <a:moveTo>
                  <a:pt x="793419" y="396709"/>
                </a:moveTo>
                <a:lnTo>
                  <a:pt x="396709" y="0"/>
                </a:lnTo>
                <a:lnTo>
                  <a:pt x="0" y="396709"/>
                </a:lnTo>
                <a:lnTo>
                  <a:pt x="396709" y="793419"/>
                </a:lnTo>
                <a:lnTo>
                  <a:pt x="793419" y="396709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48363" y="2570085"/>
            <a:ext cx="838874" cy="455894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915"/>
              </a:spcBef>
              <a:tabLst>
                <a:tab pos="1237615" algn="l"/>
              </a:tabLst>
            </a:pPr>
            <a:r>
              <a:rPr sz="1100" spc="-5" dirty="0">
                <a:latin typeface="Arial"/>
                <a:cs typeface="Arial"/>
              </a:rPr>
              <a:t>Lecturer	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287236" y="2777909"/>
            <a:ext cx="1313815" cy="0"/>
          </a:xfrm>
          <a:custGeom>
            <a:avLst/>
            <a:gdLst/>
            <a:ahLst/>
            <a:cxnLst/>
            <a:rect l="l" t="t" r="r" b="b"/>
            <a:pathLst>
              <a:path w="1313814">
                <a:moveTo>
                  <a:pt x="249304" y="0"/>
                </a:moveTo>
                <a:lnTo>
                  <a:pt x="0" y="0"/>
                </a:lnTo>
              </a:path>
              <a:path w="1313814">
                <a:moveTo>
                  <a:pt x="1313558" y="0"/>
                </a:moveTo>
                <a:lnTo>
                  <a:pt x="1064270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608389" y="2570085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925"/>
              </a:spcBef>
            </a:pPr>
            <a:r>
              <a:rPr sz="1100" spc="-5" dirty="0">
                <a:latin typeface="Arial"/>
                <a:cs typeface="Arial"/>
              </a:rPr>
              <a:t>Student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661210" y="2654798"/>
            <a:ext cx="64023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590925" cy="7594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Relationships</a:t>
            </a:r>
          </a:p>
          <a:p>
            <a:pPr marL="84455" marR="5080">
              <a:lnSpc>
                <a:spcPct val="102600"/>
              </a:lnSpc>
            </a:pPr>
            <a:r>
              <a:rPr sz="1100" spc="-10" dirty="0">
                <a:solidFill>
                  <a:srgbClr val="000000"/>
                </a:solidFill>
              </a:rPr>
              <a:t>A </a:t>
            </a:r>
            <a:r>
              <a:rPr sz="1100" i="1" spc="-5" dirty="0">
                <a:solidFill>
                  <a:srgbClr val="000000"/>
                </a:solidFill>
                <a:latin typeface="Arial"/>
                <a:cs typeface="Arial"/>
              </a:rPr>
              <a:t>relationship </a:t>
            </a:r>
            <a:r>
              <a:rPr sz="1100" spc="-5" dirty="0">
                <a:solidFill>
                  <a:srgbClr val="000000"/>
                </a:solidFill>
              </a:rPr>
              <a:t>is </a:t>
            </a:r>
            <a:r>
              <a:rPr sz="1100" spc="-10" dirty="0">
                <a:solidFill>
                  <a:srgbClr val="000000"/>
                </a:solidFill>
              </a:rPr>
              <a:t>an </a:t>
            </a:r>
            <a:r>
              <a:rPr sz="1100" spc="-5" dirty="0">
                <a:solidFill>
                  <a:srgbClr val="000000"/>
                </a:solidFill>
              </a:rPr>
              <a:t>instance of </a:t>
            </a:r>
            <a:r>
              <a:rPr sz="1100" spc="-10" dirty="0">
                <a:solidFill>
                  <a:srgbClr val="000000"/>
                </a:solidFill>
              </a:rPr>
              <a:t>a </a:t>
            </a:r>
            <a:r>
              <a:rPr sz="1100" spc="-5" dirty="0">
                <a:solidFill>
                  <a:srgbClr val="000000"/>
                </a:solidFill>
              </a:rPr>
              <a:t>relationship </a:t>
            </a:r>
            <a:r>
              <a:rPr sz="1100" spc="-10" dirty="0">
                <a:solidFill>
                  <a:srgbClr val="000000"/>
                </a:solidFill>
              </a:rPr>
              <a:t>type, i.e., </a:t>
            </a:r>
            <a:r>
              <a:rPr sz="1100" spc="-5" dirty="0">
                <a:solidFill>
                  <a:srgbClr val="000000"/>
                </a:solidFill>
              </a:rPr>
              <a:t>it  is the set of associations </a:t>
            </a:r>
            <a:r>
              <a:rPr sz="1100" spc="-10" dirty="0">
                <a:solidFill>
                  <a:srgbClr val="000000"/>
                </a:solidFill>
              </a:rPr>
              <a:t>between </a:t>
            </a:r>
            <a:r>
              <a:rPr sz="1100" spc="-5" dirty="0">
                <a:solidFill>
                  <a:srgbClr val="000000"/>
                </a:solidFill>
              </a:rPr>
              <a:t>the </a:t>
            </a:r>
            <a:r>
              <a:rPr sz="1100" i="1" spc="-5" dirty="0">
                <a:solidFill>
                  <a:srgbClr val="000000"/>
                </a:solidFill>
                <a:latin typeface="Arial"/>
                <a:cs typeface="Arial"/>
              </a:rPr>
              <a:t>entities </a:t>
            </a:r>
            <a:r>
              <a:rPr sz="1100" spc="-5" dirty="0">
                <a:solidFill>
                  <a:srgbClr val="000000"/>
                </a:solidFill>
              </a:rPr>
              <a:t>comprising  the entity types associated </a:t>
            </a:r>
            <a:r>
              <a:rPr sz="1100" spc="-20" dirty="0">
                <a:solidFill>
                  <a:srgbClr val="000000"/>
                </a:solidFill>
              </a:rPr>
              <a:t>by </a:t>
            </a:r>
            <a:r>
              <a:rPr sz="1100" spc="-5" dirty="0">
                <a:solidFill>
                  <a:srgbClr val="000000"/>
                </a:solidFill>
              </a:rPr>
              <a:t>the relationship</a:t>
            </a:r>
            <a:r>
              <a:rPr sz="1100" spc="-15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type.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82021" y="1096634"/>
            <a:ext cx="1123950" cy="1234440"/>
            <a:chOff x="1382021" y="1096634"/>
            <a:chExt cx="1123950" cy="1234440"/>
          </a:xfrm>
        </p:grpSpPr>
        <p:sp>
          <p:nvSpPr>
            <p:cNvPr id="25" name="object 25"/>
            <p:cNvSpPr/>
            <p:nvPr/>
          </p:nvSpPr>
          <p:spPr>
            <a:xfrm>
              <a:off x="2351851" y="1096634"/>
              <a:ext cx="154123" cy="15412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51851" y="1456639"/>
              <a:ext cx="154123" cy="15412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82021" y="1456639"/>
              <a:ext cx="154123" cy="15412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31355" y="1200522"/>
              <a:ext cx="825500" cy="306705"/>
            </a:xfrm>
            <a:custGeom>
              <a:avLst/>
              <a:gdLst/>
              <a:ahLst/>
              <a:cxnLst/>
              <a:rect l="l" t="t" r="r" b="b"/>
              <a:pathLst>
                <a:path w="825500" h="306705">
                  <a:moveTo>
                    <a:pt x="0" y="306348"/>
                  </a:moveTo>
                  <a:lnTo>
                    <a:pt x="825283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51851" y="1816643"/>
              <a:ext cx="154123" cy="15412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382021" y="1816643"/>
              <a:ext cx="154123" cy="15412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21028" y="1219682"/>
              <a:ext cx="846455" cy="674370"/>
            </a:xfrm>
            <a:custGeom>
              <a:avLst/>
              <a:gdLst/>
              <a:ahLst/>
              <a:cxnLst/>
              <a:rect l="l" t="t" r="r" b="b"/>
              <a:pathLst>
                <a:path w="846455" h="674369">
                  <a:moveTo>
                    <a:pt x="10327" y="340847"/>
                  </a:moveTo>
                  <a:lnTo>
                    <a:pt x="835611" y="647195"/>
                  </a:lnTo>
                </a:path>
                <a:path w="846455" h="674369">
                  <a:moveTo>
                    <a:pt x="0" y="628033"/>
                  </a:moveTo>
                  <a:lnTo>
                    <a:pt x="845939" y="0"/>
                  </a:lnTo>
                </a:path>
                <a:path w="846455" h="674369">
                  <a:moveTo>
                    <a:pt x="15116" y="674021"/>
                  </a:moveTo>
                  <a:lnTo>
                    <a:pt x="830823" y="674021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51851" y="2176647"/>
              <a:ext cx="154123" cy="15412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82021" y="2176647"/>
              <a:ext cx="154123" cy="15412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21028" y="1579687"/>
              <a:ext cx="846455" cy="647700"/>
            </a:xfrm>
            <a:custGeom>
              <a:avLst/>
              <a:gdLst/>
              <a:ahLst/>
              <a:cxnLst/>
              <a:rect l="l" t="t" r="r" b="b"/>
              <a:pathLst>
                <a:path w="846455" h="647700">
                  <a:moveTo>
                    <a:pt x="10327" y="340847"/>
                  </a:moveTo>
                  <a:lnTo>
                    <a:pt x="835611" y="647195"/>
                  </a:lnTo>
                </a:path>
                <a:path w="846455" h="647700">
                  <a:moveTo>
                    <a:pt x="0" y="628034"/>
                  </a:moveTo>
                  <a:lnTo>
                    <a:pt x="845939" y="0"/>
                  </a:lnTo>
                </a:path>
                <a:path w="846455" h="647700">
                  <a:moveTo>
                    <a:pt x="10327" y="647191"/>
                  </a:moveTo>
                  <a:lnTo>
                    <a:pt x="835611" y="340843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41960" y="2517722"/>
            <a:ext cx="2961005" cy="83311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37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20" dirty="0">
                <a:latin typeface="Arial"/>
                <a:cs typeface="Arial"/>
              </a:rPr>
              <a:t>Above </a:t>
            </a:r>
            <a:r>
              <a:rPr sz="1100" spc="-10" dirty="0">
                <a:latin typeface="Arial"/>
                <a:cs typeface="Arial"/>
              </a:rPr>
              <a:t>diagram </a:t>
            </a:r>
            <a:r>
              <a:rPr sz="1100" spc="-5" dirty="0">
                <a:latin typeface="Arial"/>
                <a:cs typeface="Arial"/>
              </a:rPr>
              <a:t>is </a:t>
            </a:r>
            <a:r>
              <a:rPr sz="1100" i="1" spc="-5" dirty="0">
                <a:latin typeface="Arial"/>
                <a:cs typeface="Arial"/>
              </a:rPr>
              <a:t>not </a:t>
            </a:r>
            <a:r>
              <a:rPr sz="1100" spc="-10" dirty="0">
                <a:latin typeface="Arial"/>
                <a:cs typeface="Arial"/>
              </a:rPr>
              <a:t>an</a:t>
            </a:r>
            <a:r>
              <a:rPr sz="1100" spc="10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ERD</a:t>
            </a:r>
            <a:endParaRPr sz="1100">
              <a:latin typeface="Arial"/>
              <a:cs typeface="Arial"/>
            </a:endParaRPr>
          </a:p>
          <a:p>
            <a:pPr marL="214629" indent="-177165">
              <a:lnSpc>
                <a:spcPct val="100000"/>
              </a:lnSpc>
              <a:spcBef>
                <a:spcPts val="27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Entities </a:t>
            </a:r>
            <a:r>
              <a:rPr sz="1100" spc="-20" dirty="0">
                <a:latin typeface="Arial"/>
                <a:cs typeface="Arial"/>
              </a:rPr>
              <a:t>for </a:t>
            </a:r>
            <a:r>
              <a:rPr sz="1100" spc="-10" dirty="0">
                <a:latin typeface="Arial"/>
                <a:cs typeface="Arial"/>
              </a:rPr>
              <a:t>one </a:t>
            </a:r>
            <a:r>
              <a:rPr sz="1100" spc="-5" dirty="0">
                <a:latin typeface="Arial"/>
                <a:cs typeface="Arial"/>
              </a:rPr>
              <a:t>entity type </a:t>
            </a:r>
            <a:r>
              <a:rPr sz="1100" spc="-10" dirty="0">
                <a:latin typeface="Arial"/>
                <a:cs typeface="Arial"/>
              </a:rPr>
              <a:t>on </a:t>
            </a:r>
            <a:r>
              <a:rPr sz="1100" spc="-5" dirty="0">
                <a:latin typeface="Arial"/>
                <a:cs typeface="Arial"/>
              </a:rPr>
              <a:t>left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(green)</a:t>
            </a:r>
            <a:endParaRPr sz="1100">
              <a:latin typeface="Arial"/>
              <a:cs typeface="Arial"/>
            </a:endParaRPr>
          </a:p>
          <a:p>
            <a:pPr marL="214629" indent="-177165">
              <a:lnSpc>
                <a:spcPct val="100000"/>
              </a:lnSpc>
              <a:spcBef>
                <a:spcPts val="265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Entities </a:t>
            </a:r>
            <a:r>
              <a:rPr sz="1100" spc="-20" dirty="0">
                <a:latin typeface="Arial"/>
                <a:cs typeface="Arial"/>
              </a:rPr>
              <a:t>for </a:t>
            </a:r>
            <a:r>
              <a:rPr sz="1100" spc="-5" dirty="0">
                <a:latin typeface="Arial"/>
                <a:cs typeface="Arial"/>
              </a:rPr>
              <a:t>another entity type </a:t>
            </a:r>
            <a:r>
              <a:rPr sz="1100" spc="-10" dirty="0">
                <a:latin typeface="Arial"/>
                <a:cs typeface="Arial"/>
              </a:rPr>
              <a:t>on </a:t>
            </a:r>
            <a:r>
              <a:rPr sz="1100" spc="-5" dirty="0">
                <a:latin typeface="Arial"/>
                <a:cs typeface="Arial"/>
              </a:rPr>
              <a:t>right (red)</a:t>
            </a:r>
            <a:endParaRPr sz="1100">
              <a:latin typeface="Arial"/>
              <a:cs typeface="Arial"/>
            </a:endParaRPr>
          </a:p>
          <a:p>
            <a:pPr marL="214629" indent="-177165">
              <a:lnSpc>
                <a:spcPct val="100000"/>
              </a:lnSpc>
              <a:spcBef>
                <a:spcPts val="27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Lines </a:t>
            </a:r>
            <a:r>
              <a:rPr sz="1100" spc="-10" dirty="0">
                <a:latin typeface="Arial"/>
                <a:cs typeface="Arial"/>
              </a:rPr>
              <a:t>between </a:t>
            </a:r>
            <a:r>
              <a:rPr sz="1100" spc="-5" dirty="0">
                <a:latin typeface="Arial"/>
                <a:cs typeface="Arial"/>
              </a:rPr>
              <a:t>entities </a:t>
            </a:r>
            <a:r>
              <a:rPr sz="1100" spc="-15" dirty="0">
                <a:latin typeface="Arial"/>
                <a:cs typeface="Arial"/>
              </a:rPr>
              <a:t>show </a:t>
            </a:r>
            <a:r>
              <a:rPr sz="1100" spc="-5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relationship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6061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Multiplicity Constraints in </a:t>
            </a:r>
            <a:r>
              <a:rPr spc="15" dirty="0"/>
              <a:t>Relationship</a:t>
            </a:r>
            <a:r>
              <a:rPr spc="10" dirty="0"/>
              <a:t> </a:t>
            </a:r>
            <a:r>
              <a:rPr spc="-20" dirty="0"/>
              <a:t>Types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1960" y="962265"/>
            <a:ext cx="3446145" cy="1472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  <a:hlinkClick r:id="rId8" action="ppaction://hlinksldjump"/>
              </a:rPr>
              <a:t>many-to-one </a:t>
            </a:r>
            <a:r>
              <a:rPr sz="1100" spc="-5" dirty="0">
                <a:latin typeface="Arial"/>
                <a:cs typeface="Arial"/>
              </a:rPr>
              <a:t>(or </a:t>
            </a:r>
            <a:r>
              <a:rPr sz="1100" spc="-10" dirty="0">
                <a:latin typeface="Arial"/>
                <a:cs typeface="Arial"/>
              </a:rPr>
              <a:t>one-to-many)</a:t>
            </a:r>
            <a:endParaRPr sz="1100">
              <a:latin typeface="Arial"/>
              <a:cs typeface="Arial"/>
            </a:endParaRPr>
          </a:p>
          <a:p>
            <a:pPr marL="214629" marR="515620">
              <a:lnSpc>
                <a:spcPct val="102600"/>
              </a:lnSpc>
            </a:pPr>
            <a:r>
              <a:rPr sz="1100" spc="-10" dirty="0">
                <a:latin typeface="Arial"/>
                <a:cs typeface="Arial"/>
              </a:rPr>
              <a:t>An </a:t>
            </a:r>
            <a:r>
              <a:rPr sz="1100" spc="-15" dirty="0">
                <a:latin typeface="Arial"/>
                <a:cs typeface="Arial"/>
              </a:rPr>
              <a:t>Employee </a:t>
            </a:r>
            <a:r>
              <a:rPr sz="1100" spc="-10" dirty="0">
                <a:latin typeface="Arial"/>
                <a:cs typeface="Arial"/>
              </a:rPr>
              <a:t>Works </a:t>
            </a:r>
            <a:r>
              <a:rPr sz="1100" spc="-5" dirty="0">
                <a:latin typeface="Arial"/>
                <a:cs typeface="Arial"/>
              </a:rPr>
              <a:t>in </a:t>
            </a:r>
            <a:r>
              <a:rPr sz="1100" spc="-10" dirty="0">
                <a:latin typeface="Arial"/>
                <a:cs typeface="Arial"/>
              </a:rPr>
              <a:t>one </a:t>
            </a:r>
            <a:r>
              <a:rPr sz="1100" spc="-5" dirty="0">
                <a:latin typeface="Arial"/>
                <a:cs typeface="Arial"/>
              </a:rPr>
              <a:t>Department or </a:t>
            </a:r>
            <a:r>
              <a:rPr sz="1100" spc="-10" dirty="0">
                <a:latin typeface="Arial"/>
                <a:cs typeface="Arial"/>
              </a:rPr>
              <a:t>a  </a:t>
            </a:r>
            <a:r>
              <a:rPr sz="1100" spc="-5" dirty="0">
                <a:latin typeface="Arial"/>
                <a:cs typeface="Arial"/>
              </a:rPr>
              <a:t>Department has </a:t>
            </a:r>
            <a:r>
              <a:rPr sz="1100" spc="-15" dirty="0">
                <a:latin typeface="Arial"/>
                <a:cs typeface="Arial"/>
              </a:rPr>
              <a:t>many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15" dirty="0">
                <a:latin typeface="Arial"/>
                <a:cs typeface="Arial"/>
              </a:rPr>
              <a:t>Employees.</a:t>
            </a:r>
            <a:endParaRPr sz="1100">
              <a:latin typeface="Arial"/>
              <a:cs typeface="Arial"/>
            </a:endParaRPr>
          </a:p>
          <a:p>
            <a:pPr marL="214629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  <a:hlinkClick r:id="rId9" action="ppaction://hlinksldjump"/>
              </a:rPr>
              <a:t>one-to-one</a:t>
            </a:r>
            <a:endParaRPr sz="11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Arial"/>
                <a:cs typeface="Arial"/>
              </a:rPr>
              <a:t>A Manager Heads one </a:t>
            </a:r>
            <a:r>
              <a:rPr sz="1100" spc="-5" dirty="0">
                <a:latin typeface="Arial"/>
                <a:cs typeface="Arial"/>
              </a:rPr>
              <a:t>Department </a:t>
            </a:r>
            <a:r>
              <a:rPr sz="1100" spc="-10" dirty="0">
                <a:latin typeface="Arial"/>
                <a:cs typeface="Arial"/>
              </a:rPr>
              <a:t>and </a:t>
            </a:r>
            <a:r>
              <a:rPr sz="1100" spc="-5" dirty="0">
                <a:latin typeface="Arial"/>
                <a:cs typeface="Arial"/>
              </a:rPr>
              <a:t>vice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versa.</a:t>
            </a:r>
            <a:endParaRPr sz="1100">
              <a:latin typeface="Arial"/>
              <a:cs typeface="Arial"/>
            </a:endParaRPr>
          </a:p>
          <a:p>
            <a:pPr marL="214629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  <a:hlinkClick r:id="rId10" action="ppaction://hlinksldjump"/>
              </a:rPr>
              <a:t>many-to-many</a:t>
            </a:r>
            <a:endParaRPr sz="1100">
              <a:latin typeface="Arial"/>
              <a:cs typeface="Arial"/>
            </a:endParaRPr>
          </a:p>
          <a:p>
            <a:pPr marL="214629" marR="30480">
              <a:lnSpc>
                <a:spcPct val="102699"/>
              </a:lnSpc>
            </a:pP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Lecturer </a:t>
            </a:r>
            <a:r>
              <a:rPr sz="1100" spc="-25" dirty="0">
                <a:latin typeface="Arial"/>
                <a:cs typeface="Arial"/>
              </a:rPr>
              <a:t>Teaches </a:t>
            </a:r>
            <a:r>
              <a:rPr sz="1100" spc="-15" dirty="0">
                <a:latin typeface="Arial"/>
                <a:cs typeface="Arial"/>
              </a:rPr>
              <a:t>many </a:t>
            </a:r>
            <a:r>
              <a:rPr sz="1100" spc="-5" dirty="0">
                <a:latin typeface="Arial"/>
                <a:cs typeface="Arial"/>
              </a:rPr>
              <a:t>Students </a:t>
            </a:r>
            <a:r>
              <a:rPr sz="1100" spc="-10" dirty="0">
                <a:latin typeface="Arial"/>
                <a:cs typeface="Arial"/>
              </a:rPr>
              <a:t>and a </a:t>
            </a:r>
            <a:r>
              <a:rPr sz="1100" spc="-5" dirty="0">
                <a:latin typeface="Arial"/>
                <a:cs typeface="Arial"/>
              </a:rPr>
              <a:t>Student is  </a:t>
            </a:r>
            <a:r>
              <a:rPr sz="1100" spc="-30" dirty="0">
                <a:latin typeface="Arial"/>
                <a:cs typeface="Arial"/>
              </a:rPr>
              <a:t>Taught </a:t>
            </a:r>
            <a:r>
              <a:rPr sz="1100" spc="-20" dirty="0">
                <a:latin typeface="Arial"/>
                <a:cs typeface="Arial"/>
              </a:rPr>
              <a:t>by </a:t>
            </a:r>
            <a:r>
              <a:rPr sz="1100" spc="-15" dirty="0">
                <a:latin typeface="Arial"/>
                <a:cs typeface="Arial"/>
              </a:rPr>
              <a:t>many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Lecturers.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3851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Example </a:t>
            </a:r>
            <a:r>
              <a:rPr spc="10" dirty="0"/>
              <a:t>of </a:t>
            </a:r>
            <a:r>
              <a:rPr spc="15" dirty="0"/>
              <a:t>many-to-one </a:t>
            </a:r>
            <a:r>
              <a:rPr spc="10" dirty="0"/>
              <a:t>relationship</a:t>
            </a:r>
            <a:r>
              <a:rPr spc="-20" dirty="0"/>
              <a:t> </a:t>
            </a:r>
            <a:r>
              <a:rPr spc="15" dirty="0"/>
              <a:t>type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48362" y="1069961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0287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810"/>
              </a:spcBef>
            </a:pPr>
            <a:r>
              <a:rPr sz="1100" spc="-15" dirty="0">
                <a:latin typeface="Arial"/>
                <a:cs typeface="Arial"/>
              </a:rPr>
              <a:t>Employee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532481" y="866241"/>
            <a:ext cx="823594" cy="823594"/>
          </a:xfrm>
          <a:custGeom>
            <a:avLst/>
            <a:gdLst/>
            <a:ahLst/>
            <a:cxnLst/>
            <a:rect l="l" t="t" r="r" b="b"/>
            <a:pathLst>
              <a:path w="823594" h="823594">
                <a:moveTo>
                  <a:pt x="823076" y="411543"/>
                </a:moveTo>
                <a:lnTo>
                  <a:pt x="411533" y="0"/>
                </a:lnTo>
                <a:lnTo>
                  <a:pt x="0" y="411543"/>
                </a:lnTo>
                <a:lnTo>
                  <a:pt x="411533" y="823076"/>
                </a:lnTo>
                <a:lnTo>
                  <a:pt x="823076" y="411543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659127" y="1175117"/>
            <a:ext cx="5702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Arial"/>
                <a:cs typeface="Arial"/>
              </a:rPr>
              <a:t>W</a:t>
            </a:r>
            <a:r>
              <a:rPr sz="1100" spc="-10" dirty="0">
                <a:latin typeface="Arial"/>
                <a:cs typeface="Arial"/>
              </a:rPr>
              <a:t>o</a:t>
            </a:r>
            <a:r>
              <a:rPr sz="1100" spc="10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ks-in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87236" y="1232868"/>
            <a:ext cx="1308735" cy="90170"/>
            <a:chOff x="1287236" y="1232868"/>
            <a:chExt cx="1308735" cy="90170"/>
          </a:xfrm>
        </p:grpSpPr>
        <p:sp>
          <p:nvSpPr>
            <p:cNvPr id="28" name="object 28"/>
            <p:cNvSpPr/>
            <p:nvPr/>
          </p:nvSpPr>
          <p:spPr>
            <a:xfrm>
              <a:off x="1287236" y="1277785"/>
              <a:ext cx="234950" cy="0"/>
            </a:xfrm>
            <a:custGeom>
              <a:avLst/>
              <a:gdLst/>
              <a:ahLst/>
              <a:cxnLst/>
              <a:rect l="l" t="t" r="r" b="b"/>
              <a:pathLst>
                <a:path w="234950">
                  <a:moveTo>
                    <a:pt x="234464" y="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66327" y="1232868"/>
              <a:ext cx="229415" cy="8983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608389" y="1069961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028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810"/>
              </a:spcBef>
            </a:pPr>
            <a:r>
              <a:rPr sz="1100" spc="-5" dirty="0">
                <a:latin typeface="Arial"/>
                <a:cs typeface="Arial"/>
              </a:rPr>
              <a:t>Department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1897" y="1869578"/>
            <a:ext cx="3561715" cy="8223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633730">
              <a:lnSpc>
                <a:spcPct val="102699"/>
              </a:lnSpc>
              <a:spcBef>
                <a:spcPts val="55"/>
              </a:spcBef>
            </a:pP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The arrowhead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is </a:t>
            </a:r>
            <a:r>
              <a:rPr sz="1100" spc="-15" dirty="0">
                <a:solidFill>
                  <a:srgbClr val="FF0000"/>
                </a:solidFill>
                <a:latin typeface="Arial"/>
                <a:cs typeface="Arial"/>
              </a:rPr>
              <a:t>drawn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at the “one”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end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of the  relationship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type</a:t>
            </a:r>
            <a:endParaRPr sz="11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630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15" dirty="0">
                <a:latin typeface="Arial"/>
                <a:cs typeface="Arial"/>
              </a:rPr>
              <a:t>Employee </a:t>
            </a:r>
            <a:r>
              <a:rPr sz="1100" spc="-10" dirty="0">
                <a:latin typeface="Arial"/>
                <a:cs typeface="Arial"/>
              </a:rPr>
              <a:t>Works-in one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Department</a:t>
            </a:r>
            <a:endParaRPr sz="1100" dirty="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5" dirty="0">
                <a:latin typeface="Arial"/>
                <a:cs typeface="Arial"/>
              </a:rPr>
              <a:t>Department has </a:t>
            </a:r>
            <a:r>
              <a:rPr sz="1100" spc="-15" dirty="0">
                <a:latin typeface="Arial"/>
                <a:cs typeface="Arial"/>
              </a:rPr>
              <a:t>many Employees </a:t>
            </a:r>
            <a:r>
              <a:rPr sz="1100" spc="-5" dirty="0">
                <a:latin typeface="Arial"/>
                <a:cs typeface="Arial"/>
              </a:rPr>
              <a:t>working in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it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29895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Example </a:t>
            </a:r>
            <a:r>
              <a:rPr spc="10" dirty="0"/>
              <a:t>of </a:t>
            </a:r>
            <a:r>
              <a:rPr spc="15" dirty="0"/>
              <a:t>many-to-one</a:t>
            </a:r>
            <a:r>
              <a:rPr spc="-15" dirty="0"/>
              <a:t> </a:t>
            </a:r>
            <a:r>
              <a:rPr spc="10" dirty="0"/>
              <a:t>relationship</a:t>
            </a:r>
          </a:p>
        </p:txBody>
      </p:sp>
      <p:grpSp>
        <p:nvGrpSpPr>
          <p:cNvPr id="24" name="object 24"/>
          <p:cNvGrpSpPr/>
          <p:nvPr/>
        </p:nvGrpSpPr>
        <p:grpSpPr>
          <a:xfrm>
            <a:off x="1346028" y="452164"/>
            <a:ext cx="1196340" cy="1846580"/>
            <a:chOff x="1346028" y="452164"/>
            <a:chExt cx="1196340" cy="1846580"/>
          </a:xfrm>
        </p:grpSpPr>
        <p:sp>
          <p:nvSpPr>
            <p:cNvPr id="25" name="object 25"/>
            <p:cNvSpPr/>
            <p:nvPr/>
          </p:nvSpPr>
          <p:spPr>
            <a:xfrm>
              <a:off x="1346028" y="452164"/>
              <a:ext cx="226124" cy="2261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46028" y="992171"/>
              <a:ext cx="226124" cy="22612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15858" y="992171"/>
              <a:ext cx="226123" cy="22612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58157" y="620383"/>
              <a:ext cx="772160" cy="429895"/>
            </a:xfrm>
            <a:custGeom>
              <a:avLst/>
              <a:gdLst/>
              <a:ahLst/>
              <a:cxnLst/>
              <a:rect l="l" t="t" r="r" b="b"/>
              <a:pathLst>
                <a:path w="772160" h="429894">
                  <a:moveTo>
                    <a:pt x="771695" y="429683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46028" y="1532177"/>
              <a:ext cx="226124" cy="2261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15858" y="1532177"/>
              <a:ext cx="226123" cy="22612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58157" y="1160397"/>
              <a:ext cx="772160" cy="429895"/>
            </a:xfrm>
            <a:custGeom>
              <a:avLst/>
              <a:gdLst/>
              <a:ahLst/>
              <a:cxnLst/>
              <a:rect l="l" t="t" r="r" b="b"/>
              <a:pathLst>
                <a:path w="772160" h="429894">
                  <a:moveTo>
                    <a:pt x="771695" y="0"/>
                  </a:moveTo>
                  <a:lnTo>
                    <a:pt x="0" y="429684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46028" y="2072189"/>
              <a:ext cx="226124" cy="22612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15858" y="2072189"/>
              <a:ext cx="226123" cy="22612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34932" y="1189690"/>
              <a:ext cx="818515" cy="940435"/>
            </a:xfrm>
            <a:custGeom>
              <a:avLst/>
              <a:gdLst/>
              <a:ahLst/>
              <a:cxnLst/>
              <a:rect l="l" t="t" r="r" b="b"/>
              <a:pathLst>
                <a:path w="818514" h="940435">
                  <a:moveTo>
                    <a:pt x="794920" y="510713"/>
                  </a:moveTo>
                  <a:lnTo>
                    <a:pt x="23224" y="940404"/>
                  </a:lnTo>
                </a:path>
                <a:path w="818514" h="940435">
                  <a:moveTo>
                    <a:pt x="818143" y="911105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1346028" y="2612193"/>
            <a:ext cx="1196340" cy="766445"/>
            <a:chOff x="1346028" y="2612193"/>
            <a:chExt cx="1196340" cy="766445"/>
          </a:xfrm>
        </p:grpSpPr>
        <p:sp>
          <p:nvSpPr>
            <p:cNvPr id="36" name="object 36"/>
            <p:cNvSpPr/>
            <p:nvPr/>
          </p:nvSpPr>
          <p:spPr>
            <a:xfrm>
              <a:off x="1346028" y="2612193"/>
              <a:ext cx="226124" cy="22612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46028" y="3152197"/>
              <a:ext cx="226124" cy="22612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15858" y="2612193"/>
              <a:ext cx="226123" cy="22612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58157" y="2725255"/>
              <a:ext cx="772160" cy="485140"/>
            </a:xfrm>
            <a:custGeom>
              <a:avLst/>
              <a:gdLst/>
              <a:ahLst/>
              <a:cxnLst/>
              <a:rect l="l" t="t" r="r" b="b"/>
              <a:pathLst>
                <a:path w="772160" h="485139">
                  <a:moveTo>
                    <a:pt x="771695" y="55168"/>
                  </a:moveTo>
                  <a:lnTo>
                    <a:pt x="0" y="484847"/>
                  </a:lnTo>
                </a:path>
                <a:path w="772160" h="485139">
                  <a:moveTo>
                    <a:pt x="757701" y="0"/>
                  </a:moveTo>
                  <a:lnTo>
                    <a:pt x="13994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2461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Example </a:t>
            </a:r>
            <a:r>
              <a:rPr spc="10" dirty="0"/>
              <a:t>of </a:t>
            </a:r>
            <a:r>
              <a:rPr spc="15" dirty="0"/>
              <a:t>one-to-one </a:t>
            </a:r>
            <a:r>
              <a:rPr spc="10" dirty="0"/>
              <a:t>relationship</a:t>
            </a:r>
            <a:r>
              <a:rPr spc="-10" dirty="0"/>
              <a:t> </a:t>
            </a:r>
            <a:r>
              <a:rPr spc="15" dirty="0"/>
              <a:t>type</a:t>
            </a:r>
          </a:p>
        </p:txBody>
      </p:sp>
      <p:sp>
        <p:nvSpPr>
          <p:cNvPr id="24" name="object 24"/>
          <p:cNvSpPr/>
          <p:nvPr/>
        </p:nvSpPr>
        <p:spPr>
          <a:xfrm>
            <a:off x="1500545" y="931799"/>
            <a:ext cx="887094" cy="887094"/>
          </a:xfrm>
          <a:custGeom>
            <a:avLst/>
            <a:gdLst/>
            <a:ahLst/>
            <a:cxnLst/>
            <a:rect l="l" t="t" r="r" b="b"/>
            <a:pathLst>
              <a:path w="887094" h="887094">
                <a:moveTo>
                  <a:pt x="886940" y="443471"/>
                </a:moveTo>
                <a:lnTo>
                  <a:pt x="443468" y="0"/>
                </a:lnTo>
                <a:lnTo>
                  <a:pt x="0" y="443471"/>
                </a:lnTo>
                <a:lnTo>
                  <a:pt x="443468" y="886940"/>
                </a:lnTo>
                <a:lnTo>
                  <a:pt x="886940" y="443471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48363" y="1167446"/>
            <a:ext cx="831288" cy="443710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L="142240">
              <a:lnSpc>
                <a:spcPct val="100000"/>
              </a:lnSpc>
              <a:spcBef>
                <a:spcPts val="819"/>
              </a:spcBef>
              <a:tabLst>
                <a:tab pos="1206500" algn="l"/>
              </a:tabLst>
            </a:pPr>
            <a:r>
              <a:rPr sz="1100" spc="-10" dirty="0">
                <a:latin typeface="Arial"/>
                <a:cs typeface="Arial"/>
              </a:rPr>
              <a:t>Manager	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292298" y="1330353"/>
            <a:ext cx="1303655" cy="90170"/>
            <a:chOff x="1292298" y="1330353"/>
            <a:chExt cx="1303655" cy="90170"/>
          </a:xfrm>
        </p:grpSpPr>
        <p:sp>
          <p:nvSpPr>
            <p:cNvPr id="27" name="object 27"/>
            <p:cNvSpPr/>
            <p:nvPr/>
          </p:nvSpPr>
          <p:spPr>
            <a:xfrm>
              <a:off x="1292298" y="1330353"/>
              <a:ext cx="197473" cy="8983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98267" y="1330353"/>
              <a:ext cx="197474" cy="8983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608389" y="1167446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234315">
              <a:lnSpc>
                <a:spcPct val="100000"/>
              </a:lnSpc>
              <a:spcBef>
                <a:spcPts val="925"/>
              </a:spcBef>
            </a:pPr>
            <a:r>
              <a:rPr sz="1100" spc="-5" dirty="0">
                <a:latin typeface="Arial"/>
                <a:cs typeface="Arial"/>
              </a:rPr>
              <a:t>Office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1897" y="1999004"/>
            <a:ext cx="3489325" cy="8223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Arial"/>
                <a:cs typeface="Arial"/>
              </a:rPr>
              <a:t>The arrowhead </a:t>
            </a:r>
            <a:r>
              <a:rPr sz="1100" spc="-5" dirty="0">
                <a:latin typeface="Arial"/>
                <a:cs typeface="Arial"/>
              </a:rPr>
              <a:t>is </a:t>
            </a:r>
            <a:r>
              <a:rPr sz="1100" spc="-15" dirty="0">
                <a:latin typeface="Arial"/>
                <a:cs typeface="Arial"/>
              </a:rPr>
              <a:t>drawn </a:t>
            </a:r>
            <a:r>
              <a:rPr sz="1100" spc="-5" dirty="0">
                <a:latin typeface="Arial"/>
                <a:cs typeface="Arial"/>
              </a:rPr>
              <a:t>at both </a:t>
            </a:r>
            <a:r>
              <a:rPr sz="1100" spc="-10" dirty="0">
                <a:latin typeface="Arial"/>
                <a:cs typeface="Arial"/>
              </a:rPr>
              <a:t>ends </a:t>
            </a:r>
            <a:r>
              <a:rPr sz="1100" spc="-5" dirty="0">
                <a:latin typeface="Arial"/>
                <a:cs typeface="Arial"/>
              </a:rPr>
              <a:t>of the relationship  type</a:t>
            </a:r>
            <a:endParaRPr sz="110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635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10" dirty="0">
                <a:latin typeface="Arial"/>
                <a:cs typeface="Arial"/>
              </a:rPr>
              <a:t>Each Manager </a:t>
            </a:r>
            <a:r>
              <a:rPr sz="1100" spc="-5" dirty="0">
                <a:latin typeface="Arial"/>
                <a:cs typeface="Arial"/>
              </a:rPr>
              <a:t>Occupies </a:t>
            </a:r>
            <a:r>
              <a:rPr sz="1100" spc="-10" dirty="0">
                <a:latin typeface="Arial"/>
                <a:cs typeface="Arial"/>
              </a:rPr>
              <a:t>one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Office</a:t>
            </a:r>
            <a:endParaRPr sz="110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5" dirty="0">
                <a:latin typeface="Arial"/>
                <a:cs typeface="Arial"/>
              </a:rPr>
              <a:t>Office has </a:t>
            </a:r>
            <a:r>
              <a:rPr sz="1100" spc="-10" dirty="0">
                <a:latin typeface="Arial"/>
                <a:cs typeface="Arial"/>
              </a:rPr>
              <a:t>one Manager occupying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it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مستطيل 30"/>
          <p:cNvSpPr/>
          <p:nvPr/>
        </p:nvSpPr>
        <p:spPr>
          <a:xfrm>
            <a:off x="1549225" y="1236769"/>
            <a:ext cx="8191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spc="-5" dirty="0">
                <a:latin typeface="Arial"/>
                <a:cs typeface="Arial"/>
              </a:rPr>
              <a:t>Occupies</a:t>
            </a:r>
            <a:endParaRPr lang="en-US" sz="1200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2851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Example </a:t>
            </a:r>
            <a:r>
              <a:rPr spc="10" dirty="0"/>
              <a:t>of </a:t>
            </a:r>
            <a:r>
              <a:rPr spc="15" dirty="0"/>
              <a:t>one-to-one</a:t>
            </a:r>
            <a:r>
              <a:rPr spc="-5" dirty="0"/>
              <a:t> </a:t>
            </a:r>
            <a:r>
              <a:rPr spc="10" dirty="0"/>
              <a:t>relationship</a:t>
            </a:r>
          </a:p>
        </p:txBody>
      </p:sp>
      <p:grpSp>
        <p:nvGrpSpPr>
          <p:cNvPr id="24" name="object 24"/>
          <p:cNvGrpSpPr/>
          <p:nvPr/>
        </p:nvGrpSpPr>
        <p:grpSpPr>
          <a:xfrm>
            <a:off x="1346028" y="452164"/>
            <a:ext cx="1196340" cy="1846580"/>
            <a:chOff x="1346028" y="452164"/>
            <a:chExt cx="1196340" cy="1846580"/>
          </a:xfrm>
        </p:grpSpPr>
        <p:sp>
          <p:nvSpPr>
            <p:cNvPr id="25" name="object 25"/>
            <p:cNvSpPr/>
            <p:nvPr/>
          </p:nvSpPr>
          <p:spPr>
            <a:xfrm>
              <a:off x="1346028" y="452164"/>
              <a:ext cx="226124" cy="2261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46028" y="992171"/>
              <a:ext cx="226124" cy="22612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15858" y="992171"/>
              <a:ext cx="226123" cy="22612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58157" y="620383"/>
              <a:ext cx="772160" cy="429895"/>
            </a:xfrm>
            <a:custGeom>
              <a:avLst/>
              <a:gdLst/>
              <a:ahLst/>
              <a:cxnLst/>
              <a:rect l="l" t="t" r="r" b="b"/>
              <a:pathLst>
                <a:path w="772160" h="429894">
                  <a:moveTo>
                    <a:pt x="771695" y="429683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46028" y="1532177"/>
              <a:ext cx="226124" cy="2261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346028" y="2072189"/>
              <a:ext cx="226124" cy="22612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315858" y="1532177"/>
              <a:ext cx="226123" cy="22612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15858" y="2072189"/>
              <a:ext cx="226123" cy="22612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34932" y="1189690"/>
              <a:ext cx="818515" cy="940435"/>
            </a:xfrm>
            <a:custGeom>
              <a:avLst/>
              <a:gdLst/>
              <a:ahLst/>
              <a:cxnLst/>
              <a:rect l="l" t="t" r="r" b="b"/>
              <a:pathLst>
                <a:path w="818514" h="940435">
                  <a:moveTo>
                    <a:pt x="794920" y="510713"/>
                  </a:moveTo>
                  <a:lnTo>
                    <a:pt x="23224" y="940404"/>
                  </a:lnTo>
                </a:path>
                <a:path w="818514" h="940435">
                  <a:moveTo>
                    <a:pt x="818143" y="911105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1346028" y="2612193"/>
            <a:ext cx="1196340" cy="226695"/>
            <a:chOff x="1346028" y="2612193"/>
            <a:chExt cx="1196340" cy="226695"/>
          </a:xfrm>
        </p:grpSpPr>
        <p:sp>
          <p:nvSpPr>
            <p:cNvPr id="35" name="object 35"/>
            <p:cNvSpPr/>
            <p:nvPr/>
          </p:nvSpPr>
          <p:spPr>
            <a:xfrm>
              <a:off x="1346028" y="2612193"/>
              <a:ext cx="226124" cy="22612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15858" y="2612193"/>
              <a:ext cx="226123" cy="22612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572152" y="2725255"/>
              <a:ext cx="744220" cy="0"/>
            </a:xfrm>
            <a:custGeom>
              <a:avLst/>
              <a:gdLst/>
              <a:ahLst/>
              <a:cxnLst/>
              <a:rect l="l" t="t" r="r" b="b"/>
              <a:pathLst>
                <a:path w="744219">
                  <a:moveTo>
                    <a:pt x="743706" y="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/>
          <p:nvPr/>
        </p:nvSpPr>
        <p:spPr>
          <a:xfrm>
            <a:off x="1346028" y="3152197"/>
            <a:ext cx="226124" cy="2261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5236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Example </a:t>
            </a:r>
            <a:r>
              <a:rPr spc="10" dirty="0"/>
              <a:t>of many-to-many relationship</a:t>
            </a:r>
            <a:r>
              <a:rPr spc="25" dirty="0"/>
              <a:t> </a:t>
            </a:r>
            <a:r>
              <a:rPr spc="15" dirty="0"/>
              <a:t>type</a:t>
            </a:r>
          </a:p>
        </p:txBody>
      </p:sp>
      <p:sp>
        <p:nvSpPr>
          <p:cNvPr id="24" name="object 24"/>
          <p:cNvSpPr/>
          <p:nvPr/>
        </p:nvSpPr>
        <p:spPr>
          <a:xfrm>
            <a:off x="1547304" y="946937"/>
            <a:ext cx="793750" cy="793750"/>
          </a:xfrm>
          <a:custGeom>
            <a:avLst/>
            <a:gdLst/>
            <a:ahLst/>
            <a:cxnLst/>
            <a:rect l="l" t="t" r="r" b="b"/>
            <a:pathLst>
              <a:path w="793750" h="793750">
                <a:moveTo>
                  <a:pt x="793419" y="396709"/>
                </a:moveTo>
                <a:lnTo>
                  <a:pt x="396709" y="0"/>
                </a:lnTo>
                <a:lnTo>
                  <a:pt x="0" y="396709"/>
                </a:lnTo>
                <a:lnTo>
                  <a:pt x="396709" y="793419"/>
                </a:lnTo>
                <a:lnTo>
                  <a:pt x="793419" y="396709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48363" y="1135823"/>
            <a:ext cx="831536" cy="455894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915"/>
              </a:spcBef>
              <a:tabLst>
                <a:tab pos="1237615" algn="l"/>
              </a:tabLst>
            </a:pPr>
            <a:r>
              <a:rPr sz="1100" spc="-5" dirty="0">
                <a:latin typeface="Arial"/>
                <a:cs typeface="Arial"/>
              </a:rPr>
              <a:t>Lecturer	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287236" y="1343647"/>
            <a:ext cx="1313815" cy="0"/>
          </a:xfrm>
          <a:custGeom>
            <a:avLst/>
            <a:gdLst/>
            <a:ahLst/>
            <a:cxnLst/>
            <a:rect l="l" t="t" r="r" b="b"/>
            <a:pathLst>
              <a:path w="1313814">
                <a:moveTo>
                  <a:pt x="249304" y="0"/>
                </a:moveTo>
                <a:lnTo>
                  <a:pt x="0" y="0"/>
                </a:lnTo>
              </a:path>
              <a:path w="1313814">
                <a:moveTo>
                  <a:pt x="1313558" y="0"/>
                </a:moveTo>
                <a:lnTo>
                  <a:pt x="1064270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608389" y="1135823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925"/>
              </a:spcBef>
            </a:pPr>
            <a:r>
              <a:rPr sz="1100" spc="-5" dirty="0">
                <a:latin typeface="Arial"/>
                <a:cs typeface="Arial"/>
              </a:rPr>
              <a:t>Student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1897" y="1838881"/>
            <a:ext cx="2921000" cy="73152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sz="1100" spc="-10" dirty="0">
                <a:latin typeface="Arial"/>
                <a:cs typeface="Arial"/>
              </a:rPr>
              <a:t>No arrowheads </a:t>
            </a:r>
            <a:r>
              <a:rPr sz="1100" spc="-5" dirty="0">
                <a:latin typeface="Arial"/>
                <a:cs typeface="Arial"/>
              </a:rPr>
              <a:t>are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5" dirty="0">
                <a:latin typeface="Arial"/>
                <a:cs typeface="Arial"/>
              </a:rPr>
              <a:t>drawn</a:t>
            </a:r>
            <a:endParaRPr sz="110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630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5" dirty="0">
                <a:latin typeface="Arial"/>
                <a:cs typeface="Arial"/>
              </a:rPr>
              <a:t>Lecturer </a:t>
            </a:r>
            <a:r>
              <a:rPr sz="1100" spc="-25" dirty="0">
                <a:latin typeface="Arial"/>
                <a:cs typeface="Arial"/>
              </a:rPr>
              <a:t>Teaches </a:t>
            </a:r>
            <a:r>
              <a:rPr sz="1100" spc="-15" dirty="0">
                <a:latin typeface="Arial"/>
                <a:cs typeface="Arial"/>
              </a:rPr>
              <a:t>many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Students</a:t>
            </a:r>
            <a:endParaRPr sz="110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5" dirty="0">
                <a:latin typeface="Arial"/>
                <a:cs typeface="Arial"/>
              </a:rPr>
              <a:t>Student is taught </a:t>
            </a:r>
            <a:r>
              <a:rPr sz="1100" spc="-20" dirty="0">
                <a:latin typeface="Arial"/>
                <a:cs typeface="Arial"/>
              </a:rPr>
              <a:t>by </a:t>
            </a:r>
            <a:r>
              <a:rPr sz="1100" spc="-15" dirty="0">
                <a:latin typeface="Arial"/>
                <a:cs typeface="Arial"/>
              </a:rPr>
              <a:t>many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Lecturers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9" name="مستطيل 28"/>
          <p:cNvSpPr/>
          <p:nvPr/>
        </p:nvSpPr>
        <p:spPr>
          <a:xfrm>
            <a:off x="1602397" y="1205147"/>
            <a:ext cx="7334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spc="-145" dirty="0">
                <a:latin typeface="Arial"/>
                <a:cs typeface="Arial"/>
              </a:rPr>
              <a:t>T</a:t>
            </a:r>
            <a:r>
              <a:rPr lang="en-US" sz="1200" spc="-5" dirty="0">
                <a:latin typeface="Arial"/>
                <a:cs typeface="Arial"/>
              </a:rPr>
              <a:t>eaches</a:t>
            </a:r>
            <a:endParaRPr lang="en-US" sz="1200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1286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Example </a:t>
            </a:r>
            <a:r>
              <a:rPr spc="10" dirty="0"/>
              <a:t>of many-to-many</a:t>
            </a:r>
            <a:r>
              <a:rPr spc="25" dirty="0"/>
              <a:t> </a:t>
            </a:r>
            <a:r>
              <a:rPr spc="10" dirty="0"/>
              <a:t>relationship</a:t>
            </a:r>
          </a:p>
        </p:txBody>
      </p:sp>
      <p:grpSp>
        <p:nvGrpSpPr>
          <p:cNvPr id="24" name="object 24"/>
          <p:cNvGrpSpPr/>
          <p:nvPr/>
        </p:nvGrpSpPr>
        <p:grpSpPr>
          <a:xfrm>
            <a:off x="1310020" y="574291"/>
            <a:ext cx="1268095" cy="2458720"/>
            <a:chOff x="1310020" y="574291"/>
            <a:chExt cx="1268095" cy="2458720"/>
          </a:xfrm>
        </p:grpSpPr>
        <p:sp>
          <p:nvSpPr>
            <p:cNvPr id="25" name="object 25"/>
            <p:cNvSpPr/>
            <p:nvPr/>
          </p:nvSpPr>
          <p:spPr>
            <a:xfrm>
              <a:off x="2284911" y="579352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>
                  <a:moveTo>
                    <a:pt x="144001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1"/>
                  </a:lnTo>
                  <a:lnTo>
                    <a:pt x="7341" y="189517"/>
                  </a:lnTo>
                  <a:lnTo>
                    <a:pt x="27783" y="229047"/>
                  </a:lnTo>
                  <a:lnTo>
                    <a:pt x="58955" y="260219"/>
                  </a:lnTo>
                  <a:lnTo>
                    <a:pt x="98485" y="280661"/>
                  </a:lnTo>
                  <a:lnTo>
                    <a:pt x="144001" y="288002"/>
                  </a:lnTo>
                  <a:lnTo>
                    <a:pt x="189517" y="280661"/>
                  </a:lnTo>
                  <a:lnTo>
                    <a:pt x="229047" y="260219"/>
                  </a:lnTo>
                  <a:lnTo>
                    <a:pt x="260219" y="229047"/>
                  </a:lnTo>
                  <a:lnTo>
                    <a:pt x="280661" y="189517"/>
                  </a:lnTo>
                  <a:lnTo>
                    <a:pt x="288002" y="144001"/>
                  </a:lnTo>
                  <a:lnTo>
                    <a:pt x="280661" y="98485"/>
                  </a:lnTo>
                  <a:lnTo>
                    <a:pt x="260219" y="58955"/>
                  </a:lnTo>
                  <a:lnTo>
                    <a:pt x="229047" y="27783"/>
                  </a:lnTo>
                  <a:lnTo>
                    <a:pt x="189517" y="7341"/>
                  </a:lnTo>
                  <a:lnTo>
                    <a:pt x="144001" y="0"/>
                  </a:lnTo>
                  <a:close/>
                </a:path>
              </a:pathLst>
            </a:custGeom>
            <a:solidFill>
              <a:srgbClr val="E5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284911" y="579352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>
                  <a:moveTo>
                    <a:pt x="288002" y="144001"/>
                  </a:moveTo>
                  <a:lnTo>
                    <a:pt x="280661" y="98485"/>
                  </a:lnTo>
                  <a:lnTo>
                    <a:pt x="260219" y="58955"/>
                  </a:lnTo>
                  <a:lnTo>
                    <a:pt x="229047" y="27783"/>
                  </a:lnTo>
                  <a:lnTo>
                    <a:pt x="189517" y="7341"/>
                  </a:lnTo>
                  <a:lnTo>
                    <a:pt x="144001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5"/>
                  </a:lnTo>
                  <a:lnTo>
                    <a:pt x="7341" y="98485"/>
                  </a:lnTo>
                  <a:lnTo>
                    <a:pt x="0" y="144001"/>
                  </a:lnTo>
                  <a:lnTo>
                    <a:pt x="7341" y="189517"/>
                  </a:lnTo>
                  <a:lnTo>
                    <a:pt x="27783" y="229047"/>
                  </a:lnTo>
                  <a:lnTo>
                    <a:pt x="58955" y="260219"/>
                  </a:lnTo>
                  <a:lnTo>
                    <a:pt x="98485" y="280661"/>
                  </a:lnTo>
                  <a:lnTo>
                    <a:pt x="144001" y="288002"/>
                  </a:lnTo>
                  <a:lnTo>
                    <a:pt x="189517" y="280661"/>
                  </a:lnTo>
                  <a:lnTo>
                    <a:pt x="229047" y="260219"/>
                  </a:lnTo>
                  <a:lnTo>
                    <a:pt x="260219" y="229047"/>
                  </a:lnTo>
                  <a:lnTo>
                    <a:pt x="280661" y="189517"/>
                  </a:lnTo>
                  <a:lnTo>
                    <a:pt x="288002" y="144001"/>
                  </a:lnTo>
                  <a:close/>
                </a:path>
              </a:pathLst>
            </a:custGeom>
            <a:ln w="10122">
              <a:solidFill>
                <a:srgbClr val="7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284911" y="12993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>
                  <a:moveTo>
                    <a:pt x="144001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6"/>
                  </a:lnTo>
                  <a:lnTo>
                    <a:pt x="7341" y="98485"/>
                  </a:lnTo>
                  <a:lnTo>
                    <a:pt x="0" y="144001"/>
                  </a:lnTo>
                  <a:lnTo>
                    <a:pt x="7341" y="189517"/>
                  </a:lnTo>
                  <a:lnTo>
                    <a:pt x="27783" y="229047"/>
                  </a:lnTo>
                  <a:lnTo>
                    <a:pt x="58955" y="260219"/>
                  </a:lnTo>
                  <a:lnTo>
                    <a:pt x="98485" y="280661"/>
                  </a:lnTo>
                  <a:lnTo>
                    <a:pt x="144001" y="288002"/>
                  </a:lnTo>
                  <a:lnTo>
                    <a:pt x="189517" y="280661"/>
                  </a:lnTo>
                  <a:lnTo>
                    <a:pt x="229047" y="260219"/>
                  </a:lnTo>
                  <a:lnTo>
                    <a:pt x="260219" y="229047"/>
                  </a:lnTo>
                  <a:lnTo>
                    <a:pt x="280661" y="189517"/>
                  </a:lnTo>
                  <a:lnTo>
                    <a:pt x="288002" y="144001"/>
                  </a:lnTo>
                  <a:lnTo>
                    <a:pt x="280661" y="98485"/>
                  </a:lnTo>
                  <a:lnTo>
                    <a:pt x="260219" y="58956"/>
                  </a:lnTo>
                  <a:lnTo>
                    <a:pt x="229047" y="27783"/>
                  </a:lnTo>
                  <a:lnTo>
                    <a:pt x="189517" y="7341"/>
                  </a:lnTo>
                  <a:lnTo>
                    <a:pt x="144001" y="0"/>
                  </a:lnTo>
                  <a:close/>
                </a:path>
              </a:pathLst>
            </a:custGeom>
            <a:solidFill>
              <a:srgbClr val="E5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84911" y="12993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90">
                  <a:moveTo>
                    <a:pt x="288002" y="144001"/>
                  </a:moveTo>
                  <a:lnTo>
                    <a:pt x="280661" y="98485"/>
                  </a:lnTo>
                  <a:lnTo>
                    <a:pt x="260219" y="58956"/>
                  </a:lnTo>
                  <a:lnTo>
                    <a:pt x="229047" y="27783"/>
                  </a:lnTo>
                  <a:lnTo>
                    <a:pt x="189517" y="7341"/>
                  </a:lnTo>
                  <a:lnTo>
                    <a:pt x="144001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6"/>
                  </a:lnTo>
                  <a:lnTo>
                    <a:pt x="7341" y="98485"/>
                  </a:lnTo>
                  <a:lnTo>
                    <a:pt x="0" y="144001"/>
                  </a:lnTo>
                  <a:lnTo>
                    <a:pt x="7341" y="189517"/>
                  </a:lnTo>
                  <a:lnTo>
                    <a:pt x="27783" y="229047"/>
                  </a:lnTo>
                  <a:lnTo>
                    <a:pt x="58955" y="260219"/>
                  </a:lnTo>
                  <a:lnTo>
                    <a:pt x="98485" y="280661"/>
                  </a:lnTo>
                  <a:lnTo>
                    <a:pt x="144001" y="288002"/>
                  </a:lnTo>
                  <a:lnTo>
                    <a:pt x="189517" y="280661"/>
                  </a:lnTo>
                  <a:lnTo>
                    <a:pt x="229047" y="260219"/>
                  </a:lnTo>
                  <a:lnTo>
                    <a:pt x="260219" y="229047"/>
                  </a:lnTo>
                  <a:lnTo>
                    <a:pt x="280661" y="189517"/>
                  </a:lnTo>
                  <a:lnTo>
                    <a:pt x="288002" y="144001"/>
                  </a:lnTo>
                  <a:close/>
                </a:path>
              </a:pathLst>
            </a:custGeom>
            <a:ln w="10122">
              <a:solidFill>
                <a:srgbClr val="7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15081" y="12993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90">
                  <a:moveTo>
                    <a:pt x="144001" y="0"/>
                  </a:moveTo>
                  <a:lnTo>
                    <a:pt x="98485" y="7341"/>
                  </a:lnTo>
                  <a:lnTo>
                    <a:pt x="58955" y="27783"/>
                  </a:lnTo>
                  <a:lnTo>
                    <a:pt x="27783" y="58956"/>
                  </a:lnTo>
                  <a:lnTo>
                    <a:pt x="7341" y="98485"/>
                  </a:lnTo>
                  <a:lnTo>
                    <a:pt x="0" y="144001"/>
                  </a:lnTo>
                  <a:lnTo>
                    <a:pt x="7341" y="189517"/>
                  </a:lnTo>
                  <a:lnTo>
                    <a:pt x="27783" y="229047"/>
                  </a:lnTo>
                  <a:lnTo>
                    <a:pt x="58955" y="260219"/>
                  </a:lnTo>
                  <a:lnTo>
                    <a:pt x="98485" y="280661"/>
                  </a:lnTo>
                  <a:lnTo>
                    <a:pt x="144001" y="288002"/>
                  </a:lnTo>
                  <a:lnTo>
                    <a:pt x="189517" y="280661"/>
                  </a:lnTo>
                  <a:lnTo>
                    <a:pt x="229047" y="260219"/>
                  </a:lnTo>
                  <a:lnTo>
                    <a:pt x="260219" y="229047"/>
                  </a:lnTo>
                  <a:lnTo>
                    <a:pt x="280661" y="189517"/>
                  </a:lnTo>
                  <a:lnTo>
                    <a:pt x="288002" y="144001"/>
                  </a:lnTo>
                  <a:lnTo>
                    <a:pt x="280661" y="98485"/>
                  </a:lnTo>
                  <a:lnTo>
                    <a:pt x="260219" y="58956"/>
                  </a:lnTo>
                  <a:lnTo>
                    <a:pt x="229047" y="27783"/>
                  </a:lnTo>
                  <a:lnTo>
                    <a:pt x="189517" y="7341"/>
                  </a:lnTo>
                  <a:lnTo>
                    <a:pt x="144001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315081" y="1299361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90">
                  <a:moveTo>
                    <a:pt x="288002" y="144001"/>
                  </a:moveTo>
                  <a:lnTo>
                    <a:pt x="280661" y="98485"/>
                  </a:lnTo>
                  <a:lnTo>
                    <a:pt x="260219" y="58956"/>
                  </a:lnTo>
                  <a:lnTo>
                    <a:pt x="229047" y="27783"/>
                  </a:lnTo>
                  <a:lnTo>
                    <a:pt x="189517" y="7341"/>
                  </a:lnTo>
                  <a:lnTo>
                    <a:pt x="144001" y="0"/>
                  </a:lnTo>
                  <a:lnTo>
                    <a:pt x="98485" y="7341"/>
                  </a:lnTo>
                  <a:lnTo>
                    <a:pt x="58955" y="27783"/>
                  </a:lnTo>
                  <a:lnTo>
                    <a:pt x="27783" y="58956"/>
                  </a:lnTo>
                  <a:lnTo>
                    <a:pt x="7341" y="98485"/>
                  </a:lnTo>
                  <a:lnTo>
                    <a:pt x="0" y="144001"/>
                  </a:lnTo>
                  <a:lnTo>
                    <a:pt x="7341" y="189517"/>
                  </a:lnTo>
                  <a:lnTo>
                    <a:pt x="27783" y="229047"/>
                  </a:lnTo>
                  <a:lnTo>
                    <a:pt x="58955" y="260219"/>
                  </a:lnTo>
                  <a:lnTo>
                    <a:pt x="98485" y="280661"/>
                  </a:lnTo>
                  <a:lnTo>
                    <a:pt x="144001" y="288002"/>
                  </a:lnTo>
                  <a:lnTo>
                    <a:pt x="189517" y="280661"/>
                  </a:lnTo>
                  <a:lnTo>
                    <a:pt x="229047" y="260219"/>
                  </a:lnTo>
                  <a:lnTo>
                    <a:pt x="260219" y="229047"/>
                  </a:lnTo>
                  <a:lnTo>
                    <a:pt x="280661" y="189517"/>
                  </a:lnTo>
                  <a:lnTo>
                    <a:pt x="288002" y="144001"/>
                  </a:lnTo>
                  <a:close/>
                </a:path>
              </a:pathLst>
            </a:custGeom>
            <a:ln w="10122">
              <a:solidFill>
                <a:srgbClr val="00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78905" y="812307"/>
              <a:ext cx="730250" cy="542290"/>
            </a:xfrm>
            <a:custGeom>
              <a:avLst/>
              <a:gdLst/>
              <a:ahLst/>
              <a:cxnLst/>
              <a:rect l="l" t="t" r="r" b="b"/>
              <a:pathLst>
                <a:path w="730250" h="542290">
                  <a:moveTo>
                    <a:pt x="0" y="542090"/>
                  </a:moveTo>
                  <a:lnTo>
                    <a:pt x="730183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284911" y="201937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01" y="0"/>
                  </a:moveTo>
                  <a:lnTo>
                    <a:pt x="98485" y="7340"/>
                  </a:lnTo>
                  <a:lnTo>
                    <a:pt x="58955" y="27781"/>
                  </a:lnTo>
                  <a:lnTo>
                    <a:pt x="27783" y="58951"/>
                  </a:lnTo>
                  <a:lnTo>
                    <a:pt x="7341" y="98478"/>
                  </a:lnTo>
                  <a:lnTo>
                    <a:pt x="0" y="143992"/>
                  </a:lnTo>
                  <a:lnTo>
                    <a:pt x="7341" y="189512"/>
                  </a:lnTo>
                  <a:lnTo>
                    <a:pt x="27783" y="229043"/>
                  </a:lnTo>
                  <a:lnTo>
                    <a:pt x="58955" y="260215"/>
                  </a:lnTo>
                  <a:lnTo>
                    <a:pt x="98485" y="280657"/>
                  </a:lnTo>
                  <a:lnTo>
                    <a:pt x="144001" y="287997"/>
                  </a:lnTo>
                  <a:lnTo>
                    <a:pt x="189517" y="280657"/>
                  </a:lnTo>
                  <a:lnTo>
                    <a:pt x="229047" y="260215"/>
                  </a:lnTo>
                  <a:lnTo>
                    <a:pt x="260219" y="229043"/>
                  </a:lnTo>
                  <a:lnTo>
                    <a:pt x="280661" y="189512"/>
                  </a:lnTo>
                  <a:lnTo>
                    <a:pt x="288002" y="143992"/>
                  </a:lnTo>
                  <a:lnTo>
                    <a:pt x="280661" y="98478"/>
                  </a:lnTo>
                  <a:lnTo>
                    <a:pt x="260219" y="58951"/>
                  </a:lnTo>
                  <a:lnTo>
                    <a:pt x="229047" y="27781"/>
                  </a:lnTo>
                  <a:lnTo>
                    <a:pt x="189517" y="7340"/>
                  </a:lnTo>
                  <a:lnTo>
                    <a:pt x="144001" y="0"/>
                  </a:lnTo>
                  <a:close/>
                </a:path>
              </a:pathLst>
            </a:custGeom>
            <a:solidFill>
              <a:srgbClr val="E5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84911" y="201937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2" y="143992"/>
                  </a:moveTo>
                  <a:lnTo>
                    <a:pt x="280661" y="98478"/>
                  </a:lnTo>
                  <a:lnTo>
                    <a:pt x="260219" y="58951"/>
                  </a:lnTo>
                  <a:lnTo>
                    <a:pt x="229047" y="27781"/>
                  </a:lnTo>
                  <a:lnTo>
                    <a:pt x="189517" y="7340"/>
                  </a:lnTo>
                  <a:lnTo>
                    <a:pt x="144001" y="0"/>
                  </a:lnTo>
                  <a:lnTo>
                    <a:pt x="98485" y="7340"/>
                  </a:lnTo>
                  <a:lnTo>
                    <a:pt x="58955" y="27781"/>
                  </a:lnTo>
                  <a:lnTo>
                    <a:pt x="27783" y="58951"/>
                  </a:lnTo>
                  <a:lnTo>
                    <a:pt x="7341" y="98478"/>
                  </a:lnTo>
                  <a:lnTo>
                    <a:pt x="0" y="143992"/>
                  </a:lnTo>
                  <a:lnTo>
                    <a:pt x="7341" y="189512"/>
                  </a:lnTo>
                  <a:lnTo>
                    <a:pt x="27783" y="229043"/>
                  </a:lnTo>
                  <a:lnTo>
                    <a:pt x="58955" y="260215"/>
                  </a:lnTo>
                  <a:lnTo>
                    <a:pt x="98485" y="280657"/>
                  </a:lnTo>
                  <a:lnTo>
                    <a:pt x="144001" y="287997"/>
                  </a:lnTo>
                  <a:lnTo>
                    <a:pt x="189517" y="280657"/>
                  </a:lnTo>
                  <a:lnTo>
                    <a:pt x="229047" y="260215"/>
                  </a:lnTo>
                  <a:lnTo>
                    <a:pt x="260219" y="229043"/>
                  </a:lnTo>
                  <a:lnTo>
                    <a:pt x="280661" y="189512"/>
                  </a:lnTo>
                  <a:lnTo>
                    <a:pt x="288002" y="143992"/>
                  </a:lnTo>
                  <a:close/>
                </a:path>
              </a:pathLst>
            </a:custGeom>
            <a:ln w="10122">
              <a:solidFill>
                <a:srgbClr val="7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15081" y="201937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4001" y="0"/>
                  </a:moveTo>
                  <a:lnTo>
                    <a:pt x="98485" y="7340"/>
                  </a:lnTo>
                  <a:lnTo>
                    <a:pt x="58955" y="27781"/>
                  </a:lnTo>
                  <a:lnTo>
                    <a:pt x="27783" y="58951"/>
                  </a:lnTo>
                  <a:lnTo>
                    <a:pt x="7341" y="98478"/>
                  </a:lnTo>
                  <a:lnTo>
                    <a:pt x="0" y="143992"/>
                  </a:lnTo>
                  <a:lnTo>
                    <a:pt x="7341" y="189512"/>
                  </a:lnTo>
                  <a:lnTo>
                    <a:pt x="27783" y="229043"/>
                  </a:lnTo>
                  <a:lnTo>
                    <a:pt x="58955" y="260215"/>
                  </a:lnTo>
                  <a:lnTo>
                    <a:pt x="98485" y="280657"/>
                  </a:lnTo>
                  <a:lnTo>
                    <a:pt x="144001" y="287997"/>
                  </a:lnTo>
                  <a:lnTo>
                    <a:pt x="189517" y="280657"/>
                  </a:lnTo>
                  <a:lnTo>
                    <a:pt x="229047" y="260215"/>
                  </a:lnTo>
                  <a:lnTo>
                    <a:pt x="260219" y="229043"/>
                  </a:lnTo>
                  <a:lnTo>
                    <a:pt x="280661" y="189512"/>
                  </a:lnTo>
                  <a:lnTo>
                    <a:pt x="288002" y="143992"/>
                  </a:lnTo>
                  <a:lnTo>
                    <a:pt x="280661" y="98478"/>
                  </a:lnTo>
                  <a:lnTo>
                    <a:pt x="260219" y="58951"/>
                  </a:lnTo>
                  <a:lnTo>
                    <a:pt x="229047" y="27781"/>
                  </a:lnTo>
                  <a:lnTo>
                    <a:pt x="189517" y="7340"/>
                  </a:lnTo>
                  <a:lnTo>
                    <a:pt x="144001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15081" y="201937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02" y="143992"/>
                  </a:moveTo>
                  <a:lnTo>
                    <a:pt x="280661" y="98478"/>
                  </a:lnTo>
                  <a:lnTo>
                    <a:pt x="260219" y="58951"/>
                  </a:lnTo>
                  <a:lnTo>
                    <a:pt x="229047" y="27781"/>
                  </a:lnTo>
                  <a:lnTo>
                    <a:pt x="189517" y="7340"/>
                  </a:lnTo>
                  <a:lnTo>
                    <a:pt x="144001" y="0"/>
                  </a:lnTo>
                  <a:lnTo>
                    <a:pt x="98485" y="7340"/>
                  </a:lnTo>
                  <a:lnTo>
                    <a:pt x="58955" y="27781"/>
                  </a:lnTo>
                  <a:lnTo>
                    <a:pt x="27783" y="58951"/>
                  </a:lnTo>
                  <a:lnTo>
                    <a:pt x="7341" y="98478"/>
                  </a:lnTo>
                  <a:lnTo>
                    <a:pt x="0" y="143992"/>
                  </a:lnTo>
                  <a:lnTo>
                    <a:pt x="7341" y="189512"/>
                  </a:lnTo>
                  <a:lnTo>
                    <a:pt x="27783" y="229043"/>
                  </a:lnTo>
                  <a:lnTo>
                    <a:pt x="58955" y="260215"/>
                  </a:lnTo>
                  <a:lnTo>
                    <a:pt x="98485" y="280657"/>
                  </a:lnTo>
                  <a:lnTo>
                    <a:pt x="144001" y="287997"/>
                  </a:lnTo>
                  <a:lnTo>
                    <a:pt x="189517" y="280657"/>
                  </a:lnTo>
                  <a:lnTo>
                    <a:pt x="229047" y="260215"/>
                  </a:lnTo>
                  <a:lnTo>
                    <a:pt x="260219" y="229043"/>
                  </a:lnTo>
                  <a:lnTo>
                    <a:pt x="280661" y="189512"/>
                  </a:lnTo>
                  <a:lnTo>
                    <a:pt x="288002" y="143992"/>
                  </a:lnTo>
                  <a:close/>
                </a:path>
              </a:pathLst>
            </a:custGeom>
            <a:ln w="10122">
              <a:solidFill>
                <a:srgbClr val="00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542488" y="847189"/>
              <a:ext cx="803275" cy="1316355"/>
            </a:xfrm>
            <a:custGeom>
              <a:avLst/>
              <a:gdLst/>
              <a:ahLst/>
              <a:cxnLst/>
              <a:rect l="l" t="t" r="r" b="b"/>
              <a:pathLst>
                <a:path w="803275" h="1316355">
                  <a:moveTo>
                    <a:pt x="36417" y="685138"/>
                  </a:moveTo>
                  <a:lnTo>
                    <a:pt x="766600" y="1227228"/>
                  </a:lnTo>
                </a:path>
                <a:path w="803275" h="1316355">
                  <a:moveTo>
                    <a:pt x="0" y="1192341"/>
                  </a:moveTo>
                  <a:lnTo>
                    <a:pt x="803018" y="0"/>
                  </a:lnTo>
                </a:path>
                <a:path w="803275" h="1316355">
                  <a:moveTo>
                    <a:pt x="65656" y="1316179"/>
                  </a:moveTo>
                  <a:lnTo>
                    <a:pt x="737362" y="1316179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84911" y="273937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144001" y="0"/>
                  </a:moveTo>
                  <a:lnTo>
                    <a:pt x="98485" y="7341"/>
                  </a:lnTo>
                  <a:lnTo>
                    <a:pt x="58955" y="27785"/>
                  </a:lnTo>
                  <a:lnTo>
                    <a:pt x="27783" y="58959"/>
                  </a:lnTo>
                  <a:lnTo>
                    <a:pt x="7341" y="98490"/>
                  </a:lnTo>
                  <a:lnTo>
                    <a:pt x="0" y="144005"/>
                  </a:lnTo>
                  <a:lnTo>
                    <a:pt x="7341" y="189520"/>
                  </a:lnTo>
                  <a:lnTo>
                    <a:pt x="27783" y="229051"/>
                  </a:lnTo>
                  <a:lnTo>
                    <a:pt x="58955" y="260224"/>
                  </a:lnTo>
                  <a:lnTo>
                    <a:pt x="98485" y="280668"/>
                  </a:lnTo>
                  <a:lnTo>
                    <a:pt x="144001" y="288010"/>
                  </a:lnTo>
                  <a:lnTo>
                    <a:pt x="189517" y="280668"/>
                  </a:lnTo>
                  <a:lnTo>
                    <a:pt x="229047" y="260224"/>
                  </a:lnTo>
                  <a:lnTo>
                    <a:pt x="260219" y="229051"/>
                  </a:lnTo>
                  <a:lnTo>
                    <a:pt x="280661" y="189520"/>
                  </a:lnTo>
                  <a:lnTo>
                    <a:pt x="288002" y="144005"/>
                  </a:lnTo>
                  <a:lnTo>
                    <a:pt x="280661" y="98490"/>
                  </a:lnTo>
                  <a:lnTo>
                    <a:pt x="260219" y="58959"/>
                  </a:lnTo>
                  <a:lnTo>
                    <a:pt x="229047" y="27785"/>
                  </a:lnTo>
                  <a:lnTo>
                    <a:pt x="189517" y="7341"/>
                  </a:lnTo>
                  <a:lnTo>
                    <a:pt x="144001" y="0"/>
                  </a:lnTo>
                  <a:close/>
                </a:path>
              </a:pathLst>
            </a:custGeom>
            <a:solidFill>
              <a:srgbClr val="E5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284911" y="273937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2" y="144005"/>
                  </a:moveTo>
                  <a:lnTo>
                    <a:pt x="280661" y="98490"/>
                  </a:lnTo>
                  <a:lnTo>
                    <a:pt x="260219" y="58959"/>
                  </a:lnTo>
                  <a:lnTo>
                    <a:pt x="229047" y="27785"/>
                  </a:lnTo>
                  <a:lnTo>
                    <a:pt x="189517" y="7341"/>
                  </a:lnTo>
                  <a:lnTo>
                    <a:pt x="144001" y="0"/>
                  </a:lnTo>
                  <a:lnTo>
                    <a:pt x="98485" y="7341"/>
                  </a:lnTo>
                  <a:lnTo>
                    <a:pt x="58955" y="27785"/>
                  </a:lnTo>
                  <a:lnTo>
                    <a:pt x="27783" y="58959"/>
                  </a:lnTo>
                  <a:lnTo>
                    <a:pt x="7341" y="98490"/>
                  </a:lnTo>
                  <a:lnTo>
                    <a:pt x="0" y="144005"/>
                  </a:lnTo>
                  <a:lnTo>
                    <a:pt x="7341" y="189520"/>
                  </a:lnTo>
                  <a:lnTo>
                    <a:pt x="27783" y="229051"/>
                  </a:lnTo>
                  <a:lnTo>
                    <a:pt x="58955" y="260224"/>
                  </a:lnTo>
                  <a:lnTo>
                    <a:pt x="98485" y="280668"/>
                  </a:lnTo>
                  <a:lnTo>
                    <a:pt x="144001" y="288010"/>
                  </a:lnTo>
                  <a:lnTo>
                    <a:pt x="189517" y="280668"/>
                  </a:lnTo>
                  <a:lnTo>
                    <a:pt x="229047" y="260224"/>
                  </a:lnTo>
                  <a:lnTo>
                    <a:pt x="260219" y="229051"/>
                  </a:lnTo>
                  <a:lnTo>
                    <a:pt x="280661" y="189520"/>
                  </a:lnTo>
                  <a:lnTo>
                    <a:pt x="288002" y="144005"/>
                  </a:lnTo>
                  <a:close/>
                </a:path>
              </a:pathLst>
            </a:custGeom>
            <a:ln w="10122">
              <a:solidFill>
                <a:srgbClr val="7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15081" y="273937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144001" y="0"/>
                  </a:moveTo>
                  <a:lnTo>
                    <a:pt x="98485" y="7341"/>
                  </a:lnTo>
                  <a:lnTo>
                    <a:pt x="58955" y="27785"/>
                  </a:lnTo>
                  <a:lnTo>
                    <a:pt x="27783" y="58959"/>
                  </a:lnTo>
                  <a:lnTo>
                    <a:pt x="7341" y="98490"/>
                  </a:lnTo>
                  <a:lnTo>
                    <a:pt x="0" y="144005"/>
                  </a:lnTo>
                  <a:lnTo>
                    <a:pt x="7341" y="189520"/>
                  </a:lnTo>
                  <a:lnTo>
                    <a:pt x="27783" y="229051"/>
                  </a:lnTo>
                  <a:lnTo>
                    <a:pt x="58955" y="260224"/>
                  </a:lnTo>
                  <a:lnTo>
                    <a:pt x="98485" y="280668"/>
                  </a:lnTo>
                  <a:lnTo>
                    <a:pt x="144001" y="288010"/>
                  </a:lnTo>
                  <a:lnTo>
                    <a:pt x="189517" y="280668"/>
                  </a:lnTo>
                  <a:lnTo>
                    <a:pt x="229047" y="260224"/>
                  </a:lnTo>
                  <a:lnTo>
                    <a:pt x="260219" y="229051"/>
                  </a:lnTo>
                  <a:lnTo>
                    <a:pt x="280661" y="189520"/>
                  </a:lnTo>
                  <a:lnTo>
                    <a:pt x="288002" y="144005"/>
                  </a:lnTo>
                  <a:lnTo>
                    <a:pt x="280661" y="98490"/>
                  </a:lnTo>
                  <a:lnTo>
                    <a:pt x="260219" y="58959"/>
                  </a:lnTo>
                  <a:lnTo>
                    <a:pt x="229047" y="27785"/>
                  </a:lnTo>
                  <a:lnTo>
                    <a:pt x="189517" y="7341"/>
                  </a:lnTo>
                  <a:lnTo>
                    <a:pt x="144001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15081" y="273937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02" y="144005"/>
                  </a:moveTo>
                  <a:lnTo>
                    <a:pt x="280661" y="98490"/>
                  </a:lnTo>
                  <a:lnTo>
                    <a:pt x="260219" y="58959"/>
                  </a:lnTo>
                  <a:lnTo>
                    <a:pt x="229047" y="27785"/>
                  </a:lnTo>
                  <a:lnTo>
                    <a:pt x="189517" y="7341"/>
                  </a:lnTo>
                  <a:lnTo>
                    <a:pt x="144001" y="0"/>
                  </a:lnTo>
                  <a:lnTo>
                    <a:pt x="98485" y="7341"/>
                  </a:lnTo>
                  <a:lnTo>
                    <a:pt x="58955" y="27785"/>
                  </a:lnTo>
                  <a:lnTo>
                    <a:pt x="27783" y="58959"/>
                  </a:lnTo>
                  <a:lnTo>
                    <a:pt x="7341" y="98490"/>
                  </a:lnTo>
                  <a:lnTo>
                    <a:pt x="0" y="144005"/>
                  </a:lnTo>
                  <a:lnTo>
                    <a:pt x="7341" y="189520"/>
                  </a:lnTo>
                  <a:lnTo>
                    <a:pt x="27783" y="229051"/>
                  </a:lnTo>
                  <a:lnTo>
                    <a:pt x="58955" y="260224"/>
                  </a:lnTo>
                  <a:lnTo>
                    <a:pt x="98485" y="280668"/>
                  </a:lnTo>
                  <a:lnTo>
                    <a:pt x="144001" y="288010"/>
                  </a:lnTo>
                  <a:lnTo>
                    <a:pt x="189517" y="280668"/>
                  </a:lnTo>
                  <a:lnTo>
                    <a:pt x="229047" y="260224"/>
                  </a:lnTo>
                  <a:lnTo>
                    <a:pt x="260219" y="229051"/>
                  </a:lnTo>
                  <a:lnTo>
                    <a:pt x="280661" y="189520"/>
                  </a:lnTo>
                  <a:lnTo>
                    <a:pt x="288002" y="144005"/>
                  </a:lnTo>
                  <a:close/>
                </a:path>
              </a:pathLst>
            </a:custGeom>
            <a:ln w="10122">
              <a:solidFill>
                <a:srgbClr val="00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42488" y="1567199"/>
              <a:ext cx="803275" cy="1227455"/>
            </a:xfrm>
            <a:custGeom>
              <a:avLst/>
              <a:gdLst/>
              <a:ahLst/>
              <a:cxnLst/>
              <a:rect l="l" t="t" r="r" b="b"/>
              <a:pathLst>
                <a:path w="803275" h="1227455">
                  <a:moveTo>
                    <a:pt x="36417" y="685133"/>
                  </a:moveTo>
                  <a:lnTo>
                    <a:pt x="766600" y="1227232"/>
                  </a:lnTo>
                </a:path>
                <a:path w="803275" h="1227455">
                  <a:moveTo>
                    <a:pt x="0" y="1192345"/>
                  </a:moveTo>
                  <a:lnTo>
                    <a:pt x="803018" y="0"/>
                  </a:lnTo>
                </a:path>
                <a:path w="803275" h="1227455">
                  <a:moveTo>
                    <a:pt x="36417" y="1227220"/>
                  </a:moveTo>
                  <a:lnTo>
                    <a:pt x="766600" y="685133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488054" cy="587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Multiple relationship</a:t>
            </a:r>
            <a:r>
              <a:rPr dirty="0"/>
              <a:t> </a:t>
            </a:r>
            <a:r>
              <a:rPr spc="15" dirty="0"/>
              <a:t>types</a:t>
            </a:r>
          </a:p>
          <a:p>
            <a:pPr marL="84455" marR="5080">
              <a:lnSpc>
                <a:spcPct val="102600"/>
              </a:lnSpc>
            </a:pPr>
            <a:r>
              <a:rPr sz="1100" spc="-5" dirty="0">
                <a:solidFill>
                  <a:srgbClr val="000000"/>
                </a:solidFill>
              </a:rPr>
              <a:t>There </a:t>
            </a:r>
            <a:r>
              <a:rPr sz="1100" spc="-20" dirty="0">
                <a:solidFill>
                  <a:srgbClr val="000000"/>
                </a:solidFill>
              </a:rPr>
              <a:t>may </a:t>
            </a:r>
            <a:r>
              <a:rPr sz="1100" spc="-10" dirty="0">
                <a:solidFill>
                  <a:srgbClr val="000000"/>
                </a:solidFill>
              </a:rPr>
              <a:t>be more </a:t>
            </a:r>
            <a:r>
              <a:rPr sz="1100" spc="-5" dirty="0">
                <a:solidFill>
                  <a:srgbClr val="000000"/>
                </a:solidFill>
              </a:rPr>
              <a:t>than </a:t>
            </a:r>
            <a:r>
              <a:rPr sz="1100" spc="-10" dirty="0">
                <a:solidFill>
                  <a:srgbClr val="000000"/>
                </a:solidFill>
              </a:rPr>
              <a:t>one </a:t>
            </a:r>
            <a:r>
              <a:rPr sz="1100" spc="-5" dirty="0">
                <a:solidFill>
                  <a:srgbClr val="000000"/>
                </a:solidFill>
              </a:rPr>
              <a:t>relationship type </a:t>
            </a:r>
            <a:r>
              <a:rPr sz="1100" spc="-10" dirty="0">
                <a:solidFill>
                  <a:srgbClr val="000000"/>
                </a:solidFill>
              </a:rPr>
              <a:t>between  two </a:t>
            </a:r>
            <a:r>
              <a:rPr sz="1100" spc="-5" dirty="0">
                <a:solidFill>
                  <a:srgbClr val="000000"/>
                </a:solidFill>
              </a:rPr>
              <a:t>entity </a:t>
            </a:r>
            <a:r>
              <a:rPr sz="1100" spc="-10" dirty="0">
                <a:solidFill>
                  <a:srgbClr val="000000"/>
                </a:solidFill>
              </a:rPr>
              <a:t>types.</a:t>
            </a:r>
            <a:endParaRPr sz="1100"/>
          </a:p>
        </p:txBody>
      </p:sp>
      <p:sp>
        <p:nvSpPr>
          <p:cNvPr id="24" name="object 24"/>
          <p:cNvSpPr txBox="1"/>
          <p:nvPr/>
        </p:nvSpPr>
        <p:spPr>
          <a:xfrm>
            <a:off x="664359" y="1525449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915"/>
              </a:spcBef>
            </a:pPr>
            <a:r>
              <a:rPr sz="1100" spc="-5" dirty="0">
                <a:latin typeface="Arial"/>
                <a:cs typeface="Arial"/>
              </a:rPr>
              <a:t>Lecturer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547303" y="760552"/>
            <a:ext cx="793750" cy="793750"/>
          </a:xfrm>
          <a:custGeom>
            <a:avLst/>
            <a:gdLst/>
            <a:ahLst/>
            <a:cxnLst/>
            <a:rect l="l" t="t" r="r" b="b"/>
            <a:pathLst>
              <a:path w="793750" h="793750">
                <a:moveTo>
                  <a:pt x="793421" y="396708"/>
                </a:moveTo>
                <a:lnTo>
                  <a:pt x="396712" y="0"/>
                </a:lnTo>
                <a:lnTo>
                  <a:pt x="0" y="396708"/>
                </a:lnTo>
                <a:lnTo>
                  <a:pt x="396712" y="793421"/>
                </a:lnTo>
                <a:lnTo>
                  <a:pt x="793421" y="396708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673948" y="1054594"/>
            <a:ext cx="540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45" dirty="0">
                <a:latin typeface="Arial"/>
                <a:cs typeface="Arial"/>
              </a:rPr>
              <a:t>T</a:t>
            </a:r>
            <a:r>
              <a:rPr sz="1100" spc="-5" dirty="0">
                <a:latin typeface="Arial"/>
                <a:cs typeface="Arial"/>
              </a:rPr>
              <a:t>eaches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403043" y="1320176"/>
            <a:ext cx="296545" cy="198120"/>
          </a:xfrm>
          <a:custGeom>
            <a:avLst/>
            <a:gdLst/>
            <a:ahLst/>
            <a:cxnLst/>
            <a:rect l="l" t="t" r="r" b="b"/>
            <a:pathLst>
              <a:path w="296544" h="198119">
                <a:moveTo>
                  <a:pt x="296503" y="0"/>
                </a:moveTo>
                <a:lnTo>
                  <a:pt x="0" y="197639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16646" y="1981910"/>
            <a:ext cx="655320" cy="655320"/>
          </a:xfrm>
          <a:custGeom>
            <a:avLst/>
            <a:gdLst/>
            <a:ahLst/>
            <a:cxnLst/>
            <a:rect l="l" t="t" r="r" b="b"/>
            <a:pathLst>
              <a:path w="655319" h="655319">
                <a:moveTo>
                  <a:pt x="654735" y="327369"/>
                </a:moveTo>
                <a:lnTo>
                  <a:pt x="327369" y="0"/>
                </a:lnTo>
                <a:lnTo>
                  <a:pt x="0" y="327369"/>
                </a:lnTo>
                <a:lnTo>
                  <a:pt x="327369" y="654738"/>
                </a:lnTo>
                <a:lnTo>
                  <a:pt x="654735" y="327369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743290" y="2206598"/>
            <a:ext cx="4019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45" dirty="0">
                <a:latin typeface="Arial"/>
                <a:cs typeface="Arial"/>
              </a:rPr>
              <a:t>T</a:t>
            </a:r>
            <a:r>
              <a:rPr sz="1100" spc="-5" dirty="0">
                <a:latin typeface="Arial"/>
                <a:cs typeface="Arial"/>
              </a:rPr>
              <a:t>utors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406415" y="1943602"/>
            <a:ext cx="1083945" cy="235585"/>
            <a:chOff x="1406415" y="1943602"/>
            <a:chExt cx="1083945" cy="235585"/>
          </a:xfrm>
        </p:grpSpPr>
        <p:sp>
          <p:nvSpPr>
            <p:cNvPr id="31" name="object 31"/>
            <p:cNvSpPr/>
            <p:nvPr/>
          </p:nvSpPr>
          <p:spPr>
            <a:xfrm>
              <a:off x="1415187" y="1956757"/>
              <a:ext cx="326390" cy="217804"/>
            </a:xfrm>
            <a:custGeom>
              <a:avLst/>
              <a:gdLst/>
              <a:ahLst/>
              <a:cxnLst/>
              <a:rect l="l" t="t" r="r" b="b"/>
              <a:pathLst>
                <a:path w="326389" h="217805">
                  <a:moveTo>
                    <a:pt x="325983" y="217267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06415" y="1949218"/>
              <a:ext cx="89936" cy="8181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46973" y="1948663"/>
              <a:ext cx="338455" cy="225425"/>
            </a:xfrm>
            <a:custGeom>
              <a:avLst/>
              <a:gdLst/>
              <a:ahLst/>
              <a:cxnLst/>
              <a:rect l="l" t="t" r="r" b="b"/>
              <a:pathLst>
                <a:path w="338455" h="225425">
                  <a:moveTo>
                    <a:pt x="338124" y="0"/>
                  </a:moveTo>
                  <a:lnTo>
                    <a:pt x="0" y="225356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392387" y="1525449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925"/>
              </a:spcBef>
            </a:pPr>
            <a:r>
              <a:rPr sz="1100" spc="-5" dirty="0">
                <a:latin typeface="Arial"/>
                <a:cs typeface="Arial"/>
              </a:rPr>
              <a:t>Student</a:t>
            </a:r>
            <a:endParaRPr sz="11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188603" y="1320189"/>
            <a:ext cx="297180" cy="198120"/>
          </a:xfrm>
          <a:custGeom>
            <a:avLst/>
            <a:gdLst/>
            <a:ahLst/>
            <a:cxnLst/>
            <a:rect l="l" t="t" r="r" b="b"/>
            <a:pathLst>
              <a:path w="297180" h="198119">
                <a:moveTo>
                  <a:pt x="296557" y="197627"/>
                </a:moveTo>
                <a:lnTo>
                  <a:pt x="0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41960" y="2797909"/>
            <a:ext cx="2991485" cy="57086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25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25" dirty="0">
                <a:latin typeface="Arial"/>
                <a:cs typeface="Arial"/>
              </a:rPr>
              <a:t>Teaches </a:t>
            </a:r>
            <a:r>
              <a:rPr sz="1100" spc="-5" dirty="0">
                <a:latin typeface="Arial"/>
                <a:cs typeface="Arial"/>
              </a:rPr>
              <a:t>relationship type 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many-to-many</a:t>
            </a:r>
            <a:endParaRPr sz="1100" dirty="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11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30" dirty="0">
                <a:latin typeface="Arial"/>
                <a:cs typeface="Arial"/>
              </a:rPr>
              <a:t>Tutors </a:t>
            </a:r>
            <a:r>
              <a:rPr sz="1100" spc="-5" dirty="0">
                <a:latin typeface="Arial"/>
                <a:cs typeface="Arial"/>
              </a:rPr>
              <a:t>relationship type is </a:t>
            </a:r>
            <a:r>
              <a:rPr sz="1100" spc="-10" dirty="0">
                <a:latin typeface="Arial"/>
                <a:cs typeface="Arial"/>
              </a:rPr>
              <a:t>one-to-many </a:t>
            </a:r>
            <a:r>
              <a:rPr sz="1100" spc="-5" dirty="0">
                <a:latin typeface="Arial"/>
                <a:cs typeface="Arial"/>
              </a:rPr>
              <a:t>(from  Lecturer 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Student)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33502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>
                <a:solidFill>
                  <a:srgbClr val="FF0000"/>
                </a:solidFill>
              </a:rPr>
              <a:t>Participation Constraints </a:t>
            </a:r>
            <a:r>
              <a:rPr spc="10" dirty="0"/>
              <a:t>in </a:t>
            </a:r>
            <a:r>
              <a:rPr spc="15" dirty="0"/>
              <a:t>Relationships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1960" y="613957"/>
            <a:ext cx="3504565" cy="227711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285"/>
              </a:spcBef>
              <a:buClr>
                <a:srgbClr val="3333B2"/>
              </a:buClr>
              <a:buFont typeface="Arial"/>
              <a:buChar char="►"/>
              <a:tabLst>
                <a:tab pos="215265" algn="l"/>
              </a:tabLst>
            </a:pPr>
            <a:r>
              <a:rPr lang="en-US" sz="1100" b="1" spc="-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1100" b="1" spc="-5" dirty="0">
                <a:solidFill>
                  <a:srgbClr val="FF0000"/>
                </a:solidFill>
                <a:latin typeface="Arial"/>
                <a:cs typeface="Arial"/>
              </a:rPr>
              <a:t>ptional</a:t>
            </a:r>
            <a:r>
              <a:rPr lang="en-US" sz="1100" b="1" spc="-5" dirty="0">
                <a:solidFill>
                  <a:srgbClr val="FF0000"/>
                </a:solidFill>
                <a:latin typeface="Arial"/>
                <a:cs typeface="Arial"/>
              </a:rPr>
              <a:t> /</a:t>
            </a:r>
            <a:r>
              <a:rPr lang="en-US" sz="1100" i="1" dirty="0">
                <a:solidFill>
                  <a:srgbClr val="FF0000"/>
                </a:solidFill>
                <a:latin typeface="Arial"/>
                <a:cs typeface="Arial"/>
              </a:rPr>
              <a:t> partial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relationship</a:t>
            </a:r>
            <a:endParaRPr sz="1100" dirty="0">
              <a:latin typeface="Arial"/>
              <a:cs typeface="Arial"/>
            </a:endParaRPr>
          </a:p>
          <a:p>
            <a:pPr marL="492125" marR="129539" lvl="1" indent="-16827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spc="-5" dirty="0">
                <a:latin typeface="Arial"/>
                <a:cs typeface="Arial"/>
              </a:rPr>
              <a:t>e.g., an </a:t>
            </a:r>
            <a:r>
              <a:rPr sz="1000" spc="-10" dirty="0">
                <a:latin typeface="Arial"/>
                <a:cs typeface="Arial"/>
              </a:rPr>
              <a:t>Employee </a:t>
            </a:r>
            <a:r>
              <a:rPr sz="1000" spc="-15" dirty="0">
                <a:latin typeface="Arial"/>
                <a:cs typeface="Arial"/>
              </a:rPr>
              <a:t>may </a:t>
            </a:r>
            <a:r>
              <a:rPr sz="1000" spc="-5" dirty="0">
                <a:latin typeface="Arial"/>
                <a:cs typeface="Arial"/>
              </a:rPr>
              <a:t>or </a:t>
            </a:r>
            <a:r>
              <a:rPr sz="1000" spc="-15" dirty="0">
                <a:latin typeface="Arial"/>
                <a:cs typeface="Arial"/>
              </a:rPr>
              <a:t>may </a:t>
            </a:r>
            <a:r>
              <a:rPr sz="1000" spc="-5" dirty="0">
                <a:latin typeface="Arial"/>
                <a:cs typeface="Arial"/>
              </a:rPr>
              <a:t>not be assigned to a  </a:t>
            </a:r>
            <a:r>
              <a:rPr sz="1000" dirty="0">
                <a:latin typeface="Arial"/>
                <a:cs typeface="Arial"/>
              </a:rPr>
              <a:t>Department</a:t>
            </a:r>
          </a:p>
          <a:p>
            <a:pPr marL="492125" marR="59055" lvl="1" indent="-168275">
              <a:lnSpc>
                <a:spcPts val="1200"/>
              </a:lnSpc>
              <a:spcBef>
                <a:spcPts val="35"/>
              </a:spcBef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spc="-5" dirty="0">
                <a:highlight>
                  <a:srgbClr val="FFFF00"/>
                </a:highlight>
                <a:latin typeface="Arial"/>
                <a:cs typeface="Arial"/>
              </a:rPr>
              <a:t>Participation of entity (e.g., </a:t>
            </a:r>
            <a:r>
              <a:rPr sz="1000" spc="-10" dirty="0">
                <a:highlight>
                  <a:srgbClr val="FFFF00"/>
                </a:highlight>
                <a:latin typeface="Arial"/>
                <a:cs typeface="Arial"/>
              </a:rPr>
              <a:t>Employee) </a:t>
            </a:r>
            <a:r>
              <a:rPr sz="1000" spc="-5" dirty="0">
                <a:highlight>
                  <a:srgbClr val="FFFF00"/>
                </a:highlight>
                <a:latin typeface="Arial"/>
                <a:cs typeface="Arial"/>
              </a:rPr>
              <a:t>in relationship  is said to be</a:t>
            </a:r>
            <a:r>
              <a:rPr sz="1000" spc="-10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partial</a:t>
            </a:r>
            <a:endParaRPr sz="1000" dirty="0">
              <a:solidFill>
                <a:srgbClr val="FF0000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marL="492125" lvl="1" indent="-168275">
              <a:lnSpc>
                <a:spcPts val="1150"/>
              </a:lnSpc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lang="en-US" sz="1000" spc="-5" dirty="0">
                <a:solidFill>
                  <a:srgbClr val="FF0000"/>
                </a:solidFill>
                <a:latin typeface="Arial"/>
                <a:cs typeface="Arial"/>
              </a:rPr>
              <a:t>Indicated by </a:t>
            </a:r>
            <a:r>
              <a:rPr lang="en-US" sz="1000" u="sng" spc="-5" dirty="0">
                <a:solidFill>
                  <a:srgbClr val="FF0000"/>
                </a:solidFill>
                <a:latin typeface="Arial"/>
                <a:cs typeface="Arial"/>
              </a:rPr>
              <a:t>default single line</a:t>
            </a:r>
            <a:r>
              <a:rPr sz="1000" u="sng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Arial"/>
                <a:cs typeface="Arial"/>
              </a:rPr>
              <a:t>in our</a:t>
            </a:r>
            <a:r>
              <a:rPr sz="1000" spc="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Arial"/>
                <a:cs typeface="Arial"/>
              </a:rPr>
              <a:t>notation</a:t>
            </a:r>
            <a:endParaRPr sz="10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492125" lvl="1" indent="-168275">
              <a:lnSpc>
                <a:spcPts val="1200"/>
              </a:lnSpc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spc="-5" dirty="0">
                <a:latin typeface="Arial"/>
                <a:cs typeface="Arial"/>
              </a:rPr>
              <a:t>(Sometimes indicated </a:t>
            </a:r>
            <a:r>
              <a:rPr sz="1000" spc="-15" dirty="0">
                <a:latin typeface="Arial"/>
                <a:cs typeface="Arial"/>
              </a:rPr>
              <a:t>by </a:t>
            </a:r>
            <a:r>
              <a:rPr sz="1000" spc="-5" dirty="0">
                <a:solidFill>
                  <a:srgbClr val="FF0000"/>
                </a:solidFill>
                <a:latin typeface="Arial"/>
                <a:cs typeface="Arial"/>
              </a:rPr>
              <a:t>cardinality constraint of</a:t>
            </a:r>
            <a:r>
              <a:rPr sz="1000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Arial"/>
                <a:cs typeface="Arial"/>
              </a:rPr>
              <a:t>0..*</a:t>
            </a:r>
            <a:r>
              <a:rPr sz="1000" spc="-5" dirty="0">
                <a:latin typeface="Arial"/>
                <a:cs typeface="Arial"/>
              </a:rPr>
              <a:t>)</a:t>
            </a:r>
            <a:endParaRPr sz="1000" dirty="0">
              <a:latin typeface="Arial"/>
              <a:cs typeface="Arial"/>
            </a:endParaRPr>
          </a:p>
          <a:p>
            <a:pPr marL="214629" indent="-177165">
              <a:lnSpc>
                <a:spcPct val="100000"/>
              </a:lnSpc>
              <a:spcBef>
                <a:spcPts val="190"/>
              </a:spcBef>
              <a:buClr>
                <a:srgbClr val="3333B2"/>
              </a:buClr>
              <a:buFont typeface="Arial"/>
              <a:buChar char="►"/>
              <a:tabLst>
                <a:tab pos="215265" algn="l"/>
              </a:tabLst>
            </a:pPr>
            <a:r>
              <a:rPr sz="1100" b="1" spc="-5" dirty="0">
                <a:solidFill>
                  <a:srgbClr val="FF0000"/>
                </a:solidFill>
                <a:latin typeface="Arial"/>
                <a:cs typeface="Arial"/>
              </a:rPr>
              <a:t>mandatory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relationship</a:t>
            </a:r>
            <a:endParaRPr sz="1100" dirty="0">
              <a:latin typeface="Arial"/>
              <a:cs typeface="Arial"/>
            </a:endParaRPr>
          </a:p>
          <a:p>
            <a:pPr marL="492125" marR="222250" lvl="1" indent="-16827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spc="-5" dirty="0">
                <a:latin typeface="Arial"/>
                <a:cs typeface="Arial"/>
              </a:rPr>
              <a:t>e.g., </a:t>
            </a:r>
            <a:r>
              <a:rPr sz="1000" spc="-10" dirty="0">
                <a:latin typeface="Arial"/>
                <a:cs typeface="Arial"/>
              </a:rPr>
              <a:t>every </a:t>
            </a:r>
            <a:r>
              <a:rPr sz="1000" spc="-5" dirty="0">
                <a:latin typeface="Arial"/>
                <a:cs typeface="Arial"/>
              </a:rPr>
              <a:t>Course must be </a:t>
            </a:r>
            <a:r>
              <a:rPr sz="1000" spc="-25" dirty="0">
                <a:latin typeface="Arial"/>
                <a:cs typeface="Arial"/>
              </a:rPr>
              <a:t>Taught </a:t>
            </a:r>
            <a:r>
              <a:rPr sz="1000" spc="-15" dirty="0">
                <a:latin typeface="Arial"/>
                <a:cs typeface="Arial"/>
              </a:rPr>
              <a:t>by </a:t>
            </a:r>
            <a:r>
              <a:rPr sz="1000" spc="-5" dirty="0">
                <a:latin typeface="Arial"/>
                <a:cs typeface="Arial"/>
              </a:rPr>
              <a:t>at least one  Lecturer</a:t>
            </a:r>
            <a:endParaRPr sz="1000" dirty="0">
              <a:latin typeface="Arial"/>
              <a:cs typeface="Arial"/>
            </a:endParaRPr>
          </a:p>
          <a:p>
            <a:pPr marL="492125" marR="207010" lvl="1" indent="-168275">
              <a:lnSpc>
                <a:spcPts val="1200"/>
              </a:lnSpc>
              <a:spcBef>
                <a:spcPts val="35"/>
              </a:spcBef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spc="-5" dirty="0">
                <a:highlight>
                  <a:srgbClr val="FFFF00"/>
                </a:highlight>
                <a:latin typeface="Arial"/>
                <a:cs typeface="Arial"/>
              </a:rPr>
              <a:t>Participation of entity (e.g., Course) in relationship  said to be</a:t>
            </a:r>
            <a:r>
              <a:rPr sz="1000" spc="-10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1000" i="1" spc="-5" dirty="0">
                <a:solidFill>
                  <a:srgbClr val="00B050"/>
                </a:solidFill>
                <a:highlight>
                  <a:srgbClr val="FFFF00"/>
                </a:highlight>
                <a:latin typeface="Arial"/>
                <a:cs typeface="Arial"/>
              </a:rPr>
              <a:t>total</a:t>
            </a:r>
            <a:endParaRPr sz="1000" dirty="0">
              <a:solidFill>
                <a:srgbClr val="00B050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marL="492125" lvl="1" indent="-168275">
              <a:lnSpc>
                <a:spcPts val="1150"/>
              </a:lnSpc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spc="-5" dirty="0">
                <a:latin typeface="Arial"/>
                <a:cs typeface="Arial"/>
              </a:rPr>
              <a:t>Indicated </a:t>
            </a:r>
            <a:r>
              <a:rPr sz="1000" spc="-15" dirty="0">
                <a:latin typeface="Arial"/>
                <a:cs typeface="Arial"/>
              </a:rPr>
              <a:t>by </a:t>
            </a:r>
            <a:r>
              <a:rPr sz="1000" spc="-10" dirty="0">
                <a:solidFill>
                  <a:srgbClr val="FF0000"/>
                </a:solidFill>
                <a:latin typeface="Arial"/>
                <a:cs typeface="Arial"/>
              </a:rPr>
              <a:t>double </a:t>
            </a:r>
            <a:r>
              <a:rPr sz="1000" spc="-5" dirty="0">
                <a:solidFill>
                  <a:srgbClr val="FF0000"/>
                </a:solidFill>
                <a:latin typeface="Arial"/>
                <a:cs typeface="Arial"/>
              </a:rPr>
              <a:t>lines </a:t>
            </a:r>
            <a:r>
              <a:rPr sz="1000" spc="-5" dirty="0">
                <a:latin typeface="Arial"/>
                <a:cs typeface="Arial"/>
              </a:rPr>
              <a:t>in our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notation</a:t>
            </a:r>
            <a:endParaRPr sz="1000" dirty="0">
              <a:latin typeface="Arial"/>
              <a:cs typeface="Arial"/>
            </a:endParaRPr>
          </a:p>
          <a:p>
            <a:pPr marL="492125" lvl="1" indent="-168275">
              <a:lnSpc>
                <a:spcPts val="1200"/>
              </a:lnSpc>
              <a:buClr>
                <a:srgbClr val="3333B2"/>
              </a:buClr>
              <a:buChar char="►"/>
              <a:tabLst>
                <a:tab pos="492759" algn="l"/>
              </a:tabLst>
            </a:pPr>
            <a:r>
              <a:rPr sz="1000" spc="-5" dirty="0">
                <a:latin typeface="Arial"/>
                <a:cs typeface="Arial"/>
              </a:rPr>
              <a:t>(Sometimes indicated </a:t>
            </a:r>
            <a:r>
              <a:rPr sz="1000" spc="-15" dirty="0">
                <a:latin typeface="Arial"/>
                <a:cs typeface="Arial"/>
              </a:rPr>
              <a:t>by </a:t>
            </a:r>
            <a:r>
              <a:rPr sz="1000" spc="-5" dirty="0">
                <a:solidFill>
                  <a:srgbClr val="FF0000"/>
                </a:solidFill>
                <a:latin typeface="Arial"/>
                <a:cs typeface="Arial"/>
              </a:rPr>
              <a:t>cardinality constraint of</a:t>
            </a:r>
            <a:r>
              <a:rPr sz="1000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F0000"/>
                </a:solidFill>
                <a:latin typeface="Arial"/>
                <a:cs typeface="Arial"/>
              </a:rPr>
              <a:t>1..*</a:t>
            </a:r>
            <a:r>
              <a:rPr sz="1000" spc="-5" dirty="0">
                <a:latin typeface="Arial"/>
                <a:cs typeface="Arial"/>
              </a:rPr>
              <a:t>)</a:t>
            </a:r>
            <a:endParaRPr sz="10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29603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Example </a:t>
            </a:r>
            <a:r>
              <a:rPr spc="10" dirty="0"/>
              <a:t>of </a:t>
            </a:r>
            <a:r>
              <a:rPr spc="10" dirty="0">
                <a:solidFill>
                  <a:srgbClr val="FF0000"/>
                </a:solidFill>
              </a:rPr>
              <a:t>Participation</a:t>
            </a:r>
            <a:r>
              <a:rPr spc="25" dirty="0">
                <a:solidFill>
                  <a:srgbClr val="FF0000"/>
                </a:solidFill>
              </a:rPr>
              <a:t> </a:t>
            </a:r>
            <a:r>
              <a:rPr spc="10" dirty="0">
                <a:solidFill>
                  <a:srgbClr val="FF0000"/>
                </a:solidFill>
              </a:rPr>
              <a:t>Constraints</a:t>
            </a:r>
          </a:p>
        </p:txBody>
      </p:sp>
      <p:sp>
        <p:nvSpPr>
          <p:cNvPr id="24" name="object 24"/>
          <p:cNvSpPr/>
          <p:nvPr/>
        </p:nvSpPr>
        <p:spPr>
          <a:xfrm>
            <a:off x="1547304" y="447941"/>
            <a:ext cx="793750" cy="793750"/>
          </a:xfrm>
          <a:custGeom>
            <a:avLst/>
            <a:gdLst/>
            <a:ahLst/>
            <a:cxnLst/>
            <a:rect l="l" t="t" r="r" b="b"/>
            <a:pathLst>
              <a:path w="793750" h="793750">
                <a:moveTo>
                  <a:pt x="793419" y="396709"/>
                </a:moveTo>
                <a:lnTo>
                  <a:pt x="396709" y="0"/>
                </a:lnTo>
                <a:lnTo>
                  <a:pt x="0" y="396709"/>
                </a:lnTo>
                <a:lnTo>
                  <a:pt x="396709" y="793419"/>
                </a:lnTo>
                <a:lnTo>
                  <a:pt x="793419" y="396709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48363" y="636827"/>
            <a:ext cx="826174" cy="455894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915"/>
              </a:spcBef>
              <a:tabLst>
                <a:tab pos="1237615" algn="l"/>
              </a:tabLst>
            </a:pPr>
            <a:r>
              <a:rPr sz="1100" spc="-5" dirty="0">
                <a:latin typeface="Arial"/>
                <a:cs typeface="Arial"/>
              </a:rPr>
              <a:t>Lecturer	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287236" y="815550"/>
            <a:ext cx="1313815" cy="58419"/>
            <a:chOff x="1287236" y="815550"/>
            <a:chExt cx="1313815" cy="58419"/>
          </a:xfrm>
        </p:grpSpPr>
        <p:sp>
          <p:nvSpPr>
            <p:cNvPr id="27" name="object 27"/>
            <p:cNvSpPr/>
            <p:nvPr/>
          </p:nvSpPr>
          <p:spPr>
            <a:xfrm>
              <a:off x="1287236" y="844651"/>
              <a:ext cx="249554" cy="0"/>
            </a:xfrm>
            <a:custGeom>
              <a:avLst/>
              <a:gdLst/>
              <a:ahLst/>
              <a:cxnLst/>
              <a:rect l="l" t="t" r="r" b="b"/>
              <a:pathLst>
                <a:path w="249555">
                  <a:moveTo>
                    <a:pt x="249304" y="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51506" y="815550"/>
              <a:ext cx="249554" cy="58419"/>
            </a:xfrm>
            <a:custGeom>
              <a:avLst/>
              <a:gdLst/>
              <a:ahLst/>
              <a:cxnLst/>
              <a:rect l="l" t="t" r="r" b="b"/>
              <a:pathLst>
                <a:path w="249555" h="58419">
                  <a:moveTo>
                    <a:pt x="0" y="58202"/>
                  </a:moveTo>
                  <a:lnTo>
                    <a:pt x="249288" y="58202"/>
                  </a:lnTo>
                  <a:lnTo>
                    <a:pt x="249288" y="0"/>
                  </a:lnTo>
                  <a:lnTo>
                    <a:pt x="0" y="0"/>
                  </a:lnTo>
                  <a:lnTo>
                    <a:pt x="0" y="582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51506" y="825672"/>
              <a:ext cx="249554" cy="38100"/>
            </a:xfrm>
            <a:custGeom>
              <a:avLst/>
              <a:gdLst/>
              <a:ahLst/>
              <a:cxnLst/>
              <a:rect l="l" t="t" r="r" b="b"/>
              <a:pathLst>
                <a:path w="249555" h="38100">
                  <a:moveTo>
                    <a:pt x="0" y="37958"/>
                  </a:moveTo>
                  <a:lnTo>
                    <a:pt x="249288" y="37958"/>
                  </a:lnTo>
                  <a:lnTo>
                    <a:pt x="249288" y="0"/>
                  </a:lnTo>
                  <a:lnTo>
                    <a:pt x="0" y="0"/>
                  </a:lnTo>
                  <a:lnTo>
                    <a:pt x="0" y="379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608389" y="636827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925"/>
              </a:spcBef>
            </a:pPr>
            <a:r>
              <a:rPr sz="1100" spc="-5" dirty="0">
                <a:latin typeface="Arial"/>
                <a:cs typeface="Arial"/>
              </a:rPr>
              <a:t>Student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1960" y="1453754"/>
            <a:ext cx="3010535" cy="6178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lang="en-US" sz="1100" spc="-10" dirty="0">
                <a:solidFill>
                  <a:srgbClr val="FF0000"/>
                </a:solidFill>
                <a:latin typeface="Arial"/>
                <a:cs typeface="Arial"/>
              </a:rPr>
              <a:t>Each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Lecturers </a:t>
            </a:r>
            <a:r>
              <a:rPr sz="1100" spc="-20" dirty="0">
                <a:solidFill>
                  <a:srgbClr val="FF0000"/>
                </a:solidFill>
                <a:latin typeface="Arial"/>
                <a:cs typeface="Arial"/>
              </a:rPr>
              <a:t>may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sz="1100" spc="-35" dirty="0">
                <a:solidFill>
                  <a:srgbClr val="FF0000"/>
                </a:solidFill>
                <a:latin typeface="Arial"/>
                <a:cs typeface="Arial"/>
              </a:rPr>
              <a:t>Teach </a:t>
            </a:r>
            <a:r>
              <a:rPr sz="1100" spc="-15" dirty="0">
                <a:solidFill>
                  <a:srgbClr val="FF0000"/>
                </a:solidFill>
                <a:latin typeface="Arial"/>
                <a:cs typeface="Arial"/>
              </a:rPr>
              <a:t>any</a:t>
            </a:r>
            <a:r>
              <a:rPr sz="11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Students</a:t>
            </a:r>
            <a:endParaRPr sz="11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214629" marR="52705" indent="-1771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5" dirty="0">
                <a:latin typeface="Arial"/>
                <a:cs typeface="Arial"/>
              </a:rPr>
              <a:t>Student </a:t>
            </a:r>
            <a:r>
              <a:rPr sz="1100" i="1" spc="-10" dirty="0">
                <a:latin typeface="Arial"/>
                <a:cs typeface="Arial"/>
              </a:rPr>
              <a:t>must </a:t>
            </a:r>
            <a:r>
              <a:rPr sz="1100" spc="-10" dirty="0">
                <a:latin typeface="Arial"/>
                <a:cs typeface="Arial"/>
              </a:rPr>
              <a:t>be </a:t>
            </a:r>
            <a:r>
              <a:rPr sz="1100" spc="-5" dirty="0">
                <a:latin typeface="Arial"/>
                <a:cs typeface="Arial"/>
              </a:rPr>
              <a:t>taught </a:t>
            </a:r>
            <a:r>
              <a:rPr sz="1100" spc="-20" dirty="0">
                <a:latin typeface="Arial"/>
                <a:cs typeface="Arial"/>
              </a:rPr>
              <a:t>by </a:t>
            </a:r>
            <a:r>
              <a:rPr sz="1100" spc="-5" dirty="0">
                <a:latin typeface="Arial"/>
                <a:cs typeface="Arial"/>
              </a:rPr>
              <a:t>at least </a:t>
            </a:r>
            <a:r>
              <a:rPr sz="1100" spc="-10" dirty="0">
                <a:latin typeface="Arial"/>
                <a:cs typeface="Arial"/>
              </a:rPr>
              <a:t>one  </a:t>
            </a:r>
            <a:r>
              <a:rPr sz="1100" spc="-5" dirty="0">
                <a:latin typeface="Arial"/>
                <a:cs typeface="Arial"/>
              </a:rPr>
              <a:t>Lecturer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547304" y="2384425"/>
            <a:ext cx="793750" cy="793750"/>
          </a:xfrm>
          <a:custGeom>
            <a:avLst/>
            <a:gdLst/>
            <a:ahLst/>
            <a:cxnLst/>
            <a:rect l="l" t="t" r="r" b="b"/>
            <a:pathLst>
              <a:path w="793750" h="793750">
                <a:moveTo>
                  <a:pt x="793419" y="396709"/>
                </a:moveTo>
                <a:lnTo>
                  <a:pt x="396709" y="0"/>
                </a:lnTo>
                <a:lnTo>
                  <a:pt x="0" y="396709"/>
                </a:lnTo>
                <a:lnTo>
                  <a:pt x="396709" y="793419"/>
                </a:lnTo>
                <a:lnTo>
                  <a:pt x="793419" y="396709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48363" y="2621164"/>
            <a:ext cx="838874" cy="455894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915"/>
              </a:spcBef>
              <a:tabLst>
                <a:tab pos="1237615" algn="l"/>
              </a:tabLst>
            </a:pPr>
            <a:r>
              <a:rPr sz="1100" spc="-5" dirty="0">
                <a:latin typeface="Arial"/>
                <a:cs typeface="Arial"/>
              </a:rPr>
              <a:t>Lecturer	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74536" y="2623691"/>
            <a:ext cx="254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0..*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08389" y="2621164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925"/>
              </a:spcBef>
            </a:pPr>
            <a:r>
              <a:rPr sz="1100" spc="-5" dirty="0">
                <a:latin typeface="Arial"/>
                <a:cs typeface="Arial"/>
              </a:rPr>
              <a:t>Student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38806" y="2626523"/>
            <a:ext cx="25463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12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1..*</a:t>
            </a:r>
            <a:endParaRPr sz="11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7" name="مستطيل 36"/>
          <p:cNvSpPr/>
          <p:nvPr/>
        </p:nvSpPr>
        <p:spPr>
          <a:xfrm>
            <a:off x="1589423" y="715344"/>
            <a:ext cx="7334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spc="-145">
                <a:latin typeface="Arial"/>
                <a:cs typeface="Arial"/>
              </a:rPr>
              <a:t>T</a:t>
            </a:r>
            <a:r>
              <a:rPr lang="en-US" sz="1200" spc="-5">
                <a:latin typeface="Arial"/>
                <a:cs typeface="Arial"/>
              </a:rPr>
              <a:t>eaches</a:t>
            </a:r>
            <a:endParaRPr lang="en-US" sz="1200"/>
          </a:p>
        </p:txBody>
      </p:sp>
      <p:sp>
        <p:nvSpPr>
          <p:cNvPr id="38" name="مستطيل 37"/>
          <p:cNvSpPr/>
          <p:nvPr/>
        </p:nvSpPr>
        <p:spPr>
          <a:xfrm>
            <a:off x="1589423" y="2680119"/>
            <a:ext cx="7334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spc="-145" dirty="0">
                <a:latin typeface="Arial"/>
                <a:cs typeface="Arial"/>
              </a:rPr>
              <a:t>T</a:t>
            </a:r>
            <a:r>
              <a:rPr lang="en-US" sz="1200" spc="-5" dirty="0">
                <a:latin typeface="Arial"/>
                <a:cs typeface="Arial"/>
              </a:rPr>
              <a:t>eaches</a:t>
            </a:r>
            <a:endParaRPr lang="en-US" sz="1200" dirty="0"/>
          </a:p>
        </p:txBody>
      </p:sp>
      <p:pic>
        <p:nvPicPr>
          <p:cNvPr id="39" name="صورة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817" y="384999"/>
            <a:ext cx="3333294" cy="86110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4798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Binary </a:t>
            </a:r>
            <a:r>
              <a:rPr spc="-5" dirty="0"/>
              <a:t>Versus </a:t>
            </a:r>
            <a:r>
              <a:rPr spc="5" dirty="0"/>
              <a:t>Multiway </a:t>
            </a:r>
            <a:r>
              <a:rPr spc="15" dirty="0"/>
              <a:t>Relationship</a:t>
            </a:r>
            <a:r>
              <a:rPr spc="-10" dirty="0"/>
              <a:t> </a:t>
            </a:r>
            <a:r>
              <a:rPr spc="-20" dirty="0"/>
              <a:t>Types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788399" y="794256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5"/>
              </a:spcBef>
            </a:pPr>
            <a:r>
              <a:rPr sz="1100" spc="-10" dirty="0">
                <a:latin typeface="Arial"/>
                <a:cs typeface="Arial"/>
              </a:rPr>
              <a:t>Part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523619" y="581672"/>
            <a:ext cx="841375" cy="841375"/>
          </a:xfrm>
          <a:custGeom>
            <a:avLst/>
            <a:gdLst/>
            <a:ahLst/>
            <a:cxnLst/>
            <a:rect l="l" t="t" r="r" b="b"/>
            <a:pathLst>
              <a:path w="841375" h="841375">
                <a:moveTo>
                  <a:pt x="840803" y="420408"/>
                </a:moveTo>
                <a:lnTo>
                  <a:pt x="420408" y="0"/>
                </a:lnTo>
                <a:lnTo>
                  <a:pt x="0" y="420408"/>
                </a:lnTo>
                <a:lnTo>
                  <a:pt x="420408" y="840808"/>
                </a:lnTo>
                <a:lnTo>
                  <a:pt x="840803" y="420408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68365" y="794256"/>
            <a:ext cx="831849" cy="443710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819"/>
              </a:spcBef>
              <a:tabLst>
                <a:tab pos="1409700" algn="l"/>
              </a:tabLst>
            </a:pPr>
            <a:r>
              <a:rPr sz="1100" spc="-5" dirty="0">
                <a:latin typeface="Arial"/>
                <a:cs typeface="Arial"/>
              </a:rPr>
              <a:t>Supplier	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28380" y="1874269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02870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810"/>
              </a:spcBef>
            </a:pPr>
            <a:r>
              <a:rPr sz="1100" spc="-5" dirty="0">
                <a:latin typeface="Arial"/>
                <a:cs typeface="Arial"/>
              </a:rPr>
              <a:t>Project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07239" y="1002080"/>
            <a:ext cx="1673860" cy="864869"/>
          </a:xfrm>
          <a:custGeom>
            <a:avLst/>
            <a:gdLst/>
            <a:ahLst/>
            <a:cxnLst/>
            <a:rect l="l" t="t" r="r" b="b"/>
            <a:pathLst>
              <a:path w="1673860" h="864869">
                <a:moveTo>
                  <a:pt x="405589" y="0"/>
                </a:moveTo>
                <a:lnTo>
                  <a:pt x="0" y="0"/>
                </a:lnTo>
              </a:path>
              <a:path w="1673860" h="864869">
                <a:moveTo>
                  <a:pt x="1267978" y="0"/>
                </a:moveTo>
                <a:lnTo>
                  <a:pt x="1673565" y="0"/>
                </a:lnTo>
              </a:path>
              <a:path w="1673860" h="864869">
                <a:moveTo>
                  <a:pt x="836787" y="431186"/>
                </a:moveTo>
                <a:lnTo>
                  <a:pt x="836787" y="864598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41960" y="2546082"/>
            <a:ext cx="3467735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0985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5" dirty="0">
                <a:latin typeface="Arial"/>
                <a:cs typeface="Arial"/>
              </a:rPr>
              <a:t>supplier </a:t>
            </a:r>
            <a:r>
              <a:rPr sz="1100" spc="-20" dirty="0">
                <a:latin typeface="Arial"/>
                <a:cs typeface="Arial"/>
              </a:rPr>
              <a:t>may </a:t>
            </a:r>
            <a:r>
              <a:rPr sz="1100" spc="-5" dirty="0">
                <a:latin typeface="Arial"/>
                <a:cs typeface="Arial"/>
              </a:rPr>
              <a:t>supply </a:t>
            </a:r>
            <a:r>
              <a:rPr sz="1100" spc="-10" dirty="0">
                <a:latin typeface="Arial"/>
                <a:cs typeface="Arial"/>
              </a:rPr>
              <a:t>different </a:t>
            </a:r>
            <a:r>
              <a:rPr sz="1100" dirty="0">
                <a:latin typeface="Arial"/>
                <a:cs typeface="Arial"/>
              </a:rPr>
              <a:t>parts </a:t>
            </a:r>
            <a:r>
              <a:rPr sz="1100" spc="-5" dirty="0">
                <a:latin typeface="Arial"/>
                <a:cs typeface="Arial"/>
              </a:rPr>
              <a:t>to </a:t>
            </a:r>
            <a:r>
              <a:rPr sz="1100" spc="-10" dirty="0">
                <a:latin typeface="Arial"/>
                <a:cs typeface="Arial"/>
              </a:rPr>
              <a:t>different  </a:t>
            </a:r>
            <a:r>
              <a:rPr sz="1100" spc="-5" dirty="0">
                <a:latin typeface="Arial"/>
                <a:cs typeface="Arial"/>
              </a:rPr>
              <a:t>projects</a:t>
            </a:r>
            <a:endParaRPr sz="1100">
              <a:latin typeface="Arial"/>
              <a:cs typeface="Arial"/>
            </a:endParaRPr>
          </a:p>
          <a:p>
            <a:pPr marL="214629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Supplies is </a:t>
            </a:r>
            <a:r>
              <a:rPr sz="1100" spc="-10" dirty="0">
                <a:latin typeface="Arial"/>
                <a:cs typeface="Arial"/>
              </a:rPr>
              <a:t>an </a:t>
            </a:r>
            <a:r>
              <a:rPr sz="1100" spc="-15" dirty="0">
                <a:latin typeface="Arial"/>
                <a:cs typeface="Arial"/>
              </a:rPr>
              <a:t>example </a:t>
            </a:r>
            <a:r>
              <a:rPr sz="1100" spc="-5" dirty="0">
                <a:latin typeface="Arial"/>
                <a:cs typeface="Arial"/>
              </a:rPr>
              <a:t>of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i="1" dirty="0">
                <a:latin typeface="Arial"/>
                <a:cs typeface="Arial"/>
              </a:rPr>
              <a:t>ternary </a:t>
            </a:r>
            <a:r>
              <a:rPr sz="1100" spc="-5" dirty="0">
                <a:latin typeface="Arial"/>
                <a:cs typeface="Arial"/>
              </a:rPr>
              <a:t>relationship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type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مستطيل 29"/>
          <p:cNvSpPr/>
          <p:nvPr/>
        </p:nvSpPr>
        <p:spPr>
          <a:xfrm>
            <a:off x="1604506" y="844922"/>
            <a:ext cx="7662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spc="-5" dirty="0">
                <a:latin typeface="Arial"/>
                <a:cs typeface="Arial"/>
              </a:rPr>
              <a:t>Supplies</a:t>
            </a:r>
            <a:endParaRPr lang="en-US" sz="1200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1680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" dirty="0"/>
              <a:t>Keys </a:t>
            </a:r>
            <a:r>
              <a:rPr spc="15" dirty="0"/>
              <a:t>and</a:t>
            </a:r>
            <a:r>
              <a:rPr spc="-30" dirty="0"/>
              <a:t> </a:t>
            </a:r>
            <a:r>
              <a:rPr spc="10" dirty="0"/>
              <a:t>Superkeys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67297" y="498118"/>
            <a:ext cx="3552825" cy="880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5" dirty="0">
                <a:latin typeface="Arial"/>
                <a:cs typeface="Arial"/>
              </a:rPr>
              <a:t>Definition of </a:t>
            </a:r>
            <a:r>
              <a:rPr sz="1100" b="1" spc="-10" dirty="0">
                <a:latin typeface="Arial"/>
                <a:cs typeface="Arial"/>
              </a:rPr>
              <a:t>a </a:t>
            </a:r>
            <a:r>
              <a:rPr sz="1100" b="1" spc="-20" dirty="0">
                <a:latin typeface="Arial"/>
                <a:cs typeface="Arial"/>
              </a:rPr>
              <a:t>superkey.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set of attributes of </a:t>
            </a:r>
            <a:r>
              <a:rPr sz="1100" spc="-10" dirty="0">
                <a:latin typeface="Arial"/>
                <a:cs typeface="Arial"/>
              </a:rPr>
              <a:t>an </a:t>
            </a:r>
            <a:r>
              <a:rPr sz="1100" spc="-5" dirty="0">
                <a:latin typeface="Arial"/>
                <a:cs typeface="Arial"/>
              </a:rPr>
              <a:t>entity  type is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i="1" spc="-10" dirty="0">
                <a:latin typeface="Arial"/>
                <a:cs typeface="Arial"/>
              </a:rPr>
              <a:t>superkey </a:t>
            </a:r>
            <a:r>
              <a:rPr sz="1100" spc="-5" dirty="0">
                <a:latin typeface="Arial"/>
                <a:cs typeface="Arial"/>
              </a:rPr>
              <a:t>if </a:t>
            </a:r>
            <a:r>
              <a:rPr sz="1100" spc="-20" dirty="0">
                <a:latin typeface="Arial"/>
                <a:cs typeface="Arial"/>
              </a:rPr>
              <a:t>for </a:t>
            </a: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20" dirty="0">
                <a:latin typeface="Arial"/>
                <a:cs typeface="Arial"/>
              </a:rPr>
              <a:t>entity, say </a:t>
            </a:r>
            <a:r>
              <a:rPr sz="1100" i="1" spc="-5" dirty="0">
                <a:latin typeface="Arial"/>
                <a:cs typeface="Arial"/>
              </a:rPr>
              <a:t>e</a:t>
            </a:r>
            <a:r>
              <a:rPr sz="1100" spc="-5" dirty="0">
                <a:latin typeface="Arial"/>
                <a:cs typeface="Arial"/>
              </a:rPr>
              <a:t>, </a:t>
            </a:r>
            <a:r>
              <a:rPr sz="1100" spc="-20" dirty="0">
                <a:latin typeface="Arial"/>
                <a:cs typeface="Arial"/>
              </a:rPr>
              <a:t>over </a:t>
            </a:r>
            <a:r>
              <a:rPr sz="1100" spc="-5" dirty="0">
                <a:latin typeface="Arial"/>
                <a:cs typeface="Arial"/>
              </a:rPr>
              <a:t>that </a:t>
            </a:r>
            <a:r>
              <a:rPr sz="1100" spc="-10" dirty="0">
                <a:latin typeface="Arial"/>
                <a:cs typeface="Arial"/>
              </a:rPr>
              <a:t>type,  </a:t>
            </a:r>
            <a:r>
              <a:rPr sz="1100" spc="-5" dirty="0">
                <a:latin typeface="Arial"/>
                <a:cs typeface="Arial"/>
              </a:rPr>
              <a:t>the set of </a:t>
            </a:r>
            <a:r>
              <a:rPr sz="1100" spc="-10" dirty="0">
                <a:latin typeface="Arial"/>
                <a:cs typeface="Arial"/>
              </a:rPr>
              <a:t>values </a:t>
            </a:r>
            <a:r>
              <a:rPr sz="1100" spc="-5" dirty="0">
                <a:latin typeface="Arial"/>
                <a:cs typeface="Arial"/>
              </a:rPr>
              <a:t>of the attributes in the </a:t>
            </a:r>
            <a:r>
              <a:rPr sz="1100" spc="-10" dirty="0">
                <a:latin typeface="Arial"/>
                <a:cs typeface="Arial"/>
              </a:rPr>
              <a:t>superkey</a:t>
            </a:r>
            <a:r>
              <a:rPr sz="1100" spc="-65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uniquely  </a:t>
            </a:r>
            <a:r>
              <a:rPr sz="1100" spc="-5" dirty="0">
                <a:latin typeface="Arial"/>
                <a:cs typeface="Arial"/>
              </a:rPr>
              <a:t>identifies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e</a:t>
            </a:r>
            <a:r>
              <a:rPr sz="1100" spc="-5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Arial"/>
                <a:cs typeface="Arial"/>
              </a:rPr>
              <a:t>e.g., a </a:t>
            </a:r>
            <a:r>
              <a:rPr sz="1100" spc="-15" dirty="0">
                <a:latin typeface="Arial"/>
                <a:cs typeface="Arial"/>
              </a:rPr>
              <a:t>Person </a:t>
            </a:r>
            <a:r>
              <a:rPr sz="1100" spc="-20" dirty="0">
                <a:latin typeface="Arial"/>
                <a:cs typeface="Arial"/>
              </a:rPr>
              <a:t>may </a:t>
            </a:r>
            <a:r>
              <a:rPr sz="1100" spc="-10" dirty="0">
                <a:latin typeface="Arial"/>
                <a:cs typeface="Arial"/>
              </a:rPr>
              <a:t>be </a:t>
            </a:r>
            <a:r>
              <a:rPr sz="1100" spc="-5" dirty="0">
                <a:latin typeface="Arial"/>
                <a:cs typeface="Arial"/>
              </a:rPr>
              <a:t>uniquely identified </a:t>
            </a:r>
            <a:r>
              <a:rPr sz="1100" spc="-20" dirty="0">
                <a:latin typeface="Arial"/>
                <a:cs typeface="Arial"/>
              </a:rPr>
              <a:t>by </a:t>
            </a:r>
            <a:r>
              <a:rPr sz="1100" spc="-10" dirty="0">
                <a:latin typeface="Arial"/>
                <a:cs typeface="Arial"/>
              </a:rPr>
              <a:t>{Name,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NI#}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1897" y="1510320"/>
            <a:ext cx="3593465" cy="15106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b="1" spc="-5" dirty="0">
                <a:latin typeface="Arial"/>
                <a:cs typeface="Arial"/>
              </a:rPr>
              <a:t>Definition of </a:t>
            </a:r>
            <a:r>
              <a:rPr sz="1100" b="1" spc="-10" dirty="0">
                <a:latin typeface="Arial"/>
                <a:cs typeface="Arial"/>
              </a:rPr>
              <a:t>a </a:t>
            </a:r>
            <a:r>
              <a:rPr sz="1100" b="1" spc="-35" dirty="0">
                <a:solidFill>
                  <a:srgbClr val="FF0000"/>
                </a:solidFill>
                <a:latin typeface="Arial"/>
                <a:cs typeface="Arial"/>
              </a:rPr>
              <a:t>key</a:t>
            </a:r>
            <a:r>
              <a:rPr sz="1100" b="1" spc="-35" dirty="0">
                <a:latin typeface="Arial"/>
                <a:cs typeface="Arial"/>
              </a:rPr>
              <a:t>.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i="1" spc="-25" dirty="0">
                <a:solidFill>
                  <a:srgbClr val="FF0000"/>
                </a:solidFill>
                <a:latin typeface="Arial"/>
                <a:cs typeface="Arial"/>
              </a:rPr>
              <a:t>key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 </a:t>
            </a:r>
            <a:r>
              <a:rPr sz="1100" spc="-10" dirty="0">
                <a:latin typeface="Arial"/>
                <a:cs typeface="Arial"/>
              </a:rPr>
              <a:t>an </a:t>
            </a:r>
            <a:r>
              <a:rPr sz="1100" spc="-5" dirty="0">
                <a:latin typeface="Arial"/>
                <a:cs typeface="Arial"/>
              </a:rPr>
              <a:t>entity type is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superkey</a:t>
            </a:r>
            <a:r>
              <a:rPr sz="1100" spc="-10" dirty="0">
                <a:latin typeface="Arial"/>
                <a:cs typeface="Arial"/>
              </a:rPr>
              <a:t>  </a:t>
            </a:r>
            <a:r>
              <a:rPr sz="1100" spc="-5" dirty="0">
                <a:latin typeface="Arial"/>
                <a:cs typeface="Arial"/>
              </a:rPr>
              <a:t>which 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minimal</a:t>
            </a:r>
            <a:r>
              <a:rPr sz="1100" spc="-5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Arial"/>
                <a:cs typeface="Arial"/>
              </a:rPr>
              <a:t>e.g., </a:t>
            </a:r>
            <a:r>
              <a:rPr sz="1100" spc="-5" dirty="0">
                <a:latin typeface="Arial"/>
                <a:cs typeface="Arial"/>
              </a:rPr>
              <a:t>to uniquely identify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15" dirty="0">
                <a:latin typeface="Arial"/>
                <a:cs typeface="Arial"/>
              </a:rPr>
              <a:t>Person, </a:t>
            </a:r>
            <a:r>
              <a:rPr sz="1100" spc="-5" dirty="0">
                <a:latin typeface="Arial"/>
                <a:cs typeface="Arial"/>
              </a:rPr>
              <a:t>NI# is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sufficient</a:t>
            </a:r>
            <a:endParaRPr sz="1100" dirty="0">
              <a:latin typeface="Arial"/>
              <a:cs typeface="Arial"/>
            </a:endParaRPr>
          </a:p>
          <a:p>
            <a:pPr marL="314960" marR="65405" lvl="1" indent="-177165">
              <a:lnSpc>
                <a:spcPct val="102600"/>
              </a:lnSpc>
              <a:spcBef>
                <a:spcPts val="600"/>
              </a:spcBef>
              <a:buClr>
                <a:srgbClr val="3333B2"/>
              </a:buClr>
              <a:buFont typeface="Arial"/>
              <a:buChar char="►"/>
              <a:tabLst>
                <a:tab pos="315595" algn="l"/>
              </a:tabLst>
            </a:pPr>
            <a:r>
              <a:rPr sz="1100" b="1" spc="-5" dirty="0">
                <a:latin typeface="Arial"/>
                <a:cs typeface="Arial"/>
              </a:rPr>
              <a:t>simple </a:t>
            </a:r>
            <a:r>
              <a:rPr sz="1100" spc="-20" dirty="0">
                <a:latin typeface="Arial"/>
                <a:cs typeface="Arial"/>
              </a:rPr>
              <a:t>keys </a:t>
            </a:r>
            <a:r>
              <a:rPr sz="1100" spc="-5" dirty="0">
                <a:latin typeface="Arial"/>
                <a:cs typeface="Arial"/>
              </a:rPr>
              <a:t>are single attribute </a:t>
            </a:r>
            <a:r>
              <a:rPr sz="1100" spc="-20" dirty="0">
                <a:latin typeface="Arial"/>
                <a:cs typeface="Arial"/>
              </a:rPr>
              <a:t>keys, </a:t>
            </a:r>
            <a:r>
              <a:rPr sz="1100" spc="-5" dirty="0">
                <a:latin typeface="Arial"/>
                <a:cs typeface="Arial"/>
              </a:rPr>
              <a:t>such as </a:t>
            </a:r>
            <a:r>
              <a:rPr sz="1100" spc="-10" dirty="0">
                <a:latin typeface="Arial"/>
                <a:cs typeface="Arial"/>
              </a:rPr>
              <a:t>Emp#  and </a:t>
            </a:r>
            <a:r>
              <a:rPr sz="1100" spc="-5" dirty="0">
                <a:latin typeface="Arial"/>
                <a:cs typeface="Arial"/>
              </a:rPr>
              <a:t>NI#.</a:t>
            </a:r>
            <a:endParaRPr sz="1100" dirty="0">
              <a:latin typeface="Arial"/>
              <a:cs typeface="Arial"/>
            </a:endParaRPr>
          </a:p>
          <a:p>
            <a:pPr marL="314960" marR="327025" lvl="1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Arial"/>
              <a:buChar char="►"/>
              <a:tabLst>
                <a:tab pos="315595" algn="l"/>
              </a:tabLst>
            </a:pPr>
            <a:r>
              <a:rPr sz="1100" b="1" spc="-5" dirty="0">
                <a:latin typeface="Arial"/>
                <a:cs typeface="Arial"/>
              </a:rPr>
              <a:t>composite </a:t>
            </a:r>
            <a:r>
              <a:rPr sz="1100" spc="-20" dirty="0">
                <a:latin typeface="Arial"/>
                <a:cs typeface="Arial"/>
              </a:rPr>
              <a:t>keys </a:t>
            </a:r>
            <a:r>
              <a:rPr sz="1100" spc="-5" dirty="0">
                <a:latin typeface="Arial"/>
                <a:cs typeface="Arial"/>
              </a:rPr>
              <a:t>are </a:t>
            </a:r>
            <a:r>
              <a:rPr sz="1100" spc="-20" dirty="0">
                <a:latin typeface="Arial"/>
                <a:cs typeface="Arial"/>
              </a:rPr>
              <a:t>keys </a:t>
            </a:r>
            <a:r>
              <a:rPr sz="1100" spc="-10" dirty="0">
                <a:latin typeface="Arial"/>
                <a:cs typeface="Arial"/>
              </a:rPr>
              <a:t>having more </a:t>
            </a:r>
            <a:r>
              <a:rPr sz="1100" spc="-5" dirty="0">
                <a:latin typeface="Arial"/>
                <a:cs typeface="Arial"/>
              </a:rPr>
              <a:t>than </a:t>
            </a:r>
            <a:r>
              <a:rPr sz="1100" spc="-10" dirty="0">
                <a:latin typeface="Arial"/>
                <a:cs typeface="Arial"/>
              </a:rPr>
              <a:t>one  attribute, </a:t>
            </a:r>
            <a:r>
              <a:rPr sz="1100" spc="-5" dirty="0">
                <a:latin typeface="Arial"/>
                <a:cs typeface="Arial"/>
              </a:rPr>
              <a:t>such as {Department, </a:t>
            </a:r>
            <a:r>
              <a:rPr sz="1100" spc="-10" dirty="0">
                <a:latin typeface="Arial"/>
                <a:cs typeface="Arial"/>
              </a:rPr>
              <a:t>University}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and</a:t>
            </a:r>
            <a:endParaRPr sz="1100" dirty="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Arial"/>
                <a:cs typeface="Arial"/>
              </a:rPr>
              <a:t>{Name, </a:t>
            </a:r>
            <a:r>
              <a:rPr sz="1100" spc="-5" dirty="0">
                <a:latin typeface="Arial"/>
                <a:cs typeface="Arial"/>
              </a:rPr>
              <a:t>Address}.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67297" y="225055"/>
            <a:ext cx="343789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5" dirty="0">
                <a:solidFill>
                  <a:srgbClr val="000000"/>
                </a:solidFill>
                <a:latin typeface="Arial"/>
                <a:cs typeface="Arial"/>
              </a:rPr>
              <a:t>Definition of primary </a:t>
            </a:r>
            <a:r>
              <a:rPr sz="1100" b="1" spc="-15" dirty="0">
                <a:solidFill>
                  <a:srgbClr val="000000"/>
                </a:solidFill>
                <a:latin typeface="Arial"/>
                <a:cs typeface="Arial"/>
              </a:rPr>
              <a:t>key </a:t>
            </a:r>
            <a:r>
              <a:rPr sz="1100" b="1" spc="-5" dirty="0">
                <a:solidFill>
                  <a:srgbClr val="000000"/>
                </a:solidFill>
                <a:latin typeface="Arial"/>
                <a:cs typeface="Arial"/>
              </a:rPr>
              <a:t>of </a:t>
            </a:r>
            <a:r>
              <a:rPr sz="1100" b="1" spc="-10" dirty="0">
                <a:solidFill>
                  <a:srgbClr val="000000"/>
                </a:solidFill>
                <a:latin typeface="Arial"/>
                <a:cs typeface="Arial"/>
              </a:rPr>
              <a:t>an </a:t>
            </a:r>
            <a:r>
              <a:rPr sz="1100" b="1" spc="-5" dirty="0">
                <a:solidFill>
                  <a:srgbClr val="000000"/>
                </a:solidFill>
                <a:latin typeface="Arial"/>
                <a:cs typeface="Arial"/>
              </a:rPr>
              <a:t>entity type. </a:t>
            </a:r>
            <a:r>
              <a:rPr sz="1100" spc="-10" dirty="0">
                <a:solidFill>
                  <a:srgbClr val="000000"/>
                </a:solidFill>
              </a:rPr>
              <a:t>A </a:t>
            </a:r>
            <a:r>
              <a:rPr sz="1100" i="1" dirty="0">
                <a:solidFill>
                  <a:srgbClr val="000000"/>
                </a:solidFill>
                <a:latin typeface="Arial"/>
                <a:cs typeface="Arial"/>
              </a:rPr>
              <a:t>primary  </a:t>
            </a:r>
            <a:r>
              <a:rPr sz="1100" i="1" spc="-25" dirty="0">
                <a:solidFill>
                  <a:srgbClr val="000000"/>
                </a:solidFill>
                <a:latin typeface="Arial"/>
                <a:cs typeface="Arial"/>
              </a:rPr>
              <a:t>key </a:t>
            </a:r>
            <a:r>
              <a:rPr sz="1100" spc="-5" dirty="0">
                <a:solidFill>
                  <a:srgbClr val="000000"/>
                </a:solidFill>
              </a:rPr>
              <a:t>is </a:t>
            </a:r>
            <a:r>
              <a:rPr sz="1100" spc="-10" dirty="0">
                <a:solidFill>
                  <a:srgbClr val="000000"/>
                </a:solidFill>
              </a:rPr>
              <a:t>a </a:t>
            </a:r>
            <a:r>
              <a:rPr sz="1100" spc="-25" dirty="0">
                <a:solidFill>
                  <a:srgbClr val="000000"/>
                </a:solidFill>
              </a:rPr>
              <a:t>key </a:t>
            </a:r>
            <a:r>
              <a:rPr sz="1100" spc="-5" dirty="0">
                <a:solidFill>
                  <a:srgbClr val="000000"/>
                </a:solidFill>
              </a:rPr>
              <a:t>that has </a:t>
            </a:r>
            <a:r>
              <a:rPr sz="1100" spc="-10" dirty="0">
                <a:solidFill>
                  <a:srgbClr val="000000"/>
                </a:solidFill>
              </a:rPr>
              <a:t>been </a:t>
            </a:r>
            <a:r>
              <a:rPr sz="1100" spc="-5" dirty="0">
                <a:solidFill>
                  <a:srgbClr val="000000"/>
                </a:solidFill>
              </a:rPr>
              <a:t>designated as such </a:t>
            </a:r>
            <a:r>
              <a:rPr sz="1100" spc="-20" dirty="0">
                <a:solidFill>
                  <a:srgbClr val="000000"/>
                </a:solidFill>
              </a:rPr>
              <a:t>by </a:t>
            </a:r>
            <a:r>
              <a:rPr sz="1100" spc="-5" dirty="0">
                <a:solidFill>
                  <a:srgbClr val="000000"/>
                </a:solidFill>
              </a:rPr>
              <a:t>the  </a:t>
            </a:r>
            <a:r>
              <a:rPr sz="1100" spc="-5" dirty="0">
                <a:solidFill>
                  <a:srgbClr val="FF0000"/>
                </a:solidFill>
              </a:rPr>
              <a:t>database</a:t>
            </a:r>
            <a:r>
              <a:rPr sz="1100" spc="-10" dirty="0">
                <a:solidFill>
                  <a:srgbClr val="FF0000"/>
                </a:solidFill>
              </a:rPr>
              <a:t> </a:t>
            </a:r>
            <a:r>
              <a:rPr sz="1100" spc="-15" dirty="0">
                <a:solidFill>
                  <a:srgbClr val="FF0000"/>
                </a:solidFill>
              </a:rPr>
              <a:t>designer</a:t>
            </a:r>
            <a:r>
              <a:rPr sz="1100" spc="-15" dirty="0">
                <a:solidFill>
                  <a:srgbClr val="000000"/>
                </a:solidFill>
              </a:rPr>
              <a:t>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1960" y="969021"/>
            <a:ext cx="3449320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7302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primary </a:t>
            </a:r>
            <a:r>
              <a:rPr sz="1100" spc="-25" dirty="0">
                <a:latin typeface="Arial"/>
                <a:cs typeface="Arial"/>
              </a:rPr>
              <a:t>key </a:t>
            </a:r>
            <a:r>
              <a:rPr sz="1100" spc="-10" dirty="0">
                <a:latin typeface="Arial"/>
                <a:cs typeface="Arial"/>
              </a:rPr>
              <a:t>guarantees </a:t>
            </a:r>
            <a:r>
              <a:rPr sz="1100" spc="-5" dirty="0">
                <a:latin typeface="Arial"/>
                <a:cs typeface="Arial"/>
              </a:rPr>
              <a:t>logical access to </a:t>
            </a:r>
            <a:r>
              <a:rPr sz="1100" spc="-15" dirty="0">
                <a:latin typeface="Arial"/>
                <a:cs typeface="Arial"/>
              </a:rPr>
              <a:t>every  </a:t>
            </a:r>
            <a:r>
              <a:rPr sz="1100" spc="-20" dirty="0">
                <a:latin typeface="Arial"/>
                <a:cs typeface="Arial"/>
              </a:rPr>
              <a:t>entity.</a:t>
            </a:r>
            <a:endParaRPr sz="1100" dirty="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Attributes that are </a:t>
            </a:r>
            <a:r>
              <a:rPr sz="1100" spc="-10" dirty="0">
                <a:latin typeface="Arial"/>
                <a:cs typeface="Arial"/>
              </a:rPr>
              <a:t>members </a:t>
            </a:r>
            <a:r>
              <a:rPr sz="1100" spc="-5" dirty="0">
                <a:latin typeface="Arial"/>
                <a:cs typeface="Arial"/>
              </a:rPr>
              <a:t>of the </a:t>
            </a:r>
            <a:r>
              <a:rPr sz="1100" dirty="0">
                <a:latin typeface="Arial"/>
                <a:cs typeface="Arial"/>
              </a:rPr>
              <a:t>primary </a:t>
            </a:r>
            <a:r>
              <a:rPr sz="1100" spc="-25" dirty="0">
                <a:latin typeface="Arial"/>
                <a:cs typeface="Arial"/>
              </a:rPr>
              <a:t>key </a:t>
            </a:r>
            <a:r>
              <a:rPr sz="1100" spc="-5" dirty="0">
                <a:latin typeface="Arial"/>
                <a:cs typeface="Arial"/>
              </a:rPr>
              <a:t>of </a:t>
            </a:r>
            <a:r>
              <a:rPr sz="1100" spc="-10" dirty="0">
                <a:latin typeface="Arial"/>
                <a:cs typeface="Arial"/>
              </a:rPr>
              <a:t>an  </a:t>
            </a:r>
            <a:r>
              <a:rPr sz="1100" spc="-5" dirty="0">
                <a:latin typeface="Arial"/>
                <a:cs typeface="Arial"/>
              </a:rPr>
              <a:t>entity type are </a:t>
            </a:r>
            <a:r>
              <a:rPr sz="1100" i="1" spc="-5" dirty="0">
                <a:solidFill>
                  <a:srgbClr val="FF0000"/>
                </a:solidFill>
                <a:latin typeface="Arial"/>
                <a:cs typeface="Arial"/>
              </a:rPr>
              <a:t>underlined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in </a:t>
            </a:r>
            <a:r>
              <a:rPr sz="1100" spc="-10" dirty="0">
                <a:latin typeface="Arial"/>
                <a:cs typeface="Arial"/>
              </a:rPr>
              <a:t>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ERD.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92660" y="2523986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915"/>
              </a:spcBef>
            </a:pPr>
            <a:r>
              <a:rPr sz="1100" spc="-15" dirty="0">
                <a:latin typeface="Arial"/>
                <a:cs typeface="Arial"/>
              </a:rPr>
              <a:t>Person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2099" y="2577109"/>
            <a:ext cx="692785" cy="309880"/>
          </a:xfrm>
          <a:custGeom>
            <a:avLst/>
            <a:gdLst/>
            <a:ahLst/>
            <a:cxnLst/>
            <a:rect l="l" t="t" r="r" b="b"/>
            <a:pathLst>
              <a:path w="692785" h="309880">
                <a:moveTo>
                  <a:pt x="692740" y="154698"/>
                </a:moveTo>
                <a:lnTo>
                  <a:pt x="671071" y="100718"/>
                </a:lnTo>
                <a:lnTo>
                  <a:pt x="611279" y="55027"/>
                </a:lnTo>
                <a:lnTo>
                  <a:pt x="569533" y="36382"/>
                </a:lnTo>
                <a:lnTo>
                  <a:pt x="521191" y="21120"/>
                </a:lnTo>
                <a:lnTo>
                  <a:pt x="467232" y="9678"/>
                </a:lnTo>
                <a:lnTo>
                  <a:pt x="408632" y="2492"/>
                </a:lnTo>
                <a:lnTo>
                  <a:pt x="346372" y="0"/>
                </a:lnTo>
                <a:lnTo>
                  <a:pt x="284111" y="2492"/>
                </a:lnTo>
                <a:lnTo>
                  <a:pt x="225511" y="9678"/>
                </a:lnTo>
                <a:lnTo>
                  <a:pt x="171551" y="21120"/>
                </a:lnTo>
                <a:lnTo>
                  <a:pt x="123208" y="36382"/>
                </a:lnTo>
                <a:lnTo>
                  <a:pt x="81462" y="55027"/>
                </a:lnTo>
                <a:lnTo>
                  <a:pt x="47289" y="76618"/>
                </a:lnTo>
                <a:lnTo>
                  <a:pt x="5580" y="126891"/>
                </a:lnTo>
                <a:lnTo>
                  <a:pt x="0" y="154698"/>
                </a:lnTo>
                <a:lnTo>
                  <a:pt x="5580" y="182506"/>
                </a:lnTo>
                <a:lnTo>
                  <a:pt x="47289" y="232778"/>
                </a:lnTo>
                <a:lnTo>
                  <a:pt x="81462" y="254369"/>
                </a:lnTo>
                <a:lnTo>
                  <a:pt x="123208" y="273014"/>
                </a:lnTo>
                <a:lnTo>
                  <a:pt x="171551" y="288276"/>
                </a:lnTo>
                <a:lnTo>
                  <a:pt x="225511" y="299719"/>
                </a:lnTo>
                <a:lnTo>
                  <a:pt x="284111" y="306905"/>
                </a:lnTo>
                <a:lnTo>
                  <a:pt x="346372" y="309397"/>
                </a:lnTo>
                <a:lnTo>
                  <a:pt x="408632" y="306905"/>
                </a:lnTo>
                <a:lnTo>
                  <a:pt x="467232" y="299719"/>
                </a:lnTo>
                <a:lnTo>
                  <a:pt x="521191" y="288276"/>
                </a:lnTo>
                <a:lnTo>
                  <a:pt x="569533" y="273014"/>
                </a:lnTo>
                <a:lnTo>
                  <a:pt x="611279" y="254369"/>
                </a:lnTo>
                <a:lnTo>
                  <a:pt x="645451" y="232778"/>
                </a:lnTo>
                <a:lnTo>
                  <a:pt x="687160" y="182506"/>
                </a:lnTo>
                <a:lnTo>
                  <a:pt x="692740" y="154698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18007" y="2616071"/>
            <a:ext cx="241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NI#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292430" y="2731808"/>
            <a:ext cx="193040" cy="0"/>
          </a:xfrm>
          <a:custGeom>
            <a:avLst/>
            <a:gdLst/>
            <a:ahLst/>
            <a:cxnLst/>
            <a:rect l="l" t="t" r="r" b="b"/>
            <a:pathLst>
              <a:path w="193040">
                <a:moveTo>
                  <a:pt x="0" y="0"/>
                </a:moveTo>
                <a:lnTo>
                  <a:pt x="192638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1064503" y="2095830"/>
            <a:ext cx="708025" cy="426084"/>
            <a:chOff x="1064503" y="2095830"/>
            <a:chExt cx="708025" cy="426084"/>
          </a:xfrm>
        </p:grpSpPr>
        <p:sp>
          <p:nvSpPr>
            <p:cNvPr id="30" name="object 30"/>
            <p:cNvSpPr/>
            <p:nvPr/>
          </p:nvSpPr>
          <p:spPr>
            <a:xfrm>
              <a:off x="1072094" y="2103422"/>
              <a:ext cx="692785" cy="277495"/>
            </a:xfrm>
            <a:custGeom>
              <a:avLst/>
              <a:gdLst/>
              <a:ahLst/>
              <a:cxnLst/>
              <a:rect l="l" t="t" r="r" b="b"/>
              <a:pathLst>
                <a:path w="692785" h="277494">
                  <a:moveTo>
                    <a:pt x="692736" y="138546"/>
                  </a:moveTo>
                  <a:lnTo>
                    <a:pt x="671067" y="90202"/>
                  </a:lnTo>
                  <a:lnTo>
                    <a:pt x="611276" y="49282"/>
                  </a:lnTo>
                  <a:lnTo>
                    <a:pt x="569530" y="32583"/>
                  </a:lnTo>
                  <a:lnTo>
                    <a:pt x="521188" y="18915"/>
                  </a:lnTo>
                  <a:lnTo>
                    <a:pt x="467228" y="8667"/>
                  </a:lnTo>
                  <a:lnTo>
                    <a:pt x="408629" y="2232"/>
                  </a:lnTo>
                  <a:lnTo>
                    <a:pt x="346368" y="0"/>
                  </a:lnTo>
                  <a:lnTo>
                    <a:pt x="284107" y="2232"/>
                  </a:lnTo>
                  <a:lnTo>
                    <a:pt x="225508" y="8667"/>
                  </a:lnTo>
                  <a:lnTo>
                    <a:pt x="171548" y="18915"/>
                  </a:lnTo>
                  <a:lnTo>
                    <a:pt x="123206" y="32583"/>
                  </a:lnTo>
                  <a:lnTo>
                    <a:pt x="81460" y="49282"/>
                  </a:lnTo>
                  <a:lnTo>
                    <a:pt x="47288" y="68618"/>
                  </a:lnTo>
                  <a:lnTo>
                    <a:pt x="5580" y="113642"/>
                  </a:lnTo>
                  <a:lnTo>
                    <a:pt x="0" y="138546"/>
                  </a:lnTo>
                  <a:lnTo>
                    <a:pt x="5580" y="163451"/>
                  </a:lnTo>
                  <a:lnTo>
                    <a:pt x="47288" y="208475"/>
                  </a:lnTo>
                  <a:lnTo>
                    <a:pt x="81460" y="227811"/>
                  </a:lnTo>
                  <a:lnTo>
                    <a:pt x="123206" y="244510"/>
                  </a:lnTo>
                  <a:lnTo>
                    <a:pt x="171548" y="258179"/>
                  </a:lnTo>
                  <a:lnTo>
                    <a:pt x="225508" y="268427"/>
                  </a:lnTo>
                  <a:lnTo>
                    <a:pt x="284107" y="274862"/>
                  </a:lnTo>
                  <a:lnTo>
                    <a:pt x="346368" y="277094"/>
                  </a:lnTo>
                  <a:lnTo>
                    <a:pt x="408629" y="274862"/>
                  </a:lnTo>
                  <a:lnTo>
                    <a:pt x="467228" y="268427"/>
                  </a:lnTo>
                  <a:lnTo>
                    <a:pt x="521188" y="258179"/>
                  </a:lnTo>
                  <a:lnTo>
                    <a:pt x="569530" y="244510"/>
                  </a:lnTo>
                  <a:lnTo>
                    <a:pt x="611276" y="227811"/>
                  </a:lnTo>
                  <a:lnTo>
                    <a:pt x="645447" y="208475"/>
                  </a:lnTo>
                  <a:lnTo>
                    <a:pt x="687156" y="163451"/>
                  </a:lnTo>
                  <a:lnTo>
                    <a:pt x="692736" y="138546"/>
                  </a:lnTo>
                  <a:close/>
                </a:path>
              </a:pathLst>
            </a:custGeom>
            <a:ln w="151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53742" y="2377183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0"/>
                  </a:moveTo>
                  <a:lnTo>
                    <a:pt x="139252" y="139212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1973493" y="2103422"/>
            <a:ext cx="849630" cy="277495"/>
          </a:xfrm>
          <a:custGeom>
            <a:avLst/>
            <a:gdLst/>
            <a:ahLst/>
            <a:cxnLst/>
            <a:rect l="l" t="t" r="r" b="b"/>
            <a:pathLst>
              <a:path w="849630" h="277494">
                <a:moveTo>
                  <a:pt x="849293" y="138546"/>
                </a:moveTo>
                <a:lnTo>
                  <a:pt x="827644" y="94754"/>
                </a:lnTo>
                <a:lnTo>
                  <a:pt x="767361" y="56722"/>
                </a:lnTo>
                <a:lnTo>
                  <a:pt x="724918" y="40578"/>
                </a:lnTo>
                <a:lnTo>
                  <a:pt x="675438" y="26731"/>
                </a:lnTo>
                <a:lnTo>
                  <a:pt x="619797" y="15464"/>
                </a:lnTo>
                <a:lnTo>
                  <a:pt x="558869" y="7063"/>
                </a:lnTo>
                <a:lnTo>
                  <a:pt x="493527" y="1813"/>
                </a:lnTo>
                <a:lnTo>
                  <a:pt x="424647" y="0"/>
                </a:lnTo>
                <a:lnTo>
                  <a:pt x="355766" y="1813"/>
                </a:lnTo>
                <a:lnTo>
                  <a:pt x="290424" y="7063"/>
                </a:lnTo>
                <a:lnTo>
                  <a:pt x="229496" y="15464"/>
                </a:lnTo>
                <a:lnTo>
                  <a:pt x="173855" y="26731"/>
                </a:lnTo>
                <a:lnTo>
                  <a:pt x="124375" y="40578"/>
                </a:lnTo>
                <a:lnTo>
                  <a:pt x="81931" y="56722"/>
                </a:lnTo>
                <a:lnTo>
                  <a:pt x="47397" y="74875"/>
                </a:lnTo>
                <a:lnTo>
                  <a:pt x="5557" y="116073"/>
                </a:lnTo>
                <a:lnTo>
                  <a:pt x="0" y="138546"/>
                </a:lnTo>
                <a:lnTo>
                  <a:pt x="5557" y="161020"/>
                </a:lnTo>
                <a:lnTo>
                  <a:pt x="47397" y="202218"/>
                </a:lnTo>
                <a:lnTo>
                  <a:pt x="81931" y="220371"/>
                </a:lnTo>
                <a:lnTo>
                  <a:pt x="124375" y="236515"/>
                </a:lnTo>
                <a:lnTo>
                  <a:pt x="173855" y="250363"/>
                </a:lnTo>
                <a:lnTo>
                  <a:pt x="229496" y="261630"/>
                </a:lnTo>
                <a:lnTo>
                  <a:pt x="290424" y="270031"/>
                </a:lnTo>
                <a:lnTo>
                  <a:pt x="355766" y="275281"/>
                </a:lnTo>
                <a:lnTo>
                  <a:pt x="424647" y="277094"/>
                </a:lnTo>
                <a:lnTo>
                  <a:pt x="493527" y="275281"/>
                </a:lnTo>
                <a:lnTo>
                  <a:pt x="558869" y="270031"/>
                </a:lnTo>
                <a:lnTo>
                  <a:pt x="619797" y="261630"/>
                </a:lnTo>
                <a:lnTo>
                  <a:pt x="675438" y="250363"/>
                </a:lnTo>
                <a:lnTo>
                  <a:pt x="724918" y="236515"/>
                </a:lnTo>
                <a:lnTo>
                  <a:pt x="767361" y="220371"/>
                </a:lnTo>
                <a:lnTo>
                  <a:pt x="801895" y="202218"/>
                </a:lnTo>
                <a:lnTo>
                  <a:pt x="843735" y="161020"/>
                </a:lnTo>
                <a:lnTo>
                  <a:pt x="849293" y="138546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221028" y="2139288"/>
            <a:ext cx="1443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22655" algn="l"/>
              </a:tabLst>
            </a:pPr>
            <a:r>
              <a:rPr sz="1100" spc="-10" dirty="0">
                <a:latin typeface="Arial"/>
                <a:cs typeface="Arial"/>
              </a:rPr>
              <a:t>Name	</a:t>
            </a:r>
            <a:r>
              <a:rPr sz="1100" spc="-5" dirty="0">
                <a:latin typeface="Arial"/>
                <a:cs typeface="Arial"/>
              </a:rPr>
              <a:t>Address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118528" y="2375664"/>
            <a:ext cx="1185545" cy="523240"/>
            <a:chOff x="2118528" y="2375664"/>
            <a:chExt cx="1185545" cy="523240"/>
          </a:xfrm>
        </p:grpSpPr>
        <p:sp>
          <p:nvSpPr>
            <p:cNvPr id="35" name="object 35"/>
            <p:cNvSpPr/>
            <p:nvPr/>
          </p:nvSpPr>
          <p:spPr>
            <a:xfrm>
              <a:off x="2123608" y="2380744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89" h="135889">
                  <a:moveTo>
                    <a:pt x="135691" y="0"/>
                  </a:moveTo>
                  <a:lnTo>
                    <a:pt x="0" y="135651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480622" y="2593261"/>
              <a:ext cx="795020" cy="277495"/>
            </a:xfrm>
            <a:custGeom>
              <a:avLst/>
              <a:gdLst/>
              <a:ahLst/>
              <a:cxnLst/>
              <a:rect l="l" t="t" r="r" b="b"/>
              <a:pathLst>
                <a:path w="795020" h="277494">
                  <a:moveTo>
                    <a:pt x="795025" y="138546"/>
                  </a:moveTo>
                  <a:lnTo>
                    <a:pt x="774759" y="94754"/>
                  </a:lnTo>
                  <a:lnTo>
                    <a:pt x="718327" y="56722"/>
                  </a:lnTo>
                  <a:lnTo>
                    <a:pt x="678595" y="40579"/>
                  </a:lnTo>
                  <a:lnTo>
                    <a:pt x="632277" y="26731"/>
                  </a:lnTo>
                  <a:lnTo>
                    <a:pt x="580190" y="15464"/>
                  </a:lnTo>
                  <a:lnTo>
                    <a:pt x="523155" y="7063"/>
                  </a:lnTo>
                  <a:lnTo>
                    <a:pt x="461988" y="1813"/>
                  </a:lnTo>
                  <a:lnTo>
                    <a:pt x="397510" y="0"/>
                  </a:lnTo>
                  <a:lnTo>
                    <a:pt x="333031" y="1813"/>
                  </a:lnTo>
                  <a:lnTo>
                    <a:pt x="271865" y="7063"/>
                  </a:lnTo>
                  <a:lnTo>
                    <a:pt x="214830" y="15464"/>
                  </a:lnTo>
                  <a:lnTo>
                    <a:pt x="162744" y="26731"/>
                  </a:lnTo>
                  <a:lnTo>
                    <a:pt x="116427" y="40579"/>
                  </a:lnTo>
                  <a:lnTo>
                    <a:pt x="76695" y="56722"/>
                  </a:lnTo>
                  <a:lnTo>
                    <a:pt x="20265" y="94754"/>
                  </a:lnTo>
                  <a:lnTo>
                    <a:pt x="0" y="138546"/>
                  </a:lnTo>
                  <a:lnTo>
                    <a:pt x="5202" y="161020"/>
                  </a:lnTo>
                  <a:lnTo>
                    <a:pt x="44368" y="202217"/>
                  </a:lnTo>
                  <a:lnTo>
                    <a:pt x="116427" y="236514"/>
                  </a:lnTo>
                  <a:lnTo>
                    <a:pt x="162744" y="250362"/>
                  </a:lnTo>
                  <a:lnTo>
                    <a:pt x="214830" y="261629"/>
                  </a:lnTo>
                  <a:lnTo>
                    <a:pt x="271865" y="270030"/>
                  </a:lnTo>
                  <a:lnTo>
                    <a:pt x="333031" y="275280"/>
                  </a:lnTo>
                  <a:lnTo>
                    <a:pt x="397510" y="277093"/>
                  </a:lnTo>
                  <a:lnTo>
                    <a:pt x="461988" y="275280"/>
                  </a:lnTo>
                  <a:lnTo>
                    <a:pt x="523155" y="270030"/>
                  </a:lnTo>
                  <a:lnTo>
                    <a:pt x="580190" y="261629"/>
                  </a:lnTo>
                  <a:lnTo>
                    <a:pt x="632277" y="250362"/>
                  </a:lnTo>
                  <a:lnTo>
                    <a:pt x="678595" y="236514"/>
                  </a:lnTo>
                  <a:lnTo>
                    <a:pt x="718327" y="220371"/>
                  </a:lnTo>
                  <a:lnTo>
                    <a:pt x="774759" y="182338"/>
                  </a:lnTo>
                  <a:lnTo>
                    <a:pt x="795025" y="138546"/>
                  </a:lnTo>
                  <a:close/>
                </a:path>
              </a:pathLst>
            </a:custGeom>
            <a:ln w="55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630525" y="2629127"/>
            <a:ext cx="495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Phones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331534" y="2731808"/>
            <a:ext cx="141605" cy="0"/>
          </a:xfrm>
          <a:custGeom>
            <a:avLst/>
            <a:gdLst/>
            <a:ahLst/>
            <a:cxnLst/>
            <a:rect l="l" t="t" r="r" b="b"/>
            <a:pathLst>
              <a:path w="141605">
                <a:moveTo>
                  <a:pt x="141497" y="0"/>
                </a:moveTo>
                <a:lnTo>
                  <a:pt x="0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صورة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153" y="1996154"/>
            <a:ext cx="3506090" cy="119421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2089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Cyclic Relationship</a:t>
            </a:r>
            <a:r>
              <a:rPr spc="-70" dirty="0"/>
              <a:t> </a:t>
            </a:r>
            <a:r>
              <a:rPr spc="-20" dirty="0"/>
              <a:t>Types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41897" y="791386"/>
            <a:ext cx="3589020" cy="18923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b="1" spc="-5" dirty="0">
                <a:latin typeface="Arial"/>
                <a:cs typeface="Arial"/>
              </a:rPr>
              <a:t>Definition.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i="1" spc="-5" dirty="0">
                <a:latin typeface="Arial"/>
                <a:cs typeface="Arial"/>
              </a:rPr>
              <a:t>cyclic relationship </a:t>
            </a:r>
            <a:r>
              <a:rPr sz="1100" spc="-5" dirty="0">
                <a:latin typeface="Arial"/>
                <a:cs typeface="Arial"/>
              </a:rPr>
              <a:t>type (also called  </a:t>
            </a:r>
            <a:r>
              <a:rPr sz="1100" i="1" spc="-10" dirty="0">
                <a:latin typeface="Arial"/>
                <a:cs typeface="Arial"/>
              </a:rPr>
              <a:t>recursive</a:t>
            </a:r>
            <a:r>
              <a:rPr sz="1100" spc="-10" dirty="0">
                <a:latin typeface="Arial"/>
                <a:cs typeface="Arial"/>
              </a:rPr>
              <a:t>) </a:t>
            </a:r>
            <a:r>
              <a:rPr sz="1100" spc="-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relationship type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between two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occurrences  of the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same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entity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type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spc="-5" dirty="0">
                <a:latin typeface="Arial"/>
                <a:cs typeface="Arial"/>
              </a:rPr>
              <a:t>Examples:</a:t>
            </a:r>
            <a:endParaRPr sz="1100" dirty="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5" dirty="0">
                <a:latin typeface="Arial"/>
                <a:cs typeface="Arial"/>
              </a:rPr>
              <a:t>Marriage </a:t>
            </a:r>
            <a:r>
              <a:rPr sz="1100" spc="-10" dirty="0">
                <a:latin typeface="Arial"/>
                <a:cs typeface="Arial"/>
              </a:rPr>
              <a:t>between </a:t>
            </a:r>
            <a:r>
              <a:rPr sz="1100" spc="-15" dirty="0">
                <a:latin typeface="Arial"/>
                <a:cs typeface="Arial"/>
              </a:rPr>
              <a:t>Person </a:t>
            </a:r>
            <a:r>
              <a:rPr sz="1100" spc="-10" dirty="0">
                <a:latin typeface="Arial"/>
                <a:cs typeface="Arial"/>
              </a:rPr>
              <a:t>and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itself.</a:t>
            </a:r>
            <a:endParaRPr sz="1100" dirty="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10" dirty="0">
                <a:latin typeface="Arial"/>
                <a:cs typeface="Arial"/>
              </a:rPr>
              <a:t>Parent-Child between </a:t>
            </a:r>
            <a:r>
              <a:rPr sz="1100" spc="-15" dirty="0">
                <a:latin typeface="Arial"/>
                <a:cs typeface="Arial"/>
              </a:rPr>
              <a:t>Person </a:t>
            </a:r>
            <a:r>
              <a:rPr sz="1100" spc="-10" dirty="0">
                <a:latin typeface="Arial"/>
                <a:cs typeface="Arial"/>
              </a:rPr>
              <a:t>and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itself.</a:t>
            </a:r>
            <a:endParaRPr sz="1100" dirty="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10" dirty="0">
                <a:latin typeface="Arial"/>
                <a:cs typeface="Arial"/>
              </a:rPr>
              <a:t>Part-Sub-Part between Part and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itself.</a:t>
            </a:r>
            <a:endParaRPr sz="1100" dirty="0">
              <a:latin typeface="Arial"/>
              <a:cs typeface="Arial"/>
            </a:endParaRPr>
          </a:p>
          <a:p>
            <a:pPr marL="38100" marR="318770" algn="just">
              <a:lnSpc>
                <a:spcPct val="102600"/>
              </a:lnSpc>
              <a:spcBef>
                <a:spcPts val="300"/>
              </a:spcBef>
            </a:pPr>
            <a:r>
              <a:rPr sz="1100" spc="-5" dirty="0">
                <a:latin typeface="Arial"/>
                <a:cs typeface="Arial"/>
              </a:rPr>
              <a:t>With </a:t>
            </a: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5" dirty="0">
                <a:latin typeface="Arial"/>
                <a:cs typeface="Arial"/>
              </a:rPr>
              <a:t>entity type in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5" dirty="0">
                <a:latin typeface="Arial"/>
                <a:cs typeface="Arial"/>
              </a:rPr>
              <a:t>cyclic relationship type </a:t>
            </a:r>
            <a:r>
              <a:rPr sz="1100" spc="-15" dirty="0">
                <a:latin typeface="Arial"/>
                <a:cs typeface="Arial"/>
              </a:rPr>
              <a:t>we 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associate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1100" i="1" spc="-5" dirty="0">
                <a:solidFill>
                  <a:srgbClr val="00B050"/>
                </a:solidFill>
                <a:latin typeface="Arial"/>
                <a:cs typeface="Arial"/>
              </a:rPr>
              <a:t>role</a:t>
            </a:r>
            <a:r>
              <a:rPr sz="1100" spc="-5" dirty="0">
                <a:latin typeface="Arial"/>
                <a:cs typeface="Arial"/>
              </a:rPr>
              <a:t>, represented </a:t>
            </a:r>
            <a:r>
              <a:rPr sz="1100" spc="-20" dirty="0">
                <a:latin typeface="Arial"/>
                <a:cs typeface="Arial"/>
              </a:rPr>
              <a:t>by </a:t>
            </a:r>
            <a:r>
              <a:rPr sz="1100" spc="-5" dirty="0">
                <a:solidFill>
                  <a:srgbClr val="00B050"/>
                </a:solidFill>
                <a:latin typeface="Arial"/>
                <a:cs typeface="Arial"/>
              </a:rPr>
              <a:t>labels </a:t>
            </a:r>
            <a:r>
              <a:rPr sz="1100" spc="-10" dirty="0">
                <a:solidFill>
                  <a:srgbClr val="00B050"/>
                </a:solidFill>
                <a:latin typeface="Arial"/>
                <a:cs typeface="Arial"/>
              </a:rPr>
              <a:t>on </a:t>
            </a:r>
            <a:r>
              <a:rPr sz="1100" spc="-5" dirty="0">
                <a:solidFill>
                  <a:srgbClr val="00B050"/>
                </a:solidFill>
                <a:latin typeface="Arial"/>
                <a:cs typeface="Arial"/>
              </a:rPr>
              <a:t>lines </a:t>
            </a:r>
            <a:r>
              <a:rPr sz="1100" spc="-5" dirty="0">
                <a:latin typeface="Arial"/>
                <a:cs typeface="Arial"/>
              </a:rPr>
              <a:t>in </a:t>
            </a:r>
            <a:r>
              <a:rPr sz="1100" spc="-10" dirty="0">
                <a:latin typeface="Arial"/>
                <a:cs typeface="Arial"/>
              </a:rPr>
              <a:t>an  </a:t>
            </a:r>
            <a:r>
              <a:rPr sz="1100" spc="-30" dirty="0">
                <a:latin typeface="Arial"/>
                <a:cs typeface="Arial"/>
              </a:rPr>
              <a:t>ERD.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8214"/>
            <a:ext cx="3486785" cy="47180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spc="15" dirty="0"/>
              <a:t>Example </a:t>
            </a:r>
            <a:r>
              <a:rPr spc="10" dirty="0"/>
              <a:t>of </a:t>
            </a:r>
            <a:r>
              <a:rPr spc="15" dirty="0"/>
              <a:t>a Cyclic Relationship </a:t>
            </a:r>
            <a:r>
              <a:rPr spc="-25" dirty="0"/>
              <a:t>Type</a:t>
            </a:r>
            <a:r>
              <a:rPr spc="-85" dirty="0"/>
              <a:t> </a:t>
            </a:r>
            <a:r>
              <a:rPr spc="15" dirty="0"/>
              <a:t>with  Roles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492660" y="1303427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915"/>
              </a:spcBef>
            </a:pPr>
            <a:r>
              <a:rPr sz="1100" spc="-15" dirty="0">
                <a:latin typeface="Arial"/>
                <a:cs typeface="Arial"/>
              </a:rPr>
              <a:t>Person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92099" y="1372702"/>
            <a:ext cx="692785" cy="277495"/>
          </a:xfrm>
          <a:custGeom>
            <a:avLst/>
            <a:gdLst/>
            <a:ahLst/>
            <a:cxnLst/>
            <a:rect l="l" t="t" r="r" b="b"/>
            <a:pathLst>
              <a:path w="692785" h="277494">
                <a:moveTo>
                  <a:pt x="692740" y="138546"/>
                </a:moveTo>
                <a:lnTo>
                  <a:pt x="671071" y="90202"/>
                </a:lnTo>
                <a:lnTo>
                  <a:pt x="611279" y="49282"/>
                </a:lnTo>
                <a:lnTo>
                  <a:pt x="569533" y="32584"/>
                </a:lnTo>
                <a:lnTo>
                  <a:pt x="521191" y="18915"/>
                </a:lnTo>
                <a:lnTo>
                  <a:pt x="467232" y="8667"/>
                </a:lnTo>
                <a:lnTo>
                  <a:pt x="408632" y="2232"/>
                </a:lnTo>
                <a:lnTo>
                  <a:pt x="346372" y="0"/>
                </a:lnTo>
                <a:lnTo>
                  <a:pt x="284111" y="2232"/>
                </a:lnTo>
                <a:lnTo>
                  <a:pt x="225511" y="8667"/>
                </a:lnTo>
                <a:lnTo>
                  <a:pt x="171551" y="18915"/>
                </a:lnTo>
                <a:lnTo>
                  <a:pt x="123208" y="32584"/>
                </a:lnTo>
                <a:lnTo>
                  <a:pt x="81462" y="49282"/>
                </a:lnTo>
                <a:lnTo>
                  <a:pt x="47289" y="68619"/>
                </a:lnTo>
                <a:lnTo>
                  <a:pt x="5580" y="113642"/>
                </a:lnTo>
                <a:lnTo>
                  <a:pt x="0" y="138546"/>
                </a:lnTo>
                <a:lnTo>
                  <a:pt x="5580" y="163451"/>
                </a:lnTo>
                <a:lnTo>
                  <a:pt x="47289" y="208474"/>
                </a:lnTo>
                <a:lnTo>
                  <a:pt x="81462" y="227811"/>
                </a:lnTo>
                <a:lnTo>
                  <a:pt x="123208" y="244509"/>
                </a:lnTo>
                <a:lnTo>
                  <a:pt x="171551" y="258178"/>
                </a:lnTo>
                <a:lnTo>
                  <a:pt x="225511" y="268425"/>
                </a:lnTo>
                <a:lnTo>
                  <a:pt x="284111" y="274861"/>
                </a:lnTo>
                <a:lnTo>
                  <a:pt x="346372" y="277093"/>
                </a:lnTo>
                <a:lnTo>
                  <a:pt x="408632" y="274861"/>
                </a:lnTo>
                <a:lnTo>
                  <a:pt x="467232" y="268425"/>
                </a:lnTo>
                <a:lnTo>
                  <a:pt x="521191" y="258178"/>
                </a:lnTo>
                <a:lnTo>
                  <a:pt x="569533" y="244509"/>
                </a:lnTo>
                <a:lnTo>
                  <a:pt x="611279" y="227811"/>
                </a:lnTo>
                <a:lnTo>
                  <a:pt x="645451" y="208474"/>
                </a:lnTo>
                <a:lnTo>
                  <a:pt x="687160" y="163451"/>
                </a:lnTo>
                <a:lnTo>
                  <a:pt x="692740" y="138546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18007" y="1409368"/>
            <a:ext cx="241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Arial"/>
                <a:cs typeface="Arial"/>
              </a:rPr>
              <a:t>NI#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92430" y="1511249"/>
            <a:ext cx="193040" cy="0"/>
          </a:xfrm>
          <a:custGeom>
            <a:avLst/>
            <a:gdLst/>
            <a:ahLst/>
            <a:cxnLst/>
            <a:rect l="l" t="t" r="r" b="b"/>
            <a:pathLst>
              <a:path w="193040">
                <a:moveTo>
                  <a:pt x="0" y="0"/>
                </a:moveTo>
                <a:lnTo>
                  <a:pt x="192638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1064503" y="875271"/>
            <a:ext cx="708025" cy="426084"/>
            <a:chOff x="1064503" y="875271"/>
            <a:chExt cx="708025" cy="426084"/>
          </a:xfrm>
        </p:grpSpPr>
        <p:sp>
          <p:nvSpPr>
            <p:cNvPr id="29" name="object 29"/>
            <p:cNvSpPr/>
            <p:nvPr/>
          </p:nvSpPr>
          <p:spPr>
            <a:xfrm>
              <a:off x="1072094" y="882863"/>
              <a:ext cx="692785" cy="277495"/>
            </a:xfrm>
            <a:custGeom>
              <a:avLst/>
              <a:gdLst/>
              <a:ahLst/>
              <a:cxnLst/>
              <a:rect l="l" t="t" r="r" b="b"/>
              <a:pathLst>
                <a:path w="692785" h="277494">
                  <a:moveTo>
                    <a:pt x="692736" y="138546"/>
                  </a:moveTo>
                  <a:lnTo>
                    <a:pt x="671067" y="90202"/>
                  </a:lnTo>
                  <a:lnTo>
                    <a:pt x="611276" y="49282"/>
                  </a:lnTo>
                  <a:lnTo>
                    <a:pt x="569530" y="32583"/>
                  </a:lnTo>
                  <a:lnTo>
                    <a:pt x="521188" y="18915"/>
                  </a:lnTo>
                  <a:lnTo>
                    <a:pt x="467228" y="8667"/>
                  </a:lnTo>
                  <a:lnTo>
                    <a:pt x="408629" y="2232"/>
                  </a:lnTo>
                  <a:lnTo>
                    <a:pt x="346368" y="0"/>
                  </a:lnTo>
                  <a:lnTo>
                    <a:pt x="284107" y="2232"/>
                  </a:lnTo>
                  <a:lnTo>
                    <a:pt x="225508" y="8667"/>
                  </a:lnTo>
                  <a:lnTo>
                    <a:pt x="171548" y="18915"/>
                  </a:lnTo>
                  <a:lnTo>
                    <a:pt x="123206" y="32583"/>
                  </a:lnTo>
                  <a:lnTo>
                    <a:pt x="81460" y="49282"/>
                  </a:lnTo>
                  <a:lnTo>
                    <a:pt x="47288" y="68618"/>
                  </a:lnTo>
                  <a:lnTo>
                    <a:pt x="5580" y="113642"/>
                  </a:lnTo>
                  <a:lnTo>
                    <a:pt x="0" y="138546"/>
                  </a:lnTo>
                  <a:lnTo>
                    <a:pt x="5580" y="163451"/>
                  </a:lnTo>
                  <a:lnTo>
                    <a:pt x="47288" y="208475"/>
                  </a:lnTo>
                  <a:lnTo>
                    <a:pt x="81460" y="227811"/>
                  </a:lnTo>
                  <a:lnTo>
                    <a:pt x="123206" y="244510"/>
                  </a:lnTo>
                  <a:lnTo>
                    <a:pt x="171548" y="258179"/>
                  </a:lnTo>
                  <a:lnTo>
                    <a:pt x="225508" y="268427"/>
                  </a:lnTo>
                  <a:lnTo>
                    <a:pt x="284107" y="274862"/>
                  </a:lnTo>
                  <a:lnTo>
                    <a:pt x="346368" y="277094"/>
                  </a:lnTo>
                  <a:lnTo>
                    <a:pt x="408629" y="274862"/>
                  </a:lnTo>
                  <a:lnTo>
                    <a:pt x="467228" y="268427"/>
                  </a:lnTo>
                  <a:lnTo>
                    <a:pt x="521188" y="258179"/>
                  </a:lnTo>
                  <a:lnTo>
                    <a:pt x="569530" y="244510"/>
                  </a:lnTo>
                  <a:lnTo>
                    <a:pt x="611276" y="227811"/>
                  </a:lnTo>
                  <a:lnTo>
                    <a:pt x="645447" y="208475"/>
                  </a:lnTo>
                  <a:lnTo>
                    <a:pt x="687156" y="163451"/>
                  </a:lnTo>
                  <a:lnTo>
                    <a:pt x="692736" y="138546"/>
                  </a:lnTo>
                  <a:close/>
                </a:path>
              </a:pathLst>
            </a:custGeom>
            <a:ln w="151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53742" y="1156624"/>
              <a:ext cx="139700" cy="139700"/>
            </a:xfrm>
            <a:custGeom>
              <a:avLst/>
              <a:gdLst/>
              <a:ahLst/>
              <a:cxnLst/>
              <a:rect l="l" t="t" r="r" b="b"/>
              <a:pathLst>
                <a:path w="139700" h="139700">
                  <a:moveTo>
                    <a:pt x="0" y="0"/>
                  </a:moveTo>
                  <a:lnTo>
                    <a:pt x="139252" y="139212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1973493" y="882863"/>
            <a:ext cx="849630" cy="277495"/>
          </a:xfrm>
          <a:custGeom>
            <a:avLst/>
            <a:gdLst/>
            <a:ahLst/>
            <a:cxnLst/>
            <a:rect l="l" t="t" r="r" b="b"/>
            <a:pathLst>
              <a:path w="849630" h="277494">
                <a:moveTo>
                  <a:pt x="849293" y="138546"/>
                </a:moveTo>
                <a:lnTo>
                  <a:pt x="827644" y="94754"/>
                </a:lnTo>
                <a:lnTo>
                  <a:pt x="767361" y="56722"/>
                </a:lnTo>
                <a:lnTo>
                  <a:pt x="724918" y="40578"/>
                </a:lnTo>
                <a:lnTo>
                  <a:pt x="675438" y="26731"/>
                </a:lnTo>
                <a:lnTo>
                  <a:pt x="619797" y="15464"/>
                </a:lnTo>
                <a:lnTo>
                  <a:pt x="558869" y="7063"/>
                </a:lnTo>
                <a:lnTo>
                  <a:pt x="493527" y="1813"/>
                </a:lnTo>
                <a:lnTo>
                  <a:pt x="424647" y="0"/>
                </a:lnTo>
                <a:lnTo>
                  <a:pt x="355766" y="1813"/>
                </a:lnTo>
                <a:lnTo>
                  <a:pt x="290424" y="7063"/>
                </a:lnTo>
                <a:lnTo>
                  <a:pt x="229496" y="15464"/>
                </a:lnTo>
                <a:lnTo>
                  <a:pt x="173855" y="26731"/>
                </a:lnTo>
                <a:lnTo>
                  <a:pt x="124375" y="40578"/>
                </a:lnTo>
                <a:lnTo>
                  <a:pt x="81931" y="56722"/>
                </a:lnTo>
                <a:lnTo>
                  <a:pt x="47397" y="74875"/>
                </a:lnTo>
                <a:lnTo>
                  <a:pt x="5557" y="116073"/>
                </a:lnTo>
                <a:lnTo>
                  <a:pt x="0" y="138546"/>
                </a:lnTo>
                <a:lnTo>
                  <a:pt x="5557" y="161020"/>
                </a:lnTo>
                <a:lnTo>
                  <a:pt x="47397" y="202218"/>
                </a:lnTo>
                <a:lnTo>
                  <a:pt x="81931" y="220371"/>
                </a:lnTo>
                <a:lnTo>
                  <a:pt x="124375" y="236515"/>
                </a:lnTo>
                <a:lnTo>
                  <a:pt x="173855" y="250363"/>
                </a:lnTo>
                <a:lnTo>
                  <a:pt x="229496" y="261630"/>
                </a:lnTo>
                <a:lnTo>
                  <a:pt x="290424" y="270031"/>
                </a:lnTo>
                <a:lnTo>
                  <a:pt x="355766" y="275281"/>
                </a:lnTo>
                <a:lnTo>
                  <a:pt x="424647" y="277094"/>
                </a:lnTo>
                <a:lnTo>
                  <a:pt x="493527" y="275281"/>
                </a:lnTo>
                <a:lnTo>
                  <a:pt x="558869" y="270031"/>
                </a:lnTo>
                <a:lnTo>
                  <a:pt x="619797" y="261630"/>
                </a:lnTo>
                <a:lnTo>
                  <a:pt x="675438" y="250363"/>
                </a:lnTo>
                <a:lnTo>
                  <a:pt x="724918" y="236515"/>
                </a:lnTo>
                <a:lnTo>
                  <a:pt x="767361" y="220371"/>
                </a:lnTo>
                <a:lnTo>
                  <a:pt x="801895" y="202218"/>
                </a:lnTo>
                <a:lnTo>
                  <a:pt x="843735" y="161020"/>
                </a:lnTo>
                <a:lnTo>
                  <a:pt x="849293" y="138546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221028" y="918742"/>
            <a:ext cx="1443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22655" algn="l"/>
              </a:tabLst>
            </a:pPr>
            <a:r>
              <a:rPr sz="1100" spc="-10" dirty="0">
                <a:latin typeface="Arial"/>
                <a:cs typeface="Arial"/>
              </a:rPr>
              <a:t>Name	</a:t>
            </a:r>
            <a:r>
              <a:rPr sz="1100" spc="-5" dirty="0">
                <a:latin typeface="Arial"/>
                <a:cs typeface="Arial"/>
              </a:rPr>
              <a:t>Address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118528" y="1155105"/>
            <a:ext cx="1185545" cy="523240"/>
            <a:chOff x="2118528" y="1155105"/>
            <a:chExt cx="1185545" cy="523240"/>
          </a:xfrm>
        </p:grpSpPr>
        <p:sp>
          <p:nvSpPr>
            <p:cNvPr id="34" name="object 34"/>
            <p:cNvSpPr/>
            <p:nvPr/>
          </p:nvSpPr>
          <p:spPr>
            <a:xfrm>
              <a:off x="2123608" y="1160185"/>
              <a:ext cx="135890" cy="135890"/>
            </a:xfrm>
            <a:custGeom>
              <a:avLst/>
              <a:gdLst/>
              <a:ahLst/>
              <a:cxnLst/>
              <a:rect l="l" t="t" r="r" b="b"/>
              <a:pathLst>
                <a:path w="135889" h="135890">
                  <a:moveTo>
                    <a:pt x="135691" y="0"/>
                  </a:moveTo>
                  <a:lnTo>
                    <a:pt x="0" y="135651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480622" y="1372702"/>
              <a:ext cx="795020" cy="277495"/>
            </a:xfrm>
            <a:custGeom>
              <a:avLst/>
              <a:gdLst/>
              <a:ahLst/>
              <a:cxnLst/>
              <a:rect l="l" t="t" r="r" b="b"/>
              <a:pathLst>
                <a:path w="795020" h="277494">
                  <a:moveTo>
                    <a:pt x="795025" y="138546"/>
                  </a:moveTo>
                  <a:lnTo>
                    <a:pt x="774759" y="94754"/>
                  </a:lnTo>
                  <a:lnTo>
                    <a:pt x="718327" y="56722"/>
                  </a:lnTo>
                  <a:lnTo>
                    <a:pt x="678595" y="40579"/>
                  </a:lnTo>
                  <a:lnTo>
                    <a:pt x="632277" y="26731"/>
                  </a:lnTo>
                  <a:lnTo>
                    <a:pt x="580190" y="15464"/>
                  </a:lnTo>
                  <a:lnTo>
                    <a:pt x="523155" y="7063"/>
                  </a:lnTo>
                  <a:lnTo>
                    <a:pt x="461988" y="1813"/>
                  </a:lnTo>
                  <a:lnTo>
                    <a:pt x="397510" y="0"/>
                  </a:lnTo>
                  <a:lnTo>
                    <a:pt x="333031" y="1813"/>
                  </a:lnTo>
                  <a:lnTo>
                    <a:pt x="271865" y="7063"/>
                  </a:lnTo>
                  <a:lnTo>
                    <a:pt x="214830" y="15464"/>
                  </a:lnTo>
                  <a:lnTo>
                    <a:pt x="162744" y="26731"/>
                  </a:lnTo>
                  <a:lnTo>
                    <a:pt x="116427" y="40579"/>
                  </a:lnTo>
                  <a:lnTo>
                    <a:pt x="76695" y="56722"/>
                  </a:lnTo>
                  <a:lnTo>
                    <a:pt x="20265" y="94754"/>
                  </a:lnTo>
                  <a:lnTo>
                    <a:pt x="0" y="138546"/>
                  </a:lnTo>
                  <a:lnTo>
                    <a:pt x="5202" y="161020"/>
                  </a:lnTo>
                  <a:lnTo>
                    <a:pt x="44368" y="202217"/>
                  </a:lnTo>
                  <a:lnTo>
                    <a:pt x="116427" y="236514"/>
                  </a:lnTo>
                  <a:lnTo>
                    <a:pt x="162744" y="250362"/>
                  </a:lnTo>
                  <a:lnTo>
                    <a:pt x="214830" y="261629"/>
                  </a:lnTo>
                  <a:lnTo>
                    <a:pt x="271865" y="270030"/>
                  </a:lnTo>
                  <a:lnTo>
                    <a:pt x="333031" y="275280"/>
                  </a:lnTo>
                  <a:lnTo>
                    <a:pt x="397510" y="277093"/>
                  </a:lnTo>
                  <a:lnTo>
                    <a:pt x="461988" y="275280"/>
                  </a:lnTo>
                  <a:lnTo>
                    <a:pt x="523155" y="270030"/>
                  </a:lnTo>
                  <a:lnTo>
                    <a:pt x="580190" y="261629"/>
                  </a:lnTo>
                  <a:lnTo>
                    <a:pt x="632277" y="250362"/>
                  </a:lnTo>
                  <a:lnTo>
                    <a:pt x="678595" y="236514"/>
                  </a:lnTo>
                  <a:lnTo>
                    <a:pt x="718327" y="220371"/>
                  </a:lnTo>
                  <a:lnTo>
                    <a:pt x="774759" y="182338"/>
                  </a:lnTo>
                  <a:lnTo>
                    <a:pt x="795025" y="138546"/>
                  </a:lnTo>
                  <a:close/>
                </a:path>
              </a:pathLst>
            </a:custGeom>
            <a:ln w="55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630525" y="1408568"/>
            <a:ext cx="495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Phones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531887" y="1506169"/>
            <a:ext cx="946785" cy="1212850"/>
            <a:chOff x="1531887" y="1506169"/>
            <a:chExt cx="946785" cy="1212850"/>
          </a:xfrm>
        </p:grpSpPr>
        <p:sp>
          <p:nvSpPr>
            <p:cNvPr id="38" name="object 38"/>
            <p:cNvSpPr/>
            <p:nvPr/>
          </p:nvSpPr>
          <p:spPr>
            <a:xfrm>
              <a:off x="2331534" y="1511249"/>
              <a:ext cx="141605" cy="0"/>
            </a:xfrm>
            <a:custGeom>
              <a:avLst/>
              <a:gdLst/>
              <a:ahLst/>
              <a:cxnLst/>
              <a:rect l="l" t="t" r="r" b="b"/>
              <a:pathLst>
                <a:path w="141605">
                  <a:moveTo>
                    <a:pt x="141497" y="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39507" y="1973737"/>
              <a:ext cx="737870" cy="737870"/>
            </a:xfrm>
            <a:custGeom>
              <a:avLst/>
              <a:gdLst/>
              <a:ahLst/>
              <a:cxnLst/>
              <a:rect l="l" t="t" r="r" b="b"/>
              <a:pathLst>
                <a:path w="737869" h="737869">
                  <a:moveTo>
                    <a:pt x="737588" y="368795"/>
                  </a:moveTo>
                  <a:lnTo>
                    <a:pt x="368794" y="0"/>
                  </a:lnTo>
                  <a:lnTo>
                    <a:pt x="0" y="368795"/>
                  </a:lnTo>
                  <a:lnTo>
                    <a:pt x="368794" y="737589"/>
                  </a:lnTo>
                  <a:lnTo>
                    <a:pt x="737588" y="368795"/>
                  </a:lnTo>
                  <a:close/>
                </a:path>
              </a:pathLst>
            </a:custGeom>
            <a:ln w="151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679968" y="2226054"/>
            <a:ext cx="4572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Arial"/>
                <a:cs typeface="Arial"/>
              </a:rPr>
              <a:t>Adopts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528771" y="1726661"/>
            <a:ext cx="164465" cy="615950"/>
          </a:xfrm>
          <a:custGeom>
            <a:avLst/>
            <a:gdLst/>
            <a:ahLst/>
            <a:cxnLst/>
            <a:rect l="l" t="t" r="r" b="b"/>
            <a:pathLst>
              <a:path w="164464" h="615950">
                <a:moveTo>
                  <a:pt x="164099" y="0"/>
                </a:moveTo>
                <a:lnTo>
                  <a:pt x="0" y="615871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154125" y="1802954"/>
            <a:ext cx="418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Arial"/>
                <a:cs typeface="Arial"/>
              </a:rPr>
              <a:t>parent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123733" y="1726661"/>
            <a:ext cx="164465" cy="615950"/>
          </a:xfrm>
          <a:custGeom>
            <a:avLst/>
            <a:gdLst/>
            <a:ahLst/>
            <a:cxnLst/>
            <a:rect l="l" t="t" r="r" b="b"/>
            <a:pathLst>
              <a:path w="164464" h="615950">
                <a:moveTo>
                  <a:pt x="0" y="0"/>
                </a:moveTo>
                <a:lnTo>
                  <a:pt x="164099" y="615871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244318" y="1830526"/>
            <a:ext cx="310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Arial"/>
                <a:cs typeface="Arial"/>
              </a:rPr>
              <a:t>child</a:t>
            </a:r>
            <a:endParaRPr sz="11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7297" y="2891572"/>
            <a:ext cx="3031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Arial"/>
                <a:cs typeface="Arial"/>
              </a:rPr>
              <a:t>Roles are specified </a:t>
            </a:r>
            <a:r>
              <a:rPr sz="1100" spc="-20" dirty="0">
                <a:latin typeface="Arial"/>
                <a:cs typeface="Arial"/>
              </a:rPr>
              <a:t>by </a:t>
            </a:r>
            <a:r>
              <a:rPr sz="1100" spc="-5" dirty="0">
                <a:latin typeface="Arial"/>
                <a:cs typeface="Arial"/>
              </a:rPr>
              <a:t>“parent” </a:t>
            </a:r>
            <a:r>
              <a:rPr sz="1100" spc="-10" dirty="0">
                <a:latin typeface="Arial"/>
                <a:cs typeface="Arial"/>
              </a:rPr>
              <a:t>and </a:t>
            </a:r>
            <a:r>
              <a:rPr sz="1100" spc="-5" dirty="0">
                <a:latin typeface="Arial"/>
                <a:cs typeface="Arial"/>
              </a:rPr>
              <a:t>“child”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labels.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6" name="صورة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214" y="508221"/>
            <a:ext cx="3326955" cy="22839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27470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Relationship </a:t>
            </a:r>
            <a:r>
              <a:rPr spc="-20" dirty="0"/>
              <a:t>Types </a:t>
            </a:r>
            <a:r>
              <a:rPr spc="15" dirty="0"/>
              <a:t>with</a:t>
            </a:r>
            <a:r>
              <a:rPr spc="-15" dirty="0"/>
              <a:t> </a:t>
            </a:r>
            <a:r>
              <a:rPr spc="10" dirty="0"/>
              <a:t>Attributes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54597" y="382915"/>
            <a:ext cx="3448050" cy="95567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25"/>
              </a:spcBef>
            </a:pPr>
            <a:r>
              <a:rPr sz="1100" spc="-5" dirty="0">
                <a:latin typeface="Arial"/>
                <a:cs typeface="Arial"/>
              </a:rPr>
              <a:t>Examples:</a:t>
            </a:r>
            <a:endParaRPr sz="1100">
              <a:latin typeface="Arial"/>
              <a:cs typeface="Arial"/>
            </a:endParaRPr>
          </a:p>
          <a:p>
            <a:pPr marL="302260" marR="42545" indent="-177165">
              <a:lnSpc>
                <a:spcPct val="102699"/>
              </a:lnSpc>
              <a:spcBef>
                <a:spcPts val="190"/>
              </a:spcBef>
              <a:buClr>
                <a:srgbClr val="3333B2"/>
              </a:buClr>
              <a:buChar char="►"/>
              <a:tabLst>
                <a:tab pos="302895" algn="l"/>
              </a:tabLst>
            </a:pPr>
            <a:r>
              <a:rPr sz="1100" spc="-5" dirty="0">
                <a:latin typeface="Arial"/>
                <a:cs typeface="Arial"/>
              </a:rPr>
              <a:t>attribute Date associated with the relationship</a:t>
            </a:r>
            <a:r>
              <a:rPr sz="1100" spc="-8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type  Married</a:t>
            </a:r>
            <a:endParaRPr sz="1100">
              <a:latin typeface="Arial"/>
              <a:cs typeface="Arial"/>
            </a:endParaRPr>
          </a:p>
          <a:p>
            <a:pPr marL="302260" marR="17780" indent="-177165">
              <a:lnSpc>
                <a:spcPct val="102600"/>
              </a:lnSpc>
              <a:spcBef>
                <a:spcPts val="165"/>
              </a:spcBef>
              <a:buClr>
                <a:srgbClr val="3333B2"/>
              </a:buClr>
              <a:buChar char="►"/>
              <a:tabLst>
                <a:tab pos="302895" algn="l"/>
              </a:tabLst>
            </a:pPr>
            <a:r>
              <a:rPr sz="1100" spc="-5" dirty="0">
                <a:latin typeface="Arial"/>
                <a:cs typeface="Arial"/>
              </a:rPr>
              <a:t>attribute Price associated with the relationship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type  Supplies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88399" y="2449866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15"/>
              </a:spcBef>
            </a:pPr>
            <a:r>
              <a:rPr sz="1100" spc="-10" dirty="0">
                <a:latin typeface="Arial"/>
                <a:cs typeface="Arial"/>
              </a:rPr>
              <a:t>Part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523619" y="2237282"/>
            <a:ext cx="841375" cy="841375"/>
          </a:xfrm>
          <a:custGeom>
            <a:avLst/>
            <a:gdLst/>
            <a:ahLst/>
            <a:cxnLst/>
            <a:rect l="l" t="t" r="r" b="b"/>
            <a:pathLst>
              <a:path w="841375" h="841375">
                <a:moveTo>
                  <a:pt x="840803" y="420408"/>
                </a:moveTo>
                <a:lnTo>
                  <a:pt x="420408" y="0"/>
                </a:lnTo>
                <a:lnTo>
                  <a:pt x="0" y="420408"/>
                </a:lnTo>
                <a:lnTo>
                  <a:pt x="420408" y="840808"/>
                </a:lnTo>
                <a:lnTo>
                  <a:pt x="840803" y="420408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68365" y="2449866"/>
            <a:ext cx="838874" cy="443710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04139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819"/>
              </a:spcBef>
              <a:tabLst>
                <a:tab pos="1409700" algn="l"/>
              </a:tabLst>
            </a:pPr>
            <a:r>
              <a:rPr sz="1100" spc="-5" dirty="0">
                <a:latin typeface="Arial"/>
                <a:cs typeface="Arial"/>
              </a:rPr>
              <a:t>Supplier	</a:t>
            </a:r>
            <a:endParaRPr sz="1100" dirty="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102159" y="1611515"/>
            <a:ext cx="1684020" cy="1051560"/>
            <a:chOff x="1102159" y="1611515"/>
            <a:chExt cx="1684020" cy="1051560"/>
          </a:xfrm>
        </p:grpSpPr>
        <p:sp>
          <p:nvSpPr>
            <p:cNvPr id="29" name="object 29"/>
            <p:cNvSpPr/>
            <p:nvPr/>
          </p:nvSpPr>
          <p:spPr>
            <a:xfrm>
              <a:off x="1107239" y="2657690"/>
              <a:ext cx="1673860" cy="0"/>
            </a:xfrm>
            <a:custGeom>
              <a:avLst/>
              <a:gdLst/>
              <a:ahLst/>
              <a:cxnLst/>
              <a:rect l="l" t="t" r="r" b="b"/>
              <a:pathLst>
                <a:path w="1673860">
                  <a:moveTo>
                    <a:pt x="405589" y="0"/>
                  </a:moveTo>
                  <a:lnTo>
                    <a:pt x="0" y="0"/>
                  </a:lnTo>
                </a:path>
                <a:path w="1673860">
                  <a:moveTo>
                    <a:pt x="1267978" y="0"/>
                  </a:moveTo>
                  <a:lnTo>
                    <a:pt x="1673565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97660" y="1619135"/>
              <a:ext cx="692785" cy="277495"/>
            </a:xfrm>
            <a:custGeom>
              <a:avLst/>
              <a:gdLst/>
              <a:ahLst/>
              <a:cxnLst/>
              <a:rect l="l" t="t" r="r" b="b"/>
              <a:pathLst>
                <a:path w="692785" h="277494">
                  <a:moveTo>
                    <a:pt x="692734" y="138544"/>
                  </a:moveTo>
                  <a:lnTo>
                    <a:pt x="671063" y="90201"/>
                  </a:lnTo>
                  <a:lnTo>
                    <a:pt x="611271" y="49281"/>
                  </a:lnTo>
                  <a:lnTo>
                    <a:pt x="569524" y="32583"/>
                  </a:lnTo>
                  <a:lnTo>
                    <a:pt x="521182" y="18915"/>
                  </a:lnTo>
                  <a:lnTo>
                    <a:pt x="467223" y="8667"/>
                  </a:lnTo>
                  <a:lnTo>
                    <a:pt x="408625" y="2232"/>
                  </a:lnTo>
                  <a:lnTo>
                    <a:pt x="346367" y="0"/>
                  </a:lnTo>
                  <a:lnTo>
                    <a:pt x="284105" y="2232"/>
                  </a:lnTo>
                  <a:lnTo>
                    <a:pt x="225505" y="8667"/>
                  </a:lnTo>
                  <a:lnTo>
                    <a:pt x="171545" y="18915"/>
                  </a:lnTo>
                  <a:lnTo>
                    <a:pt x="123204" y="32583"/>
                  </a:lnTo>
                  <a:lnTo>
                    <a:pt x="81458" y="49281"/>
                  </a:lnTo>
                  <a:lnTo>
                    <a:pt x="47287" y="68617"/>
                  </a:lnTo>
                  <a:lnTo>
                    <a:pt x="5580" y="113640"/>
                  </a:lnTo>
                  <a:lnTo>
                    <a:pt x="0" y="138544"/>
                  </a:lnTo>
                  <a:lnTo>
                    <a:pt x="5580" y="163448"/>
                  </a:lnTo>
                  <a:lnTo>
                    <a:pt x="47287" y="208470"/>
                  </a:lnTo>
                  <a:lnTo>
                    <a:pt x="81458" y="227807"/>
                  </a:lnTo>
                  <a:lnTo>
                    <a:pt x="123204" y="244505"/>
                  </a:lnTo>
                  <a:lnTo>
                    <a:pt x="171545" y="258173"/>
                  </a:lnTo>
                  <a:lnTo>
                    <a:pt x="225505" y="268421"/>
                  </a:lnTo>
                  <a:lnTo>
                    <a:pt x="284105" y="274856"/>
                  </a:lnTo>
                  <a:lnTo>
                    <a:pt x="346367" y="277088"/>
                  </a:lnTo>
                  <a:lnTo>
                    <a:pt x="408625" y="274856"/>
                  </a:lnTo>
                  <a:lnTo>
                    <a:pt x="467223" y="268421"/>
                  </a:lnTo>
                  <a:lnTo>
                    <a:pt x="521182" y="258173"/>
                  </a:lnTo>
                  <a:lnTo>
                    <a:pt x="569524" y="244505"/>
                  </a:lnTo>
                  <a:lnTo>
                    <a:pt x="611271" y="227807"/>
                  </a:lnTo>
                  <a:lnTo>
                    <a:pt x="645443" y="208470"/>
                  </a:lnTo>
                  <a:lnTo>
                    <a:pt x="687153" y="163448"/>
                  </a:lnTo>
                  <a:lnTo>
                    <a:pt x="692734" y="138544"/>
                  </a:lnTo>
                  <a:close/>
                </a:path>
              </a:pathLst>
            </a:custGeom>
            <a:ln w="151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772462" y="1655024"/>
            <a:ext cx="3435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P</a:t>
            </a:r>
            <a:r>
              <a:rPr sz="1100" spc="10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ice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944027" y="1903819"/>
            <a:ext cx="0" cy="323215"/>
          </a:xfrm>
          <a:custGeom>
            <a:avLst/>
            <a:gdLst/>
            <a:ahLst/>
            <a:cxnLst/>
            <a:rect l="l" t="t" r="r" b="b"/>
            <a:pathLst>
              <a:path h="323214">
                <a:moveTo>
                  <a:pt x="0" y="0"/>
                </a:moveTo>
                <a:lnTo>
                  <a:pt x="0" y="322694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67297" y="3224986"/>
            <a:ext cx="29883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5" dirty="0">
                <a:latin typeface="Arial"/>
                <a:cs typeface="Arial"/>
              </a:rPr>
              <a:t>Supplier Supplies </a:t>
            </a:r>
            <a:r>
              <a:rPr sz="1100" spc="-10" dirty="0">
                <a:latin typeface="Arial"/>
                <a:cs typeface="Arial"/>
              </a:rPr>
              <a:t>a Part </a:t>
            </a:r>
            <a:r>
              <a:rPr sz="1100" spc="-5" dirty="0">
                <a:latin typeface="Arial"/>
                <a:cs typeface="Arial"/>
              </a:rPr>
              <a:t>at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  <a:hlinkClick r:id="rId6" action="ppaction://hlinksldjump"/>
              </a:rPr>
              <a:t>cer</a:t>
            </a:r>
            <a:r>
              <a:rPr sz="1100" dirty="0">
                <a:latin typeface="Arial"/>
                <a:cs typeface="Arial"/>
                <a:hlinkClick r:id="rId8" action="ppaction://hlinksldjump"/>
              </a:rPr>
              <a:t>tain</a:t>
            </a:r>
            <a:r>
              <a:rPr sz="1100" spc="-15" dirty="0">
                <a:latin typeface="Arial"/>
                <a:cs typeface="Arial"/>
                <a:hlinkClick r:id="rId8" action="ppaction://hlinksldjump"/>
              </a:rPr>
              <a:t> </a:t>
            </a:r>
            <a:r>
              <a:rPr sz="1100" spc="-5" dirty="0">
                <a:latin typeface="Arial"/>
                <a:cs typeface="Arial"/>
                <a:hlinkClick r:id="rId5" action="ppaction://hlinksldjump"/>
              </a:rPr>
              <a:t>Pr</a:t>
            </a:r>
            <a:r>
              <a:rPr sz="1100" spc="-5" dirty="0">
                <a:latin typeface="Arial"/>
                <a:cs typeface="Arial"/>
                <a:hlinkClick r:id="rId6" action="ppaction://hlinksldjump"/>
              </a:rPr>
              <a:t>ice</a:t>
            </a:r>
            <a:r>
              <a:rPr sz="1100" spc="-5" dirty="0">
                <a:latin typeface="Arial"/>
                <a:cs typeface="Arial"/>
                <a:hlinkClick r:id="rId9" action="ppaction://hlinksldjump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مستطيل 33"/>
          <p:cNvSpPr/>
          <p:nvPr/>
        </p:nvSpPr>
        <p:spPr>
          <a:xfrm>
            <a:off x="1570786" y="2510759"/>
            <a:ext cx="7662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spc="-5" dirty="0">
                <a:latin typeface="Arial"/>
                <a:cs typeface="Arial"/>
              </a:rPr>
              <a:t>Supplies</a:t>
            </a:r>
            <a:endParaRPr lang="en-US" sz="1200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3333B2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151701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>
                <a:solidFill>
                  <a:srgbClr val="FF0000"/>
                </a:solidFill>
              </a:rPr>
              <a:t>Weak</a:t>
            </a:r>
            <a:r>
              <a:rPr spc="10" dirty="0"/>
              <a:t> Entity</a:t>
            </a:r>
            <a:r>
              <a:rPr spc="-45" dirty="0"/>
              <a:t> </a:t>
            </a:r>
            <a:r>
              <a:rPr spc="-20" dirty="0"/>
              <a:t>Types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54597" y="374839"/>
            <a:ext cx="3578860" cy="28289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 marR="17780">
              <a:lnSpc>
                <a:spcPct val="102600"/>
              </a:lnSpc>
              <a:spcBef>
                <a:spcPts val="55"/>
              </a:spcBef>
            </a:pPr>
            <a:r>
              <a:rPr sz="1100" b="1" spc="-5" dirty="0">
                <a:latin typeface="Arial"/>
                <a:cs typeface="Arial"/>
              </a:rPr>
              <a:t>Definition.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15" dirty="0">
                <a:latin typeface="Arial"/>
                <a:cs typeface="Arial"/>
              </a:rPr>
              <a:t>Weak </a:t>
            </a:r>
            <a:r>
              <a:rPr sz="1100" spc="-5" dirty="0">
                <a:latin typeface="Arial"/>
                <a:cs typeface="Arial"/>
              </a:rPr>
              <a:t>Entity </a:t>
            </a:r>
            <a:r>
              <a:rPr sz="1100" spc="-40" dirty="0">
                <a:latin typeface="Arial"/>
                <a:cs typeface="Arial"/>
              </a:rPr>
              <a:t>Type </a:t>
            </a:r>
            <a:r>
              <a:rPr sz="1100" spc="-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an </a:t>
            </a:r>
            <a:r>
              <a:rPr sz="1100" spc="-5" dirty="0">
                <a:latin typeface="Arial"/>
                <a:cs typeface="Arial"/>
              </a:rPr>
              <a:t>entity type that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does 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sz="1100" spc="-20" dirty="0">
                <a:solidFill>
                  <a:srgbClr val="FF0000"/>
                </a:solidFill>
                <a:latin typeface="Arial"/>
                <a:cs typeface="Arial"/>
              </a:rPr>
              <a:t>have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sufficient attributes to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form </a:t>
            </a:r>
            <a:r>
              <a:rPr sz="1100" spc="-10" dirty="0">
                <a:solidFill>
                  <a:srgbClr val="00B050"/>
                </a:solidFill>
                <a:latin typeface="Arial"/>
                <a:cs typeface="Arial"/>
              </a:rPr>
              <a:t>a </a:t>
            </a:r>
            <a:r>
              <a:rPr sz="1100" dirty="0">
                <a:solidFill>
                  <a:srgbClr val="00B050"/>
                </a:solidFill>
                <a:latin typeface="Arial"/>
                <a:cs typeface="Arial"/>
              </a:rPr>
              <a:t>primary </a:t>
            </a:r>
            <a:r>
              <a:rPr sz="1100" spc="-45" dirty="0">
                <a:solidFill>
                  <a:srgbClr val="00B050"/>
                </a:solidFill>
                <a:latin typeface="Arial"/>
                <a:cs typeface="Arial"/>
              </a:rPr>
              <a:t>key</a:t>
            </a:r>
            <a:r>
              <a:rPr sz="1100" spc="-45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endParaRPr sz="11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302260" marR="396875" indent="-177165">
              <a:lnSpc>
                <a:spcPct val="102600"/>
              </a:lnSpc>
              <a:spcBef>
                <a:spcPts val="600"/>
              </a:spcBef>
              <a:buClr>
                <a:srgbClr val="3333B2"/>
              </a:buClr>
              <a:buChar char="►"/>
              <a:tabLst>
                <a:tab pos="302895" algn="l"/>
              </a:tabLst>
            </a:pPr>
            <a:r>
              <a:rPr sz="1100" spc="-10" dirty="0">
                <a:latin typeface="Arial"/>
                <a:cs typeface="Arial"/>
              </a:rPr>
              <a:t>The existence </a:t>
            </a:r>
            <a:r>
              <a:rPr sz="1100" spc="-5" dirty="0">
                <a:latin typeface="Arial"/>
                <a:cs typeface="Arial"/>
              </a:rPr>
              <a:t>of </a:t>
            </a:r>
            <a:r>
              <a:rPr sz="1100" spc="-10" dirty="0">
                <a:latin typeface="Arial"/>
                <a:cs typeface="Arial"/>
              </a:rPr>
              <a:t>a weak </a:t>
            </a:r>
            <a:r>
              <a:rPr sz="1100" spc="-5" dirty="0">
                <a:latin typeface="Arial"/>
                <a:cs typeface="Arial"/>
              </a:rPr>
              <a:t>entity </a:t>
            </a:r>
            <a:r>
              <a:rPr sz="1100" spc="-10" dirty="0">
                <a:latin typeface="Arial"/>
                <a:cs typeface="Arial"/>
              </a:rPr>
              <a:t>depends on </a:t>
            </a:r>
            <a:r>
              <a:rPr sz="1100" spc="-5" dirty="0">
                <a:latin typeface="Arial"/>
                <a:cs typeface="Arial"/>
              </a:rPr>
              <a:t>the  </a:t>
            </a:r>
            <a:r>
              <a:rPr sz="1100" spc="-10" dirty="0">
                <a:latin typeface="Arial"/>
                <a:cs typeface="Arial"/>
              </a:rPr>
              <a:t>existence </a:t>
            </a:r>
            <a:r>
              <a:rPr sz="1100" spc="-5" dirty="0">
                <a:latin typeface="Arial"/>
                <a:cs typeface="Arial"/>
              </a:rPr>
              <a:t>of </a:t>
            </a:r>
            <a:r>
              <a:rPr sz="1100" spc="-10" dirty="0">
                <a:latin typeface="Arial"/>
                <a:cs typeface="Arial"/>
              </a:rPr>
              <a:t>an </a:t>
            </a:r>
            <a:r>
              <a:rPr sz="1100" i="1" spc="-5" dirty="0">
                <a:latin typeface="Arial"/>
                <a:cs typeface="Arial"/>
              </a:rPr>
              <a:t>identifying </a:t>
            </a:r>
            <a:r>
              <a:rPr sz="1100" spc="-5" dirty="0">
                <a:latin typeface="Arial"/>
                <a:cs typeface="Arial"/>
              </a:rPr>
              <a:t>or </a:t>
            </a:r>
            <a:r>
              <a:rPr sz="1100" i="1" spc="-10" dirty="0">
                <a:latin typeface="Arial"/>
                <a:cs typeface="Arial"/>
              </a:rPr>
              <a:t>owner </a:t>
            </a:r>
            <a:r>
              <a:rPr sz="1100" spc="-5" dirty="0">
                <a:latin typeface="Arial"/>
                <a:cs typeface="Arial"/>
              </a:rPr>
              <a:t>entity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type.</a:t>
            </a:r>
            <a:endParaRPr sz="1100" dirty="0">
              <a:latin typeface="Arial"/>
              <a:cs typeface="Arial"/>
            </a:endParaRPr>
          </a:p>
          <a:p>
            <a:pPr marL="302260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Char char="►"/>
              <a:tabLst>
                <a:tab pos="302895" algn="l"/>
              </a:tabLst>
            </a:pP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The </a:t>
            </a:r>
            <a:r>
              <a:rPr sz="1100" spc="-5" dirty="0">
                <a:solidFill>
                  <a:srgbClr val="00B050"/>
                </a:solidFill>
                <a:highlight>
                  <a:srgbClr val="FFFF00"/>
                </a:highlight>
                <a:latin typeface="Arial"/>
                <a:cs typeface="Arial"/>
              </a:rPr>
              <a:t>relationship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between them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is called</a:t>
            </a:r>
            <a:r>
              <a:rPr sz="1100" spc="5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an</a:t>
            </a:r>
            <a:endParaRPr sz="1100" dirty="0">
              <a:highlight>
                <a:srgbClr val="FFFF00"/>
              </a:highlight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35"/>
              </a:spcBef>
            </a:pPr>
            <a:r>
              <a:rPr sz="1100" i="1" spc="-5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identifying</a:t>
            </a:r>
            <a:r>
              <a:rPr sz="1100" i="1" spc="-5" dirty="0">
                <a:solidFill>
                  <a:srgbClr val="00B050"/>
                </a:solidFill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00B050"/>
                </a:solidFill>
                <a:highlight>
                  <a:srgbClr val="FFFF00"/>
                </a:highlight>
                <a:latin typeface="Arial"/>
                <a:cs typeface="Arial"/>
              </a:rPr>
              <a:t>(ID)</a:t>
            </a:r>
            <a:r>
              <a:rPr sz="1100" spc="-10" dirty="0">
                <a:solidFill>
                  <a:srgbClr val="00B050"/>
                </a:solidFill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relationship.</a:t>
            </a:r>
            <a:endParaRPr sz="1100" dirty="0">
              <a:highlight>
                <a:srgbClr val="FFFF00"/>
              </a:highlight>
              <a:latin typeface="Arial"/>
              <a:cs typeface="Arial"/>
            </a:endParaRPr>
          </a:p>
          <a:p>
            <a:pPr marL="302260" marR="53022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Char char="►"/>
              <a:tabLst>
                <a:tab pos="302895" algn="l"/>
              </a:tabLst>
            </a:pP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The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identifying relationship type is </a:t>
            </a:r>
            <a:r>
              <a:rPr sz="1100" spc="-15" dirty="0">
                <a:highlight>
                  <a:srgbClr val="FFFF00"/>
                </a:highlight>
                <a:latin typeface="Arial"/>
                <a:cs typeface="Arial"/>
              </a:rPr>
              <a:t>always  </a:t>
            </a:r>
            <a:r>
              <a:rPr sz="1100" spc="-10" dirty="0">
                <a:solidFill>
                  <a:srgbClr val="00B050"/>
                </a:solidFill>
                <a:highlight>
                  <a:srgbClr val="FFFF00"/>
                </a:highlight>
                <a:latin typeface="Arial"/>
                <a:cs typeface="Arial"/>
              </a:rPr>
              <a:t>many-to-one</a:t>
            </a:r>
            <a:r>
              <a:rPr sz="1100" spc="-1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from the </a:t>
            </a:r>
            <a:r>
              <a:rPr sz="1100" spc="-10" dirty="0">
                <a:solidFill>
                  <a:srgbClr val="00B050"/>
                </a:solidFill>
                <a:highlight>
                  <a:srgbClr val="FFFF00"/>
                </a:highlight>
                <a:latin typeface="Arial"/>
                <a:cs typeface="Arial"/>
              </a:rPr>
              <a:t>weak </a:t>
            </a:r>
            <a:r>
              <a:rPr sz="1100" spc="-5" dirty="0">
                <a:solidFill>
                  <a:srgbClr val="00B050"/>
                </a:solidFill>
                <a:highlight>
                  <a:srgbClr val="FFFF00"/>
                </a:highlight>
                <a:latin typeface="Arial"/>
                <a:cs typeface="Arial"/>
              </a:rPr>
              <a:t>entity </a:t>
            </a:r>
            <a:r>
              <a:rPr sz="1100" spc="-5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type to the  </a:t>
            </a:r>
            <a:r>
              <a:rPr sz="1100" spc="-5" dirty="0">
                <a:solidFill>
                  <a:srgbClr val="00B050"/>
                </a:solidFill>
                <a:highlight>
                  <a:srgbClr val="FFFF00"/>
                </a:highlight>
                <a:latin typeface="Arial"/>
                <a:cs typeface="Arial"/>
              </a:rPr>
              <a:t>identifying entity</a:t>
            </a:r>
            <a:r>
              <a:rPr sz="1100" spc="-10" dirty="0">
                <a:solidFill>
                  <a:srgbClr val="00B050"/>
                </a:solidFill>
                <a:highlight>
                  <a:srgbClr val="FFFF00"/>
                </a:highlight>
                <a:latin typeface="Arial"/>
                <a:cs typeface="Arial"/>
              </a:rPr>
              <a:t> type</a:t>
            </a:r>
            <a:r>
              <a:rPr sz="1100" spc="-10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.</a:t>
            </a:r>
            <a:endParaRPr sz="1100" dirty="0">
              <a:solidFill>
                <a:srgbClr val="FF0000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marL="302260" marR="7239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Char char="►"/>
              <a:tabLst>
                <a:tab pos="302895" algn="l"/>
              </a:tabLst>
            </a:pP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The weak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entity type </a:t>
            </a: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must </a:t>
            </a:r>
            <a:r>
              <a:rPr sz="1100" spc="-20" dirty="0">
                <a:highlight>
                  <a:srgbClr val="FFFF00"/>
                </a:highlight>
                <a:latin typeface="Arial"/>
                <a:cs typeface="Arial"/>
              </a:rPr>
              <a:t>have </a:t>
            </a: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a </a:t>
            </a:r>
            <a:r>
              <a:rPr sz="1100" i="1" spc="-5" dirty="0">
                <a:solidFill>
                  <a:srgbClr val="FF0000"/>
                </a:solidFill>
                <a:highlight>
                  <a:srgbClr val="FFFF00"/>
                </a:highlight>
                <a:latin typeface="Arial"/>
                <a:cs typeface="Arial"/>
              </a:rPr>
              <a:t>discriminator</a:t>
            </a:r>
            <a:r>
              <a:rPr sz="1100" i="1" spc="-5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(one  or </a:t>
            </a: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more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attributes) </a:t>
            </a:r>
            <a:r>
              <a:rPr sz="1100" spc="-20" dirty="0">
                <a:highlight>
                  <a:srgbClr val="FFFF00"/>
                </a:highlight>
                <a:latin typeface="Arial"/>
                <a:cs typeface="Arial"/>
              </a:rPr>
              <a:t>for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distinguishing </a:t>
            </a: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among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its  </a:t>
            </a: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entities.</a:t>
            </a:r>
            <a:endParaRPr sz="1100" dirty="0">
              <a:highlight>
                <a:srgbClr val="FFFF00"/>
              </a:highlight>
              <a:latin typeface="Arial"/>
              <a:cs typeface="Arial"/>
            </a:endParaRPr>
          </a:p>
          <a:p>
            <a:pPr marL="302260" marR="431165" indent="-177165" algn="just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Char char="►"/>
              <a:tabLst>
                <a:tab pos="302895" algn="l"/>
              </a:tabLst>
            </a:pPr>
            <a:r>
              <a:rPr sz="1100" spc="-20" dirty="0">
                <a:latin typeface="Arial"/>
                <a:cs typeface="Arial"/>
              </a:rPr>
              <a:t>For </a:t>
            </a:r>
            <a:r>
              <a:rPr sz="1100" spc="-15" dirty="0">
                <a:latin typeface="Arial"/>
                <a:cs typeface="Arial"/>
              </a:rPr>
              <a:t>example, </a:t>
            </a:r>
            <a:r>
              <a:rPr sz="1100" spc="-5" dirty="0">
                <a:latin typeface="Arial"/>
                <a:cs typeface="Arial"/>
              </a:rPr>
              <a:t>in </a:t>
            </a:r>
            <a:r>
              <a:rPr sz="1100" spc="-10" dirty="0">
                <a:latin typeface="Arial"/>
                <a:cs typeface="Arial"/>
              </a:rPr>
              <a:t>an </a:t>
            </a:r>
            <a:r>
              <a:rPr sz="1100" spc="-15" dirty="0">
                <a:latin typeface="Arial"/>
                <a:cs typeface="Arial"/>
              </a:rPr>
              <a:t>employees </a:t>
            </a:r>
            <a:r>
              <a:rPr sz="1100" spc="-10" dirty="0">
                <a:latin typeface="Arial"/>
                <a:cs typeface="Arial"/>
              </a:rPr>
              <a:t>database, </a:t>
            </a:r>
            <a:r>
              <a:rPr sz="1100" spc="-5" dirty="0">
                <a:latin typeface="Arial"/>
                <a:cs typeface="Arial"/>
              </a:rPr>
              <a:t>Child  entities </a:t>
            </a:r>
            <a:r>
              <a:rPr sz="1100" i="1" spc="-15" dirty="0">
                <a:latin typeface="Arial"/>
                <a:cs typeface="Arial"/>
              </a:rPr>
              <a:t>exist </a:t>
            </a:r>
            <a:r>
              <a:rPr sz="1100" spc="-5" dirty="0">
                <a:latin typeface="Arial"/>
                <a:cs typeface="Arial"/>
              </a:rPr>
              <a:t>only if their corresponding </a:t>
            </a:r>
            <a:r>
              <a:rPr sz="1100" spc="-15" dirty="0">
                <a:latin typeface="Arial"/>
                <a:cs typeface="Arial"/>
              </a:rPr>
              <a:t>Parent  employee </a:t>
            </a:r>
            <a:r>
              <a:rPr sz="1100" spc="-5" dirty="0">
                <a:latin typeface="Arial"/>
                <a:cs typeface="Arial"/>
              </a:rPr>
              <a:t>entity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15" dirty="0">
                <a:latin typeface="Arial"/>
                <a:cs typeface="Arial"/>
              </a:rPr>
              <a:t>exists.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Weak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Entity</a:t>
            </a:r>
            <a:r>
              <a:rPr sz="600" spc="-40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Types 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8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8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5001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Weak Entity </a:t>
            </a:r>
            <a:r>
              <a:rPr spc="-25" dirty="0"/>
              <a:t>Type </a:t>
            </a:r>
            <a:r>
              <a:rPr spc="15" dirty="0"/>
              <a:t>and ID Relationship</a:t>
            </a:r>
            <a:r>
              <a:rPr spc="-35" dirty="0"/>
              <a:t> </a:t>
            </a:r>
            <a:r>
              <a:rPr spc="-25" dirty="0"/>
              <a:t>Type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528359" y="912102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915"/>
              </a:spcBef>
            </a:pPr>
            <a:r>
              <a:rPr sz="1100" spc="-15" dirty="0">
                <a:latin typeface="Arial"/>
                <a:cs typeface="Arial"/>
              </a:rPr>
              <a:t>Parent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81471" y="1550129"/>
            <a:ext cx="525145" cy="525145"/>
          </a:xfrm>
          <a:custGeom>
            <a:avLst/>
            <a:gdLst/>
            <a:ahLst/>
            <a:cxnLst/>
            <a:rect l="l" t="t" r="r" b="b"/>
            <a:pathLst>
              <a:path w="525144" h="525144">
                <a:moveTo>
                  <a:pt x="525061" y="262530"/>
                </a:moveTo>
                <a:lnTo>
                  <a:pt x="262530" y="0"/>
                </a:lnTo>
                <a:lnTo>
                  <a:pt x="0" y="262530"/>
                </a:lnTo>
                <a:lnTo>
                  <a:pt x="262530" y="525062"/>
                </a:lnTo>
                <a:lnTo>
                  <a:pt x="525061" y="262530"/>
                </a:lnTo>
                <a:close/>
              </a:path>
            </a:pathLst>
          </a:custGeom>
          <a:ln w="556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808137" y="1709977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Has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28359" y="2297573"/>
            <a:ext cx="831850" cy="415925"/>
          </a:xfrm>
          <a:prstGeom prst="rect">
            <a:avLst/>
          </a:prstGeom>
          <a:ln w="55671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925"/>
              </a:spcBef>
            </a:pPr>
            <a:r>
              <a:rPr sz="1100" spc="-5" dirty="0">
                <a:latin typeface="Arial"/>
                <a:cs typeface="Arial"/>
              </a:rPr>
              <a:t>Child</a:t>
            </a:r>
            <a:endParaRPr sz="11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27799" y="965225"/>
            <a:ext cx="692785" cy="309880"/>
          </a:xfrm>
          <a:custGeom>
            <a:avLst/>
            <a:gdLst/>
            <a:ahLst/>
            <a:cxnLst/>
            <a:rect l="l" t="t" r="r" b="b"/>
            <a:pathLst>
              <a:path w="692785" h="309880">
                <a:moveTo>
                  <a:pt x="692740" y="154698"/>
                </a:moveTo>
                <a:lnTo>
                  <a:pt x="671071" y="100718"/>
                </a:lnTo>
                <a:lnTo>
                  <a:pt x="611279" y="55027"/>
                </a:lnTo>
                <a:lnTo>
                  <a:pt x="569533" y="36382"/>
                </a:lnTo>
                <a:lnTo>
                  <a:pt x="521191" y="21120"/>
                </a:lnTo>
                <a:lnTo>
                  <a:pt x="467232" y="9678"/>
                </a:lnTo>
                <a:lnTo>
                  <a:pt x="408632" y="2492"/>
                </a:lnTo>
                <a:lnTo>
                  <a:pt x="346372" y="0"/>
                </a:lnTo>
                <a:lnTo>
                  <a:pt x="284111" y="2492"/>
                </a:lnTo>
                <a:lnTo>
                  <a:pt x="225511" y="9678"/>
                </a:lnTo>
                <a:lnTo>
                  <a:pt x="171551" y="21120"/>
                </a:lnTo>
                <a:lnTo>
                  <a:pt x="123208" y="36382"/>
                </a:lnTo>
                <a:lnTo>
                  <a:pt x="81462" y="55027"/>
                </a:lnTo>
                <a:lnTo>
                  <a:pt x="47289" y="76618"/>
                </a:lnTo>
                <a:lnTo>
                  <a:pt x="5580" y="126891"/>
                </a:lnTo>
                <a:lnTo>
                  <a:pt x="0" y="154698"/>
                </a:lnTo>
                <a:lnTo>
                  <a:pt x="5580" y="182506"/>
                </a:lnTo>
                <a:lnTo>
                  <a:pt x="47289" y="232778"/>
                </a:lnTo>
                <a:lnTo>
                  <a:pt x="81462" y="254369"/>
                </a:lnTo>
                <a:lnTo>
                  <a:pt x="123208" y="273014"/>
                </a:lnTo>
                <a:lnTo>
                  <a:pt x="171551" y="288276"/>
                </a:lnTo>
                <a:lnTo>
                  <a:pt x="225511" y="299719"/>
                </a:lnTo>
                <a:lnTo>
                  <a:pt x="284111" y="306905"/>
                </a:lnTo>
                <a:lnTo>
                  <a:pt x="346372" y="309397"/>
                </a:lnTo>
                <a:lnTo>
                  <a:pt x="408632" y="306905"/>
                </a:lnTo>
                <a:lnTo>
                  <a:pt x="467232" y="299719"/>
                </a:lnTo>
                <a:lnTo>
                  <a:pt x="521191" y="288276"/>
                </a:lnTo>
                <a:lnTo>
                  <a:pt x="569533" y="273014"/>
                </a:lnTo>
                <a:lnTo>
                  <a:pt x="611279" y="254369"/>
                </a:lnTo>
                <a:lnTo>
                  <a:pt x="645451" y="232778"/>
                </a:lnTo>
                <a:lnTo>
                  <a:pt x="687160" y="182506"/>
                </a:lnTo>
                <a:lnTo>
                  <a:pt x="692740" y="154698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53694" y="1004187"/>
            <a:ext cx="241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NI#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328130" y="1119924"/>
            <a:ext cx="193040" cy="0"/>
          </a:xfrm>
          <a:custGeom>
            <a:avLst/>
            <a:gdLst/>
            <a:ahLst/>
            <a:cxnLst/>
            <a:rect l="l" t="t" r="r" b="b"/>
            <a:pathLst>
              <a:path w="193040">
                <a:moveTo>
                  <a:pt x="0" y="0"/>
                </a:moveTo>
                <a:lnTo>
                  <a:pt x="192638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1070908" y="483946"/>
            <a:ext cx="767080" cy="426084"/>
            <a:chOff x="1070908" y="483946"/>
            <a:chExt cx="767080" cy="426084"/>
          </a:xfrm>
        </p:grpSpPr>
        <p:sp>
          <p:nvSpPr>
            <p:cNvPr id="32" name="object 32"/>
            <p:cNvSpPr/>
            <p:nvPr/>
          </p:nvSpPr>
          <p:spPr>
            <a:xfrm>
              <a:off x="1078500" y="491538"/>
              <a:ext cx="751840" cy="277495"/>
            </a:xfrm>
            <a:custGeom>
              <a:avLst/>
              <a:gdLst/>
              <a:ahLst/>
              <a:cxnLst/>
              <a:rect l="l" t="t" r="r" b="b"/>
              <a:pathLst>
                <a:path w="751839" h="277495">
                  <a:moveTo>
                    <a:pt x="751325" y="138546"/>
                  </a:moveTo>
                  <a:lnTo>
                    <a:pt x="727823" y="90202"/>
                  </a:lnTo>
                  <a:lnTo>
                    <a:pt x="662975" y="49282"/>
                  </a:lnTo>
                  <a:lnTo>
                    <a:pt x="617698" y="32583"/>
                  </a:lnTo>
                  <a:lnTo>
                    <a:pt x="565267" y="18915"/>
                  </a:lnTo>
                  <a:lnTo>
                    <a:pt x="506744" y="8667"/>
                  </a:lnTo>
                  <a:lnTo>
                    <a:pt x="443188" y="2232"/>
                  </a:lnTo>
                  <a:lnTo>
                    <a:pt x="375662" y="0"/>
                  </a:lnTo>
                  <a:lnTo>
                    <a:pt x="308135" y="2232"/>
                  </a:lnTo>
                  <a:lnTo>
                    <a:pt x="244580" y="8667"/>
                  </a:lnTo>
                  <a:lnTo>
                    <a:pt x="186057" y="18915"/>
                  </a:lnTo>
                  <a:lnTo>
                    <a:pt x="133626" y="32583"/>
                  </a:lnTo>
                  <a:lnTo>
                    <a:pt x="88350" y="49282"/>
                  </a:lnTo>
                  <a:lnTo>
                    <a:pt x="51288" y="68618"/>
                  </a:lnTo>
                  <a:lnTo>
                    <a:pt x="6052" y="113642"/>
                  </a:lnTo>
                  <a:lnTo>
                    <a:pt x="0" y="138546"/>
                  </a:lnTo>
                  <a:lnTo>
                    <a:pt x="6052" y="163451"/>
                  </a:lnTo>
                  <a:lnTo>
                    <a:pt x="51288" y="208475"/>
                  </a:lnTo>
                  <a:lnTo>
                    <a:pt x="88350" y="227811"/>
                  </a:lnTo>
                  <a:lnTo>
                    <a:pt x="133626" y="244510"/>
                  </a:lnTo>
                  <a:lnTo>
                    <a:pt x="186057" y="258179"/>
                  </a:lnTo>
                  <a:lnTo>
                    <a:pt x="244580" y="268427"/>
                  </a:lnTo>
                  <a:lnTo>
                    <a:pt x="308135" y="274862"/>
                  </a:lnTo>
                  <a:lnTo>
                    <a:pt x="375662" y="277094"/>
                  </a:lnTo>
                  <a:lnTo>
                    <a:pt x="443188" y="274862"/>
                  </a:lnTo>
                  <a:lnTo>
                    <a:pt x="506744" y="268427"/>
                  </a:lnTo>
                  <a:lnTo>
                    <a:pt x="565267" y="258179"/>
                  </a:lnTo>
                  <a:lnTo>
                    <a:pt x="617698" y="244510"/>
                  </a:lnTo>
                  <a:lnTo>
                    <a:pt x="662975" y="227811"/>
                  </a:lnTo>
                  <a:lnTo>
                    <a:pt x="700037" y="208475"/>
                  </a:lnTo>
                  <a:lnTo>
                    <a:pt x="745273" y="163451"/>
                  </a:lnTo>
                  <a:lnTo>
                    <a:pt x="751325" y="138546"/>
                  </a:lnTo>
                  <a:close/>
                </a:path>
              </a:pathLst>
            </a:custGeom>
            <a:ln w="151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90824" y="766692"/>
              <a:ext cx="138430" cy="138430"/>
            </a:xfrm>
            <a:custGeom>
              <a:avLst/>
              <a:gdLst/>
              <a:ahLst/>
              <a:cxnLst/>
              <a:rect l="l" t="t" r="r" b="b"/>
              <a:pathLst>
                <a:path w="138430" h="138430">
                  <a:moveTo>
                    <a:pt x="0" y="0"/>
                  </a:moveTo>
                  <a:lnTo>
                    <a:pt x="137869" y="137819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/>
          <p:nvPr/>
        </p:nvSpPr>
        <p:spPr>
          <a:xfrm>
            <a:off x="2009193" y="491538"/>
            <a:ext cx="849630" cy="277495"/>
          </a:xfrm>
          <a:custGeom>
            <a:avLst/>
            <a:gdLst/>
            <a:ahLst/>
            <a:cxnLst/>
            <a:rect l="l" t="t" r="r" b="b"/>
            <a:pathLst>
              <a:path w="849630" h="277495">
                <a:moveTo>
                  <a:pt x="849293" y="138546"/>
                </a:moveTo>
                <a:lnTo>
                  <a:pt x="827644" y="94754"/>
                </a:lnTo>
                <a:lnTo>
                  <a:pt x="767361" y="56722"/>
                </a:lnTo>
                <a:lnTo>
                  <a:pt x="724918" y="40578"/>
                </a:lnTo>
                <a:lnTo>
                  <a:pt x="675438" y="26731"/>
                </a:lnTo>
                <a:lnTo>
                  <a:pt x="619797" y="15464"/>
                </a:lnTo>
                <a:lnTo>
                  <a:pt x="558869" y="7063"/>
                </a:lnTo>
                <a:lnTo>
                  <a:pt x="493527" y="1813"/>
                </a:lnTo>
                <a:lnTo>
                  <a:pt x="424647" y="0"/>
                </a:lnTo>
                <a:lnTo>
                  <a:pt x="355766" y="1813"/>
                </a:lnTo>
                <a:lnTo>
                  <a:pt x="290424" y="7063"/>
                </a:lnTo>
                <a:lnTo>
                  <a:pt x="229496" y="15464"/>
                </a:lnTo>
                <a:lnTo>
                  <a:pt x="173855" y="26731"/>
                </a:lnTo>
                <a:lnTo>
                  <a:pt x="124375" y="40578"/>
                </a:lnTo>
                <a:lnTo>
                  <a:pt x="81931" y="56722"/>
                </a:lnTo>
                <a:lnTo>
                  <a:pt x="47397" y="74875"/>
                </a:lnTo>
                <a:lnTo>
                  <a:pt x="5557" y="116073"/>
                </a:lnTo>
                <a:lnTo>
                  <a:pt x="0" y="138546"/>
                </a:lnTo>
                <a:lnTo>
                  <a:pt x="5557" y="161020"/>
                </a:lnTo>
                <a:lnTo>
                  <a:pt x="47397" y="202218"/>
                </a:lnTo>
                <a:lnTo>
                  <a:pt x="81931" y="220371"/>
                </a:lnTo>
                <a:lnTo>
                  <a:pt x="124375" y="236515"/>
                </a:lnTo>
                <a:lnTo>
                  <a:pt x="173855" y="250363"/>
                </a:lnTo>
                <a:lnTo>
                  <a:pt x="229496" y="261630"/>
                </a:lnTo>
                <a:lnTo>
                  <a:pt x="290424" y="270031"/>
                </a:lnTo>
                <a:lnTo>
                  <a:pt x="355766" y="275281"/>
                </a:lnTo>
                <a:lnTo>
                  <a:pt x="424647" y="277094"/>
                </a:lnTo>
                <a:lnTo>
                  <a:pt x="493527" y="275281"/>
                </a:lnTo>
                <a:lnTo>
                  <a:pt x="558869" y="270031"/>
                </a:lnTo>
                <a:lnTo>
                  <a:pt x="619797" y="261630"/>
                </a:lnTo>
                <a:lnTo>
                  <a:pt x="675438" y="250363"/>
                </a:lnTo>
                <a:lnTo>
                  <a:pt x="724918" y="236515"/>
                </a:lnTo>
                <a:lnTo>
                  <a:pt x="767361" y="220371"/>
                </a:lnTo>
                <a:lnTo>
                  <a:pt x="801895" y="202218"/>
                </a:lnTo>
                <a:lnTo>
                  <a:pt x="843735" y="161020"/>
                </a:lnTo>
                <a:lnTo>
                  <a:pt x="849293" y="138546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222019" y="527404"/>
            <a:ext cx="14789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57580" algn="l"/>
              </a:tabLst>
            </a:pPr>
            <a:r>
              <a:rPr sz="1100" spc="-10" dirty="0">
                <a:latin typeface="Arial"/>
                <a:cs typeface="Arial"/>
              </a:rPr>
              <a:t>Pname	</a:t>
            </a:r>
            <a:r>
              <a:rPr sz="1100" spc="-5" dirty="0">
                <a:latin typeface="Arial"/>
                <a:cs typeface="Arial"/>
              </a:rPr>
              <a:t>Address</a:t>
            </a:r>
            <a:endParaRPr sz="11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159308" y="768860"/>
            <a:ext cx="135890" cy="135890"/>
          </a:xfrm>
          <a:custGeom>
            <a:avLst/>
            <a:gdLst/>
            <a:ahLst/>
            <a:cxnLst/>
            <a:rect l="l" t="t" r="r" b="b"/>
            <a:pathLst>
              <a:path w="135889" h="135890">
                <a:moveTo>
                  <a:pt x="135691" y="0"/>
                </a:moveTo>
                <a:lnTo>
                  <a:pt x="0" y="135651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567463" y="963020"/>
            <a:ext cx="692785" cy="314325"/>
          </a:xfrm>
          <a:custGeom>
            <a:avLst/>
            <a:gdLst/>
            <a:ahLst/>
            <a:cxnLst/>
            <a:rect l="l" t="t" r="r" b="b"/>
            <a:pathLst>
              <a:path w="692785" h="314325">
                <a:moveTo>
                  <a:pt x="692740" y="156903"/>
                </a:moveTo>
                <a:lnTo>
                  <a:pt x="671070" y="102154"/>
                </a:lnTo>
                <a:lnTo>
                  <a:pt x="611278" y="55812"/>
                </a:lnTo>
                <a:lnTo>
                  <a:pt x="569531" y="36901"/>
                </a:lnTo>
                <a:lnTo>
                  <a:pt x="521189" y="21421"/>
                </a:lnTo>
                <a:lnTo>
                  <a:pt x="467228" y="9816"/>
                </a:lnTo>
                <a:lnTo>
                  <a:pt x="408629" y="2527"/>
                </a:lnTo>
                <a:lnTo>
                  <a:pt x="346368" y="0"/>
                </a:lnTo>
                <a:lnTo>
                  <a:pt x="284107" y="2527"/>
                </a:lnTo>
                <a:lnTo>
                  <a:pt x="225508" y="9816"/>
                </a:lnTo>
                <a:lnTo>
                  <a:pt x="171548" y="21421"/>
                </a:lnTo>
                <a:lnTo>
                  <a:pt x="123206" y="36901"/>
                </a:lnTo>
                <a:lnTo>
                  <a:pt x="81460" y="55812"/>
                </a:lnTo>
                <a:lnTo>
                  <a:pt x="47288" y="77710"/>
                </a:lnTo>
                <a:lnTo>
                  <a:pt x="5580" y="128699"/>
                </a:lnTo>
                <a:lnTo>
                  <a:pt x="0" y="156903"/>
                </a:lnTo>
                <a:lnTo>
                  <a:pt x="5580" y="185107"/>
                </a:lnTo>
                <a:lnTo>
                  <a:pt x="47288" y="236095"/>
                </a:lnTo>
                <a:lnTo>
                  <a:pt x="81460" y="257994"/>
                </a:lnTo>
                <a:lnTo>
                  <a:pt x="123206" y="276905"/>
                </a:lnTo>
                <a:lnTo>
                  <a:pt x="171548" y="292385"/>
                </a:lnTo>
                <a:lnTo>
                  <a:pt x="225508" y="303990"/>
                </a:lnTo>
                <a:lnTo>
                  <a:pt x="284107" y="311278"/>
                </a:lnTo>
                <a:lnTo>
                  <a:pt x="346368" y="313806"/>
                </a:lnTo>
                <a:lnTo>
                  <a:pt x="408629" y="311278"/>
                </a:lnTo>
                <a:lnTo>
                  <a:pt x="467228" y="303990"/>
                </a:lnTo>
                <a:lnTo>
                  <a:pt x="521189" y="292385"/>
                </a:lnTo>
                <a:lnTo>
                  <a:pt x="569531" y="276905"/>
                </a:lnTo>
                <a:lnTo>
                  <a:pt x="611278" y="257994"/>
                </a:lnTo>
                <a:lnTo>
                  <a:pt x="645450" y="236095"/>
                </a:lnTo>
                <a:lnTo>
                  <a:pt x="687160" y="185107"/>
                </a:lnTo>
                <a:lnTo>
                  <a:pt x="692740" y="156903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777883" y="1002613"/>
            <a:ext cx="2724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Age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367234" y="1119924"/>
            <a:ext cx="193040" cy="0"/>
          </a:xfrm>
          <a:custGeom>
            <a:avLst/>
            <a:gdLst/>
            <a:ahLst/>
            <a:cxnLst/>
            <a:rect l="l" t="t" r="r" b="b"/>
            <a:pathLst>
              <a:path w="193039">
                <a:moveTo>
                  <a:pt x="192638" y="0"/>
                </a:moveTo>
                <a:lnTo>
                  <a:pt x="0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1065491" y="2822473"/>
            <a:ext cx="777875" cy="346075"/>
            <a:chOff x="1065491" y="2822473"/>
            <a:chExt cx="777875" cy="346075"/>
          </a:xfrm>
        </p:grpSpPr>
        <p:sp>
          <p:nvSpPr>
            <p:cNvPr id="41" name="object 41"/>
            <p:cNvSpPr/>
            <p:nvPr/>
          </p:nvSpPr>
          <p:spPr>
            <a:xfrm>
              <a:off x="1073111" y="2830093"/>
              <a:ext cx="762635" cy="330835"/>
            </a:xfrm>
            <a:custGeom>
              <a:avLst/>
              <a:gdLst/>
              <a:ahLst/>
              <a:cxnLst/>
              <a:rect l="l" t="t" r="r" b="b"/>
              <a:pathLst>
                <a:path w="762635" h="330835">
                  <a:moveTo>
                    <a:pt x="762102" y="165138"/>
                  </a:moveTo>
                  <a:lnTo>
                    <a:pt x="742676" y="112943"/>
                  </a:lnTo>
                  <a:lnTo>
                    <a:pt x="688582" y="67611"/>
                  </a:lnTo>
                  <a:lnTo>
                    <a:pt x="650496" y="48369"/>
                  </a:lnTo>
                  <a:lnTo>
                    <a:pt x="606096" y="31863"/>
                  </a:lnTo>
                  <a:lnTo>
                    <a:pt x="556167" y="18433"/>
                  </a:lnTo>
                  <a:lnTo>
                    <a:pt x="501493" y="8419"/>
                  </a:lnTo>
                  <a:lnTo>
                    <a:pt x="442860" y="2161"/>
                  </a:lnTo>
                  <a:lnTo>
                    <a:pt x="381050" y="0"/>
                  </a:lnTo>
                  <a:lnTo>
                    <a:pt x="319241" y="2161"/>
                  </a:lnTo>
                  <a:lnTo>
                    <a:pt x="260608" y="8419"/>
                  </a:lnTo>
                  <a:lnTo>
                    <a:pt x="205934" y="18433"/>
                  </a:lnTo>
                  <a:lnTo>
                    <a:pt x="156005" y="31863"/>
                  </a:lnTo>
                  <a:lnTo>
                    <a:pt x="111606" y="48369"/>
                  </a:lnTo>
                  <a:lnTo>
                    <a:pt x="73519" y="67611"/>
                  </a:lnTo>
                  <a:lnTo>
                    <a:pt x="19425" y="112943"/>
                  </a:lnTo>
                  <a:lnTo>
                    <a:pt x="0" y="165138"/>
                  </a:lnTo>
                  <a:lnTo>
                    <a:pt x="4987" y="191926"/>
                  </a:lnTo>
                  <a:lnTo>
                    <a:pt x="42531" y="241032"/>
                  </a:lnTo>
                  <a:lnTo>
                    <a:pt x="111606" y="281911"/>
                  </a:lnTo>
                  <a:lnTo>
                    <a:pt x="156005" y="298416"/>
                  </a:lnTo>
                  <a:lnTo>
                    <a:pt x="205934" y="311845"/>
                  </a:lnTo>
                  <a:lnTo>
                    <a:pt x="260608" y="321858"/>
                  </a:lnTo>
                  <a:lnTo>
                    <a:pt x="319241" y="328115"/>
                  </a:lnTo>
                  <a:lnTo>
                    <a:pt x="381050" y="330276"/>
                  </a:lnTo>
                  <a:lnTo>
                    <a:pt x="442860" y="328115"/>
                  </a:lnTo>
                  <a:lnTo>
                    <a:pt x="501493" y="321858"/>
                  </a:lnTo>
                  <a:lnTo>
                    <a:pt x="556167" y="311845"/>
                  </a:lnTo>
                  <a:lnTo>
                    <a:pt x="606096" y="298416"/>
                  </a:lnTo>
                  <a:lnTo>
                    <a:pt x="650496" y="281911"/>
                  </a:lnTo>
                  <a:lnTo>
                    <a:pt x="688582" y="262670"/>
                  </a:lnTo>
                  <a:lnTo>
                    <a:pt x="742676" y="217337"/>
                  </a:lnTo>
                  <a:lnTo>
                    <a:pt x="762102" y="165138"/>
                  </a:lnTo>
                  <a:close/>
                </a:path>
              </a:pathLst>
            </a:custGeom>
            <a:ln w="151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251686" y="3063265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09">
                  <a:moveTo>
                    <a:pt x="0" y="0"/>
                  </a:moveTo>
                  <a:lnTo>
                    <a:pt x="4156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334808" y="3063265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09">
                  <a:moveTo>
                    <a:pt x="0" y="0"/>
                  </a:moveTo>
                  <a:lnTo>
                    <a:pt x="4156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417942" y="3063265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09">
                  <a:moveTo>
                    <a:pt x="0" y="0"/>
                  </a:moveTo>
                  <a:lnTo>
                    <a:pt x="4156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501063" y="3063265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09">
                  <a:moveTo>
                    <a:pt x="0" y="0"/>
                  </a:moveTo>
                  <a:lnTo>
                    <a:pt x="4156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84185" y="3063265"/>
              <a:ext cx="41910" cy="0"/>
            </a:xfrm>
            <a:custGeom>
              <a:avLst/>
              <a:gdLst/>
              <a:ahLst/>
              <a:cxnLst/>
              <a:rect l="l" t="t" r="r" b="b"/>
              <a:pathLst>
                <a:path w="41910">
                  <a:moveTo>
                    <a:pt x="0" y="0"/>
                  </a:moveTo>
                  <a:lnTo>
                    <a:pt x="41567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218209" y="2875266"/>
            <a:ext cx="472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Cname</a:t>
            </a:r>
            <a:endParaRPr sz="11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612339" y="2720809"/>
            <a:ext cx="116839" cy="116839"/>
          </a:xfrm>
          <a:custGeom>
            <a:avLst/>
            <a:gdLst/>
            <a:ahLst/>
            <a:cxnLst/>
            <a:rect l="l" t="t" r="r" b="b"/>
            <a:pathLst>
              <a:path w="116839" h="116839">
                <a:moveTo>
                  <a:pt x="0" y="116319"/>
                </a:moveTo>
                <a:lnTo>
                  <a:pt x="116354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087472" y="2838335"/>
            <a:ext cx="692785" cy="314325"/>
          </a:xfrm>
          <a:custGeom>
            <a:avLst/>
            <a:gdLst/>
            <a:ahLst/>
            <a:cxnLst/>
            <a:rect l="l" t="t" r="r" b="b"/>
            <a:pathLst>
              <a:path w="692785" h="314325">
                <a:moveTo>
                  <a:pt x="692736" y="156895"/>
                </a:moveTo>
                <a:lnTo>
                  <a:pt x="671067" y="102149"/>
                </a:lnTo>
                <a:lnTo>
                  <a:pt x="611276" y="55809"/>
                </a:lnTo>
                <a:lnTo>
                  <a:pt x="569530" y="36899"/>
                </a:lnTo>
                <a:lnTo>
                  <a:pt x="521188" y="21420"/>
                </a:lnTo>
                <a:lnTo>
                  <a:pt x="467228" y="9815"/>
                </a:lnTo>
                <a:lnTo>
                  <a:pt x="408629" y="2527"/>
                </a:lnTo>
                <a:lnTo>
                  <a:pt x="346368" y="0"/>
                </a:lnTo>
                <a:lnTo>
                  <a:pt x="284107" y="2527"/>
                </a:lnTo>
                <a:lnTo>
                  <a:pt x="225508" y="9815"/>
                </a:lnTo>
                <a:lnTo>
                  <a:pt x="171548" y="21420"/>
                </a:lnTo>
                <a:lnTo>
                  <a:pt x="123206" y="36899"/>
                </a:lnTo>
                <a:lnTo>
                  <a:pt x="81460" y="55809"/>
                </a:lnTo>
                <a:lnTo>
                  <a:pt x="47288" y="77707"/>
                </a:lnTo>
                <a:lnTo>
                  <a:pt x="5580" y="128693"/>
                </a:lnTo>
                <a:lnTo>
                  <a:pt x="0" y="156895"/>
                </a:lnTo>
                <a:lnTo>
                  <a:pt x="5580" y="185102"/>
                </a:lnTo>
                <a:lnTo>
                  <a:pt x="47288" y="236093"/>
                </a:lnTo>
                <a:lnTo>
                  <a:pt x="81460" y="257992"/>
                </a:lnTo>
                <a:lnTo>
                  <a:pt x="123206" y="276903"/>
                </a:lnTo>
                <a:lnTo>
                  <a:pt x="171548" y="292383"/>
                </a:lnTo>
                <a:lnTo>
                  <a:pt x="225508" y="303988"/>
                </a:lnTo>
                <a:lnTo>
                  <a:pt x="284107" y="311276"/>
                </a:lnTo>
                <a:lnTo>
                  <a:pt x="346368" y="313804"/>
                </a:lnTo>
                <a:lnTo>
                  <a:pt x="408629" y="311276"/>
                </a:lnTo>
                <a:lnTo>
                  <a:pt x="467228" y="303988"/>
                </a:lnTo>
                <a:lnTo>
                  <a:pt x="521188" y="292383"/>
                </a:lnTo>
                <a:lnTo>
                  <a:pt x="569530" y="276903"/>
                </a:lnTo>
                <a:lnTo>
                  <a:pt x="611276" y="257992"/>
                </a:lnTo>
                <a:lnTo>
                  <a:pt x="645447" y="236093"/>
                </a:lnTo>
                <a:lnTo>
                  <a:pt x="687156" y="185102"/>
                </a:lnTo>
                <a:lnTo>
                  <a:pt x="692736" y="156895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2297899" y="2877907"/>
            <a:ext cx="2724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Age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159308" y="2720809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4" h="125094">
                <a:moveTo>
                  <a:pt x="125016" y="124980"/>
                </a:moveTo>
                <a:lnTo>
                  <a:pt x="0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2" name="object 52"/>
          <p:cNvGrpSpPr/>
          <p:nvPr/>
        </p:nvGrpSpPr>
        <p:grpSpPr>
          <a:xfrm>
            <a:off x="1899085" y="1340397"/>
            <a:ext cx="90170" cy="949960"/>
            <a:chOff x="1899085" y="1340397"/>
            <a:chExt cx="90170" cy="949960"/>
          </a:xfrm>
        </p:grpSpPr>
        <p:sp>
          <p:nvSpPr>
            <p:cNvPr id="53" name="object 53"/>
            <p:cNvSpPr/>
            <p:nvPr/>
          </p:nvSpPr>
          <p:spPr>
            <a:xfrm>
              <a:off x="1899085" y="1340397"/>
              <a:ext cx="89833" cy="19895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914900" y="2085962"/>
              <a:ext cx="58419" cy="204470"/>
            </a:xfrm>
            <a:custGeom>
              <a:avLst/>
              <a:gdLst/>
              <a:ahLst/>
              <a:cxnLst/>
              <a:rect l="l" t="t" r="r" b="b"/>
              <a:pathLst>
                <a:path w="58419" h="204469">
                  <a:moveTo>
                    <a:pt x="0" y="204021"/>
                  </a:moveTo>
                  <a:lnTo>
                    <a:pt x="58202" y="204021"/>
                  </a:lnTo>
                  <a:lnTo>
                    <a:pt x="58202" y="0"/>
                  </a:lnTo>
                  <a:lnTo>
                    <a:pt x="0" y="0"/>
                  </a:lnTo>
                  <a:lnTo>
                    <a:pt x="0" y="2040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925022" y="2085962"/>
              <a:ext cx="38100" cy="204470"/>
            </a:xfrm>
            <a:custGeom>
              <a:avLst/>
              <a:gdLst/>
              <a:ahLst/>
              <a:cxnLst/>
              <a:rect l="l" t="t" r="r" b="b"/>
              <a:pathLst>
                <a:path w="38100" h="204469">
                  <a:moveTo>
                    <a:pt x="0" y="204021"/>
                  </a:moveTo>
                  <a:lnTo>
                    <a:pt x="37958" y="204021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2040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6" name="صورة 5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997" y="358494"/>
            <a:ext cx="2867451" cy="2908414"/>
          </a:xfrm>
          <a:prstGeom prst="rect">
            <a:avLst/>
          </a:prstGeom>
        </p:spPr>
      </p:pic>
      <p:cxnSp>
        <p:nvCxnSpPr>
          <p:cNvPr id="58" name="رابط كسهم مستقيم 57"/>
          <p:cNvCxnSpPr/>
          <p:nvPr/>
        </p:nvCxnSpPr>
        <p:spPr>
          <a:xfrm>
            <a:off x="400050" y="2159093"/>
            <a:ext cx="1465486" cy="5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مربع نص 59"/>
          <p:cNvSpPr txBox="1"/>
          <p:nvPr/>
        </p:nvSpPr>
        <p:spPr>
          <a:xfrm>
            <a:off x="555355" y="1934758"/>
            <a:ext cx="1140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Total participation</a:t>
            </a:r>
          </a:p>
          <a:p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1" name="مربع نص 60"/>
          <p:cNvSpPr txBox="1"/>
          <p:nvPr/>
        </p:nvSpPr>
        <p:spPr>
          <a:xfrm>
            <a:off x="2314143" y="1911198"/>
            <a:ext cx="14830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Indicated by double lines</a:t>
            </a:r>
          </a:p>
          <a:p>
            <a:r>
              <a:rPr lang="en-US" sz="1000" dirty="0">
                <a:solidFill>
                  <a:srgbClr val="FF0000"/>
                </a:solidFill>
              </a:rPr>
              <a:t>Same as: 1…</a:t>
            </a:r>
          </a:p>
          <a:p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2" name="مستطيل 61"/>
          <p:cNvSpPr/>
          <p:nvPr/>
        </p:nvSpPr>
        <p:spPr>
          <a:xfrm>
            <a:off x="244761" y="2382424"/>
            <a:ext cx="85023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spc="10" dirty="0">
                <a:solidFill>
                  <a:srgbClr val="FF0000"/>
                </a:solidFill>
              </a:rPr>
              <a:t>Weak Entity</a:t>
            </a:r>
            <a:r>
              <a:rPr lang="en-US" sz="1000" spc="-45" dirty="0">
                <a:solidFill>
                  <a:srgbClr val="FF0000"/>
                </a:solidFill>
              </a:rPr>
              <a:t> </a:t>
            </a:r>
            <a:endParaRPr lang="en-US" sz="1000" dirty="0">
              <a:solidFill>
                <a:srgbClr val="FF0000"/>
              </a:solidFill>
            </a:endParaRPr>
          </a:p>
        </p:txBody>
      </p:sp>
      <p:cxnSp>
        <p:nvCxnSpPr>
          <p:cNvPr id="63" name="رابط كسهم مستقيم 62"/>
          <p:cNvCxnSpPr/>
          <p:nvPr/>
        </p:nvCxnSpPr>
        <p:spPr>
          <a:xfrm>
            <a:off x="1046132" y="2519773"/>
            <a:ext cx="369094" cy="1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مستطيل 64"/>
          <p:cNvSpPr/>
          <p:nvPr/>
        </p:nvSpPr>
        <p:spPr>
          <a:xfrm>
            <a:off x="-34003" y="2907276"/>
            <a:ext cx="75822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spc="-5" dirty="0">
                <a:solidFill>
                  <a:srgbClr val="FF0000"/>
                </a:solidFill>
                <a:latin typeface="Arial"/>
                <a:cs typeface="Arial"/>
              </a:rPr>
              <a:t>discriminator</a:t>
            </a:r>
            <a:endParaRPr lang="en-US" sz="800" dirty="0">
              <a:solidFill>
                <a:srgbClr val="FF0000"/>
              </a:solidFill>
            </a:endParaRPr>
          </a:p>
        </p:txBody>
      </p:sp>
      <p:cxnSp>
        <p:nvCxnSpPr>
          <p:cNvPr id="66" name="رابط كسهم مستقيم 65"/>
          <p:cNvCxnSpPr/>
          <p:nvPr/>
        </p:nvCxnSpPr>
        <p:spPr>
          <a:xfrm>
            <a:off x="704850" y="3014998"/>
            <a:ext cx="369094" cy="1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3333B2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23983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Weak Entity </a:t>
            </a:r>
            <a:r>
              <a:rPr spc="-20" dirty="0"/>
              <a:t>Types </a:t>
            </a:r>
            <a:r>
              <a:rPr spc="10" dirty="0"/>
              <a:t>in </a:t>
            </a:r>
            <a:r>
              <a:rPr spc="15" dirty="0"/>
              <a:t>an</a:t>
            </a:r>
            <a:r>
              <a:rPr spc="-10" dirty="0"/>
              <a:t> </a:t>
            </a:r>
            <a:r>
              <a:rPr spc="20" dirty="0"/>
              <a:t>ERD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1960" y="681631"/>
            <a:ext cx="3504565" cy="21082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</a:rPr>
              <a:t>A weak </a:t>
            </a:r>
            <a:r>
              <a:rPr sz="1100" spc="-5" dirty="0">
                <a:latin typeface="Arial"/>
                <a:cs typeface="Arial"/>
              </a:rPr>
              <a:t>entity type is identified </a:t>
            </a:r>
            <a:r>
              <a:rPr sz="1100" spc="-20" dirty="0">
                <a:latin typeface="Arial"/>
                <a:cs typeface="Arial"/>
              </a:rPr>
              <a:t>by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10" dirty="0">
                <a:solidFill>
                  <a:srgbClr val="00B050"/>
                </a:solidFill>
                <a:latin typeface="Arial"/>
                <a:cs typeface="Arial"/>
              </a:rPr>
              <a:t>double</a:t>
            </a:r>
            <a:r>
              <a:rPr sz="1100" spc="1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rectangle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214629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</a:rPr>
              <a:t>The </a:t>
            </a:r>
            <a:r>
              <a:rPr sz="1100" spc="-5" dirty="0">
                <a:solidFill>
                  <a:srgbClr val="00B050"/>
                </a:solidFill>
                <a:latin typeface="Arial"/>
                <a:cs typeface="Arial"/>
              </a:rPr>
              <a:t>discriminator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 is </a:t>
            </a:r>
            <a:r>
              <a:rPr sz="1100" spc="-5" dirty="0">
                <a:solidFill>
                  <a:srgbClr val="00B050"/>
                </a:solidFill>
                <a:latin typeface="Arial"/>
                <a:cs typeface="Arial"/>
              </a:rPr>
              <a:t>underlined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0000"/>
                </a:solidFill>
                <a:latin typeface="Arial"/>
                <a:cs typeface="Arial"/>
              </a:rPr>
              <a:t>by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a dashed</a:t>
            </a:r>
            <a:r>
              <a:rPr sz="1100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line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214629" marR="221615" indent="-17716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</a:rPr>
              <a:t>An </a:t>
            </a:r>
            <a:r>
              <a:rPr sz="1100" spc="-5" dirty="0">
                <a:latin typeface="Arial"/>
                <a:cs typeface="Arial"/>
              </a:rPr>
              <a:t>identifying relationship is identified </a:t>
            </a:r>
            <a:r>
              <a:rPr sz="1100" spc="-20" dirty="0">
                <a:latin typeface="Arial"/>
                <a:cs typeface="Arial"/>
              </a:rPr>
              <a:t>by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spc="-10" dirty="0">
                <a:solidFill>
                  <a:srgbClr val="00B050"/>
                </a:solidFill>
                <a:latin typeface="Arial"/>
                <a:cs typeface="Arial"/>
              </a:rPr>
              <a:t>double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diamond.</a:t>
            </a:r>
            <a:endParaRPr sz="11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The </a:t>
            </a:r>
            <a:r>
              <a:rPr sz="1100" spc="-15" dirty="0">
                <a:highlight>
                  <a:srgbClr val="FFFF00"/>
                </a:highlight>
                <a:latin typeface="Arial"/>
                <a:cs typeface="Arial"/>
              </a:rPr>
              <a:t>fact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that the </a:t>
            </a: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existence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of the </a:t>
            </a: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weak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entity  requires the </a:t>
            </a: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existence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of </a:t>
            </a: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an owner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entity is captured  </a:t>
            </a:r>
            <a:r>
              <a:rPr sz="1100" spc="-20" dirty="0">
                <a:highlight>
                  <a:srgbClr val="FFFF00"/>
                </a:highlight>
                <a:latin typeface="Arial"/>
                <a:cs typeface="Arial"/>
              </a:rPr>
              <a:t>by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the </a:t>
            </a:r>
            <a:r>
              <a:rPr sz="1100" spc="-5" dirty="0">
                <a:solidFill>
                  <a:srgbClr val="00B050"/>
                </a:solidFill>
                <a:highlight>
                  <a:srgbClr val="FFFF00"/>
                </a:highlight>
                <a:latin typeface="Arial"/>
                <a:cs typeface="Arial"/>
              </a:rPr>
              <a:t>total participation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of the </a:t>
            </a: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weak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entity type in</a:t>
            </a:r>
            <a:r>
              <a:rPr sz="1100" spc="-50" dirty="0"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the  relationship </a:t>
            </a:r>
            <a:r>
              <a:rPr sz="1100" spc="-10" dirty="0">
                <a:highlight>
                  <a:srgbClr val="FFFF00"/>
                </a:highlight>
                <a:latin typeface="Arial"/>
                <a:cs typeface="Arial"/>
              </a:rPr>
              <a:t>(</a:t>
            </a:r>
            <a:r>
              <a:rPr sz="1100" spc="-10" dirty="0">
                <a:solidFill>
                  <a:srgbClr val="00B050"/>
                </a:solidFill>
                <a:highlight>
                  <a:srgbClr val="FFFF00"/>
                </a:highlight>
                <a:latin typeface="Arial"/>
                <a:cs typeface="Arial"/>
              </a:rPr>
              <a:t>double </a:t>
            </a:r>
            <a:r>
              <a:rPr sz="1100" spc="-5" dirty="0">
                <a:solidFill>
                  <a:srgbClr val="00B050"/>
                </a:solidFill>
                <a:highlight>
                  <a:srgbClr val="FFFF00"/>
                </a:highlight>
                <a:latin typeface="Arial"/>
                <a:cs typeface="Arial"/>
              </a:rPr>
              <a:t>line</a:t>
            </a:r>
            <a:r>
              <a:rPr sz="1100" spc="-5" dirty="0">
                <a:highlight>
                  <a:srgbClr val="FFFF00"/>
                </a:highlight>
                <a:latin typeface="Arial"/>
                <a:cs typeface="Arial"/>
              </a:rPr>
              <a:t>).</a:t>
            </a:r>
            <a:endParaRPr sz="1100" dirty="0">
              <a:highlight>
                <a:srgbClr val="FFFF00"/>
              </a:highlight>
              <a:latin typeface="Arial"/>
              <a:cs typeface="Arial"/>
            </a:endParaRPr>
          </a:p>
          <a:p>
            <a:pPr marL="214629" marR="7937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</a:rPr>
              <a:t>The </a:t>
            </a:r>
            <a:r>
              <a:rPr sz="1100" i="1" dirty="0">
                <a:latin typeface="Arial"/>
                <a:cs typeface="Arial"/>
              </a:rPr>
              <a:t>primary </a:t>
            </a:r>
            <a:r>
              <a:rPr sz="1100" i="1" spc="-25" dirty="0">
                <a:latin typeface="Arial"/>
                <a:cs typeface="Arial"/>
              </a:rPr>
              <a:t>key </a:t>
            </a:r>
            <a:r>
              <a:rPr sz="1100" spc="-5" dirty="0">
                <a:latin typeface="Arial"/>
                <a:cs typeface="Arial"/>
              </a:rPr>
              <a:t>of </a:t>
            </a:r>
            <a:r>
              <a:rPr sz="1100" spc="-10" dirty="0">
                <a:latin typeface="Arial"/>
                <a:cs typeface="Arial"/>
              </a:rPr>
              <a:t>a weak </a:t>
            </a:r>
            <a:r>
              <a:rPr sz="1100" spc="-5" dirty="0">
                <a:latin typeface="Arial"/>
                <a:cs typeface="Arial"/>
              </a:rPr>
              <a:t>entity type is the  combination of the </a:t>
            </a:r>
            <a:r>
              <a:rPr sz="1100" dirty="0">
                <a:solidFill>
                  <a:srgbClr val="00B050"/>
                </a:solidFill>
                <a:latin typeface="Arial"/>
                <a:cs typeface="Arial"/>
              </a:rPr>
              <a:t>primary </a:t>
            </a:r>
            <a:r>
              <a:rPr sz="1100" spc="-25" dirty="0">
                <a:solidFill>
                  <a:srgbClr val="00B050"/>
                </a:solidFill>
                <a:latin typeface="Arial"/>
                <a:cs typeface="Arial"/>
              </a:rPr>
              <a:t>key </a:t>
            </a:r>
            <a:r>
              <a:rPr sz="1100" spc="-5" dirty="0">
                <a:solidFill>
                  <a:srgbClr val="00B050"/>
                </a:solidFill>
                <a:latin typeface="Arial"/>
                <a:cs typeface="Arial"/>
              </a:rPr>
              <a:t>of its </a:t>
            </a:r>
            <a:r>
              <a:rPr sz="1100" spc="-10" dirty="0">
                <a:solidFill>
                  <a:srgbClr val="00B050"/>
                </a:solidFill>
                <a:latin typeface="Arial"/>
                <a:cs typeface="Arial"/>
              </a:rPr>
              <a:t>owner </a:t>
            </a:r>
            <a:r>
              <a:rPr sz="1100" spc="-5" dirty="0">
                <a:solidFill>
                  <a:srgbClr val="00B050"/>
                </a:solidFill>
                <a:latin typeface="Arial"/>
                <a:cs typeface="Arial"/>
              </a:rPr>
              <a:t>type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and 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its </a:t>
            </a:r>
            <a:r>
              <a:rPr sz="1100" spc="-10" dirty="0">
                <a:solidFill>
                  <a:srgbClr val="00B050"/>
                </a:solidFill>
                <a:latin typeface="Arial"/>
                <a:cs typeface="Arial"/>
              </a:rPr>
              <a:t>discriminator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, e.g.,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(NI#,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Cname) </a:t>
            </a:r>
            <a:r>
              <a:rPr sz="1100" spc="-20" dirty="0">
                <a:solidFill>
                  <a:srgbClr val="FF0000"/>
                </a:solidFill>
                <a:latin typeface="Arial"/>
                <a:cs typeface="Arial"/>
              </a:rPr>
              <a:t>for</a:t>
            </a:r>
            <a:r>
              <a:rPr sz="1100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Child</a:t>
            </a:r>
            <a:r>
              <a:rPr sz="1100" spc="-5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18973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ISA Relationship</a:t>
            </a:r>
            <a:r>
              <a:rPr spc="-60" dirty="0"/>
              <a:t> </a:t>
            </a:r>
            <a:r>
              <a:rPr spc="-20" dirty="0"/>
              <a:t>Types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41960" y="889938"/>
            <a:ext cx="3497579" cy="16827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10" dirty="0">
                <a:latin typeface="Arial"/>
                <a:cs typeface="Arial"/>
              </a:rPr>
              <a:t>When an </a:t>
            </a:r>
            <a:r>
              <a:rPr sz="1100" spc="-5" dirty="0">
                <a:latin typeface="Arial"/>
                <a:cs typeface="Arial"/>
              </a:rPr>
              <a:t>entity type contains </a:t>
            </a:r>
            <a:r>
              <a:rPr sz="1100" dirty="0">
                <a:latin typeface="Arial"/>
                <a:cs typeface="Arial"/>
              </a:rPr>
              <a:t>certain </a:t>
            </a:r>
            <a:r>
              <a:rPr sz="1100" spc="-5" dirty="0">
                <a:solidFill>
                  <a:srgbClr val="00B050"/>
                </a:solidFill>
                <a:latin typeface="Arial"/>
                <a:cs typeface="Arial"/>
              </a:rPr>
              <a:t>entities</a:t>
            </a:r>
            <a:r>
              <a:rPr sz="1100" spc="-5" dirty="0">
                <a:latin typeface="Arial"/>
                <a:cs typeface="Arial"/>
              </a:rPr>
              <a:t> that  </a:t>
            </a:r>
            <a:r>
              <a:rPr sz="1100" spc="-20" dirty="0">
                <a:solidFill>
                  <a:srgbClr val="00B050"/>
                </a:solidFill>
                <a:latin typeface="Arial"/>
                <a:cs typeface="Arial"/>
              </a:rPr>
              <a:t>have </a:t>
            </a:r>
            <a:r>
              <a:rPr sz="1100" spc="-5" dirty="0">
                <a:solidFill>
                  <a:srgbClr val="00B050"/>
                </a:solidFill>
                <a:latin typeface="Arial"/>
                <a:cs typeface="Arial"/>
              </a:rPr>
              <a:t>special properties not shared </a:t>
            </a:r>
            <a:r>
              <a:rPr sz="1100" spc="-20" dirty="0">
                <a:solidFill>
                  <a:srgbClr val="00B050"/>
                </a:solidFill>
                <a:latin typeface="Arial"/>
                <a:cs typeface="Arial"/>
              </a:rPr>
              <a:t>by </a:t>
            </a:r>
            <a:r>
              <a:rPr sz="1100" spc="-5" dirty="0">
                <a:solidFill>
                  <a:srgbClr val="00B050"/>
                </a:solidFill>
                <a:latin typeface="Arial"/>
                <a:cs typeface="Arial"/>
              </a:rPr>
              <a:t>all </a:t>
            </a:r>
            <a:r>
              <a:rPr sz="1100" spc="-10" dirty="0">
                <a:solidFill>
                  <a:srgbClr val="00B050"/>
                </a:solidFill>
                <a:latin typeface="Arial"/>
                <a:cs typeface="Arial"/>
              </a:rPr>
              <a:t>entities</a:t>
            </a:r>
            <a:r>
              <a:rPr sz="1100" spc="-10" dirty="0">
                <a:latin typeface="Arial"/>
                <a:cs typeface="Arial"/>
              </a:rPr>
              <a:t>, </a:t>
            </a:r>
            <a:r>
              <a:rPr sz="1100" spc="-5" dirty="0">
                <a:latin typeface="Arial"/>
                <a:cs typeface="Arial"/>
              </a:rPr>
              <a:t>this  suggests </a:t>
            </a:r>
            <a:r>
              <a:rPr sz="1100" spc="-10" dirty="0">
                <a:latin typeface="Arial"/>
                <a:cs typeface="Arial"/>
              </a:rPr>
              <a:t>two </a:t>
            </a:r>
            <a:r>
              <a:rPr sz="1100" spc="-5" dirty="0">
                <a:latin typeface="Arial"/>
                <a:cs typeface="Arial"/>
              </a:rPr>
              <a:t>entity types should </a:t>
            </a:r>
            <a:r>
              <a:rPr sz="1100" spc="-10" dirty="0">
                <a:latin typeface="Arial"/>
                <a:cs typeface="Arial"/>
              </a:rPr>
              <a:t>be </a:t>
            </a:r>
            <a:r>
              <a:rPr sz="1100" spc="-5" dirty="0">
                <a:latin typeface="Arial"/>
                <a:cs typeface="Arial"/>
              </a:rPr>
              <a:t>created with </a:t>
            </a:r>
            <a:r>
              <a:rPr sz="1100" spc="-10" dirty="0">
                <a:latin typeface="Arial"/>
                <a:cs typeface="Arial"/>
              </a:rPr>
              <a:t>an  </a:t>
            </a:r>
            <a:r>
              <a:rPr sz="1100" spc="-5" dirty="0">
                <a:solidFill>
                  <a:srgbClr val="00B050"/>
                </a:solidFill>
                <a:latin typeface="Arial"/>
                <a:cs typeface="Arial"/>
              </a:rPr>
              <a:t>ISA</a:t>
            </a:r>
            <a:r>
              <a:rPr sz="1100" spc="-5" dirty="0">
                <a:latin typeface="Arial"/>
                <a:cs typeface="Arial"/>
              </a:rPr>
              <a:t> relationship type </a:t>
            </a:r>
            <a:r>
              <a:rPr sz="1100" spc="-10" dirty="0">
                <a:latin typeface="Arial"/>
                <a:cs typeface="Arial"/>
              </a:rPr>
              <a:t>between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them.</a:t>
            </a:r>
            <a:endParaRPr sz="1100" dirty="0">
              <a:latin typeface="Arial"/>
              <a:cs typeface="Arial"/>
            </a:endParaRPr>
          </a:p>
          <a:p>
            <a:pPr marL="214629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Also </a:t>
            </a:r>
            <a:r>
              <a:rPr sz="1100" spc="-10" dirty="0">
                <a:latin typeface="Arial"/>
                <a:cs typeface="Arial"/>
              </a:rPr>
              <a:t>known </a:t>
            </a:r>
            <a:r>
              <a:rPr sz="1100" spc="-5" dirty="0">
                <a:latin typeface="Arial"/>
                <a:cs typeface="Arial"/>
              </a:rPr>
              <a:t>as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generalisation/specialisation.</a:t>
            </a:r>
            <a:endParaRPr sz="1100" dirty="0">
              <a:latin typeface="Arial"/>
              <a:cs typeface="Arial"/>
            </a:endParaRPr>
          </a:p>
          <a:p>
            <a:pPr marL="214629" marR="27686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E.g. </a:t>
            </a:r>
            <a:r>
              <a:rPr sz="1100" spc="-10" dirty="0">
                <a:latin typeface="Arial"/>
                <a:cs typeface="Arial"/>
              </a:rPr>
              <a:t>An </a:t>
            </a:r>
            <a:r>
              <a:rPr sz="1100" spc="-15" dirty="0">
                <a:latin typeface="Arial"/>
                <a:cs typeface="Arial"/>
              </a:rPr>
              <a:t>Employee </a:t>
            </a:r>
            <a:r>
              <a:rPr sz="1100" spc="-5" dirty="0">
                <a:latin typeface="Arial"/>
                <a:cs typeface="Arial"/>
              </a:rPr>
              <a:t>ISA </a:t>
            </a:r>
            <a:r>
              <a:rPr sz="1100" spc="-15" dirty="0">
                <a:latin typeface="Arial"/>
                <a:cs typeface="Arial"/>
              </a:rPr>
              <a:t>Person </a:t>
            </a:r>
            <a:r>
              <a:rPr sz="1100" spc="-10" dirty="0">
                <a:latin typeface="Arial"/>
                <a:cs typeface="Arial"/>
              </a:rPr>
              <a:t>and a </a:t>
            </a:r>
            <a:r>
              <a:rPr sz="1100" spc="-5" dirty="0">
                <a:latin typeface="Arial"/>
                <a:cs typeface="Arial"/>
              </a:rPr>
              <a:t>Student ISA  </a:t>
            </a:r>
            <a:r>
              <a:rPr sz="1100" spc="-15" dirty="0">
                <a:latin typeface="Arial"/>
                <a:cs typeface="Arial"/>
              </a:rPr>
              <a:t>Person </a:t>
            </a:r>
            <a:r>
              <a:rPr sz="1100" spc="-5" dirty="0">
                <a:latin typeface="Arial"/>
                <a:cs typeface="Arial"/>
              </a:rPr>
              <a:t>(see </a:t>
            </a:r>
            <a:r>
              <a:rPr sz="1100" spc="-15" dirty="0">
                <a:latin typeface="Arial"/>
                <a:cs typeface="Arial"/>
              </a:rPr>
              <a:t>next</a:t>
            </a:r>
            <a:r>
              <a:rPr sz="1100" spc="-5" dirty="0">
                <a:latin typeface="Arial"/>
                <a:cs typeface="Arial"/>
              </a:rPr>
              <a:t> slide)</a:t>
            </a:r>
            <a:endParaRPr sz="1100" dirty="0">
              <a:latin typeface="Arial"/>
              <a:cs typeface="Arial"/>
            </a:endParaRPr>
          </a:p>
          <a:p>
            <a:pPr marL="214629" marR="19748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If </a:t>
            </a:r>
            <a:r>
              <a:rPr sz="1100" spc="-15" dirty="0">
                <a:latin typeface="Arial"/>
                <a:cs typeface="Arial"/>
              </a:rPr>
              <a:t>Employee </a:t>
            </a:r>
            <a:r>
              <a:rPr sz="1100" spc="-5" dirty="0">
                <a:latin typeface="Arial"/>
                <a:cs typeface="Arial"/>
              </a:rPr>
              <a:t>ISA </a:t>
            </a:r>
            <a:r>
              <a:rPr sz="1100" spc="-15" dirty="0">
                <a:latin typeface="Arial"/>
                <a:cs typeface="Arial"/>
              </a:rPr>
              <a:t>Person </a:t>
            </a:r>
            <a:r>
              <a:rPr sz="1100" spc="-5" dirty="0">
                <a:latin typeface="Arial"/>
                <a:cs typeface="Arial"/>
              </a:rPr>
              <a:t>then </a:t>
            </a:r>
            <a:r>
              <a:rPr sz="1100" spc="-15" dirty="0">
                <a:latin typeface="Arial"/>
                <a:cs typeface="Arial"/>
              </a:rPr>
              <a:t>Employee </a:t>
            </a:r>
            <a:r>
              <a:rPr sz="1100" i="1" spc="-5" dirty="0">
                <a:latin typeface="Arial"/>
                <a:cs typeface="Arial"/>
              </a:rPr>
              <a:t>inherits </a:t>
            </a:r>
            <a:r>
              <a:rPr sz="1100" spc="-5" dirty="0">
                <a:latin typeface="Arial"/>
                <a:cs typeface="Arial"/>
              </a:rPr>
              <a:t>all  the attributes of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15" dirty="0">
                <a:latin typeface="Arial"/>
                <a:cs typeface="Arial"/>
              </a:rPr>
              <a:t>Person.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14636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ISA</a:t>
            </a:r>
            <a:r>
              <a:rPr spc="-60" dirty="0"/>
              <a:t> </a:t>
            </a:r>
            <a:r>
              <a:rPr spc="15" dirty="0"/>
              <a:t>Relationships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675933" y="1131469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915"/>
              </a:spcBef>
            </a:pPr>
            <a:r>
              <a:rPr sz="1100" spc="-15" dirty="0">
                <a:latin typeface="Arial"/>
                <a:cs typeface="Arial"/>
              </a:rPr>
              <a:t>Person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255368" y="710905"/>
            <a:ext cx="692785" cy="277495"/>
          </a:xfrm>
          <a:custGeom>
            <a:avLst/>
            <a:gdLst/>
            <a:ahLst/>
            <a:cxnLst/>
            <a:rect l="l" t="t" r="r" b="b"/>
            <a:pathLst>
              <a:path w="692785" h="277494">
                <a:moveTo>
                  <a:pt x="692736" y="138546"/>
                </a:moveTo>
                <a:lnTo>
                  <a:pt x="671067" y="90202"/>
                </a:lnTo>
                <a:lnTo>
                  <a:pt x="611276" y="49282"/>
                </a:lnTo>
                <a:lnTo>
                  <a:pt x="569530" y="32583"/>
                </a:lnTo>
                <a:lnTo>
                  <a:pt x="521188" y="18915"/>
                </a:lnTo>
                <a:lnTo>
                  <a:pt x="467228" y="8667"/>
                </a:lnTo>
                <a:lnTo>
                  <a:pt x="408629" y="2232"/>
                </a:lnTo>
                <a:lnTo>
                  <a:pt x="346368" y="0"/>
                </a:lnTo>
                <a:lnTo>
                  <a:pt x="284107" y="2232"/>
                </a:lnTo>
                <a:lnTo>
                  <a:pt x="225508" y="8667"/>
                </a:lnTo>
                <a:lnTo>
                  <a:pt x="171548" y="18915"/>
                </a:lnTo>
                <a:lnTo>
                  <a:pt x="123206" y="32583"/>
                </a:lnTo>
                <a:lnTo>
                  <a:pt x="81460" y="49282"/>
                </a:lnTo>
                <a:lnTo>
                  <a:pt x="47288" y="68618"/>
                </a:lnTo>
                <a:lnTo>
                  <a:pt x="5580" y="113642"/>
                </a:lnTo>
                <a:lnTo>
                  <a:pt x="0" y="138546"/>
                </a:lnTo>
                <a:lnTo>
                  <a:pt x="5580" y="163451"/>
                </a:lnTo>
                <a:lnTo>
                  <a:pt x="47288" y="208475"/>
                </a:lnTo>
                <a:lnTo>
                  <a:pt x="81460" y="227811"/>
                </a:lnTo>
                <a:lnTo>
                  <a:pt x="123206" y="244510"/>
                </a:lnTo>
                <a:lnTo>
                  <a:pt x="171548" y="258179"/>
                </a:lnTo>
                <a:lnTo>
                  <a:pt x="225508" y="268427"/>
                </a:lnTo>
                <a:lnTo>
                  <a:pt x="284107" y="274862"/>
                </a:lnTo>
                <a:lnTo>
                  <a:pt x="346368" y="277094"/>
                </a:lnTo>
                <a:lnTo>
                  <a:pt x="408629" y="274862"/>
                </a:lnTo>
                <a:lnTo>
                  <a:pt x="467228" y="268427"/>
                </a:lnTo>
                <a:lnTo>
                  <a:pt x="521188" y="258179"/>
                </a:lnTo>
                <a:lnTo>
                  <a:pt x="569530" y="244510"/>
                </a:lnTo>
                <a:lnTo>
                  <a:pt x="611276" y="227811"/>
                </a:lnTo>
                <a:lnTo>
                  <a:pt x="645447" y="208475"/>
                </a:lnTo>
                <a:lnTo>
                  <a:pt x="687156" y="163451"/>
                </a:lnTo>
                <a:lnTo>
                  <a:pt x="692736" y="138546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404289" y="746771"/>
            <a:ext cx="3949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Name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737015" y="984666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139700" h="139700">
                <a:moveTo>
                  <a:pt x="0" y="0"/>
                </a:moveTo>
                <a:lnTo>
                  <a:pt x="139252" y="139212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167740" y="693628"/>
            <a:ext cx="827405" cy="311785"/>
          </a:xfrm>
          <a:custGeom>
            <a:avLst/>
            <a:gdLst/>
            <a:ahLst/>
            <a:cxnLst/>
            <a:rect l="l" t="t" r="r" b="b"/>
            <a:pathLst>
              <a:path w="827405" h="311784">
                <a:moveTo>
                  <a:pt x="827349" y="155823"/>
                </a:moveTo>
                <a:lnTo>
                  <a:pt x="806260" y="106571"/>
                </a:lnTo>
                <a:lnTo>
                  <a:pt x="747534" y="63795"/>
                </a:lnTo>
                <a:lnTo>
                  <a:pt x="706187" y="45639"/>
                </a:lnTo>
                <a:lnTo>
                  <a:pt x="657986" y="30064"/>
                </a:lnTo>
                <a:lnTo>
                  <a:pt x="603783" y="17392"/>
                </a:lnTo>
                <a:lnTo>
                  <a:pt x="544428" y="7943"/>
                </a:lnTo>
                <a:lnTo>
                  <a:pt x="480775" y="2039"/>
                </a:lnTo>
                <a:lnTo>
                  <a:pt x="413674" y="0"/>
                </a:lnTo>
                <a:lnTo>
                  <a:pt x="346573" y="2039"/>
                </a:lnTo>
                <a:lnTo>
                  <a:pt x="282920" y="7943"/>
                </a:lnTo>
                <a:lnTo>
                  <a:pt x="223565" y="17392"/>
                </a:lnTo>
                <a:lnTo>
                  <a:pt x="169362" y="30064"/>
                </a:lnTo>
                <a:lnTo>
                  <a:pt x="121161" y="45639"/>
                </a:lnTo>
                <a:lnTo>
                  <a:pt x="79814" y="63795"/>
                </a:lnTo>
                <a:lnTo>
                  <a:pt x="46173" y="84213"/>
                </a:lnTo>
                <a:lnTo>
                  <a:pt x="5414" y="130548"/>
                </a:lnTo>
                <a:lnTo>
                  <a:pt x="0" y="155823"/>
                </a:lnTo>
                <a:lnTo>
                  <a:pt x="5414" y="181099"/>
                </a:lnTo>
                <a:lnTo>
                  <a:pt x="46173" y="227434"/>
                </a:lnTo>
                <a:lnTo>
                  <a:pt x="79814" y="247852"/>
                </a:lnTo>
                <a:lnTo>
                  <a:pt x="121161" y="266009"/>
                </a:lnTo>
                <a:lnTo>
                  <a:pt x="169362" y="281584"/>
                </a:lnTo>
                <a:lnTo>
                  <a:pt x="223565" y="294256"/>
                </a:lnTo>
                <a:lnTo>
                  <a:pt x="282920" y="303705"/>
                </a:lnTo>
                <a:lnTo>
                  <a:pt x="346573" y="309609"/>
                </a:lnTo>
                <a:lnTo>
                  <a:pt x="413674" y="311649"/>
                </a:lnTo>
                <a:lnTo>
                  <a:pt x="480775" y="309609"/>
                </a:lnTo>
                <a:lnTo>
                  <a:pt x="544428" y="303705"/>
                </a:lnTo>
                <a:lnTo>
                  <a:pt x="603783" y="294256"/>
                </a:lnTo>
                <a:lnTo>
                  <a:pt x="657986" y="281584"/>
                </a:lnTo>
                <a:lnTo>
                  <a:pt x="706187" y="266009"/>
                </a:lnTo>
                <a:lnTo>
                  <a:pt x="747534" y="247852"/>
                </a:lnTo>
                <a:lnTo>
                  <a:pt x="781176" y="227434"/>
                </a:lnTo>
                <a:lnTo>
                  <a:pt x="821934" y="181099"/>
                </a:lnTo>
                <a:lnTo>
                  <a:pt x="827349" y="155823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2322372" y="732915"/>
            <a:ext cx="51815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Number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306882" y="1002211"/>
            <a:ext cx="121920" cy="121920"/>
          </a:xfrm>
          <a:custGeom>
            <a:avLst/>
            <a:gdLst/>
            <a:ahLst/>
            <a:cxnLst/>
            <a:rect l="l" t="t" r="r" b="b"/>
            <a:pathLst>
              <a:path w="121919" h="121919">
                <a:moveTo>
                  <a:pt x="121712" y="0"/>
                </a:moveTo>
                <a:lnTo>
                  <a:pt x="0" y="121667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19945" y="1656387"/>
            <a:ext cx="543560" cy="470534"/>
          </a:xfrm>
          <a:custGeom>
            <a:avLst/>
            <a:gdLst/>
            <a:ahLst/>
            <a:cxnLst/>
            <a:rect l="l" t="t" r="r" b="b"/>
            <a:pathLst>
              <a:path w="543560" h="470535">
                <a:moveTo>
                  <a:pt x="271630" y="470490"/>
                </a:moveTo>
                <a:lnTo>
                  <a:pt x="543260" y="0"/>
                </a:lnTo>
                <a:lnTo>
                  <a:pt x="0" y="0"/>
                </a:lnTo>
                <a:lnTo>
                  <a:pt x="271630" y="470490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967204" y="1653208"/>
            <a:ext cx="248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Arial"/>
                <a:cs typeface="Arial"/>
              </a:rPr>
              <a:t>ISA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719092" y="1554703"/>
            <a:ext cx="745490" cy="572770"/>
          </a:xfrm>
          <a:custGeom>
            <a:avLst/>
            <a:gdLst/>
            <a:ahLst/>
            <a:cxnLst/>
            <a:rect l="l" t="t" r="r" b="b"/>
            <a:pathLst>
              <a:path w="745489" h="572769">
                <a:moveTo>
                  <a:pt x="372501" y="94068"/>
                </a:moveTo>
                <a:lnTo>
                  <a:pt x="372483" y="0"/>
                </a:lnTo>
              </a:path>
              <a:path w="745489" h="572769">
                <a:moveTo>
                  <a:pt x="0" y="572623"/>
                </a:moveTo>
                <a:lnTo>
                  <a:pt x="230785" y="341932"/>
                </a:lnTo>
              </a:path>
              <a:path w="745489" h="572769">
                <a:moveTo>
                  <a:pt x="744975" y="572623"/>
                </a:moveTo>
                <a:lnTo>
                  <a:pt x="514202" y="341934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7566" y="2184758"/>
            <a:ext cx="692785" cy="316230"/>
          </a:xfrm>
          <a:custGeom>
            <a:avLst/>
            <a:gdLst/>
            <a:ahLst/>
            <a:cxnLst/>
            <a:rect l="l" t="t" r="r" b="b"/>
            <a:pathLst>
              <a:path w="692785" h="316230">
                <a:moveTo>
                  <a:pt x="692740" y="157981"/>
                </a:moveTo>
                <a:lnTo>
                  <a:pt x="671070" y="102856"/>
                </a:lnTo>
                <a:lnTo>
                  <a:pt x="611278" y="56195"/>
                </a:lnTo>
                <a:lnTo>
                  <a:pt x="569532" y="37155"/>
                </a:lnTo>
                <a:lnTo>
                  <a:pt x="521189" y="21568"/>
                </a:lnTo>
                <a:lnTo>
                  <a:pt x="467229" y="9883"/>
                </a:lnTo>
                <a:lnTo>
                  <a:pt x="408629" y="2545"/>
                </a:lnTo>
                <a:lnTo>
                  <a:pt x="346367" y="0"/>
                </a:lnTo>
                <a:lnTo>
                  <a:pt x="284108" y="2545"/>
                </a:lnTo>
                <a:lnTo>
                  <a:pt x="225510" y="9883"/>
                </a:lnTo>
                <a:lnTo>
                  <a:pt x="171551" y="21568"/>
                </a:lnTo>
                <a:lnTo>
                  <a:pt x="123209" y="37155"/>
                </a:lnTo>
                <a:lnTo>
                  <a:pt x="81463" y="56195"/>
                </a:lnTo>
                <a:lnTo>
                  <a:pt x="47290" y="78244"/>
                </a:lnTo>
                <a:lnTo>
                  <a:pt x="5580" y="129584"/>
                </a:lnTo>
                <a:lnTo>
                  <a:pt x="0" y="157981"/>
                </a:lnTo>
                <a:lnTo>
                  <a:pt x="5580" y="186378"/>
                </a:lnTo>
                <a:lnTo>
                  <a:pt x="47290" y="237717"/>
                </a:lnTo>
                <a:lnTo>
                  <a:pt x="81463" y="259766"/>
                </a:lnTo>
                <a:lnTo>
                  <a:pt x="123209" y="278807"/>
                </a:lnTo>
                <a:lnTo>
                  <a:pt x="171551" y="294393"/>
                </a:lnTo>
                <a:lnTo>
                  <a:pt x="225510" y="306078"/>
                </a:lnTo>
                <a:lnTo>
                  <a:pt x="284108" y="313416"/>
                </a:lnTo>
                <a:lnTo>
                  <a:pt x="346367" y="315962"/>
                </a:lnTo>
                <a:lnTo>
                  <a:pt x="408629" y="313416"/>
                </a:lnTo>
                <a:lnTo>
                  <a:pt x="467229" y="306078"/>
                </a:lnTo>
                <a:lnTo>
                  <a:pt x="521189" y="294393"/>
                </a:lnTo>
                <a:lnTo>
                  <a:pt x="569532" y="278807"/>
                </a:lnTo>
                <a:lnTo>
                  <a:pt x="611278" y="259766"/>
                </a:lnTo>
                <a:lnTo>
                  <a:pt x="645451" y="237717"/>
                </a:lnTo>
                <a:lnTo>
                  <a:pt x="687160" y="186378"/>
                </a:lnTo>
                <a:lnTo>
                  <a:pt x="692740" y="157981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22859" y="2227845"/>
            <a:ext cx="15970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76300" algn="l"/>
              </a:tabLst>
            </a:pPr>
            <a:r>
              <a:rPr sz="1100" dirty="0">
                <a:latin typeface="Arial"/>
                <a:cs typeface="Arial"/>
              </a:rPr>
              <a:t>Salary	</a:t>
            </a:r>
            <a:r>
              <a:rPr sz="1100" spc="-15" dirty="0">
                <a:latin typeface="Arial"/>
                <a:cs typeface="Arial"/>
              </a:rPr>
              <a:t>Employee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87898" y="2342739"/>
            <a:ext cx="193040" cy="0"/>
          </a:xfrm>
          <a:custGeom>
            <a:avLst/>
            <a:gdLst/>
            <a:ahLst/>
            <a:cxnLst/>
            <a:rect l="l" t="t" r="r" b="b"/>
            <a:pathLst>
              <a:path w="193040">
                <a:moveTo>
                  <a:pt x="0" y="0"/>
                </a:moveTo>
                <a:lnTo>
                  <a:pt x="192637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263740" y="2134918"/>
            <a:ext cx="831850" cy="415925"/>
          </a:xfrm>
          <a:prstGeom prst="rect">
            <a:avLst/>
          </a:prstGeom>
          <a:ln w="15183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925"/>
              </a:spcBef>
            </a:pPr>
            <a:r>
              <a:rPr sz="1100" spc="-5" dirty="0">
                <a:latin typeface="Arial"/>
                <a:cs typeface="Arial"/>
              </a:rPr>
              <a:t>Student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263655" y="2185835"/>
            <a:ext cx="771525" cy="314325"/>
          </a:xfrm>
          <a:custGeom>
            <a:avLst/>
            <a:gdLst/>
            <a:ahLst/>
            <a:cxnLst/>
            <a:rect l="l" t="t" r="r" b="b"/>
            <a:pathLst>
              <a:path w="771525" h="314325">
                <a:moveTo>
                  <a:pt x="771109" y="156904"/>
                </a:moveTo>
                <a:lnTo>
                  <a:pt x="751455" y="107310"/>
                </a:lnTo>
                <a:lnTo>
                  <a:pt x="696724" y="64238"/>
                </a:lnTo>
                <a:lnTo>
                  <a:pt x="658189" y="45955"/>
                </a:lnTo>
                <a:lnTo>
                  <a:pt x="613265" y="30273"/>
                </a:lnTo>
                <a:lnTo>
                  <a:pt x="562748" y="17513"/>
                </a:lnTo>
                <a:lnTo>
                  <a:pt x="507429" y="7998"/>
                </a:lnTo>
                <a:lnTo>
                  <a:pt x="448103" y="2053"/>
                </a:lnTo>
                <a:lnTo>
                  <a:pt x="385563" y="0"/>
                </a:lnTo>
                <a:lnTo>
                  <a:pt x="323022" y="2053"/>
                </a:lnTo>
                <a:lnTo>
                  <a:pt x="263695" y="7998"/>
                </a:lnTo>
                <a:lnTo>
                  <a:pt x="208374" y="17513"/>
                </a:lnTo>
                <a:lnTo>
                  <a:pt x="157854" y="30273"/>
                </a:lnTo>
                <a:lnTo>
                  <a:pt x="112928" y="45955"/>
                </a:lnTo>
                <a:lnTo>
                  <a:pt x="74391" y="64238"/>
                </a:lnTo>
                <a:lnTo>
                  <a:pt x="19656" y="107310"/>
                </a:lnTo>
                <a:lnTo>
                  <a:pt x="0" y="156904"/>
                </a:lnTo>
                <a:lnTo>
                  <a:pt x="5046" y="182355"/>
                </a:lnTo>
                <a:lnTo>
                  <a:pt x="43035" y="229011"/>
                </a:lnTo>
                <a:lnTo>
                  <a:pt x="112928" y="267852"/>
                </a:lnTo>
                <a:lnTo>
                  <a:pt x="157854" y="283535"/>
                </a:lnTo>
                <a:lnTo>
                  <a:pt x="208374" y="296294"/>
                </a:lnTo>
                <a:lnTo>
                  <a:pt x="263695" y="305809"/>
                </a:lnTo>
                <a:lnTo>
                  <a:pt x="323022" y="311754"/>
                </a:lnTo>
                <a:lnTo>
                  <a:pt x="385563" y="313808"/>
                </a:lnTo>
                <a:lnTo>
                  <a:pt x="448103" y="311754"/>
                </a:lnTo>
                <a:lnTo>
                  <a:pt x="507429" y="305809"/>
                </a:lnTo>
                <a:lnTo>
                  <a:pt x="562748" y="296294"/>
                </a:lnTo>
                <a:lnTo>
                  <a:pt x="613265" y="283535"/>
                </a:lnTo>
                <a:lnTo>
                  <a:pt x="658189" y="267852"/>
                </a:lnTo>
                <a:lnTo>
                  <a:pt x="696724" y="249570"/>
                </a:lnTo>
                <a:lnTo>
                  <a:pt x="751455" y="206498"/>
                </a:lnTo>
                <a:lnTo>
                  <a:pt x="771109" y="156904"/>
                </a:lnTo>
                <a:close/>
              </a:path>
            </a:pathLst>
          </a:custGeom>
          <a:ln w="151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410038" y="2225419"/>
            <a:ext cx="4787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De</a:t>
            </a:r>
            <a:r>
              <a:rPr sz="1100" spc="-25" dirty="0">
                <a:latin typeface="Arial"/>
                <a:cs typeface="Arial"/>
              </a:rPr>
              <a:t>g</a:t>
            </a:r>
            <a:r>
              <a:rPr sz="1100" spc="-5" dirty="0">
                <a:latin typeface="Arial"/>
                <a:cs typeface="Arial"/>
              </a:rPr>
              <a:t>ree</a:t>
            </a:r>
            <a:endParaRPr sz="11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102615" y="2342739"/>
            <a:ext cx="153670" cy="0"/>
          </a:xfrm>
          <a:custGeom>
            <a:avLst/>
            <a:gdLst/>
            <a:ahLst/>
            <a:cxnLst/>
            <a:rect l="l" t="t" r="r" b="b"/>
            <a:pathLst>
              <a:path w="153670">
                <a:moveTo>
                  <a:pt x="153447" y="0"/>
                </a:moveTo>
                <a:lnTo>
                  <a:pt x="0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41960" y="2762933"/>
            <a:ext cx="3392804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Attributes of </a:t>
            </a:r>
            <a:r>
              <a:rPr sz="1100" spc="-15" dirty="0">
                <a:latin typeface="Arial"/>
                <a:cs typeface="Arial"/>
              </a:rPr>
              <a:t>Employee: </a:t>
            </a:r>
            <a:r>
              <a:rPr sz="1100" spc="-10" dirty="0">
                <a:latin typeface="Arial"/>
                <a:cs typeface="Arial"/>
              </a:rPr>
              <a:t>Name, Number and</a:t>
            </a:r>
            <a:r>
              <a:rPr sz="1100" spc="9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Salary.</a:t>
            </a:r>
            <a:endParaRPr sz="1100">
              <a:latin typeface="Arial"/>
              <a:cs typeface="Arial"/>
            </a:endParaRPr>
          </a:p>
          <a:p>
            <a:pPr marL="214629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Char char="►"/>
              <a:tabLst>
                <a:tab pos="215265" algn="l"/>
              </a:tabLst>
            </a:pPr>
            <a:r>
              <a:rPr sz="1100" spc="-5" dirty="0">
                <a:latin typeface="Arial"/>
                <a:cs typeface="Arial"/>
              </a:rPr>
              <a:t>Attributes of Student: </a:t>
            </a:r>
            <a:r>
              <a:rPr sz="1100" spc="-10" dirty="0">
                <a:latin typeface="Arial"/>
                <a:cs typeface="Arial"/>
              </a:rPr>
              <a:t>Name, Number and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Degree.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3" name="صورة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7" y="557206"/>
            <a:ext cx="3157677" cy="204320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3">
            <a:extLst>
              <a:ext uri="{FF2B5EF4-FFF2-40B4-BE49-F238E27FC236}">
                <a16:creationId xmlns:a16="http://schemas.microsoft.com/office/drawing/2014/main" id="{D7F1A5FD-9F7E-D94C-4EE0-EA479D409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CA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rgbClr val="990033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r>
              <a:rPr lang="en-US" altLang="en-US"/>
              <a:t>Slide 4- </a:t>
            </a:r>
            <a:fld id="{4ED88D6F-4767-4332-8D56-D7C4DC856B62}" type="slidenum">
              <a:rPr lang="en-US" altLang="en-US" smtClean="0"/>
              <a:pPr/>
              <a:t>33</a:t>
            </a:fld>
            <a:endParaRPr lang="en-CA" altLang="en-US" sz="706">
              <a:solidFill>
                <a:srgbClr val="990033"/>
              </a:solidFill>
            </a:endParaRPr>
          </a:p>
        </p:txBody>
      </p:sp>
      <p:pic>
        <p:nvPicPr>
          <p:cNvPr id="39938" name="Picture 3" descr="fig04_01">
            <a:extLst>
              <a:ext uri="{FF2B5EF4-FFF2-40B4-BE49-F238E27FC236}">
                <a16:creationId xmlns:a16="http://schemas.microsoft.com/office/drawing/2014/main" id="{BD857E2A-981B-88DF-0103-0D066CCCD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587375"/>
            <a:ext cx="3918585" cy="2489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Text Box 4" descr="Pink tissue paper">
            <a:extLst>
              <a:ext uri="{FF2B5EF4-FFF2-40B4-BE49-F238E27FC236}">
                <a16:creationId xmlns:a16="http://schemas.microsoft.com/office/drawing/2014/main" id="{397D1A67-73E7-4451-A19D-FE7062B9E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130175"/>
            <a:ext cx="3495993" cy="340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13" dirty="0">
                <a:solidFill>
                  <a:srgbClr val="800000"/>
                </a:solidFill>
              </a:rPr>
              <a:t>Specialization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3">
            <a:extLst>
              <a:ext uri="{FF2B5EF4-FFF2-40B4-BE49-F238E27FC236}">
                <a16:creationId xmlns:a16="http://schemas.microsoft.com/office/drawing/2014/main" id="{CCF15EB5-EC22-F447-A621-CAC8A1ECB2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CA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rgbClr val="990033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r>
              <a:rPr lang="en-US" altLang="en-US"/>
              <a:t>Slide 4- </a:t>
            </a:r>
            <a:fld id="{4ED88D6F-4767-4332-8D56-D7C4DC856B62}" type="slidenum">
              <a:rPr lang="en-US" altLang="en-US" smtClean="0"/>
              <a:pPr/>
              <a:t>34</a:t>
            </a:fld>
            <a:endParaRPr lang="en-CA" altLang="en-US" sz="706">
              <a:solidFill>
                <a:srgbClr val="990033"/>
              </a:solidFill>
            </a:endParaRPr>
          </a:p>
        </p:txBody>
      </p:sp>
      <p:pic>
        <p:nvPicPr>
          <p:cNvPr id="44034" name="Picture 3" descr="fig04_03">
            <a:extLst>
              <a:ext uri="{FF2B5EF4-FFF2-40B4-BE49-F238E27FC236}">
                <a16:creationId xmlns:a16="http://schemas.microsoft.com/office/drawing/2014/main" id="{3F5BB2D1-3BA5-6022-737F-508FEEC13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808355"/>
            <a:ext cx="3649663" cy="244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Text Box 4" descr="Pink tissue paper">
            <a:extLst>
              <a:ext uri="{FF2B5EF4-FFF2-40B4-BE49-F238E27FC236}">
                <a16:creationId xmlns:a16="http://schemas.microsoft.com/office/drawing/2014/main" id="{C5667431-C6DC-4A80-4A6A-56074E675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23" y="362552"/>
            <a:ext cx="2842895" cy="30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12" dirty="0">
                <a:solidFill>
                  <a:srgbClr val="800000"/>
                </a:solidFill>
              </a:rPr>
              <a:t>Generalization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33635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Informal </a:t>
            </a:r>
            <a:r>
              <a:rPr spc="15" dirty="0"/>
              <a:t>Method </a:t>
            </a:r>
            <a:r>
              <a:rPr spc="-5" dirty="0"/>
              <a:t>for </a:t>
            </a:r>
            <a:r>
              <a:rPr spc="15" dirty="0"/>
              <a:t>Constructing an</a:t>
            </a:r>
            <a:r>
              <a:rPr spc="10" dirty="0"/>
              <a:t> </a:t>
            </a:r>
            <a:r>
              <a:rPr spc="20" dirty="0"/>
              <a:t>ERD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59575" y="405204"/>
            <a:ext cx="3357879" cy="2867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8905" marR="27305" indent="-12890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SzPct val="90909"/>
              <a:buAutoNum type="arabicPeriod"/>
              <a:tabLst>
                <a:tab pos="128905" algn="l"/>
              </a:tabLst>
            </a:pPr>
            <a:r>
              <a:rPr sz="1100" spc="-5" dirty="0">
                <a:latin typeface="Arial"/>
                <a:cs typeface="Arial"/>
              </a:rPr>
              <a:t>Identify the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entity types </a:t>
            </a:r>
            <a:r>
              <a:rPr sz="1100" spc="-5" dirty="0">
                <a:latin typeface="Arial"/>
                <a:cs typeface="Arial"/>
              </a:rPr>
              <a:t>(including </a:t>
            </a:r>
            <a:r>
              <a:rPr sz="1100" spc="-10" dirty="0">
                <a:solidFill>
                  <a:srgbClr val="FF0000"/>
                </a:solidFill>
                <a:latin typeface="Arial"/>
                <a:cs typeface="Arial"/>
              </a:rPr>
              <a:t>weak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entity</a:t>
            </a:r>
            <a:r>
              <a:rPr sz="11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FF0000"/>
                </a:solidFill>
                <a:latin typeface="Arial"/>
                <a:cs typeface="Arial"/>
              </a:rPr>
              <a:t>types</a:t>
            </a:r>
            <a:r>
              <a:rPr sz="1100" spc="-5" dirty="0">
                <a:latin typeface="Arial"/>
                <a:cs typeface="Arial"/>
              </a:rPr>
              <a:t>)  of 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application.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25299"/>
              </a:lnSpc>
              <a:buClr>
                <a:srgbClr val="3333B2"/>
              </a:buClr>
              <a:buSzPct val="90909"/>
              <a:buAutoNum type="arabicPeriod"/>
              <a:tabLst>
                <a:tab pos="128905" algn="l"/>
              </a:tabLst>
            </a:pPr>
            <a:r>
              <a:rPr sz="1100" spc="-5" dirty="0">
                <a:latin typeface="Arial"/>
                <a:cs typeface="Arial"/>
              </a:rPr>
              <a:t>Identify the relationship (including </a:t>
            </a:r>
            <a:r>
              <a:rPr sz="1100" spc="-5" dirty="0">
                <a:solidFill>
                  <a:srgbClr val="00B050"/>
                </a:solidFill>
                <a:latin typeface="Arial"/>
                <a:cs typeface="Arial"/>
              </a:rPr>
              <a:t>ISA</a:t>
            </a:r>
            <a:r>
              <a:rPr lang="en-US" sz="1100" spc="-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sz="1100" spc="-5" dirty="0">
                <a:latin typeface="Arial"/>
                <a:cs typeface="Arial"/>
              </a:rPr>
              <a:t>and </a:t>
            </a:r>
            <a:r>
              <a:rPr lang="en-US" sz="1100" spc="-5" dirty="0">
                <a:solidFill>
                  <a:srgbClr val="00B050"/>
                </a:solidFill>
                <a:latin typeface="Arial"/>
                <a:cs typeface="Arial"/>
              </a:rPr>
              <a:t>ID</a:t>
            </a:r>
            <a:r>
              <a:rPr sz="1100" spc="-5" dirty="0">
                <a:latin typeface="Arial"/>
                <a:cs typeface="Arial"/>
              </a:rPr>
              <a:t>)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types.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3.</a:t>
            </a:r>
            <a:r>
              <a:rPr sz="1100" spc="-5" dirty="0">
                <a:latin typeface="Arial"/>
                <a:cs typeface="Arial"/>
              </a:rPr>
              <a:t>Classify </a:t>
            </a: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5" dirty="0">
                <a:latin typeface="Arial"/>
                <a:cs typeface="Arial"/>
              </a:rPr>
              <a:t>relationship type identified in step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2</a:t>
            </a:r>
            <a:endParaRPr sz="1100" dirty="0">
              <a:latin typeface="Arial"/>
              <a:cs typeface="Arial"/>
            </a:endParaRPr>
          </a:p>
          <a:p>
            <a:pPr marL="197485" marR="83820">
              <a:lnSpc>
                <a:spcPct val="102600"/>
              </a:lnSpc>
            </a:pPr>
            <a:r>
              <a:rPr sz="1100" spc="-5" dirty="0">
                <a:latin typeface="Arial"/>
                <a:cs typeface="Arial"/>
              </a:rPr>
              <a:t>according to its </a:t>
            </a:r>
            <a:r>
              <a:rPr sz="1100" spc="-15" dirty="0">
                <a:latin typeface="Arial"/>
                <a:cs typeface="Arial"/>
              </a:rPr>
              <a:t>multiplicity, </a:t>
            </a:r>
            <a:r>
              <a:rPr sz="1100" spc="-10" dirty="0">
                <a:latin typeface="Arial"/>
                <a:cs typeface="Arial"/>
              </a:rPr>
              <a:t>i.e. </a:t>
            </a:r>
            <a:r>
              <a:rPr sz="1100" spc="-5" dirty="0">
                <a:latin typeface="Arial"/>
                <a:cs typeface="Arial"/>
              </a:rPr>
              <a:t>if it is </a:t>
            </a:r>
            <a:r>
              <a:rPr sz="1100" spc="-10" dirty="0">
                <a:latin typeface="Arial"/>
                <a:cs typeface="Arial"/>
              </a:rPr>
              <a:t>a one-to-one,  many-to-one </a:t>
            </a:r>
            <a:r>
              <a:rPr sz="1100" spc="-5" dirty="0">
                <a:latin typeface="Arial"/>
                <a:cs typeface="Arial"/>
              </a:rPr>
              <a:t>or </a:t>
            </a:r>
            <a:r>
              <a:rPr sz="1100" spc="-20" dirty="0">
                <a:latin typeface="Arial"/>
                <a:cs typeface="Arial"/>
              </a:rPr>
              <a:t>many-to-many.</a:t>
            </a:r>
            <a:endParaRPr sz="1100" dirty="0">
              <a:latin typeface="Arial"/>
              <a:cs typeface="Arial"/>
            </a:endParaRPr>
          </a:p>
          <a:p>
            <a:pPr marL="128905" marR="314960" indent="-12890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AutoNum type="arabicPeriod" startAt="4"/>
              <a:tabLst>
                <a:tab pos="128905" algn="l"/>
              </a:tabLst>
            </a:pPr>
            <a:r>
              <a:rPr sz="1100" spc="-5" dirty="0">
                <a:latin typeface="Arial"/>
                <a:cs typeface="Arial"/>
              </a:rPr>
              <a:t>Determine the participation </a:t>
            </a:r>
            <a:r>
              <a:rPr sz="1100" spc="-10" dirty="0">
                <a:latin typeface="Arial"/>
                <a:cs typeface="Arial"/>
              </a:rPr>
              <a:t>constraints </a:t>
            </a:r>
            <a:r>
              <a:rPr sz="1100" spc="-20" dirty="0">
                <a:latin typeface="Arial"/>
                <a:cs typeface="Arial"/>
              </a:rPr>
              <a:t>for </a:t>
            </a:r>
            <a:r>
              <a:rPr sz="1100" spc="-10" dirty="0">
                <a:latin typeface="Arial"/>
                <a:cs typeface="Arial"/>
              </a:rPr>
              <a:t>each  </a:t>
            </a:r>
            <a:r>
              <a:rPr sz="1100" spc="-5" dirty="0">
                <a:latin typeface="Arial"/>
                <a:cs typeface="Arial"/>
              </a:rPr>
              <a:t>entity type in </a:t>
            </a: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5" dirty="0">
                <a:latin typeface="Arial"/>
                <a:cs typeface="Arial"/>
              </a:rPr>
              <a:t>relationship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type.</a:t>
            </a:r>
            <a:endParaRPr sz="1100" dirty="0">
              <a:latin typeface="Arial"/>
              <a:cs typeface="Arial"/>
            </a:endParaRPr>
          </a:p>
          <a:p>
            <a:pPr marL="128905" marR="622935" indent="-12890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SzPct val="90909"/>
              <a:buAutoNum type="arabicPeriod" startAt="4"/>
              <a:tabLst>
                <a:tab pos="128905" algn="l"/>
              </a:tabLst>
            </a:pPr>
            <a:r>
              <a:rPr sz="1100" spc="-20" dirty="0">
                <a:latin typeface="Arial"/>
                <a:cs typeface="Arial"/>
              </a:rPr>
              <a:t>Draw </a:t>
            </a:r>
            <a:r>
              <a:rPr sz="1100" spc="-10" dirty="0">
                <a:latin typeface="Arial"/>
                <a:cs typeface="Arial"/>
              </a:rPr>
              <a:t>an ERD </a:t>
            </a:r>
            <a:r>
              <a:rPr sz="1100" spc="-5" dirty="0">
                <a:latin typeface="Arial"/>
                <a:cs typeface="Arial"/>
              </a:rPr>
              <a:t>with the entity types </a:t>
            </a:r>
            <a:r>
              <a:rPr sz="1100" spc="-10" dirty="0">
                <a:latin typeface="Arial"/>
                <a:cs typeface="Arial"/>
              </a:rPr>
              <a:t>and </a:t>
            </a:r>
            <a:r>
              <a:rPr sz="1100" spc="-5" dirty="0">
                <a:latin typeface="Arial"/>
                <a:cs typeface="Arial"/>
              </a:rPr>
              <a:t>the  relationship types </a:t>
            </a:r>
            <a:r>
              <a:rPr sz="1100" spc="-10" dirty="0">
                <a:latin typeface="Arial"/>
                <a:cs typeface="Arial"/>
              </a:rPr>
              <a:t>between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them.</a:t>
            </a:r>
            <a:endParaRPr sz="1100" dirty="0">
              <a:latin typeface="Arial"/>
              <a:cs typeface="Arial"/>
            </a:endParaRPr>
          </a:p>
          <a:p>
            <a:pPr marL="128905" marR="26034" indent="-12890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SzPct val="90909"/>
              <a:buAutoNum type="arabicPeriod" startAt="4"/>
              <a:tabLst>
                <a:tab pos="128905" algn="l"/>
              </a:tabLst>
            </a:pPr>
            <a:r>
              <a:rPr sz="1100" spc="-5" dirty="0">
                <a:latin typeface="Arial"/>
                <a:cs typeface="Arial"/>
              </a:rPr>
              <a:t>Identify the attributes of entity </a:t>
            </a:r>
            <a:r>
              <a:rPr sz="1100" spc="-10" dirty="0">
                <a:latin typeface="Arial"/>
                <a:cs typeface="Arial"/>
              </a:rPr>
              <a:t>and </a:t>
            </a:r>
            <a:r>
              <a:rPr sz="1100" spc="-5" dirty="0">
                <a:latin typeface="Arial"/>
                <a:cs typeface="Arial"/>
              </a:rPr>
              <a:t>relationship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types  </a:t>
            </a:r>
            <a:r>
              <a:rPr sz="1100" spc="-10" dirty="0">
                <a:latin typeface="Arial"/>
                <a:cs typeface="Arial"/>
              </a:rPr>
              <a:t>and </a:t>
            </a:r>
            <a:r>
              <a:rPr sz="1100" spc="-5" dirty="0">
                <a:latin typeface="Arial"/>
                <a:cs typeface="Arial"/>
              </a:rPr>
              <a:t>their underlying domains</a:t>
            </a:r>
            <a:endParaRPr sz="1100" dirty="0">
              <a:latin typeface="Arial"/>
              <a:cs typeface="Arial"/>
            </a:endParaRPr>
          </a:p>
          <a:p>
            <a:pPr marL="12700" marR="326390">
              <a:lnSpc>
                <a:spcPct val="125299"/>
              </a:lnSpc>
              <a:buClr>
                <a:srgbClr val="3333B2"/>
              </a:buClr>
              <a:buSzPct val="90909"/>
              <a:buAutoNum type="arabicPeriod" startAt="4"/>
              <a:tabLst>
                <a:tab pos="128905" algn="l"/>
              </a:tabLst>
            </a:pPr>
            <a:r>
              <a:rPr sz="1100" spc="-5" dirty="0">
                <a:latin typeface="Arial"/>
                <a:cs typeface="Arial"/>
              </a:rPr>
              <a:t>Identify </a:t>
            </a:r>
            <a:r>
              <a:rPr sz="1100" spc="-10" dirty="0">
                <a:latin typeface="Arial"/>
                <a:cs typeface="Arial"/>
              </a:rPr>
              <a:t>a </a:t>
            </a:r>
            <a:r>
              <a:rPr sz="1100" dirty="0">
                <a:latin typeface="Arial"/>
                <a:cs typeface="Arial"/>
              </a:rPr>
              <a:t>primary </a:t>
            </a:r>
            <a:r>
              <a:rPr sz="1100" spc="-25" dirty="0">
                <a:latin typeface="Arial"/>
                <a:cs typeface="Arial"/>
              </a:rPr>
              <a:t>key </a:t>
            </a:r>
            <a:r>
              <a:rPr sz="1100" spc="-20" dirty="0">
                <a:latin typeface="Arial"/>
                <a:cs typeface="Arial"/>
              </a:rPr>
              <a:t>for </a:t>
            </a:r>
            <a:r>
              <a:rPr sz="1100" spc="-10" dirty="0">
                <a:latin typeface="Arial"/>
                <a:cs typeface="Arial"/>
              </a:rPr>
              <a:t>each </a:t>
            </a:r>
            <a:r>
              <a:rPr sz="1100" spc="-5" dirty="0">
                <a:latin typeface="Arial"/>
                <a:cs typeface="Arial"/>
              </a:rPr>
              <a:t>entity </a:t>
            </a:r>
            <a:r>
              <a:rPr sz="1100" spc="-10" dirty="0">
                <a:latin typeface="Arial"/>
                <a:cs typeface="Arial"/>
              </a:rPr>
              <a:t>type. </a:t>
            </a:r>
            <a:r>
              <a:rPr sz="11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rgbClr val="3333B2"/>
                </a:solidFill>
                <a:latin typeface="Arial"/>
                <a:cs typeface="Arial"/>
              </a:rPr>
              <a:t>8.</a:t>
            </a:r>
            <a:r>
              <a:rPr sz="1100" spc="-5" dirty="0">
                <a:latin typeface="Arial"/>
                <a:cs typeface="Arial"/>
              </a:rPr>
              <a:t>Add the attributes </a:t>
            </a:r>
            <a:r>
              <a:rPr sz="1100" spc="-10" dirty="0">
                <a:latin typeface="Arial"/>
                <a:cs typeface="Arial"/>
              </a:rPr>
              <a:t>and </a:t>
            </a:r>
            <a:r>
              <a:rPr sz="1100" dirty="0">
                <a:latin typeface="Arial"/>
                <a:cs typeface="Arial"/>
              </a:rPr>
              <a:t>primary </a:t>
            </a:r>
            <a:r>
              <a:rPr sz="1100" spc="-20" dirty="0">
                <a:latin typeface="Arial"/>
                <a:cs typeface="Arial"/>
              </a:rPr>
              <a:t>keys </a:t>
            </a:r>
            <a:r>
              <a:rPr sz="1100" spc="-5" dirty="0">
                <a:latin typeface="Arial"/>
                <a:cs typeface="Arial"/>
              </a:rPr>
              <a:t>to 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ERD</a:t>
            </a:r>
            <a:endParaRPr sz="1100" dirty="0">
              <a:latin typeface="Arial"/>
              <a:cs typeface="Arial"/>
            </a:endParaRPr>
          </a:p>
          <a:p>
            <a:pPr marL="197485">
              <a:lnSpc>
                <a:spcPct val="100000"/>
              </a:lnSpc>
              <a:spcBef>
                <a:spcPts val="30"/>
              </a:spcBef>
            </a:pPr>
            <a:r>
              <a:rPr sz="1100" spc="-15" dirty="0">
                <a:latin typeface="Arial"/>
                <a:cs typeface="Arial"/>
              </a:rPr>
              <a:t>drawn </a:t>
            </a:r>
            <a:r>
              <a:rPr sz="1100" spc="-5" dirty="0">
                <a:latin typeface="Arial"/>
                <a:cs typeface="Arial"/>
              </a:rPr>
              <a:t>in step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5.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78393" y="629634"/>
            <a:ext cx="1867535" cy="2786380"/>
            <a:chOff x="1978393" y="629634"/>
            <a:chExt cx="1867535" cy="2786380"/>
          </a:xfrm>
        </p:grpSpPr>
        <p:sp>
          <p:nvSpPr>
            <p:cNvPr id="5" name="object 5"/>
            <p:cNvSpPr/>
            <p:nvPr/>
          </p:nvSpPr>
          <p:spPr>
            <a:xfrm>
              <a:off x="2368360" y="3371227"/>
              <a:ext cx="43180" cy="30480"/>
            </a:xfrm>
            <a:custGeom>
              <a:avLst/>
              <a:gdLst/>
              <a:ahLst/>
              <a:cxnLst/>
              <a:rect l="l" t="t" r="r" b="b"/>
              <a:pathLst>
                <a:path w="43180" h="30479">
                  <a:moveTo>
                    <a:pt x="0" y="30366"/>
                  </a:moveTo>
                  <a:lnTo>
                    <a:pt x="43019" y="30366"/>
                  </a:lnTo>
                  <a:lnTo>
                    <a:pt x="43019" y="0"/>
                  </a:lnTo>
                  <a:lnTo>
                    <a:pt x="0" y="0"/>
                  </a:lnTo>
                  <a:lnTo>
                    <a:pt x="0" y="30366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88743" y="3367265"/>
              <a:ext cx="203200" cy="38735"/>
            </a:xfrm>
            <a:custGeom>
              <a:avLst/>
              <a:gdLst/>
              <a:ahLst/>
              <a:cxnLst/>
              <a:rect l="l" t="t" r="r" b="b"/>
              <a:pathLst>
                <a:path w="203200" h="38735">
                  <a:moveTo>
                    <a:pt x="25400" y="0"/>
                  </a:moveTo>
                  <a:lnTo>
                    <a:pt x="0" y="19050"/>
                  </a:lnTo>
                  <a:lnTo>
                    <a:pt x="25400" y="38112"/>
                  </a:lnTo>
                  <a:lnTo>
                    <a:pt x="25400" y="0"/>
                  </a:lnTo>
                  <a:close/>
                </a:path>
                <a:path w="203200" h="38735">
                  <a:moveTo>
                    <a:pt x="203200" y="19050"/>
                  </a:moveTo>
                  <a:lnTo>
                    <a:pt x="177800" y="0"/>
                  </a:lnTo>
                  <a:lnTo>
                    <a:pt x="177800" y="38112"/>
                  </a:lnTo>
                  <a:lnTo>
                    <a:pt x="203200" y="1905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98245" y="649486"/>
              <a:ext cx="455930" cy="227965"/>
            </a:xfrm>
            <a:custGeom>
              <a:avLst/>
              <a:gdLst/>
              <a:ahLst/>
              <a:cxnLst/>
              <a:rect l="l" t="t" r="r" b="b"/>
              <a:pathLst>
                <a:path w="455930" h="227965">
                  <a:moveTo>
                    <a:pt x="455498" y="0"/>
                  </a:moveTo>
                  <a:lnTo>
                    <a:pt x="0" y="0"/>
                  </a:lnTo>
                  <a:lnTo>
                    <a:pt x="0" y="227749"/>
                  </a:lnTo>
                  <a:lnTo>
                    <a:pt x="455498" y="227749"/>
                  </a:lnTo>
                  <a:lnTo>
                    <a:pt x="455498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78393" y="629634"/>
              <a:ext cx="455498" cy="22774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90113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33433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12700"/>
                  </a:moveTo>
                  <a:lnTo>
                    <a:pt x="50801" y="1270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11882" y="3373614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22981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99182" y="3386315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12700" y="0"/>
                  </a:moveTo>
                  <a:lnTo>
                    <a:pt x="50801" y="0"/>
                  </a:lnTo>
                </a:path>
                <a:path w="50800" h="25400">
                  <a:moveTo>
                    <a:pt x="0" y="12700"/>
                  </a:moveTo>
                  <a:lnTo>
                    <a:pt x="381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11696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ERD</a:t>
            </a:r>
            <a:r>
              <a:rPr spc="-45" dirty="0"/>
              <a:t> </a:t>
            </a:r>
            <a:r>
              <a:rPr spc="15" dirty="0"/>
              <a:t>Example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978393" y="629634"/>
            <a:ext cx="455930" cy="227965"/>
          </a:xfrm>
          <a:prstGeom prst="rect">
            <a:avLst/>
          </a:prstGeom>
          <a:ln w="15183">
            <a:solidFill>
              <a:srgbClr val="00007F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445"/>
              </a:spcBef>
            </a:pPr>
            <a:r>
              <a:rPr sz="600" spc="-10" dirty="0">
                <a:latin typeface="Arial"/>
                <a:cs typeface="Arial"/>
              </a:rPr>
              <a:t>Employee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008732" y="274996"/>
            <a:ext cx="407670" cy="179705"/>
            <a:chOff x="2008732" y="274996"/>
            <a:chExt cx="407670" cy="179705"/>
          </a:xfrm>
        </p:grpSpPr>
        <p:sp>
          <p:nvSpPr>
            <p:cNvPr id="24" name="object 24"/>
            <p:cNvSpPr/>
            <p:nvPr/>
          </p:nvSpPr>
          <p:spPr>
            <a:xfrm>
              <a:off x="2036204" y="302468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30" h="152400">
                  <a:moveTo>
                    <a:pt x="189790" y="0"/>
                  </a:moveTo>
                  <a:lnTo>
                    <a:pt x="129801" y="3870"/>
                  </a:lnTo>
                  <a:lnTo>
                    <a:pt x="77701" y="14647"/>
                  </a:lnTo>
                  <a:lnTo>
                    <a:pt x="36618" y="31080"/>
                  </a:lnTo>
                  <a:lnTo>
                    <a:pt x="0" y="75915"/>
                  </a:lnTo>
                  <a:lnTo>
                    <a:pt x="9675" y="99911"/>
                  </a:lnTo>
                  <a:lnTo>
                    <a:pt x="36618" y="120751"/>
                  </a:lnTo>
                  <a:lnTo>
                    <a:pt x="77701" y="137185"/>
                  </a:lnTo>
                  <a:lnTo>
                    <a:pt x="129801" y="147962"/>
                  </a:lnTo>
                  <a:lnTo>
                    <a:pt x="189790" y="151832"/>
                  </a:lnTo>
                  <a:lnTo>
                    <a:pt x="249779" y="147962"/>
                  </a:lnTo>
                  <a:lnTo>
                    <a:pt x="301878" y="137185"/>
                  </a:lnTo>
                  <a:lnTo>
                    <a:pt x="342962" y="120751"/>
                  </a:lnTo>
                  <a:lnTo>
                    <a:pt x="369904" y="99911"/>
                  </a:lnTo>
                  <a:lnTo>
                    <a:pt x="379580" y="75915"/>
                  </a:lnTo>
                  <a:lnTo>
                    <a:pt x="369904" y="51920"/>
                  </a:lnTo>
                  <a:lnTo>
                    <a:pt x="342962" y="31080"/>
                  </a:lnTo>
                  <a:lnTo>
                    <a:pt x="301878" y="14647"/>
                  </a:lnTo>
                  <a:lnTo>
                    <a:pt x="249779" y="3870"/>
                  </a:lnTo>
                  <a:lnTo>
                    <a:pt x="189790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016352" y="282617"/>
              <a:ext cx="379580" cy="15183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16352" y="282616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30" h="152400">
                  <a:moveTo>
                    <a:pt x="379580" y="75915"/>
                  </a:moveTo>
                  <a:lnTo>
                    <a:pt x="342962" y="31080"/>
                  </a:lnTo>
                  <a:lnTo>
                    <a:pt x="301878" y="14647"/>
                  </a:lnTo>
                  <a:lnTo>
                    <a:pt x="249779" y="3870"/>
                  </a:lnTo>
                  <a:lnTo>
                    <a:pt x="189790" y="0"/>
                  </a:lnTo>
                  <a:lnTo>
                    <a:pt x="129801" y="3870"/>
                  </a:lnTo>
                  <a:lnTo>
                    <a:pt x="77701" y="14647"/>
                  </a:lnTo>
                  <a:lnTo>
                    <a:pt x="36618" y="31080"/>
                  </a:lnTo>
                  <a:lnTo>
                    <a:pt x="9675" y="51920"/>
                  </a:lnTo>
                  <a:lnTo>
                    <a:pt x="0" y="75915"/>
                  </a:lnTo>
                  <a:lnTo>
                    <a:pt x="9675" y="99911"/>
                  </a:lnTo>
                  <a:lnTo>
                    <a:pt x="36618" y="120751"/>
                  </a:lnTo>
                  <a:lnTo>
                    <a:pt x="77701" y="137185"/>
                  </a:lnTo>
                  <a:lnTo>
                    <a:pt x="129801" y="147962"/>
                  </a:lnTo>
                  <a:lnTo>
                    <a:pt x="189790" y="151832"/>
                  </a:lnTo>
                  <a:lnTo>
                    <a:pt x="249779" y="147962"/>
                  </a:lnTo>
                  <a:lnTo>
                    <a:pt x="301878" y="137185"/>
                  </a:lnTo>
                  <a:lnTo>
                    <a:pt x="342962" y="120751"/>
                  </a:lnTo>
                  <a:lnTo>
                    <a:pt x="369904" y="99911"/>
                  </a:lnTo>
                  <a:lnTo>
                    <a:pt x="379580" y="75915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092210" y="296537"/>
            <a:ext cx="2279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Name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201062" y="332088"/>
            <a:ext cx="780415" cy="295275"/>
            <a:chOff x="2201062" y="332088"/>
            <a:chExt cx="780415" cy="295275"/>
          </a:xfrm>
        </p:grpSpPr>
        <p:sp>
          <p:nvSpPr>
            <p:cNvPr id="29" name="object 29"/>
            <p:cNvSpPr/>
            <p:nvPr/>
          </p:nvSpPr>
          <p:spPr>
            <a:xfrm>
              <a:off x="2206142" y="442041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40">
                  <a:moveTo>
                    <a:pt x="0" y="0"/>
                  </a:moveTo>
                  <a:lnTo>
                    <a:pt x="0" y="180001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27592" y="359560"/>
              <a:ext cx="453390" cy="175895"/>
            </a:xfrm>
            <a:custGeom>
              <a:avLst/>
              <a:gdLst/>
              <a:ahLst/>
              <a:cxnLst/>
              <a:rect l="l" t="t" r="r" b="b"/>
              <a:pathLst>
                <a:path w="453389" h="175895">
                  <a:moveTo>
                    <a:pt x="226670" y="0"/>
                  </a:moveTo>
                  <a:lnTo>
                    <a:pt x="166412" y="3132"/>
                  </a:lnTo>
                  <a:lnTo>
                    <a:pt x="112265" y="11971"/>
                  </a:lnTo>
                  <a:lnTo>
                    <a:pt x="66390" y="25681"/>
                  </a:lnTo>
                  <a:lnTo>
                    <a:pt x="30947" y="43428"/>
                  </a:lnTo>
                  <a:lnTo>
                    <a:pt x="0" y="87684"/>
                  </a:lnTo>
                  <a:lnTo>
                    <a:pt x="8096" y="110994"/>
                  </a:lnTo>
                  <a:lnTo>
                    <a:pt x="66390" y="149686"/>
                  </a:lnTo>
                  <a:lnTo>
                    <a:pt x="112265" y="163396"/>
                  </a:lnTo>
                  <a:lnTo>
                    <a:pt x="166412" y="172235"/>
                  </a:lnTo>
                  <a:lnTo>
                    <a:pt x="226670" y="175367"/>
                  </a:lnTo>
                  <a:lnTo>
                    <a:pt x="286929" y="172235"/>
                  </a:lnTo>
                  <a:lnTo>
                    <a:pt x="341076" y="163396"/>
                  </a:lnTo>
                  <a:lnTo>
                    <a:pt x="386952" y="149686"/>
                  </a:lnTo>
                  <a:lnTo>
                    <a:pt x="422394" y="131940"/>
                  </a:lnTo>
                  <a:lnTo>
                    <a:pt x="453341" y="87684"/>
                  </a:lnTo>
                  <a:lnTo>
                    <a:pt x="445244" y="64374"/>
                  </a:lnTo>
                  <a:lnTo>
                    <a:pt x="386952" y="25681"/>
                  </a:lnTo>
                  <a:lnTo>
                    <a:pt x="341076" y="11971"/>
                  </a:lnTo>
                  <a:lnTo>
                    <a:pt x="286929" y="3132"/>
                  </a:lnTo>
                  <a:lnTo>
                    <a:pt x="226670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07740" y="339708"/>
              <a:ext cx="453341" cy="17536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07740" y="339708"/>
              <a:ext cx="453390" cy="175895"/>
            </a:xfrm>
            <a:custGeom>
              <a:avLst/>
              <a:gdLst/>
              <a:ahLst/>
              <a:cxnLst/>
              <a:rect l="l" t="t" r="r" b="b"/>
              <a:pathLst>
                <a:path w="453389" h="175895">
                  <a:moveTo>
                    <a:pt x="453341" y="87684"/>
                  </a:moveTo>
                  <a:lnTo>
                    <a:pt x="422394" y="43428"/>
                  </a:lnTo>
                  <a:lnTo>
                    <a:pt x="386952" y="25681"/>
                  </a:lnTo>
                  <a:lnTo>
                    <a:pt x="341076" y="11971"/>
                  </a:lnTo>
                  <a:lnTo>
                    <a:pt x="286929" y="3132"/>
                  </a:lnTo>
                  <a:lnTo>
                    <a:pt x="226670" y="0"/>
                  </a:lnTo>
                  <a:lnTo>
                    <a:pt x="166412" y="3132"/>
                  </a:lnTo>
                  <a:lnTo>
                    <a:pt x="112265" y="11971"/>
                  </a:lnTo>
                  <a:lnTo>
                    <a:pt x="66390" y="25681"/>
                  </a:lnTo>
                  <a:lnTo>
                    <a:pt x="30947" y="43428"/>
                  </a:lnTo>
                  <a:lnTo>
                    <a:pt x="0" y="87684"/>
                  </a:lnTo>
                  <a:lnTo>
                    <a:pt x="8096" y="110994"/>
                  </a:lnTo>
                  <a:lnTo>
                    <a:pt x="66390" y="149686"/>
                  </a:lnTo>
                  <a:lnTo>
                    <a:pt x="112265" y="163396"/>
                  </a:lnTo>
                  <a:lnTo>
                    <a:pt x="166412" y="172235"/>
                  </a:lnTo>
                  <a:lnTo>
                    <a:pt x="226670" y="175367"/>
                  </a:lnTo>
                  <a:lnTo>
                    <a:pt x="286929" y="172235"/>
                  </a:lnTo>
                  <a:lnTo>
                    <a:pt x="341076" y="163396"/>
                  </a:lnTo>
                  <a:lnTo>
                    <a:pt x="386952" y="149686"/>
                  </a:lnTo>
                  <a:lnTo>
                    <a:pt x="422394" y="131940"/>
                  </a:lnTo>
                  <a:lnTo>
                    <a:pt x="453341" y="87684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586735" y="356176"/>
            <a:ext cx="2959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Numbe</a:t>
            </a:r>
            <a:r>
              <a:rPr sz="600" spc="-5" dirty="0">
                <a:latin typeface="Arial"/>
                <a:cs typeface="Arial"/>
              </a:rPr>
              <a:t>r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049683" y="501463"/>
            <a:ext cx="557530" cy="793115"/>
            <a:chOff x="2049683" y="501463"/>
            <a:chExt cx="557530" cy="793115"/>
          </a:xfrm>
        </p:grpSpPr>
        <p:sp>
          <p:nvSpPr>
            <p:cNvPr id="35" name="object 35"/>
            <p:cNvSpPr/>
            <p:nvPr/>
          </p:nvSpPr>
          <p:spPr>
            <a:xfrm>
              <a:off x="2409117" y="506543"/>
              <a:ext cx="193040" cy="115570"/>
            </a:xfrm>
            <a:custGeom>
              <a:avLst/>
              <a:gdLst/>
              <a:ahLst/>
              <a:cxnLst/>
              <a:rect l="l" t="t" r="r" b="b"/>
              <a:pathLst>
                <a:path w="193039" h="115570">
                  <a:moveTo>
                    <a:pt x="193014" y="0"/>
                  </a:moveTo>
                  <a:lnTo>
                    <a:pt x="0" y="115499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77155" y="1036432"/>
              <a:ext cx="297815" cy="257810"/>
            </a:xfrm>
            <a:custGeom>
              <a:avLst/>
              <a:gdLst/>
              <a:ahLst/>
              <a:cxnLst/>
              <a:rect l="l" t="t" r="r" b="b"/>
              <a:pathLst>
                <a:path w="297814" h="257809">
                  <a:moveTo>
                    <a:pt x="297677" y="0"/>
                  </a:moveTo>
                  <a:lnTo>
                    <a:pt x="0" y="0"/>
                  </a:lnTo>
                  <a:lnTo>
                    <a:pt x="148838" y="257802"/>
                  </a:lnTo>
                  <a:lnTo>
                    <a:pt x="297677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057303" y="1016580"/>
              <a:ext cx="297677" cy="25780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057303" y="1016580"/>
              <a:ext cx="297815" cy="257810"/>
            </a:xfrm>
            <a:custGeom>
              <a:avLst/>
              <a:gdLst/>
              <a:ahLst/>
              <a:cxnLst/>
              <a:rect l="l" t="t" r="r" b="b"/>
              <a:pathLst>
                <a:path w="297814" h="257809">
                  <a:moveTo>
                    <a:pt x="148838" y="257802"/>
                  </a:moveTo>
                  <a:lnTo>
                    <a:pt x="297677" y="0"/>
                  </a:lnTo>
                  <a:lnTo>
                    <a:pt x="0" y="0"/>
                  </a:lnTo>
                  <a:lnTo>
                    <a:pt x="148838" y="257802"/>
                  </a:lnTo>
                  <a:close/>
                </a:path>
              </a:pathLst>
            </a:custGeom>
            <a:ln w="15183">
              <a:solidFill>
                <a:srgbClr val="007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132253" y="1009096"/>
            <a:ext cx="1479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ISA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510158" y="859894"/>
            <a:ext cx="701675" cy="699135"/>
            <a:chOff x="1510158" y="859894"/>
            <a:chExt cx="701675" cy="699135"/>
          </a:xfrm>
        </p:grpSpPr>
        <p:sp>
          <p:nvSpPr>
            <p:cNvPr id="41" name="object 41"/>
            <p:cNvSpPr/>
            <p:nvPr/>
          </p:nvSpPr>
          <p:spPr>
            <a:xfrm>
              <a:off x="2206142" y="864974"/>
              <a:ext cx="635" cy="144145"/>
            </a:xfrm>
            <a:custGeom>
              <a:avLst/>
              <a:gdLst/>
              <a:ahLst/>
              <a:cxnLst/>
              <a:rect l="l" t="t" r="r" b="b"/>
              <a:pathLst>
                <a:path w="635" h="144144">
                  <a:moveTo>
                    <a:pt x="11" y="143999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30010" y="1330918"/>
              <a:ext cx="455930" cy="227965"/>
            </a:xfrm>
            <a:custGeom>
              <a:avLst/>
              <a:gdLst/>
              <a:ahLst/>
              <a:cxnLst/>
              <a:rect l="l" t="t" r="r" b="b"/>
              <a:pathLst>
                <a:path w="455930" h="227965">
                  <a:moveTo>
                    <a:pt x="455498" y="0"/>
                  </a:moveTo>
                  <a:lnTo>
                    <a:pt x="0" y="0"/>
                  </a:lnTo>
                  <a:lnTo>
                    <a:pt x="0" y="227749"/>
                  </a:lnTo>
                  <a:lnTo>
                    <a:pt x="455498" y="227749"/>
                  </a:lnTo>
                  <a:lnTo>
                    <a:pt x="455498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10158" y="1311066"/>
              <a:ext cx="455498" cy="2277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510158" y="1311066"/>
            <a:ext cx="455930" cy="227965"/>
          </a:xfrm>
          <a:prstGeom prst="rect">
            <a:avLst/>
          </a:prstGeom>
          <a:ln w="15183">
            <a:solidFill>
              <a:srgbClr val="00007F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505"/>
              </a:spcBef>
            </a:pPr>
            <a:r>
              <a:rPr sz="600" spc="-5" dirty="0">
                <a:latin typeface="Arial"/>
                <a:cs typeface="Arial"/>
              </a:rPr>
              <a:t>Mechanic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893298" y="1132088"/>
            <a:ext cx="1045844" cy="426720"/>
            <a:chOff x="1893298" y="1132088"/>
            <a:chExt cx="1045844" cy="426720"/>
          </a:xfrm>
        </p:grpSpPr>
        <p:sp>
          <p:nvSpPr>
            <p:cNvPr id="46" name="object 46"/>
            <p:cNvSpPr/>
            <p:nvPr/>
          </p:nvSpPr>
          <p:spPr>
            <a:xfrm>
              <a:off x="1898378" y="1137168"/>
              <a:ext cx="220345" cy="166370"/>
            </a:xfrm>
            <a:custGeom>
              <a:avLst/>
              <a:gdLst/>
              <a:ahLst/>
              <a:cxnLst/>
              <a:rect l="l" t="t" r="r" b="b"/>
              <a:pathLst>
                <a:path w="220344" h="166369">
                  <a:moveTo>
                    <a:pt x="0" y="166307"/>
                  </a:moveTo>
                  <a:lnTo>
                    <a:pt x="219775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466491" y="1330918"/>
              <a:ext cx="473075" cy="227965"/>
            </a:xfrm>
            <a:custGeom>
              <a:avLst/>
              <a:gdLst/>
              <a:ahLst/>
              <a:cxnLst/>
              <a:rect l="l" t="t" r="r" b="b"/>
              <a:pathLst>
                <a:path w="473075" h="227965">
                  <a:moveTo>
                    <a:pt x="472542" y="0"/>
                  </a:moveTo>
                  <a:lnTo>
                    <a:pt x="0" y="0"/>
                  </a:lnTo>
                  <a:lnTo>
                    <a:pt x="0" y="227749"/>
                  </a:lnTo>
                  <a:lnTo>
                    <a:pt x="472542" y="227749"/>
                  </a:lnTo>
                  <a:lnTo>
                    <a:pt x="472542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446639" y="1311066"/>
              <a:ext cx="472542" cy="22774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446639" y="1311066"/>
            <a:ext cx="473075" cy="227965"/>
          </a:xfrm>
          <a:prstGeom prst="rect">
            <a:avLst/>
          </a:prstGeom>
          <a:ln w="15183">
            <a:solidFill>
              <a:srgbClr val="00007F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450"/>
              </a:spcBef>
            </a:pPr>
            <a:r>
              <a:rPr sz="600" spc="-5" dirty="0">
                <a:latin typeface="Arial"/>
                <a:cs typeface="Arial"/>
              </a:rPr>
              <a:t>Salesperson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905141" y="1131256"/>
            <a:ext cx="1619885" cy="477520"/>
            <a:chOff x="905141" y="1131256"/>
            <a:chExt cx="1619885" cy="477520"/>
          </a:xfrm>
        </p:grpSpPr>
        <p:sp>
          <p:nvSpPr>
            <p:cNvPr id="51" name="object 51"/>
            <p:cNvSpPr/>
            <p:nvPr/>
          </p:nvSpPr>
          <p:spPr>
            <a:xfrm>
              <a:off x="2294628" y="1136336"/>
              <a:ext cx="225425" cy="167640"/>
            </a:xfrm>
            <a:custGeom>
              <a:avLst/>
              <a:gdLst/>
              <a:ahLst/>
              <a:cxnLst/>
              <a:rect l="l" t="t" r="r" b="b"/>
              <a:pathLst>
                <a:path w="225425" h="167640">
                  <a:moveTo>
                    <a:pt x="224876" y="167138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32613" y="1281257"/>
              <a:ext cx="327660" cy="327660"/>
            </a:xfrm>
            <a:custGeom>
              <a:avLst/>
              <a:gdLst/>
              <a:ahLst/>
              <a:cxnLst/>
              <a:rect l="l" t="t" r="r" b="b"/>
              <a:pathLst>
                <a:path w="327659" h="327659">
                  <a:moveTo>
                    <a:pt x="163531" y="0"/>
                  </a:moveTo>
                  <a:lnTo>
                    <a:pt x="0" y="163535"/>
                  </a:lnTo>
                  <a:lnTo>
                    <a:pt x="163531" y="327071"/>
                  </a:lnTo>
                  <a:lnTo>
                    <a:pt x="327066" y="163535"/>
                  </a:lnTo>
                  <a:lnTo>
                    <a:pt x="163531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12761" y="1261406"/>
              <a:ext cx="327066" cy="327071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12761" y="1261406"/>
              <a:ext cx="327660" cy="327660"/>
            </a:xfrm>
            <a:custGeom>
              <a:avLst/>
              <a:gdLst/>
              <a:ahLst/>
              <a:cxnLst/>
              <a:rect l="l" t="t" r="r" b="b"/>
              <a:pathLst>
                <a:path w="327659" h="327659">
                  <a:moveTo>
                    <a:pt x="327066" y="163535"/>
                  </a:moveTo>
                  <a:lnTo>
                    <a:pt x="163531" y="0"/>
                  </a:lnTo>
                  <a:lnTo>
                    <a:pt x="0" y="163535"/>
                  </a:lnTo>
                  <a:lnTo>
                    <a:pt x="163531" y="327071"/>
                  </a:lnTo>
                  <a:lnTo>
                    <a:pt x="327066" y="163535"/>
                  </a:lnTo>
                  <a:close/>
                </a:path>
              </a:pathLst>
            </a:custGeom>
            <a:ln w="15183">
              <a:solidFill>
                <a:srgbClr val="7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975017" y="1362931"/>
            <a:ext cx="2032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Does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20610" y="1419861"/>
            <a:ext cx="687070" cy="694690"/>
            <a:chOff x="820610" y="1419861"/>
            <a:chExt cx="687070" cy="694690"/>
          </a:xfrm>
        </p:grpSpPr>
        <p:sp>
          <p:nvSpPr>
            <p:cNvPr id="57" name="object 57"/>
            <p:cNvSpPr/>
            <p:nvPr/>
          </p:nvSpPr>
          <p:spPr>
            <a:xfrm>
              <a:off x="1250582" y="1424941"/>
              <a:ext cx="252095" cy="0"/>
            </a:xfrm>
            <a:custGeom>
              <a:avLst/>
              <a:gdLst/>
              <a:ahLst/>
              <a:cxnLst/>
              <a:rect l="l" t="t" r="r" b="b"/>
              <a:pathLst>
                <a:path w="252094">
                  <a:moveTo>
                    <a:pt x="0" y="0"/>
                  </a:moveTo>
                  <a:lnTo>
                    <a:pt x="251984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68400" y="1878672"/>
              <a:ext cx="463550" cy="236220"/>
            </a:xfrm>
            <a:custGeom>
              <a:avLst/>
              <a:gdLst/>
              <a:ahLst/>
              <a:cxnLst/>
              <a:rect l="l" t="t" r="r" b="b"/>
              <a:pathLst>
                <a:path w="463550" h="236219">
                  <a:moveTo>
                    <a:pt x="463435" y="7937"/>
                  </a:moveTo>
                  <a:lnTo>
                    <a:pt x="455498" y="7937"/>
                  </a:lnTo>
                  <a:lnTo>
                    <a:pt x="455498" y="0"/>
                  </a:lnTo>
                  <a:lnTo>
                    <a:pt x="0" y="0"/>
                  </a:lnTo>
                  <a:lnTo>
                    <a:pt x="0" y="215480"/>
                  </a:lnTo>
                  <a:lnTo>
                    <a:pt x="0" y="227749"/>
                  </a:lnTo>
                  <a:lnTo>
                    <a:pt x="7937" y="227749"/>
                  </a:lnTo>
                  <a:lnTo>
                    <a:pt x="7937" y="235686"/>
                  </a:lnTo>
                  <a:lnTo>
                    <a:pt x="463435" y="235686"/>
                  </a:lnTo>
                  <a:lnTo>
                    <a:pt x="463435" y="215480"/>
                  </a:lnTo>
                  <a:lnTo>
                    <a:pt x="463435" y="7937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48550" y="1858810"/>
              <a:ext cx="455498" cy="22774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48550" y="1858810"/>
              <a:ext cx="455930" cy="227965"/>
            </a:xfrm>
            <a:custGeom>
              <a:avLst/>
              <a:gdLst/>
              <a:ahLst/>
              <a:cxnLst/>
              <a:rect l="l" t="t" r="r" b="b"/>
              <a:pathLst>
                <a:path w="455930" h="227964">
                  <a:moveTo>
                    <a:pt x="0" y="227749"/>
                  </a:moveTo>
                  <a:lnTo>
                    <a:pt x="455498" y="227749"/>
                  </a:lnTo>
                  <a:lnTo>
                    <a:pt x="455498" y="0"/>
                  </a:lnTo>
                  <a:lnTo>
                    <a:pt x="0" y="0"/>
                  </a:lnTo>
                  <a:lnTo>
                    <a:pt x="0" y="227749"/>
                  </a:lnTo>
                  <a:close/>
                </a:path>
              </a:pathLst>
            </a:custGeom>
            <a:ln w="55671">
              <a:solidFill>
                <a:srgbClr val="0000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48550" y="1858810"/>
              <a:ext cx="455930" cy="227965"/>
            </a:xfrm>
            <a:custGeom>
              <a:avLst/>
              <a:gdLst/>
              <a:ahLst/>
              <a:cxnLst/>
              <a:rect l="l" t="t" r="r" b="b"/>
              <a:pathLst>
                <a:path w="455930" h="227964">
                  <a:moveTo>
                    <a:pt x="0" y="227749"/>
                  </a:moveTo>
                  <a:lnTo>
                    <a:pt x="455498" y="227749"/>
                  </a:lnTo>
                  <a:lnTo>
                    <a:pt x="455498" y="0"/>
                  </a:lnTo>
                  <a:lnTo>
                    <a:pt x="0" y="0"/>
                  </a:lnTo>
                  <a:lnTo>
                    <a:pt x="0" y="227749"/>
                  </a:lnTo>
                  <a:close/>
                </a:path>
              </a:pathLst>
            </a:custGeom>
            <a:ln w="253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876386" y="1903112"/>
            <a:ext cx="4000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RepairJob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92392" y="1594151"/>
            <a:ext cx="889000" cy="491490"/>
            <a:chOff x="192392" y="1594151"/>
            <a:chExt cx="889000" cy="491490"/>
          </a:xfrm>
        </p:grpSpPr>
        <p:sp>
          <p:nvSpPr>
            <p:cNvPr id="64" name="object 64"/>
            <p:cNvSpPr/>
            <p:nvPr/>
          </p:nvSpPr>
          <p:spPr>
            <a:xfrm>
              <a:off x="1076293" y="1599231"/>
              <a:ext cx="0" cy="252095"/>
            </a:xfrm>
            <a:custGeom>
              <a:avLst/>
              <a:gdLst/>
              <a:ahLst/>
              <a:cxnLst/>
              <a:rect l="l" t="t" r="r" b="b"/>
              <a:pathLst>
                <a:path h="252094">
                  <a:moveTo>
                    <a:pt x="0" y="251984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19864" y="1900046"/>
              <a:ext cx="453390" cy="185420"/>
            </a:xfrm>
            <a:custGeom>
              <a:avLst/>
              <a:gdLst/>
              <a:ahLst/>
              <a:cxnLst/>
              <a:rect l="l" t="t" r="r" b="b"/>
              <a:pathLst>
                <a:path w="453390" h="185419">
                  <a:moveTo>
                    <a:pt x="226682" y="0"/>
                  </a:moveTo>
                  <a:lnTo>
                    <a:pt x="166419" y="3303"/>
                  </a:lnTo>
                  <a:lnTo>
                    <a:pt x="112269" y="12627"/>
                  </a:lnTo>
                  <a:lnTo>
                    <a:pt x="66392" y="27088"/>
                  </a:lnTo>
                  <a:lnTo>
                    <a:pt x="30948" y="45806"/>
                  </a:lnTo>
                  <a:lnTo>
                    <a:pt x="0" y="92487"/>
                  </a:lnTo>
                  <a:lnTo>
                    <a:pt x="8097" y="117073"/>
                  </a:lnTo>
                  <a:lnTo>
                    <a:pt x="66392" y="157886"/>
                  </a:lnTo>
                  <a:lnTo>
                    <a:pt x="112269" y="172349"/>
                  </a:lnTo>
                  <a:lnTo>
                    <a:pt x="166419" y="181673"/>
                  </a:lnTo>
                  <a:lnTo>
                    <a:pt x="226682" y="184978"/>
                  </a:lnTo>
                  <a:lnTo>
                    <a:pt x="286939" y="181673"/>
                  </a:lnTo>
                  <a:lnTo>
                    <a:pt x="341085" y="172349"/>
                  </a:lnTo>
                  <a:lnTo>
                    <a:pt x="386961" y="157886"/>
                  </a:lnTo>
                  <a:lnTo>
                    <a:pt x="422404" y="139166"/>
                  </a:lnTo>
                  <a:lnTo>
                    <a:pt x="453351" y="92487"/>
                  </a:lnTo>
                  <a:lnTo>
                    <a:pt x="445254" y="67900"/>
                  </a:lnTo>
                  <a:lnTo>
                    <a:pt x="386961" y="27088"/>
                  </a:lnTo>
                  <a:lnTo>
                    <a:pt x="341085" y="12627"/>
                  </a:lnTo>
                  <a:lnTo>
                    <a:pt x="286939" y="3303"/>
                  </a:lnTo>
                  <a:lnTo>
                    <a:pt x="226682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00012" y="1880194"/>
              <a:ext cx="453351" cy="18497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00012" y="1880194"/>
              <a:ext cx="453390" cy="185420"/>
            </a:xfrm>
            <a:custGeom>
              <a:avLst/>
              <a:gdLst/>
              <a:ahLst/>
              <a:cxnLst/>
              <a:rect l="l" t="t" r="r" b="b"/>
              <a:pathLst>
                <a:path w="453390" h="185419">
                  <a:moveTo>
                    <a:pt x="453351" y="92487"/>
                  </a:moveTo>
                  <a:lnTo>
                    <a:pt x="422404" y="45806"/>
                  </a:lnTo>
                  <a:lnTo>
                    <a:pt x="386961" y="27088"/>
                  </a:lnTo>
                  <a:lnTo>
                    <a:pt x="341085" y="12627"/>
                  </a:lnTo>
                  <a:lnTo>
                    <a:pt x="286939" y="3303"/>
                  </a:lnTo>
                  <a:lnTo>
                    <a:pt x="226682" y="0"/>
                  </a:lnTo>
                  <a:lnTo>
                    <a:pt x="166419" y="3303"/>
                  </a:lnTo>
                  <a:lnTo>
                    <a:pt x="112269" y="12627"/>
                  </a:lnTo>
                  <a:lnTo>
                    <a:pt x="66392" y="27088"/>
                  </a:lnTo>
                  <a:lnTo>
                    <a:pt x="30948" y="45806"/>
                  </a:lnTo>
                  <a:lnTo>
                    <a:pt x="0" y="92487"/>
                  </a:lnTo>
                  <a:lnTo>
                    <a:pt x="8097" y="117073"/>
                  </a:lnTo>
                  <a:lnTo>
                    <a:pt x="66392" y="157886"/>
                  </a:lnTo>
                  <a:lnTo>
                    <a:pt x="112269" y="172349"/>
                  </a:lnTo>
                  <a:lnTo>
                    <a:pt x="166419" y="181673"/>
                  </a:lnTo>
                  <a:lnTo>
                    <a:pt x="226682" y="184978"/>
                  </a:lnTo>
                  <a:lnTo>
                    <a:pt x="286939" y="181673"/>
                  </a:lnTo>
                  <a:lnTo>
                    <a:pt x="341085" y="172349"/>
                  </a:lnTo>
                  <a:lnTo>
                    <a:pt x="386961" y="157886"/>
                  </a:lnTo>
                  <a:lnTo>
                    <a:pt x="422404" y="139166"/>
                  </a:lnTo>
                  <a:lnTo>
                    <a:pt x="453351" y="92487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279031" y="1898045"/>
            <a:ext cx="2959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Numbe</a:t>
            </a:r>
            <a:r>
              <a:rPr sz="600" spc="-5" dirty="0">
                <a:latin typeface="Arial"/>
                <a:cs typeface="Arial"/>
              </a:rPr>
              <a:t>r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79946" y="1565278"/>
            <a:ext cx="666115" cy="412750"/>
            <a:chOff x="179946" y="1565278"/>
            <a:chExt cx="666115" cy="412750"/>
          </a:xfrm>
        </p:grpSpPr>
        <p:sp>
          <p:nvSpPr>
            <p:cNvPr id="70" name="object 70"/>
            <p:cNvSpPr/>
            <p:nvPr/>
          </p:nvSpPr>
          <p:spPr>
            <a:xfrm>
              <a:off x="660946" y="1972682"/>
              <a:ext cx="180340" cy="0"/>
            </a:xfrm>
            <a:custGeom>
              <a:avLst/>
              <a:gdLst/>
              <a:ahLst/>
              <a:cxnLst/>
              <a:rect l="l" t="t" r="r" b="b"/>
              <a:pathLst>
                <a:path w="180340">
                  <a:moveTo>
                    <a:pt x="0" y="0"/>
                  </a:moveTo>
                  <a:lnTo>
                    <a:pt x="180009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07418" y="1592750"/>
              <a:ext cx="610235" cy="170815"/>
            </a:xfrm>
            <a:custGeom>
              <a:avLst/>
              <a:gdLst/>
              <a:ahLst/>
              <a:cxnLst/>
              <a:rect l="l" t="t" r="r" b="b"/>
              <a:pathLst>
                <a:path w="610235" h="170814">
                  <a:moveTo>
                    <a:pt x="305041" y="0"/>
                  </a:moveTo>
                  <a:lnTo>
                    <a:pt x="235095" y="2253"/>
                  </a:lnTo>
                  <a:lnTo>
                    <a:pt x="170888" y="8672"/>
                  </a:lnTo>
                  <a:lnTo>
                    <a:pt x="114249" y="18745"/>
                  </a:lnTo>
                  <a:lnTo>
                    <a:pt x="67011" y="31960"/>
                  </a:lnTo>
                  <a:lnTo>
                    <a:pt x="31003" y="47803"/>
                  </a:lnTo>
                  <a:lnTo>
                    <a:pt x="0" y="85330"/>
                  </a:lnTo>
                  <a:lnTo>
                    <a:pt x="8055" y="104895"/>
                  </a:lnTo>
                  <a:lnTo>
                    <a:pt x="67011" y="138699"/>
                  </a:lnTo>
                  <a:lnTo>
                    <a:pt x="114249" y="151914"/>
                  </a:lnTo>
                  <a:lnTo>
                    <a:pt x="170888" y="161987"/>
                  </a:lnTo>
                  <a:lnTo>
                    <a:pt x="235095" y="168406"/>
                  </a:lnTo>
                  <a:lnTo>
                    <a:pt x="305041" y="170660"/>
                  </a:lnTo>
                  <a:lnTo>
                    <a:pt x="374983" y="168406"/>
                  </a:lnTo>
                  <a:lnTo>
                    <a:pt x="439188" y="161987"/>
                  </a:lnTo>
                  <a:lnTo>
                    <a:pt x="495827" y="151914"/>
                  </a:lnTo>
                  <a:lnTo>
                    <a:pt x="543067" y="138699"/>
                  </a:lnTo>
                  <a:lnTo>
                    <a:pt x="579077" y="122856"/>
                  </a:lnTo>
                  <a:lnTo>
                    <a:pt x="610082" y="85330"/>
                  </a:lnTo>
                  <a:lnTo>
                    <a:pt x="602026" y="65764"/>
                  </a:lnTo>
                  <a:lnTo>
                    <a:pt x="543067" y="31960"/>
                  </a:lnTo>
                  <a:lnTo>
                    <a:pt x="495827" y="18745"/>
                  </a:lnTo>
                  <a:lnTo>
                    <a:pt x="439188" y="8672"/>
                  </a:lnTo>
                  <a:lnTo>
                    <a:pt x="374983" y="2253"/>
                  </a:lnTo>
                  <a:lnTo>
                    <a:pt x="305041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87566" y="1572898"/>
              <a:ext cx="610082" cy="17066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87566" y="1572898"/>
              <a:ext cx="610235" cy="170815"/>
            </a:xfrm>
            <a:custGeom>
              <a:avLst/>
              <a:gdLst/>
              <a:ahLst/>
              <a:cxnLst/>
              <a:rect l="l" t="t" r="r" b="b"/>
              <a:pathLst>
                <a:path w="610235" h="170814">
                  <a:moveTo>
                    <a:pt x="610082" y="85330"/>
                  </a:moveTo>
                  <a:lnTo>
                    <a:pt x="579077" y="47803"/>
                  </a:lnTo>
                  <a:lnTo>
                    <a:pt x="543067" y="31960"/>
                  </a:lnTo>
                  <a:lnTo>
                    <a:pt x="495827" y="18745"/>
                  </a:lnTo>
                  <a:lnTo>
                    <a:pt x="439188" y="8672"/>
                  </a:lnTo>
                  <a:lnTo>
                    <a:pt x="374983" y="2253"/>
                  </a:lnTo>
                  <a:lnTo>
                    <a:pt x="305041" y="0"/>
                  </a:lnTo>
                  <a:lnTo>
                    <a:pt x="235095" y="2253"/>
                  </a:lnTo>
                  <a:lnTo>
                    <a:pt x="170888" y="8672"/>
                  </a:lnTo>
                  <a:lnTo>
                    <a:pt x="114249" y="18745"/>
                  </a:lnTo>
                  <a:lnTo>
                    <a:pt x="67011" y="31960"/>
                  </a:lnTo>
                  <a:lnTo>
                    <a:pt x="31003" y="47803"/>
                  </a:lnTo>
                  <a:lnTo>
                    <a:pt x="0" y="85330"/>
                  </a:lnTo>
                  <a:lnTo>
                    <a:pt x="8055" y="104895"/>
                  </a:lnTo>
                  <a:lnTo>
                    <a:pt x="67011" y="138699"/>
                  </a:lnTo>
                  <a:lnTo>
                    <a:pt x="114249" y="151914"/>
                  </a:lnTo>
                  <a:lnTo>
                    <a:pt x="170888" y="161987"/>
                  </a:lnTo>
                  <a:lnTo>
                    <a:pt x="235095" y="168406"/>
                  </a:lnTo>
                  <a:lnTo>
                    <a:pt x="305041" y="170660"/>
                  </a:lnTo>
                  <a:lnTo>
                    <a:pt x="374983" y="168406"/>
                  </a:lnTo>
                  <a:lnTo>
                    <a:pt x="439188" y="161987"/>
                  </a:lnTo>
                  <a:lnTo>
                    <a:pt x="495827" y="151914"/>
                  </a:lnTo>
                  <a:lnTo>
                    <a:pt x="543067" y="138699"/>
                  </a:lnTo>
                  <a:lnTo>
                    <a:pt x="579077" y="122856"/>
                  </a:lnTo>
                  <a:lnTo>
                    <a:pt x="610082" y="85330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289534" y="1588660"/>
            <a:ext cx="4064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Description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376694" y="1734567"/>
            <a:ext cx="479425" cy="642620"/>
            <a:chOff x="376694" y="1734567"/>
            <a:chExt cx="479425" cy="642620"/>
          </a:xfrm>
        </p:grpSpPr>
        <p:sp>
          <p:nvSpPr>
            <p:cNvPr id="76" name="object 76"/>
            <p:cNvSpPr/>
            <p:nvPr/>
          </p:nvSpPr>
          <p:spPr>
            <a:xfrm>
              <a:off x="643801" y="1739647"/>
              <a:ext cx="207645" cy="111760"/>
            </a:xfrm>
            <a:custGeom>
              <a:avLst/>
              <a:gdLst/>
              <a:ahLst/>
              <a:cxnLst/>
              <a:rect l="l" t="t" r="r" b="b"/>
              <a:pathLst>
                <a:path w="207644" h="111760">
                  <a:moveTo>
                    <a:pt x="0" y="0"/>
                  </a:moveTo>
                  <a:lnTo>
                    <a:pt x="207111" y="111568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04166" y="2224279"/>
              <a:ext cx="379730" cy="153035"/>
            </a:xfrm>
            <a:custGeom>
              <a:avLst/>
              <a:gdLst/>
              <a:ahLst/>
              <a:cxnLst/>
              <a:rect l="l" t="t" r="r" b="b"/>
              <a:pathLst>
                <a:path w="379730" h="153035">
                  <a:moveTo>
                    <a:pt x="189788" y="0"/>
                  </a:moveTo>
                  <a:lnTo>
                    <a:pt x="129797" y="3893"/>
                  </a:lnTo>
                  <a:lnTo>
                    <a:pt x="77698" y="14733"/>
                  </a:lnTo>
                  <a:lnTo>
                    <a:pt x="36615" y="31264"/>
                  </a:lnTo>
                  <a:lnTo>
                    <a:pt x="0" y="76365"/>
                  </a:lnTo>
                  <a:lnTo>
                    <a:pt x="9674" y="100502"/>
                  </a:lnTo>
                  <a:lnTo>
                    <a:pt x="36615" y="121465"/>
                  </a:lnTo>
                  <a:lnTo>
                    <a:pt x="77698" y="137996"/>
                  </a:lnTo>
                  <a:lnTo>
                    <a:pt x="129797" y="148837"/>
                  </a:lnTo>
                  <a:lnTo>
                    <a:pt x="189788" y="152730"/>
                  </a:lnTo>
                  <a:lnTo>
                    <a:pt x="249775" y="148837"/>
                  </a:lnTo>
                  <a:lnTo>
                    <a:pt x="301873" y="137996"/>
                  </a:lnTo>
                  <a:lnTo>
                    <a:pt x="342958" y="121465"/>
                  </a:lnTo>
                  <a:lnTo>
                    <a:pt x="369901" y="100502"/>
                  </a:lnTo>
                  <a:lnTo>
                    <a:pt x="379577" y="76365"/>
                  </a:lnTo>
                  <a:lnTo>
                    <a:pt x="369901" y="52227"/>
                  </a:lnTo>
                  <a:lnTo>
                    <a:pt x="342958" y="31264"/>
                  </a:lnTo>
                  <a:lnTo>
                    <a:pt x="301873" y="14733"/>
                  </a:lnTo>
                  <a:lnTo>
                    <a:pt x="249775" y="3893"/>
                  </a:lnTo>
                  <a:lnTo>
                    <a:pt x="189788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84314" y="2204428"/>
              <a:ext cx="379577" cy="152730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84314" y="2204427"/>
              <a:ext cx="379730" cy="153035"/>
            </a:xfrm>
            <a:custGeom>
              <a:avLst/>
              <a:gdLst/>
              <a:ahLst/>
              <a:cxnLst/>
              <a:rect l="l" t="t" r="r" b="b"/>
              <a:pathLst>
                <a:path w="379730" h="153035">
                  <a:moveTo>
                    <a:pt x="379577" y="76365"/>
                  </a:moveTo>
                  <a:lnTo>
                    <a:pt x="342958" y="31264"/>
                  </a:lnTo>
                  <a:lnTo>
                    <a:pt x="301873" y="14733"/>
                  </a:lnTo>
                  <a:lnTo>
                    <a:pt x="249775" y="3893"/>
                  </a:lnTo>
                  <a:lnTo>
                    <a:pt x="189788" y="0"/>
                  </a:lnTo>
                  <a:lnTo>
                    <a:pt x="129797" y="3893"/>
                  </a:lnTo>
                  <a:lnTo>
                    <a:pt x="77698" y="14733"/>
                  </a:lnTo>
                  <a:lnTo>
                    <a:pt x="36615" y="31264"/>
                  </a:lnTo>
                  <a:lnTo>
                    <a:pt x="9674" y="52227"/>
                  </a:lnTo>
                  <a:lnTo>
                    <a:pt x="0" y="76365"/>
                  </a:lnTo>
                  <a:lnTo>
                    <a:pt x="9674" y="100502"/>
                  </a:lnTo>
                  <a:lnTo>
                    <a:pt x="36615" y="121465"/>
                  </a:lnTo>
                  <a:lnTo>
                    <a:pt x="77698" y="137996"/>
                  </a:lnTo>
                  <a:lnTo>
                    <a:pt x="129797" y="148837"/>
                  </a:lnTo>
                  <a:lnTo>
                    <a:pt x="189788" y="152730"/>
                  </a:lnTo>
                  <a:lnTo>
                    <a:pt x="249775" y="148837"/>
                  </a:lnTo>
                  <a:lnTo>
                    <a:pt x="301873" y="137996"/>
                  </a:lnTo>
                  <a:lnTo>
                    <a:pt x="342958" y="121465"/>
                  </a:lnTo>
                  <a:lnTo>
                    <a:pt x="369901" y="100502"/>
                  </a:lnTo>
                  <a:lnTo>
                    <a:pt x="379577" y="76365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483387" y="2219304"/>
            <a:ext cx="1816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Cost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681672" y="2089061"/>
            <a:ext cx="636270" cy="722630"/>
            <a:chOff x="681672" y="2089061"/>
            <a:chExt cx="636270" cy="722630"/>
          </a:xfrm>
        </p:grpSpPr>
        <p:sp>
          <p:nvSpPr>
            <p:cNvPr id="82" name="object 82"/>
            <p:cNvSpPr/>
            <p:nvPr/>
          </p:nvSpPr>
          <p:spPr>
            <a:xfrm>
              <a:off x="686752" y="2094141"/>
              <a:ext cx="191770" cy="118110"/>
            </a:xfrm>
            <a:custGeom>
              <a:avLst/>
              <a:gdLst/>
              <a:ahLst/>
              <a:cxnLst/>
              <a:rect l="l" t="t" r="r" b="b"/>
              <a:pathLst>
                <a:path w="191769" h="118110">
                  <a:moveTo>
                    <a:pt x="0" y="117551"/>
                  </a:moveTo>
                  <a:lnTo>
                    <a:pt x="191579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882880" y="2376743"/>
              <a:ext cx="426720" cy="426720"/>
            </a:xfrm>
            <a:custGeom>
              <a:avLst/>
              <a:gdLst/>
              <a:ahLst/>
              <a:cxnLst/>
              <a:rect l="l" t="t" r="r" b="b"/>
              <a:pathLst>
                <a:path w="426719" h="426719">
                  <a:moveTo>
                    <a:pt x="213264" y="0"/>
                  </a:moveTo>
                  <a:lnTo>
                    <a:pt x="0" y="213258"/>
                  </a:lnTo>
                  <a:lnTo>
                    <a:pt x="213264" y="426516"/>
                  </a:lnTo>
                  <a:lnTo>
                    <a:pt x="426524" y="213258"/>
                  </a:lnTo>
                  <a:lnTo>
                    <a:pt x="213264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863028" y="2356891"/>
              <a:ext cx="426524" cy="42651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863028" y="2356891"/>
              <a:ext cx="426720" cy="426720"/>
            </a:xfrm>
            <a:custGeom>
              <a:avLst/>
              <a:gdLst/>
              <a:ahLst/>
              <a:cxnLst/>
              <a:rect l="l" t="t" r="r" b="b"/>
              <a:pathLst>
                <a:path w="426719" h="426719">
                  <a:moveTo>
                    <a:pt x="426524" y="213258"/>
                  </a:moveTo>
                  <a:lnTo>
                    <a:pt x="213264" y="0"/>
                  </a:lnTo>
                  <a:lnTo>
                    <a:pt x="0" y="213258"/>
                  </a:lnTo>
                  <a:lnTo>
                    <a:pt x="213264" y="426516"/>
                  </a:lnTo>
                  <a:lnTo>
                    <a:pt x="426524" y="213258"/>
                  </a:lnTo>
                  <a:close/>
                </a:path>
              </a:pathLst>
            </a:custGeom>
            <a:ln w="55671">
              <a:solidFill>
                <a:srgbClr val="7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863028" y="2356891"/>
              <a:ext cx="426720" cy="426720"/>
            </a:xfrm>
            <a:custGeom>
              <a:avLst/>
              <a:gdLst/>
              <a:ahLst/>
              <a:cxnLst/>
              <a:rect l="l" t="t" r="r" b="b"/>
              <a:pathLst>
                <a:path w="426719" h="426719">
                  <a:moveTo>
                    <a:pt x="426524" y="213258"/>
                  </a:moveTo>
                  <a:lnTo>
                    <a:pt x="213264" y="0"/>
                  </a:lnTo>
                  <a:lnTo>
                    <a:pt x="0" y="213258"/>
                  </a:lnTo>
                  <a:lnTo>
                    <a:pt x="213264" y="426516"/>
                  </a:lnTo>
                  <a:lnTo>
                    <a:pt x="426524" y="213258"/>
                  </a:lnTo>
                  <a:close/>
                </a:path>
              </a:pathLst>
            </a:custGeom>
            <a:ln w="253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932853" y="2500558"/>
            <a:ext cx="2870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Repairs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1047191" y="2094141"/>
            <a:ext cx="988060" cy="610235"/>
            <a:chOff x="1047191" y="2094141"/>
            <a:chExt cx="988060" cy="610235"/>
          </a:xfrm>
        </p:grpSpPr>
        <p:sp>
          <p:nvSpPr>
            <p:cNvPr id="89" name="object 89"/>
            <p:cNvSpPr/>
            <p:nvPr/>
          </p:nvSpPr>
          <p:spPr>
            <a:xfrm>
              <a:off x="1047191" y="2094141"/>
              <a:ext cx="58419" cy="252095"/>
            </a:xfrm>
            <a:custGeom>
              <a:avLst/>
              <a:gdLst/>
              <a:ahLst/>
              <a:cxnLst/>
              <a:rect l="l" t="t" r="r" b="b"/>
              <a:pathLst>
                <a:path w="58419" h="252094">
                  <a:moveTo>
                    <a:pt x="0" y="251980"/>
                  </a:moveTo>
                  <a:lnTo>
                    <a:pt x="58202" y="251980"/>
                  </a:lnTo>
                  <a:lnTo>
                    <a:pt x="58202" y="0"/>
                  </a:lnTo>
                  <a:lnTo>
                    <a:pt x="0" y="0"/>
                  </a:lnTo>
                  <a:lnTo>
                    <a:pt x="0" y="2519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057314" y="2094141"/>
              <a:ext cx="38100" cy="252095"/>
            </a:xfrm>
            <a:custGeom>
              <a:avLst/>
              <a:gdLst/>
              <a:ahLst/>
              <a:cxnLst/>
              <a:rect l="l" t="t" r="r" b="b"/>
              <a:pathLst>
                <a:path w="38100" h="252094">
                  <a:moveTo>
                    <a:pt x="0" y="251980"/>
                  </a:moveTo>
                  <a:lnTo>
                    <a:pt x="37958" y="251980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2519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579734" y="2476120"/>
              <a:ext cx="455930" cy="227965"/>
            </a:xfrm>
            <a:custGeom>
              <a:avLst/>
              <a:gdLst/>
              <a:ahLst/>
              <a:cxnLst/>
              <a:rect l="l" t="t" r="r" b="b"/>
              <a:pathLst>
                <a:path w="455930" h="227964">
                  <a:moveTo>
                    <a:pt x="455498" y="0"/>
                  </a:moveTo>
                  <a:lnTo>
                    <a:pt x="0" y="0"/>
                  </a:lnTo>
                  <a:lnTo>
                    <a:pt x="0" y="227749"/>
                  </a:lnTo>
                  <a:lnTo>
                    <a:pt x="455498" y="227749"/>
                  </a:lnTo>
                  <a:lnTo>
                    <a:pt x="455498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559882" y="2456268"/>
              <a:ext cx="455498" cy="227749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1559882" y="2456269"/>
            <a:ext cx="455930" cy="227965"/>
          </a:xfrm>
          <a:prstGeom prst="rect">
            <a:avLst/>
          </a:prstGeom>
          <a:ln w="15183">
            <a:solidFill>
              <a:srgbClr val="00007F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sz="600" spc="-5" dirty="0">
                <a:latin typeface="Arial"/>
                <a:cs typeface="Arial"/>
              </a:rPr>
              <a:t>Car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1300309" y="2078101"/>
            <a:ext cx="728345" cy="537210"/>
            <a:chOff x="1300309" y="2078101"/>
            <a:chExt cx="728345" cy="537210"/>
          </a:xfrm>
        </p:grpSpPr>
        <p:sp>
          <p:nvSpPr>
            <p:cNvPr id="95" name="object 95"/>
            <p:cNvSpPr/>
            <p:nvPr/>
          </p:nvSpPr>
          <p:spPr>
            <a:xfrm>
              <a:off x="1300309" y="2525233"/>
              <a:ext cx="246919" cy="8983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586716" y="2105572"/>
              <a:ext cx="441959" cy="175895"/>
            </a:xfrm>
            <a:custGeom>
              <a:avLst/>
              <a:gdLst/>
              <a:ahLst/>
              <a:cxnLst/>
              <a:rect l="l" t="t" r="r" b="b"/>
              <a:pathLst>
                <a:path w="441960" h="175894">
                  <a:moveTo>
                    <a:pt x="220766" y="0"/>
                  </a:moveTo>
                  <a:lnTo>
                    <a:pt x="150987" y="4469"/>
                  </a:lnTo>
                  <a:lnTo>
                    <a:pt x="90384" y="16917"/>
                  </a:lnTo>
                  <a:lnTo>
                    <a:pt x="42595" y="35897"/>
                  </a:lnTo>
                  <a:lnTo>
                    <a:pt x="11254" y="59966"/>
                  </a:lnTo>
                  <a:lnTo>
                    <a:pt x="0" y="87680"/>
                  </a:lnTo>
                  <a:lnTo>
                    <a:pt x="11254" y="115394"/>
                  </a:lnTo>
                  <a:lnTo>
                    <a:pt x="42595" y="139464"/>
                  </a:lnTo>
                  <a:lnTo>
                    <a:pt x="90384" y="158444"/>
                  </a:lnTo>
                  <a:lnTo>
                    <a:pt x="150987" y="170891"/>
                  </a:lnTo>
                  <a:lnTo>
                    <a:pt x="220766" y="175361"/>
                  </a:lnTo>
                  <a:lnTo>
                    <a:pt x="290546" y="170891"/>
                  </a:lnTo>
                  <a:lnTo>
                    <a:pt x="351149" y="158444"/>
                  </a:lnTo>
                  <a:lnTo>
                    <a:pt x="398938" y="139464"/>
                  </a:lnTo>
                  <a:lnTo>
                    <a:pt x="430278" y="115394"/>
                  </a:lnTo>
                  <a:lnTo>
                    <a:pt x="441533" y="87680"/>
                  </a:lnTo>
                  <a:lnTo>
                    <a:pt x="430278" y="59966"/>
                  </a:lnTo>
                  <a:lnTo>
                    <a:pt x="398938" y="35897"/>
                  </a:lnTo>
                  <a:lnTo>
                    <a:pt x="351149" y="16917"/>
                  </a:lnTo>
                  <a:lnTo>
                    <a:pt x="290546" y="4469"/>
                  </a:lnTo>
                  <a:lnTo>
                    <a:pt x="220766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566864" y="2085721"/>
              <a:ext cx="441533" cy="175361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566864" y="2085721"/>
              <a:ext cx="441959" cy="175895"/>
            </a:xfrm>
            <a:custGeom>
              <a:avLst/>
              <a:gdLst/>
              <a:ahLst/>
              <a:cxnLst/>
              <a:rect l="l" t="t" r="r" b="b"/>
              <a:pathLst>
                <a:path w="441960" h="175894">
                  <a:moveTo>
                    <a:pt x="441533" y="87680"/>
                  </a:moveTo>
                  <a:lnTo>
                    <a:pt x="398938" y="35897"/>
                  </a:lnTo>
                  <a:lnTo>
                    <a:pt x="351149" y="16917"/>
                  </a:lnTo>
                  <a:lnTo>
                    <a:pt x="290546" y="4469"/>
                  </a:lnTo>
                  <a:lnTo>
                    <a:pt x="220766" y="0"/>
                  </a:lnTo>
                  <a:lnTo>
                    <a:pt x="150987" y="4469"/>
                  </a:lnTo>
                  <a:lnTo>
                    <a:pt x="90384" y="16917"/>
                  </a:lnTo>
                  <a:lnTo>
                    <a:pt x="42595" y="35897"/>
                  </a:lnTo>
                  <a:lnTo>
                    <a:pt x="11254" y="59966"/>
                  </a:lnTo>
                  <a:lnTo>
                    <a:pt x="0" y="87680"/>
                  </a:lnTo>
                  <a:lnTo>
                    <a:pt x="11254" y="115394"/>
                  </a:lnTo>
                  <a:lnTo>
                    <a:pt x="42595" y="139464"/>
                  </a:lnTo>
                  <a:lnTo>
                    <a:pt x="90384" y="158444"/>
                  </a:lnTo>
                  <a:lnTo>
                    <a:pt x="150987" y="170891"/>
                  </a:lnTo>
                  <a:lnTo>
                    <a:pt x="220766" y="175361"/>
                  </a:lnTo>
                  <a:lnTo>
                    <a:pt x="290546" y="170891"/>
                  </a:lnTo>
                  <a:lnTo>
                    <a:pt x="351149" y="158444"/>
                  </a:lnTo>
                  <a:lnTo>
                    <a:pt x="398938" y="139464"/>
                  </a:lnTo>
                  <a:lnTo>
                    <a:pt x="430278" y="115394"/>
                  </a:lnTo>
                  <a:lnTo>
                    <a:pt x="441533" y="87680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1644142" y="2102160"/>
            <a:ext cx="2870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License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1590220" y="2263597"/>
            <a:ext cx="407670" cy="787400"/>
            <a:chOff x="1590220" y="2263597"/>
            <a:chExt cx="407670" cy="787400"/>
          </a:xfrm>
        </p:grpSpPr>
        <p:sp>
          <p:nvSpPr>
            <p:cNvPr id="101" name="object 101"/>
            <p:cNvSpPr/>
            <p:nvPr/>
          </p:nvSpPr>
          <p:spPr>
            <a:xfrm>
              <a:off x="1787631" y="2268677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0"/>
                  </a:moveTo>
                  <a:lnTo>
                    <a:pt x="0" y="179997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617692" y="2899056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30" h="152400">
                  <a:moveTo>
                    <a:pt x="189791" y="0"/>
                  </a:moveTo>
                  <a:lnTo>
                    <a:pt x="129802" y="3869"/>
                  </a:lnTo>
                  <a:lnTo>
                    <a:pt x="77702" y="14646"/>
                  </a:lnTo>
                  <a:lnTo>
                    <a:pt x="36618" y="31080"/>
                  </a:lnTo>
                  <a:lnTo>
                    <a:pt x="0" y="75920"/>
                  </a:lnTo>
                  <a:lnTo>
                    <a:pt x="9675" y="99913"/>
                  </a:lnTo>
                  <a:lnTo>
                    <a:pt x="36618" y="120750"/>
                  </a:lnTo>
                  <a:lnTo>
                    <a:pt x="77702" y="137182"/>
                  </a:lnTo>
                  <a:lnTo>
                    <a:pt x="129802" y="147958"/>
                  </a:lnTo>
                  <a:lnTo>
                    <a:pt x="189791" y="151828"/>
                  </a:lnTo>
                  <a:lnTo>
                    <a:pt x="249780" y="147958"/>
                  </a:lnTo>
                  <a:lnTo>
                    <a:pt x="301879" y="137182"/>
                  </a:lnTo>
                  <a:lnTo>
                    <a:pt x="342963" y="120750"/>
                  </a:lnTo>
                  <a:lnTo>
                    <a:pt x="369905" y="99913"/>
                  </a:lnTo>
                  <a:lnTo>
                    <a:pt x="379581" y="75920"/>
                  </a:lnTo>
                  <a:lnTo>
                    <a:pt x="369905" y="51921"/>
                  </a:lnTo>
                  <a:lnTo>
                    <a:pt x="342963" y="31080"/>
                  </a:lnTo>
                  <a:lnTo>
                    <a:pt x="301879" y="14646"/>
                  </a:lnTo>
                  <a:lnTo>
                    <a:pt x="249780" y="3869"/>
                  </a:lnTo>
                  <a:lnTo>
                    <a:pt x="189791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597840" y="2879204"/>
              <a:ext cx="379581" cy="15182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597840" y="2879204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30" h="152400">
                  <a:moveTo>
                    <a:pt x="379581" y="75920"/>
                  </a:moveTo>
                  <a:lnTo>
                    <a:pt x="342963" y="31080"/>
                  </a:lnTo>
                  <a:lnTo>
                    <a:pt x="301879" y="14646"/>
                  </a:lnTo>
                  <a:lnTo>
                    <a:pt x="249780" y="3869"/>
                  </a:lnTo>
                  <a:lnTo>
                    <a:pt x="189791" y="0"/>
                  </a:lnTo>
                  <a:lnTo>
                    <a:pt x="129802" y="3869"/>
                  </a:lnTo>
                  <a:lnTo>
                    <a:pt x="77702" y="14646"/>
                  </a:lnTo>
                  <a:lnTo>
                    <a:pt x="36618" y="31080"/>
                  </a:lnTo>
                  <a:lnTo>
                    <a:pt x="9675" y="51921"/>
                  </a:lnTo>
                  <a:lnTo>
                    <a:pt x="0" y="75920"/>
                  </a:lnTo>
                  <a:lnTo>
                    <a:pt x="9675" y="99913"/>
                  </a:lnTo>
                  <a:lnTo>
                    <a:pt x="36618" y="120750"/>
                  </a:lnTo>
                  <a:lnTo>
                    <a:pt x="77702" y="137182"/>
                  </a:lnTo>
                  <a:lnTo>
                    <a:pt x="129802" y="147958"/>
                  </a:lnTo>
                  <a:lnTo>
                    <a:pt x="189791" y="151828"/>
                  </a:lnTo>
                  <a:lnTo>
                    <a:pt x="249780" y="147958"/>
                  </a:lnTo>
                  <a:lnTo>
                    <a:pt x="301879" y="137182"/>
                  </a:lnTo>
                  <a:lnTo>
                    <a:pt x="342963" y="120750"/>
                  </a:lnTo>
                  <a:lnTo>
                    <a:pt x="369905" y="99913"/>
                  </a:lnTo>
                  <a:lnTo>
                    <a:pt x="379581" y="75920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1671586" y="2893090"/>
            <a:ext cx="2324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Model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1782551" y="2686532"/>
            <a:ext cx="716915" cy="287655"/>
            <a:chOff x="1782551" y="2686532"/>
            <a:chExt cx="716915" cy="287655"/>
          </a:xfrm>
        </p:grpSpPr>
        <p:sp>
          <p:nvSpPr>
            <p:cNvPr id="107" name="object 107"/>
            <p:cNvSpPr/>
            <p:nvPr/>
          </p:nvSpPr>
          <p:spPr>
            <a:xfrm>
              <a:off x="1787631" y="2691612"/>
              <a:ext cx="0" cy="180340"/>
            </a:xfrm>
            <a:custGeom>
              <a:avLst/>
              <a:gdLst/>
              <a:ahLst/>
              <a:cxnLst/>
              <a:rect l="l" t="t" r="r" b="b"/>
              <a:pathLst>
                <a:path h="180339">
                  <a:moveTo>
                    <a:pt x="0" y="179997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119884" y="2821878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30" h="152400">
                  <a:moveTo>
                    <a:pt x="189790" y="0"/>
                  </a:moveTo>
                  <a:lnTo>
                    <a:pt x="129801" y="3869"/>
                  </a:lnTo>
                  <a:lnTo>
                    <a:pt x="77702" y="14646"/>
                  </a:lnTo>
                  <a:lnTo>
                    <a:pt x="36618" y="31080"/>
                  </a:lnTo>
                  <a:lnTo>
                    <a:pt x="0" y="75920"/>
                  </a:lnTo>
                  <a:lnTo>
                    <a:pt x="9675" y="99913"/>
                  </a:lnTo>
                  <a:lnTo>
                    <a:pt x="36618" y="120750"/>
                  </a:lnTo>
                  <a:lnTo>
                    <a:pt x="77702" y="137182"/>
                  </a:lnTo>
                  <a:lnTo>
                    <a:pt x="129801" y="147958"/>
                  </a:lnTo>
                  <a:lnTo>
                    <a:pt x="189790" y="151828"/>
                  </a:lnTo>
                  <a:lnTo>
                    <a:pt x="249779" y="147958"/>
                  </a:lnTo>
                  <a:lnTo>
                    <a:pt x="301879" y="137182"/>
                  </a:lnTo>
                  <a:lnTo>
                    <a:pt x="342963" y="120750"/>
                  </a:lnTo>
                  <a:lnTo>
                    <a:pt x="369905" y="99913"/>
                  </a:lnTo>
                  <a:lnTo>
                    <a:pt x="379581" y="75920"/>
                  </a:lnTo>
                  <a:lnTo>
                    <a:pt x="369905" y="51921"/>
                  </a:lnTo>
                  <a:lnTo>
                    <a:pt x="342963" y="31080"/>
                  </a:lnTo>
                  <a:lnTo>
                    <a:pt x="301879" y="14646"/>
                  </a:lnTo>
                  <a:lnTo>
                    <a:pt x="249779" y="3869"/>
                  </a:lnTo>
                  <a:lnTo>
                    <a:pt x="189790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100032" y="2802026"/>
              <a:ext cx="379581" cy="151828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100032" y="2802026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30" h="152400">
                  <a:moveTo>
                    <a:pt x="379581" y="75920"/>
                  </a:moveTo>
                  <a:lnTo>
                    <a:pt x="342963" y="31080"/>
                  </a:lnTo>
                  <a:lnTo>
                    <a:pt x="301879" y="14646"/>
                  </a:lnTo>
                  <a:lnTo>
                    <a:pt x="249779" y="3869"/>
                  </a:lnTo>
                  <a:lnTo>
                    <a:pt x="189790" y="0"/>
                  </a:lnTo>
                  <a:lnTo>
                    <a:pt x="129801" y="3869"/>
                  </a:lnTo>
                  <a:lnTo>
                    <a:pt x="77702" y="14646"/>
                  </a:lnTo>
                  <a:lnTo>
                    <a:pt x="36618" y="31080"/>
                  </a:lnTo>
                  <a:lnTo>
                    <a:pt x="9675" y="51921"/>
                  </a:lnTo>
                  <a:lnTo>
                    <a:pt x="0" y="75920"/>
                  </a:lnTo>
                  <a:lnTo>
                    <a:pt x="9675" y="99913"/>
                  </a:lnTo>
                  <a:lnTo>
                    <a:pt x="36618" y="120750"/>
                  </a:lnTo>
                  <a:lnTo>
                    <a:pt x="77702" y="137182"/>
                  </a:lnTo>
                  <a:lnTo>
                    <a:pt x="129801" y="147958"/>
                  </a:lnTo>
                  <a:lnTo>
                    <a:pt x="189790" y="151828"/>
                  </a:lnTo>
                  <a:lnTo>
                    <a:pt x="249779" y="147958"/>
                  </a:lnTo>
                  <a:lnTo>
                    <a:pt x="301879" y="137182"/>
                  </a:lnTo>
                  <a:lnTo>
                    <a:pt x="342963" y="120750"/>
                  </a:lnTo>
                  <a:lnTo>
                    <a:pt x="369905" y="99913"/>
                  </a:lnTo>
                  <a:lnTo>
                    <a:pt x="379581" y="75920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2202268" y="2815912"/>
            <a:ext cx="1752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90" dirty="0">
                <a:latin typeface="Arial"/>
                <a:cs typeface="Arial"/>
              </a:rPr>
              <a:t>Y</a:t>
            </a:r>
            <a:r>
              <a:rPr sz="600" spc="-5" dirty="0">
                <a:latin typeface="Arial"/>
                <a:cs typeface="Arial"/>
              </a:rPr>
              <a:t>ear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611111" y="2686532"/>
            <a:ext cx="1572260" cy="490855"/>
            <a:chOff x="611111" y="2686532"/>
            <a:chExt cx="1572260" cy="490855"/>
          </a:xfrm>
        </p:grpSpPr>
        <p:sp>
          <p:nvSpPr>
            <p:cNvPr id="113" name="object 113"/>
            <p:cNvSpPr/>
            <p:nvPr/>
          </p:nvSpPr>
          <p:spPr>
            <a:xfrm>
              <a:off x="1985808" y="2691612"/>
              <a:ext cx="192405" cy="118110"/>
            </a:xfrm>
            <a:custGeom>
              <a:avLst/>
              <a:gdLst/>
              <a:ahLst/>
              <a:cxnLst/>
              <a:rect l="l" t="t" r="r" b="b"/>
              <a:pathLst>
                <a:path w="192405" h="118110">
                  <a:moveTo>
                    <a:pt x="191869" y="117589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38583" y="3025522"/>
              <a:ext cx="699770" cy="152400"/>
            </a:xfrm>
            <a:custGeom>
              <a:avLst/>
              <a:gdLst/>
              <a:ahLst/>
              <a:cxnLst/>
              <a:rect l="l" t="t" r="r" b="b"/>
              <a:pathLst>
                <a:path w="699769" h="152400">
                  <a:moveTo>
                    <a:pt x="349867" y="0"/>
                  </a:moveTo>
                  <a:lnTo>
                    <a:pt x="279357" y="1542"/>
                  </a:lnTo>
                  <a:lnTo>
                    <a:pt x="213683" y="5967"/>
                  </a:lnTo>
                  <a:lnTo>
                    <a:pt x="154253" y="12967"/>
                  </a:lnTo>
                  <a:lnTo>
                    <a:pt x="102474" y="22239"/>
                  </a:lnTo>
                  <a:lnTo>
                    <a:pt x="59752" y="33475"/>
                  </a:lnTo>
                  <a:lnTo>
                    <a:pt x="7108" y="60621"/>
                  </a:lnTo>
                  <a:lnTo>
                    <a:pt x="0" y="75920"/>
                  </a:lnTo>
                  <a:lnTo>
                    <a:pt x="7108" y="91219"/>
                  </a:lnTo>
                  <a:lnTo>
                    <a:pt x="59752" y="118365"/>
                  </a:lnTo>
                  <a:lnTo>
                    <a:pt x="102474" y="129601"/>
                  </a:lnTo>
                  <a:lnTo>
                    <a:pt x="154253" y="138873"/>
                  </a:lnTo>
                  <a:lnTo>
                    <a:pt x="213683" y="145873"/>
                  </a:lnTo>
                  <a:lnTo>
                    <a:pt x="279357" y="150298"/>
                  </a:lnTo>
                  <a:lnTo>
                    <a:pt x="349867" y="151841"/>
                  </a:lnTo>
                  <a:lnTo>
                    <a:pt x="420378" y="150298"/>
                  </a:lnTo>
                  <a:lnTo>
                    <a:pt x="486052" y="145873"/>
                  </a:lnTo>
                  <a:lnTo>
                    <a:pt x="545482" y="138873"/>
                  </a:lnTo>
                  <a:lnTo>
                    <a:pt x="597261" y="129601"/>
                  </a:lnTo>
                  <a:lnTo>
                    <a:pt x="639983" y="118365"/>
                  </a:lnTo>
                  <a:lnTo>
                    <a:pt x="692626" y="91219"/>
                  </a:lnTo>
                  <a:lnTo>
                    <a:pt x="699734" y="75920"/>
                  </a:lnTo>
                  <a:lnTo>
                    <a:pt x="692626" y="60621"/>
                  </a:lnTo>
                  <a:lnTo>
                    <a:pt x="639983" y="33475"/>
                  </a:lnTo>
                  <a:lnTo>
                    <a:pt x="597261" y="22239"/>
                  </a:lnTo>
                  <a:lnTo>
                    <a:pt x="545482" y="12967"/>
                  </a:lnTo>
                  <a:lnTo>
                    <a:pt x="486052" y="5967"/>
                  </a:lnTo>
                  <a:lnTo>
                    <a:pt x="420378" y="1542"/>
                  </a:lnTo>
                  <a:lnTo>
                    <a:pt x="349867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18731" y="3005671"/>
              <a:ext cx="699734" cy="151841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18731" y="3005671"/>
              <a:ext cx="699770" cy="152400"/>
            </a:xfrm>
            <a:custGeom>
              <a:avLst/>
              <a:gdLst/>
              <a:ahLst/>
              <a:cxnLst/>
              <a:rect l="l" t="t" r="r" b="b"/>
              <a:pathLst>
                <a:path w="699769" h="152400">
                  <a:moveTo>
                    <a:pt x="699734" y="75920"/>
                  </a:moveTo>
                  <a:lnTo>
                    <a:pt x="672240" y="46371"/>
                  </a:lnTo>
                  <a:lnTo>
                    <a:pt x="597261" y="22239"/>
                  </a:lnTo>
                  <a:lnTo>
                    <a:pt x="545482" y="12967"/>
                  </a:lnTo>
                  <a:lnTo>
                    <a:pt x="486052" y="5967"/>
                  </a:lnTo>
                  <a:lnTo>
                    <a:pt x="420378" y="1542"/>
                  </a:lnTo>
                  <a:lnTo>
                    <a:pt x="349867" y="0"/>
                  </a:lnTo>
                  <a:lnTo>
                    <a:pt x="279357" y="1542"/>
                  </a:lnTo>
                  <a:lnTo>
                    <a:pt x="213683" y="5967"/>
                  </a:lnTo>
                  <a:lnTo>
                    <a:pt x="154253" y="12967"/>
                  </a:lnTo>
                  <a:lnTo>
                    <a:pt x="102474" y="22239"/>
                  </a:lnTo>
                  <a:lnTo>
                    <a:pt x="59752" y="33475"/>
                  </a:lnTo>
                  <a:lnTo>
                    <a:pt x="7108" y="60621"/>
                  </a:lnTo>
                  <a:lnTo>
                    <a:pt x="0" y="75920"/>
                  </a:lnTo>
                  <a:lnTo>
                    <a:pt x="7108" y="91219"/>
                  </a:lnTo>
                  <a:lnTo>
                    <a:pt x="59752" y="118365"/>
                  </a:lnTo>
                  <a:lnTo>
                    <a:pt x="102474" y="129601"/>
                  </a:lnTo>
                  <a:lnTo>
                    <a:pt x="154253" y="138873"/>
                  </a:lnTo>
                  <a:lnTo>
                    <a:pt x="213683" y="145873"/>
                  </a:lnTo>
                  <a:lnTo>
                    <a:pt x="279357" y="150298"/>
                  </a:lnTo>
                  <a:lnTo>
                    <a:pt x="349867" y="151841"/>
                  </a:lnTo>
                  <a:lnTo>
                    <a:pt x="420378" y="150298"/>
                  </a:lnTo>
                  <a:lnTo>
                    <a:pt x="486052" y="145873"/>
                  </a:lnTo>
                  <a:lnTo>
                    <a:pt x="545482" y="138873"/>
                  </a:lnTo>
                  <a:lnTo>
                    <a:pt x="597261" y="129601"/>
                  </a:lnTo>
                  <a:lnTo>
                    <a:pt x="639983" y="118365"/>
                  </a:lnTo>
                  <a:lnTo>
                    <a:pt x="692626" y="91219"/>
                  </a:lnTo>
                  <a:lnTo>
                    <a:pt x="699734" y="75920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733831" y="3020433"/>
            <a:ext cx="469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Ma</a:t>
            </a:r>
            <a:r>
              <a:rPr sz="600" spc="-15" dirty="0">
                <a:latin typeface="Arial"/>
                <a:cs typeface="Arial"/>
              </a:rPr>
              <a:t>n</a:t>
            </a:r>
            <a:r>
              <a:rPr sz="600" spc="-5" dirty="0">
                <a:latin typeface="Arial"/>
                <a:cs typeface="Arial"/>
              </a:rPr>
              <a:t>u</a:t>
            </a:r>
            <a:r>
              <a:rPr sz="600" spc="-25" dirty="0">
                <a:latin typeface="Arial"/>
                <a:cs typeface="Arial"/>
              </a:rPr>
              <a:t>f</a:t>
            </a:r>
            <a:r>
              <a:rPr sz="600" spc="-5" dirty="0">
                <a:latin typeface="Arial"/>
                <a:cs typeface="Arial"/>
              </a:rPr>
              <a:t>acturer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18" name="object 118"/>
          <p:cNvGrpSpPr/>
          <p:nvPr/>
        </p:nvGrpSpPr>
        <p:grpSpPr>
          <a:xfrm>
            <a:off x="1088947" y="1801525"/>
            <a:ext cx="1781175" cy="1207135"/>
            <a:chOff x="1088947" y="1801525"/>
            <a:chExt cx="1781175" cy="1207135"/>
          </a:xfrm>
        </p:grpSpPr>
        <p:sp>
          <p:nvSpPr>
            <p:cNvPr id="119" name="object 119"/>
            <p:cNvSpPr/>
            <p:nvPr/>
          </p:nvSpPr>
          <p:spPr>
            <a:xfrm>
              <a:off x="1094027" y="2691612"/>
              <a:ext cx="499745" cy="311785"/>
            </a:xfrm>
            <a:custGeom>
              <a:avLst/>
              <a:gdLst/>
              <a:ahLst/>
              <a:cxnLst/>
              <a:rect l="l" t="t" r="r" b="b"/>
              <a:pathLst>
                <a:path w="499744" h="311785">
                  <a:moveTo>
                    <a:pt x="0" y="311657"/>
                  </a:moveTo>
                  <a:lnTo>
                    <a:pt x="499123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2535886" y="1828997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10" h="334010">
                  <a:moveTo>
                    <a:pt x="166876" y="0"/>
                  </a:moveTo>
                  <a:lnTo>
                    <a:pt x="0" y="166875"/>
                  </a:lnTo>
                  <a:lnTo>
                    <a:pt x="166876" y="333750"/>
                  </a:lnTo>
                  <a:lnTo>
                    <a:pt x="333752" y="166875"/>
                  </a:lnTo>
                  <a:lnTo>
                    <a:pt x="166876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516035" y="1809145"/>
              <a:ext cx="333752" cy="333750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516035" y="1809145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10" h="334010">
                  <a:moveTo>
                    <a:pt x="333752" y="166875"/>
                  </a:moveTo>
                  <a:lnTo>
                    <a:pt x="166876" y="0"/>
                  </a:lnTo>
                  <a:lnTo>
                    <a:pt x="0" y="166875"/>
                  </a:lnTo>
                  <a:lnTo>
                    <a:pt x="166876" y="333750"/>
                  </a:lnTo>
                  <a:lnTo>
                    <a:pt x="333752" y="166875"/>
                  </a:lnTo>
                  <a:close/>
                </a:path>
              </a:pathLst>
            </a:custGeom>
            <a:ln w="15183">
              <a:solidFill>
                <a:srgbClr val="7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2585834" y="1906440"/>
            <a:ext cx="194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Buys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2129844" y="2167623"/>
            <a:ext cx="407670" cy="179705"/>
            <a:chOff x="2129844" y="2167623"/>
            <a:chExt cx="407670" cy="179705"/>
          </a:xfrm>
        </p:grpSpPr>
        <p:sp>
          <p:nvSpPr>
            <p:cNvPr id="125" name="object 125"/>
            <p:cNvSpPr/>
            <p:nvPr/>
          </p:nvSpPr>
          <p:spPr>
            <a:xfrm>
              <a:off x="2157316" y="2195095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30" h="152400">
                  <a:moveTo>
                    <a:pt x="189790" y="0"/>
                  </a:moveTo>
                  <a:lnTo>
                    <a:pt x="129801" y="3869"/>
                  </a:lnTo>
                  <a:lnTo>
                    <a:pt x="77702" y="14645"/>
                  </a:lnTo>
                  <a:lnTo>
                    <a:pt x="36618" y="31077"/>
                  </a:lnTo>
                  <a:lnTo>
                    <a:pt x="0" y="75907"/>
                  </a:lnTo>
                  <a:lnTo>
                    <a:pt x="9675" y="99906"/>
                  </a:lnTo>
                  <a:lnTo>
                    <a:pt x="36618" y="120748"/>
                  </a:lnTo>
                  <a:lnTo>
                    <a:pt x="77702" y="137181"/>
                  </a:lnTo>
                  <a:lnTo>
                    <a:pt x="129801" y="147958"/>
                  </a:lnTo>
                  <a:lnTo>
                    <a:pt x="189790" y="151828"/>
                  </a:lnTo>
                  <a:lnTo>
                    <a:pt x="249779" y="147958"/>
                  </a:lnTo>
                  <a:lnTo>
                    <a:pt x="301879" y="137181"/>
                  </a:lnTo>
                  <a:lnTo>
                    <a:pt x="342963" y="120748"/>
                  </a:lnTo>
                  <a:lnTo>
                    <a:pt x="369906" y="99906"/>
                  </a:lnTo>
                  <a:lnTo>
                    <a:pt x="379581" y="75907"/>
                  </a:lnTo>
                  <a:lnTo>
                    <a:pt x="369906" y="51915"/>
                  </a:lnTo>
                  <a:lnTo>
                    <a:pt x="342963" y="31077"/>
                  </a:lnTo>
                  <a:lnTo>
                    <a:pt x="301879" y="14645"/>
                  </a:lnTo>
                  <a:lnTo>
                    <a:pt x="249779" y="3869"/>
                  </a:lnTo>
                  <a:lnTo>
                    <a:pt x="189790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137464" y="2175243"/>
              <a:ext cx="379581" cy="151828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137464" y="2175243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30" h="152400">
                  <a:moveTo>
                    <a:pt x="379581" y="75907"/>
                  </a:moveTo>
                  <a:lnTo>
                    <a:pt x="342963" y="31077"/>
                  </a:lnTo>
                  <a:lnTo>
                    <a:pt x="301879" y="14645"/>
                  </a:lnTo>
                  <a:lnTo>
                    <a:pt x="249779" y="3869"/>
                  </a:lnTo>
                  <a:lnTo>
                    <a:pt x="189790" y="0"/>
                  </a:lnTo>
                  <a:lnTo>
                    <a:pt x="129801" y="3869"/>
                  </a:lnTo>
                  <a:lnTo>
                    <a:pt x="77702" y="14645"/>
                  </a:lnTo>
                  <a:lnTo>
                    <a:pt x="36618" y="31077"/>
                  </a:lnTo>
                  <a:lnTo>
                    <a:pt x="9675" y="51915"/>
                  </a:lnTo>
                  <a:lnTo>
                    <a:pt x="0" y="75907"/>
                  </a:lnTo>
                  <a:lnTo>
                    <a:pt x="9675" y="99906"/>
                  </a:lnTo>
                  <a:lnTo>
                    <a:pt x="36618" y="120748"/>
                  </a:lnTo>
                  <a:lnTo>
                    <a:pt x="77702" y="137181"/>
                  </a:lnTo>
                  <a:lnTo>
                    <a:pt x="129801" y="147958"/>
                  </a:lnTo>
                  <a:lnTo>
                    <a:pt x="189790" y="151828"/>
                  </a:lnTo>
                  <a:lnTo>
                    <a:pt x="249779" y="147958"/>
                  </a:lnTo>
                  <a:lnTo>
                    <a:pt x="301879" y="137181"/>
                  </a:lnTo>
                  <a:lnTo>
                    <a:pt x="342963" y="120748"/>
                  </a:lnTo>
                  <a:lnTo>
                    <a:pt x="369906" y="99906"/>
                  </a:lnTo>
                  <a:lnTo>
                    <a:pt x="379581" y="75907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8" name="object 128"/>
          <p:cNvSpPr txBox="1"/>
          <p:nvPr/>
        </p:nvSpPr>
        <p:spPr>
          <a:xfrm>
            <a:off x="2227516" y="2189129"/>
            <a:ext cx="2000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P</a:t>
            </a:r>
            <a:r>
              <a:rPr sz="600" dirty="0">
                <a:latin typeface="Arial"/>
                <a:cs typeface="Arial"/>
              </a:rPr>
              <a:t>r</a:t>
            </a:r>
            <a:r>
              <a:rPr sz="600" spc="-5" dirty="0">
                <a:latin typeface="Arial"/>
                <a:cs typeface="Arial"/>
              </a:rPr>
              <a:t>ice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2129844" y="1617348"/>
            <a:ext cx="458470" cy="565785"/>
            <a:chOff x="2129844" y="1617348"/>
            <a:chExt cx="458470" cy="565785"/>
          </a:xfrm>
        </p:grpSpPr>
        <p:sp>
          <p:nvSpPr>
            <p:cNvPr id="130" name="object 130"/>
            <p:cNvSpPr/>
            <p:nvPr/>
          </p:nvSpPr>
          <p:spPr>
            <a:xfrm>
              <a:off x="2422244" y="2053501"/>
              <a:ext cx="160655" cy="124460"/>
            </a:xfrm>
            <a:custGeom>
              <a:avLst/>
              <a:gdLst/>
              <a:ahLst/>
              <a:cxnLst/>
              <a:rect l="l" t="t" r="r" b="b"/>
              <a:pathLst>
                <a:path w="160655" h="124460">
                  <a:moveTo>
                    <a:pt x="0" y="124180"/>
                  </a:moveTo>
                  <a:lnTo>
                    <a:pt x="160516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157316" y="1644820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30" h="152400">
                  <a:moveTo>
                    <a:pt x="189790" y="0"/>
                  </a:moveTo>
                  <a:lnTo>
                    <a:pt x="129801" y="3870"/>
                  </a:lnTo>
                  <a:lnTo>
                    <a:pt x="77702" y="14647"/>
                  </a:lnTo>
                  <a:lnTo>
                    <a:pt x="36618" y="31081"/>
                  </a:lnTo>
                  <a:lnTo>
                    <a:pt x="0" y="75916"/>
                  </a:lnTo>
                  <a:lnTo>
                    <a:pt x="9675" y="99912"/>
                  </a:lnTo>
                  <a:lnTo>
                    <a:pt x="36618" y="120752"/>
                  </a:lnTo>
                  <a:lnTo>
                    <a:pt x="77702" y="137186"/>
                  </a:lnTo>
                  <a:lnTo>
                    <a:pt x="129801" y="147963"/>
                  </a:lnTo>
                  <a:lnTo>
                    <a:pt x="189790" y="151833"/>
                  </a:lnTo>
                  <a:lnTo>
                    <a:pt x="249779" y="147963"/>
                  </a:lnTo>
                  <a:lnTo>
                    <a:pt x="301879" y="137186"/>
                  </a:lnTo>
                  <a:lnTo>
                    <a:pt x="342963" y="120752"/>
                  </a:lnTo>
                  <a:lnTo>
                    <a:pt x="369906" y="99912"/>
                  </a:lnTo>
                  <a:lnTo>
                    <a:pt x="379581" y="75916"/>
                  </a:lnTo>
                  <a:lnTo>
                    <a:pt x="369906" y="51921"/>
                  </a:lnTo>
                  <a:lnTo>
                    <a:pt x="342963" y="31081"/>
                  </a:lnTo>
                  <a:lnTo>
                    <a:pt x="301879" y="14647"/>
                  </a:lnTo>
                  <a:lnTo>
                    <a:pt x="249779" y="3870"/>
                  </a:lnTo>
                  <a:lnTo>
                    <a:pt x="189790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137464" y="1624968"/>
              <a:ext cx="379581" cy="151833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137464" y="1624968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30" h="152400">
                  <a:moveTo>
                    <a:pt x="379581" y="75916"/>
                  </a:moveTo>
                  <a:lnTo>
                    <a:pt x="342963" y="31081"/>
                  </a:lnTo>
                  <a:lnTo>
                    <a:pt x="301879" y="14647"/>
                  </a:lnTo>
                  <a:lnTo>
                    <a:pt x="249779" y="3870"/>
                  </a:lnTo>
                  <a:lnTo>
                    <a:pt x="189790" y="0"/>
                  </a:lnTo>
                  <a:lnTo>
                    <a:pt x="129801" y="3870"/>
                  </a:lnTo>
                  <a:lnTo>
                    <a:pt x="77702" y="14647"/>
                  </a:lnTo>
                  <a:lnTo>
                    <a:pt x="36618" y="31081"/>
                  </a:lnTo>
                  <a:lnTo>
                    <a:pt x="9675" y="51921"/>
                  </a:lnTo>
                  <a:lnTo>
                    <a:pt x="0" y="75916"/>
                  </a:lnTo>
                  <a:lnTo>
                    <a:pt x="9675" y="99912"/>
                  </a:lnTo>
                  <a:lnTo>
                    <a:pt x="36618" y="120752"/>
                  </a:lnTo>
                  <a:lnTo>
                    <a:pt x="77702" y="137186"/>
                  </a:lnTo>
                  <a:lnTo>
                    <a:pt x="129801" y="147963"/>
                  </a:lnTo>
                  <a:lnTo>
                    <a:pt x="189790" y="151833"/>
                  </a:lnTo>
                  <a:lnTo>
                    <a:pt x="249779" y="147963"/>
                  </a:lnTo>
                  <a:lnTo>
                    <a:pt x="301879" y="137186"/>
                  </a:lnTo>
                  <a:lnTo>
                    <a:pt x="342963" y="120752"/>
                  </a:lnTo>
                  <a:lnTo>
                    <a:pt x="369906" y="99912"/>
                  </a:lnTo>
                  <a:lnTo>
                    <a:pt x="379581" y="75916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2234387" y="1638863"/>
            <a:ext cx="186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Date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2417164" y="1769284"/>
            <a:ext cx="1043305" cy="385445"/>
            <a:chOff x="2417164" y="1769284"/>
            <a:chExt cx="1043305" cy="385445"/>
          </a:xfrm>
        </p:grpSpPr>
        <p:sp>
          <p:nvSpPr>
            <p:cNvPr id="136" name="object 136"/>
            <p:cNvSpPr/>
            <p:nvPr/>
          </p:nvSpPr>
          <p:spPr>
            <a:xfrm>
              <a:off x="2422244" y="1774364"/>
              <a:ext cx="160655" cy="124460"/>
            </a:xfrm>
            <a:custGeom>
              <a:avLst/>
              <a:gdLst/>
              <a:ahLst/>
              <a:cxnLst/>
              <a:rect l="l" t="t" r="r" b="b"/>
              <a:pathLst>
                <a:path w="160655" h="124460">
                  <a:moveTo>
                    <a:pt x="0" y="0"/>
                  </a:moveTo>
                  <a:lnTo>
                    <a:pt x="160516" y="124181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3143113" y="1837461"/>
              <a:ext cx="316865" cy="316865"/>
            </a:xfrm>
            <a:custGeom>
              <a:avLst/>
              <a:gdLst/>
              <a:ahLst/>
              <a:cxnLst/>
              <a:rect l="l" t="t" r="r" b="b"/>
              <a:pathLst>
                <a:path w="316864" h="316864">
                  <a:moveTo>
                    <a:pt x="158412" y="0"/>
                  </a:moveTo>
                  <a:lnTo>
                    <a:pt x="0" y="158410"/>
                  </a:lnTo>
                  <a:lnTo>
                    <a:pt x="158412" y="316828"/>
                  </a:lnTo>
                  <a:lnTo>
                    <a:pt x="316823" y="158410"/>
                  </a:lnTo>
                  <a:lnTo>
                    <a:pt x="158412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123261" y="1817610"/>
              <a:ext cx="316823" cy="316828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123261" y="1817610"/>
              <a:ext cx="316865" cy="316865"/>
            </a:xfrm>
            <a:custGeom>
              <a:avLst/>
              <a:gdLst/>
              <a:ahLst/>
              <a:cxnLst/>
              <a:rect l="l" t="t" r="r" b="b"/>
              <a:pathLst>
                <a:path w="316864" h="316864">
                  <a:moveTo>
                    <a:pt x="316823" y="158410"/>
                  </a:moveTo>
                  <a:lnTo>
                    <a:pt x="158412" y="0"/>
                  </a:lnTo>
                  <a:lnTo>
                    <a:pt x="0" y="158410"/>
                  </a:lnTo>
                  <a:lnTo>
                    <a:pt x="158412" y="316828"/>
                  </a:lnTo>
                  <a:lnTo>
                    <a:pt x="316823" y="158410"/>
                  </a:lnTo>
                  <a:close/>
                </a:path>
              </a:pathLst>
            </a:custGeom>
            <a:ln w="15183">
              <a:solidFill>
                <a:srgbClr val="7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3186709" y="1914530"/>
            <a:ext cx="1905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Sells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3435686" y="1621581"/>
            <a:ext cx="407670" cy="179705"/>
            <a:chOff x="3435686" y="1621581"/>
            <a:chExt cx="407670" cy="179705"/>
          </a:xfrm>
        </p:grpSpPr>
        <p:sp>
          <p:nvSpPr>
            <p:cNvPr id="142" name="object 142"/>
            <p:cNvSpPr/>
            <p:nvPr/>
          </p:nvSpPr>
          <p:spPr>
            <a:xfrm>
              <a:off x="3463158" y="1649053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29" h="152400">
                  <a:moveTo>
                    <a:pt x="189795" y="0"/>
                  </a:moveTo>
                  <a:lnTo>
                    <a:pt x="129803" y="3870"/>
                  </a:lnTo>
                  <a:lnTo>
                    <a:pt x="77702" y="14647"/>
                  </a:lnTo>
                  <a:lnTo>
                    <a:pt x="36618" y="31080"/>
                  </a:lnTo>
                  <a:lnTo>
                    <a:pt x="0" y="75915"/>
                  </a:lnTo>
                  <a:lnTo>
                    <a:pt x="9675" y="99911"/>
                  </a:lnTo>
                  <a:lnTo>
                    <a:pt x="36618" y="120751"/>
                  </a:lnTo>
                  <a:lnTo>
                    <a:pt x="77702" y="137185"/>
                  </a:lnTo>
                  <a:lnTo>
                    <a:pt x="129803" y="147962"/>
                  </a:lnTo>
                  <a:lnTo>
                    <a:pt x="189795" y="151832"/>
                  </a:lnTo>
                  <a:lnTo>
                    <a:pt x="249781" y="147962"/>
                  </a:lnTo>
                  <a:lnTo>
                    <a:pt x="301880" y="137185"/>
                  </a:lnTo>
                  <a:lnTo>
                    <a:pt x="342964" y="120751"/>
                  </a:lnTo>
                  <a:lnTo>
                    <a:pt x="369907" y="99911"/>
                  </a:lnTo>
                  <a:lnTo>
                    <a:pt x="379583" y="75915"/>
                  </a:lnTo>
                  <a:lnTo>
                    <a:pt x="369907" y="51920"/>
                  </a:lnTo>
                  <a:lnTo>
                    <a:pt x="342964" y="31080"/>
                  </a:lnTo>
                  <a:lnTo>
                    <a:pt x="301880" y="14647"/>
                  </a:lnTo>
                  <a:lnTo>
                    <a:pt x="249781" y="3870"/>
                  </a:lnTo>
                  <a:lnTo>
                    <a:pt x="189795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443306" y="1629201"/>
              <a:ext cx="379583" cy="15183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443306" y="1629201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29" h="152400">
                  <a:moveTo>
                    <a:pt x="379583" y="75915"/>
                  </a:moveTo>
                  <a:lnTo>
                    <a:pt x="342964" y="31080"/>
                  </a:lnTo>
                  <a:lnTo>
                    <a:pt x="301880" y="14647"/>
                  </a:lnTo>
                  <a:lnTo>
                    <a:pt x="249781" y="3870"/>
                  </a:lnTo>
                  <a:lnTo>
                    <a:pt x="189795" y="0"/>
                  </a:lnTo>
                  <a:lnTo>
                    <a:pt x="129803" y="3870"/>
                  </a:lnTo>
                  <a:lnTo>
                    <a:pt x="77702" y="14647"/>
                  </a:lnTo>
                  <a:lnTo>
                    <a:pt x="36618" y="31080"/>
                  </a:lnTo>
                  <a:lnTo>
                    <a:pt x="9675" y="51920"/>
                  </a:lnTo>
                  <a:lnTo>
                    <a:pt x="0" y="75915"/>
                  </a:lnTo>
                  <a:lnTo>
                    <a:pt x="9675" y="99911"/>
                  </a:lnTo>
                  <a:lnTo>
                    <a:pt x="36618" y="120751"/>
                  </a:lnTo>
                  <a:lnTo>
                    <a:pt x="77702" y="137185"/>
                  </a:lnTo>
                  <a:lnTo>
                    <a:pt x="129803" y="147962"/>
                  </a:lnTo>
                  <a:lnTo>
                    <a:pt x="189795" y="151832"/>
                  </a:lnTo>
                  <a:lnTo>
                    <a:pt x="249781" y="147962"/>
                  </a:lnTo>
                  <a:lnTo>
                    <a:pt x="301880" y="137185"/>
                  </a:lnTo>
                  <a:lnTo>
                    <a:pt x="342964" y="120751"/>
                  </a:lnTo>
                  <a:lnTo>
                    <a:pt x="369907" y="99911"/>
                  </a:lnTo>
                  <a:lnTo>
                    <a:pt x="379583" y="75915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5" name="object 145"/>
          <p:cNvSpPr txBox="1"/>
          <p:nvPr/>
        </p:nvSpPr>
        <p:spPr>
          <a:xfrm>
            <a:off x="3540213" y="1643105"/>
            <a:ext cx="1860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Date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3372117" y="1773515"/>
            <a:ext cx="666115" cy="298450"/>
            <a:chOff x="3372117" y="1773515"/>
            <a:chExt cx="666115" cy="298450"/>
          </a:xfrm>
        </p:grpSpPr>
        <p:sp>
          <p:nvSpPr>
            <p:cNvPr id="147" name="object 147"/>
            <p:cNvSpPr/>
            <p:nvPr/>
          </p:nvSpPr>
          <p:spPr>
            <a:xfrm>
              <a:off x="3377197" y="1778595"/>
              <a:ext cx="160655" cy="123825"/>
            </a:xfrm>
            <a:custGeom>
              <a:avLst/>
              <a:gdLst/>
              <a:ahLst/>
              <a:cxnLst/>
              <a:rect l="l" t="t" r="r" b="b"/>
              <a:pathLst>
                <a:path w="160654" h="123825">
                  <a:moveTo>
                    <a:pt x="160577" y="0"/>
                  </a:moveTo>
                  <a:lnTo>
                    <a:pt x="0" y="123786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3658262" y="1919956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29" h="152400">
                  <a:moveTo>
                    <a:pt x="189788" y="0"/>
                  </a:moveTo>
                  <a:lnTo>
                    <a:pt x="129802" y="3870"/>
                  </a:lnTo>
                  <a:lnTo>
                    <a:pt x="77703" y="14647"/>
                  </a:lnTo>
                  <a:lnTo>
                    <a:pt x="36619" y="31081"/>
                  </a:lnTo>
                  <a:lnTo>
                    <a:pt x="0" y="75916"/>
                  </a:lnTo>
                  <a:lnTo>
                    <a:pt x="9675" y="99914"/>
                  </a:lnTo>
                  <a:lnTo>
                    <a:pt x="36619" y="120754"/>
                  </a:lnTo>
                  <a:lnTo>
                    <a:pt x="77703" y="137188"/>
                  </a:lnTo>
                  <a:lnTo>
                    <a:pt x="129802" y="147964"/>
                  </a:lnTo>
                  <a:lnTo>
                    <a:pt x="189788" y="151834"/>
                  </a:lnTo>
                  <a:lnTo>
                    <a:pt x="249781" y="147964"/>
                  </a:lnTo>
                  <a:lnTo>
                    <a:pt x="301883" y="137188"/>
                  </a:lnTo>
                  <a:lnTo>
                    <a:pt x="342970" y="120754"/>
                  </a:lnTo>
                  <a:lnTo>
                    <a:pt x="369914" y="99914"/>
                  </a:lnTo>
                  <a:lnTo>
                    <a:pt x="379590" y="75916"/>
                  </a:lnTo>
                  <a:lnTo>
                    <a:pt x="369914" y="51921"/>
                  </a:lnTo>
                  <a:lnTo>
                    <a:pt x="342970" y="31081"/>
                  </a:lnTo>
                  <a:lnTo>
                    <a:pt x="301883" y="14647"/>
                  </a:lnTo>
                  <a:lnTo>
                    <a:pt x="249781" y="3870"/>
                  </a:lnTo>
                  <a:lnTo>
                    <a:pt x="189788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638410" y="1900104"/>
              <a:ext cx="379590" cy="151834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638410" y="1900104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29" h="152400">
                  <a:moveTo>
                    <a:pt x="379590" y="75916"/>
                  </a:moveTo>
                  <a:lnTo>
                    <a:pt x="342970" y="31081"/>
                  </a:lnTo>
                  <a:lnTo>
                    <a:pt x="301883" y="14647"/>
                  </a:lnTo>
                  <a:lnTo>
                    <a:pt x="249781" y="3870"/>
                  </a:lnTo>
                  <a:lnTo>
                    <a:pt x="189788" y="0"/>
                  </a:lnTo>
                  <a:lnTo>
                    <a:pt x="129802" y="3870"/>
                  </a:lnTo>
                  <a:lnTo>
                    <a:pt x="77703" y="14647"/>
                  </a:lnTo>
                  <a:lnTo>
                    <a:pt x="36619" y="31081"/>
                  </a:lnTo>
                  <a:lnTo>
                    <a:pt x="9675" y="51921"/>
                  </a:lnTo>
                  <a:lnTo>
                    <a:pt x="0" y="75916"/>
                  </a:lnTo>
                  <a:lnTo>
                    <a:pt x="9675" y="99914"/>
                  </a:lnTo>
                  <a:lnTo>
                    <a:pt x="36619" y="120754"/>
                  </a:lnTo>
                  <a:lnTo>
                    <a:pt x="77703" y="137188"/>
                  </a:lnTo>
                  <a:lnTo>
                    <a:pt x="129802" y="147964"/>
                  </a:lnTo>
                  <a:lnTo>
                    <a:pt x="189788" y="151834"/>
                  </a:lnTo>
                  <a:lnTo>
                    <a:pt x="249781" y="147964"/>
                  </a:lnTo>
                  <a:lnTo>
                    <a:pt x="301883" y="137188"/>
                  </a:lnTo>
                  <a:lnTo>
                    <a:pt x="342970" y="120754"/>
                  </a:lnTo>
                  <a:lnTo>
                    <a:pt x="369914" y="99914"/>
                  </a:lnTo>
                  <a:lnTo>
                    <a:pt x="379590" y="75916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1" name="object 151"/>
          <p:cNvSpPr txBox="1"/>
          <p:nvPr/>
        </p:nvSpPr>
        <p:spPr>
          <a:xfrm>
            <a:off x="3728453" y="1913996"/>
            <a:ext cx="2000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P</a:t>
            </a:r>
            <a:r>
              <a:rPr sz="600" dirty="0">
                <a:latin typeface="Arial"/>
                <a:cs typeface="Arial"/>
              </a:rPr>
              <a:t>r</a:t>
            </a:r>
            <a:r>
              <a:rPr sz="600" spc="-5" dirty="0">
                <a:latin typeface="Arial"/>
                <a:cs typeface="Arial"/>
              </a:rPr>
              <a:t>ice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3394319" y="1970940"/>
            <a:ext cx="689610" cy="372745"/>
            <a:chOff x="3394319" y="1970940"/>
            <a:chExt cx="689610" cy="372745"/>
          </a:xfrm>
        </p:grpSpPr>
        <p:sp>
          <p:nvSpPr>
            <p:cNvPr id="153" name="object 153"/>
            <p:cNvSpPr/>
            <p:nvPr/>
          </p:nvSpPr>
          <p:spPr>
            <a:xfrm>
              <a:off x="3450832" y="1976020"/>
              <a:ext cx="180340" cy="0"/>
            </a:xfrm>
            <a:custGeom>
              <a:avLst/>
              <a:gdLst/>
              <a:ahLst/>
              <a:cxnLst/>
              <a:rect l="l" t="t" r="r" b="b"/>
              <a:pathLst>
                <a:path w="180339">
                  <a:moveTo>
                    <a:pt x="179983" y="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421791" y="2190726"/>
              <a:ext cx="662305" cy="153035"/>
            </a:xfrm>
            <a:custGeom>
              <a:avLst/>
              <a:gdLst/>
              <a:ahLst/>
              <a:cxnLst/>
              <a:rect l="l" t="t" r="r" b="b"/>
              <a:pathLst>
                <a:path w="662304" h="153035">
                  <a:moveTo>
                    <a:pt x="331021" y="0"/>
                  </a:moveTo>
                  <a:lnTo>
                    <a:pt x="255121" y="2016"/>
                  </a:lnTo>
                  <a:lnTo>
                    <a:pt x="185447" y="7761"/>
                  </a:lnTo>
                  <a:lnTo>
                    <a:pt x="123985" y="16776"/>
                  </a:lnTo>
                  <a:lnTo>
                    <a:pt x="72722" y="28602"/>
                  </a:lnTo>
                  <a:lnTo>
                    <a:pt x="33645" y="42781"/>
                  </a:lnTo>
                  <a:lnTo>
                    <a:pt x="0" y="76365"/>
                  </a:lnTo>
                  <a:lnTo>
                    <a:pt x="8742" y="93875"/>
                  </a:lnTo>
                  <a:lnTo>
                    <a:pt x="72722" y="124128"/>
                  </a:lnTo>
                  <a:lnTo>
                    <a:pt x="123985" y="135954"/>
                  </a:lnTo>
                  <a:lnTo>
                    <a:pt x="185447" y="144968"/>
                  </a:lnTo>
                  <a:lnTo>
                    <a:pt x="255121" y="150713"/>
                  </a:lnTo>
                  <a:lnTo>
                    <a:pt x="331021" y="152730"/>
                  </a:lnTo>
                  <a:lnTo>
                    <a:pt x="406925" y="150713"/>
                  </a:lnTo>
                  <a:lnTo>
                    <a:pt x="476602" y="144968"/>
                  </a:lnTo>
                  <a:lnTo>
                    <a:pt x="538064" y="135954"/>
                  </a:lnTo>
                  <a:lnTo>
                    <a:pt x="589327" y="124128"/>
                  </a:lnTo>
                  <a:lnTo>
                    <a:pt x="628402" y="109949"/>
                  </a:lnTo>
                  <a:lnTo>
                    <a:pt x="662047" y="76365"/>
                  </a:lnTo>
                  <a:lnTo>
                    <a:pt x="653305" y="58854"/>
                  </a:lnTo>
                  <a:lnTo>
                    <a:pt x="589327" y="28602"/>
                  </a:lnTo>
                  <a:lnTo>
                    <a:pt x="538064" y="16776"/>
                  </a:lnTo>
                  <a:lnTo>
                    <a:pt x="476602" y="7761"/>
                  </a:lnTo>
                  <a:lnTo>
                    <a:pt x="406925" y="2016"/>
                  </a:lnTo>
                  <a:lnTo>
                    <a:pt x="331021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3401939" y="2170874"/>
              <a:ext cx="662047" cy="152730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3401939" y="2170874"/>
              <a:ext cx="662305" cy="153035"/>
            </a:xfrm>
            <a:custGeom>
              <a:avLst/>
              <a:gdLst/>
              <a:ahLst/>
              <a:cxnLst/>
              <a:rect l="l" t="t" r="r" b="b"/>
              <a:pathLst>
                <a:path w="662304" h="153035">
                  <a:moveTo>
                    <a:pt x="662047" y="76365"/>
                  </a:moveTo>
                  <a:lnTo>
                    <a:pt x="628402" y="42781"/>
                  </a:lnTo>
                  <a:lnTo>
                    <a:pt x="589327" y="28602"/>
                  </a:lnTo>
                  <a:lnTo>
                    <a:pt x="538064" y="16776"/>
                  </a:lnTo>
                  <a:lnTo>
                    <a:pt x="476602" y="7761"/>
                  </a:lnTo>
                  <a:lnTo>
                    <a:pt x="406925" y="2016"/>
                  </a:lnTo>
                  <a:lnTo>
                    <a:pt x="331021" y="0"/>
                  </a:lnTo>
                  <a:lnTo>
                    <a:pt x="255121" y="2016"/>
                  </a:lnTo>
                  <a:lnTo>
                    <a:pt x="185447" y="7761"/>
                  </a:lnTo>
                  <a:lnTo>
                    <a:pt x="123985" y="16776"/>
                  </a:lnTo>
                  <a:lnTo>
                    <a:pt x="72722" y="28602"/>
                  </a:lnTo>
                  <a:lnTo>
                    <a:pt x="33645" y="42781"/>
                  </a:lnTo>
                  <a:lnTo>
                    <a:pt x="0" y="76365"/>
                  </a:lnTo>
                  <a:lnTo>
                    <a:pt x="8742" y="93875"/>
                  </a:lnTo>
                  <a:lnTo>
                    <a:pt x="72722" y="124128"/>
                  </a:lnTo>
                  <a:lnTo>
                    <a:pt x="123985" y="135954"/>
                  </a:lnTo>
                  <a:lnTo>
                    <a:pt x="185447" y="144968"/>
                  </a:lnTo>
                  <a:lnTo>
                    <a:pt x="255121" y="150713"/>
                  </a:lnTo>
                  <a:lnTo>
                    <a:pt x="331021" y="152730"/>
                  </a:lnTo>
                  <a:lnTo>
                    <a:pt x="406925" y="150713"/>
                  </a:lnTo>
                  <a:lnTo>
                    <a:pt x="476602" y="144968"/>
                  </a:lnTo>
                  <a:lnTo>
                    <a:pt x="538064" y="135954"/>
                  </a:lnTo>
                  <a:lnTo>
                    <a:pt x="589327" y="124128"/>
                  </a:lnTo>
                  <a:lnTo>
                    <a:pt x="628402" y="109949"/>
                  </a:lnTo>
                  <a:lnTo>
                    <a:pt x="662047" y="76365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7" name="object 157"/>
          <p:cNvSpPr txBox="1"/>
          <p:nvPr/>
        </p:nvSpPr>
        <p:spPr>
          <a:xfrm>
            <a:off x="3511486" y="2185751"/>
            <a:ext cx="443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Commission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58" name="object 158"/>
          <p:cNvGrpSpPr/>
          <p:nvPr/>
        </p:nvGrpSpPr>
        <p:grpSpPr>
          <a:xfrm>
            <a:off x="2017891" y="1419861"/>
            <a:ext cx="1591310" cy="1635125"/>
            <a:chOff x="2017891" y="1419861"/>
            <a:chExt cx="1591310" cy="1635125"/>
          </a:xfrm>
        </p:grpSpPr>
        <p:sp>
          <p:nvSpPr>
            <p:cNvPr id="159" name="object 159"/>
            <p:cNvSpPr/>
            <p:nvPr/>
          </p:nvSpPr>
          <p:spPr>
            <a:xfrm>
              <a:off x="2022971" y="1424941"/>
              <a:ext cx="1581150" cy="1186815"/>
            </a:xfrm>
            <a:custGeom>
              <a:avLst/>
              <a:gdLst/>
              <a:ahLst/>
              <a:cxnLst/>
              <a:rect l="l" t="t" r="r" b="b"/>
              <a:pathLst>
                <a:path w="1581150" h="1186814">
                  <a:moveTo>
                    <a:pt x="0" y="1103704"/>
                  </a:moveTo>
                  <a:lnTo>
                    <a:pt x="659940" y="1103704"/>
                  </a:lnTo>
                  <a:lnTo>
                    <a:pt x="659940" y="728712"/>
                  </a:lnTo>
                </a:path>
                <a:path w="1581150" h="1186814">
                  <a:moveTo>
                    <a:pt x="659940" y="373451"/>
                  </a:moveTo>
                  <a:lnTo>
                    <a:pt x="659940" y="121465"/>
                  </a:lnTo>
                </a:path>
                <a:path w="1581150" h="1186814">
                  <a:moveTo>
                    <a:pt x="1580742" y="744625"/>
                  </a:moveTo>
                  <a:lnTo>
                    <a:pt x="1364363" y="614577"/>
                  </a:lnTo>
                </a:path>
                <a:path w="1581150" h="1186814">
                  <a:moveTo>
                    <a:pt x="0" y="1186699"/>
                  </a:moveTo>
                  <a:lnTo>
                    <a:pt x="1258702" y="1186699"/>
                  </a:lnTo>
                  <a:lnTo>
                    <a:pt x="1258702" y="720241"/>
                  </a:lnTo>
                </a:path>
                <a:path w="1581150" h="1186814">
                  <a:moveTo>
                    <a:pt x="1258702" y="381914"/>
                  </a:moveTo>
                  <a:lnTo>
                    <a:pt x="1258702" y="0"/>
                  </a:lnTo>
                  <a:lnTo>
                    <a:pt x="903803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2770424" y="2827059"/>
              <a:ext cx="455930" cy="227965"/>
            </a:xfrm>
            <a:custGeom>
              <a:avLst/>
              <a:gdLst/>
              <a:ahLst/>
              <a:cxnLst/>
              <a:rect l="l" t="t" r="r" b="b"/>
              <a:pathLst>
                <a:path w="455930" h="227964">
                  <a:moveTo>
                    <a:pt x="455498" y="0"/>
                  </a:moveTo>
                  <a:lnTo>
                    <a:pt x="0" y="0"/>
                  </a:lnTo>
                  <a:lnTo>
                    <a:pt x="0" y="227749"/>
                  </a:lnTo>
                  <a:lnTo>
                    <a:pt x="455498" y="227749"/>
                  </a:lnTo>
                  <a:lnTo>
                    <a:pt x="455498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2750572" y="2807208"/>
              <a:ext cx="455498" cy="227749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2" name="object 162"/>
          <p:cNvSpPr txBox="1"/>
          <p:nvPr/>
        </p:nvSpPr>
        <p:spPr>
          <a:xfrm>
            <a:off x="2750572" y="2807208"/>
            <a:ext cx="455930" cy="227965"/>
          </a:xfrm>
          <a:prstGeom prst="rect">
            <a:avLst/>
          </a:prstGeom>
          <a:ln w="15183">
            <a:solidFill>
              <a:srgbClr val="00007F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130175">
              <a:lnSpc>
                <a:spcPct val="100000"/>
              </a:lnSpc>
              <a:spcBef>
                <a:spcPts val="509"/>
              </a:spcBef>
            </a:pPr>
            <a:r>
              <a:rPr sz="600" spc="-5" dirty="0">
                <a:latin typeface="Arial"/>
                <a:cs typeface="Arial"/>
              </a:rPr>
              <a:t>Client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3393635" y="2826397"/>
            <a:ext cx="407670" cy="201930"/>
            <a:chOff x="3393635" y="2826397"/>
            <a:chExt cx="407670" cy="201930"/>
          </a:xfrm>
        </p:grpSpPr>
        <p:sp>
          <p:nvSpPr>
            <p:cNvPr id="164" name="object 164"/>
            <p:cNvSpPr/>
            <p:nvPr/>
          </p:nvSpPr>
          <p:spPr>
            <a:xfrm>
              <a:off x="3421107" y="2853869"/>
              <a:ext cx="379730" cy="174625"/>
            </a:xfrm>
            <a:custGeom>
              <a:avLst/>
              <a:gdLst/>
              <a:ahLst/>
              <a:cxnLst/>
              <a:rect l="l" t="t" r="r" b="b"/>
              <a:pathLst>
                <a:path w="379729" h="174625">
                  <a:moveTo>
                    <a:pt x="189796" y="0"/>
                  </a:moveTo>
                  <a:lnTo>
                    <a:pt x="129804" y="4438"/>
                  </a:lnTo>
                  <a:lnTo>
                    <a:pt x="77703" y="16796"/>
                  </a:lnTo>
                  <a:lnTo>
                    <a:pt x="36618" y="35642"/>
                  </a:lnTo>
                  <a:lnTo>
                    <a:pt x="0" y="87058"/>
                  </a:lnTo>
                  <a:lnTo>
                    <a:pt x="9675" y="114582"/>
                  </a:lnTo>
                  <a:lnTo>
                    <a:pt x="36618" y="138484"/>
                  </a:lnTo>
                  <a:lnTo>
                    <a:pt x="77703" y="157331"/>
                  </a:lnTo>
                  <a:lnTo>
                    <a:pt x="129804" y="169691"/>
                  </a:lnTo>
                  <a:lnTo>
                    <a:pt x="189796" y="174129"/>
                  </a:lnTo>
                  <a:lnTo>
                    <a:pt x="249782" y="169691"/>
                  </a:lnTo>
                  <a:lnTo>
                    <a:pt x="301881" y="157331"/>
                  </a:lnTo>
                  <a:lnTo>
                    <a:pt x="342965" y="138484"/>
                  </a:lnTo>
                  <a:lnTo>
                    <a:pt x="369909" y="114582"/>
                  </a:lnTo>
                  <a:lnTo>
                    <a:pt x="379585" y="87058"/>
                  </a:lnTo>
                  <a:lnTo>
                    <a:pt x="369909" y="59540"/>
                  </a:lnTo>
                  <a:lnTo>
                    <a:pt x="342965" y="35642"/>
                  </a:lnTo>
                  <a:lnTo>
                    <a:pt x="301881" y="16796"/>
                  </a:lnTo>
                  <a:lnTo>
                    <a:pt x="249782" y="4438"/>
                  </a:lnTo>
                  <a:lnTo>
                    <a:pt x="189796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3401255" y="2834017"/>
              <a:ext cx="379585" cy="174129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3401255" y="2834017"/>
              <a:ext cx="379730" cy="174625"/>
            </a:xfrm>
            <a:custGeom>
              <a:avLst/>
              <a:gdLst/>
              <a:ahLst/>
              <a:cxnLst/>
              <a:rect l="l" t="t" r="r" b="b"/>
              <a:pathLst>
                <a:path w="379729" h="174625">
                  <a:moveTo>
                    <a:pt x="379585" y="87058"/>
                  </a:moveTo>
                  <a:lnTo>
                    <a:pt x="342965" y="35642"/>
                  </a:lnTo>
                  <a:lnTo>
                    <a:pt x="301881" y="16796"/>
                  </a:lnTo>
                  <a:lnTo>
                    <a:pt x="249782" y="4438"/>
                  </a:lnTo>
                  <a:lnTo>
                    <a:pt x="189796" y="0"/>
                  </a:lnTo>
                  <a:lnTo>
                    <a:pt x="129804" y="4438"/>
                  </a:lnTo>
                  <a:lnTo>
                    <a:pt x="77703" y="16796"/>
                  </a:lnTo>
                  <a:lnTo>
                    <a:pt x="36618" y="35642"/>
                  </a:lnTo>
                  <a:lnTo>
                    <a:pt x="9675" y="59540"/>
                  </a:lnTo>
                  <a:lnTo>
                    <a:pt x="0" y="87058"/>
                  </a:lnTo>
                  <a:lnTo>
                    <a:pt x="9675" y="114582"/>
                  </a:lnTo>
                  <a:lnTo>
                    <a:pt x="36618" y="138484"/>
                  </a:lnTo>
                  <a:lnTo>
                    <a:pt x="77703" y="157331"/>
                  </a:lnTo>
                  <a:lnTo>
                    <a:pt x="129804" y="169691"/>
                  </a:lnTo>
                  <a:lnTo>
                    <a:pt x="189796" y="174129"/>
                  </a:lnTo>
                  <a:lnTo>
                    <a:pt x="249782" y="169691"/>
                  </a:lnTo>
                  <a:lnTo>
                    <a:pt x="301881" y="157331"/>
                  </a:lnTo>
                  <a:lnTo>
                    <a:pt x="342965" y="138484"/>
                  </a:lnTo>
                  <a:lnTo>
                    <a:pt x="369909" y="114582"/>
                  </a:lnTo>
                  <a:lnTo>
                    <a:pt x="379585" y="87058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7" name="object 167"/>
          <p:cNvSpPr txBox="1"/>
          <p:nvPr/>
        </p:nvSpPr>
        <p:spPr>
          <a:xfrm>
            <a:off x="3540378" y="2850266"/>
            <a:ext cx="1016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ID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2278719" y="2915996"/>
            <a:ext cx="1120140" cy="408940"/>
            <a:chOff x="2278719" y="2915996"/>
            <a:chExt cx="1120140" cy="408940"/>
          </a:xfrm>
        </p:grpSpPr>
        <p:sp>
          <p:nvSpPr>
            <p:cNvPr id="169" name="object 169"/>
            <p:cNvSpPr/>
            <p:nvPr/>
          </p:nvSpPr>
          <p:spPr>
            <a:xfrm>
              <a:off x="3213661" y="2921076"/>
              <a:ext cx="180340" cy="0"/>
            </a:xfrm>
            <a:custGeom>
              <a:avLst/>
              <a:gdLst/>
              <a:ahLst/>
              <a:cxnLst/>
              <a:rect l="l" t="t" r="r" b="b"/>
              <a:pathLst>
                <a:path w="180339">
                  <a:moveTo>
                    <a:pt x="180002" y="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2306191" y="3172804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30" h="152400">
                  <a:moveTo>
                    <a:pt x="189791" y="0"/>
                  </a:moveTo>
                  <a:lnTo>
                    <a:pt x="129801" y="3871"/>
                  </a:lnTo>
                  <a:lnTo>
                    <a:pt x="77702" y="14650"/>
                  </a:lnTo>
                  <a:lnTo>
                    <a:pt x="36618" y="31085"/>
                  </a:lnTo>
                  <a:lnTo>
                    <a:pt x="0" y="75920"/>
                  </a:lnTo>
                  <a:lnTo>
                    <a:pt x="9675" y="99919"/>
                  </a:lnTo>
                  <a:lnTo>
                    <a:pt x="36618" y="120760"/>
                  </a:lnTo>
                  <a:lnTo>
                    <a:pt x="77702" y="137194"/>
                  </a:lnTo>
                  <a:lnTo>
                    <a:pt x="129801" y="147971"/>
                  </a:lnTo>
                  <a:lnTo>
                    <a:pt x="189791" y="151841"/>
                  </a:lnTo>
                  <a:lnTo>
                    <a:pt x="249780" y="147971"/>
                  </a:lnTo>
                  <a:lnTo>
                    <a:pt x="301879" y="137194"/>
                  </a:lnTo>
                  <a:lnTo>
                    <a:pt x="342963" y="120760"/>
                  </a:lnTo>
                  <a:lnTo>
                    <a:pt x="369905" y="99919"/>
                  </a:lnTo>
                  <a:lnTo>
                    <a:pt x="379581" y="75920"/>
                  </a:lnTo>
                  <a:lnTo>
                    <a:pt x="369905" y="51926"/>
                  </a:lnTo>
                  <a:lnTo>
                    <a:pt x="342963" y="31085"/>
                  </a:lnTo>
                  <a:lnTo>
                    <a:pt x="301879" y="14650"/>
                  </a:lnTo>
                  <a:lnTo>
                    <a:pt x="249780" y="3871"/>
                  </a:lnTo>
                  <a:lnTo>
                    <a:pt x="189791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2286339" y="3152952"/>
              <a:ext cx="379581" cy="151841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2286339" y="3152952"/>
              <a:ext cx="379730" cy="152400"/>
            </a:xfrm>
            <a:custGeom>
              <a:avLst/>
              <a:gdLst/>
              <a:ahLst/>
              <a:cxnLst/>
              <a:rect l="l" t="t" r="r" b="b"/>
              <a:pathLst>
                <a:path w="379730" h="152400">
                  <a:moveTo>
                    <a:pt x="379581" y="75920"/>
                  </a:moveTo>
                  <a:lnTo>
                    <a:pt x="342963" y="31085"/>
                  </a:lnTo>
                  <a:lnTo>
                    <a:pt x="301879" y="14650"/>
                  </a:lnTo>
                  <a:lnTo>
                    <a:pt x="249780" y="3871"/>
                  </a:lnTo>
                  <a:lnTo>
                    <a:pt x="189791" y="0"/>
                  </a:lnTo>
                  <a:lnTo>
                    <a:pt x="129801" y="3871"/>
                  </a:lnTo>
                  <a:lnTo>
                    <a:pt x="77702" y="14650"/>
                  </a:lnTo>
                  <a:lnTo>
                    <a:pt x="36618" y="31085"/>
                  </a:lnTo>
                  <a:lnTo>
                    <a:pt x="9675" y="51926"/>
                  </a:lnTo>
                  <a:lnTo>
                    <a:pt x="0" y="75920"/>
                  </a:lnTo>
                  <a:lnTo>
                    <a:pt x="9675" y="99919"/>
                  </a:lnTo>
                  <a:lnTo>
                    <a:pt x="36618" y="120760"/>
                  </a:lnTo>
                  <a:lnTo>
                    <a:pt x="77702" y="137194"/>
                  </a:lnTo>
                  <a:lnTo>
                    <a:pt x="129801" y="147971"/>
                  </a:lnTo>
                  <a:lnTo>
                    <a:pt x="189791" y="151841"/>
                  </a:lnTo>
                  <a:lnTo>
                    <a:pt x="249780" y="147971"/>
                  </a:lnTo>
                  <a:lnTo>
                    <a:pt x="301879" y="137194"/>
                  </a:lnTo>
                  <a:lnTo>
                    <a:pt x="342963" y="120760"/>
                  </a:lnTo>
                  <a:lnTo>
                    <a:pt x="369905" y="99919"/>
                  </a:lnTo>
                  <a:lnTo>
                    <a:pt x="379581" y="75920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3" name="object 173"/>
          <p:cNvSpPr txBox="1"/>
          <p:nvPr/>
        </p:nvSpPr>
        <p:spPr>
          <a:xfrm>
            <a:off x="2362200" y="3166839"/>
            <a:ext cx="2279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Name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74" name="object 174"/>
          <p:cNvGrpSpPr/>
          <p:nvPr/>
        </p:nvGrpSpPr>
        <p:grpSpPr>
          <a:xfrm>
            <a:off x="2583195" y="3037471"/>
            <a:ext cx="1117600" cy="295275"/>
            <a:chOff x="2583195" y="3037471"/>
            <a:chExt cx="1117600" cy="295275"/>
          </a:xfrm>
        </p:grpSpPr>
        <p:sp>
          <p:nvSpPr>
            <p:cNvPr id="175" name="object 175"/>
            <p:cNvSpPr/>
            <p:nvPr/>
          </p:nvSpPr>
          <p:spPr>
            <a:xfrm>
              <a:off x="2588275" y="3042551"/>
              <a:ext cx="192405" cy="118110"/>
            </a:xfrm>
            <a:custGeom>
              <a:avLst/>
              <a:gdLst/>
              <a:ahLst/>
              <a:cxnLst/>
              <a:rect l="l" t="t" r="r" b="b"/>
              <a:pathLst>
                <a:path w="192405" h="118110">
                  <a:moveTo>
                    <a:pt x="0" y="117589"/>
                  </a:moveTo>
                  <a:lnTo>
                    <a:pt x="191869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3310227" y="3172804"/>
              <a:ext cx="382270" cy="152400"/>
            </a:xfrm>
            <a:custGeom>
              <a:avLst/>
              <a:gdLst/>
              <a:ahLst/>
              <a:cxnLst/>
              <a:rect l="l" t="t" r="r" b="b"/>
              <a:pathLst>
                <a:path w="382270" h="152400">
                  <a:moveTo>
                    <a:pt x="190973" y="0"/>
                  </a:moveTo>
                  <a:lnTo>
                    <a:pt x="130610" y="3871"/>
                  </a:lnTo>
                  <a:lnTo>
                    <a:pt x="78186" y="14650"/>
                  </a:lnTo>
                  <a:lnTo>
                    <a:pt x="36846" y="31085"/>
                  </a:lnTo>
                  <a:lnTo>
                    <a:pt x="0" y="75920"/>
                  </a:lnTo>
                  <a:lnTo>
                    <a:pt x="9735" y="99919"/>
                  </a:lnTo>
                  <a:lnTo>
                    <a:pt x="36846" y="120760"/>
                  </a:lnTo>
                  <a:lnTo>
                    <a:pt x="78186" y="137194"/>
                  </a:lnTo>
                  <a:lnTo>
                    <a:pt x="130610" y="147971"/>
                  </a:lnTo>
                  <a:lnTo>
                    <a:pt x="190973" y="151841"/>
                  </a:lnTo>
                  <a:lnTo>
                    <a:pt x="251336" y="147971"/>
                  </a:lnTo>
                  <a:lnTo>
                    <a:pt x="303759" y="137194"/>
                  </a:lnTo>
                  <a:lnTo>
                    <a:pt x="345098" y="120760"/>
                  </a:lnTo>
                  <a:lnTo>
                    <a:pt x="372208" y="99919"/>
                  </a:lnTo>
                  <a:lnTo>
                    <a:pt x="381943" y="75920"/>
                  </a:lnTo>
                  <a:lnTo>
                    <a:pt x="372208" y="51926"/>
                  </a:lnTo>
                  <a:lnTo>
                    <a:pt x="345098" y="31085"/>
                  </a:lnTo>
                  <a:lnTo>
                    <a:pt x="303759" y="14650"/>
                  </a:lnTo>
                  <a:lnTo>
                    <a:pt x="251336" y="3871"/>
                  </a:lnTo>
                  <a:lnTo>
                    <a:pt x="190973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3290375" y="3152952"/>
              <a:ext cx="381943" cy="151841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3290375" y="3152952"/>
              <a:ext cx="382270" cy="152400"/>
            </a:xfrm>
            <a:custGeom>
              <a:avLst/>
              <a:gdLst/>
              <a:ahLst/>
              <a:cxnLst/>
              <a:rect l="l" t="t" r="r" b="b"/>
              <a:pathLst>
                <a:path w="382270" h="152400">
                  <a:moveTo>
                    <a:pt x="381943" y="75920"/>
                  </a:moveTo>
                  <a:lnTo>
                    <a:pt x="345098" y="31085"/>
                  </a:lnTo>
                  <a:lnTo>
                    <a:pt x="303759" y="14650"/>
                  </a:lnTo>
                  <a:lnTo>
                    <a:pt x="251336" y="3871"/>
                  </a:lnTo>
                  <a:lnTo>
                    <a:pt x="190973" y="0"/>
                  </a:lnTo>
                  <a:lnTo>
                    <a:pt x="130610" y="3871"/>
                  </a:lnTo>
                  <a:lnTo>
                    <a:pt x="78186" y="14650"/>
                  </a:lnTo>
                  <a:lnTo>
                    <a:pt x="36846" y="31085"/>
                  </a:lnTo>
                  <a:lnTo>
                    <a:pt x="9735" y="51926"/>
                  </a:lnTo>
                  <a:lnTo>
                    <a:pt x="0" y="75920"/>
                  </a:lnTo>
                  <a:lnTo>
                    <a:pt x="9735" y="99919"/>
                  </a:lnTo>
                  <a:lnTo>
                    <a:pt x="36846" y="120760"/>
                  </a:lnTo>
                  <a:lnTo>
                    <a:pt x="78186" y="137194"/>
                  </a:lnTo>
                  <a:lnTo>
                    <a:pt x="130610" y="147971"/>
                  </a:lnTo>
                  <a:lnTo>
                    <a:pt x="190973" y="151841"/>
                  </a:lnTo>
                  <a:lnTo>
                    <a:pt x="251336" y="147971"/>
                  </a:lnTo>
                  <a:lnTo>
                    <a:pt x="303759" y="137194"/>
                  </a:lnTo>
                  <a:lnTo>
                    <a:pt x="345098" y="120760"/>
                  </a:lnTo>
                  <a:lnTo>
                    <a:pt x="372208" y="99919"/>
                  </a:lnTo>
                  <a:lnTo>
                    <a:pt x="381943" y="75920"/>
                  </a:lnTo>
                  <a:close/>
                </a:path>
              </a:pathLst>
            </a:custGeom>
            <a:ln w="55671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3290375" y="3152952"/>
              <a:ext cx="382270" cy="152400"/>
            </a:xfrm>
            <a:custGeom>
              <a:avLst/>
              <a:gdLst/>
              <a:ahLst/>
              <a:cxnLst/>
              <a:rect l="l" t="t" r="r" b="b"/>
              <a:pathLst>
                <a:path w="382270" h="152400">
                  <a:moveTo>
                    <a:pt x="381943" y="75920"/>
                  </a:moveTo>
                  <a:lnTo>
                    <a:pt x="345098" y="31085"/>
                  </a:lnTo>
                  <a:lnTo>
                    <a:pt x="303759" y="14650"/>
                  </a:lnTo>
                  <a:lnTo>
                    <a:pt x="251336" y="3871"/>
                  </a:lnTo>
                  <a:lnTo>
                    <a:pt x="190973" y="0"/>
                  </a:lnTo>
                  <a:lnTo>
                    <a:pt x="130610" y="3871"/>
                  </a:lnTo>
                  <a:lnTo>
                    <a:pt x="78186" y="14650"/>
                  </a:lnTo>
                  <a:lnTo>
                    <a:pt x="36846" y="31085"/>
                  </a:lnTo>
                  <a:lnTo>
                    <a:pt x="9735" y="51926"/>
                  </a:lnTo>
                  <a:lnTo>
                    <a:pt x="0" y="75920"/>
                  </a:lnTo>
                  <a:lnTo>
                    <a:pt x="9735" y="99919"/>
                  </a:lnTo>
                  <a:lnTo>
                    <a:pt x="36846" y="120760"/>
                  </a:lnTo>
                  <a:lnTo>
                    <a:pt x="78186" y="137194"/>
                  </a:lnTo>
                  <a:lnTo>
                    <a:pt x="130610" y="147971"/>
                  </a:lnTo>
                  <a:lnTo>
                    <a:pt x="190973" y="151841"/>
                  </a:lnTo>
                  <a:lnTo>
                    <a:pt x="251336" y="147971"/>
                  </a:lnTo>
                  <a:lnTo>
                    <a:pt x="303759" y="137194"/>
                  </a:lnTo>
                  <a:lnTo>
                    <a:pt x="345098" y="120760"/>
                  </a:lnTo>
                  <a:lnTo>
                    <a:pt x="372208" y="99919"/>
                  </a:lnTo>
                  <a:lnTo>
                    <a:pt x="381943" y="75920"/>
                  </a:lnTo>
                  <a:close/>
                </a:path>
              </a:pathLst>
            </a:custGeom>
            <a:ln w="253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0" name="object 180"/>
          <p:cNvSpPr txBox="1"/>
          <p:nvPr/>
        </p:nvSpPr>
        <p:spPr>
          <a:xfrm>
            <a:off x="3358896" y="3166839"/>
            <a:ext cx="2451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Phone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181" name="object 181"/>
          <p:cNvGrpSpPr/>
          <p:nvPr/>
        </p:nvGrpSpPr>
        <p:grpSpPr>
          <a:xfrm>
            <a:off x="2738018" y="3037471"/>
            <a:ext cx="635635" cy="364490"/>
            <a:chOff x="2738018" y="3037471"/>
            <a:chExt cx="635635" cy="364490"/>
          </a:xfrm>
        </p:grpSpPr>
        <p:sp>
          <p:nvSpPr>
            <p:cNvPr id="182" name="object 182"/>
            <p:cNvSpPr/>
            <p:nvPr/>
          </p:nvSpPr>
          <p:spPr>
            <a:xfrm>
              <a:off x="3176828" y="3042551"/>
              <a:ext cx="191770" cy="117475"/>
            </a:xfrm>
            <a:custGeom>
              <a:avLst/>
              <a:gdLst/>
              <a:ahLst/>
              <a:cxnLst/>
              <a:rect l="l" t="t" r="r" b="b"/>
              <a:pathLst>
                <a:path w="191770" h="117475">
                  <a:moveTo>
                    <a:pt x="191664" y="117271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2765490" y="3249995"/>
              <a:ext cx="465455" cy="152400"/>
            </a:xfrm>
            <a:custGeom>
              <a:avLst/>
              <a:gdLst/>
              <a:ahLst/>
              <a:cxnLst/>
              <a:rect l="l" t="t" r="r" b="b"/>
              <a:pathLst>
                <a:path w="465455" h="152400">
                  <a:moveTo>
                    <a:pt x="232683" y="0"/>
                  </a:moveTo>
                  <a:lnTo>
                    <a:pt x="170826" y="2711"/>
                  </a:lnTo>
                  <a:lnTo>
                    <a:pt x="115242" y="10363"/>
                  </a:lnTo>
                  <a:lnTo>
                    <a:pt x="68150" y="22232"/>
                  </a:lnTo>
                  <a:lnTo>
                    <a:pt x="31767" y="37595"/>
                  </a:lnTo>
                  <a:lnTo>
                    <a:pt x="0" y="75907"/>
                  </a:lnTo>
                  <a:lnTo>
                    <a:pt x="8311" y="96092"/>
                  </a:lnTo>
                  <a:lnTo>
                    <a:pt x="68150" y="129593"/>
                  </a:lnTo>
                  <a:lnTo>
                    <a:pt x="115242" y="141464"/>
                  </a:lnTo>
                  <a:lnTo>
                    <a:pt x="170826" y="149116"/>
                  </a:lnTo>
                  <a:lnTo>
                    <a:pt x="232683" y="151828"/>
                  </a:lnTo>
                  <a:lnTo>
                    <a:pt x="294539" y="149116"/>
                  </a:lnTo>
                  <a:lnTo>
                    <a:pt x="350123" y="141464"/>
                  </a:lnTo>
                  <a:lnTo>
                    <a:pt x="397215" y="129593"/>
                  </a:lnTo>
                  <a:lnTo>
                    <a:pt x="433598" y="114228"/>
                  </a:lnTo>
                  <a:lnTo>
                    <a:pt x="465366" y="75907"/>
                  </a:lnTo>
                  <a:lnTo>
                    <a:pt x="457054" y="55728"/>
                  </a:lnTo>
                  <a:lnTo>
                    <a:pt x="397215" y="22232"/>
                  </a:lnTo>
                  <a:lnTo>
                    <a:pt x="350123" y="10363"/>
                  </a:lnTo>
                  <a:lnTo>
                    <a:pt x="294539" y="2711"/>
                  </a:lnTo>
                  <a:lnTo>
                    <a:pt x="232683" y="0"/>
                  </a:lnTo>
                  <a:close/>
                </a:path>
              </a:pathLst>
            </a:custGeom>
            <a:solidFill>
              <a:srgbClr val="7F7F7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2745638" y="3230143"/>
              <a:ext cx="465366" cy="151828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2745638" y="3230143"/>
              <a:ext cx="465455" cy="152400"/>
            </a:xfrm>
            <a:custGeom>
              <a:avLst/>
              <a:gdLst/>
              <a:ahLst/>
              <a:cxnLst/>
              <a:rect l="l" t="t" r="r" b="b"/>
              <a:pathLst>
                <a:path w="465455" h="152400">
                  <a:moveTo>
                    <a:pt x="465366" y="75907"/>
                  </a:moveTo>
                  <a:lnTo>
                    <a:pt x="433598" y="37595"/>
                  </a:lnTo>
                  <a:lnTo>
                    <a:pt x="397215" y="22232"/>
                  </a:lnTo>
                  <a:lnTo>
                    <a:pt x="350123" y="10363"/>
                  </a:lnTo>
                  <a:lnTo>
                    <a:pt x="294539" y="2711"/>
                  </a:lnTo>
                  <a:lnTo>
                    <a:pt x="232683" y="0"/>
                  </a:lnTo>
                  <a:lnTo>
                    <a:pt x="170826" y="2711"/>
                  </a:lnTo>
                  <a:lnTo>
                    <a:pt x="115242" y="10363"/>
                  </a:lnTo>
                  <a:lnTo>
                    <a:pt x="68150" y="22232"/>
                  </a:lnTo>
                  <a:lnTo>
                    <a:pt x="31767" y="37595"/>
                  </a:lnTo>
                  <a:lnTo>
                    <a:pt x="0" y="75907"/>
                  </a:lnTo>
                  <a:lnTo>
                    <a:pt x="8311" y="96092"/>
                  </a:lnTo>
                  <a:lnTo>
                    <a:pt x="68150" y="129593"/>
                  </a:lnTo>
                  <a:lnTo>
                    <a:pt x="115242" y="141464"/>
                  </a:lnTo>
                  <a:lnTo>
                    <a:pt x="170826" y="149116"/>
                  </a:lnTo>
                  <a:lnTo>
                    <a:pt x="232683" y="151828"/>
                  </a:lnTo>
                  <a:lnTo>
                    <a:pt x="294539" y="149116"/>
                  </a:lnTo>
                  <a:lnTo>
                    <a:pt x="350123" y="141464"/>
                  </a:lnTo>
                  <a:lnTo>
                    <a:pt x="397215" y="129593"/>
                  </a:lnTo>
                  <a:lnTo>
                    <a:pt x="433598" y="114228"/>
                  </a:lnTo>
                  <a:lnTo>
                    <a:pt x="465366" y="75907"/>
                  </a:lnTo>
                  <a:close/>
                </a:path>
              </a:pathLst>
            </a:custGeom>
            <a:ln w="15183">
              <a:solidFill>
                <a:srgbClr val="FFF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6" name="object 186"/>
          <p:cNvSpPr txBox="1"/>
          <p:nvPr/>
        </p:nvSpPr>
        <p:spPr>
          <a:xfrm>
            <a:off x="2826385" y="3244016"/>
            <a:ext cx="304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latin typeface="Arial"/>
                <a:cs typeface="Arial"/>
              </a:rPr>
              <a:t>A</a:t>
            </a:r>
            <a:r>
              <a:rPr sz="600" u="sng" spc="-5" dirty="0">
                <a:uFill>
                  <a:solidFill>
                    <a:srgbClr val="D6D6EF"/>
                  </a:solidFill>
                </a:uFill>
                <a:latin typeface="Arial"/>
                <a:cs typeface="Arial"/>
              </a:rPr>
              <a:t>d</a:t>
            </a:r>
            <a:r>
              <a:rPr sz="600" spc="-5" dirty="0">
                <a:latin typeface="Arial"/>
                <a:cs typeface="Arial"/>
              </a:rPr>
              <a:t>dress</a:t>
            </a:r>
            <a:endParaRPr sz="600">
              <a:latin typeface="Arial"/>
              <a:cs typeface="Arial"/>
            </a:endParaRPr>
          </a:p>
        </p:txBody>
      </p:sp>
      <p:sp>
        <p:nvSpPr>
          <p:cNvPr id="187" name="object 187"/>
          <p:cNvSpPr/>
          <p:nvPr/>
        </p:nvSpPr>
        <p:spPr>
          <a:xfrm>
            <a:off x="2860544" y="1976021"/>
            <a:ext cx="252095" cy="1247140"/>
          </a:xfrm>
          <a:custGeom>
            <a:avLst/>
            <a:gdLst/>
            <a:ahLst/>
            <a:cxnLst/>
            <a:rect l="l" t="t" r="r" b="b"/>
            <a:pathLst>
              <a:path w="252094" h="1247139">
                <a:moveTo>
                  <a:pt x="117777" y="1246527"/>
                </a:moveTo>
                <a:lnTo>
                  <a:pt x="117777" y="1066530"/>
                </a:lnTo>
              </a:path>
              <a:path w="252094" h="1247139">
                <a:moveTo>
                  <a:pt x="161987" y="823592"/>
                </a:moveTo>
                <a:lnTo>
                  <a:pt x="161987" y="0"/>
                </a:lnTo>
                <a:lnTo>
                  <a:pt x="251967" y="0"/>
                </a:lnTo>
              </a:path>
              <a:path w="252094" h="1247139">
                <a:moveTo>
                  <a:pt x="73567" y="823592"/>
                </a:moveTo>
                <a:lnTo>
                  <a:pt x="73567" y="0"/>
                </a:lnTo>
                <a:lnTo>
                  <a:pt x="0" y="0"/>
                </a:lnTo>
              </a:path>
            </a:pathLst>
          </a:custGeom>
          <a:ln w="101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 txBox="1"/>
          <p:nvPr/>
        </p:nvSpPr>
        <p:spPr>
          <a:xfrm>
            <a:off x="1792692" y="2655219"/>
            <a:ext cx="1459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9640">
              <a:lnSpc>
                <a:spcPct val="100000"/>
              </a:lnSpc>
              <a:spcBef>
                <a:spcPts val="95"/>
              </a:spcBef>
              <a:tabLst>
                <a:tab pos="1259840" algn="l"/>
              </a:tabLst>
            </a:pPr>
            <a:r>
              <a:rPr sz="600" spc="-5" dirty="0">
                <a:latin typeface="Arial"/>
                <a:cs typeface="Arial"/>
              </a:rPr>
              <a:t>seller	</a:t>
            </a:r>
            <a:r>
              <a:rPr sz="900" spc="-30" baseline="4629" dirty="0">
                <a:latin typeface="Arial"/>
                <a:cs typeface="Arial"/>
              </a:rPr>
              <a:t>b</a:t>
            </a:r>
            <a:r>
              <a:rPr sz="900" spc="-7" baseline="4629" dirty="0">
                <a:latin typeface="Arial"/>
                <a:cs typeface="Arial"/>
              </a:rPr>
              <a:t>u</a:t>
            </a:r>
            <a:r>
              <a:rPr sz="900" spc="-30" baseline="4629" dirty="0">
                <a:latin typeface="Arial"/>
                <a:cs typeface="Arial"/>
              </a:rPr>
              <a:t>y</a:t>
            </a:r>
            <a:r>
              <a:rPr sz="900" spc="-7" baseline="4629" dirty="0">
                <a:latin typeface="Arial"/>
                <a:cs typeface="Arial"/>
              </a:rPr>
              <a:t>er</a:t>
            </a:r>
            <a:endParaRPr sz="900" baseline="4629">
              <a:latin typeface="Arial"/>
              <a:cs typeface="Arial"/>
            </a:endParaRPr>
          </a:p>
        </p:txBody>
      </p:sp>
      <p:pic>
        <p:nvPicPr>
          <p:cNvPr id="189" name="صورة 18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1791" y="-13991"/>
            <a:ext cx="4588799" cy="343821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12128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Generic</a:t>
            </a:r>
            <a:r>
              <a:rPr spc="-60" dirty="0"/>
              <a:t> </a:t>
            </a:r>
            <a:r>
              <a:rPr spc="15" dirty="0"/>
              <a:t>model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67360" y="327862"/>
            <a:ext cx="30410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9230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Char char="►"/>
              <a:tabLst>
                <a:tab pos="189865" algn="l"/>
              </a:tabLst>
            </a:pPr>
            <a:r>
              <a:rPr sz="1100" spc="-10" dirty="0">
                <a:latin typeface="Arial"/>
                <a:cs typeface="Arial"/>
              </a:rPr>
              <a:t>And </a:t>
            </a:r>
            <a:r>
              <a:rPr sz="1100" spc="-5" dirty="0">
                <a:latin typeface="Arial"/>
                <a:cs typeface="Arial"/>
              </a:rPr>
              <a:t>then </a:t>
            </a:r>
            <a:r>
              <a:rPr sz="1100" spc="-15" dirty="0">
                <a:latin typeface="Arial"/>
                <a:cs typeface="Arial"/>
              </a:rPr>
              <a:t>there’s always </a:t>
            </a:r>
            <a:r>
              <a:rPr sz="1100" spc="-5" dirty="0">
                <a:latin typeface="Arial"/>
                <a:cs typeface="Arial"/>
              </a:rPr>
              <a:t>the generic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approach:</a:t>
            </a:r>
            <a:endParaRPr sz="11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97040" y="908332"/>
            <a:ext cx="3511295" cy="22817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3306" y="78999"/>
            <a:ext cx="489584" cy="1968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2865">
              <a:lnSpc>
                <a:spcPts val="700"/>
              </a:lnSpc>
              <a:spcBef>
                <a:spcPts val="135"/>
              </a:spcBef>
            </a:pP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Database  Man</a:t>
            </a:r>
            <a:r>
              <a:rPr sz="600" b="1" spc="-1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a</a:t>
            </a:r>
            <a:r>
              <a:rPr sz="600" b="1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g</a:t>
            </a:r>
            <a:r>
              <a:rPr sz="600" b="1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ement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3263" y="557484"/>
            <a:ext cx="64706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2" action="ppaction://hlinksldjump"/>
              </a:rPr>
              <a:t>Overview</a:t>
            </a:r>
            <a:endParaRPr sz="600">
              <a:latin typeface="Arial"/>
              <a:cs typeface="Arial"/>
            </a:endParaRPr>
          </a:p>
          <a:p>
            <a:pPr marL="12700" marR="170815">
              <a:lnSpc>
                <a:spcPct val="172000"/>
              </a:lnSpc>
            </a:pP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3" action="ppaction://hlinksldjump"/>
              </a:rPr>
              <a:t>Entities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4" action="ppaction://hlinksldjump"/>
              </a:rPr>
              <a:t>Attributes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5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  <a:p>
            <a:pPr marL="12700" marR="5080">
              <a:lnSpc>
                <a:spcPct val="172000"/>
              </a:lnSpc>
            </a:pPr>
            <a:r>
              <a:rPr sz="600" spc="-1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Weak </a:t>
            </a:r>
            <a:r>
              <a:rPr sz="600" spc="-5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Entity</a:t>
            </a:r>
            <a:r>
              <a:rPr sz="600" spc="-4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  <a:hlinkClick r:id="rId6" action="ppaction://hlinksldjump"/>
              </a:rPr>
              <a:t>Types </a:t>
            </a:r>
            <a:r>
              <a:rPr sz="600" spc="-20" dirty="0">
                <a:solidFill>
                  <a:srgbClr val="ADADE0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ISA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7" action="ppaction://hlinksldjump"/>
              </a:rPr>
              <a:t>relationships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68360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8743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6654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555862" y="3358384"/>
            <a:ext cx="203200" cy="55880"/>
            <a:chOff x="2555862" y="3358384"/>
            <a:chExt cx="203200" cy="55880"/>
          </a:xfrm>
        </p:grpSpPr>
        <p:sp>
          <p:nvSpPr>
            <p:cNvPr id="8" name="object 8"/>
            <p:cNvSpPr/>
            <p:nvPr/>
          </p:nvSpPr>
          <p:spPr>
            <a:xfrm>
              <a:off x="2619031" y="336091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862" y="336726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822981" y="3357119"/>
            <a:ext cx="203200" cy="58419"/>
            <a:chOff x="2822981" y="3357119"/>
            <a:chExt cx="203200" cy="58419"/>
          </a:xfrm>
        </p:grpSpPr>
        <p:sp>
          <p:nvSpPr>
            <p:cNvPr id="11" name="object 11"/>
            <p:cNvSpPr/>
            <p:nvPr/>
          </p:nvSpPr>
          <p:spPr>
            <a:xfrm>
              <a:off x="2911882" y="3373615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22981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9182" y="336091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090113" y="3357119"/>
            <a:ext cx="203200" cy="58419"/>
            <a:chOff x="3090113" y="3357119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166314" y="336091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90113" y="336726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66314" y="339901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343343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3606581" y="3358384"/>
            <a:ext cx="238760" cy="57150"/>
            <a:chOff x="3606581" y="3358384"/>
            <a:chExt cx="238760" cy="57150"/>
          </a:xfrm>
        </p:grpSpPr>
        <p:sp>
          <p:nvSpPr>
            <p:cNvPr id="20" name="object 20"/>
            <p:cNvSpPr/>
            <p:nvPr/>
          </p:nvSpPr>
          <p:spPr>
            <a:xfrm>
              <a:off x="3731032" y="339139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03968" y="3364900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9111" y="336091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59814"/>
            <a:ext cx="17100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For </a:t>
            </a:r>
            <a:r>
              <a:rPr spc="15" dirty="0"/>
              <a:t>more</a:t>
            </a:r>
            <a:r>
              <a:rPr spc="-15" dirty="0"/>
              <a:t> </a:t>
            </a:r>
            <a:r>
              <a:rPr spc="10" dirty="0"/>
              <a:t>information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41897" y="1240013"/>
            <a:ext cx="244094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Arial"/>
                <a:cs typeface="Arial"/>
              </a:rPr>
              <a:t>See, e.g.,</a:t>
            </a:r>
            <a:endParaRPr sz="110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5" dirty="0">
                <a:latin typeface="Arial"/>
                <a:cs typeface="Arial"/>
              </a:rPr>
              <a:t>Chapter </a:t>
            </a:r>
            <a:r>
              <a:rPr sz="1100" spc="-10" dirty="0">
                <a:latin typeface="Arial"/>
                <a:cs typeface="Arial"/>
              </a:rPr>
              <a:t>12 </a:t>
            </a:r>
            <a:r>
              <a:rPr sz="1100" spc="-5" dirty="0">
                <a:latin typeface="Arial"/>
                <a:cs typeface="Arial"/>
              </a:rPr>
              <a:t>of Connolly </a:t>
            </a:r>
            <a:r>
              <a:rPr sz="1100" spc="-10" dirty="0">
                <a:latin typeface="Arial"/>
                <a:cs typeface="Arial"/>
              </a:rPr>
              <a:t>and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Begg.</a:t>
            </a:r>
            <a:endParaRPr sz="110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5" dirty="0">
                <a:latin typeface="Arial"/>
                <a:cs typeface="Arial"/>
              </a:rPr>
              <a:t>Chapter </a:t>
            </a:r>
            <a:r>
              <a:rPr sz="1100" spc="-10" dirty="0">
                <a:latin typeface="Arial"/>
                <a:cs typeface="Arial"/>
              </a:rPr>
              <a:t>7 </a:t>
            </a:r>
            <a:r>
              <a:rPr sz="1100" spc="-5" dirty="0">
                <a:latin typeface="Arial"/>
                <a:cs typeface="Arial"/>
              </a:rPr>
              <a:t>of Silberschatz et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al.</a:t>
            </a:r>
            <a:endParaRPr sz="110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100" spc="-5" dirty="0">
                <a:latin typeface="Arial"/>
                <a:cs typeface="Arial"/>
              </a:rPr>
              <a:t>Chapter </a:t>
            </a:r>
            <a:r>
              <a:rPr sz="1100" spc="-10" dirty="0">
                <a:latin typeface="Arial"/>
                <a:cs typeface="Arial"/>
              </a:rPr>
              <a:t>4 </a:t>
            </a:r>
            <a:r>
              <a:rPr sz="1100" spc="-5" dirty="0">
                <a:latin typeface="Arial"/>
                <a:cs typeface="Arial"/>
              </a:rPr>
              <a:t>of Ullman </a:t>
            </a:r>
            <a:r>
              <a:rPr sz="1100" spc="-1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Widom.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2508</TotalTime>
  <Words>2235</Words>
  <Application>Microsoft Office PowerPoint</Application>
  <PresentationFormat>Custom</PresentationFormat>
  <Paragraphs>419</Paragraphs>
  <Slides>38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Tahoma</vt:lpstr>
      <vt:lpstr>Times New Roman</vt:lpstr>
      <vt:lpstr>Office Theme</vt:lpstr>
      <vt:lpstr>The Entity Relationship Model</vt:lpstr>
      <vt:lpstr>Modelling Steps</vt:lpstr>
      <vt:lpstr>The Components of the ER Model</vt:lpstr>
      <vt:lpstr>The Main Advantages of the ER Model</vt:lpstr>
      <vt:lpstr>The Building Blocks of an ERD</vt:lpstr>
      <vt:lpstr>Entities and Entity Types</vt:lpstr>
      <vt:lpstr>Attributes</vt:lpstr>
      <vt:lpstr>Example of Entity Type and Attributes</vt:lpstr>
      <vt:lpstr>Domain</vt:lpstr>
      <vt:lpstr>Relationship Types</vt:lpstr>
      <vt:lpstr>Relationships A relationship is an instance of a relationship type, i.e., it  is the set of associations between the entities comprising  the entity types associated by the relationship type.</vt:lpstr>
      <vt:lpstr>Multiplicity Constraints in Relationship Types</vt:lpstr>
      <vt:lpstr>Example of many-to-one relationship type</vt:lpstr>
      <vt:lpstr>Example of many-to-one relationship</vt:lpstr>
      <vt:lpstr>Example of one-to-one relationship type</vt:lpstr>
      <vt:lpstr>Example of one-to-one relationship</vt:lpstr>
      <vt:lpstr>Example of many-to-many relationship type</vt:lpstr>
      <vt:lpstr>Example of many-to-many relationship</vt:lpstr>
      <vt:lpstr>Multiple relationship types There may be more than one relationship type between  two entity types.</vt:lpstr>
      <vt:lpstr>Participation Constraints in Relationships</vt:lpstr>
      <vt:lpstr>Example of Participation Constraints</vt:lpstr>
      <vt:lpstr>Binary Versus Multiway Relationship Types</vt:lpstr>
      <vt:lpstr>Keys and Superkeys</vt:lpstr>
      <vt:lpstr>Definition of primary key of an entity type. A primary  key is a key that has been designated as such by the  database designer.</vt:lpstr>
      <vt:lpstr>Cyclic Relationship Types</vt:lpstr>
      <vt:lpstr>Example of a Cyclic Relationship Type with  Roles</vt:lpstr>
      <vt:lpstr>Relationship Types with Attributes</vt:lpstr>
      <vt:lpstr>Weak Entity Types</vt:lpstr>
      <vt:lpstr>Weak Entity Type and ID Relationship Type</vt:lpstr>
      <vt:lpstr>Weak Entity Types in an ERD</vt:lpstr>
      <vt:lpstr>ISA Relationship Types</vt:lpstr>
      <vt:lpstr>ISA Relationships</vt:lpstr>
      <vt:lpstr>PowerPoint Presentation</vt:lpstr>
      <vt:lpstr>PowerPoint Presentation</vt:lpstr>
      <vt:lpstr>Informal Method for Constructing an ERD</vt:lpstr>
      <vt:lpstr>ERD Example</vt:lpstr>
      <vt:lpstr>Generic model</vt:lpstr>
      <vt:lpstr>For more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</dc:title>
  <dc:creator>Peter Wood</dc:creator>
  <cp:lastModifiedBy>rehan Asmatullah a khan</cp:lastModifiedBy>
  <cp:revision>69</cp:revision>
  <dcterms:created xsi:type="dcterms:W3CDTF">2020-08-23T21:45:32Z</dcterms:created>
  <dcterms:modified xsi:type="dcterms:W3CDTF">2026-09-13T08:53:29Z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2019-01-23T00:00:00Z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2020-08-23T00:00:00Z</vt:filetime>
  </property>
</Properties>
</file>