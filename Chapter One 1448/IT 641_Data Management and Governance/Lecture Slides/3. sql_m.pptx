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84" r:id="rId4"/>
    <p:sldId id="385" r:id="rId5"/>
    <p:sldId id="258" r:id="rId6"/>
    <p:sldId id="259" r:id="rId7"/>
    <p:sldId id="264" r:id="rId8"/>
    <p:sldId id="267" r:id="rId9"/>
    <p:sldId id="272" r:id="rId10"/>
    <p:sldId id="274" r:id="rId11"/>
    <p:sldId id="279" r:id="rId12"/>
    <p:sldId id="283" r:id="rId13"/>
    <p:sldId id="287" r:id="rId14"/>
    <p:sldId id="290" r:id="rId15"/>
    <p:sldId id="293" r:id="rId16"/>
    <p:sldId id="297" r:id="rId17"/>
    <p:sldId id="303" r:id="rId18"/>
    <p:sldId id="305" r:id="rId19"/>
    <p:sldId id="306" r:id="rId20"/>
    <p:sldId id="307" r:id="rId21"/>
    <p:sldId id="308" r:id="rId22"/>
    <p:sldId id="309" r:id="rId23"/>
    <p:sldId id="310" r:id="rId24"/>
    <p:sldId id="311" r:id="rId25"/>
    <p:sldId id="312" r:id="rId26"/>
    <p:sldId id="313" r:id="rId27"/>
    <p:sldId id="314" r:id="rId28"/>
    <p:sldId id="315" r:id="rId29"/>
    <p:sldId id="319" r:id="rId30"/>
    <p:sldId id="320" r:id="rId31"/>
    <p:sldId id="323" r:id="rId32"/>
    <p:sldId id="324" r:id="rId33"/>
    <p:sldId id="325" r:id="rId34"/>
    <p:sldId id="326" r:id="rId35"/>
    <p:sldId id="327" r:id="rId36"/>
    <p:sldId id="328" r:id="rId37"/>
    <p:sldId id="329" r:id="rId38"/>
    <p:sldId id="330" r:id="rId39"/>
    <p:sldId id="332" r:id="rId40"/>
    <p:sldId id="333" r:id="rId41"/>
    <p:sldId id="334" r:id="rId42"/>
    <p:sldId id="338" r:id="rId43"/>
    <p:sldId id="339" r:id="rId44"/>
    <p:sldId id="341" r:id="rId45"/>
    <p:sldId id="342" r:id="rId46"/>
    <p:sldId id="343" r:id="rId47"/>
    <p:sldId id="346" r:id="rId48"/>
    <p:sldId id="351" r:id="rId49"/>
    <p:sldId id="355" r:id="rId50"/>
    <p:sldId id="363" r:id="rId51"/>
    <p:sldId id="365" r:id="rId52"/>
    <p:sldId id="366" r:id="rId53"/>
    <p:sldId id="367" r:id="rId54"/>
    <p:sldId id="368" r:id="rId55"/>
    <p:sldId id="373" r:id="rId56"/>
    <p:sldId id="374" r:id="rId57"/>
    <p:sldId id="380" r:id="rId58"/>
    <p:sldId id="381" r:id="rId59"/>
    <p:sldId id="382" r:id="rId60"/>
    <p:sldId id="383" r:id="rId61"/>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218" d="100"/>
          <a:sy n="218" d="100"/>
        </p:scale>
        <p:origin x="1764" y="162"/>
      </p:cViewPr>
      <p:guideLst>
        <p:guide orient="horz" pos="2880"/>
        <p:guide pos="2160"/>
      </p:guideLst>
    </p:cSldViewPr>
  </p:slideViewPr>
  <p:notesTextViewPr>
    <p:cViewPr>
      <p:scale>
        <a:sx n="100" d="100"/>
        <a:sy n="100" d="100"/>
      </p:scale>
      <p:origin x="0" y="0"/>
    </p:cViewPr>
  </p:notesTextViewPr>
  <p:sorterViewPr>
    <p:cViewPr varScale="1">
      <p:scale>
        <a:sx n="1" d="1"/>
        <a:sy n="1" d="1"/>
      </p:scale>
      <p:origin x="0" y="-86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3888003" y="0"/>
            <a:ext cx="720000" cy="3456000"/>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95300" y="59814"/>
            <a:ext cx="835660" cy="24447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1011923" y="955611"/>
            <a:ext cx="1866900" cy="14173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5.xml"/><Relationship Id="rId4" Type="http://schemas.openxmlformats.org/officeDocument/2006/relationships/slide" Target="slide10.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slide" Target="slide15.xml"/></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3.xml"/><Relationship Id="rId5" Type="http://schemas.openxmlformats.org/officeDocument/2006/relationships/slide" Target="slide18.xml"/><Relationship Id="rId4" Type="http://schemas.openxmlformats.org/officeDocument/2006/relationships/slide" Target="slide15.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2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27.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60.xml"/><Relationship Id="rId1" Type="http://schemas.openxmlformats.org/officeDocument/2006/relationships/slideLayout" Target="../slideLayouts/slideLayout2.xml"/><Relationship Id="rId5" Type="http://schemas.openxmlformats.org/officeDocument/2006/relationships/slide" Target="slide51.xml"/><Relationship Id="rId4" Type="http://schemas.openxmlformats.org/officeDocument/2006/relationships/slide" Target="slide46.xml"/></Relationships>
</file>

<file path=ppt/slides/_rels/slide43.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44.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45.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46.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47.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48.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49.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0.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1.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2.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3.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4.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5.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6.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7.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8.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9.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60.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2.xml"/><Relationship Id="rId1" Type="http://schemas.openxmlformats.org/officeDocument/2006/relationships/slideLayout" Target="../slideLayouts/slideLayout2.xml"/><Relationship Id="rId4" Type="http://schemas.openxmlformats.org/officeDocument/2006/relationships/slide" Target="slide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13263" y="78999"/>
            <a:ext cx="696837" cy="45845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 action="ppaction://noaction"/>
              </a:rPr>
              <a:t>Database  Man</a:t>
            </a:r>
            <a:r>
              <a:rPr sz="600" b="1" spc="-15" dirty="0">
                <a:solidFill>
                  <a:srgbClr val="3333B2"/>
                </a:solidFill>
                <a:latin typeface="Arial"/>
                <a:cs typeface="Arial"/>
                <a:hlinkClick r:id="" action="ppaction://noaction"/>
              </a:rPr>
              <a:t>a</a:t>
            </a:r>
            <a:r>
              <a:rPr sz="600" b="1" dirty="0">
                <a:solidFill>
                  <a:srgbClr val="3333B2"/>
                </a:solidFill>
                <a:latin typeface="Arial"/>
                <a:cs typeface="Arial"/>
                <a:hlinkClick r:id="" action="ppaction://noaction"/>
              </a:rPr>
              <a:t>g</a:t>
            </a:r>
            <a:r>
              <a:rPr sz="600" b="1" spc="-5" dirty="0">
                <a:solidFill>
                  <a:srgbClr val="3333B2"/>
                </a:solidFill>
                <a:latin typeface="Arial"/>
                <a:cs typeface="Arial"/>
                <a:hlinkClick r:id="" action="ppaction://noaction"/>
              </a:rPr>
              <a:t>ement</a:t>
            </a:r>
            <a:endParaRPr sz="600" dirty="0">
              <a:latin typeface="Arial"/>
              <a:cs typeface="Arial"/>
            </a:endParaRPr>
          </a:p>
          <a:p>
            <a:pPr marL="46990">
              <a:lnSpc>
                <a:spcPct val="100000"/>
              </a:lnSpc>
              <a:spcBef>
                <a:spcPts val="565"/>
              </a:spcBef>
            </a:pPr>
            <a:r>
              <a:rPr lang="en-US" sz="600" spc="-10" dirty="0">
                <a:latin typeface="Arial"/>
                <a:cs typeface="Arial"/>
              </a:rPr>
              <a:t>Original material: </a:t>
            </a:r>
            <a:r>
              <a:rPr sz="600" spc="-10" dirty="0">
                <a:latin typeface="Arial"/>
                <a:cs typeface="Arial"/>
              </a:rPr>
              <a:t>Peter</a:t>
            </a:r>
            <a:r>
              <a:rPr sz="600" spc="-30" dirty="0">
                <a:latin typeface="Arial"/>
                <a:cs typeface="Arial"/>
              </a:rPr>
              <a:t> </a:t>
            </a:r>
            <a:r>
              <a:rPr sz="600" spc="-10" dirty="0">
                <a:latin typeface="Arial"/>
                <a:cs typeface="Arial"/>
              </a:rPr>
              <a:t>Wood</a:t>
            </a:r>
            <a:endParaRPr sz="600" dirty="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SQL</a:t>
            </a:r>
            <a:r>
              <a:rPr sz="600" spc="-5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solidFill>
                  <a:srgbClr val="999999"/>
                </a:solidFill>
                <a:latin typeface="Arial"/>
                <a:cs typeface="Arial"/>
                <a:hlinkClick r:id="" action="ppaction://noaction"/>
              </a:rPr>
              <a:t>Single table</a:t>
            </a:r>
            <a:r>
              <a:rPr sz="400" spc="-35" dirty="0">
                <a:solidFill>
                  <a:srgbClr val="999999"/>
                </a:solidFill>
                <a:latin typeface="Arial"/>
                <a:cs typeface="Arial"/>
                <a:hlinkClick r:id="" action="ppaction://noaction"/>
              </a:rPr>
              <a:t> </a:t>
            </a:r>
            <a:r>
              <a:rPr sz="400" dirty="0">
                <a:solidFill>
                  <a:srgbClr val="999999"/>
                </a:solidFill>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p:nvPr/>
        </p:nvSpPr>
        <p:spPr>
          <a:xfrm>
            <a:off x="1577237" y="130175"/>
            <a:ext cx="1828750" cy="263534"/>
          </a:xfrm>
          <a:prstGeom prst="rect">
            <a:avLst/>
          </a:prstGeom>
        </p:spPr>
        <p:txBody>
          <a:bodyPr vert="horz" wrap="square" lIns="0" tIns="17145" rIns="0" bIns="0" rtlCol="0">
            <a:spAutoFit/>
          </a:bodyPr>
          <a:lstStyle/>
          <a:p>
            <a:pPr marL="12700">
              <a:lnSpc>
                <a:spcPct val="100000"/>
              </a:lnSpc>
              <a:spcBef>
                <a:spcPts val="135"/>
              </a:spcBef>
            </a:pPr>
            <a:r>
              <a:rPr sz="1600" spc="20" dirty="0">
                <a:solidFill>
                  <a:srgbClr val="3333B2"/>
                </a:solidFill>
                <a:latin typeface="Arial"/>
                <a:cs typeface="Arial"/>
              </a:rPr>
              <a:t>SQL</a:t>
            </a:r>
            <a:endParaRPr sz="1600" dirty="0">
              <a:latin typeface="Arial"/>
              <a:cs typeface="Arial"/>
            </a:endParaRPr>
          </a:p>
        </p:txBody>
      </p:sp>
      <p:sp>
        <p:nvSpPr>
          <p:cNvPr id="35" name="object 35"/>
          <p:cNvSpPr txBox="1"/>
          <p:nvPr/>
        </p:nvSpPr>
        <p:spPr>
          <a:xfrm>
            <a:off x="270992" y="614423"/>
            <a:ext cx="3134995" cy="432810"/>
          </a:xfrm>
          <a:prstGeom prst="rect">
            <a:avLst/>
          </a:prstGeom>
        </p:spPr>
        <p:txBody>
          <a:bodyPr vert="horz" wrap="square" lIns="0" tIns="55244" rIns="0" bIns="0" rtlCol="0">
            <a:spAutoFit/>
          </a:bodyPr>
          <a:lstStyle/>
          <a:p>
            <a:pPr marL="209550" indent="-171450">
              <a:lnSpc>
                <a:spcPct val="100000"/>
              </a:lnSpc>
              <a:spcBef>
                <a:spcPts val="434"/>
              </a:spcBef>
              <a:buFont typeface="Arial" panose="020B0604020202020204" pitchFamily="34" charset="0"/>
              <a:buChar char="•"/>
            </a:pPr>
            <a:r>
              <a:rPr lang="en-US" sz="1100" spc="-5" dirty="0">
                <a:latin typeface="Arial"/>
                <a:cs typeface="Arial"/>
              </a:rPr>
              <a:t>S</a:t>
            </a:r>
            <a:r>
              <a:rPr sz="1100" spc="-5" dirty="0">
                <a:latin typeface="Arial"/>
                <a:cs typeface="Arial"/>
              </a:rPr>
              <a:t>tands for “Structured Query Language”</a:t>
            </a:r>
          </a:p>
          <a:p>
            <a:pPr marL="209550" indent="-171450">
              <a:lnSpc>
                <a:spcPct val="100000"/>
              </a:lnSpc>
              <a:spcBef>
                <a:spcPts val="334"/>
              </a:spcBef>
              <a:buFont typeface="Arial" panose="020B0604020202020204" pitchFamily="34" charset="0"/>
              <a:buChar char="•"/>
            </a:pPr>
            <a:r>
              <a:rPr lang="en-US" sz="1100" spc="-5" dirty="0">
                <a:latin typeface="Arial"/>
                <a:cs typeface="Arial"/>
              </a:rPr>
              <a:t>So</a:t>
            </a:r>
            <a:r>
              <a:rPr sz="1100" spc="-5" dirty="0">
                <a:latin typeface="Arial"/>
                <a:cs typeface="Arial"/>
              </a:rPr>
              <a:t>metimes pronounced “sequel”</a:t>
            </a: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SQL</a:t>
            </a:r>
            <a:r>
              <a:rPr sz="600" spc="-5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solidFill>
                  <a:srgbClr val="999999"/>
                </a:solidFill>
                <a:latin typeface="Arial"/>
                <a:cs typeface="Arial"/>
                <a:hlinkClick r:id="" action="ppaction://noaction"/>
              </a:rPr>
              <a:t>Single table</a:t>
            </a:r>
            <a:r>
              <a:rPr sz="400" spc="-35" dirty="0">
                <a:solidFill>
                  <a:srgbClr val="999999"/>
                </a:solidFill>
                <a:latin typeface="Arial"/>
                <a:cs typeface="Arial"/>
                <a:hlinkClick r:id="" action="ppaction://noaction"/>
              </a:rPr>
              <a:t> </a:t>
            </a:r>
            <a:r>
              <a:rPr sz="400" dirty="0">
                <a:solidFill>
                  <a:srgbClr val="999999"/>
                </a:solidFill>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171450" y="78999"/>
            <a:ext cx="1463675" cy="232756"/>
          </a:xfrm>
          <a:prstGeom prst="rect">
            <a:avLst/>
          </a:prstGeom>
        </p:spPr>
        <p:txBody>
          <a:bodyPr vert="horz" wrap="square" lIns="0" tIns="17145" rIns="0" bIns="0" rtlCol="0">
            <a:spAutoFit/>
          </a:bodyPr>
          <a:lstStyle/>
          <a:p>
            <a:pPr marL="12700">
              <a:lnSpc>
                <a:spcPct val="100000"/>
              </a:lnSpc>
              <a:spcBef>
                <a:spcPts val="135"/>
              </a:spcBef>
            </a:pPr>
            <a:r>
              <a:rPr spc="20" dirty="0"/>
              <a:t>SQL</a:t>
            </a:r>
            <a:endParaRPr spc="10" dirty="0"/>
          </a:p>
        </p:txBody>
      </p:sp>
      <p:sp>
        <p:nvSpPr>
          <p:cNvPr id="35" name="object 35"/>
          <p:cNvSpPr txBox="1"/>
          <p:nvPr/>
        </p:nvSpPr>
        <p:spPr>
          <a:xfrm>
            <a:off x="247650" y="450474"/>
            <a:ext cx="3276600" cy="1930656"/>
          </a:xfrm>
          <a:prstGeom prst="rect">
            <a:avLst/>
          </a:prstGeom>
        </p:spPr>
        <p:txBody>
          <a:bodyPr vert="horz" wrap="square" lIns="0" tIns="55244" rIns="0" bIns="0" rtlCol="0">
            <a:spAutoFit/>
          </a:bodyPr>
          <a:lstStyle/>
          <a:p>
            <a:pPr marL="209550" indent="-171450">
              <a:lnSpc>
                <a:spcPct val="100000"/>
              </a:lnSpc>
              <a:spcBef>
                <a:spcPts val="434"/>
              </a:spcBef>
              <a:buFont typeface="Arial" panose="020B0604020202020204" pitchFamily="34" charset="0"/>
              <a:buChar char="•"/>
            </a:pPr>
            <a:r>
              <a:rPr lang="en-US" sz="1200" spc="-5" dirty="0">
                <a:latin typeface="Arial"/>
                <a:cs typeface="Arial"/>
              </a:rPr>
              <a:t>Stands </a:t>
            </a:r>
            <a:r>
              <a:rPr lang="en-US" sz="1200" spc="-20" dirty="0">
                <a:latin typeface="Arial"/>
                <a:cs typeface="Arial"/>
              </a:rPr>
              <a:t>for </a:t>
            </a:r>
            <a:r>
              <a:rPr lang="en-US" sz="1200" spc="-5" dirty="0">
                <a:latin typeface="Arial"/>
                <a:cs typeface="Arial"/>
              </a:rPr>
              <a:t>“Structured </a:t>
            </a:r>
            <a:r>
              <a:rPr lang="en-US" sz="1200" dirty="0">
                <a:latin typeface="Arial"/>
                <a:cs typeface="Arial"/>
              </a:rPr>
              <a:t>Query</a:t>
            </a:r>
            <a:r>
              <a:rPr lang="en-US" sz="1200" spc="-170" dirty="0">
                <a:latin typeface="Arial"/>
                <a:cs typeface="Arial"/>
              </a:rPr>
              <a:t> </a:t>
            </a:r>
            <a:r>
              <a:rPr lang="en-US" sz="1200" spc="-5" dirty="0">
                <a:latin typeface="Arial"/>
                <a:cs typeface="Arial"/>
              </a:rPr>
              <a:t>Language”</a:t>
            </a:r>
            <a:endParaRPr lang="en-US" sz="1200" dirty="0">
              <a:latin typeface="Arial"/>
              <a:cs typeface="Arial"/>
            </a:endParaRPr>
          </a:p>
          <a:p>
            <a:pPr marL="209550" indent="-171450">
              <a:lnSpc>
                <a:spcPct val="100000"/>
              </a:lnSpc>
              <a:spcBef>
                <a:spcPts val="334"/>
              </a:spcBef>
              <a:buFont typeface="Arial" panose="020B0604020202020204" pitchFamily="34" charset="0"/>
              <a:buChar char="•"/>
            </a:pPr>
            <a:r>
              <a:rPr lang="en-US" sz="1200" spc="-5" dirty="0">
                <a:latin typeface="Arial"/>
                <a:cs typeface="Arial"/>
              </a:rPr>
              <a:t>Sometimes pronounced</a:t>
            </a:r>
            <a:r>
              <a:rPr lang="en-US" sz="1200" spc="-180" dirty="0">
                <a:latin typeface="Arial"/>
                <a:cs typeface="Arial"/>
              </a:rPr>
              <a:t> </a:t>
            </a:r>
            <a:r>
              <a:rPr lang="en-US" sz="1200" spc="-5" dirty="0">
                <a:latin typeface="Arial"/>
                <a:cs typeface="Arial"/>
              </a:rPr>
              <a:t>“sequel”</a:t>
            </a:r>
            <a:endParaRPr lang="en-US" sz="1200" dirty="0">
              <a:latin typeface="Arial"/>
              <a:cs typeface="Arial"/>
            </a:endParaRPr>
          </a:p>
          <a:p>
            <a:pPr marL="209550" indent="-171450">
              <a:lnSpc>
                <a:spcPct val="100000"/>
              </a:lnSpc>
              <a:spcBef>
                <a:spcPts val="434"/>
              </a:spcBef>
              <a:buFont typeface="Arial" panose="020B0604020202020204" pitchFamily="34" charset="0"/>
              <a:buChar char="•"/>
            </a:pPr>
            <a:r>
              <a:rPr lang="en-US" sz="1100" spc="-5" dirty="0">
                <a:latin typeface="Arial"/>
                <a:cs typeface="Arial"/>
              </a:rPr>
              <a:t>D</a:t>
            </a:r>
            <a:r>
              <a:rPr sz="1100" spc="-5" dirty="0">
                <a:latin typeface="Arial"/>
                <a:cs typeface="Arial"/>
              </a:rPr>
              <a:t>ata definition</a:t>
            </a:r>
            <a:r>
              <a:rPr sz="1100" spc="-190" dirty="0">
                <a:latin typeface="Arial"/>
                <a:cs typeface="Arial"/>
              </a:rPr>
              <a:t> </a:t>
            </a:r>
            <a:r>
              <a:rPr sz="1100" spc="-5" dirty="0">
                <a:latin typeface="Arial"/>
                <a:cs typeface="Arial"/>
              </a:rPr>
              <a:t>language</a:t>
            </a:r>
            <a:endParaRPr sz="1100" dirty="0">
              <a:latin typeface="Arial"/>
              <a:cs typeface="Arial"/>
            </a:endParaRPr>
          </a:p>
          <a:p>
            <a:pPr marL="209550" indent="-171450">
              <a:lnSpc>
                <a:spcPct val="100000"/>
              </a:lnSpc>
              <a:spcBef>
                <a:spcPts val="334"/>
              </a:spcBef>
              <a:buFont typeface="Arial" panose="020B0604020202020204" pitchFamily="34" charset="0"/>
              <a:buChar char="•"/>
            </a:pPr>
            <a:r>
              <a:rPr lang="en-US" sz="1100" spc="-5" dirty="0">
                <a:latin typeface="Arial"/>
                <a:cs typeface="Arial"/>
              </a:rPr>
              <a:t>D</a:t>
            </a:r>
            <a:r>
              <a:rPr sz="1100" spc="-5" dirty="0">
                <a:latin typeface="Arial"/>
                <a:cs typeface="Arial"/>
              </a:rPr>
              <a:t>ata manipulation</a:t>
            </a:r>
            <a:r>
              <a:rPr sz="1100" spc="-215" dirty="0">
                <a:latin typeface="Arial"/>
                <a:cs typeface="Arial"/>
              </a:rPr>
              <a:t> </a:t>
            </a:r>
            <a:r>
              <a:rPr sz="1100" spc="-5" dirty="0">
                <a:latin typeface="Arial"/>
                <a:cs typeface="Arial"/>
              </a:rPr>
              <a:t>language</a:t>
            </a:r>
            <a:endParaRPr sz="1100" dirty="0">
              <a:latin typeface="Arial"/>
              <a:cs typeface="Arial"/>
            </a:endParaRPr>
          </a:p>
          <a:p>
            <a:pPr marL="209550" indent="-171450">
              <a:lnSpc>
                <a:spcPct val="100000"/>
              </a:lnSpc>
              <a:spcBef>
                <a:spcPts val="330"/>
              </a:spcBef>
              <a:buFont typeface="Arial" panose="020B0604020202020204" pitchFamily="34" charset="0"/>
              <a:buChar char="•"/>
            </a:pPr>
            <a:r>
              <a:rPr lang="en-US" sz="1100" spc="-5" dirty="0">
                <a:solidFill>
                  <a:srgbClr val="FF0000"/>
                </a:solidFill>
                <a:latin typeface="Arial"/>
                <a:cs typeface="Arial"/>
              </a:rPr>
              <a:t>I</a:t>
            </a:r>
            <a:r>
              <a:rPr sz="1100" spc="-5" dirty="0">
                <a:solidFill>
                  <a:srgbClr val="FF0000"/>
                </a:solidFill>
                <a:latin typeface="Arial"/>
                <a:cs typeface="Arial"/>
              </a:rPr>
              <a:t>ntegrity</a:t>
            </a:r>
            <a:r>
              <a:rPr sz="1100" spc="-175" dirty="0">
                <a:solidFill>
                  <a:srgbClr val="FF0000"/>
                </a:solidFill>
                <a:latin typeface="Arial"/>
                <a:cs typeface="Arial"/>
              </a:rPr>
              <a:t> </a:t>
            </a:r>
            <a:r>
              <a:rPr sz="1100" spc="-10" dirty="0">
                <a:solidFill>
                  <a:srgbClr val="FF0000"/>
                </a:solidFill>
                <a:latin typeface="Arial"/>
                <a:cs typeface="Arial"/>
              </a:rPr>
              <a:t>constraints</a:t>
            </a:r>
            <a:endParaRPr sz="1100" dirty="0">
              <a:solidFill>
                <a:srgbClr val="FF0000"/>
              </a:solidFill>
              <a:latin typeface="Arial"/>
              <a:cs typeface="Arial"/>
            </a:endParaRPr>
          </a:p>
          <a:p>
            <a:pPr marL="209550" indent="-171450">
              <a:lnSpc>
                <a:spcPct val="100000"/>
              </a:lnSpc>
              <a:spcBef>
                <a:spcPts val="335"/>
              </a:spcBef>
              <a:buFont typeface="Arial" panose="020B0604020202020204" pitchFamily="34" charset="0"/>
              <a:buChar char="•"/>
            </a:pPr>
            <a:r>
              <a:rPr lang="en-US" sz="1100" spc="-15" dirty="0">
                <a:latin typeface="Arial"/>
                <a:cs typeface="Arial"/>
              </a:rPr>
              <a:t>V</a:t>
            </a:r>
            <a:r>
              <a:rPr sz="1100" spc="-15" dirty="0">
                <a:latin typeface="Arial"/>
                <a:cs typeface="Arial"/>
              </a:rPr>
              <a:t>iew</a:t>
            </a:r>
            <a:r>
              <a:rPr sz="1100" spc="-175" dirty="0">
                <a:latin typeface="Arial"/>
                <a:cs typeface="Arial"/>
              </a:rPr>
              <a:t> </a:t>
            </a:r>
            <a:r>
              <a:rPr sz="1100" spc="-5" dirty="0">
                <a:latin typeface="Arial"/>
                <a:cs typeface="Arial"/>
              </a:rPr>
              <a:t>definition</a:t>
            </a:r>
            <a:endParaRPr sz="1100" dirty="0">
              <a:latin typeface="Arial"/>
              <a:cs typeface="Arial"/>
            </a:endParaRPr>
          </a:p>
          <a:p>
            <a:pPr marL="209550" indent="-171450">
              <a:lnSpc>
                <a:spcPct val="100000"/>
              </a:lnSpc>
              <a:spcBef>
                <a:spcPts val="335"/>
              </a:spcBef>
              <a:buFont typeface="Arial" panose="020B0604020202020204" pitchFamily="34" charset="0"/>
              <a:buChar char="•"/>
            </a:pPr>
            <a:r>
              <a:rPr lang="en-US" sz="1100" spc="-10" dirty="0">
                <a:solidFill>
                  <a:srgbClr val="FF0000"/>
                </a:solidFill>
                <a:latin typeface="Arial"/>
                <a:cs typeface="Arial"/>
              </a:rPr>
              <a:t>T</a:t>
            </a:r>
            <a:r>
              <a:rPr sz="1100" spc="-10" dirty="0">
                <a:solidFill>
                  <a:srgbClr val="FF0000"/>
                </a:solidFill>
                <a:latin typeface="Arial"/>
                <a:cs typeface="Arial"/>
              </a:rPr>
              <a:t>ransaction</a:t>
            </a:r>
            <a:r>
              <a:rPr sz="1100" spc="-175" dirty="0">
                <a:solidFill>
                  <a:srgbClr val="FF0000"/>
                </a:solidFill>
                <a:latin typeface="Arial"/>
                <a:cs typeface="Arial"/>
              </a:rPr>
              <a:t> </a:t>
            </a:r>
            <a:r>
              <a:rPr sz="1100" spc="-5" dirty="0">
                <a:solidFill>
                  <a:srgbClr val="FF0000"/>
                </a:solidFill>
                <a:latin typeface="Arial"/>
                <a:cs typeface="Arial"/>
              </a:rPr>
              <a:t>control</a:t>
            </a:r>
            <a:endParaRPr sz="1100" dirty="0">
              <a:solidFill>
                <a:srgbClr val="FF0000"/>
              </a:solidFill>
              <a:latin typeface="Arial"/>
              <a:cs typeface="Arial"/>
            </a:endParaRPr>
          </a:p>
          <a:p>
            <a:pPr marL="209550" indent="-171450">
              <a:lnSpc>
                <a:spcPct val="100000"/>
              </a:lnSpc>
              <a:spcBef>
                <a:spcPts val="334"/>
              </a:spcBef>
              <a:buFont typeface="Arial" panose="020B0604020202020204" pitchFamily="34" charset="0"/>
              <a:buChar char="•"/>
            </a:pPr>
            <a:r>
              <a:rPr lang="en-US" sz="1100" spc="-10" dirty="0">
                <a:latin typeface="Arial"/>
                <a:cs typeface="Arial"/>
              </a:rPr>
              <a:t>E</a:t>
            </a:r>
            <a:r>
              <a:rPr sz="1100" spc="-10" dirty="0">
                <a:latin typeface="Arial"/>
                <a:cs typeface="Arial"/>
              </a:rPr>
              <a:t>mbedded and </a:t>
            </a:r>
            <a:r>
              <a:rPr sz="1100" spc="-5" dirty="0">
                <a:latin typeface="Arial"/>
                <a:cs typeface="Arial"/>
              </a:rPr>
              <a:t>dynamic</a:t>
            </a:r>
            <a:r>
              <a:rPr sz="1100" spc="-190" dirty="0">
                <a:latin typeface="Arial"/>
                <a:cs typeface="Arial"/>
              </a:rPr>
              <a:t> </a:t>
            </a:r>
            <a:r>
              <a:rPr sz="1100" spc="-10" dirty="0">
                <a:latin typeface="Arial"/>
                <a:cs typeface="Arial"/>
              </a:rPr>
              <a:t>SQL</a:t>
            </a:r>
            <a:endParaRPr sz="1100" dirty="0">
              <a:latin typeface="Arial"/>
              <a:cs typeface="Arial"/>
            </a:endParaRPr>
          </a:p>
          <a:p>
            <a:pPr marL="209550" indent="-171450">
              <a:lnSpc>
                <a:spcPct val="100000"/>
              </a:lnSpc>
              <a:spcBef>
                <a:spcPts val="330"/>
              </a:spcBef>
              <a:buFont typeface="Arial" panose="020B0604020202020204" pitchFamily="34" charset="0"/>
              <a:buChar char="•"/>
            </a:pPr>
            <a:r>
              <a:rPr lang="en-US" sz="1100" spc="-5" dirty="0">
                <a:solidFill>
                  <a:srgbClr val="FF0000"/>
                </a:solidFill>
                <a:latin typeface="Arial"/>
                <a:cs typeface="Arial"/>
              </a:rPr>
              <a:t>Authorization</a:t>
            </a:r>
            <a:endParaRPr sz="1100" dirty="0">
              <a:solidFill>
                <a:srgbClr val="FF0000"/>
              </a:solidFill>
              <a:latin typeface="Arial"/>
              <a:cs typeface="Arial"/>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607695" cy="1011555"/>
          </a:xfrm>
          <a:prstGeom prst="rect">
            <a:avLst/>
          </a:prstGeom>
        </p:spPr>
        <p:txBody>
          <a:bodyPr vert="horz" wrap="square" lIns="0" tIns="17145" rIns="0" bIns="0" rtlCol="0">
            <a:spAutoFit/>
          </a:bodyPr>
          <a:lstStyle/>
          <a:p>
            <a:pPr marL="12700" marR="97790">
              <a:lnSpc>
                <a:spcPts val="700"/>
              </a:lnSpc>
              <a:spcBef>
                <a:spcPts val="135"/>
              </a:spcBef>
            </a:pPr>
            <a:r>
              <a:rPr sz="600" spc="-5" dirty="0">
                <a:solidFill>
                  <a:srgbClr val="3333B2"/>
                </a:solidFill>
                <a:latin typeface="Arial"/>
                <a:cs typeface="Arial"/>
                <a:hlinkClick r:id="rId2" action="ppaction://hlinksldjump"/>
              </a:rPr>
              <a:t>The</a:t>
            </a:r>
            <a:r>
              <a:rPr sz="600" spc="-5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Relational  Data</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Model</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3" action="ppaction://hlinksldjump"/>
              </a:rPr>
              <a:t>Schemas</a:t>
            </a:r>
            <a:endParaRPr sz="600">
              <a:latin typeface="Arial"/>
              <a:cs typeface="Arial"/>
            </a:endParaRPr>
          </a:p>
          <a:p>
            <a:pPr marL="12700" marR="122555">
              <a:lnSpc>
                <a:spcPts val="700"/>
              </a:lnSpc>
              <a:spcBef>
                <a:spcPts val="560"/>
              </a:spcBef>
            </a:pPr>
            <a:r>
              <a:rPr sz="600" spc="-5" dirty="0">
                <a:solidFill>
                  <a:srgbClr val="ADADE0"/>
                </a:solidFill>
                <a:latin typeface="Arial"/>
                <a:cs typeface="Arial"/>
                <a:hlinkClick r:id="rId4" action="ppaction://hlinksldjump"/>
              </a:rPr>
              <a:t>Relations</a:t>
            </a:r>
            <a:r>
              <a:rPr sz="600" spc="-55"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and  Databases</a:t>
            </a:r>
            <a:endParaRPr sz="600">
              <a:latin typeface="Arial"/>
              <a:cs typeface="Arial"/>
            </a:endParaRPr>
          </a:p>
          <a:p>
            <a:pPr marL="12700" marR="203835">
              <a:lnSpc>
                <a:spcPts val="700"/>
              </a:lnSpc>
              <a:spcBef>
                <a:spcPts val="535"/>
              </a:spcBef>
            </a:pPr>
            <a:r>
              <a:rPr sz="600" spc="-5" dirty="0">
                <a:solidFill>
                  <a:srgbClr val="ADADE0"/>
                </a:solidFill>
                <a:latin typeface="Arial"/>
                <a:cs typeface="Arial"/>
                <a:hlinkClick r:id="rId5" action="ppaction://hlinksldjump"/>
              </a:rPr>
              <a:t>Integrity  Const</a:t>
            </a:r>
            <a:r>
              <a:rPr sz="600" spc="-15" dirty="0">
                <a:solidFill>
                  <a:srgbClr val="ADADE0"/>
                </a:solidFill>
                <a:latin typeface="Arial"/>
                <a:cs typeface="Arial"/>
                <a:hlinkClick r:id="rId5" action="ppaction://hlinksldjump"/>
              </a:rPr>
              <a:t>r</a:t>
            </a:r>
            <a:r>
              <a:rPr sz="600" spc="-5" dirty="0">
                <a:solidFill>
                  <a:srgbClr val="ADADE0"/>
                </a:solidFill>
                <a:latin typeface="Arial"/>
                <a:cs typeface="Arial"/>
                <a:hlinkClick r:id="rId5" action="ppaction://hlinksldjump"/>
              </a:rPr>
              <a:t>aints</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 action="ppaction://noaction"/>
              </a:rPr>
              <a:t>ERD to</a:t>
            </a:r>
            <a:r>
              <a:rPr sz="600" spc="-40" dirty="0">
                <a:solidFill>
                  <a:srgbClr val="ADADE0"/>
                </a:solidFill>
                <a:latin typeface="Arial"/>
                <a:cs typeface="Arial"/>
                <a:hlinkClick r:id="" action="ppaction://noaction"/>
              </a:rPr>
              <a:t> </a:t>
            </a:r>
            <a:r>
              <a:rPr sz="600" spc="-5" dirty="0">
                <a:solidFill>
                  <a:srgbClr val="ADADE0"/>
                </a:solidFill>
                <a:latin typeface="Arial"/>
                <a:cs typeface="Arial"/>
                <a:hlinkClick r:id="" action="ppaction://noaction"/>
              </a:rPr>
              <a:t>Relations</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294255" cy="232756"/>
          </a:xfrm>
          <a:prstGeom prst="rect">
            <a:avLst/>
          </a:prstGeom>
        </p:spPr>
        <p:txBody>
          <a:bodyPr vert="horz" wrap="square" lIns="0" tIns="17145" rIns="0" bIns="0" rtlCol="0">
            <a:spAutoFit/>
          </a:bodyPr>
          <a:lstStyle/>
          <a:p>
            <a:pPr marL="12700">
              <a:lnSpc>
                <a:spcPct val="100000"/>
              </a:lnSpc>
              <a:spcBef>
                <a:spcPts val="135"/>
              </a:spcBef>
            </a:pPr>
            <a:r>
              <a:rPr spc="15" dirty="0"/>
              <a:t>Example</a:t>
            </a:r>
            <a:r>
              <a:rPr spc="-25" dirty="0"/>
              <a:t> </a:t>
            </a:r>
            <a:r>
              <a:rPr spc="15" dirty="0"/>
              <a:t>Database</a:t>
            </a:r>
          </a:p>
        </p:txBody>
      </p:sp>
      <p:sp>
        <p:nvSpPr>
          <p:cNvPr id="24" name="object 24"/>
          <p:cNvSpPr txBox="1"/>
          <p:nvPr/>
        </p:nvSpPr>
        <p:spPr>
          <a:xfrm>
            <a:off x="167297" y="715300"/>
            <a:ext cx="117983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Arial"/>
                <a:cs typeface="Arial"/>
              </a:rPr>
              <a:t>Pubs-Drinkers-DB:</a:t>
            </a:r>
            <a:endParaRPr sz="1100">
              <a:latin typeface="Arial"/>
              <a:cs typeface="Arial"/>
            </a:endParaRPr>
          </a:p>
        </p:txBody>
      </p:sp>
      <p:sp>
        <p:nvSpPr>
          <p:cNvPr id="25" name="object 25"/>
          <p:cNvSpPr txBox="1"/>
          <p:nvPr/>
        </p:nvSpPr>
        <p:spPr>
          <a:xfrm>
            <a:off x="1158989" y="1077746"/>
            <a:ext cx="1570355" cy="708025"/>
          </a:xfrm>
          <a:prstGeom prst="rect">
            <a:avLst/>
          </a:prstGeom>
        </p:spPr>
        <p:txBody>
          <a:bodyPr vert="horz" wrap="square" lIns="0" tIns="6985" rIns="0" bIns="0" rtlCol="0">
            <a:spAutoFit/>
          </a:bodyPr>
          <a:lstStyle/>
          <a:p>
            <a:pPr marL="12700" marR="5080">
              <a:lnSpc>
                <a:spcPct val="102600"/>
              </a:lnSpc>
              <a:spcBef>
                <a:spcPts val="55"/>
              </a:spcBef>
            </a:pPr>
            <a:r>
              <a:rPr sz="1100" spc="-10" dirty="0">
                <a:latin typeface="Arial"/>
                <a:cs typeface="Arial"/>
              </a:rPr>
              <a:t>Pubs (name, </a:t>
            </a:r>
            <a:r>
              <a:rPr sz="1100" spc="-5" dirty="0">
                <a:latin typeface="Arial"/>
                <a:cs typeface="Arial"/>
              </a:rPr>
              <a:t>location)  </a:t>
            </a:r>
            <a:r>
              <a:rPr sz="1100" spc="-10" dirty="0">
                <a:latin typeface="Arial"/>
                <a:cs typeface="Arial"/>
              </a:rPr>
              <a:t>Drinkers (name,</a:t>
            </a:r>
            <a:r>
              <a:rPr sz="1100" spc="-45" dirty="0">
                <a:latin typeface="Arial"/>
                <a:cs typeface="Arial"/>
              </a:rPr>
              <a:t> </a:t>
            </a:r>
            <a:r>
              <a:rPr sz="1100" spc="-5" dirty="0">
                <a:latin typeface="Arial"/>
                <a:cs typeface="Arial"/>
              </a:rPr>
              <a:t>location)  Sells </a:t>
            </a:r>
            <a:r>
              <a:rPr sz="1100" spc="-15" dirty="0">
                <a:latin typeface="Arial"/>
                <a:cs typeface="Arial"/>
              </a:rPr>
              <a:t>(pub, </a:t>
            </a:r>
            <a:r>
              <a:rPr sz="1100" spc="-20" dirty="0">
                <a:latin typeface="Arial"/>
                <a:cs typeface="Arial"/>
              </a:rPr>
              <a:t>beer, </a:t>
            </a:r>
            <a:r>
              <a:rPr sz="1100" spc="-5" dirty="0">
                <a:latin typeface="Arial"/>
                <a:cs typeface="Arial"/>
              </a:rPr>
              <a:t>price</a:t>
            </a:r>
            <a:r>
              <a:rPr lang="en-US" sz="1100" spc="-5" dirty="0">
                <a:latin typeface="Arial"/>
                <a:cs typeface="Arial"/>
              </a:rPr>
              <a:t>)</a:t>
            </a:r>
            <a:r>
              <a:rPr sz="1100" spc="-5" dirty="0">
                <a:latin typeface="Arial"/>
                <a:cs typeface="Arial"/>
              </a:rPr>
              <a:t>  Visits </a:t>
            </a:r>
            <a:r>
              <a:rPr sz="1100" spc="-15" dirty="0">
                <a:latin typeface="Arial"/>
                <a:cs typeface="Arial"/>
              </a:rPr>
              <a:t>(drinker, </a:t>
            </a:r>
            <a:r>
              <a:rPr sz="1100" spc="-5" dirty="0">
                <a:latin typeface="Arial"/>
                <a:cs typeface="Arial"/>
              </a:rPr>
              <a:t>pub)</a:t>
            </a:r>
            <a:endParaRPr sz="1100" dirty="0">
              <a:latin typeface="Arial"/>
              <a:cs typeface="Arial"/>
            </a:endParaRPr>
          </a:p>
        </p:txBody>
      </p:sp>
      <p:sp>
        <p:nvSpPr>
          <p:cNvPr id="26" name="object 26"/>
          <p:cNvSpPr txBox="1"/>
          <p:nvPr/>
        </p:nvSpPr>
        <p:spPr>
          <a:xfrm>
            <a:off x="270992" y="1940926"/>
            <a:ext cx="3475354" cy="866140"/>
          </a:xfrm>
          <a:prstGeom prst="rect">
            <a:avLst/>
          </a:prstGeom>
        </p:spPr>
        <p:txBody>
          <a:bodyPr vert="horz" wrap="square" lIns="0" tIns="55244" rIns="0" bIns="0" rtlCol="0">
            <a:spAutoFit/>
          </a:bodyPr>
          <a:lstStyle/>
          <a:p>
            <a:pPr marL="186055" indent="-148590">
              <a:lnSpc>
                <a:spcPct val="100000"/>
              </a:lnSpc>
              <a:spcBef>
                <a:spcPts val="434"/>
              </a:spcBef>
              <a:buClr>
                <a:srgbClr val="3333B2"/>
              </a:buClr>
              <a:buSzPct val="72727"/>
              <a:buFont typeface="Lucida Sans Unicode"/>
              <a:buChar char="►"/>
              <a:tabLst>
                <a:tab pos="186690" algn="l"/>
              </a:tabLst>
            </a:pPr>
            <a:r>
              <a:rPr sz="1100" spc="-10" dirty="0">
                <a:latin typeface="Arial"/>
                <a:cs typeface="Arial"/>
              </a:rPr>
              <a:t>each pub </a:t>
            </a:r>
            <a:r>
              <a:rPr sz="1100" spc="-5" dirty="0">
                <a:latin typeface="Arial"/>
                <a:cs typeface="Arial"/>
              </a:rPr>
              <a:t>has </a:t>
            </a:r>
            <a:r>
              <a:rPr sz="1100" spc="-10" dirty="0">
                <a:latin typeface="Arial"/>
                <a:cs typeface="Arial"/>
              </a:rPr>
              <a:t>a name and</a:t>
            </a:r>
            <a:r>
              <a:rPr sz="1100" spc="10" dirty="0">
                <a:latin typeface="Arial"/>
                <a:cs typeface="Arial"/>
              </a:rPr>
              <a:t> </a:t>
            </a:r>
            <a:r>
              <a:rPr sz="1100" spc="-5" dirty="0">
                <a:latin typeface="Arial"/>
                <a:cs typeface="Arial"/>
              </a:rPr>
              <a:t>location</a:t>
            </a:r>
            <a:endParaRPr sz="1100" dirty="0">
              <a:latin typeface="Arial"/>
              <a:cs typeface="Arial"/>
            </a:endParaRPr>
          </a:p>
          <a:p>
            <a:pPr marL="186055" indent="-148590">
              <a:lnSpc>
                <a:spcPct val="100000"/>
              </a:lnSpc>
              <a:spcBef>
                <a:spcPts val="334"/>
              </a:spcBef>
              <a:buClr>
                <a:srgbClr val="3333B2"/>
              </a:buClr>
              <a:buSzPct val="72727"/>
              <a:buFont typeface="Lucida Sans Unicode"/>
              <a:buChar char="►"/>
              <a:tabLst>
                <a:tab pos="186690" algn="l"/>
              </a:tabLst>
            </a:pPr>
            <a:r>
              <a:rPr sz="1100" spc="-10" dirty="0">
                <a:latin typeface="Arial"/>
                <a:cs typeface="Arial"/>
              </a:rPr>
              <a:t>each drinker </a:t>
            </a:r>
            <a:r>
              <a:rPr sz="1100" spc="-5" dirty="0">
                <a:latin typeface="Arial"/>
                <a:cs typeface="Arial"/>
              </a:rPr>
              <a:t>has </a:t>
            </a:r>
            <a:r>
              <a:rPr sz="1100" spc="-10" dirty="0">
                <a:latin typeface="Arial"/>
                <a:cs typeface="Arial"/>
              </a:rPr>
              <a:t>a name and </a:t>
            </a:r>
            <a:r>
              <a:rPr sz="1100" spc="-5" dirty="0">
                <a:latin typeface="Arial"/>
                <a:cs typeface="Arial"/>
              </a:rPr>
              <a:t>location </a:t>
            </a:r>
            <a:r>
              <a:rPr sz="1100" spc="-10" dirty="0">
                <a:latin typeface="Arial"/>
                <a:cs typeface="Arial"/>
              </a:rPr>
              <a:t>where </a:t>
            </a:r>
            <a:r>
              <a:rPr sz="1100" spc="-15" dirty="0">
                <a:latin typeface="Arial"/>
                <a:cs typeface="Arial"/>
              </a:rPr>
              <a:t>they</a:t>
            </a:r>
            <a:r>
              <a:rPr sz="1100" spc="-60" dirty="0">
                <a:latin typeface="Arial"/>
                <a:cs typeface="Arial"/>
              </a:rPr>
              <a:t> </a:t>
            </a:r>
            <a:r>
              <a:rPr sz="1100" spc="-15" dirty="0">
                <a:latin typeface="Arial"/>
                <a:cs typeface="Arial"/>
              </a:rPr>
              <a:t>live</a:t>
            </a:r>
            <a:endParaRPr sz="1100" dirty="0">
              <a:latin typeface="Arial"/>
              <a:cs typeface="Arial"/>
            </a:endParaRPr>
          </a:p>
          <a:p>
            <a:pPr marL="186055" indent="-148590">
              <a:lnSpc>
                <a:spcPct val="100000"/>
              </a:lnSpc>
              <a:spcBef>
                <a:spcPts val="330"/>
              </a:spcBef>
              <a:buClr>
                <a:srgbClr val="3333B2"/>
              </a:buClr>
              <a:buSzPct val="72727"/>
              <a:buFont typeface="Lucida Sans Unicode"/>
              <a:buChar char="►"/>
              <a:tabLst>
                <a:tab pos="186690" algn="l"/>
              </a:tabLst>
            </a:pPr>
            <a:r>
              <a:rPr sz="1100" spc="-10" dirty="0">
                <a:latin typeface="Arial"/>
                <a:cs typeface="Arial"/>
              </a:rPr>
              <a:t>pubs </a:t>
            </a:r>
            <a:r>
              <a:rPr sz="1100" spc="-5" dirty="0">
                <a:latin typeface="Arial"/>
                <a:cs typeface="Arial"/>
              </a:rPr>
              <a:t>sell beers at </a:t>
            </a:r>
            <a:r>
              <a:rPr sz="1100" spc="-10" dirty="0">
                <a:latin typeface="Arial"/>
                <a:cs typeface="Arial"/>
              </a:rPr>
              <a:t>various</a:t>
            </a:r>
            <a:r>
              <a:rPr sz="1100" spc="-5" dirty="0">
                <a:latin typeface="Arial"/>
                <a:cs typeface="Arial"/>
              </a:rPr>
              <a:t> prices</a:t>
            </a:r>
            <a:endParaRPr sz="1100" dirty="0">
              <a:latin typeface="Arial"/>
              <a:cs typeface="Arial"/>
            </a:endParaRPr>
          </a:p>
          <a:p>
            <a:pPr marL="186055" indent="-148590">
              <a:lnSpc>
                <a:spcPct val="100000"/>
              </a:lnSpc>
              <a:spcBef>
                <a:spcPts val="335"/>
              </a:spcBef>
              <a:buClr>
                <a:srgbClr val="3333B2"/>
              </a:buClr>
              <a:buSzPct val="72727"/>
              <a:buFont typeface="Lucida Sans Unicode"/>
              <a:buChar char="►"/>
              <a:tabLst>
                <a:tab pos="186690" algn="l"/>
              </a:tabLst>
            </a:pPr>
            <a:r>
              <a:rPr sz="1100" spc="-10" dirty="0">
                <a:latin typeface="Arial"/>
                <a:cs typeface="Arial"/>
              </a:rPr>
              <a:t>drinkers </a:t>
            </a:r>
            <a:r>
              <a:rPr sz="1100" spc="-5" dirty="0">
                <a:latin typeface="Arial"/>
                <a:cs typeface="Arial"/>
              </a:rPr>
              <a:t>visit </a:t>
            </a:r>
            <a:r>
              <a:rPr sz="1100" spc="-10" dirty="0">
                <a:latin typeface="Arial"/>
                <a:cs typeface="Arial"/>
              </a:rPr>
              <a:t>various</a:t>
            </a:r>
            <a:r>
              <a:rPr sz="1100" spc="-5" dirty="0">
                <a:latin typeface="Arial"/>
                <a:cs typeface="Arial"/>
              </a:rPr>
              <a:t> </a:t>
            </a:r>
            <a:r>
              <a:rPr sz="1100" spc="-10" dirty="0">
                <a:latin typeface="Arial"/>
                <a:cs typeface="Arial"/>
              </a:rPr>
              <a:t>pubs</a:t>
            </a:r>
            <a:endParaRPr sz="1100" dirty="0">
              <a:latin typeface="Arial"/>
              <a:cs typeface="Arial"/>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607695" cy="1011555"/>
          </a:xfrm>
          <a:prstGeom prst="rect">
            <a:avLst/>
          </a:prstGeom>
        </p:spPr>
        <p:txBody>
          <a:bodyPr vert="horz" wrap="square" lIns="0" tIns="17145" rIns="0" bIns="0" rtlCol="0">
            <a:spAutoFit/>
          </a:bodyPr>
          <a:lstStyle/>
          <a:p>
            <a:pPr marL="12700" marR="97790">
              <a:lnSpc>
                <a:spcPts val="700"/>
              </a:lnSpc>
              <a:spcBef>
                <a:spcPts val="135"/>
              </a:spcBef>
            </a:pPr>
            <a:r>
              <a:rPr sz="600" spc="-5" dirty="0">
                <a:solidFill>
                  <a:srgbClr val="3333B2"/>
                </a:solidFill>
                <a:latin typeface="Arial"/>
                <a:cs typeface="Arial"/>
                <a:hlinkClick r:id="rId2" action="ppaction://hlinksldjump"/>
              </a:rPr>
              <a:t>The</a:t>
            </a:r>
            <a:r>
              <a:rPr sz="600" spc="-5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Relational  Data</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Model</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3" action="ppaction://hlinksldjump"/>
              </a:rPr>
              <a:t>Schemas</a:t>
            </a:r>
            <a:endParaRPr sz="600">
              <a:latin typeface="Arial"/>
              <a:cs typeface="Arial"/>
            </a:endParaRPr>
          </a:p>
          <a:p>
            <a:pPr marL="12700" marR="122555">
              <a:lnSpc>
                <a:spcPts val="700"/>
              </a:lnSpc>
              <a:spcBef>
                <a:spcPts val="560"/>
              </a:spcBef>
            </a:pPr>
            <a:r>
              <a:rPr sz="600" spc="-5" dirty="0">
                <a:solidFill>
                  <a:srgbClr val="ADADE0"/>
                </a:solidFill>
                <a:latin typeface="Arial"/>
                <a:cs typeface="Arial"/>
                <a:hlinkClick r:id="rId4" action="ppaction://hlinksldjump"/>
              </a:rPr>
              <a:t>Relations</a:t>
            </a:r>
            <a:r>
              <a:rPr sz="600" spc="-55"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and  Databases</a:t>
            </a:r>
            <a:endParaRPr sz="600">
              <a:latin typeface="Arial"/>
              <a:cs typeface="Arial"/>
            </a:endParaRPr>
          </a:p>
          <a:p>
            <a:pPr marL="12700" marR="203835">
              <a:lnSpc>
                <a:spcPts val="700"/>
              </a:lnSpc>
              <a:spcBef>
                <a:spcPts val="535"/>
              </a:spcBef>
            </a:pPr>
            <a:r>
              <a:rPr sz="600" spc="-5" dirty="0">
                <a:solidFill>
                  <a:srgbClr val="ADADE0"/>
                </a:solidFill>
                <a:latin typeface="Arial"/>
                <a:cs typeface="Arial"/>
                <a:hlinkClick r:id="rId5" action="ppaction://hlinksldjump"/>
              </a:rPr>
              <a:t>Integrity  Const</a:t>
            </a:r>
            <a:r>
              <a:rPr sz="600" spc="-15" dirty="0">
                <a:solidFill>
                  <a:srgbClr val="ADADE0"/>
                </a:solidFill>
                <a:latin typeface="Arial"/>
                <a:cs typeface="Arial"/>
                <a:hlinkClick r:id="rId5" action="ppaction://hlinksldjump"/>
              </a:rPr>
              <a:t>r</a:t>
            </a:r>
            <a:r>
              <a:rPr sz="600" spc="-5" dirty="0">
                <a:solidFill>
                  <a:srgbClr val="ADADE0"/>
                </a:solidFill>
                <a:latin typeface="Arial"/>
                <a:cs typeface="Arial"/>
                <a:hlinkClick r:id="rId5" action="ppaction://hlinksldjump"/>
              </a:rPr>
              <a:t>aints</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 action="ppaction://noaction"/>
              </a:rPr>
              <a:t>ERD to</a:t>
            </a:r>
            <a:r>
              <a:rPr sz="600" spc="-40" dirty="0">
                <a:solidFill>
                  <a:srgbClr val="ADADE0"/>
                </a:solidFill>
                <a:latin typeface="Arial"/>
                <a:cs typeface="Arial"/>
                <a:hlinkClick r:id="" action="ppaction://noaction"/>
              </a:rPr>
              <a:t> </a:t>
            </a:r>
            <a:r>
              <a:rPr sz="600" spc="-5" dirty="0">
                <a:solidFill>
                  <a:srgbClr val="ADADE0"/>
                </a:solidFill>
                <a:latin typeface="Arial"/>
                <a:cs typeface="Arial"/>
                <a:hlinkClick r:id="" action="ppaction://noaction"/>
              </a:rPr>
              <a:t>Relations</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67265"/>
            <a:ext cx="203200" cy="46990"/>
            <a:chOff x="2555862" y="3367265"/>
            <a:chExt cx="203200" cy="46990"/>
          </a:xfrm>
        </p:grpSpPr>
        <p:sp>
          <p:nvSpPr>
            <p:cNvPr id="8" name="object 8"/>
            <p:cNvSpPr/>
            <p:nvPr/>
          </p:nvSpPr>
          <p:spPr>
            <a:xfrm>
              <a:off x="2619031" y="3371075"/>
              <a:ext cx="53975" cy="40640"/>
            </a:xfrm>
            <a:custGeom>
              <a:avLst/>
              <a:gdLst/>
              <a:ahLst/>
              <a:cxnLst/>
              <a:rect l="l" t="t" r="r" b="b"/>
              <a:pathLst>
                <a:path w="53975" h="40639">
                  <a:moveTo>
                    <a:pt x="0" y="40640"/>
                  </a:moveTo>
                  <a:lnTo>
                    <a:pt x="43019" y="40640"/>
                  </a:lnTo>
                  <a:lnTo>
                    <a:pt x="43019" y="10274"/>
                  </a:lnTo>
                  <a:lnTo>
                    <a:pt x="0" y="10274"/>
                  </a:lnTo>
                  <a:lnTo>
                    <a:pt x="0" y="40640"/>
                  </a:lnTo>
                  <a:close/>
                </a:path>
                <a:path w="53975" h="40639">
                  <a:moveTo>
                    <a:pt x="10491" y="10160"/>
                  </a:moveTo>
                  <a:lnTo>
                    <a:pt x="10491" y="0"/>
                  </a:lnTo>
                  <a:lnTo>
                    <a:pt x="53672" y="0"/>
                  </a:lnTo>
                  <a:lnTo>
                    <a:pt x="53672" y="30480"/>
                  </a:lnTo>
                  <a:lnTo>
                    <a:pt x="4351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aphicFrame>
        <p:nvGraphicFramePr>
          <p:cNvPr id="10" name="object 10"/>
          <p:cNvGraphicFramePr>
            <a:graphicFrameLocks noGrp="1"/>
          </p:cNvGraphicFramePr>
          <p:nvPr>
            <p:extLst>
              <p:ext uri="{D42A27DB-BD31-4B8C-83A1-F6EECF244321}">
                <p14:modId xmlns:p14="http://schemas.microsoft.com/office/powerpoint/2010/main" val="132292845"/>
              </p:ext>
            </p:extLst>
          </p:nvPr>
        </p:nvGraphicFramePr>
        <p:xfrm>
          <a:off x="462441" y="663575"/>
          <a:ext cx="1785419" cy="2388231"/>
        </p:xfrm>
        <a:graphic>
          <a:graphicData uri="http://schemas.openxmlformats.org/drawingml/2006/table">
            <a:tbl>
              <a:tblPr firstRow="1" bandRow="1">
                <a:tableStyleId>{2D5ABB26-0587-4C30-8999-92F81FD0307C}</a:tableStyleId>
              </a:tblPr>
              <a:tblGrid>
                <a:gridCol w="801424">
                  <a:extLst>
                    <a:ext uri="{9D8B030D-6E8A-4147-A177-3AD203B41FA5}">
                      <a16:colId xmlns:a16="http://schemas.microsoft.com/office/drawing/2014/main" val="20000"/>
                    </a:ext>
                  </a:extLst>
                </a:gridCol>
                <a:gridCol w="577731">
                  <a:extLst>
                    <a:ext uri="{9D8B030D-6E8A-4147-A177-3AD203B41FA5}">
                      <a16:colId xmlns:a16="http://schemas.microsoft.com/office/drawing/2014/main" val="20001"/>
                    </a:ext>
                  </a:extLst>
                </a:gridCol>
                <a:gridCol w="93754">
                  <a:extLst>
                    <a:ext uri="{9D8B030D-6E8A-4147-A177-3AD203B41FA5}">
                      <a16:colId xmlns:a16="http://schemas.microsoft.com/office/drawing/2014/main" val="20002"/>
                    </a:ext>
                  </a:extLst>
                </a:gridCol>
                <a:gridCol w="312510">
                  <a:extLst>
                    <a:ext uri="{9D8B030D-6E8A-4147-A177-3AD203B41FA5}">
                      <a16:colId xmlns:a16="http://schemas.microsoft.com/office/drawing/2014/main" val="20003"/>
                    </a:ext>
                  </a:extLst>
                </a:gridCol>
              </a:tblGrid>
              <a:tr h="151219">
                <a:tc>
                  <a:txBody>
                    <a:bodyPr/>
                    <a:lstStyle/>
                    <a:p>
                      <a:pPr marL="83185">
                        <a:lnSpc>
                          <a:spcPts val="1190"/>
                        </a:lnSpc>
                      </a:pPr>
                      <a:r>
                        <a:rPr sz="400" b="1" spc="-10" dirty="0">
                          <a:latin typeface="Arial"/>
                          <a:cs typeface="Arial"/>
                        </a:rPr>
                        <a:t>name</a:t>
                      </a:r>
                      <a:endParaRPr sz="4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83185">
                        <a:lnSpc>
                          <a:spcPts val="1190"/>
                        </a:lnSpc>
                      </a:pPr>
                      <a:r>
                        <a:rPr sz="400" b="1" spc="-5" dirty="0">
                          <a:latin typeface="Arial"/>
                          <a:cs typeface="Arial"/>
                        </a:rPr>
                        <a:t>location</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gridSpan="2">
                  <a:txBody>
                    <a:bodyPr/>
                    <a:lstStyle/>
                    <a:p>
                      <a:pPr>
                        <a:lnSpc>
                          <a:spcPct val="100000"/>
                        </a:lnSpc>
                      </a:pPr>
                      <a:endParaRPr sz="400">
                        <a:latin typeface="Times New Roman"/>
                        <a:cs typeface="Times New Roman"/>
                      </a:endParaRPr>
                    </a:p>
                  </a:txBody>
                  <a:tcPr marL="0" marR="0" marT="0" marB="0">
                    <a:lnL w="6350">
                      <a:solidFill>
                        <a:srgbClr val="000000"/>
                      </a:solidFill>
                      <a:prstDash val="solid"/>
                    </a:lnL>
                    <a:lnB w="6350">
                      <a:solidFill>
                        <a:srgbClr val="000000"/>
                      </a:solidFill>
                      <a:prstDash val="solid"/>
                    </a:lnB>
                  </a:tcPr>
                </a:tc>
                <a:tc rowSpan="2" hMerge="1">
                  <a:txBody>
                    <a:bodyPr/>
                    <a:lstStyle/>
                    <a:p>
                      <a:endParaRPr/>
                    </a:p>
                  </a:txBody>
                  <a:tcPr marL="0" marR="0" marT="0" marB="0"/>
                </a:tc>
                <a:extLst>
                  <a:ext uri="{0D108BD9-81ED-4DB2-BD59-A6C34878D82A}">
                    <a16:rowId xmlns:a16="http://schemas.microsoft.com/office/drawing/2014/main" val="10000"/>
                  </a:ext>
                </a:extLst>
              </a:tr>
              <a:tr h="706696">
                <a:tc>
                  <a:txBody>
                    <a:bodyPr/>
                    <a:lstStyle/>
                    <a:p>
                      <a:pPr marL="83185">
                        <a:lnSpc>
                          <a:spcPts val="1290"/>
                        </a:lnSpc>
                      </a:pPr>
                      <a:r>
                        <a:rPr sz="400" spc="-5" dirty="0">
                          <a:latin typeface="Arial"/>
                          <a:cs typeface="Arial"/>
                        </a:rPr>
                        <a:t>Horse </a:t>
                      </a:r>
                      <a:r>
                        <a:rPr sz="400" spc="-10" dirty="0">
                          <a:latin typeface="Arial"/>
                          <a:cs typeface="Arial"/>
                        </a:rPr>
                        <a:t>and</a:t>
                      </a:r>
                      <a:r>
                        <a:rPr sz="400" spc="-40" dirty="0">
                          <a:latin typeface="Arial"/>
                          <a:cs typeface="Arial"/>
                        </a:rPr>
                        <a:t> </a:t>
                      </a:r>
                      <a:r>
                        <a:rPr sz="400" spc="-10" dirty="0">
                          <a:latin typeface="Arial"/>
                          <a:cs typeface="Arial"/>
                        </a:rPr>
                        <a:t>Hound</a:t>
                      </a:r>
                      <a:endParaRPr sz="400" dirty="0">
                        <a:latin typeface="Arial"/>
                        <a:cs typeface="Arial"/>
                      </a:endParaRPr>
                    </a:p>
                    <a:p>
                      <a:pPr marL="83185" marR="129539">
                        <a:lnSpc>
                          <a:spcPct val="102600"/>
                        </a:lnSpc>
                      </a:pPr>
                      <a:r>
                        <a:rPr sz="400" spc="-10" dirty="0">
                          <a:latin typeface="Arial"/>
                          <a:cs typeface="Arial"/>
                        </a:rPr>
                        <a:t>Hound and</a:t>
                      </a:r>
                      <a:r>
                        <a:rPr sz="400" spc="-45" dirty="0">
                          <a:latin typeface="Arial"/>
                          <a:cs typeface="Arial"/>
                        </a:rPr>
                        <a:t> </a:t>
                      </a:r>
                      <a:r>
                        <a:rPr sz="400" spc="-10" dirty="0">
                          <a:latin typeface="Arial"/>
                          <a:cs typeface="Arial"/>
                        </a:rPr>
                        <a:t>Hare  March Hare  Black </a:t>
                      </a:r>
                      <a:r>
                        <a:rPr sz="400" spc="-5" dirty="0">
                          <a:latin typeface="Arial"/>
                          <a:cs typeface="Arial"/>
                        </a:rPr>
                        <a:t>Horse  White</a:t>
                      </a:r>
                      <a:r>
                        <a:rPr sz="400" spc="-20" dirty="0">
                          <a:latin typeface="Arial"/>
                          <a:cs typeface="Arial"/>
                        </a:rPr>
                        <a:t> </a:t>
                      </a:r>
                      <a:r>
                        <a:rPr sz="400" spc="-5" dirty="0">
                          <a:latin typeface="Arial"/>
                          <a:cs typeface="Arial"/>
                        </a:rPr>
                        <a:t>Horse</a:t>
                      </a:r>
                      <a:endParaRPr sz="4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83185">
                        <a:lnSpc>
                          <a:spcPts val="1290"/>
                        </a:lnSpc>
                      </a:pPr>
                      <a:r>
                        <a:rPr sz="400" spc="-5" dirty="0">
                          <a:latin typeface="Arial"/>
                          <a:cs typeface="Arial"/>
                        </a:rPr>
                        <a:t>Bloomsbury</a:t>
                      </a:r>
                      <a:endParaRPr sz="400" dirty="0">
                        <a:latin typeface="Arial"/>
                        <a:cs typeface="Arial"/>
                      </a:endParaRPr>
                    </a:p>
                    <a:p>
                      <a:pPr marL="83185" marR="67945">
                        <a:lnSpc>
                          <a:spcPct val="102600"/>
                        </a:lnSpc>
                      </a:pPr>
                      <a:r>
                        <a:rPr sz="400" spc="-5" dirty="0">
                          <a:latin typeface="Arial"/>
                          <a:cs typeface="Arial"/>
                        </a:rPr>
                        <a:t>Islington  </a:t>
                      </a:r>
                      <a:r>
                        <a:rPr sz="400" dirty="0">
                          <a:latin typeface="Arial"/>
                          <a:cs typeface="Arial"/>
                        </a:rPr>
                        <a:t>Blooms</a:t>
                      </a:r>
                      <a:r>
                        <a:rPr sz="400" spc="-25" dirty="0">
                          <a:latin typeface="Arial"/>
                          <a:cs typeface="Arial"/>
                        </a:rPr>
                        <a:t>b</a:t>
                      </a:r>
                      <a:r>
                        <a:rPr sz="400" dirty="0">
                          <a:latin typeface="Arial"/>
                          <a:cs typeface="Arial"/>
                        </a:rPr>
                        <a:t>u</a:t>
                      </a:r>
                      <a:r>
                        <a:rPr sz="400" spc="30" dirty="0">
                          <a:latin typeface="Arial"/>
                          <a:cs typeface="Arial"/>
                        </a:rPr>
                        <a:t>r</a:t>
                      </a:r>
                      <a:r>
                        <a:rPr sz="400" dirty="0">
                          <a:latin typeface="Arial"/>
                          <a:cs typeface="Arial"/>
                        </a:rPr>
                        <a:t>y  </a:t>
                      </a:r>
                      <a:r>
                        <a:rPr sz="400" spc="-5" dirty="0">
                          <a:latin typeface="Arial"/>
                          <a:cs typeface="Arial"/>
                        </a:rPr>
                        <a:t>Islington  </a:t>
                      </a:r>
                      <a:r>
                        <a:rPr sz="400" dirty="0">
                          <a:latin typeface="Arial"/>
                          <a:cs typeface="Arial"/>
                        </a:rPr>
                        <a:t>Blooms</a:t>
                      </a:r>
                      <a:r>
                        <a:rPr sz="400" spc="-25" dirty="0">
                          <a:latin typeface="Arial"/>
                          <a:cs typeface="Arial"/>
                        </a:rPr>
                        <a:t>b</a:t>
                      </a:r>
                      <a:r>
                        <a:rPr sz="400" dirty="0">
                          <a:latin typeface="Arial"/>
                          <a:cs typeface="Arial"/>
                        </a:rPr>
                        <a:t>u</a:t>
                      </a:r>
                      <a:r>
                        <a:rPr sz="400" spc="30" dirty="0">
                          <a:latin typeface="Arial"/>
                          <a:cs typeface="Arial"/>
                        </a:rPr>
                        <a:t>r</a:t>
                      </a:r>
                      <a:r>
                        <a:rPr sz="400" dirty="0">
                          <a:latin typeface="Arial"/>
                          <a:cs typeface="Arial"/>
                        </a:rPr>
                        <a:t>y</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2" vMerge="1">
                  <a:txBody>
                    <a:bodyPr/>
                    <a:lstStyle/>
                    <a:p>
                      <a:endParaRPr/>
                    </a:p>
                  </a:txBody>
                  <a:tcPr marL="0" marR="0" marT="0" marB="0">
                    <a:lnL w="6350">
                      <a:solidFill>
                        <a:srgbClr val="000000"/>
                      </a:solidFill>
                      <a:prstDash val="solid"/>
                    </a:lnL>
                    <a:lnB w="6350">
                      <a:solidFill>
                        <a:srgbClr val="000000"/>
                      </a:solidFill>
                      <a:prstDash val="solid"/>
                    </a:lnB>
                  </a:tcPr>
                </a:tc>
                <a:tc hMerge="1" vMerge="1">
                  <a:txBody>
                    <a:bodyPr/>
                    <a:lstStyle/>
                    <a:p>
                      <a:endParaRPr/>
                    </a:p>
                  </a:txBody>
                  <a:tcPr marL="0" marR="0" marT="0" marB="0"/>
                </a:tc>
                <a:extLst>
                  <a:ext uri="{0D108BD9-81ED-4DB2-BD59-A6C34878D82A}">
                    <a16:rowId xmlns:a16="http://schemas.microsoft.com/office/drawing/2014/main" val="10001"/>
                  </a:ext>
                </a:extLst>
              </a:tr>
              <a:tr h="158278">
                <a:tc>
                  <a:txBody>
                    <a:bodyPr/>
                    <a:lstStyle/>
                    <a:p>
                      <a:pPr marL="67945">
                        <a:lnSpc>
                          <a:spcPts val="1260"/>
                        </a:lnSpc>
                      </a:pPr>
                      <a:r>
                        <a:rPr sz="400" b="1" spc="-10" dirty="0">
                          <a:latin typeface="Arial"/>
                          <a:cs typeface="Arial"/>
                        </a:rPr>
                        <a:t>pub</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2">
                  <a:txBody>
                    <a:bodyPr/>
                    <a:lstStyle/>
                    <a:p>
                      <a:pPr marL="67945">
                        <a:lnSpc>
                          <a:spcPts val="1260"/>
                        </a:lnSpc>
                      </a:pPr>
                      <a:r>
                        <a:rPr sz="400" b="1" spc="-5" dirty="0">
                          <a:latin typeface="Arial"/>
                          <a:cs typeface="Arial"/>
                        </a:rPr>
                        <a:t>beer</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a:txBody>
                    <a:bodyPr/>
                    <a:lstStyle/>
                    <a:p>
                      <a:pPr algn="ctr">
                        <a:lnSpc>
                          <a:spcPts val="1260"/>
                        </a:lnSpc>
                      </a:pPr>
                      <a:r>
                        <a:rPr sz="400" b="1" spc="-5" dirty="0">
                          <a:latin typeface="Arial"/>
                          <a:cs typeface="Arial"/>
                        </a:rPr>
                        <a:t>price</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39748">
                <a:tc>
                  <a:txBody>
                    <a:bodyPr/>
                    <a:lstStyle/>
                    <a:p>
                      <a:pPr marL="67945">
                        <a:lnSpc>
                          <a:spcPts val="1280"/>
                        </a:lnSpc>
                      </a:pPr>
                      <a:r>
                        <a:rPr sz="400" spc="-5" dirty="0">
                          <a:latin typeface="Arial"/>
                          <a:cs typeface="Arial"/>
                        </a:rPr>
                        <a:t>Horse </a:t>
                      </a:r>
                      <a:r>
                        <a:rPr sz="400" spc="-10" dirty="0">
                          <a:latin typeface="Arial"/>
                          <a:cs typeface="Arial"/>
                        </a:rPr>
                        <a:t>and</a:t>
                      </a:r>
                      <a:r>
                        <a:rPr sz="400" spc="-35" dirty="0">
                          <a:latin typeface="Arial"/>
                          <a:cs typeface="Arial"/>
                        </a:rPr>
                        <a:t> </a:t>
                      </a:r>
                      <a:r>
                        <a:rPr sz="400" spc="-10" dirty="0">
                          <a:latin typeface="Arial"/>
                          <a:cs typeface="Arial"/>
                        </a:rPr>
                        <a:t>Hound</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gridSpan="2">
                  <a:txBody>
                    <a:bodyPr/>
                    <a:lstStyle/>
                    <a:p>
                      <a:pPr marL="67945">
                        <a:lnSpc>
                          <a:spcPts val="1280"/>
                        </a:lnSpc>
                      </a:pPr>
                      <a:r>
                        <a:rPr sz="400" spc="-10" dirty="0">
                          <a:latin typeface="Arial"/>
                          <a:cs typeface="Arial"/>
                        </a:rPr>
                        <a:t>Bad</a:t>
                      </a:r>
                      <a:r>
                        <a:rPr sz="400" spc="-15" dirty="0">
                          <a:latin typeface="Arial"/>
                          <a:cs typeface="Arial"/>
                        </a:rPr>
                        <a:t> </a:t>
                      </a:r>
                      <a:r>
                        <a:rPr sz="400" spc="-5" dirty="0">
                          <a:latin typeface="Arial"/>
                          <a:cs typeface="Arial"/>
                        </a:rPr>
                        <a:t>Habit</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hMerge="1">
                  <a:txBody>
                    <a:bodyPr/>
                    <a:lstStyle/>
                    <a:p>
                      <a:endParaRPr/>
                    </a:p>
                  </a:txBody>
                  <a:tcPr marL="0" marR="0" marT="0" marB="0"/>
                </a:tc>
                <a:tc>
                  <a:txBody>
                    <a:bodyPr/>
                    <a:lstStyle/>
                    <a:p>
                      <a:pPr marR="53340" algn="ctr">
                        <a:lnSpc>
                          <a:spcPts val="1280"/>
                        </a:lnSpc>
                      </a:pPr>
                      <a:r>
                        <a:rPr sz="400" spc="-5" dirty="0">
                          <a:latin typeface="Arial"/>
                          <a:cs typeface="Arial"/>
                        </a:rPr>
                        <a:t>1.50</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3"/>
                  </a:ext>
                </a:extLst>
              </a:tr>
              <a:tr h="137108">
                <a:tc>
                  <a:txBody>
                    <a:bodyPr/>
                    <a:lstStyle/>
                    <a:p>
                      <a:pPr marL="67945">
                        <a:lnSpc>
                          <a:spcPts val="1255"/>
                        </a:lnSpc>
                      </a:pPr>
                      <a:r>
                        <a:rPr sz="400" spc="-5" dirty="0">
                          <a:latin typeface="Arial"/>
                          <a:cs typeface="Arial"/>
                        </a:rPr>
                        <a:t>Horse </a:t>
                      </a:r>
                      <a:r>
                        <a:rPr sz="400" spc="-10" dirty="0">
                          <a:latin typeface="Arial"/>
                          <a:cs typeface="Arial"/>
                        </a:rPr>
                        <a:t>and</a:t>
                      </a:r>
                      <a:r>
                        <a:rPr sz="400" spc="-35" dirty="0">
                          <a:latin typeface="Arial"/>
                          <a:cs typeface="Arial"/>
                        </a:rPr>
                        <a:t> </a:t>
                      </a:r>
                      <a:r>
                        <a:rPr sz="400" spc="-10" dirty="0">
                          <a:latin typeface="Arial"/>
                          <a:cs typeface="Arial"/>
                        </a:rPr>
                        <a:t>Hound</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gridSpan="2">
                  <a:txBody>
                    <a:bodyPr/>
                    <a:lstStyle/>
                    <a:p>
                      <a:pPr marL="67945">
                        <a:lnSpc>
                          <a:spcPts val="1255"/>
                        </a:lnSpc>
                      </a:pPr>
                      <a:r>
                        <a:rPr sz="400" spc="-10" dirty="0">
                          <a:latin typeface="Arial"/>
                          <a:cs typeface="Arial"/>
                        </a:rPr>
                        <a:t>Rampant</a:t>
                      </a:r>
                      <a:r>
                        <a:rPr sz="400" spc="-25" dirty="0">
                          <a:latin typeface="Arial"/>
                          <a:cs typeface="Arial"/>
                        </a:rPr>
                        <a:t> </a:t>
                      </a:r>
                      <a:r>
                        <a:rPr sz="400" spc="-10" dirty="0">
                          <a:latin typeface="Arial"/>
                          <a:cs typeface="Arial"/>
                        </a:rPr>
                        <a:t>Ram</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hMerge="1">
                  <a:txBody>
                    <a:bodyPr/>
                    <a:lstStyle/>
                    <a:p>
                      <a:endParaRPr/>
                    </a:p>
                  </a:txBody>
                  <a:tcPr marL="0" marR="0" marT="0" marB="0"/>
                </a:tc>
                <a:tc>
                  <a:txBody>
                    <a:bodyPr/>
                    <a:lstStyle/>
                    <a:p>
                      <a:pPr marR="53340" algn="ctr">
                        <a:lnSpc>
                          <a:spcPts val="1255"/>
                        </a:lnSpc>
                      </a:pPr>
                      <a:r>
                        <a:rPr sz="400" spc="-5" dirty="0">
                          <a:latin typeface="Arial"/>
                          <a:cs typeface="Arial"/>
                        </a:rPr>
                        <a:t>2.00</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37108">
                <a:tc>
                  <a:txBody>
                    <a:bodyPr/>
                    <a:lstStyle/>
                    <a:p>
                      <a:pPr marL="67945">
                        <a:lnSpc>
                          <a:spcPts val="1255"/>
                        </a:lnSpc>
                      </a:pPr>
                      <a:r>
                        <a:rPr sz="400" spc="-10" dirty="0">
                          <a:latin typeface="Arial"/>
                          <a:cs typeface="Arial"/>
                        </a:rPr>
                        <a:t>Hound and</a:t>
                      </a:r>
                      <a:r>
                        <a:rPr sz="400" spc="-15" dirty="0">
                          <a:latin typeface="Arial"/>
                          <a:cs typeface="Arial"/>
                        </a:rPr>
                        <a:t> </a:t>
                      </a:r>
                      <a:r>
                        <a:rPr sz="400" spc="-10" dirty="0">
                          <a:latin typeface="Arial"/>
                          <a:cs typeface="Arial"/>
                        </a:rPr>
                        <a:t>Hare</a:t>
                      </a:r>
                      <a:endParaRPr sz="400" dirty="0">
                        <a:latin typeface="Arial"/>
                        <a:cs typeface="Arial"/>
                      </a:endParaRPr>
                    </a:p>
                  </a:txBody>
                  <a:tcPr marL="0" marR="0" marT="0" marB="0">
                    <a:lnL w="6350">
                      <a:solidFill>
                        <a:srgbClr val="000000"/>
                      </a:solidFill>
                      <a:prstDash val="solid"/>
                    </a:lnL>
                    <a:lnR w="6350">
                      <a:solidFill>
                        <a:srgbClr val="000000"/>
                      </a:solidFill>
                      <a:prstDash val="solid"/>
                    </a:lnR>
                  </a:tcPr>
                </a:tc>
                <a:tc gridSpan="2">
                  <a:txBody>
                    <a:bodyPr/>
                    <a:lstStyle/>
                    <a:p>
                      <a:pPr marL="67945">
                        <a:lnSpc>
                          <a:spcPts val="1255"/>
                        </a:lnSpc>
                      </a:pPr>
                      <a:r>
                        <a:rPr sz="400" spc="-5" dirty="0">
                          <a:latin typeface="Arial"/>
                          <a:cs typeface="Arial"/>
                        </a:rPr>
                        <a:t>Shining</a:t>
                      </a:r>
                      <a:r>
                        <a:rPr sz="400" spc="-20" dirty="0">
                          <a:latin typeface="Arial"/>
                          <a:cs typeface="Arial"/>
                        </a:rPr>
                        <a:t> </a:t>
                      </a:r>
                      <a:r>
                        <a:rPr sz="400" spc="-5" dirty="0">
                          <a:latin typeface="Arial"/>
                          <a:cs typeface="Arial"/>
                        </a:rPr>
                        <a:t>Wit</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hMerge="1">
                  <a:txBody>
                    <a:bodyPr/>
                    <a:lstStyle/>
                    <a:p>
                      <a:endParaRPr/>
                    </a:p>
                  </a:txBody>
                  <a:tcPr marL="0" marR="0" marT="0" marB="0"/>
                </a:tc>
                <a:tc>
                  <a:txBody>
                    <a:bodyPr/>
                    <a:lstStyle/>
                    <a:p>
                      <a:pPr marR="53340" algn="ctr">
                        <a:lnSpc>
                          <a:spcPts val="1255"/>
                        </a:lnSpc>
                      </a:pPr>
                      <a:r>
                        <a:rPr sz="400" spc="-5" dirty="0">
                          <a:latin typeface="Arial"/>
                          <a:cs typeface="Arial"/>
                        </a:rPr>
                        <a:t>2.75</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137103">
                <a:tc>
                  <a:txBody>
                    <a:bodyPr/>
                    <a:lstStyle/>
                    <a:p>
                      <a:pPr marL="67945">
                        <a:lnSpc>
                          <a:spcPts val="1255"/>
                        </a:lnSpc>
                      </a:pPr>
                      <a:r>
                        <a:rPr sz="400" spc="-10" dirty="0">
                          <a:latin typeface="Arial"/>
                          <a:cs typeface="Arial"/>
                        </a:rPr>
                        <a:t>Hound and</a:t>
                      </a:r>
                      <a:r>
                        <a:rPr sz="400" spc="-15" dirty="0">
                          <a:latin typeface="Arial"/>
                          <a:cs typeface="Arial"/>
                        </a:rPr>
                        <a:t> </a:t>
                      </a:r>
                      <a:r>
                        <a:rPr sz="400" spc="-10" dirty="0">
                          <a:latin typeface="Arial"/>
                          <a:cs typeface="Arial"/>
                        </a:rPr>
                        <a:t>Hare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gridSpan="2">
                  <a:txBody>
                    <a:bodyPr/>
                    <a:lstStyle/>
                    <a:p>
                      <a:pPr marL="67945">
                        <a:lnSpc>
                          <a:spcPts val="1255"/>
                        </a:lnSpc>
                      </a:pPr>
                      <a:r>
                        <a:rPr sz="400" spc="-10" dirty="0">
                          <a:latin typeface="Arial"/>
                          <a:cs typeface="Arial"/>
                        </a:rPr>
                        <a:t>Rampant</a:t>
                      </a:r>
                      <a:r>
                        <a:rPr sz="400" spc="-25" dirty="0">
                          <a:latin typeface="Arial"/>
                          <a:cs typeface="Arial"/>
                        </a:rPr>
                        <a:t> </a:t>
                      </a:r>
                      <a:r>
                        <a:rPr sz="400" spc="-10" dirty="0">
                          <a:latin typeface="Arial"/>
                          <a:cs typeface="Arial"/>
                        </a:rPr>
                        <a:t>Ram</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hMerge="1">
                  <a:txBody>
                    <a:bodyPr/>
                    <a:lstStyle/>
                    <a:p>
                      <a:endParaRPr/>
                    </a:p>
                  </a:txBody>
                  <a:tcPr marL="0" marR="0" marT="0" marB="0"/>
                </a:tc>
                <a:tc>
                  <a:txBody>
                    <a:bodyPr/>
                    <a:lstStyle/>
                    <a:p>
                      <a:pPr marR="53340" algn="ctr">
                        <a:lnSpc>
                          <a:spcPts val="1255"/>
                        </a:lnSpc>
                      </a:pPr>
                      <a:r>
                        <a:rPr sz="400" spc="-5" dirty="0">
                          <a:latin typeface="Arial"/>
                          <a:cs typeface="Arial"/>
                        </a:rPr>
                        <a:t>2.50</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37103">
                <a:tc>
                  <a:txBody>
                    <a:bodyPr/>
                    <a:lstStyle/>
                    <a:p>
                      <a:pPr marL="67945">
                        <a:lnSpc>
                          <a:spcPts val="1255"/>
                        </a:lnSpc>
                      </a:pPr>
                      <a:r>
                        <a:rPr sz="400" spc="-10" dirty="0">
                          <a:latin typeface="Arial"/>
                          <a:cs typeface="Arial"/>
                        </a:rPr>
                        <a:t>March Hare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gridSpan="2">
                  <a:txBody>
                    <a:bodyPr/>
                    <a:lstStyle/>
                    <a:p>
                      <a:pPr marL="67945">
                        <a:lnSpc>
                          <a:spcPts val="1255"/>
                        </a:lnSpc>
                      </a:pPr>
                      <a:r>
                        <a:rPr sz="400" spc="-10" dirty="0">
                          <a:latin typeface="Arial"/>
                          <a:cs typeface="Arial"/>
                        </a:rPr>
                        <a:t>Bad</a:t>
                      </a:r>
                      <a:r>
                        <a:rPr sz="400" spc="-15" dirty="0">
                          <a:latin typeface="Arial"/>
                          <a:cs typeface="Arial"/>
                        </a:rPr>
                        <a:t> </a:t>
                      </a:r>
                      <a:r>
                        <a:rPr sz="400" spc="-5" dirty="0">
                          <a:latin typeface="Arial"/>
                          <a:cs typeface="Arial"/>
                        </a:rPr>
                        <a:t>Habit</a:t>
                      </a:r>
                      <a:endParaRPr sz="400" dirty="0">
                        <a:latin typeface="Arial"/>
                        <a:cs typeface="Arial"/>
                      </a:endParaRPr>
                    </a:p>
                  </a:txBody>
                  <a:tcPr marL="0" marR="0" marT="0" marB="0">
                    <a:lnL w="6350">
                      <a:solidFill>
                        <a:srgbClr val="000000"/>
                      </a:solidFill>
                      <a:prstDash val="solid"/>
                    </a:lnL>
                    <a:lnR w="6350">
                      <a:solidFill>
                        <a:srgbClr val="000000"/>
                      </a:solidFill>
                      <a:prstDash val="solid"/>
                    </a:lnR>
                  </a:tcPr>
                </a:tc>
                <a:tc hMerge="1">
                  <a:txBody>
                    <a:bodyPr/>
                    <a:lstStyle/>
                    <a:p>
                      <a:endParaRPr/>
                    </a:p>
                  </a:txBody>
                  <a:tcPr marL="0" marR="0" marT="0" marB="0"/>
                </a:tc>
                <a:tc>
                  <a:txBody>
                    <a:bodyPr/>
                    <a:lstStyle/>
                    <a:p>
                      <a:pPr marR="53340" algn="ctr">
                        <a:lnSpc>
                          <a:spcPts val="1255"/>
                        </a:lnSpc>
                      </a:pPr>
                      <a:r>
                        <a:rPr sz="400" spc="-5" dirty="0">
                          <a:latin typeface="Arial"/>
                          <a:cs typeface="Arial"/>
                        </a:rPr>
                        <a:t>1.75</a:t>
                      </a:r>
                      <a:endParaRPr sz="400" dirty="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7"/>
                  </a:ext>
                </a:extLst>
              </a:tr>
              <a:tr h="137103">
                <a:tc>
                  <a:txBody>
                    <a:bodyPr/>
                    <a:lstStyle/>
                    <a:p>
                      <a:pPr marL="67945">
                        <a:lnSpc>
                          <a:spcPts val="1255"/>
                        </a:lnSpc>
                      </a:pPr>
                      <a:r>
                        <a:rPr sz="400" spc="-10" dirty="0">
                          <a:latin typeface="Arial"/>
                          <a:cs typeface="Arial"/>
                        </a:rPr>
                        <a:t>March Hare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gridSpan="2">
                  <a:txBody>
                    <a:bodyPr/>
                    <a:lstStyle/>
                    <a:p>
                      <a:pPr marL="67945">
                        <a:lnSpc>
                          <a:spcPts val="1255"/>
                        </a:lnSpc>
                      </a:pPr>
                      <a:r>
                        <a:rPr sz="400" spc="-10" dirty="0">
                          <a:latin typeface="Arial"/>
                          <a:cs typeface="Arial"/>
                        </a:rPr>
                        <a:t>Rampant</a:t>
                      </a:r>
                      <a:r>
                        <a:rPr sz="400" spc="-25" dirty="0">
                          <a:latin typeface="Arial"/>
                          <a:cs typeface="Arial"/>
                        </a:rPr>
                        <a:t> </a:t>
                      </a:r>
                      <a:r>
                        <a:rPr sz="400" spc="-10" dirty="0">
                          <a:latin typeface="Arial"/>
                          <a:cs typeface="Arial"/>
                        </a:rPr>
                        <a:t>Ram</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hMerge="1">
                  <a:txBody>
                    <a:bodyPr/>
                    <a:lstStyle/>
                    <a:p>
                      <a:endParaRPr/>
                    </a:p>
                  </a:txBody>
                  <a:tcPr marL="0" marR="0" marT="0" marB="0"/>
                </a:tc>
                <a:tc>
                  <a:txBody>
                    <a:bodyPr/>
                    <a:lstStyle/>
                    <a:p>
                      <a:pPr marR="53340" algn="ctr">
                        <a:lnSpc>
                          <a:spcPts val="1255"/>
                        </a:lnSpc>
                      </a:pPr>
                      <a:r>
                        <a:rPr sz="400" spc="-5" dirty="0">
                          <a:latin typeface="Arial"/>
                          <a:cs typeface="Arial"/>
                        </a:rPr>
                        <a:t>2.50</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8"/>
                  </a:ext>
                </a:extLst>
              </a:tr>
              <a:tr h="137103">
                <a:tc>
                  <a:txBody>
                    <a:bodyPr/>
                    <a:lstStyle/>
                    <a:p>
                      <a:pPr marL="67945">
                        <a:lnSpc>
                          <a:spcPts val="1255"/>
                        </a:lnSpc>
                      </a:pPr>
                      <a:r>
                        <a:rPr sz="400" spc="-10" dirty="0">
                          <a:latin typeface="Arial"/>
                          <a:cs typeface="Arial"/>
                        </a:rPr>
                        <a:t>Black</a:t>
                      </a:r>
                      <a:r>
                        <a:rPr sz="400" spc="-15" dirty="0">
                          <a:latin typeface="Arial"/>
                          <a:cs typeface="Arial"/>
                        </a:rPr>
                        <a:t> </a:t>
                      </a:r>
                      <a:r>
                        <a:rPr sz="400" spc="-5" dirty="0">
                          <a:latin typeface="Arial"/>
                          <a:cs typeface="Arial"/>
                        </a:rPr>
                        <a:t>Horse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gridSpan="2">
                  <a:txBody>
                    <a:bodyPr/>
                    <a:lstStyle/>
                    <a:p>
                      <a:pPr marL="67945">
                        <a:lnSpc>
                          <a:spcPts val="1255"/>
                        </a:lnSpc>
                      </a:pPr>
                      <a:r>
                        <a:rPr sz="400" spc="-10" dirty="0">
                          <a:latin typeface="Arial"/>
                          <a:cs typeface="Arial"/>
                        </a:rPr>
                        <a:t>Bad</a:t>
                      </a:r>
                      <a:r>
                        <a:rPr sz="400" spc="-15" dirty="0">
                          <a:latin typeface="Arial"/>
                          <a:cs typeface="Arial"/>
                        </a:rPr>
                        <a:t> </a:t>
                      </a:r>
                      <a:r>
                        <a:rPr sz="400" spc="-5" dirty="0">
                          <a:latin typeface="Arial"/>
                          <a:cs typeface="Arial"/>
                        </a:rPr>
                        <a:t>Habit</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hMerge="1">
                  <a:txBody>
                    <a:bodyPr/>
                    <a:lstStyle/>
                    <a:p>
                      <a:endParaRPr/>
                    </a:p>
                  </a:txBody>
                  <a:tcPr marL="0" marR="0" marT="0" marB="0"/>
                </a:tc>
                <a:tc>
                  <a:txBody>
                    <a:bodyPr/>
                    <a:lstStyle/>
                    <a:p>
                      <a:pPr marR="53340" algn="ctr">
                        <a:lnSpc>
                          <a:spcPts val="1255"/>
                        </a:lnSpc>
                      </a:pPr>
                      <a:r>
                        <a:rPr sz="400" spc="-5" dirty="0">
                          <a:latin typeface="Arial"/>
                          <a:cs typeface="Arial"/>
                        </a:rPr>
                        <a:t>2.50</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9"/>
                  </a:ext>
                </a:extLst>
              </a:tr>
              <a:tr h="137108">
                <a:tc>
                  <a:txBody>
                    <a:bodyPr/>
                    <a:lstStyle/>
                    <a:p>
                      <a:pPr marL="67945">
                        <a:lnSpc>
                          <a:spcPts val="1255"/>
                        </a:lnSpc>
                      </a:pPr>
                      <a:r>
                        <a:rPr sz="400" spc="-10" dirty="0">
                          <a:latin typeface="Arial"/>
                          <a:cs typeface="Arial"/>
                        </a:rPr>
                        <a:t>Black</a:t>
                      </a:r>
                      <a:r>
                        <a:rPr sz="400" spc="-15" dirty="0">
                          <a:latin typeface="Arial"/>
                          <a:cs typeface="Arial"/>
                        </a:rPr>
                        <a:t> </a:t>
                      </a:r>
                      <a:r>
                        <a:rPr sz="400" spc="-5" dirty="0">
                          <a:latin typeface="Arial"/>
                          <a:cs typeface="Arial"/>
                        </a:rPr>
                        <a:t>Horse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gridSpan="2">
                  <a:txBody>
                    <a:bodyPr/>
                    <a:lstStyle/>
                    <a:p>
                      <a:pPr marL="67945">
                        <a:lnSpc>
                          <a:spcPts val="1255"/>
                        </a:lnSpc>
                      </a:pPr>
                      <a:r>
                        <a:rPr sz="400" spc="-5" dirty="0">
                          <a:latin typeface="Arial"/>
                          <a:cs typeface="Arial"/>
                        </a:rPr>
                        <a:t>Shining</a:t>
                      </a:r>
                      <a:r>
                        <a:rPr sz="400" spc="-20" dirty="0">
                          <a:latin typeface="Arial"/>
                          <a:cs typeface="Arial"/>
                        </a:rPr>
                        <a:t> </a:t>
                      </a:r>
                      <a:r>
                        <a:rPr sz="400" spc="-5" dirty="0">
                          <a:latin typeface="Arial"/>
                          <a:cs typeface="Arial"/>
                        </a:rPr>
                        <a:t>Wit</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hMerge="1">
                  <a:txBody>
                    <a:bodyPr/>
                    <a:lstStyle/>
                    <a:p>
                      <a:endParaRPr/>
                    </a:p>
                  </a:txBody>
                  <a:tcPr marL="0" marR="0" marT="0" marB="0"/>
                </a:tc>
                <a:tc>
                  <a:txBody>
                    <a:bodyPr/>
                    <a:lstStyle/>
                    <a:p>
                      <a:pPr marR="53340" algn="ctr">
                        <a:lnSpc>
                          <a:spcPts val="1255"/>
                        </a:lnSpc>
                      </a:pPr>
                      <a:r>
                        <a:rPr sz="400" spc="-5" dirty="0">
                          <a:latin typeface="Arial"/>
                          <a:cs typeface="Arial"/>
                        </a:rPr>
                        <a:t>2.25</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0"/>
                  </a:ext>
                </a:extLst>
              </a:tr>
              <a:tr h="137108">
                <a:tc>
                  <a:txBody>
                    <a:bodyPr/>
                    <a:lstStyle/>
                    <a:p>
                      <a:pPr marL="67945">
                        <a:lnSpc>
                          <a:spcPts val="1255"/>
                        </a:lnSpc>
                      </a:pPr>
                      <a:r>
                        <a:rPr sz="400" spc="-10" dirty="0">
                          <a:latin typeface="Arial"/>
                          <a:cs typeface="Arial"/>
                        </a:rPr>
                        <a:t>Black</a:t>
                      </a:r>
                      <a:r>
                        <a:rPr sz="400" spc="-15" dirty="0">
                          <a:latin typeface="Arial"/>
                          <a:cs typeface="Arial"/>
                        </a:rPr>
                        <a:t> </a:t>
                      </a:r>
                      <a:r>
                        <a:rPr sz="400" spc="-5" dirty="0">
                          <a:latin typeface="Arial"/>
                          <a:cs typeface="Arial"/>
                        </a:rPr>
                        <a:t>Horse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gridSpan="2">
                  <a:txBody>
                    <a:bodyPr/>
                    <a:lstStyle/>
                    <a:p>
                      <a:pPr marL="67945">
                        <a:lnSpc>
                          <a:spcPts val="1255"/>
                        </a:lnSpc>
                      </a:pPr>
                      <a:r>
                        <a:rPr sz="400" spc="-10" dirty="0">
                          <a:latin typeface="Arial"/>
                          <a:cs typeface="Arial"/>
                        </a:rPr>
                        <a:t>Rampant</a:t>
                      </a:r>
                      <a:r>
                        <a:rPr sz="400" spc="-25" dirty="0">
                          <a:latin typeface="Arial"/>
                          <a:cs typeface="Arial"/>
                        </a:rPr>
                        <a:t> </a:t>
                      </a:r>
                      <a:r>
                        <a:rPr sz="400" spc="-10" dirty="0">
                          <a:latin typeface="Arial"/>
                          <a:cs typeface="Arial"/>
                        </a:rPr>
                        <a:t>Ram</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hMerge="1">
                  <a:txBody>
                    <a:bodyPr/>
                    <a:lstStyle/>
                    <a:p>
                      <a:endParaRPr/>
                    </a:p>
                  </a:txBody>
                  <a:tcPr marL="0" marR="0" marT="0" marB="0"/>
                </a:tc>
                <a:tc>
                  <a:txBody>
                    <a:bodyPr/>
                    <a:lstStyle/>
                    <a:p>
                      <a:pPr marR="53340" algn="ctr">
                        <a:lnSpc>
                          <a:spcPts val="1255"/>
                        </a:lnSpc>
                      </a:pPr>
                      <a:r>
                        <a:rPr sz="400" spc="-5" dirty="0">
                          <a:latin typeface="Arial"/>
                          <a:cs typeface="Arial"/>
                        </a:rPr>
                        <a:t>2.50</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1"/>
                  </a:ext>
                </a:extLst>
              </a:tr>
              <a:tr h="0">
                <a:tc>
                  <a:txBody>
                    <a:bodyPr/>
                    <a:lstStyle/>
                    <a:p>
                      <a:pPr marL="67945">
                        <a:lnSpc>
                          <a:spcPts val="1260"/>
                        </a:lnSpc>
                      </a:pPr>
                      <a:r>
                        <a:rPr sz="400" spc="-5" dirty="0">
                          <a:latin typeface="Arial"/>
                          <a:cs typeface="Arial"/>
                        </a:rPr>
                        <a:t>White</a:t>
                      </a:r>
                      <a:r>
                        <a:rPr sz="400" spc="-15" dirty="0">
                          <a:latin typeface="Arial"/>
                          <a:cs typeface="Arial"/>
                        </a:rPr>
                        <a:t> </a:t>
                      </a:r>
                      <a:r>
                        <a:rPr sz="400" spc="-5" dirty="0">
                          <a:latin typeface="Arial"/>
                          <a:cs typeface="Arial"/>
                        </a:rPr>
                        <a:t>Horse</a:t>
                      </a:r>
                      <a:endParaRPr sz="4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gridSpan="2">
                  <a:txBody>
                    <a:bodyPr/>
                    <a:lstStyle/>
                    <a:p>
                      <a:pPr marL="67945">
                        <a:lnSpc>
                          <a:spcPts val="1260"/>
                        </a:lnSpc>
                      </a:pPr>
                      <a:r>
                        <a:rPr sz="400" spc="-10" dirty="0">
                          <a:latin typeface="Arial"/>
                          <a:cs typeface="Arial"/>
                        </a:rPr>
                        <a:t>Rampant</a:t>
                      </a:r>
                      <a:r>
                        <a:rPr sz="400" spc="-25" dirty="0">
                          <a:latin typeface="Arial"/>
                          <a:cs typeface="Arial"/>
                        </a:rPr>
                        <a:t> </a:t>
                      </a:r>
                      <a:r>
                        <a:rPr sz="400" spc="-10" dirty="0">
                          <a:latin typeface="Arial"/>
                          <a:cs typeface="Arial"/>
                        </a:rPr>
                        <a:t>Ram</a:t>
                      </a:r>
                      <a:endParaRPr sz="4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hMerge="1">
                  <a:txBody>
                    <a:bodyPr/>
                    <a:lstStyle/>
                    <a:p>
                      <a:endParaRPr/>
                    </a:p>
                  </a:txBody>
                  <a:tcPr marL="0" marR="0" marT="0" marB="0"/>
                </a:tc>
                <a:tc>
                  <a:txBody>
                    <a:bodyPr/>
                    <a:lstStyle/>
                    <a:p>
                      <a:pPr marR="53340" algn="ctr">
                        <a:lnSpc>
                          <a:spcPts val="1260"/>
                        </a:lnSpc>
                      </a:pPr>
                      <a:r>
                        <a:rPr sz="400" spc="-5" dirty="0">
                          <a:latin typeface="Arial"/>
                          <a:cs typeface="Arial"/>
                        </a:rPr>
                        <a:t>2.75</a:t>
                      </a:r>
                      <a:endParaRPr sz="400" dirty="0">
                        <a:latin typeface="Arial"/>
                        <a:cs typeface="Arial"/>
                      </a:endParaRPr>
                    </a:p>
                  </a:txBody>
                  <a:tcPr marL="0" marR="0" marT="0" marB="0">
                    <a:lnL w="6350">
                      <a:solidFill>
                        <a:srgbClr val="000000"/>
                      </a:solidFill>
                      <a:prstDash val="solid"/>
                    </a:lnL>
                    <a:lnR w="6350">
                      <a:solidFill>
                        <a:srgbClr val="000000"/>
                      </a:solidFill>
                      <a:prstDash val="solid"/>
                    </a:lnR>
                    <a:lnB w="9525">
                      <a:solidFill>
                        <a:srgbClr val="ADADE0"/>
                      </a:solidFill>
                      <a:prstDash val="solid"/>
                    </a:lnB>
                  </a:tcPr>
                </a:tc>
                <a:extLst>
                  <a:ext uri="{0D108BD9-81ED-4DB2-BD59-A6C34878D82A}">
                    <a16:rowId xmlns:a16="http://schemas.microsoft.com/office/drawing/2014/main" val="10012"/>
                  </a:ext>
                </a:extLst>
              </a:tr>
            </a:tbl>
          </a:graphicData>
        </a:graphic>
      </p:graphicFrame>
      <p:grpSp>
        <p:nvGrpSpPr>
          <p:cNvPr id="11" name="object 11"/>
          <p:cNvGrpSpPr/>
          <p:nvPr/>
        </p:nvGrpSpPr>
        <p:grpSpPr>
          <a:xfrm>
            <a:off x="2822981" y="3367265"/>
            <a:ext cx="203200" cy="48260"/>
            <a:chOff x="2822981" y="3367265"/>
            <a:chExt cx="203200" cy="48260"/>
          </a:xfrm>
        </p:grpSpPr>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86315"/>
              <a:ext cx="50800" cy="25400"/>
            </a:xfrm>
            <a:custGeom>
              <a:avLst/>
              <a:gdLst/>
              <a:ahLst/>
              <a:cxnLst/>
              <a:rect l="l" t="t" r="r" b="b"/>
              <a:pathLst>
                <a:path w="50800" h="25400">
                  <a:moveTo>
                    <a:pt x="12700" y="0"/>
                  </a:moveTo>
                  <a:lnTo>
                    <a:pt x="50800" y="0"/>
                  </a:lnTo>
                </a:path>
                <a:path w="50800" h="25400">
                  <a:moveTo>
                    <a:pt x="0" y="12700"/>
                  </a:moveTo>
                  <a:lnTo>
                    <a:pt x="38100" y="12700"/>
                  </a:lnTo>
                </a:path>
                <a:path w="50800" h="25400">
                  <a:moveTo>
                    <a:pt x="12700" y="25400"/>
                  </a:moveTo>
                  <a:lnTo>
                    <a:pt x="50800" y="254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67265"/>
            <a:ext cx="203200" cy="48260"/>
            <a:chOff x="3090113" y="3367265"/>
            <a:chExt cx="203200" cy="48260"/>
          </a:xfrm>
        </p:grpSpPr>
        <p:sp>
          <p:nvSpPr>
            <p:cNvPr id="15" name="object 15"/>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035810" cy="244475"/>
          </a:xfrm>
          <a:prstGeom prst="rect">
            <a:avLst/>
          </a:prstGeom>
        </p:spPr>
        <p:txBody>
          <a:bodyPr vert="horz" wrap="square" lIns="0" tIns="17145" rIns="0" bIns="0" rtlCol="0">
            <a:spAutoFit/>
          </a:bodyPr>
          <a:lstStyle/>
          <a:p>
            <a:pPr marL="12700">
              <a:lnSpc>
                <a:spcPct val="100000"/>
              </a:lnSpc>
              <a:spcBef>
                <a:spcPts val="135"/>
              </a:spcBef>
            </a:pPr>
            <a:r>
              <a:rPr spc="15" dirty="0"/>
              <a:t>Running Example</a:t>
            </a:r>
            <a:r>
              <a:rPr spc="-35" dirty="0"/>
              <a:t> </a:t>
            </a:r>
            <a:r>
              <a:rPr spc="-20" dirty="0"/>
              <a:t>Tables</a:t>
            </a:r>
          </a:p>
        </p:txBody>
      </p:sp>
      <p:sp>
        <p:nvSpPr>
          <p:cNvPr id="24" name="object 24"/>
          <p:cNvSpPr txBox="1"/>
          <p:nvPr/>
        </p:nvSpPr>
        <p:spPr>
          <a:xfrm>
            <a:off x="59216" y="926800"/>
            <a:ext cx="403225" cy="88486"/>
          </a:xfrm>
          <a:prstGeom prst="rect">
            <a:avLst/>
          </a:prstGeom>
        </p:spPr>
        <p:txBody>
          <a:bodyPr vert="horz" wrap="square" lIns="0" tIns="11430" rIns="0" bIns="0" rtlCol="0">
            <a:spAutoFit/>
          </a:bodyPr>
          <a:lstStyle/>
          <a:p>
            <a:pPr marL="12700">
              <a:lnSpc>
                <a:spcPct val="100000"/>
              </a:lnSpc>
              <a:spcBef>
                <a:spcPts val="90"/>
              </a:spcBef>
            </a:pPr>
            <a:r>
              <a:rPr sz="500" b="1" spc="-10" dirty="0">
                <a:latin typeface="Arial"/>
                <a:cs typeface="Arial"/>
              </a:rPr>
              <a:t>Pubs</a:t>
            </a:r>
            <a:r>
              <a:rPr sz="500" spc="-5" dirty="0">
                <a:latin typeface="Arial"/>
                <a:cs typeface="Arial"/>
              </a:rPr>
              <a:t>:</a:t>
            </a:r>
            <a:endParaRPr sz="500" dirty="0">
              <a:latin typeface="Arial"/>
              <a:cs typeface="Arial"/>
            </a:endParaRPr>
          </a:p>
        </p:txBody>
      </p:sp>
      <p:sp>
        <p:nvSpPr>
          <p:cNvPr id="25" name="object 25"/>
          <p:cNvSpPr txBox="1"/>
          <p:nvPr/>
        </p:nvSpPr>
        <p:spPr>
          <a:xfrm>
            <a:off x="95300" y="2320314"/>
            <a:ext cx="387985" cy="88486"/>
          </a:xfrm>
          <a:prstGeom prst="rect">
            <a:avLst/>
          </a:prstGeom>
        </p:spPr>
        <p:txBody>
          <a:bodyPr vert="horz" wrap="square" lIns="0" tIns="11430" rIns="0" bIns="0" rtlCol="0">
            <a:spAutoFit/>
          </a:bodyPr>
          <a:lstStyle/>
          <a:p>
            <a:pPr marL="12700">
              <a:lnSpc>
                <a:spcPct val="100000"/>
              </a:lnSpc>
              <a:spcBef>
                <a:spcPts val="90"/>
              </a:spcBef>
            </a:pPr>
            <a:r>
              <a:rPr sz="500" b="1" spc="-5" dirty="0">
                <a:latin typeface="Arial"/>
                <a:cs typeface="Arial"/>
              </a:rPr>
              <a:t>Sell</a:t>
            </a:r>
            <a:r>
              <a:rPr sz="500" b="1" spc="-10" dirty="0">
                <a:latin typeface="Arial"/>
                <a:cs typeface="Arial"/>
              </a:rPr>
              <a:t>s</a:t>
            </a:r>
            <a:r>
              <a:rPr sz="500" spc="-5" dirty="0">
                <a:latin typeface="Arial"/>
                <a:cs typeface="Arial"/>
              </a:rPr>
              <a:t>:</a:t>
            </a:r>
            <a:endParaRPr sz="500" dirty="0">
              <a:latin typeface="Arial"/>
              <a:cs typeface="Arial"/>
            </a:endParaRPr>
          </a:p>
        </p:txBody>
      </p:sp>
      <p:sp>
        <p:nvSpPr>
          <p:cNvPr id="26" name="object 24">
            <a:extLst>
              <a:ext uri="{FF2B5EF4-FFF2-40B4-BE49-F238E27FC236}">
                <a16:creationId xmlns:a16="http://schemas.microsoft.com/office/drawing/2014/main" id="{C6343204-2749-3DE0-1DAF-2749000439C0}"/>
              </a:ext>
            </a:extLst>
          </p:cNvPr>
          <p:cNvSpPr txBox="1"/>
          <p:nvPr/>
        </p:nvSpPr>
        <p:spPr>
          <a:xfrm>
            <a:off x="2381250" y="885226"/>
            <a:ext cx="624205" cy="88486"/>
          </a:xfrm>
          <a:prstGeom prst="rect">
            <a:avLst/>
          </a:prstGeom>
        </p:spPr>
        <p:txBody>
          <a:bodyPr vert="horz" wrap="square" lIns="0" tIns="11430" rIns="0" bIns="0" rtlCol="0">
            <a:spAutoFit/>
          </a:bodyPr>
          <a:lstStyle/>
          <a:p>
            <a:pPr marL="12700">
              <a:lnSpc>
                <a:spcPct val="100000"/>
              </a:lnSpc>
              <a:spcBef>
                <a:spcPts val="90"/>
              </a:spcBef>
            </a:pPr>
            <a:r>
              <a:rPr sz="500" b="1" spc="-5" dirty="0">
                <a:latin typeface="Arial"/>
                <a:cs typeface="Arial"/>
              </a:rPr>
              <a:t>Drinke</a:t>
            </a:r>
            <a:r>
              <a:rPr sz="500" b="1" spc="-25" dirty="0">
                <a:latin typeface="Arial"/>
                <a:cs typeface="Arial"/>
              </a:rPr>
              <a:t>r</a:t>
            </a:r>
            <a:r>
              <a:rPr sz="500" b="1" spc="-15" dirty="0">
                <a:latin typeface="Arial"/>
                <a:cs typeface="Arial"/>
              </a:rPr>
              <a:t>s</a:t>
            </a:r>
            <a:r>
              <a:rPr sz="500" spc="-5" dirty="0">
                <a:latin typeface="Arial"/>
                <a:cs typeface="Arial"/>
              </a:rPr>
              <a:t>:</a:t>
            </a:r>
            <a:endParaRPr sz="500" dirty="0">
              <a:latin typeface="Arial"/>
              <a:cs typeface="Arial"/>
            </a:endParaRPr>
          </a:p>
        </p:txBody>
      </p:sp>
      <p:graphicFrame>
        <p:nvGraphicFramePr>
          <p:cNvPr id="27" name="object 25">
            <a:extLst>
              <a:ext uri="{FF2B5EF4-FFF2-40B4-BE49-F238E27FC236}">
                <a16:creationId xmlns:a16="http://schemas.microsoft.com/office/drawing/2014/main" id="{67A814C9-BFCA-850B-BBED-D729D350591A}"/>
              </a:ext>
            </a:extLst>
          </p:cNvPr>
          <p:cNvGraphicFramePr>
            <a:graphicFrameLocks noGrp="1"/>
          </p:cNvGraphicFramePr>
          <p:nvPr/>
        </p:nvGraphicFramePr>
        <p:xfrm>
          <a:off x="2729386" y="501175"/>
          <a:ext cx="948017" cy="1067864"/>
        </p:xfrm>
        <a:graphic>
          <a:graphicData uri="http://schemas.openxmlformats.org/drawingml/2006/table">
            <a:tbl>
              <a:tblPr firstRow="1" bandRow="1">
                <a:tableStyleId>{2D5ABB26-0587-4C30-8999-92F81FD0307C}</a:tableStyleId>
              </a:tblPr>
              <a:tblGrid>
                <a:gridCol w="348295">
                  <a:extLst>
                    <a:ext uri="{9D8B030D-6E8A-4147-A177-3AD203B41FA5}">
                      <a16:colId xmlns:a16="http://schemas.microsoft.com/office/drawing/2014/main" val="20000"/>
                    </a:ext>
                  </a:extLst>
                </a:gridCol>
                <a:gridCol w="599722">
                  <a:extLst>
                    <a:ext uri="{9D8B030D-6E8A-4147-A177-3AD203B41FA5}">
                      <a16:colId xmlns:a16="http://schemas.microsoft.com/office/drawing/2014/main" val="20001"/>
                    </a:ext>
                  </a:extLst>
                </a:gridCol>
              </a:tblGrid>
              <a:tr h="189788">
                <a:tc>
                  <a:txBody>
                    <a:bodyPr/>
                    <a:lstStyle/>
                    <a:p>
                      <a:pPr marL="75565">
                        <a:lnSpc>
                          <a:spcPts val="1190"/>
                        </a:lnSpc>
                      </a:pPr>
                      <a:r>
                        <a:rPr sz="400" b="1" spc="-10" dirty="0">
                          <a:latin typeface="Arial"/>
                          <a:cs typeface="Arial"/>
                        </a:rPr>
                        <a:t>name</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400" b="1" spc="-5" dirty="0">
                          <a:latin typeface="Arial"/>
                          <a:cs typeface="Arial"/>
                        </a:rPr>
                        <a:t>location</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7">
                <a:tc>
                  <a:txBody>
                    <a:bodyPr/>
                    <a:lstStyle/>
                    <a:p>
                      <a:pPr marL="75565">
                        <a:lnSpc>
                          <a:spcPts val="1280"/>
                        </a:lnSpc>
                      </a:pPr>
                      <a:r>
                        <a:rPr sz="400" spc="-5" dirty="0">
                          <a:latin typeface="Arial"/>
                          <a:cs typeface="Arial"/>
                        </a:rPr>
                        <a:t>Alice</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400" spc="-5" dirty="0">
                          <a:latin typeface="Arial"/>
                          <a:cs typeface="Arial"/>
                        </a:rPr>
                        <a:t>Islington</a:t>
                      </a:r>
                      <a:endParaRPr sz="4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400" spc="-10" dirty="0">
                          <a:latin typeface="Arial"/>
                          <a:cs typeface="Arial"/>
                        </a:rPr>
                        <a:t>Bob</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400" spc="-5" dirty="0">
                          <a:latin typeface="Arial"/>
                          <a:cs typeface="Arial"/>
                        </a:rPr>
                        <a:t>Bloomsbury</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400" spc="-5" dirty="0">
                          <a:latin typeface="Arial"/>
                          <a:cs typeface="Arial"/>
                        </a:rPr>
                        <a:t>Carol</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400" spc="-5" dirty="0">
                          <a:latin typeface="Arial"/>
                          <a:cs typeface="Arial"/>
                        </a:rPr>
                        <a:t>Islington</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400" spc="-20" dirty="0">
                          <a:latin typeface="Arial"/>
                          <a:cs typeface="Arial"/>
                        </a:rPr>
                        <a:t>Dave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400" spc="-5" dirty="0">
                          <a:latin typeface="Arial"/>
                          <a:cs typeface="Arial"/>
                        </a:rPr>
                        <a:t>Bloomsbury</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400" spc="-20" dirty="0">
                          <a:latin typeface="Arial"/>
                          <a:cs typeface="Arial"/>
                        </a:rPr>
                        <a:t>Eve</a:t>
                      </a:r>
                      <a:endParaRPr sz="4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400" spc="-10" dirty="0">
                          <a:latin typeface="Arial"/>
                          <a:cs typeface="Arial"/>
                        </a:rPr>
                        <a:t>Stratford</a:t>
                      </a:r>
                      <a:endParaRPr sz="400" dirty="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28" name="object 26">
            <a:extLst>
              <a:ext uri="{FF2B5EF4-FFF2-40B4-BE49-F238E27FC236}">
                <a16:creationId xmlns:a16="http://schemas.microsoft.com/office/drawing/2014/main" id="{071A3F12-8A00-66B6-DFB6-9E70B75941A0}"/>
              </a:ext>
            </a:extLst>
          </p:cNvPr>
          <p:cNvSpPr txBox="1"/>
          <p:nvPr/>
        </p:nvSpPr>
        <p:spPr>
          <a:xfrm>
            <a:off x="2381250" y="2294723"/>
            <a:ext cx="433705" cy="88486"/>
          </a:xfrm>
          <a:prstGeom prst="rect">
            <a:avLst/>
          </a:prstGeom>
        </p:spPr>
        <p:txBody>
          <a:bodyPr vert="horz" wrap="square" lIns="0" tIns="11430" rIns="0" bIns="0" rtlCol="0">
            <a:spAutoFit/>
          </a:bodyPr>
          <a:lstStyle/>
          <a:p>
            <a:pPr marL="12700">
              <a:lnSpc>
                <a:spcPct val="100000"/>
              </a:lnSpc>
              <a:spcBef>
                <a:spcPts val="90"/>
              </a:spcBef>
            </a:pPr>
            <a:r>
              <a:rPr sz="500" b="1" spc="-5" dirty="0">
                <a:latin typeface="Arial"/>
                <a:cs typeface="Arial"/>
              </a:rPr>
              <a:t>Visits</a:t>
            </a:r>
            <a:r>
              <a:rPr sz="500" spc="-5" dirty="0">
                <a:latin typeface="Arial"/>
                <a:cs typeface="Arial"/>
              </a:rPr>
              <a:t>:</a:t>
            </a:r>
            <a:endParaRPr sz="500" dirty="0">
              <a:latin typeface="Arial"/>
              <a:cs typeface="Arial"/>
            </a:endParaRPr>
          </a:p>
        </p:txBody>
      </p:sp>
      <p:graphicFrame>
        <p:nvGraphicFramePr>
          <p:cNvPr id="29" name="object 27">
            <a:extLst>
              <a:ext uri="{FF2B5EF4-FFF2-40B4-BE49-F238E27FC236}">
                <a16:creationId xmlns:a16="http://schemas.microsoft.com/office/drawing/2014/main" id="{074EB654-9B6A-337B-79E1-CCBF536C8B49}"/>
              </a:ext>
            </a:extLst>
          </p:cNvPr>
          <p:cNvGraphicFramePr>
            <a:graphicFrameLocks noGrp="1"/>
          </p:cNvGraphicFramePr>
          <p:nvPr/>
        </p:nvGraphicFramePr>
        <p:xfrm>
          <a:off x="2723462" y="1702790"/>
          <a:ext cx="1138378" cy="1412021"/>
        </p:xfrm>
        <a:graphic>
          <a:graphicData uri="http://schemas.openxmlformats.org/drawingml/2006/table">
            <a:tbl>
              <a:tblPr firstRow="1" bandRow="1">
                <a:tableStyleId>{2D5ABB26-0587-4C30-8999-92F81FD0307C}</a:tableStyleId>
              </a:tblPr>
              <a:tblGrid>
                <a:gridCol w="380626">
                  <a:extLst>
                    <a:ext uri="{9D8B030D-6E8A-4147-A177-3AD203B41FA5}">
                      <a16:colId xmlns:a16="http://schemas.microsoft.com/office/drawing/2014/main" val="20000"/>
                    </a:ext>
                  </a:extLst>
                </a:gridCol>
                <a:gridCol w="757752">
                  <a:extLst>
                    <a:ext uri="{9D8B030D-6E8A-4147-A177-3AD203B41FA5}">
                      <a16:colId xmlns:a16="http://schemas.microsoft.com/office/drawing/2014/main" val="20001"/>
                    </a:ext>
                  </a:extLst>
                </a:gridCol>
              </a:tblGrid>
              <a:tr h="189795">
                <a:tc>
                  <a:txBody>
                    <a:bodyPr/>
                    <a:lstStyle/>
                    <a:p>
                      <a:pPr marL="75565">
                        <a:lnSpc>
                          <a:spcPts val="1190"/>
                        </a:lnSpc>
                      </a:pPr>
                      <a:r>
                        <a:rPr sz="400" b="1" spc="-5" dirty="0">
                          <a:latin typeface="Arial"/>
                          <a:cs typeface="Arial"/>
                        </a:rPr>
                        <a:t>drinker</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400" b="1" spc="-10" dirty="0">
                          <a:latin typeface="Arial"/>
                          <a:cs typeface="Arial"/>
                        </a:rPr>
                        <a:t>pub</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1">
                <a:tc>
                  <a:txBody>
                    <a:bodyPr/>
                    <a:lstStyle/>
                    <a:p>
                      <a:pPr marL="75565">
                        <a:lnSpc>
                          <a:spcPts val="1280"/>
                        </a:lnSpc>
                      </a:pPr>
                      <a:r>
                        <a:rPr sz="400" spc="-5" dirty="0">
                          <a:latin typeface="Arial"/>
                          <a:cs typeface="Arial"/>
                        </a:rPr>
                        <a:t>Alice</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400" spc="-10" dirty="0">
                          <a:latin typeface="Arial"/>
                          <a:cs typeface="Arial"/>
                        </a:rPr>
                        <a:t>Black</a:t>
                      </a:r>
                      <a:r>
                        <a:rPr sz="400" spc="-15" dirty="0">
                          <a:latin typeface="Arial"/>
                          <a:cs typeface="Arial"/>
                        </a:rPr>
                        <a:t> </a:t>
                      </a:r>
                      <a:r>
                        <a:rPr sz="400" spc="-5" dirty="0">
                          <a:latin typeface="Arial"/>
                          <a:cs typeface="Arial"/>
                        </a:rPr>
                        <a:t>Horse</a:t>
                      </a:r>
                      <a:endParaRPr sz="4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8">
                <a:tc>
                  <a:txBody>
                    <a:bodyPr/>
                    <a:lstStyle/>
                    <a:p>
                      <a:pPr marL="75565">
                        <a:lnSpc>
                          <a:spcPts val="1255"/>
                        </a:lnSpc>
                      </a:pPr>
                      <a:r>
                        <a:rPr sz="400" spc="-5" dirty="0">
                          <a:latin typeface="Arial"/>
                          <a:cs typeface="Arial"/>
                        </a:rPr>
                        <a:t>Alice</a:t>
                      </a:r>
                      <a:endParaRPr sz="400" dirty="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400" spc="-10" dirty="0">
                          <a:latin typeface="Arial"/>
                          <a:cs typeface="Arial"/>
                        </a:rPr>
                        <a:t>Hound and</a:t>
                      </a:r>
                      <a:r>
                        <a:rPr sz="400" spc="-15" dirty="0">
                          <a:latin typeface="Arial"/>
                          <a:cs typeface="Arial"/>
                        </a:rPr>
                        <a:t> </a:t>
                      </a:r>
                      <a:r>
                        <a:rPr sz="400" spc="-10" dirty="0">
                          <a:latin typeface="Arial"/>
                          <a:cs typeface="Arial"/>
                        </a:rPr>
                        <a:t>Hare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8">
                <a:tc>
                  <a:txBody>
                    <a:bodyPr/>
                    <a:lstStyle/>
                    <a:p>
                      <a:pPr marL="75565">
                        <a:lnSpc>
                          <a:spcPts val="1255"/>
                        </a:lnSpc>
                      </a:pPr>
                      <a:r>
                        <a:rPr sz="400" spc="-10" dirty="0">
                          <a:latin typeface="Arial"/>
                          <a:cs typeface="Arial"/>
                        </a:rPr>
                        <a:t>Bob</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400" spc="-5" dirty="0">
                          <a:latin typeface="Arial"/>
                          <a:cs typeface="Arial"/>
                        </a:rPr>
                        <a:t>Horse </a:t>
                      </a:r>
                      <a:r>
                        <a:rPr sz="400" spc="-10" dirty="0">
                          <a:latin typeface="Arial"/>
                          <a:cs typeface="Arial"/>
                        </a:rPr>
                        <a:t>and</a:t>
                      </a:r>
                      <a:r>
                        <a:rPr sz="400" spc="-40" dirty="0">
                          <a:latin typeface="Arial"/>
                          <a:cs typeface="Arial"/>
                        </a:rPr>
                        <a:t> </a:t>
                      </a:r>
                      <a:r>
                        <a:rPr sz="400" spc="-10" dirty="0">
                          <a:latin typeface="Arial"/>
                          <a:cs typeface="Arial"/>
                        </a:rPr>
                        <a:t>Hound</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400" spc="-10" dirty="0">
                          <a:latin typeface="Arial"/>
                          <a:cs typeface="Arial"/>
                        </a:rPr>
                        <a:t>Bob</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400" spc="-5" dirty="0">
                          <a:latin typeface="Arial"/>
                          <a:cs typeface="Arial"/>
                        </a:rPr>
                        <a:t>White</a:t>
                      </a:r>
                      <a:r>
                        <a:rPr sz="400" spc="-15" dirty="0">
                          <a:latin typeface="Arial"/>
                          <a:cs typeface="Arial"/>
                        </a:rPr>
                        <a:t> </a:t>
                      </a:r>
                      <a:r>
                        <a:rPr sz="400" spc="-5" dirty="0">
                          <a:latin typeface="Arial"/>
                          <a:cs typeface="Arial"/>
                        </a:rPr>
                        <a:t>Horse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72072">
                <a:tc>
                  <a:txBody>
                    <a:bodyPr/>
                    <a:lstStyle/>
                    <a:p>
                      <a:pPr marL="75565">
                        <a:lnSpc>
                          <a:spcPts val="1255"/>
                        </a:lnSpc>
                      </a:pPr>
                      <a:r>
                        <a:rPr sz="400" spc="-5" dirty="0">
                          <a:latin typeface="Arial"/>
                          <a:cs typeface="Arial"/>
                        </a:rPr>
                        <a:t>Carol</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400" spc="-10" dirty="0">
                          <a:latin typeface="Arial"/>
                          <a:cs typeface="Arial"/>
                        </a:rPr>
                        <a:t>March Hare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172072">
                <a:tc>
                  <a:txBody>
                    <a:bodyPr/>
                    <a:lstStyle/>
                    <a:p>
                      <a:pPr marL="75565">
                        <a:lnSpc>
                          <a:spcPts val="1255"/>
                        </a:lnSpc>
                      </a:pPr>
                      <a:r>
                        <a:rPr sz="400" spc="-20" dirty="0">
                          <a:latin typeface="Arial"/>
                          <a:cs typeface="Arial"/>
                        </a:rPr>
                        <a:t>Dave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400" spc="-10" dirty="0">
                          <a:latin typeface="Arial"/>
                          <a:cs typeface="Arial"/>
                        </a:rPr>
                        <a:t>Hound and</a:t>
                      </a:r>
                      <a:r>
                        <a:rPr sz="400" spc="-15" dirty="0">
                          <a:latin typeface="Arial"/>
                          <a:cs typeface="Arial"/>
                        </a:rPr>
                        <a:t> </a:t>
                      </a:r>
                      <a:r>
                        <a:rPr sz="400" spc="-10" dirty="0">
                          <a:latin typeface="Arial"/>
                          <a:cs typeface="Arial"/>
                        </a:rPr>
                        <a:t>Hare</a:t>
                      </a:r>
                      <a:endParaRPr sz="4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86463">
                <a:tc>
                  <a:txBody>
                    <a:bodyPr/>
                    <a:lstStyle/>
                    <a:p>
                      <a:pPr marL="75565">
                        <a:lnSpc>
                          <a:spcPts val="1260"/>
                        </a:lnSpc>
                      </a:pPr>
                      <a:r>
                        <a:rPr sz="400" spc="-20" dirty="0">
                          <a:latin typeface="Arial"/>
                          <a:cs typeface="Arial"/>
                        </a:rPr>
                        <a:t>Eve</a:t>
                      </a:r>
                      <a:endParaRPr sz="4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400" spc="-10" dirty="0">
                          <a:latin typeface="Arial"/>
                          <a:cs typeface="Arial"/>
                        </a:rPr>
                        <a:t>March Hare</a:t>
                      </a:r>
                      <a:endParaRPr sz="400" dirty="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7"/>
                  </a:ext>
                </a:extLst>
              </a:tr>
            </a:tbl>
          </a:graphicData>
        </a:graphic>
      </p:graphicFrame>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3333B2"/>
                </a:solidFill>
                <a:latin typeface="Arial"/>
                <a:cs typeface="Arial"/>
                <a:hlinkClick r:id="rId3" action="ppaction://hlinksldjump"/>
              </a:rPr>
              <a:t>SQL</a:t>
            </a:r>
            <a:r>
              <a:rPr sz="600" spc="-7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solidFill>
                  <a:srgbClr val="999999"/>
                </a:solidFill>
                <a:latin typeface="Arial"/>
                <a:cs typeface="Arial"/>
                <a:hlinkClick r:id="" action="ppaction://noaction"/>
              </a:rPr>
              <a:t>Single table</a:t>
            </a:r>
            <a:r>
              <a:rPr sz="400" spc="-35" dirty="0">
                <a:solidFill>
                  <a:srgbClr val="999999"/>
                </a:solidFill>
                <a:latin typeface="Arial"/>
                <a:cs typeface="Arial"/>
                <a:hlinkClick r:id="" action="ppaction://noaction"/>
              </a:rPr>
              <a:t> </a:t>
            </a:r>
            <a:r>
              <a:rPr sz="400" dirty="0">
                <a:solidFill>
                  <a:srgbClr val="999999"/>
                </a:solidFill>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243455" cy="244475"/>
          </a:xfrm>
          <a:prstGeom prst="rect">
            <a:avLst/>
          </a:prstGeom>
        </p:spPr>
        <p:txBody>
          <a:bodyPr vert="horz" wrap="square" lIns="0" tIns="17145" rIns="0" bIns="0" rtlCol="0">
            <a:spAutoFit/>
          </a:bodyPr>
          <a:lstStyle/>
          <a:p>
            <a:pPr marL="12700">
              <a:lnSpc>
                <a:spcPct val="100000"/>
              </a:lnSpc>
              <a:spcBef>
                <a:spcPts val="135"/>
              </a:spcBef>
            </a:pPr>
            <a:r>
              <a:rPr spc="15" dirty="0"/>
              <a:t>Creating Relation</a:t>
            </a:r>
            <a:r>
              <a:rPr spc="-80" dirty="0"/>
              <a:t> </a:t>
            </a:r>
            <a:r>
              <a:rPr spc="20" dirty="0"/>
              <a:t>Schemas</a:t>
            </a:r>
          </a:p>
        </p:txBody>
      </p:sp>
      <p:sp>
        <p:nvSpPr>
          <p:cNvPr id="35" name="object 35"/>
          <p:cNvSpPr txBox="1"/>
          <p:nvPr/>
        </p:nvSpPr>
        <p:spPr>
          <a:xfrm>
            <a:off x="167297" y="579144"/>
            <a:ext cx="725170" cy="191770"/>
          </a:xfrm>
          <a:prstGeom prst="rect">
            <a:avLst/>
          </a:prstGeom>
        </p:spPr>
        <p:txBody>
          <a:bodyPr vert="horz" wrap="square" lIns="0" tIns="11430" rIns="0" bIns="0" rtlCol="0">
            <a:spAutoFit/>
          </a:bodyPr>
          <a:lstStyle/>
          <a:p>
            <a:pPr marL="12700">
              <a:lnSpc>
                <a:spcPct val="100000"/>
              </a:lnSpc>
              <a:spcBef>
                <a:spcPts val="90"/>
              </a:spcBef>
            </a:pPr>
            <a:r>
              <a:rPr sz="1100" b="1" spc="-10" dirty="0">
                <a:latin typeface="Arial"/>
                <a:cs typeface="Arial"/>
              </a:rPr>
              <a:t>Pubs</a:t>
            </a:r>
            <a:r>
              <a:rPr sz="1100" b="1" spc="-55" dirty="0">
                <a:latin typeface="Arial"/>
                <a:cs typeface="Arial"/>
              </a:rPr>
              <a:t> </a:t>
            </a:r>
            <a:r>
              <a:rPr sz="1100" b="1" spc="-10" dirty="0">
                <a:latin typeface="Arial"/>
                <a:cs typeface="Arial"/>
              </a:rPr>
              <a:t>table</a:t>
            </a:r>
            <a:endParaRPr sz="1100">
              <a:latin typeface="Arial"/>
              <a:cs typeface="Arial"/>
            </a:endParaRPr>
          </a:p>
        </p:txBody>
      </p:sp>
      <p:graphicFrame>
        <p:nvGraphicFramePr>
          <p:cNvPr id="36" name="object 36"/>
          <p:cNvGraphicFramePr>
            <a:graphicFrameLocks noGrp="1"/>
          </p:cNvGraphicFramePr>
          <p:nvPr/>
        </p:nvGraphicFramePr>
        <p:xfrm>
          <a:off x="880376" y="896607"/>
          <a:ext cx="2122170" cy="1067864"/>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884555">
                  <a:extLst>
                    <a:ext uri="{9D8B030D-6E8A-4147-A177-3AD203B41FA5}">
                      <a16:colId xmlns:a16="http://schemas.microsoft.com/office/drawing/2014/main" val="20001"/>
                    </a:ext>
                  </a:extLst>
                </a:gridCol>
              </a:tblGrid>
              <a:tr h="189782">
                <a:tc>
                  <a:txBody>
                    <a:bodyPr/>
                    <a:lstStyle/>
                    <a:p>
                      <a:pPr marL="75565">
                        <a:lnSpc>
                          <a:spcPts val="1190"/>
                        </a:lnSpc>
                      </a:pPr>
                      <a:r>
                        <a:rPr sz="1100" b="1" spc="-10" dirty="0">
                          <a:latin typeface="Arial"/>
                          <a:cs typeface="Arial"/>
                        </a:rPr>
                        <a:t>name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location</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7">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8">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37" name="object 37"/>
          <p:cNvSpPr txBox="1"/>
          <p:nvPr/>
        </p:nvSpPr>
        <p:spPr>
          <a:xfrm>
            <a:off x="167297" y="2090571"/>
            <a:ext cx="2669540" cy="708025"/>
          </a:xfrm>
          <a:prstGeom prst="rect">
            <a:avLst/>
          </a:prstGeom>
        </p:spPr>
        <p:txBody>
          <a:bodyPr vert="horz" wrap="square" lIns="0" tIns="11430" rIns="0" bIns="0" rtlCol="0">
            <a:spAutoFit/>
          </a:bodyPr>
          <a:lstStyle/>
          <a:p>
            <a:pPr marL="12700">
              <a:lnSpc>
                <a:spcPct val="100000"/>
              </a:lnSpc>
              <a:spcBef>
                <a:spcPts val="90"/>
              </a:spcBef>
            </a:pPr>
            <a:r>
              <a:rPr sz="1100" spc="-10" dirty="0">
                <a:latin typeface="Courier New"/>
                <a:cs typeface="Courier New"/>
              </a:rPr>
              <a:t>create table</a:t>
            </a:r>
            <a:r>
              <a:rPr sz="1100" spc="-360" dirty="0">
                <a:latin typeface="Courier New"/>
                <a:cs typeface="Courier New"/>
              </a:rPr>
              <a:t> </a:t>
            </a:r>
            <a:r>
              <a:rPr sz="1100" spc="-10" dirty="0">
                <a:latin typeface="Arial"/>
                <a:cs typeface="Arial"/>
              </a:rPr>
              <a:t>Pubs </a:t>
            </a:r>
            <a:r>
              <a:rPr sz="1100" spc="-5" dirty="0">
                <a:latin typeface="Arial"/>
                <a:cs typeface="Arial"/>
              </a:rPr>
              <a:t>(</a:t>
            </a:r>
            <a:endParaRPr sz="1100">
              <a:latin typeface="Arial"/>
              <a:cs typeface="Arial"/>
            </a:endParaRPr>
          </a:p>
          <a:p>
            <a:pPr marL="127635" marR="5080">
              <a:lnSpc>
                <a:spcPct val="102600"/>
              </a:lnSpc>
              <a:tabLst>
                <a:tab pos="705485" algn="l"/>
              </a:tabLst>
            </a:pPr>
            <a:r>
              <a:rPr sz="1100" spc="-10" dirty="0">
                <a:latin typeface="Arial"/>
                <a:cs typeface="Arial"/>
              </a:rPr>
              <a:t>name	</a:t>
            </a:r>
            <a:r>
              <a:rPr sz="1100" spc="-10" dirty="0">
                <a:latin typeface="Courier New"/>
                <a:cs typeface="Courier New"/>
              </a:rPr>
              <a:t>varchar(50) primary</a:t>
            </a:r>
            <a:r>
              <a:rPr sz="1100" spc="-30" dirty="0">
                <a:latin typeface="Courier New"/>
                <a:cs typeface="Courier New"/>
              </a:rPr>
              <a:t> </a:t>
            </a:r>
            <a:r>
              <a:rPr sz="1100" spc="-5" dirty="0">
                <a:latin typeface="Courier New"/>
                <a:cs typeface="Courier New"/>
              </a:rPr>
              <a:t>key</a:t>
            </a:r>
            <a:r>
              <a:rPr sz="1100" spc="-5" dirty="0">
                <a:latin typeface="Arial"/>
                <a:cs typeface="Arial"/>
              </a:rPr>
              <a:t>,  location</a:t>
            </a:r>
            <a:r>
              <a:rPr sz="1100" spc="175" dirty="0">
                <a:latin typeface="Arial"/>
                <a:cs typeface="Arial"/>
              </a:rPr>
              <a:t> </a:t>
            </a:r>
            <a:r>
              <a:rPr sz="1100" spc="-10" dirty="0">
                <a:latin typeface="Courier New"/>
                <a:cs typeface="Courier New"/>
              </a:rPr>
              <a:t>varchar(50)</a:t>
            </a:r>
            <a:endParaRPr sz="1100">
              <a:latin typeface="Courier New"/>
              <a:cs typeface="Courier New"/>
            </a:endParaRPr>
          </a:p>
          <a:p>
            <a:pPr marL="12700">
              <a:lnSpc>
                <a:spcPct val="100000"/>
              </a:lnSpc>
              <a:spcBef>
                <a:spcPts val="35"/>
              </a:spcBef>
            </a:pPr>
            <a:r>
              <a:rPr sz="1100" spc="-5" dirty="0">
                <a:latin typeface="Arial"/>
                <a:cs typeface="Arial"/>
              </a:rPr>
              <a:t>);</a:t>
            </a:r>
            <a:endParaRPr sz="1100">
              <a:latin typeface="Arial"/>
              <a:cs typeface="Arial"/>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3333B2"/>
                </a:solidFill>
                <a:latin typeface="Arial"/>
                <a:cs typeface="Arial"/>
                <a:hlinkClick r:id="rId3" action="ppaction://hlinksldjump"/>
              </a:rPr>
              <a:t>SQL</a:t>
            </a:r>
            <a:r>
              <a:rPr sz="600" spc="-7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solidFill>
                  <a:srgbClr val="999999"/>
                </a:solidFill>
                <a:latin typeface="Arial"/>
                <a:cs typeface="Arial"/>
                <a:hlinkClick r:id="" action="ppaction://noaction"/>
              </a:rPr>
              <a:t>Single table</a:t>
            </a:r>
            <a:r>
              <a:rPr sz="400" spc="-35" dirty="0">
                <a:solidFill>
                  <a:srgbClr val="999999"/>
                </a:solidFill>
                <a:latin typeface="Arial"/>
                <a:cs typeface="Arial"/>
                <a:hlinkClick r:id="" action="ppaction://noaction"/>
              </a:rPr>
              <a:t> </a:t>
            </a:r>
            <a:r>
              <a:rPr sz="400" dirty="0">
                <a:solidFill>
                  <a:srgbClr val="999999"/>
                </a:solidFill>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243455" cy="244475"/>
          </a:xfrm>
          <a:prstGeom prst="rect">
            <a:avLst/>
          </a:prstGeom>
        </p:spPr>
        <p:txBody>
          <a:bodyPr vert="horz" wrap="square" lIns="0" tIns="17145" rIns="0" bIns="0" rtlCol="0">
            <a:spAutoFit/>
          </a:bodyPr>
          <a:lstStyle/>
          <a:p>
            <a:pPr marL="12700">
              <a:lnSpc>
                <a:spcPct val="100000"/>
              </a:lnSpc>
              <a:spcBef>
                <a:spcPts val="135"/>
              </a:spcBef>
            </a:pPr>
            <a:r>
              <a:rPr spc="15" dirty="0"/>
              <a:t>Creating Relation</a:t>
            </a:r>
            <a:r>
              <a:rPr spc="-80" dirty="0"/>
              <a:t> </a:t>
            </a:r>
            <a:r>
              <a:rPr spc="20" dirty="0"/>
              <a:t>Schemas</a:t>
            </a:r>
          </a:p>
        </p:txBody>
      </p:sp>
      <p:sp>
        <p:nvSpPr>
          <p:cNvPr id="35" name="object 35"/>
          <p:cNvSpPr txBox="1"/>
          <p:nvPr/>
        </p:nvSpPr>
        <p:spPr>
          <a:xfrm>
            <a:off x="167297" y="372655"/>
            <a:ext cx="709930" cy="191770"/>
          </a:xfrm>
          <a:prstGeom prst="rect">
            <a:avLst/>
          </a:prstGeom>
        </p:spPr>
        <p:txBody>
          <a:bodyPr vert="horz" wrap="square" lIns="0" tIns="11430" rIns="0" bIns="0" rtlCol="0">
            <a:spAutoFit/>
          </a:bodyPr>
          <a:lstStyle/>
          <a:p>
            <a:pPr marL="12700">
              <a:lnSpc>
                <a:spcPct val="100000"/>
              </a:lnSpc>
              <a:spcBef>
                <a:spcPts val="90"/>
              </a:spcBef>
            </a:pPr>
            <a:r>
              <a:rPr sz="1100" b="1" spc="-5" dirty="0">
                <a:latin typeface="Arial"/>
                <a:cs typeface="Arial"/>
              </a:rPr>
              <a:t>Sells</a:t>
            </a:r>
            <a:r>
              <a:rPr sz="1100" b="1" spc="-70" dirty="0">
                <a:latin typeface="Arial"/>
                <a:cs typeface="Arial"/>
              </a:rPr>
              <a:t> </a:t>
            </a:r>
            <a:r>
              <a:rPr sz="1100" b="1" spc="-10" dirty="0">
                <a:latin typeface="Arial"/>
                <a:cs typeface="Arial"/>
              </a:rPr>
              <a:t>table</a:t>
            </a:r>
            <a:endParaRPr sz="1100">
              <a:latin typeface="Arial"/>
              <a:cs typeface="Arial"/>
            </a:endParaRPr>
          </a:p>
        </p:txBody>
      </p:sp>
      <p:graphicFrame>
        <p:nvGraphicFramePr>
          <p:cNvPr id="36" name="object 36"/>
          <p:cNvGraphicFramePr>
            <a:graphicFrameLocks noGrp="1"/>
          </p:cNvGraphicFramePr>
          <p:nvPr/>
        </p:nvGraphicFramePr>
        <p:xfrm>
          <a:off x="558761" y="690118"/>
          <a:ext cx="2766060" cy="1067864"/>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1045210">
                  <a:extLst>
                    <a:ext uri="{9D8B030D-6E8A-4147-A177-3AD203B41FA5}">
                      <a16:colId xmlns:a16="http://schemas.microsoft.com/office/drawing/2014/main" val="20001"/>
                    </a:ext>
                  </a:extLst>
                </a:gridCol>
                <a:gridCol w="483235">
                  <a:extLst>
                    <a:ext uri="{9D8B030D-6E8A-4147-A177-3AD203B41FA5}">
                      <a16:colId xmlns:a16="http://schemas.microsoft.com/office/drawing/2014/main" val="20002"/>
                    </a:ext>
                  </a:extLst>
                </a:gridCol>
              </a:tblGrid>
              <a:tr h="189782">
                <a:tc>
                  <a:txBody>
                    <a:bodyPr/>
                    <a:lstStyle/>
                    <a:p>
                      <a:pPr marL="75565">
                        <a:lnSpc>
                          <a:spcPts val="1190"/>
                        </a:lnSpc>
                      </a:pPr>
                      <a:r>
                        <a:rPr sz="1100" b="1" spc="-10" dirty="0">
                          <a:latin typeface="Arial"/>
                          <a:cs typeface="Arial"/>
                        </a:rPr>
                        <a:t>pub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beer</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price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7">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1.50</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8">
                <a:tc>
                  <a:txBody>
                    <a:bodyPr/>
                    <a:lstStyle/>
                    <a:p>
                      <a:pPr marL="75565">
                        <a:lnSpc>
                          <a:spcPts val="1255"/>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2.00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Shining</a:t>
                      </a:r>
                      <a:r>
                        <a:rPr sz="1100" spc="-20" dirty="0">
                          <a:latin typeface="Arial"/>
                          <a:cs typeface="Arial"/>
                        </a:rPr>
                        <a:t> </a:t>
                      </a:r>
                      <a:r>
                        <a:rPr sz="1100" spc="-5" dirty="0">
                          <a:latin typeface="Arial"/>
                          <a:cs typeface="Arial"/>
                        </a:rPr>
                        <a:t>Wit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2.75</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2.50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5" dirty="0">
                          <a:latin typeface="Arial"/>
                          <a:cs typeface="Arial"/>
                        </a:rPr>
                        <a:t>. .</a:t>
                      </a:r>
                      <a:r>
                        <a:rPr sz="1100" spc="-250" dirty="0">
                          <a:latin typeface="Arial"/>
                          <a:cs typeface="Arial"/>
                        </a:rPr>
                        <a:t> </a:t>
                      </a:r>
                      <a:r>
                        <a:rPr sz="1100" spc="-5" dirty="0">
                          <a:latin typeface="Arial"/>
                          <a:cs typeface="Arial"/>
                        </a:rPr>
                        <a:t>.</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 .</a:t>
                      </a:r>
                      <a:r>
                        <a:rPr sz="1100" spc="-250" dirty="0">
                          <a:latin typeface="Arial"/>
                          <a:cs typeface="Arial"/>
                        </a:rPr>
                        <a:t> </a:t>
                      </a:r>
                      <a:r>
                        <a:rPr sz="1100" spc="-5" dirty="0">
                          <a:latin typeface="Arial"/>
                          <a:cs typeface="Arial"/>
                        </a:rPr>
                        <a:t>.</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a:t>
                      </a:r>
                      <a:r>
                        <a:rPr sz="1100" spc="-135" dirty="0">
                          <a:latin typeface="Arial"/>
                          <a:cs typeface="Arial"/>
                        </a:rPr>
                        <a:t> </a:t>
                      </a:r>
                      <a:r>
                        <a:rPr sz="1100" spc="-5" dirty="0">
                          <a:latin typeface="Arial"/>
                          <a:cs typeface="Arial"/>
                        </a:rPr>
                        <a:t>.</a:t>
                      </a:r>
                      <a:r>
                        <a:rPr sz="1100" spc="-130" dirty="0">
                          <a:latin typeface="Arial"/>
                          <a:cs typeface="Arial"/>
                        </a:rPr>
                        <a:t> </a:t>
                      </a:r>
                      <a:r>
                        <a:rPr sz="1100" spc="-5" dirty="0">
                          <a:latin typeface="Arial"/>
                          <a:cs typeface="Arial"/>
                        </a:rPr>
                        <a:t>.</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37" name="object 37"/>
          <p:cNvSpPr txBox="1"/>
          <p:nvPr/>
        </p:nvSpPr>
        <p:spPr>
          <a:xfrm>
            <a:off x="167297" y="1884081"/>
            <a:ext cx="144653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Courier New"/>
                <a:cs typeface="Courier New"/>
              </a:rPr>
              <a:t>create table</a:t>
            </a:r>
            <a:r>
              <a:rPr sz="1100" spc="-405" dirty="0">
                <a:latin typeface="Courier New"/>
                <a:cs typeface="Courier New"/>
              </a:rPr>
              <a:t> </a:t>
            </a:r>
            <a:r>
              <a:rPr sz="1100" spc="-5" dirty="0">
                <a:latin typeface="Arial"/>
                <a:cs typeface="Arial"/>
              </a:rPr>
              <a:t>Sells (</a:t>
            </a:r>
            <a:endParaRPr sz="1100">
              <a:latin typeface="Arial"/>
              <a:cs typeface="Arial"/>
            </a:endParaRPr>
          </a:p>
        </p:txBody>
      </p:sp>
      <p:sp>
        <p:nvSpPr>
          <p:cNvPr id="38" name="object 38"/>
          <p:cNvSpPr txBox="1"/>
          <p:nvPr/>
        </p:nvSpPr>
        <p:spPr>
          <a:xfrm>
            <a:off x="282841" y="2056154"/>
            <a:ext cx="328295" cy="535940"/>
          </a:xfrm>
          <a:prstGeom prst="rect">
            <a:avLst/>
          </a:prstGeom>
        </p:spPr>
        <p:txBody>
          <a:bodyPr vert="horz" wrap="square" lIns="0" tIns="6985" rIns="0" bIns="0" rtlCol="0">
            <a:spAutoFit/>
          </a:bodyPr>
          <a:lstStyle/>
          <a:p>
            <a:pPr marL="12700" marR="5080">
              <a:lnSpc>
                <a:spcPct val="102600"/>
              </a:lnSpc>
              <a:spcBef>
                <a:spcPts val="55"/>
              </a:spcBef>
            </a:pPr>
            <a:r>
              <a:rPr sz="1100" spc="-10" dirty="0">
                <a:latin typeface="Arial"/>
                <a:cs typeface="Arial"/>
              </a:rPr>
              <a:t>pub  </a:t>
            </a:r>
            <a:r>
              <a:rPr sz="1100" spc="-5" dirty="0">
                <a:latin typeface="Arial"/>
                <a:cs typeface="Arial"/>
              </a:rPr>
              <a:t>beer  </a:t>
            </a:r>
            <a:r>
              <a:rPr sz="1100" spc="-10" dirty="0">
                <a:latin typeface="Arial"/>
                <a:cs typeface="Arial"/>
              </a:rPr>
              <a:t>p</a:t>
            </a:r>
            <a:r>
              <a:rPr sz="1100" spc="10" dirty="0">
                <a:latin typeface="Arial"/>
                <a:cs typeface="Arial"/>
              </a:rPr>
              <a:t>r</a:t>
            </a:r>
            <a:r>
              <a:rPr sz="1100" spc="-5" dirty="0">
                <a:latin typeface="Arial"/>
                <a:cs typeface="Arial"/>
              </a:rPr>
              <a:t>ice</a:t>
            </a:r>
            <a:endParaRPr sz="1100" dirty="0">
              <a:latin typeface="Arial"/>
              <a:cs typeface="Arial"/>
            </a:endParaRPr>
          </a:p>
        </p:txBody>
      </p:sp>
      <p:sp>
        <p:nvSpPr>
          <p:cNvPr id="39" name="object 39"/>
          <p:cNvSpPr txBox="1"/>
          <p:nvPr/>
        </p:nvSpPr>
        <p:spPr>
          <a:xfrm>
            <a:off x="937602" y="2056154"/>
            <a:ext cx="1061720" cy="535940"/>
          </a:xfrm>
          <a:prstGeom prst="rect">
            <a:avLst/>
          </a:prstGeom>
        </p:spPr>
        <p:txBody>
          <a:bodyPr vert="horz" wrap="square" lIns="0" tIns="6985" rIns="0" bIns="0" rtlCol="0">
            <a:spAutoFit/>
          </a:bodyPr>
          <a:lstStyle/>
          <a:p>
            <a:pPr marL="12700" marR="5080" algn="just">
              <a:lnSpc>
                <a:spcPct val="102600"/>
              </a:lnSpc>
              <a:spcBef>
                <a:spcPts val="55"/>
              </a:spcBef>
            </a:pPr>
            <a:r>
              <a:rPr sz="1100" spc="-10" dirty="0">
                <a:latin typeface="Courier New"/>
                <a:cs typeface="Courier New"/>
              </a:rPr>
              <a:t>varchar(50)</a:t>
            </a:r>
            <a:r>
              <a:rPr sz="1100" spc="-10" dirty="0">
                <a:latin typeface="Arial"/>
                <a:cs typeface="Arial"/>
              </a:rPr>
              <a:t>,  </a:t>
            </a:r>
            <a:r>
              <a:rPr sz="1100" spc="-10" dirty="0">
                <a:latin typeface="Courier New"/>
                <a:cs typeface="Courier New"/>
              </a:rPr>
              <a:t>varchar(50)</a:t>
            </a:r>
            <a:r>
              <a:rPr sz="1100" spc="-10" dirty="0">
                <a:latin typeface="Arial"/>
                <a:cs typeface="Arial"/>
              </a:rPr>
              <a:t>,  </a:t>
            </a:r>
            <a:r>
              <a:rPr sz="1100" spc="-10" dirty="0">
                <a:latin typeface="Courier New"/>
                <a:cs typeface="Courier New"/>
              </a:rPr>
              <a:t>numeric(4,2</a:t>
            </a:r>
            <a:r>
              <a:rPr sz="1100" spc="-15" dirty="0">
                <a:latin typeface="Courier New"/>
                <a:cs typeface="Courier New"/>
              </a:rPr>
              <a:t>)</a:t>
            </a:r>
            <a:r>
              <a:rPr sz="1100" spc="-5" dirty="0">
                <a:latin typeface="Arial"/>
                <a:cs typeface="Arial"/>
              </a:rPr>
              <a:t>,</a:t>
            </a:r>
            <a:endParaRPr sz="1100">
              <a:latin typeface="Arial"/>
              <a:cs typeface="Arial"/>
            </a:endParaRPr>
          </a:p>
        </p:txBody>
      </p:sp>
      <p:sp>
        <p:nvSpPr>
          <p:cNvPr id="40" name="object 40"/>
          <p:cNvSpPr txBox="1"/>
          <p:nvPr/>
        </p:nvSpPr>
        <p:spPr>
          <a:xfrm>
            <a:off x="167297" y="2572383"/>
            <a:ext cx="2641600" cy="535940"/>
          </a:xfrm>
          <a:prstGeom prst="rect">
            <a:avLst/>
          </a:prstGeom>
        </p:spPr>
        <p:txBody>
          <a:bodyPr vert="horz" wrap="square" lIns="0" tIns="11430" rIns="0" bIns="0" rtlCol="0">
            <a:spAutoFit/>
          </a:bodyPr>
          <a:lstStyle/>
          <a:p>
            <a:pPr marL="127635">
              <a:lnSpc>
                <a:spcPct val="100000"/>
              </a:lnSpc>
              <a:spcBef>
                <a:spcPts val="90"/>
              </a:spcBef>
            </a:pPr>
            <a:r>
              <a:rPr sz="1100" spc="-10" dirty="0">
                <a:solidFill>
                  <a:srgbClr val="00B050"/>
                </a:solidFill>
                <a:latin typeface="Courier New"/>
                <a:cs typeface="Courier New"/>
              </a:rPr>
              <a:t>primary key</a:t>
            </a:r>
            <a:r>
              <a:rPr sz="1100" spc="-365" dirty="0">
                <a:solidFill>
                  <a:srgbClr val="00B050"/>
                </a:solidFill>
                <a:latin typeface="Courier New"/>
                <a:cs typeface="Courier New"/>
              </a:rPr>
              <a:t> </a:t>
            </a:r>
            <a:r>
              <a:rPr sz="1100" spc="-10" dirty="0">
                <a:solidFill>
                  <a:srgbClr val="00B050"/>
                </a:solidFill>
                <a:latin typeface="Arial"/>
                <a:cs typeface="Arial"/>
              </a:rPr>
              <a:t>(pub,beer)</a:t>
            </a:r>
            <a:endParaRPr sz="1100" dirty="0">
              <a:solidFill>
                <a:srgbClr val="00B050"/>
              </a:solidFill>
              <a:latin typeface="Arial"/>
              <a:cs typeface="Arial"/>
            </a:endParaRPr>
          </a:p>
          <a:p>
            <a:pPr marL="127635">
              <a:lnSpc>
                <a:spcPct val="100000"/>
              </a:lnSpc>
              <a:spcBef>
                <a:spcPts val="35"/>
              </a:spcBef>
            </a:pPr>
            <a:r>
              <a:rPr sz="1100" spc="-10" dirty="0">
                <a:solidFill>
                  <a:srgbClr val="00B050"/>
                </a:solidFill>
                <a:latin typeface="Courier New"/>
                <a:cs typeface="Courier New"/>
              </a:rPr>
              <a:t>foreign key</a:t>
            </a:r>
            <a:r>
              <a:rPr sz="1100" spc="-355" dirty="0">
                <a:solidFill>
                  <a:srgbClr val="00B050"/>
                </a:solidFill>
                <a:latin typeface="Courier New"/>
                <a:cs typeface="Courier New"/>
              </a:rPr>
              <a:t> </a:t>
            </a:r>
            <a:r>
              <a:rPr sz="1100" spc="-5" dirty="0">
                <a:solidFill>
                  <a:srgbClr val="00B050"/>
                </a:solidFill>
                <a:latin typeface="Arial"/>
                <a:cs typeface="Arial"/>
              </a:rPr>
              <a:t>(pub) </a:t>
            </a:r>
            <a:r>
              <a:rPr sz="1100" spc="-10" dirty="0">
                <a:solidFill>
                  <a:srgbClr val="00B050"/>
                </a:solidFill>
                <a:latin typeface="Courier New"/>
                <a:cs typeface="Courier New"/>
              </a:rPr>
              <a:t>references</a:t>
            </a:r>
            <a:r>
              <a:rPr sz="1100" spc="-355" dirty="0">
                <a:solidFill>
                  <a:srgbClr val="00B050"/>
                </a:solidFill>
                <a:latin typeface="Courier New"/>
                <a:cs typeface="Courier New"/>
              </a:rPr>
              <a:t> </a:t>
            </a:r>
            <a:r>
              <a:rPr sz="1100" spc="-10" dirty="0">
                <a:solidFill>
                  <a:srgbClr val="00B050"/>
                </a:solidFill>
                <a:latin typeface="Arial"/>
                <a:cs typeface="Arial"/>
              </a:rPr>
              <a:t>Pubs</a:t>
            </a:r>
            <a:endParaRPr sz="1100" dirty="0">
              <a:solidFill>
                <a:srgbClr val="00B050"/>
              </a:solidFill>
              <a:latin typeface="Arial"/>
              <a:cs typeface="Arial"/>
            </a:endParaRPr>
          </a:p>
          <a:p>
            <a:pPr marL="12700">
              <a:lnSpc>
                <a:spcPct val="100000"/>
              </a:lnSpc>
              <a:spcBef>
                <a:spcPts val="35"/>
              </a:spcBef>
            </a:pPr>
            <a:r>
              <a:rPr sz="1100" spc="-5" dirty="0">
                <a:latin typeface="Arial"/>
                <a:cs typeface="Arial"/>
              </a:rPr>
              <a:t>);</a:t>
            </a:r>
            <a:endParaRPr sz="1100" dirty="0">
              <a:latin typeface="Arial"/>
              <a:cs typeface="Arial"/>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3333B2"/>
                </a:solidFill>
                <a:latin typeface="Arial"/>
                <a:cs typeface="Arial"/>
                <a:hlinkClick r:id="rId3" action="ppaction://hlinksldjump"/>
              </a:rPr>
              <a:t>SQL</a:t>
            </a:r>
            <a:r>
              <a:rPr sz="600" spc="-7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solidFill>
                  <a:srgbClr val="999999"/>
                </a:solidFill>
                <a:latin typeface="Arial"/>
                <a:cs typeface="Arial"/>
                <a:hlinkClick r:id="" action="ppaction://noaction"/>
              </a:rPr>
              <a:t>Single table</a:t>
            </a:r>
            <a:r>
              <a:rPr sz="400" spc="-35" dirty="0">
                <a:solidFill>
                  <a:srgbClr val="999999"/>
                </a:solidFill>
                <a:latin typeface="Arial"/>
                <a:cs typeface="Arial"/>
                <a:hlinkClick r:id="" action="ppaction://noaction"/>
              </a:rPr>
              <a:t> </a:t>
            </a:r>
            <a:r>
              <a:rPr sz="400" dirty="0">
                <a:solidFill>
                  <a:srgbClr val="999999"/>
                </a:solidFill>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171700" cy="244475"/>
          </a:xfrm>
          <a:prstGeom prst="rect">
            <a:avLst/>
          </a:prstGeom>
        </p:spPr>
        <p:txBody>
          <a:bodyPr vert="horz" wrap="square" lIns="0" tIns="17145" rIns="0" bIns="0" rtlCol="0">
            <a:spAutoFit/>
          </a:bodyPr>
          <a:lstStyle/>
          <a:p>
            <a:pPr marL="12700">
              <a:lnSpc>
                <a:spcPct val="100000"/>
              </a:lnSpc>
              <a:spcBef>
                <a:spcPts val="135"/>
              </a:spcBef>
            </a:pPr>
            <a:r>
              <a:rPr spc="20" dirty="0"/>
              <a:t>Some </a:t>
            </a:r>
            <a:r>
              <a:rPr spc="10" dirty="0"/>
              <a:t>Integrity</a:t>
            </a:r>
            <a:r>
              <a:rPr spc="-15" dirty="0"/>
              <a:t> </a:t>
            </a:r>
            <a:r>
              <a:rPr spc="10" dirty="0"/>
              <a:t>Constraints</a:t>
            </a:r>
          </a:p>
        </p:txBody>
      </p:sp>
      <p:sp>
        <p:nvSpPr>
          <p:cNvPr id="35" name="object 35"/>
          <p:cNvSpPr txBox="1"/>
          <p:nvPr/>
        </p:nvSpPr>
        <p:spPr>
          <a:xfrm>
            <a:off x="270992" y="813649"/>
            <a:ext cx="3437254" cy="2102485"/>
          </a:xfrm>
          <a:prstGeom prst="rect">
            <a:avLst/>
          </a:prstGeom>
        </p:spPr>
        <p:txBody>
          <a:bodyPr vert="horz" wrap="square" lIns="0" tIns="11430" rIns="0" bIns="0" rtlCol="0">
            <a:spAutoFit/>
          </a:bodyPr>
          <a:lstStyle/>
          <a:p>
            <a:pPr marL="38100">
              <a:lnSpc>
                <a:spcPct val="100000"/>
              </a:lnSpc>
              <a:spcBef>
                <a:spcPts val="90"/>
              </a:spcBef>
            </a:pPr>
            <a:r>
              <a:rPr sz="1200" spc="127" baseline="6944" dirty="0">
                <a:solidFill>
                  <a:srgbClr val="3333B2"/>
                </a:solidFill>
                <a:latin typeface="Arial Black"/>
                <a:cs typeface="Arial Black"/>
              </a:rPr>
              <a:t>e</a:t>
            </a:r>
            <a:r>
              <a:rPr sz="1200" spc="412" baseline="6944" dirty="0">
                <a:solidFill>
                  <a:srgbClr val="3333B2"/>
                </a:solidFill>
                <a:latin typeface="Arial Black"/>
                <a:cs typeface="Arial Black"/>
              </a:rPr>
              <a:t> </a:t>
            </a:r>
            <a:r>
              <a:rPr sz="1100" spc="-10" dirty="0">
                <a:latin typeface="Courier New"/>
                <a:cs typeface="Courier New"/>
              </a:rPr>
              <a:t>primary </a:t>
            </a:r>
            <a:r>
              <a:rPr sz="1100" spc="-15" dirty="0">
                <a:latin typeface="Courier New"/>
                <a:cs typeface="Courier New"/>
              </a:rPr>
              <a:t>key(</a:t>
            </a:r>
            <a:r>
              <a:rPr sz="1100" i="1" spc="-15" dirty="0">
                <a:solidFill>
                  <a:srgbClr val="0000FF"/>
                </a:solidFill>
                <a:latin typeface="Arial"/>
                <a:cs typeface="Arial"/>
              </a:rPr>
              <a:t>A</a:t>
            </a:r>
            <a:r>
              <a:rPr sz="1200" spc="-22" baseline="-13888" dirty="0">
                <a:solidFill>
                  <a:srgbClr val="0000FF"/>
                </a:solidFill>
                <a:latin typeface="Arial"/>
                <a:cs typeface="Arial"/>
              </a:rPr>
              <a:t>1</a:t>
            </a:r>
            <a:r>
              <a:rPr sz="1100" i="1" spc="-15" dirty="0">
                <a:solidFill>
                  <a:srgbClr val="0000FF"/>
                </a:solidFill>
                <a:latin typeface="Verdana"/>
                <a:cs typeface="Verdana"/>
              </a:rPr>
              <a:t>,</a:t>
            </a:r>
            <a:r>
              <a:rPr sz="1100" i="1" spc="-204" dirty="0">
                <a:solidFill>
                  <a:srgbClr val="0000FF"/>
                </a:solidFill>
                <a:latin typeface="Verdana"/>
                <a:cs typeface="Verdana"/>
              </a:rPr>
              <a:t> </a:t>
            </a:r>
            <a:r>
              <a:rPr sz="1100" i="1" spc="-100" dirty="0">
                <a:solidFill>
                  <a:srgbClr val="0000FF"/>
                </a:solidFill>
                <a:latin typeface="Verdana"/>
                <a:cs typeface="Verdana"/>
              </a:rPr>
              <a:t>.</a:t>
            </a:r>
            <a:r>
              <a:rPr sz="1100" i="1" spc="-210" dirty="0">
                <a:solidFill>
                  <a:srgbClr val="0000FF"/>
                </a:solidFill>
                <a:latin typeface="Verdana"/>
                <a:cs typeface="Verdana"/>
              </a:rPr>
              <a:t> </a:t>
            </a:r>
            <a:r>
              <a:rPr sz="1100" i="1" spc="-100" dirty="0">
                <a:solidFill>
                  <a:srgbClr val="0000FF"/>
                </a:solidFill>
                <a:latin typeface="Verdana"/>
                <a:cs typeface="Verdana"/>
              </a:rPr>
              <a:t>.</a:t>
            </a:r>
            <a:r>
              <a:rPr sz="1100" i="1" spc="-204" dirty="0">
                <a:solidFill>
                  <a:srgbClr val="0000FF"/>
                </a:solidFill>
                <a:latin typeface="Verdana"/>
                <a:cs typeface="Verdana"/>
              </a:rPr>
              <a:t> </a:t>
            </a:r>
            <a:r>
              <a:rPr sz="1100" i="1" spc="-100" dirty="0">
                <a:solidFill>
                  <a:srgbClr val="0000FF"/>
                </a:solidFill>
                <a:latin typeface="Verdana"/>
                <a:cs typeface="Verdana"/>
              </a:rPr>
              <a:t>.</a:t>
            </a:r>
            <a:r>
              <a:rPr sz="1100" i="1" spc="-204" dirty="0">
                <a:solidFill>
                  <a:srgbClr val="0000FF"/>
                </a:solidFill>
                <a:latin typeface="Verdana"/>
                <a:cs typeface="Verdana"/>
              </a:rPr>
              <a:t> </a:t>
            </a:r>
            <a:r>
              <a:rPr sz="1100" i="1" spc="-100" dirty="0">
                <a:solidFill>
                  <a:srgbClr val="0000FF"/>
                </a:solidFill>
                <a:latin typeface="Verdana"/>
                <a:cs typeface="Verdana"/>
              </a:rPr>
              <a:t>,</a:t>
            </a:r>
            <a:r>
              <a:rPr sz="1100" i="1" spc="-204" dirty="0">
                <a:solidFill>
                  <a:srgbClr val="0000FF"/>
                </a:solidFill>
                <a:latin typeface="Verdana"/>
                <a:cs typeface="Verdana"/>
              </a:rPr>
              <a:t> </a:t>
            </a:r>
            <a:r>
              <a:rPr sz="1100" i="1" spc="10" dirty="0">
                <a:solidFill>
                  <a:srgbClr val="0000FF"/>
                </a:solidFill>
                <a:latin typeface="Arial"/>
                <a:cs typeface="Arial"/>
              </a:rPr>
              <a:t>A</a:t>
            </a:r>
            <a:r>
              <a:rPr sz="1200" i="1" spc="15" baseline="-10416" dirty="0">
                <a:solidFill>
                  <a:srgbClr val="0000FF"/>
                </a:solidFill>
                <a:latin typeface="Arial"/>
                <a:cs typeface="Arial"/>
              </a:rPr>
              <a:t>n</a:t>
            </a:r>
            <a:r>
              <a:rPr sz="1100" spc="10" dirty="0">
                <a:latin typeface="Courier New"/>
                <a:cs typeface="Courier New"/>
              </a:rPr>
              <a:t>)</a:t>
            </a:r>
            <a:r>
              <a:rPr sz="1100" spc="10" dirty="0">
                <a:latin typeface="Arial"/>
                <a:cs typeface="Arial"/>
              </a:rPr>
              <a:t>:</a:t>
            </a:r>
            <a:r>
              <a:rPr sz="1100" spc="65" dirty="0">
                <a:latin typeface="Arial"/>
                <a:cs typeface="Arial"/>
              </a:rPr>
              <a:t> </a:t>
            </a:r>
            <a:r>
              <a:rPr sz="1100" spc="-5" dirty="0">
                <a:latin typeface="Arial"/>
                <a:cs typeface="Arial"/>
              </a:rPr>
              <a:t>attributes </a:t>
            </a:r>
            <a:r>
              <a:rPr sz="1100" i="1" spc="-25" dirty="0">
                <a:solidFill>
                  <a:srgbClr val="0000FF"/>
                </a:solidFill>
                <a:latin typeface="Arial"/>
                <a:cs typeface="Arial"/>
              </a:rPr>
              <a:t>A</a:t>
            </a:r>
            <a:r>
              <a:rPr sz="1200" spc="-37" baseline="-13888" dirty="0">
                <a:solidFill>
                  <a:srgbClr val="0000FF"/>
                </a:solidFill>
                <a:latin typeface="Arial"/>
                <a:cs typeface="Arial"/>
              </a:rPr>
              <a:t>1</a:t>
            </a:r>
            <a:r>
              <a:rPr sz="1100" i="1" spc="-25" dirty="0">
                <a:solidFill>
                  <a:srgbClr val="0000FF"/>
                </a:solidFill>
                <a:latin typeface="Verdana"/>
                <a:cs typeface="Verdana"/>
              </a:rPr>
              <a:t>,</a:t>
            </a:r>
            <a:r>
              <a:rPr sz="1100" i="1" spc="-204" dirty="0">
                <a:solidFill>
                  <a:srgbClr val="0000FF"/>
                </a:solidFill>
                <a:latin typeface="Verdana"/>
                <a:cs typeface="Verdana"/>
              </a:rPr>
              <a:t> </a:t>
            </a:r>
            <a:r>
              <a:rPr sz="1100" i="1" spc="-100" dirty="0">
                <a:solidFill>
                  <a:srgbClr val="0000FF"/>
                </a:solidFill>
                <a:latin typeface="Verdana"/>
                <a:cs typeface="Verdana"/>
              </a:rPr>
              <a:t>.</a:t>
            </a:r>
            <a:r>
              <a:rPr sz="1100" i="1" spc="-204" dirty="0">
                <a:solidFill>
                  <a:srgbClr val="0000FF"/>
                </a:solidFill>
                <a:latin typeface="Verdana"/>
                <a:cs typeface="Verdana"/>
              </a:rPr>
              <a:t> </a:t>
            </a:r>
            <a:r>
              <a:rPr sz="1100" i="1" spc="-100" dirty="0">
                <a:solidFill>
                  <a:srgbClr val="0000FF"/>
                </a:solidFill>
                <a:latin typeface="Verdana"/>
                <a:cs typeface="Verdana"/>
              </a:rPr>
              <a:t>.</a:t>
            </a:r>
            <a:r>
              <a:rPr sz="1100" i="1" spc="-204" dirty="0">
                <a:solidFill>
                  <a:srgbClr val="0000FF"/>
                </a:solidFill>
                <a:latin typeface="Verdana"/>
                <a:cs typeface="Verdana"/>
              </a:rPr>
              <a:t> </a:t>
            </a:r>
            <a:r>
              <a:rPr sz="1100" i="1" spc="-100" dirty="0">
                <a:solidFill>
                  <a:srgbClr val="0000FF"/>
                </a:solidFill>
                <a:latin typeface="Verdana"/>
                <a:cs typeface="Verdana"/>
              </a:rPr>
              <a:t>.</a:t>
            </a:r>
            <a:r>
              <a:rPr sz="1100" i="1" spc="-204" dirty="0">
                <a:solidFill>
                  <a:srgbClr val="0000FF"/>
                </a:solidFill>
                <a:latin typeface="Verdana"/>
                <a:cs typeface="Verdana"/>
              </a:rPr>
              <a:t> </a:t>
            </a:r>
            <a:r>
              <a:rPr sz="1100" i="1" spc="-100" dirty="0">
                <a:solidFill>
                  <a:srgbClr val="0000FF"/>
                </a:solidFill>
                <a:latin typeface="Verdana"/>
                <a:cs typeface="Verdana"/>
              </a:rPr>
              <a:t>,</a:t>
            </a:r>
            <a:r>
              <a:rPr sz="1100" i="1" spc="-204" dirty="0">
                <a:solidFill>
                  <a:srgbClr val="0000FF"/>
                </a:solidFill>
                <a:latin typeface="Verdana"/>
                <a:cs typeface="Verdana"/>
              </a:rPr>
              <a:t> </a:t>
            </a:r>
            <a:r>
              <a:rPr sz="1100" i="1" spc="-5" dirty="0">
                <a:solidFill>
                  <a:srgbClr val="0000FF"/>
                </a:solidFill>
                <a:latin typeface="Arial"/>
                <a:cs typeface="Arial"/>
              </a:rPr>
              <a:t>A</a:t>
            </a:r>
            <a:r>
              <a:rPr sz="1200" i="1" spc="-7" baseline="-10416" dirty="0">
                <a:solidFill>
                  <a:srgbClr val="0000FF"/>
                </a:solidFill>
                <a:latin typeface="Arial"/>
                <a:cs typeface="Arial"/>
              </a:rPr>
              <a:t>n</a:t>
            </a:r>
            <a:endParaRPr sz="1200" baseline="-10416" dirty="0">
              <a:latin typeface="Arial"/>
              <a:cs typeface="Arial"/>
            </a:endParaRPr>
          </a:p>
          <a:p>
            <a:pPr marL="186055">
              <a:lnSpc>
                <a:spcPct val="100000"/>
              </a:lnSpc>
              <a:spcBef>
                <a:spcPts val="35"/>
              </a:spcBef>
            </a:pPr>
            <a:r>
              <a:rPr sz="1100" spc="-10" dirty="0">
                <a:latin typeface="Arial"/>
                <a:cs typeface="Arial"/>
              </a:rPr>
              <a:t>form a </a:t>
            </a:r>
            <a:r>
              <a:rPr sz="1100" dirty="0">
                <a:latin typeface="Arial"/>
                <a:cs typeface="Arial"/>
              </a:rPr>
              <a:t>primary </a:t>
            </a:r>
            <a:r>
              <a:rPr sz="1100" spc="-25" dirty="0">
                <a:latin typeface="Arial"/>
                <a:cs typeface="Arial"/>
              </a:rPr>
              <a:t>key </a:t>
            </a:r>
            <a:r>
              <a:rPr sz="1100" spc="-5" dirty="0">
                <a:latin typeface="Arial"/>
                <a:cs typeface="Arial"/>
              </a:rPr>
              <a:t>of the</a:t>
            </a:r>
            <a:r>
              <a:rPr sz="1100" spc="10" dirty="0">
                <a:latin typeface="Arial"/>
                <a:cs typeface="Arial"/>
              </a:rPr>
              <a:t> </a:t>
            </a:r>
            <a:r>
              <a:rPr sz="1100" spc="-5" dirty="0">
                <a:latin typeface="Arial"/>
                <a:cs typeface="Arial"/>
              </a:rPr>
              <a:t>relation</a:t>
            </a:r>
            <a:endParaRPr sz="1100" dirty="0">
              <a:latin typeface="Arial"/>
              <a:cs typeface="Arial"/>
            </a:endParaRPr>
          </a:p>
          <a:p>
            <a:pPr marL="186055" marR="161290" indent="-148590">
              <a:lnSpc>
                <a:spcPct val="102600"/>
              </a:lnSpc>
              <a:spcBef>
                <a:spcPts val="300"/>
              </a:spcBef>
            </a:pPr>
            <a:r>
              <a:rPr sz="1200" spc="127" baseline="6944" dirty="0">
                <a:solidFill>
                  <a:srgbClr val="3333B2"/>
                </a:solidFill>
                <a:latin typeface="Arial Black"/>
                <a:cs typeface="Arial Black"/>
              </a:rPr>
              <a:t>e </a:t>
            </a:r>
            <a:r>
              <a:rPr sz="1100" spc="-10" dirty="0">
                <a:latin typeface="Courier New"/>
                <a:cs typeface="Courier New"/>
              </a:rPr>
              <a:t>foreign </a:t>
            </a:r>
            <a:r>
              <a:rPr sz="1100" spc="-15" dirty="0">
                <a:latin typeface="Courier New"/>
                <a:cs typeface="Courier New"/>
              </a:rPr>
              <a:t>key(</a:t>
            </a:r>
            <a:r>
              <a:rPr sz="1100" i="1" spc="-15" dirty="0">
                <a:solidFill>
                  <a:srgbClr val="0000FF"/>
                </a:solidFill>
                <a:latin typeface="Arial"/>
                <a:cs typeface="Arial"/>
              </a:rPr>
              <a:t>A</a:t>
            </a:r>
            <a:r>
              <a:rPr sz="1200" spc="-22" baseline="-13888" dirty="0">
                <a:solidFill>
                  <a:srgbClr val="0000FF"/>
                </a:solidFill>
                <a:latin typeface="Arial"/>
                <a:cs typeface="Arial"/>
              </a:rPr>
              <a:t>1</a:t>
            </a:r>
            <a:r>
              <a:rPr sz="1100" i="1" spc="-15" dirty="0">
                <a:solidFill>
                  <a:srgbClr val="0000FF"/>
                </a:solidFill>
                <a:latin typeface="Verdana"/>
                <a:cs typeface="Verdana"/>
              </a:rPr>
              <a:t>, </a:t>
            </a:r>
            <a:r>
              <a:rPr sz="1100" i="1" spc="-100" dirty="0">
                <a:solidFill>
                  <a:srgbClr val="0000FF"/>
                </a:solidFill>
                <a:latin typeface="Verdana"/>
                <a:cs typeface="Verdana"/>
              </a:rPr>
              <a:t>. . . , </a:t>
            </a:r>
            <a:r>
              <a:rPr sz="1100" i="1" spc="15" dirty="0">
                <a:solidFill>
                  <a:srgbClr val="0000FF"/>
                </a:solidFill>
                <a:latin typeface="Arial"/>
                <a:cs typeface="Arial"/>
              </a:rPr>
              <a:t>A</a:t>
            </a:r>
            <a:r>
              <a:rPr sz="1200" i="1" spc="22" baseline="-10416" dirty="0">
                <a:solidFill>
                  <a:srgbClr val="0000FF"/>
                </a:solidFill>
                <a:latin typeface="Arial"/>
                <a:cs typeface="Arial"/>
              </a:rPr>
              <a:t>n</a:t>
            </a:r>
            <a:r>
              <a:rPr sz="1100" spc="15" dirty="0">
                <a:latin typeface="Courier New"/>
                <a:cs typeface="Courier New"/>
              </a:rPr>
              <a:t>) </a:t>
            </a:r>
            <a:r>
              <a:rPr sz="1100" spc="-10" dirty="0">
                <a:latin typeface="Courier New"/>
                <a:cs typeface="Courier New"/>
              </a:rPr>
              <a:t>references </a:t>
            </a:r>
            <a:r>
              <a:rPr sz="1100" i="1" spc="20" dirty="0">
                <a:solidFill>
                  <a:srgbClr val="0000FF"/>
                </a:solidFill>
                <a:latin typeface="Arial"/>
                <a:cs typeface="Arial"/>
              </a:rPr>
              <a:t>R</a:t>
            </a:r>
            <a:r>
              <a:rPr sz="1100" spc="20" dirty="0">
                <a:latin typeface="Arial"/>
                <a:cs typeface="Arial"/>
              </a:rPr>
              <a:t>:  </a:t>
            </a:r>
            <a:r>
              <a:rPr sz="1100" spc="-10" dirty="0">
                <a:latin typeface="Arial"/>
                <a:cs typeface="Arial"/>
              </a:rPr>
              <a:t>values </a:t>
            </a:r>
            <a:r>
              <a:rPr sz="1100" spc="-20" dirty="0">
                <a:latin typeface="Arial"/>
                <a:cs typeface="Arial"/>
              </a:rPr>
              <a:t>for</a:t>
            </a:r>
            <a:r>
              <a:rPr sz="1100" spc="-10" dirty="0">
                <a:latin typeface="Arial"/>
                <a:cs typeface="Arial"/>
              </a:rPr>
              <a:t> </a:t>
            </a:r>
            <a:r>
              <a:rPr sz="1100" spc="-5" dirty="0">
                <a:latin typeface="Arial"/>
                <a:cs typeface="Arial"/>
              </a:rPr>
              <a:t>attributes</a:t>
            </a:r>
            <a:r>
              <a:rPr sz="1100" spc="-10" dirty="0">
                <a:latin typeface="Arial"/>
                <a:cs typeface="Arial"/>
              </a:rPr>
              <a:t> </a:t>
            </a:r>
            <a:r>
              <a:rPr sz="1100" i="1" spc="-25" dirty="0">
                <a:solidFill>
                  <a:srgbClr val="0000FF"/>
                </a:solidFill>
                <a:latin typeface="Arial"/>
                <a:cs typeface="Arial"/>
              </a:rPr>
              <a:t>A</a:t>
            </a:r>
            <a:r>
              <a:rPr sz="1200" spc="-37" baseline="-13888" dirty="0">
                <a:solidFill>
                  <a:srgbClr val="0000FF"/>
                </a:solidFill>
                <a:latin typeface="Arial"/>
                <a:cs typeface="Arial"/>
              </a:rPr>
              <a:t>1</a:t>
            </a:r>
            <a:r>
              <a:rPr sz="1100" i="1" spc="-25" dirty="0">
                <a:solidFill>
                  <a:srgbClr val="0000FF"/>
                </a:solidFill>
                <a:latin typeface="Verdana"/>
                <a:cs typeface="Verdana"/>
              </a:rPr>
              <a:t>,</a:t>
            </a:r>
            <a:r>
              <a:rPr sz="1100" i="1" spc="-210" dirty="0">
                <a:solidFill>
                  <a:srgbClr val="0000FF"/>
                </a:solidFill>
                <a:latin typeface="Verdana"/>
                <a:cs typeface="Verdana"/>
              </a:rPr>
              <a:t> </a:t>
            </a:r>
            <a:r>
              <a:rPr sz="1100" i="1" spc="-100" dirty="0">
                <a:solidFill>
                  <a:srgbClr val="0000FF"/>
                </a:solidFill>
                <a:latin typeface="Verdana"/>
                <a:cs typeface="Verdana"/>
              </a:rPr>
              <a:t>.</a:t>
            </a:r>
            <a:r>
              <a:rPr sz="1100" i="1" spc="-204" dirty="0">
                <a:solidFill>
                  <a:srgbClr val="0000FF"/>
                </a:solidFill>
                <a:latin typeface="Verdana"/>
                <a:cs typeface="Verdana"/>
              </a:rPr>
              <a:t> </a:t>
            </a:r>
            <a:r>
              <a:rPr sz="1100" i="1" spc="-100" dirty="0">
                <a:solidFill>
                  <a:srgbClr val="0000FF"/>
                </a:solidFill>
                <a:latin typeface="Verdana"/>
                <a:cs typeface="Verdana"/>
              </a:rPr>
              <a:t>.</a:t>
            </a:r>
            <a:r>
              <a:rPr sz="1100" i="1" spc="-210" dirty="0">
                <a:solidFill>
                  <a:srgbClr val="0000FF"/>
                </a:solidFill>
                <a:latin typeface="Verdana"/>
                <a:cs typeface="Verdana"/>
              </a:rPr>
              <a:t> </a:t>
            </a:r>
            <a:r>
              <a:rPr sz="1100" i="1" spc="-100" dirty="0">
                <a:solidFill>
                  <a:srgbClr val="0000FF"/>
                </a:solidFill>
                <a:latin typeface="Verdana"/>
                <a:cs typeface="Verdana"/>
              </a:rPr>
              <a:t>.</a:t>
            </a:r>
            <a:r>
              <a:rPr sz="1100" i="1" spc="-210" dirty="0">
                <a:solidFill>
                  <a:srgbClr val="0000FF"/>
                </a:solidFill>
                <a:latin typeface="Verdana"/>
                <a:cs typeface="Verdana"/>
              </a:rPr>
              <a:t> </a:t>
            </a:r>
            <a:r>
              <a:rPr sz="1100" i="1" spc="-100" dirty="0">
                <a:solidFill>
                  <a:srgbClr val="0000FF"/>
                </a:solidFill>
                <a:latin typeface="Verdana"/>
                <a:cs typeface="Verdana"/>
              </a:rPr>
              <a:t>,</a:t>
            </a:r>
            <a:r>
              <a:rPr sz="1100" i="1" spc="-204" dirty="0">
                <a:solidFill>
                  <a:srgbClr val="0000FF"/>
                </a:solidFill>
                <a:latin typeface="Verdana"/>
                <a:cs typeface="Verdana"/>
              </a:rPr>
              <a:t> </a:t>
            </a:r>
            <a:r>
              <a:rPr sz="1100" i="1" spc="-5" dirty="0">
                <a:solidFill>
                  <a:srgbClr val="0000FF"/>
                </a:solidFill>
                <a:latin typeface="Arial"/>
                <a:cs typeface="Arial"/>
              </a:rPr>
              <a:t>A</a:t>
            </a:r>
            <a:r>
              <a:rPr sz="1200" i="1" spc="-7" baseline="-10416" dirty="0">
                <a:solidFill>
                  <a:srgbClr val="0000FF"/>
                </a:solidFill>
                <a:latin typeface="Arial"/>
                <a:cs typeface="Arial"/>
              </a:rPr>
              <a:t>n</a:t>
            </a:r>
            <a:r>
              <a:rPr sz="1200" i="1" spc="202" baseline="-10416" dirty="0">
                <a:solidFill>
                  <a:srgbClr val="0000FF"/>
                </a:solidFill>
                <a:latin typeface="Arial"/>
                <a:cs typeface="Arial"/>
              </a:rPr>
              <a:t> </a:t>
            </a:r>
            <a:r>
              <a:rPr sz="1100" spc="-10" dirty="0">
                <a:latin typeface="Arial"/>
                <a:cs typeface="Arial"/>
              </a:rPr>
              <a:t>must </a:t>
            </a:r>
            <a:r>
              <a:rPr sz="1100" spc="-5" dirty="0">
                <a:latin typeface="Arial"/>
                <a:cs typeface="Arial"/>
              </a:rPr>
              <a:t>correspond</a:t>
            </a:r>
            <a:r>
              <a:rPr sz="1100" spc="-10" dirty="0">
                <a:latin typeface="Arial"/>
                <a:cs typeface="Arial"/>
              </a:rPr>
              <a:t> </a:t>
            </a:r>
            <a:r>
              <a:rPr sz="1100" spc="-5" dirty="0">
                <a:latin typeface="Arial"/>
                <a:cs typeface="Arial"/>
              </a:rPr>
              <a:t>to  </a:t>
            </a:r>
            <a:r>
              <a:rPr sz="1100" spc="-10" dirty="0">
                <a:latin typeface="Arial"/>
                <a:cs typeface="Arial"/>
              </a:rPr>
              <a:t>values </a:t>
            </a:r>
            <a:r>
              <a:rPr sz="1100" spc="-5" dirty="0">
                <a:latin typeface="Arial"/>
                <a:cs typeface="Arial"/>
              </a:rPr>
              <a:t>of </a:t>
            </a:r>
            <a:r>
              <a:rPr sz="1100" dirty="0">
                <a:latin typeface="Arial"/>
                <a:cs typeface="Arial"/>
              </a:rPr>
              <a:t>primary </a:t>
            </a:r>
            <a:r>
              <a:rPr sz="1100" spc="-25" dirty="0">
                <a:latin typeface="Arial"/>
                <a:cs typeface="Arial"/>
              </a:rPr>
              <a:t>key </a:t>
            </a:r>
            <a:r>
              <a:rPr sz="1100" spc="-5" dirty="0">
                <a:latin typeface="Arial"/>
                <a:cs typeface="Arial"/>
              </a:rPr>
              <a:t>attributes in</a:t>
            </a:r>
            <a:r>
              <a:rPr sz="1100" dirty="0">
                <a:latin typeface="Arial"/>
                <a:cs typeface="Arial"/>
              </a:rPr>
              <a:t> </a:t>
            </a:r>
            <a:r>
              <a:rPr sz="1100" i="1" spc="-10" dirty="0">
                <a:solidFill>
                  <a:srgbClr val="0000FF"/>
                </a:solidFill>
                <a:latin typeface="Arial"/>
                <a:cs typeface="Arial"/>
              </a:rPr>
              <a:t>R</a:t>
            </a:r>
            <a:endParaRPr sz="1100" dirty="0">
              <a:latin typeface="Arial"/>
              <a:cs typeface="Arial"/>
            </a:endParaRPr>
          </a:p>
          <a:p>
            <a:pPr marL="38100">
              <a:lnSpc>
                <a:spcPct val="100000"/>
              </a:lnSpc>
              <a:spcBef>
                <a:spcPts val="334"/>
              </a:spcBef>
            </a:pPr>
            <a:r>
              <a:rPr sz="1200" spc="127" baseline="6944" dirty="0">
                <a:solidFill>
                  <a:srgbClr val="3333B2"/>
                </a:solidFill>
                <a:latin typeface="Arial Black"/>
                <a:cs typeface="Arial Black"/>
              </a:rPr>
              <a:t>e </a:t>
            </a:r>
            <a:r>
              <a:rPr sz="1100" spc="-10" dirty="0">
                <a:latin typeface="Courier New"/>
                <a:cs typeface="Courier New"/>
              </a:rPr>
              <a:t>not </a:t>
            </a:r>
            <a:r>
              <a:rPr sz="1100" spc="-5" dirty="0">
                <a:latin typeface="Courier New"/>
                <a:cs typeface="Courier New"/>
              </a:rPr>
              <a:t>null</a:t>
            </a:r>
            <a:r>
              <a:rPr sz="1100" spc="-5" dirty="0">
                <a:latin typeface="Arial"/>
                <a:cs typeface="Arial"/>
              </a:rPr>
              <a:t>: </a:t>
            </a:r>
            <a:r>
              <a:rPr sz="1100" spc="-10" dirty="0">
                <a:latin typeface="Arial"/>
                <a:cs typeface="Arial"/>
              </a:rPr>
              <a:t>null </a:t>
            </a:r>
            <a:r>
              <a:rPr sz="1100" spc="-15" dirty="0">
                <a:latin typeface="Arial"/>
                <a:cs typeface="Arial"/>
              </a:rPr>
              <a:t>value </a:t>
            </a:r>
            <a:r>
              <a:rPr sz="1100" spc="-5" dirty="0">
                <a:latin typeface="Arial"/>
                <a:cs typeface="Arial"/>
              </a:rPr>
              <a:t>not </a:t>
            </a:r>
            <a:r>
              <a:rPr sz="1100" spc="-10" dirty="0">
                <a:latin typeface="Arial"/>
                <a:cs typeface="Arial"/>
              </a:rPr>
              <a:t>allowed </a:t>
            </a:r>
            <a:r>
              <a:rPr sz="1100" spc="-20" dirty="0">
                <a:latin typeface="Arial"/>
                <a:cs typeface="Arial"/>
              </a:rPr>
              <a:t>for</a:t>
            </a:r>
            <a:r>
              <a:rPr sz="1100" spc="-90" dirty="0">
                <a:latin typeface="Arial"/>
                <a:cs typeface="Arial"/>
              </a:rPr>
              <a:t> </a:t>
            </a:r>
            <a:r>
              <a:rPr sz="1100" spc="-5" dirty="0">
                <a:latin typeface="Arial"/>
                <a:cs typeface="Arial"/>
              </a:rPr>
              <a:t>attribute</a:t>
            </a:r>
            <a:endParaRPr sz="1100" dirty="0">
              <a:latin typeface="Arial"/>
              <a:cs typeface="Arial"/>
            </a:endParaRPr>
          </a:p>
          <a:p>
            <a:pPr marL="186055" marR="30480" indent="-148590">
              <a:lnSpc>
                <a:spcPct val="102600"/>
              </a:lnSpc>
              <a:spcBef>
                <a:spcPts val="295"/>
              </a:spcBef>
            </a:pPr>
            <a:r>
              <a:rPr sz="1200" spc="127" baseline="6944" dirty="0">
                <a:solidFill>
                  <a:srgbClr val="3333B2"/>
                </a:solidFill>
                <a:latin typeface="Arial Black"/>
                <a:cs typeface="Arial Black"/>
              </a:rPr>
              <a:t>e </a:t>
            </a:r>
            <a:r>
              <a:rPr sz="1100" spc="-10" dirty="0">
                <a:latin typeface="Courier New"/>
                <a:cs typeface="Courier New"/>
              </a:rPr>
              <a:t>unique</a:t>
            </a:r>
            <a:r>
              <a:rPr sz="1100" spc="-10" dirty="0">
                <a:latin typeface="Arial"/>
                <a:cs typeface="Arial"/>
              </a:rPr>
              <a:t>: </a:t>
            </a:r>
            <a:r>
              <a:rPr sz="1100" spc="-5" dirty="0">
                <a:latin typeface="Arial"/>
                <a:cs typeface="Arial"/>
              </a:rPr>
              <a:t>attributes </a:t>
            </a:r>
            <a:r>
              <a:rPr sz="1100" spc="-10" dirty="0">
                <a:latin typeface="Arial"/>
                <a:cs typeface="Arial"/>
              </a:rPr>
              <a:t>values must be </a:t>
            </a:r>
            <a:r>
              <a:rPr sz="1100" spc="-5" dirty="0">
                <a:latin typeface="Arial"/>
                <a:cs typeface="Arial"/>
              </a:rPr>
              <a:t>unique in relation  </a:t>
            </a:r>
            <a:r>
              <a:rPr sz="1100" spc="-10" dirty="0">
                <a:latin typeface="Arial"/>
                <a:cs typeface="Arial"/>
              </a:rPr>
              <a:t>(like a </a:t>
            </a:r>
            <a:r>
              <a:rPr sz="1100" spc="-5" dirty="0">
                <a:latin typeface="Arial"/>
                <a:cs typeface="Arial"/>
              </a:rPr>
              <a:t>simple candidate </a:t>
            </a:r>
            <a:r>
              <a:rPr sz="1100" spc="-20" dirty="0">
                <a:latin typeface="Arial"/>
                <a:cs typeface="Arial"/>
              </a:rPr>
              <a:t>key)</a:t>
            </a:r>
            <a:endParaRPr sz="1100" dirty="0">
              <a:latin typeface="Arial"/>
              <a:cs typeface="Arial"/>
            </a:endParaRPr>
          </a:p>
          <a:p>
            <a:pPr marL="38100">
              <a:lnSpc>
                <a:spcPct val="100000"/>
              </a:lnSpc>
              <a:spcBef>
                <a:spcPts val="335"/>
              </a:spcBef>
            </a:pPr>
            <a:r>
              <a:rPr sz="1200" spc="127" baseline="6944" dirty="0">
                <a:solidFill>
                  <a:srgbClr val="3333B2"/>
                </a:solidFill>
                <a:latin typeface="Arial Black"/>
                <a:cs typeface="Arial Black"/>
              </a:rPr>
              <a:t>e </a:t>
            </a:r>
            <a:r>
              <a:rPr sz="1100" spc="-5" dirty="0">
                <a:latin typeface="Courier New"/>
                <a:cs typeface="Courier New"/>
              </a:rPr>
              <a:t>check</a:t>
            </a:r>
            <a:r>
              <a:rPr sz="1100" spc="-5" dirty="0">
                <a:latin typeface="Arial"/>
                <a:cs typeface="Arial"/>
              </a:rPr>
              <a:t>: </a:t>
            </a:r>
            <a:r>
              <a:rPr sz="1100" spc="-10" dirty="0">
                <a:latin typeface="Arial"/>
                <a:cs typeface="Arial"/>
              </a:rPr>
              <a:t>check constraint on </a:t>
            </a:r>
            <a:r>
              <a:rPr sz="1100" spc="-5" dirty="0">
                <a:latin typeface="Arial"/>
                <a:cs typeface="Arial"/>
              </a:rPr>
              <a:t>attribute </a:t>
            </a:r>
            <a:r>
              <a:rPr sz="1100" spc="-15" dirty="0">
                <a:latin typeface="Arial"/>
                <a:cs typeface="Arial"/>
              </a:rPr>
              <a:t>value,</a:t>
            </a:r>
            <a:r>
              <a:rPr sz="1100" spc="-90" dirty="0">
                <a:latin typeface="Arial"/>
                <a:cs typeface="Arial"/>
              </a:rPr>
              <a:t> </a:t>
            </a:r>
            <a:r>
              <a:rPr sz="1100" spc="-10" dirty="0">
                <a:latin typeface="Arial"/>
                <a:cs typeface="Arial"/>
              </a:rPr>
              <a:t>e.g.,</a:t>
            </a:r>
            <a:endParaRPr sz="1100" dirty="0">
              <a:latin typeface="Arial"/>
              <a:cs typeface="Arial"/>
            </a:endParaRPr>
          </a:p>
          <a:p>
            <a:pPr marL="186055">
              <a:lnSpc>
                <a:spcPct val="100000"/>
              </a:lnSpc>
              <a:spcBef>
                <a:spcPts val="35"/>
              </a:spcBef>
            </a:pPr>
            <a:r>
              <a:rPr sz="1100" spc="-10" dirty="0">
                <a:latin typeface="Courier New"/>
                <a:cs typeface="Courier New"/>
              </a:rPr>
              <a:t>check</a:t>
            </a:r>
            <a:r>
              <a:rPr sz="1100" spc="-360" dirty="0">
                <a:latin typeface="Courier New"/>
                <a:cs typeface="Courier New"/>
              </a:rPr>
              <a:t> </a:t>
            </a:r>
            <a:r>
              <a:rPr sz="1100" spc="-5" dirty="0">
                <a:latin typeface="Arial"/>
                <a:cs typeface="Arial"/>
              </a:rPr>
              <a:t>(price </a:t>
            </a:r>
            <a:r>
              <a:rPr sz="1100" spc="-10" dirty="0">
                <a:latin typeface="Arial"/>
                <a:cs typeface="Arial"/>
              </a:rPr>
              <a:t>&gt; </a:t>
            </a:r>
            <a:r>
              <a:rPr sz="1100" spc="-5" dirty="0">
                <a:latin typeface="Arial"/>
                <a:cs typeface="Arial"/>
              </a:rPr>
              <a:t>0)</a:t>
            </a:r>
            <a:endParaRPr sz="1100" dirty="0">
              <a:latin typeface="Arial"/>
              <a:cs typeface="Arial"/>
            </a:endParaRPr>
          </a:p>
          <a:p>
            <a:pPr marL="38100">
              <a:lnSpc>
                <a:spcPct val="100000"/>
              </a:lnSpc>
              <a:spcBef>
                <a:spcPts val="335"/>
              </a:spcBef>
            </a:pPr>
            <a:r>
              <a:rPr sz="1200" spc="127" baseline="6944" dirty="0">
                <a:solidFill>
                  <a:srgbClr val="3333B2"/>
                </a:solidFill>
                <a:latin typeface="Arial Black"/>
                <a:cs typeface="Arial Black"/>
              </a:rPr>
              <a:t>e </a:t>
            </a:r>
            <a:r>
              <a:rPr sz="1100" spc="-5" dirty="0">
                <a:latin typeface="Arial"/>
                <a:cs typeface="Arial"/>
              </a:rPr>
              <a:t>. .</a:t>
            </a:r>
            <a:r>
              <a:rPr sz="1100" spc="-60" dirty="0">
                <a:latin typeface="Arial"/>
                <a:cs typeface="Arial"/>
              </a:rPr>
              <a:t> </a:t>
            </a:r>
            <a:r>
              <a:rPr sz="1100" spc="-5" dirty="0">
                <a:latin typeface="Arial"/>
                <a:cs typeface="Arial"/>
              </a:rPr>
              <a:t>.</a:t>
            </a:r>
            <a:endParaRPr sz="1100" dirty="0">
              <a:latin typeface="Arial"/>
              <a:cs typeface="Arial"/>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3333B2"/>
                </a:solidFill>
                <a:latin typeface="Arial"/>
                <a:cs typeface="Arial"/>
                <a:hlinkClick r:id="rId3" action="ppaction://hlinksldjump"/>
              </a:rPr>
              <a:t>SQL</a:t>
            </a:r>
            <a:r>
              <a:rPr sz="600" spc="-7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solidFill>
                  <a:srgbClr val="999999"/>
                </a:solidFill>
                <a:latin typeface="Arial"/>
                <a:cs typeface="Arial"/>
                <a:hlinkClick r:id="" action="ppaction://noaction"/>
              </a:rPr>
              <a:t>Single table</a:t>
            </a:r>
            <a:r>
              <a:rPr sz="400" spc="-35" dirty="0">
                <a:solidFill>
                  <a:srgbClr val="999999"/>
                </a:solidFill>
                <a:latin typeface="Arial"/>
                <a:cs typeface="Arial"/>
                <a:hlinkClick r:id="" action="ppaction://noaction"/>
              </a:rPr>
              <a:t> </a:t>
            </a:r>
            <a:r>
              <a:rPr sz="400" dirty="0">
                <a:solidFill>
                  <a:srgbClr val="999999"/>
                </a:solidFill>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230755" cy="244475"/>
          </a:xfrm>
          <a:prstGeom prst="rect">
            <a:avLst/>
          </a:prstGeom>
        </p:spPr>
        <p:txBody>
          <a:bodyPr vert="horz" wrap="square" lIns="0" tIns="17145" rIns="0" bIns="0" rtlCol="0">
            <a:spAutoFit/>
          </a:bodyPr>
          <a:lstStyle/>
          <a:p>
            <a:pPr marL="12700">
              <a:lnSpc>
                <a:spcPct val="100000"/>
              </a:lnSpc>
              <a:spcBef>
                <a:spcPts val="135"/>
              </a:spcBef>
            </a:pPr>
            <a:r>
              <a:rPr spc="20" dirty="0"/>
              <a:t>Inserting </a:t>
            </a:r>
            <a:r>
              <a:rPr spc="15" dirty="0"/>
              <a:t>Data </a:t>
            </a:r>
            <a:r>
              <a:rPr spc="10" dirty="0"/>
              <a:t>in </a:t>
            </a:r>
            <a:r>
              <a:rPr spc="15" dirty="0"/>
              <a:t>a</a:t>
            </a:r>
            <a:r>
              <a:rPr spc="-85" dirty="0"/>
              <a:t> </a:t>
            </a:r>
            <a:r>
              <a:rPr spc="15" dirty="0"/>
              <a:t>Relation</a:t>
            </a:r>
          </a:p>
        </p:txBody>
      </p:sp>
      <p:sp>
        <p:nvSpPr>
          <p:cNvPr id="35" name="object 35"/>
          <p:cNvSpPr txBox="1"/>
          <p:nvPr/>
        </p:nvSpPr>
        <p:spPr>
          <a:xfrm>
            <a:off x="167297" y="773606"/>
            <a:ext cx="387985" cy="191770"/>
          </a:xfrm>
          <a:prstGeom prst="rect">
            <a:avLst/>
          </a:prstGeom>
        </p:spPr>
        <p:txBody>
          <a:bodyPr vert="horz" wrap="square" lIns="0" tIns="11430" rIns="0" bIns="0" rtlCol="0">
            <a:spAutoFit/>
          </a:bodyPr>
          <a:lstStyle/>
          <a:p>
            <a:pPr marL="12700">
              <a:lnSpc>
                <a:spcPct val="100000"/>
              </a:lnSpc>
              <a:spcBef>
                <a:spcPts val="90"/>
              </a:spcBef>
            </a:pPr>
            <a:r>
              <a:rPr sz="1100" b="1" spc="-5" dirty="0">
                <a:latin typeface="Arial"/>
                <a:cs typeface="Arial"/>
              </a:rPr>
              <a:t>Sell</a:t>
            </a:r>
            <a:r>
              <a:rPr sz="1100" b="1" spc="-10" dirty="0">
                <a:latin typeface="Arial"/>
                <a:cs typeface="Arial"/>
              </a:rPr>
              <a:t>s</a:t>
            </a:r>
            <a:r>
              <a:rPr sz="1100" spc="-5" dirty="0">
                <a:latin typeface="Arial"/>
                <a:cs typeface="Arial"/>
              </a:rPr>
              <a:t>:</a:t>
            </a:r>
            <a:endParaRPr sz="1100">
              <a:latin typeface="Arial"/>
              <a:cs typeface="Arial"/>
            </a:endParaRPr>
          </a:p>
        </p:txBody>
      </p:sp>
      <p:graphicFrame>
        <p:nvGraphicFramePr>
          <p:cNvPr id="36" name="object 36"/>
          <p:cNvGraphicFramePr>
            <a:graphicFrameLocks noGrp="1"/>
          </p:cNvGraphicFramePr>
          <p:nvPr/>
        </p:nvGraphicFramePr>
        <p:xfrm>
          <a:off x="587146" y="439788"/>
          <a:ext cx="2766060" cy="895793"/>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1045210">
                  <a:extLst>
                    <a:ext uri="{9D8B030D-6E8A-4147-A177-3AD203B41FA5}">
                      <a16:colId xmlns:a16="http://schemas.microsoft.com/office/drawing/2014/main" val="20001"/>
                    </a:ext>
                  </a:extLst>
                </a:gridCol>
                <a:gridCol w="483235">
                  <a:extLst>
                    <a:ext uri="{9D8B030D-6E8A-4147-A177-3AD203B41FA5}">
                      <a16:colId xmlns:a16="http://schemas.microsoft.com/office/drawing/2014/main" val="20002"/>
                    </a:ext>
                  </a:extLst>
                </a:gridCol>
              </a:tblGrid>
              <a:tr h="189782">
                <a:tc>
                  <a:txBody>
                    <a:bodyPr/>
                    <a:lstStyle/>
                    <a:p>
                      <a:pPr marL="75565">
                        <a:lnSpc>
                          <a:spcPts val="1190"/>
                        </a:lnSpc>
                      </a:pPr>
                      <a:r>
                        <a:rPr sz="1100" b="1" spc="-10" dirty="0">
                          <a:latin typeface="Arial"/>
                          <a:cs typeface="Arial"/>
                        </a:rPr>
                        <a:t>pub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beer</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190"/>
                        </a:lnSpc>
                      </a:pPr>
                      <a:r>
                        <a:rPr sz="1100" b="1" spc="-5" dirty="0">
                          <a:latin typeface="Arial"/>
                          <a:cs typeface="Arial"/>
                        </a:rPr>
                        <a:t>price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404">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R="53340" algn="ctr">
                        <a:lnSpc>
                          <a:spcPts val="1280"/>
                        </a:lnSpc>
                      </a:pPr>
                      <a:r>
                        <a:rPr sz="1100" spc="-5" dirty="0">
                          <a:latin typeface="Arial"/>
                          <a:cs typeface="Arial"/>
                        </a:rPr>
                        <a:t>1.50</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3340" algn="ctr">
                        <a:lnSpc>
                          <a:spcPts val="1255"/>
                        </a:lnSpc>
                      </a:pPr>
                      <a:r>
                        <a:rPr sz="1100" spc="-5" dirty="0">
                          <a:latin typeface="Arial"/>
                          <a:cs typeface="Arial"/>
                        </a:rPr>
                        <a:t>2.00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Shining</a:t>
                      </a:r>
                      <a:r>
                        <a:rPr sz="1100" spc="-20" dirty="0">
                          <a:latin typeface="Arial"/>
                          <a:cs typeface="Arial"/>
                        </a:rPr>
                        <a:t> </a:t>
                      </a:r>
                      <a:r>
                        <a:rPr sz="1100" spc="-5" dirty="0">
                          <a:latin typeface="Arial"/>
                          <a:cs typeface="Arial"/>
                        </a:rPr>
                        <a:t>Wit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3340" algn="ctr">
                        <a:lnSpc>
                          <a:spcPts val="1255"/>
                        </a:lnSpc>
                      </a:pPr>
                      <a:r>
                        <a:rPr sz="1100" spc="-5" dirty="0">
                          <a:latin typeface="Arial"/>
                          <a:cs typeface="Arial"/>
                        </a:rPr>
                        <a:t>2.75</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86463">
                <a:tc>
                  <a:txBody>
                    <a:bodyPr/>
                    <a:lstStyle/>
                    <a:p>
                      <a:pPr marL="75565">
                        <a:lnSpc>
                          <a:spcPts val="1260"/>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R="53340" algn="ctr">
                        <a:lnSpc>
                          <a:spcPts val="1260"/>
                        </a:lnSpc>
                      </a:pPr>
                      <a:r>
                        <a:rPr sz="1100" spc="-5" dirty="0">
                          <a:latin typeface="Arial"/>
                          <a:cs typeface="Arial"/>
                        </a:rPr>
                        <a:t>2.50</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4"/>
                  </a:ext>
                </a:extLst>
              </a:tr>
            </a:tbl>
          </a:graphicData>
        </a:graphic>
      </p:graphicFrame>
      <p:sp>
        <p:nvSpPr>
          <p:cNvPr id="37" name="object 37"/>
          <p:cNvSpPr txBox="1"/>
          <p:nvPr/>
        </p:nvSpPr>
        <p:spPr>
          <a:xfrm>
            <a:off x="167297" y="1613508"/>
            <a:ext cx="4221480" cy="673261"/>
          </a:xfrm>
          <a:prstGeom prst="rect">
            <a:avLst/>
          </a:prstGeom>
        </p:spPr>
        <p:txBody>
          <a:bodyPr vert="horz" wrap="square" lIns="0" tIns="11430" rIns="0" bIns="0" rtlCol="0">
            <a:spAutoFit/>
          </a:bodyPr>
          <a:lstStyle/>
          <a:p>
            <a:pPr marL="12700">
              <a:lnSpc>
                <a:spcPct val="100000"/>
              </a:lnSpc>
              <a:spcBef>
                <a:spcPts val="90"/>
              </a:spcBef>
            </a:pPr>
            <a:r>
              <a:rPr sz="1100" spc="-10" dirty="0">
                <a:latin typeface="Courier New"/>
                <a:cs typeface="Courier New"/>
              </a:rPr>
              <a:t>INSERT</a:t>
            </a:r>
            <a:r>
              <a:rPr sz="1100" spc="-360" dirty="0">
                <a:latin typeface="Courier New"/>
                <a:cs typeface="Courier New"/>
              </a:rPr>
              <a:t> </a:t>
            </a:r>
            <a:r>
              <a:rPr sz="1100" spc="-10" dirty="0">
                <a:latin typeface="Courier New"/>
                <a:cs typeface="Courier New"/>
              </a:rPr>
              <a:t>INTO</a:t>
            </a:r>
            <a:r>
              <a:rPr sz="1100" spc="-360" dirty="0">
                <a:latin typeface="Courier New"/>
                <a:cs typeface="Courier New"/>
              </a:rPr>
              <a:t> </a:t>
            </a:r>
            <a:r>
              <a:rPr sz="1100" spc="-5" dirty="0">
                <a:latin typeface="Arial"/>
                <a:cs typeface="Arial"/>
              </a:rPr>
              <a:t>Sells </a:t>
            </a:r>
            <a:r>
              <a:rPr sz="1100" spc="-10" dirty="0">
                <a:latin typeface="Courier New"/>
                <a:cs typeface="Courier New"/>
              </a:rPr>
              <a:t>values</a:t>
            </a:r>
            <a:r>
              <a:rPr sz="1100" spc="-360" dirty="0">
                <a:latin typeface="Courier New"/>
                <a:cs typeface="Courier New"/>
              </a:rPr>
              <a:t> </a:t>
            </a:r>
            <a:r>
              <a:rPr sz="1100" spc="-5" dirty="0">
                <a:latin typeface="Arial"/>
                <a:cs typeface="Arial"/>
              </a:rPr>
              <a:t>(‘White Horse’, ‘Shining Wit’, 2.50);</a:t>
            </a:r>
            <a:endParaRPr sz="1100" dirty="0">
              <a:latin typeface="Arial"/>
              <a:cs typeface="Arial"/>
            </a:endParaRPr>
          </a:p>
          <a:p>
            <a:pPr>
              <a:lnSpc>
                <a:spcPct val="100000"/>
              </a:lnSpc>
              <a:spcBef>
                <a:spcPts val="20"/>
              </a:spcBef>
            </a:pPr>
            <a:endParaRPr sz="1050" dirty="0">
              <a:latin typeface="Times New Roman"/>
              <a:cs typeface="Times New Roman"/>
            </a:endParaRPr>
          </a:p>
          <a:p>
            <a:pPr marL="12700">
              <a:lnSpc>
                <a:spcPct val="100000"/>
              </a:lnSpc>
            </a:pPr>
            <a:r>
              <a:rPr sz="1100" spc="-10" dirty="0">
                <a:latin typeface="Courier New"/>
                <a:cs typeface="Courier New"/>
              </a:rPr>
              <a:t>INSERT</a:t>
            </a:r>
            <a:r>
              <a:rPr sz="1100" spc="-360" dirty="0">
                <a:latin typeface="Courier New"/>
                <a:cs typeface="Courier New"/>
              </a:rPr>
              <a:t> </a:t>
            </a:r>
            <a:r>
              <a:rPr sz="1100" spc="-10" dirty="0">
                <a:latin typeface="Courier New"/>
                <a:cs typeface="Courier New"/>
              </a:rPr>
              <a:t>INTO</a:t>
            </a:r>
            <a:r>
              <a:rPr sz="1100" spc="-360" dirty="0">
                <a:latin typeface="Courier New"/>
                <a:cs typeface="Courier New"/>
              </a:rPr>
              <a:t> </a:t>
            </a:r>
            <a:r>
              <a:rPr sz="1100" spc="-5" dirty="0">
                <a:latin typeface="Arial"/>
                <a:cs typeface="Arial"/>
              </a:rPr>
              <a:t>Sells </a:t>
            </a:r>
            <a:r>
              <a:rPr sz="1100" spc="-15" dirty="0">
                <a:latin typeface="Arial"/>
                <a:cs typeface="Arial"/>
              </a:rPr>
              <a:t>(pub,</a:t>
            </a:r>
            <a:r>
              <a:rPr sz="1100" spc="-5" dirty="0">
                <a:latin typeface="Arial"/>
                <a:cs typeface="Arial"/>
              </a:rPr>
              <a:t> beer)</a:t>
            </a:r>
            <a:r>
              <a:rPr sz="1100" dirty="0">
                <a:latin typeface="Arial"/>
                <a:cs typeface="Arial"/>
              </a:rPr>
              <a:t> </a:t>
            </a:r>
            <a:r>
              <a:rPr sz="1100" spc="-10" dirty="0">
                <a:latin typeface="Courier New"/>
                <a:cs typeface="Courier New"/>
              </a:rPr>
              <a:t>values</a:t>
            </a:r>
            <a:r>
              <a:rPr sz="1100" spc="-360" dirty="0">
                <a:latin typeface="Courier New"/>
                <a:cs typeface="Courier New"/>
              </a:rPr>
              <a:t> </a:t>
            </a:r>
            <a:r>
              <a:rPr sz="1100" spc="-5" dirty="0">
                <a:latin typeface="Arial"/>
                <a:cs typeface="Arial"/>
              </a:rPr>
              <a:t>(‘White Horse’, ‘Bad Habit’);</a:t>
            </a:r>
            <a:endParaRPr sz="1100" dirty="0">
              <a:latin typeface="Arial"/>
              <a:cs typeface="Arial"/>
            </a:endParaRPr>
          </a:p>
          <a:p>
            <a:pPr>
              <a:lnSpc>
                <a:spcPct val="100000"/>
              </a:lnSpc>
              <a:spcBef>
                <a:spcPts val="25"/>
              </a:spcBef>
            </a:pPr>
            <a:endParaRPr sz="1050" dirty="0">
              <a:latin typeface="Times New Roman"/>
              <a:cs typeface="Times New Roman"/>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3333B2"/>
                </a:solidFill>
                <a:latin typeface="Arial"/>
                <a:cs typeface="Arial"/>
                <a:hlinkClick r:id="rId3" action="ppaction://hlinksldjump"/>
              </a:rPr>
              <a:t>SQL</a:t>
            </a:r>
            <a:r>
              <a:rPr sz="600" spc="-7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solidFill>
                  <a:srgbClr val="999999"/>
                </a:solidFill>
                <a:latin typeface="Arial"/>
                <a:cs typeface="Arial"/>
                <a:hlinkClick r:id="" action="ppaction://noaction"/>
              </a:rPr>
              <a:t>Single table</a:t>
            </a:r>
            <a:r>
              <a:rPr sz="400" spc="-35" dirty="0">
                <a:solidFill>
                  <a:srgbClr val="999999"/>
                </a:solidFill>
                <a:latin typeface="Arial"/>
                <a:cs typeface="Arial"/>
                <a:hlinkClick r:id="" action="ppaction://noaction"/>
              </a:rPr>
              <a:t> </a:t>
            </a:r>
            <a:r>
              <a:rPr sz="400" dirty="0">
                <a:solidFill>
                  <a:srgbClr val="999999"/>
                </a:solidFill>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395220" cy="244475"/>
          </a:xfrm>
          <a:prstGeom prst="rect">
            <a:avLst/>
          </a:prstGeom>
        </p:spPr>
        <p:txBody>
          <a:bodyPr vert="horz" wrap="square" lIns="0" tIns="17145" rIns="0" bIns="0" rtlCol="0">
            <a:spAutoFit/>
          </a:bodyPr>
          <a:lstStyle/>
          <a:p>
            <a:pPr marL="12700">
              <a:lnSpc>
                <a:spcPct val="100000"/>
              </a:lnSpc>
              <a:spcBef>
                <a:spcPts val="135"/>
              </a:spcBef>
            </a:pPr>
            <a:r>
              <a:rPr spc="15" dirty="0"/>
              <a:t>Changing a Relation</a:t>
            </a:r>
            <a:r>
              <a:rPr spc="-70" dirty="0"/>
              <a:t> </a:t>
            </a:r>
            <a:r>
              <a:rPr spc="20" dirty="0"/>
              <a:t>Schema</a:t>
            </a:r>
          </a:p>
        </p:txBody>
      </p:sp>
      <p:sp>
        <p:nvSpPr>
          <p:cNvPr id="35" name="object 35"/>
          <p:cNvSpPr txBox="1"/>
          <p:nvPr/>
        </p:nvSpPr>
        <p:spPr>
          <a:xfrm>
            <a:off x="167297" y="467066"/>
            <a:ext cx="3127375" cy="2537460"/>
          </a:xfrm>
          <a:prstGeom prst="rect">
            <a:avLst/>
          </a:prstGeom>
        </p:spPr>
        <p:txBody>
          <a:bodyPr vert="horz" wrap="square" lIns="0" tIns="11430" rIns="0" bIns="0" rtlCol="0">
            <a:spAutoFit/>
          </a:bodyPr>
          <a:lstStyle/>
          <a:p>
            <a:pPr marL="12700">
              <a:lnSpc>
                <a:spcPct val="100000"/>
              </a:lnSpc>
              <a:spcBef>
                <a:spcPts val="90"/>
              </a:spcBef>
            </a:pPr>
            <a:r>
              <a:rPr sz="1100" spc="-10" dirty="0">
                <a:latin typeface="Arial"/>
                <a:cs typeface="Arial"/>
              </a:rPr>
              <a:t>Add an </a:t>
            </a:r>
            <a:r>
              <a:rPr sz="1100" spc="-5" dirty="0">
                <a:latin typeface="Arial"/>
                <a:cs typeface="Arial"/>
              </a:rPr>
              <a:t>attribute to </a:t>
            </a:r>
            <a:r>
              <a:rPr sz="1100" spc="-10" dirty="0">
                <a:latin typeface="Arial"/>
                <a:cs typeface="Arial"/>
              </a:rPr>
              <a:t>a</a:t>
            </a:r>
            <a:r>
              <a:rPr sz="1100" spc="-5" dirty="0">
                <a:latin typeface="Arial"/>
                <a:cs typeface="Arial"/>
              </a:rPr>
              <a:t> relation:</a:t>
            </a:r>
            <a:endParaRPr sz="1100" dirty="0">
              <a:latin typeface="Arial"/>
              <a:cs typeface="Arial"/>
            </a:endParaRPr>
          </a:p>
          <a:p>
            <a:pPr marL="127635">
              <a:lnSpc>
                <a:spcPct val="100000"/>
              </a:lnSpc>
              <a:spcBef>
                <a:spcPts val="930"/>
              </a:spcBef>
            </a:pPr>
            <a:r>
              <a:rPr sz="1100" spc="-10" dirty="0">
                <a:latin typeface="Courier New"/>
                <a:cs typeface="Courier New"/>
              </a:rPr>
              <a:t>ALTER</a:t>
            </a:r>
            <a:r>
              <a:rPr sz="1100" spc="-365" dirty="0">
                <a:latin typeface="Courier New"/>
                <a:cs typeface="Courier New"/>
              </a:rPr>
              <a:t> </a:t>
            </a:r>
            <a:r>
              <a:rPr sz="1100" spc="-10" dirty="0">
                <a:latin typeface="Courier New"/>
                <a:cs typeface="Courier New"/>
              </a:rPr>
              <a:t>TABLE</a:t>
            </a:r>
            <a:r>
              <a:rPr sz="1100" spc="-360" dirty="0">
                <a:latin typeface="Courier New"/>
                <a:cs typeface="Courier New"/>
              </a:rPr>
              <a:t> </a:t>
            </a:r>
            <a:r>
              <a:rPr sz="1100" spc="-5" dirty="0">
                <a:latin typeface="Arial"/>
                <a:cs typeface="Arial"/>
              </a:rPr>
              <a:t>Sells </a:t>
            </a:r>
            <a:r>
              <a:rPr sz="1100" spc="-5" dirty="0">
                <a:latin typeface="Courier New"/>
                <a:cs typeface="Courier New"/>
              </a:rPr>
              <a:t>ADD</a:t>
            </a:r>
            <a:r>
              <a:rPr sz="1100" spc="-5" dirty="0">
                <a:latin typeface="Arial"/>
                <a:cs typeface="Arial"/>
              </a:rPr>
              <a:t>(</a:t>
            </a:r>
            <a:endParaRPr sz="1100" dirty="0">
              <a:latin typeface="Arial"/>
              <a:cs typeface="Arial"/>
            </a:endParaRPr>
          </a:p>
          <a:p>
            <a:pPr marL="936625">
              <a:lnSpc>
                <a:spcPct val="100000"/>
              </a:lnSpc>
              <a:spcBef>
                <a:spcPts val="35"/>
              </a:spcBef>
            </a:pPr>
            <a:r>
              <a:rPr sz="1100" spc="-10" dirty="0">
                <a:latin typeface="Arial"/>
                <a:cs typeface="Arial"/>
              </a:rPr>
              <a:t>measure </a:t>
            </a:r>
            <a:r>
              <a:rPr sz="1100" spc="-10" dirty="0">
                <a:latin typeface="Courier New"/>
                <a:cs typeface="Courier New"/>
              </a:rPr>
              <a:t>varchar(10))</a:t>
            </a:r>
            <a:r>
              <a:rPr sz="1100" spc="-10" dirty="0">
                <a:latin typeface="Arial"/>
                <a:cs typeface="Arial"/>
              </a:rPr>
              <a:t>;</a:t>
            </a:r>
            <a:endParaRPr sz="1100" dirty="0">
              <a:latin typeface="Arial"/>
              <a:cs typeface="Arial"/>
            </a:endParaRPr>
          </a:p>
          <a:p>
            <a:pPr marL="12700">
              <a:lnSpc>
                <a:spcPct val="100000"/>
              </a:lnSpc>
              <a:spcBef>
                <a:spcPts val="935"/>
              </a:spcBef>
            </a:pPr>
            <a:r>
              <a:rPr sz="1100" spc="-10" dirty="0">
                <a:latin typeface="Arial"/>
                <a:cs typeface="Arial"/>
              </a:rPr>
              <a:t>Change </a:t>
            </a:r>
            <a:r>
              <a:rPr sz="1100" spc="-5" dirty="0">
                <a:latin typeface="Arial"/>
                <a:cs typeface="Arial"/>
              </a:rPr>
              <a:t>the data type of </a:t>
            </a:r>
            <a:r>
              <a:rPr sz="1100" spc="-10" dirty="0">
                <a:latin typeface="Arial"/>
                <a:cs typeface="Arial"/>
              </a:rPr>
              <a:t>an</a:t>
            </a:r>
            <a:r>
              <a:rPr sz="1100" spc="-15" dirty="0">
                <a:latin typeface="Arial"/>
                <a:cs typeface="Arial"/>
              </a:rPr>
              <a:t> </a:t>
            </a:r>
            <a:r>
              <a:rPr sz="1100" spc="-5" dirty="0">
                <a:latin typeface="Arial"/>
                <a:cs typeface="Arial"/>
              </a:rPr>
              <a:t>attribute:</a:t>
            </a:r>
            <a:endParaRPr sz="1100" dirty="0">
              <a:latin typeface="Arial"/>
              <a:cs typeface="Arial"/>
            </a:endParaRPr>
          </a:p>
          <a:p>
            <a:pPr marL="127635">
              <a:lnSpc>
                <a:spcPct val="100000"/>
              </a:lnSpc>
              <a:spcBef>
                <a:spcPts val="930"/>
              </a:spcBef>
            </a:pPr>
            <a:r>
              <a:rPr sz="1100" spc="-10" dirty="0">
                <a:latin typeface="Courier New"/>
                <a:cs typeface="Courier New"/>
              </a:rPr>
              <a:t>ALTER</a:t>
            </a:r>
            <a:r>
              <a:rPr sz="1100" spc="-365" dirty="0">
                <a:latin typeface="Courier New"/>
                <a:cs typeface="Courier New"/>
              </a:rPr>
              <a:t> </a:t>
            </a:r>
            <a:r>
              <a:rPr sz="1100" spc="-10" dirty="0">
                <a:latin typeface="Courier New"/>
                <a:cs typeface="Courier New"/>
              </a:rPr>
              <a:t>TABLE</a:t>
            </a:r>
            <a:r>
              <a:rPr sz="1100" spc="-360" dirty="0">
                <a:latin typeface="Courier New"/>
                <a:cs typeface="Courier New"/>
              </a:rPr>
              <a:t> </a:t>
            </a:r>
            <a:r>
              <a:rPr sz="1100" spc="-5" dirty="0">
                <a:latin typeface="Arial"/>
                <a:cs typeface="Arial"/>
              </a:rPr>
              <a:t>Sells </a:t>
            </a:r>
            <a:r>
              <a:rPr sz="1100" spc="-10" dirty="0">
                <a:latin typeface="Courier New"/>
                <a:cs typeface="Courier New"/>
              </a:rPr>
              <a:t>MODIFY</a:t>
            </a:r>
            <a:r>
              <a:rPr sz="1100" spc="-10" dirty="0">
                <a:latin typeface="Arial"/>
                <a:cs typeface="Arial"/>
              </a:rPr>
              <a:t>(</a:t>
            </a:r>
            <a:endParaRPr sz="1100" dirty="0">
              <a:latin typeface="Arial"/>
              <a:cs typeface="Arial"/>
            </a:endParaRPr>
          </a:p>
          <a:p>
            <a:pPr marL="936625">
              <a:lnSpc>
                <a:spcPct val="100000"/>
              </a:lnSpc>
              <a:spcBef>
                <a:spcPts val="35"/>
              </a:spcBef>
            </a:pPr>
            <a:r>
              <a:rPr sz="1100" spc="-10" dirty="0">
                <a:latin typeface="Arial"/>
                <a:cs typeface="Arial"/>
              </a:rPr>
              <a:t>measure </a:t>
            </a:r>
            <a:r>
              <a:rPr sz="1100" spc="-10" dirty="0">
                <a:latin typeface="Courier New"/>
                <a:cs typeface="Courier New"/>
              </a:rPr>
              <a:t>varchar(15)</a:t>
            </a:r>
            <a:r>
              <a:rPr sz="1100" spc="-10" dirty="0">
                <a:latin typeface="Arial"/>
                <a:cs typeface="Arial"/>
              </a:rPr>
              <a:t>);</a:t>
            </a:r>
            <a:endParaRPr sz="1100" dirty="0">
              <a:latin typeface="Arial"/>
              <a:cs typeface="Arial"/>
            </a:endParaRPr>
          </a:p>
          <a:p>
            <a:pPr marL="12700">
              <a:lnSpc>
                <a:spcPct val="100000"/>
              </a:lnSpc>
              <a:spcBef>
                <a:spcPts val="930"/>
              </a:spcBef>
            </a:pPr>
            <a:r>
              <a:rPr sz="1100" spc="-15" dirty="0">
                <a:latin typeface="Arial"/>
                <a:cs typeface="Arial"/>
              </a:rPr>
              <a:t>Remove </a:t>
            </a:r>
            <a:r>
              <a:rPr sz="1100" spc="-10" dirty="0">
                <a:latin typeface="Arial"/>
                <a:cs typeface="Arial"/>
              </a:rPr>
              <a:t>an </a:t>
            </a:r>
            <a:r>
              <a:rPr sz="1100" spc="-5" dirty="0">
                <a:latin typeface="Arial"/>
                <a:cs typeface="Arial"/>
              </a:rPr>
              <a:t>attribute from </a:t>
            </a:r>
            <a:r>
              <a:rPr sz="1100" spc="-10" dirty="0">
                <a:latin typeface="Arial"/>
                <a:cs typeface="Arial"/>
              </a:rPr>
              <a:t>a</a:t>
            </a:r>
            <a:r>
              <a:rPr sz="1100" spc="-5" dirty="0">
                <a:latin typeface="Arial"/>
                <a:cs typeface="Arial"/>
              </a:rPr>
              <a:t> relation:</a:t>
            </a:r>
            <a:endParaRPr sz="1100" dirty="0">
              <a:latin typeface="Arial"/>
              <a:cs typeface="Arial"/>
            </a:endParaRPr>
          </a:p>
          <a:p>
            <a:pPr marL="127635">
              <a:lnSpc>
                <a:spcPct val="100000"/>
              </a:lnSpc>
              <a:spcBef>
                <a:spcPts val="930"/>
              </a:spcBef>
            </a:pPr>
            <a:r>
              <a:rPr sz="1100" spc="-10" dirty="0">
                <a:latin typeface="Courier New"/>
                <a:cs typeface="Courier New"/>
              </a:rPr>
              <a:t>ALTER</a:t>
            </a:r>
            <a:r>
              <a:rPr sz="1100" spc="-365" dirty="0">
                <a:latin typeface="Courier New"/>
                <a:cs typeface="Courier New"/>
              </a:rPr>
              <a:t> </a:t>
            </a:r>
            <a:r>
              <a:rPr sz="1100" spc="-10" dirty="0">
                <a:latin typeface="Courier New"/>
                <a:cs typeface="Courier New"/>
              </a:rPr>
              <a:t>TABLE</a:t>
            </a:r>
            <a:r>
              <a:rPr sz="1100" spc="-360" dirty="0">
                <a:latin typeface="Courier New"/>
                <a:cs typeface="Courier New"/>
              </a:rPr>
              <a:t> </a:t>
            </a:r>
            <a:r>
              <a:rPr sz="1100" spc="-5" dirty="0">
                <a:latin typeface="Arial"/>
                <a:cs typeface="Arial"/>
              </a:rPr>
              <a:t>Sells</a:t>
            </a:r>
            <a:r>
              <a:rPr sz="1100" spc="-10" dirty="0">
                <a:latin typeface="Arial"/>
                <a:cs typeface="Arial"/>
              </a:rPr>
              <a:t> </a:t>
            </a:r>
            <a:r>
              <a:rPr sz="1100" spc="-5" dirty="0">
                <a:latin typeface="Courier New"/>
                <a:cs typeface="Courier New"/>
              </a:rPr>
              <a:t>DROP</a:t>
            </a:r>
            <a:r>
              <a:rPr sz="1100" spc="-5" dirty="0">
                <a:latin typeface="Arial"/>
                <a:cs typeface="Arial"/>
              </a:rPr>
              <a:t>(measure);</a:t>
            </a:r>
            <a:endParaRPr sz="1100" dirty="0">
              <a:latin typeface="Arial"/>
              <a:cs typeface="Arial"/>
            </a:endParaRPr>
          </a:p>
          <a:p>
            <a:pPr marL="12700">
              <a:lnSpc>
                <a:spcPct val="100000"/>
              </a:lnSpc>
              <a:spcBef>
                <a:spcPts val="935"/>
              </a:spcBef>
            </a:pPr>
            <a:r>
              <a:rPr sz="1100" spc="-5" dirty="0">
                <a:latin typeface="Arial"/>
                <a:cs typeface="Arial"/>
              </a:rPr>
              <a:t>Delete </a:t>
            </a:r>
            <a:r>
              <a:rPr sz="1100" spc="-10" dirty="0">
                <a:latin typeface="Arial"/>
                <a:cs typeface="Arial"/>
              </a:rPr>
              <a:t>a </a:t>
            </a:r>
            <a:r>
              <a:rPr sz="1100" spc="-5" dirty="0">
                <a:latin typeface="Arial"/>
                <a:cs typeface="Arial"/>
              </a:rPr>
              <a:t>relation </a:t>
            </a:r>
            <a:r>
              <a:rPr sz="1100" spc="-10" dirty="0">
                <a:latin typeface="Arial"/>
                <a:cs typeface="Arial"/>
              </a:rPr>
              <a:t>schema </a:t>
            </a:r>
            <a:r>
              <a:rPr sz="1100" spc="-5" dirty="0">
                <a:latin typeface="Arial"/>
                <a:cs typeface="Arial"/>
              </a:rPr>
              <a:t>(relation </a:t>
            </a:r>
            <a:r>
              <a:rPr sz="1100" spc="-10" dirty="0">
                <a:latin typeface="Arial"/>
                <a:cs typeface="Arial"/>
              </a:rPr>
              <a:t>must be</a:t>
            </a:r>
            <a:r>
              <a:rPr sz="1100" spc="-15" dirty="0">
                <a:latin typeface="Arial"/>
                <a:cs typeface="Arial"/>
              </a:rPr>
              <a:t> </a:t>
            </a:r>
            <a:r>
              <a:rPr sz="1100" spc="-5" dirty="0">
                <a:latin typeface="Arial"/>
                <a:cs typeface="Arial"/>
              </a:rPr>
              <a:t>empty):</a:t>
            </a:r>
            <a:endParaRPr sz="1100" dirty="0">
              <a:latin typeface="Arial"/>
              <a:cs typeface="Arial"/>
            </a:endParaRPr>
          </a:p>
          <a:p>
            <a:pPr marL="127635">
              <a:lnSpc>
                <a:spcPct val="100000"/>
              </a:lnSpc>
              <a:spcBef>
                <a:spcPts val="930"/>
              </a:spcBef>
            </a:pPr>
            <a:r>
              <a:rPr sz="1100" spc="-10" dirty="0">
                <a:latin typeface="Courier New"/>
                <a:cs typeface="Courier New"/>
              </a:rPr>
              <a:t>DROP</a:t>
            </a:r>
            <a:r>
              <a:rPr sz="1100" spc="-365" dirty="0">
                <a:latin typeface="Courier New"/>
                <a:cs typeface="Courier New"/>
              </a:rPr>
              <a:t> </a:t>
            </a:r>
            <a:r>
              <a:rPr sz="1100" spc="-10" dirty="0">
                <a:latin typeface="Courier New"/>
                <a:cs typeface="Courier New"/>
              </a:rPr>
              <a:t>TABLE</a:t>
            </a:r>
            <a:r>
              <a:rPr sz="1100" spc="-360" dirty="0">
                <a:latin typeface="Courier New"/>
                <a:cs typeface="Courier New"/>
              </a:rPr>
              <a:t> </a:t>
            </a:r>
            <a:r>
              <a:rPr sz="1100" spc="-5" dirty="0">
                <a:latin typeface="Arial"/>
                <a:cs typeface="Arial"/>
              </a:rPr>
              <a:t>Sells;</a:t>
            </a:r>
            <a:endParaRPr sz="1100" dirty="0">
              <a:latin typeface="Arial"/>
              <a:cs typeface="Arial"/>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3333B2"/>
                </a:solidFill>
                <a:latin typeface="Arial"/>
                <a:cs typeface="Arial"/>
                <a:hlinkClick r:id="rId4" action="ppaction://hlinksldjump"/>
              </a:rPr>
              <a:t>SQL</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solidFill>
                  <a:srgbClr val="999999"/>
                </a:solidFill>
                <a:latin typeface="Arial"/>
                <a:cs typeface="Arial"/>
                <a:hlinkClick r:id="" action="ppaction://noaction"/>
              </a:rPr>
              <a:t>Single table</a:t>
            </a:r>
            <a:r>
              <a:rPr sz="400" spc="-35" dirty="0">
                <a:solidFill>
                  <a:srgbClr val="999999"/>
                </a:solidFill>
                <a:latin typeface="Arial"/>
                <a:cs typeface="Arial"/>
                <a:hlinkClick r:id="" action="ppaction://noaction"/>
              </a:rPr>
              <a:t> </a:t>
            </a:r>
            <a:r>
              <a:rPr sz="400" dirty="0">
                <a:solidFill>
                  <a:srgbClr val="999999"/>
                </a:solidFill>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072639" cy="244475"/>
          </a:xfrm>
          <a:prstGeom prst="rect">
            <a:avLst/>
          </a:prstGeom>
        </p:spPr>
        <p:txBody>
          <a:bodyPr vert="horz" wrap="square" lIns="0" tIns="17145" rIns="0" bIns="0" rtlCol="0">
            <a:spAutoFit/>
          </a:bodyPr>
          <a:lstStyle/>
          <a:p>
            <a:pPr marL="12700">
              <a:lnSpc>
                <a:spcPct val="100000"/>
              </a:lnSpc>
              <a:spcBef>
                <a:spcPts val="135"/>
              </a:spcBef>
            </a:pPr>
            <a:r>
              <a:rPr spc="15" dirty="0"/>
              <a:t>SQL:</a:t>
            </a:r>
            <a:r>
              <a:rPr spc="-10" dirty="0"/>
              <a:t> </a:t>
            </a:r>
            <a:r>
              <a:rPr spc="10" dirty="0"/>
              <a:t>Select-From-Where</a:t>
            </a:r>
          </a:p>
        </p:txBody>
      </p:sp>
      <p:sp>
        <p:nvSpPr>
          <p:cNvPr id="35" name="object 35"/>
          <p:cNvSpPr txBox="1"/>
          <p:nvPr/>
        </p:nvSpPr>
        <p:spPr>
          <a:xfrm>
            <a:off x="167297" y="1122983"/>
            <a:ext cx="3324225" cy="859790"/>
          </a:xfrm>
          <a:prstGeom prst="rect">
            <a:avLst/>
          </a:prstGeom>
        </p:spPr>
        <p:txBody>
          <a:bodyPr vert="horz" wrap="square" lIns="0" tIns="11430" rIns="0" bIns="0" rtlCol="0">
            <a:spAutoFit/>
          </a:bodyPr>
          <a:lstStyle/>
          <a:p>
            <a:pPr marL="12700">
              <a:lnSpc>
                <a:spcPct val="100000"/>
              </a:lnSpc>
              <a:spcBef>
                <a:spcPts val="90"/>
              </a:spcBef>
            </a:pPr>
            <a:r>
              <a:rPr sz="1100" spc="-15" dirty="0">
                <a:latin typeface="Arial"/>
                <a:cs typeface="Arial"/>
              </a:rPr>
              <a:t>Overall </a:t>
            </a:r>
            <a:r>
              <a:rPr sz="1100" spc="-10" dirty="0">
                <a:latin typeface="Arial"/>
                <a:cs typeface="Arial"/>
              </a:rPr>
              <a:t>form </a:t>
            </a:r>
            <a:r>
              <a:rPr sz="1100" spc="-5" dirty="0">
                <a:latin typeface="Arial"/>
                <a:cs typeface="Arial"/>
              </a:rPr>
              <a:t>of </a:t>
            </a:r>
            <a:r>
              <a:rPr sz="1100" spc="-10" dirty="0">
                <a:latin typeface="Arial"/>
                <a:cs typeface="Arial"/>
              </a:rPr>
              <a:t>an SQL </a:t>
            </a:r>
            <a:r>
              <a:rPr sz="1100" dirty="0">
                <a:latin typeface="Arial"/>
                <a:cs typeface="Arial"/>
              </a:rPr>
              <a:t>query</a:t>
            </a:r>
            <a:r>
              <a:rPr sz="1100" spc="15" dirty="0">
                <a:latin typeface="Arial"/>
                <a:cs typeface="Arial"/>
              </a:rPr>
              <a:t> </a:t>
            </a:r>
            <a:r>
              <a:rPr sz="1100" spc="-5" dirty="0">
                <a:latin typeface="Arial"/>
                <a:cs typeface="Arial"/>
              </a:rPr>
              <a:t>is</a:t>
            </a:r>
            <a:endParaRPr sz="1100">
              <a:latin typeface="Arial"/>
              <a:cs typeface="Arial"/>
            </a:endParaRPr>
          </a:p>
          <a:p>
            <a:pPr>
              <a:lnSpc>
                <a:spcPct val="100000"/>
              </a:lnSpc>
              <a:spcBef>
                <a:spcPts val="45"/>
              </a:spcBef>
            </a:pPr>
            <a:endParaRPr sz="1000">
              <a:latin typeface="Times New Roman"/>
              <a:cs typeface="Times New Roman"/>
            </a:endParaRPr>
          </a:p>
          <a:p>
            <a:pPr marL="12700" marR="1573530">
              <a:lnSpc>
                <a:spcPct val="102600"/>
              </a:lnSpc>
              <a:tabLst>
                <a:tab pos="589915" algn="l"/>
              </a:tabLst>
            </a:pPr>
            <a:r>
              <a:rPr sz="1100" spc="-10" dirty="0">
                <a:solidFill>
                  <a:srgbClr val="0000FF"/>
                </a:solidFill>
                <a:latin typeface="Arial"/>
                <a:cs typeface="Arial"/>
              </a:rPr>
              <a:t>SELECT </a:t>
            </a:r>
            <a:r>
              <a:rPr sz="1100" spc="-5" dirty="0">
                <a:latin typeface="Arial"/>
                <a:cs typeface="Arial"/>
              </a:rPr>
              <a:t>desired attributes  </a:t>
            </a:r>
            <a:r>
              <a:rPr sz="1100" spc="-15" dirty="0">
                <a:solidFill>
                  <a:srgbClr val="0000FF"/>
                </a:solidFill>
                <a:latin typeface="Arial"/>
                <a:cs typeface="Arial"/>
              </a:rPr>
              <a:t>FROM	</a:t>
            </a:r>
            <a:r>
              <a:rPr sz="1100" spc="-10" dirty="0">
                <a:latin typeface="Arial"/>
                <a:cs typeface="Arial"/>
              </a:rPr>
              <a:t>one </a:t>
            </a:r>
            <a:r>
              <a:rPr sz="1100" spc="-5" dirty="0">
                <a:latin typeface="Arial"/>
                <a:cs typeface="Arial"/>
              </a:rPr>
              <a:t>or </a:t>
            </a:r>
            <a:r>
              <a:rPr sz="1100" spc="-10" dirty="0">
                <a:latin typeface="Arial"/>
                <a:cs typeface="Arial"/>
              </a:rPr>
              <a:t>more</a:t>
            </a:r>
            <a:r>
              <a:rPr sz="1100" spc="-55" dirty="0">
                <a:latin typeface="Arial"/>
                <a:cs typeface="Arial"/>
              </a:rPr>
              <a:t> </a:t>
            </a:r>
            <a:r>
              <a:rPr sz="1100" spc="-10" dirty="0">
                <a:latin typeface="Arial"/>
                <a:cs typeface="Arial"/>
              </a:rPr>
              <a:t>tables</a:t>
            </a:r>
            <a:endParaRPr sz="1100">
              <a:latin typeface="Arial"/>
              <a:cs typeface="Arial"/>
            </a:endParaRPr>
          </a:p>
          <a:p>
            <a:pPr marL="12700">
              <a:lnSpc>
                <a:spcPct val="100000"/>
              </a:lnSpc>
              <a:spcBef>
                <a:spcPts val="35"/>
              </a:spcBef>
            </a:pPr>
            <a:r>
              <a:rPr sz="1100" spc="-10" dirty="0">
                <a:solidFill>
                  <a:srgbClr val="0000FF"/>
                </a:solidFill>
                <a:latin typeface="Arial"/>
                <a:cs typeface="Arial"/>
              </a:rPr>
              <a:t>WHERE </a:t>
            </a:r>
            <a:r>
              <a:rPr sz="1100" spc="-5" dirty="0">
                <a:latin typeface="Arial"/>
                <a:cs typeface="Arial"/>
              </a:rPr>
              <a:t>conditions </a:t>
            </a:r>
            <a:r>
              <a:rPr sz="1100" spc="-10" dirty="0">
                <a:latin typeface="Arial"/>
                <a:cs typeface="Arial"/>
              </a:rPr>
              <a:t>on rows </a:t>
            </a:r>
            <a:r>
              <a:rPr sz="1100" spc="-5" dirty="0">
                <a:latin typeface="Arial"/>
                <a:cs typeface="Arial"/>
              </a:rPr>
              <a:t>of the </a:t>
            </a:r>
            <a:r>
              <a:rPr sz="1100" spc="-10" dirty="0">
                <a:latin typeface="Arial"/>
                <a:cs typeface="Arial"/>
              </a:rPr>
              <a:t>tables </a:t>
            </a:r>
            <a:r>
              <a:rPr sz="1100" spc="-5" dirty="0">
                <a:latin typeface="Arial"/>
                <a:cs typeface="Arial"/>
              </a:rPr>
              <a:t>are</a:t>
            </a:r>
            <a:r>
              <a:rPr sz="1100" spc="-135" dirty="0">
                <a:latin typeface="Arial"/>
                <a:cs typeface="Arial"/>
              </a:rPr>
              <a:t> </a:t>
            </a:r>
            <a:r>
              <a:rPr sz="1100" spc="-5" dirty="0">
                <a:latin typeface="Arial"/>
                <a:cs typeface="Arial"/>
              </a:rPr>
              <a:t>satisfied</a:t>
            </a:r>
            <a:endParaRPr sz="1100">
              <a:latin typeface="Arial"/>
              <a:cs typeface="Arial"/>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 action="ppaction://noaction"/>
              </a:rPr>
              <a:t>Single table</a:t>
            </a:r>
            <a:r>
              <a:rPr sz="400" spc="-35" dirty="0">
                <a:latin typeface="Arial"/>
                <a:cs typeface="Arial"/>
                <a:hlinkClick r:id="" action="ppaction://noaction"/>
              </a:rPr>
              <a:t> </a:t>
            </a:r>
            <a:r>
              <a:rPr sz="400" dirty="0">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044700" cy="244475"/>
          </a:xfrm>
          <a:prstGeom prst="rect">
            <a:avLst/>
          </a:prstGeom>
        </p:spPr>
        <p:txBody>
          <a:bodyPr vert="horz" wrap="square" lIns="0" tIns="17145" rIns="0" bIns="0" rtlCol="0">
            <a:spAutoFit/>
          </a:bodyPr>
          <a:lstStyle/>
          <a:p>
            <a:pPr marL="12700">
              <a:lnSpc>
                <a:spcPct val="100000"/>
              </a:lnSpc>
              <a:spcBef>
                <a:spcPts val="135"/>
              </a:spcBef>
            </a:pPr>
            <a:r>
              <a:rPr spc="10" dirty="0"/>
              <a:t>Retrieving </a:t>
            </a:r>
            <a:r>
              <a:rPr spc="15" dirty="0"/>
              <a:t>an </a:t>
            </a:r>
            <a:r>
              <a:rPr spc="10" dirty="0"/>
              <a:t>entire</a:t>
            </a:r>
            <a:r>
              <a:rPr spc="-30" dirty="0"/>
              <a:t> </a:t>
            </a:r>
            <a:r>
              <a:rPr spc="5" dirty="0"/>
              <a:t>table</a:t>
            </a:r>
          </a:p>
        </p:txBody>
      </p:sp>
      <p:sp>
        <p:nvSpPr>
          <p:cNvPr id="35" name="object 35"/>
          <p:cNvSpPr txBox="1"/>
          <p:nvPr/>
        </p:nvSpPr>
        <p:spPr>
          <a:xfrm>
            <a:off x="1097826" y="453350"/>
            <a:ext cx="1692910" cy="191770"/>
          </a:xfrm>
          <a:prstGeom prst="rect">
            <a:avLst/>
          </a:prstGeom>
        </p:spPr>
        <p:txBody>
          <a:bodyPr vert="horz" wrap="square" lIns="0" tIns="11430" rIns="0" bIns="0" rtlCol="0">
            <a:spAutoFit/>
          </a:bodyPr>
          <a:lstStyle/>
          <a:p>
            <a:pPr marL="12700">
              <a:lnSpc>
                <a:spcPct val="100000"/>
              </a:lnSpc>
              <a:spcBef>
                <a:spcPts val="90"/>
              </a:spcBef>
            </a:pPr>
            <a:r>
              <a:rPr sz="1100" spc="-10" dirty="0">
                <a:solidFill>
                  <a:srgbClr val="0000FF"/>
                </a:solidFill>
                <a:latin typeface="Arial"/>
                <a:cs typeface="Arial"/>
              </a:rPr>
              <a:t>SELECT </a:t>
            </a:r>
            <a:r>
              <a:rPr sz="1100" spc="-5" dirty="0">
                <a:solidFill>
                  <a:srgbClr val="0000FF"/>
                </a:solidFill>
                <a:latin typeface="Arial"/>
                <a:cs typeface="Arial"/>
              </a:rPr>
              <a:t>* </a:t>
            </a:r>
            <a:r>
              <a:rPr sz="1100" spc="-15" dirty="0">
                <a:solidFill>
                  <a:srgbClr val="0000FF"/>
                </a:solidFill>
                <a:latin typeface="Arial"/>
                <a:cs typeface="Arial"/>
              </a:rPr>
              <a:t>FROM</a:t>
            </a:r>
            <a:r>
              <a:rPr sz="1100" spc="-20" dirty="0">
                <a:solidFill>
                  <a:srgbClr val="0000FF"/>
                </a:solidFill>
                <a:latin typeface="Arial"/>
                <a:cs typeface="Arial"/>
              </a:rPr>
              <a:t> </a:t>
            </a:r>
            <a:r>
              <a:rPr sz="1100" spc="-10" dirty="0">
                <a:solidFill>
                  <a:srgbClr val="0000FF"/>
                </a:solidFill>
                <a:latin typeface="Arial"/>
                <a:cs typeface="Arial"/>
              </a:rPr>
              <a:t>Drinkers;</a:t>
            </a:r>
            <a:endParaRPr sz="1100">
              <a:latin typeface="Arial"/>
              <a:cs typeface="Arial"/>
            </a:endParaRPr>
          </a:p>
        </p:txBody>
      </p:sp>
      <p:graphicFrame>
        <p:nvGraphicFramePr>
          <p:cNvPr id="36" name="object 36"/>
          <p:cNvGraphicFramePr>
            <a:graphicFrameLocks noGrp="1"/>
          </p:cNvGraphicFramePr>
          <p:nvPr/>
        </p:nvGraphicFramePr>
        <p:xfrm>
          <a:off x="1242326" y="746379"/>
          <a:ext cx="1398270" cy="1067877"/>
        </p:xfrm>
        <a:graphic>
          <a:graphicData uri="http://schemas.openxmlformats.org/drawingml/2006/table">
            <a:tbl>
              <a:tblPr firstRow="1" bandRow="1">
                <a:tableStyleId>{2D5ABB26-0587-4C30-8999-92F81FD0307C}</a:tableStyleId>
              </a:tblPr>
              <a:tblGrid>
                <a:gridCol w="513715">
                  <a:extLst>
                    <a:ext uri="{9D8B030D-6E8A-4147-A177-3AD203B41FA5}">
                      <a16:colId xmlns:a16="http://schemas.microsoft.com/office/drawing/2014/main" val="20000"/>
                    </a:ext>
                  </a:extLst>
                </a:gridCol>
                <a:gridCol w="884555">
                  <a:extLst>
                    <a:ext uri="{9D8B030D-6E8A-4147-A177-3AD203B41FA5}">
                      <a16:colId xmlns:a16="http://schemas.microsoft.com/office/drawing/2014/main" val="20001"/>
                    </a:ext>
                  </a:extLst>
                </a:gridCol>
              </a:tblGrid>
              <a:tr h="189795">
                <a:tc>
                  <a:txBody>
                    <a:bodyPr/>
                    <a:lstStyle/>
                    <a:p>
                      <a:pPr marL="75565">
                        <a:lnSpc>
                          <a:spcPts val="1190"/>
                        </a:lnSpc>
                      </a:pPr>
                      <a:r>
                        <a:rPr sz="1100" b="1" spc="-10" dirty="0">
                          <a:latin typeface="Arial"/>
                          <a:cs typeface="Arial"/>
                        </a:rPr>
                        <a:t>name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location</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1">
                <a:tc>
                  <a:txBody>
                    <a:bodyPr/>
                    <a:lstStyle/>
                    <a:p>
                      <a:pPr marL="75565">
                        <a:lnSpc>
                          <a:spcPts val="1280"/>
                        </a:lnSpc>
                      </a:pPr>
                      <a:r>
                        <a:rPr sz="1100" spc="-5" dirty="0">
                          <a:latin typeface="Arial"/>
                          <a:cs typeface="Arial"/>
                        </a:rPr>
                        <a:t>Alice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8">
                <a:tc>
                  <a:txBody>
                    <a:bodyPr/>
                    <a:lstStyle/>
                    <a:p>
                      <a:pPr marL="75565">
                        <a:lnSpc>
                          <a:spcPts val="1255"/>
                        </a:lnSpc>
                      </a:pPr>
                      <a:r>
                        <a:rPr sz="1100" spc="-10" dirty="0">
                          <a:latin typeface="Arial"/>
                          <a:cs typeface="Arial"/>
                        </a:rPr>
                        <a:t>Bob</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8">
                <a:tc>
                  <a:txBody>
                    <a:bodyPr/>
                    <a:lstStyle/>
                    <a:p>
                      <a:pPr marL="75565">
                        <a:lnSpc>
                          <a:spcPts val="1255"/>
                        </a:lnSpc>
                      </a:pPr>
                      <a:r>
                        <a:rPr sz="1100" spc="-5" dirty="0">
                          <a:latin typeface="Arial"/>
                          <a:cs typeface="Arial"/>
                        </a:rPr>
                        <a:t>Carol</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20" dirty="0">
                          <a:latin typeface="Arial"/>
                          <a:cs typeface="Arial"/>
                        </a:rPr>
                        <a:t>Dave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20" dirty="0">
                          <a:latin typeface="Arial"/>
                          <a:cs typeface="Arial"/>
                        </a:rPr>
                        <a:t>Eve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10" dirty="0">
                          <a:latin typeface="Arial"/>
                          <a:cs typeface="Arial"/>
                        </a:rPr>
                        <a:t>Stratford</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37" name="object 37"/>
          <p:cNvSpPr txBox="1"/>
          <p:nvPr/>
        </p:nvSpPr>
        <p:spPr>
          <a:xfrm>
            <a:off x="1850301" y="1872218"/>
            <a:ext cx="137160" cy="244475"/>
          </a:xfrm>
          <a:prstGeom prst="rect">
            <a:avLst/>
          </a:prstGeom>
        </p:spPr>
        <p:txBody>
          <a:bodyPr vert="horz" wrap="square" lIns="0" tIns="17145" rIns="0" bIns="0" rtlCol="0">
            <a:spAutoFit/>
          </a:bodyPr>
          <a:lstStyle/>
          <a:p>
            <a:pPr marL="12700">
              <a:lnSpc>
                <a:spcPct val="100000"/>
              </a:lnSpc>
              <a:spcBef>
                <a:spcPts val="135"/>
              </a:spcBef>
            </a:pPr>
            <a:r>
              <a:rPr sz="1400" spc="-204" dirty="0">
                <a:solidFill>
                  <a:srgbClr val="0000FF"/>
                </a:solidFill>
                <a:latin typeface="Lucida Sans Unicode"/>
                <a:cs typeface="Lucida Sans Unicode"/>
              </a:rPr>
              <a:t>⇓</a:t>
            </a:r>
            <a:endParaRPr sz="1400">
              <a:latin typeface="Lucida Sans Unicode"/>
              <a:cs typeface="Lucida Sans Unicode"/>
            </a:endParaRPr>
          </a:p>
        </p:txBody>
      </p:sp>
      <p:graphicFrame>
        <p:nvGraphicFramePr>
          <p:cNvPr id="38" name="object 38"/>
          <p:cNvGraphicFramePr>
            <a:graphicFrameLocks noGrp="1"/>
          </p:cNvGraphicFramePr>
          <p:nvPr/>
        </p:nvGraphicFramePr>
        <p:xfrm>
          <a:off x="1242326" y="2223833"/>
          <a:ext cx="1398270" cy="1067865"/>
        </p:xfrm>
        <a:graphic>
          <a:graphicData uri="http://schemas.openxmlformats.org/drawingml/2006/table">
            <a:tbl>
              <a:tblPr firstRow="1" bandRow="1">
                <a:tableStyleId>{2D5ABB26-0587-4C30-8999-92F81FD0307C}</a:tableStyleId>
              </a:tblPr>
              <a:tblGrid>
                <a:gridCol w="513715">
                  <a:extLst>
                    <a:ext uri="{9D8B030D-6E8A-4147-A177-3AD203B41FA5}">
                      <a16:colId xmlns:a16="http://schemas.microsoft.com/office/drawing/2014/main" val="20000"/>
                    </a:ext>
                  </a:extLst>
                </a:gridCol>
                <a:gridCol w="884555">
                  <a:extLst>
                    <a:ext uri="{9D8B030D-6E8A-4147-A177-3AD203B41FA5}">
                      <a16:colId xmlns:a16="http://schemas.microsoft.com/office/drawing/2014/main" val="20001"/>
                    </a:ext>
                  </a:extLst>
                </a:gridCol>
              </a:tblGrid>
              <a:tr h="189782">
                <a:tc>
                  <a:txBody>
                    <a:bodyPr/>
                    <a:lstStyle/>
                    <a:p>
                      <a:pPr marL="75565">
                        <a:lnSpc>
                          <a:spcPts val="1190"/>
                        </a:lnSpc>
                      </a:pPr>
                      <a:r>
                        <a:rPr sz="1100" b="1" spc="-10" dirty="0">
                          <a:latin typeface="Arial"/>
                          <a:cs typeface="Arial"/>
                        </a:rPr>
                        <a:t>name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location</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404">
                <a:tc>
                  <a:txBody>
                    <a:bodyPr/>
                    <a:lstStyle/>
                    <a:p>
                      <a:pPr marL="75565">
                        <a:lnSpc>
                          <a:spcPts val="1280"/>
                        </a:lnSpc>
                      </a:pPr>
                      <a:r>
                        <a:rPr sz="1100" spc="-5" dirty="0">
                          <a:latin typeface="Arial"/>
                          <a:cs typeface="Arial"/>
                        </a:rPr>
                        <a:t>Alice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10" dirty="0">
                          <a:latin typeface="Arial"/>
                          <a:cs typeface="Arial"/>
                        </a:rPr>
                        <a:t>Bob</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5" dirty="0">
                          <a:latin typeface="Arial"/>
                          <a:cs typeface="Arial"/>
                        </a:rPr>
                        <a:t>Carol</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20" dirty="0">
                          <a:latin typeface="Arial"/>
                          <a:cs typeface="Arial"/>
                        </a:rPr>
                        <a:t>Dave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20" dirty="0">
                          <a:latin typeface="Arial"/>
                          <a:cs typeface="Arial"/>
                        </a:rPr>
                        <a:t>Eve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10" dirty="0">
                          <a:latin typeface="Arial"/>
                          <a:cs typeface="Arial"/>
                        </a:rPr>
                        <a:t>Stratford</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 action="ppaction://noaction"/>
              </a:rPr>
              <a:t>Single table</a:t>
            </a:r>
            <a:r>
              <a:rPr sz="400" spc="-35" dirty="0">
                <a:latin typeface="Arial"/>
                <a:cs typeface="Arial"/>
                <a:hlinkClick r:id="" action="ppaction://noaction"/>
              </a:rPr>
              <a:t> </a:t>
            </a:r>
            <a:r>
              <a:rPr sz="400" dirty="0">
                <a:latin typeface="Arial"/>
                <a:cs typeface="Arial"/>
                <a:hlinkClick r:id="" action="ppaction://noaction"/>
              </a:rPr>
              <a:t>queries</a:t>
            </a:r>
            <a:endParaRPr sz="400">
              <a:latin typeface="Arial"/>
              <a:cs typeface="Arial"/>
            </a:endParaRPr>
          </a:p>
        </p:txBody>
      </p:sp>
      <p:sp>
        <p:nvSpPr>
          <p:cNvPr id="4" name="object 4"/>
          <p:cNvSpPr/>
          <p:nvPr/>
        </p:nvSpPr>
        <p:spPr>
          <a:xfrm>
            <a:off x="2921432" y="3333084"/>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841815" y="332912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Projection</a:t>
            </a:r>
          </a:p>
        </p:txBody>
      </p:sp>
      <p:sp>
        <p:nvSpPr>
          <p:cNvPr id="35" name="object 35"/>
          <p:cNvSpPr txBox="1"/>
          <p:nvPr/>
        </p:nvSpPr>
        <p:spPr>
          <a:xfrm>
            <a:off x="167297" y="251788"/>
            <a:ext cx="2735580" cy="522605"/>
          </a:xfrm>
          <a:prstGeom prst="rect">
            <a:avLst/>
          </a:prstGeom>
        </p:spPr>
        <p:txBody>
          <a:bodyPr vert="horz" wrap="square" lIns="0" tIns="93345" rIns="0" bIns="0" rtlCol="0">
            <a:spAutoFit/>
          </a:bodyPr>
          <a:lstStyle/>
          <a:p>
            <a:pPr marL="12700">
              <a:lnSpc>
                <a:spcPct val="100000"/>
              </a:lnSpc>
              <a:spcBef>
                <a:spcPts val="735"/>
              </a:spcBef>
            </a:pPr>
            <a:r>
              <a:rPr sz="1100" spc="-5" dirty="0">
                <a:latin typeface="Arial"/>
                <a:cs typeface="Arial"/>
              </a:rPr>
              <a:t>Find </a:t>
            </a:r>
            <a:r>
              <a:rPr sz="1100" spc="-10" dirty="0">
                <a:latin typeface="Arial"/>
                <a:cs typeface="Arial"/>
              </a:rPr>
              <a:t>where pubs </a:t>
            </a:r>
            <a:r>
              <a:rPr sz="1100" spc="-5" dirty="0">
                <a:latin typeface="Arial"/>
                <a:cs typeface="Arial"/>
              </a:rPr>
              <a:t>are located:</a:t>
            </a:r>
            <a:endParaRPr sz="1100">
              <a:latin typeface="Arial"/>
              <a:cs typeface="Arial"/>
            </a:endParaRPr>
          </a:p>
          <a:p>
            <a:pPr marL="830580">
              <a:lnSpc>
                <a:spcPct val="100000"/>
              </a:lnSpc>
              <a:spcBef>
                <a:spcPts val="640"/>
              </a:spcBef>
            </a:pPr>
            <a:r>
              <a:rPr sz="1100" spc="-10" dirty="0">
                <a:solidFill>
                  <a:srgbClr val="0000FF"/>
                </a:solidFill>
                <a:latin typeface="Arial"/>
                <a:cs typeface="Arial"/>
              </a:rPr>
              <a:t>SELECT </a:t>
            </a:r>
            <a:r>
              <a:rPr sz="1100" spc="-5" dirty="0">
                <a:solidFill>
                  <a:srgbClr val="0000FF"/>
                </a:solidFill>
                <a:latin typeface="Arial"/>
                <a:cs typeface="Arial"/>
              </a:rPr>
              <a:t>location </a:t>
            </a:r>
            <a:r>
              <a:rPr sz="1100" spc="-15" dirty="0">
                <a:solidFill>
                  <a:srgbClr val="0000FF"/>
                </a:solidFill>
                <a:latin typeface="Arial"/>
                <a:cs typeface="Arial"/>
              </a:rPr>
              <a:t>FROM</a:t>
            </a:r>
            <a:r>
              <a:rPr sz="1100" spc="-55" dirty="0">
                <a:solidFill>
                  <a:srgbClr val="0000FF"/>
                </a:solidFill>
                <a:latin typeface="Arial"/>
                <a:cs typeface="Arial"/>
              </a:rPr>
              <a:t> </a:t>
            </a:r>
            <a:r>
              <a:rPr sz="1100" spc="-5" dirty="0">
                <a:solidFill>
                  <a:srgbClr val="0000FF"/>
                </a:solidFill>
                <a:latin typeface="Arial"/>
                <a:cs typeface="Arial"/>
              </a:rPr>
              <a:t>Pubs;</a:t>
            </a:r>
            <a:endParaRPr sz="1100">
              <a:latin typeface="Arial"/>
              <a:cs typeface="Arial"/>
            </a:endParaRPr>
          </a:p>
        </p:txBody>
      </p:sp>
      <p:graphicFrame>
        <p:nvGraphicFramePr>
          <p:cNvPr id="36" name="object 36"/>
          <p:cNvGraphicFramePr>
            <a:graphicFrameLocks noGrp="1"/>
          </p:cNvGraphicFramePr>
          <p:nvPr/>
        </p:nvGraphicFramePr>
        <p:xfrm>
          <a:off x="880376" y="843178"/>
          <a:ext cx="2122170" cy="1067865"/>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884555">
                  <a:extLst>
                    <a:ext uri="{9D8B030D-6E8A-4147-A177-3AD203B41FA5}">
                      <a16:colId xmlns:a16="http://schemas.microsoft.com/office/drawing/2014/main" val="20001"/>
                    </a:ext>
                  </a:extLst>
                </a:gridCol>
              </a:tblGrid>
              <a:tr h="189782">
                <a:tc>
                  <a:txBody>
                    <a:bodyPr/>
                    <a:lstStyle/>
                    <a:p>
                      <a:pPr marL="75565">
                        <a:lnSpc>
                          <a:spcPts val="1190"/>
                        </a:lnSpc>
                      </a:pPr>
                      <a:r>
                        <a:rPr sz="1100" b="1" spc="-10" dirty="0">
                          <a:latin typeface="Arial"/>
                          <a:cs typeface="Arial"/>
                        </a:rPr>
                        <a:t>name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location</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404">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37" name="object 37"/>
          <p:cNvSpPr/>
          <p:nvPr/>
        </p:nvSpPr>
        <p:spPr>
          <a:xfrm>
            <a:off x="1495526" y="2220475"/>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38" name="object 38"/>
          <p:cNvSpPr txBox="1"/>
          <p:nvPr/>
        </p:nvSpPr>
        <p:spPr>
          <a:xfrm>
            <a:off x="1498053" y="2192217"/>
            <a:ext cx="880110" cy="191770"/>
          </a:xfrm>
          <a:prstGeom prst="rect">
            <a:avLst/>
          </a:prstGeom>
        </p:spPr>
        <p:txBody>
          <a:bodyPr vert="horz" wrap="square" lIns="0" tIns="11430" rIns="0" bIns="0" rtlCol="0">
            <a:spAutoFit/>
          </a:bodyPr>
          <a:lstStyle/>
          <a:p>
            <a:pPr marL="73025">
              <a:lnSpc>
                <a:spcPct val="100000"/>
              </a:lnSpc>
              <a:spcBef>
                <a:spcPts val="90"/>
              </a:spcBef>
            </a:pPr>
            <a:r>
              <a:rPr sz="1100" b="1" spc="-5" dirty="0">
                <a:latin typeface="Arial"/>
                <a:cs typeface="Arial"/>
              </a:rPr>
              <a:t>location</a:t>
            </a:r>
            <a:endParaRPr sz="1100">
              <a:latin typeface="Arial"/>
              <a:cs typeface="Arial"/>
            </a:endParaRPr>
          </a:p>
        </p:txBody>
      </p:sp>
      <p:sp>
        <p:nvSpPr>
          <p:cNvPr id="39" name="object 39"/>
          <p:cNvSpPr/>
          <p:nvPr/>
        </p:nvSpPr>
        <p:spPr>
          <a:xfrm>
            <a:off x="1495526" y="2397615"/>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40" name="object 40"/>
          <p:cNvSpPr/>
          <p:nvPr/>
        </p:nvSpPr>
        <p:spPr>
          <a:xfrm>
            <a:off x="1495526" y="2422913"/>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41" name="object 41"/>
          <p:cNvSpPr/>
          <p:nvPr/>
        </p:nvSpPr>
        <p:spPr>
          <a:xfrm>
            <a:off x="1495526" y="2425453"/>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2" name="object 42"/>
          <p:cNvSpPr/>
          <p:nvPr/>
        </p:nvSpPr>
        <p:spPr>
          <a:xfrm>
            <a:off x="2380106" y="2425453"/>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3" name="object 43"/>
          <p:cNvSpPr/>
          <p:nvPr/>
        </p:nvSpPr>
        <p:spPr>
          <a:xfrm>
            <a:off x="1495526" y="2597526"/>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4" name="object 44"/>
          <p:cNvSpPr/>
          <p:nvPr/>
        </p:nvSpPr>
        <p:spPr>
          <a:xfrm>
            <a:off x="2380106" y="2597526"/>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5" name="object 45"/>
          <p:cNvSpPr/>
          <p:nvPr/>
        </p:nvSpPr>
        <p:spPr>
          <a:xfrm>
            <a:off x="1495526" y="2769598"/>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6" name="object 46"/>
          <p:cNvSpPr/>
          <p:nvPr/>
        </p:nvSpPr>
        <p:spPr>
          <a:xfrm>
            <a:off x="2380106" y="2769598"/>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7" name="object 47"/>
          <p:cNvSpPr/>
          <p:nvPr/>
        </p:nvSpPr>
        <p:spPr>
          <a:xfrm>
            <a:off x="1495526" y="294167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8" name="object 48"/>
          <p:cNvSpPr/>
          <p:nvPr/>
        </p:nvSpPr>
        <p:spPr>
          <a:xfrm>
            <a:off x="2380106" y="294167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9" name="object 49"/>
          <p:cNvSpPr/>
          <p:nvPr/>
        </p:nvSpPr>
        <p:spPr>
          <a:xfrm>
            <a:off x="1495526" y="3113755"/>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50" name="object 50"/>
          <p:cNvSpPr txBox="1"/>
          <p:nvPr/>
        </p:nvSpPr>
        <p:spPr>
          <a:xfrm>
            <a:off x="1498053" y="2394655"/>
            <a:ext cx="880110" cy="880110"/>
          </a:xfrm>
          <a:prstGeom prst="rect">
            <a:avLst/>
          </a:prstGeom>
        </p:spPr>
        <p:txBody>
          <a:bodyPr vert="horz" wrap="square" lIns="0" tIns="6985" rIns="0" bIns="0" rtlCol="0">
            <a:spAutoFit/>
          </a:bodyPr>
          <a:lstStyle/>
          <a:p>
            <a:pPr marL="73025" marR="65405">
              <a:lnSpc>
                <a:spcPct val="102600"/>
              </a:lnSpc>
              <a:spcBef>
                <a:spcPts val="55"/>
              </a:spcBef>
            </a:pPr>
            <a:r>
              <a:rPr sz="1100" spc="-10" dirty="0">
                <a:latin typeface="Arial"/>
                <a:cs typeface="Arial"/>
              </a:rPr>
              <a:t>Blooms</a:t>
            </a:r>
            <a:r>
              <a:rPr sz="1100" spc="-35" dirty="0">
                <a:latin typeface="Arial"/>
                <a:cs typeface="Arial"/>
              </a:rPr>
              <a:t>b</a:t>
            </a:r>
            <a:r>
              <a:rPr sz="1100" spc="-10" dirty="0">
                <a:latin typeface="Arial"/>
                <a:cs typeface="Arial"/>
              </a:rPr>
              <a:t>u</a:t>
            </a:r>
            <a:r>
              <a:rPr sz="1100" spc="25" dirty="0">
                <a:latin typeface="Arial"/>
                <a:cs typeface="Arial"/>
              </a:rPr>
              <a:t>r</a:t>
            </a:r>
            <a:r>
              <a:rPr sz="1100" spc="-5" dirty="0">
                <a:latin typeface="Arial"/>
                <a:cs typeface="Arial"/>
              </a:rPr>
              <a:t>y  Islington  </a:t>
            </a:r>
            <a:r>
              <a:rPr sz="1100" spc="-10" dirty="0">
                <a:latin typeface="Arial"/>
                <a:cs typeface="Arial"/>
              </a:rPr>
              <a:t>Blooms</a:t>
            </a:r>
            <a:r>
              <a:rPr sz="1100" spc="-35" dirty="0">
                <a:latin typeface="Arial"/>
                <a:cs typeface="Arial"/>
              </a:rPr>
              <a:t>b</a:t>
            </a:r>
            <a:r>
              <a:rPr sz="1100" spc="-10" dirty="0">
                <a:latin typeface="Arial"/>
                <a:cs typeface="Arial"/>
              </a:rPr>
              <a:t>u</a:t>
            </a:r>
            <a:r>
              <a:rPr sz="1100" spc="25" dirty="0">
                <a:latin typeface="Arial"/>
                <a:cs typeface="Arial"/>
              </a:rPr>
              <a:t>r</a:t>
            </a:r>
            <a:r>
              <a:rPr sz="1100" spc="-5" dirty="0">
                <a:latin typeface="Arial"/>
                <a:cs typeface="Arial"/>
              </a:rPr>
              <a:t>y  Islington  </a:t>
            </a:r>
            <a:r>
              <a:rPr sz="1100" spc="-10" dirty="0">
                <a:latin typeface="Arial"/>
                <a:cs typeface="Arial"/>
              </a:rPr>
              <a:t>Blooms</a:t>
            </a:r>
            <a:r>
              <a:rPr sz="1100" spc="-35" dirty="0">
                <a:latin typeface="Arial"/>
                <a:cs typeface="Arial"/>
              </a:rPr>
              <a:t>b</a:t>
            </a:r>
            <a:r>
              <a:rPr sz="1100" spc="-10" dirty="0">
                <a:latin typeface="Arial"/>
                <a:cs typeface="Arial"/>
              </a:rPr>
              <a:t>u</a:t>
            </a:r>
            <a:r>
              <a:rPr sz="1100" spc="25" dirty="0">
                <a:latin typeface="Arial"/>
                <a:cs typeface="Arial"/>
              </a:rPr>
              <a:t>r</a:t>
            </a:r>
            <a:r>
              <a:rPr sz="1100" spc="-5" dirty="0">
                <a:latin typeface="Arial"/>
                <a:cs typeface="Arial"/>
              </a:rPr>
              <a:t>y</a:t>
            </a:r>
            <a:endParaRPr sz="1100" dirty="0">
              <a:latin typeface="Arial"/>
              <a:cs typeface="Arial"/>
            </a:endParaRPr>
          </a:p>
        </p:txBody>
      </p:sp>
      <p:sp>
        <p:nvSpPr>
          <p:cNvPr id="51" name="object 51"/>
          <p:cNvSpPr/>
          <p:nvPr/>
        </p:nvSpPr>
        <p:spPr>
          <a:xfrm>
            <a:off x="2380106" y="3113755"/>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52" name="object 52"/>
          <p:cNvSpPr/>
          <p:nvPr/>
        </p:nvSpPr>
        <p:spPr>
          <a:xfrm>
            <a:off x="1495526" y="3288355"/>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 action="ppaction://noaction"/>
              </a:rPr>
              <a:t>Single table</a:t>
            </a:r>
            <a:r>
              <a:rPr sz="400" spc="-35" dirty="0">
                <a:latin typeface="Arial"/>
                <a:cs typeface="Arial"/>
                <a:hlinkClick r:id="" action="ppaction://noaction"/>
              </a:rPr>
              <a:t> </a:t>
            </a:r>
            <a:r>
              <a:rPr sz="400" dirty="0">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835660" cy="244475"/>
          </a:xfrm>
          <a:prstGeom prst="rect">
            <a:avLst/>
          </a:prstGeom>
        </p:spPr>
        <p:txBody>
          <a:bodyPr vert="horz" wrap="square" lIns="0" tIns="17145" rIns="0" bIns="0" rtlCol="0">
            <a:spAutoFit/>
          </a:bodyPr>
          <a:lstStyle/>
          <a:p>
            <a:pPr marL="12700">
              <a:lnSpc>
                <a:spcPct val="100000"/>
              </a:lnSpc>
              <a:spcBef>
                <a:spcPts val="135"/>
              </a:spcBef>
            </a:pPr>
            <a:r>
              <a:rPr spc="15" dirty="0"/>
              <a:t>Projection</a:t>
            </a:r>
          </a:p>
        </p:txBody>
      </p:sp>
      <p:sp>
        <p:nvSpPr>
          <p:cNvPr id="35" name="object 35"/>
          <p:cNvSpPr txBox="1"/>
          <p:nvPr/>
        </p:nvSpPr>
        <p:spPr>
          <a:xfrm>
            <a:off x="167297" y="374255"/>
            <a:ext cx="1866264"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Find unique locations of</a:t>
            </a:r>
            <a:r>
              <a:rPr sz="1100" spc="-85" dirty="0">
                <a:latin typeface="Arial"/>
                <a:cs typeface="Arial"/>
              </a:rPr>
              <a:t> </a:t>
            </a:r>
            <a:r>
              <a:rPr sz="1100" spc="-5" dirty="0">
                <a:latin typeface="Arial"/>
                <a:cs typeface="Arial"/>
              </a:rPr>
              <a:t>pubs:</a:t>
            </a:r>
            <a:endParaRPr sz="1100">
              <a:latin typeface="Arial"/>
              <a:cs typeface="Arial"/>
            </a:endParaRPr>
          </a:p>
        </p:txBody>
      </p:sp>
      <p:sp>
        <p:nvSpPr>
          <p:cNvPr id="36" name="object 36"/>
          <p:cNvSpPr txBox="1"/>
          <p:nvPr/>
        </p:nvSpPr>
        <p:spPr>
          <a:xfrm>
            <a:off x="637374" y="774076"/>
            <a:ext cx="2613660" cy="191770"/>
          </a:xfrm>
          <a:prstGeom prst="rect">
            <a:avLst/>
          </a:prstGeom>
        </p:spPr>
        <p:txBody>
          <a:bodyPr vert="horz" wrap="square" lIns="0" tIns="11430" rIns="0" bIns="0" rtlCol="0">
            <a:spAutoFit/>
          </a:bodyPr>
          <a:lstStyle/>
          <a:p>
            <a:pPr marL="12700">
              <a:lnSpc>
                <a:spcPct val="100000"/>
              </a:lnSpc>
              <a:spcBef>
                <a:spcPts val="90"/>
              </a:spcBef>
            </a:pPr>
            <a:r>
              <a:rPr sz="1100" spc="-10" dirty="0">
                <a:solidFill>
                  <a:srgbClr val="0000FF"/>
                </a:solidFill>
                <a:latin typeface="Arial"/>
                <a:cs typeface="Arial"/>
              </a:rPr>
              <a:t>SELECT </a:t>
            </a:r>
            <a:r>
              <a:rPr sz="1100" i="1" spc="-10" dirty="0">
                <a:solidFill>
                  <a:srgbClr val="0000FF"/>
                </a:solidFill>
                <a:latin typeface="Arial"/>
                <a:cs typeface="Arial"/>
              </a:rPr>
              <a:t>DISTINCT </a:t>
            </a:r>
            <a:r>
              <a:rPr sz="1100" spc="-5" dirty="0">
                <a:solidFill>
                  <a:srgbClr val="0000FF"/>
                </a:solidFill>
                <a:latin typeface="Arial"/>
                <a:cs typeface="Arial"/>
              </a:rPr>
              <a:t>location </a:t>
            </a:r>
            <a:r>
              <a:rPr sz="1100" spc="-15" dirty="0">
                <a:solidFill>
                  <a:srgbClr val="0000FF"/>
                </a:solidFill>
                <a:latin typeface="Arial"/>
                <a:cs typeface="Arial"/>
              </a:rPr>
              <a:t>FROM</a:t>
            </a:r>
            <a:r>
              <a:rPr sz="1100" spc="-160" dirty="0">
                <a:solidFill>
                  <a:srgbClr val="0000FF"/>
                </a:solidFill>
                <a:latin typeface="Arial"/>
                <a:cs typeface="Arial"/>
              </a:rPr>
              <a:t> </a:t>
            </a:r>
            <a:r>
              <a:rPr sz="1100" spc="-5" dirty="0">
                <a:solidFill>
                  <a:srgbClr val="0000FF"/>
                </a:solidFill>
                <a:latin typeface="Arial"/>
                <a:cs typeface="Arial"/>
              </a:rPr>
              <a:t>Pubs;</a:t>
            </a:r>
            <a:endParaRPr sz="1100">
              <a:latin typeface="Arial"/>
              <a:cs typeface="Arial"/>
            </a:endParaRPr>
          </a:p>
        </p:txBody>
      </p:sp>
      <p:graphicFrame>
        <p:nvGraphicFramePr>
          <p:cNvPr id="37" name="object 37"/>
          <p:cNvGraphicFramePr>
            <a:graphicFrameLocks noGrp="1"/>
          </p:cNvGraphicFramePr>
          <p:nvPr/>
        </p:nvGraphicFramePr>
        <p:xfrm>
          <a:off x="880376" y="1110310"/>
          <a:ext cx="2122170" cy="1067865"/>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884555">
                  <a:extLst>
                    <a:ext uri="{9D8B030D-6E8A-4147-A177-3AD203B41FA5}">
                      <a16:colId xmlns:a16="http://schemas.microsoft.com/office/drawing/2014/main" val="20001"/>
                    </a:ext>
                  </a:extLst>
                </a:gridCol>
              </a:tblGrid>
              <a:tr h="189782">
                <a:tc>
                  <a:txBody>
                    <a:bodyPr/>
                    <a:lstStyle/>
                    <a:p>
                      <a:pPr marL="75565">
                        <a:lnSpc>
                          <a:spcPts val="1190"/>
                        </a:lnSpc>
                      </a:pPr>
                      <a:r>
                        <a:rPr sz="1100" b="1" spc="-10" dirty="0">
                          <a:latin typeface="Arial"/>
                          <a:cs typeface="Arial"/>
                        </a:rPr>
                        <a:t>name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location</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404">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38" name="object 38"/>
          <p:cNvSpPr/>
          <p:nvPr/>
        </p:nvSpPr>
        <p:spPr>
          <a:xfrm>
            <a:off x="1501711" y="2676690"/>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39" name="object 39"/>
          <p:cNvSpPr/>
          <p:nvPr/>
        </p:nvSpPr>
        <p:spPr>
          <a:xfrm>
            <a:off x="1501711" y="2853829"/>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40" name="object 40"/>
          <p:cNvSpPr/>
          <p:nvPr/>
        </p:nvSpPr>
        <p:spPr>
          <a:xfrm>
            <a:off x="1501711" y="2879128"/>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41" name="object 41"/>
          <p:cNvSpPr/>
          <p:nvPr/>
        </p:nvSpPr>
        <p:spPr>
          <a:xfrm>
            <a:off x="1501711" y="2881668"/>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2" name="object 42"/>
          <p:cNvSpPr/>
          <p:nvPr/>
        </p:nvSpPr>
        <p:spPr>
          <a:xfrm>
            <a:off x="2386291" y="2881668"/>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3" name="object 43"/>
          <p:cNvSpPr/>
          <p:nvPr/>
        </p:nvSpPr>
        <p:spPr>
          <a:xfrm>
            <a:off x="1501711" y="305374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4" name="object 44"/>
          <p:cNvSpPr txBox="1"/>
          <p:nvPr/>
        </p:nvSpPr>
        <p:spPr>
          <a:xfrm>
            <a:off x="1504238" y="2279355"/>
            <a:ext cx="880110" cy="935355"/>
          </a:xfrm>
          <a:prstGeom prst="rect">
            <a:avLst/>
          </a:prstGeom>
        </p:spPr>
        <p:txBody>
          <a:bodyPr vert="horz" wrap="square" lIns="0" tIns="17145" rIns="0" bIns="0" rtlCol="0">
            <a:spAutoFit/>
          </a:bodyPr>
          <a:lstStyle/>
          <a:p>
            <a:pPr marR="42545" algn="ctr">
              <a:lnSpc>
                <a:spcPct val="100000"/>
              </a:lnSpc>
              <a:spcBef>
                <a:spcPts val="135"/>
              </a:spcBef>
            </a:pPr>
            <a:r>
              <a:rPr sz="1400" spc="-204" dirty="0">
                <a:solidFill>
                  <a:srgbClr val="0000FF"/>
                </a:solidFill>
                <a:latin typeface="Lucida Sans Unicode"/>
                <a:cs typeface="Lucida Sans Unicode"/>
              </a:rPr>
              <a:t>⇓</a:t>
            </a:r>
            <a:endParaRPr sz="1400">
              <a:latin typeface="Lucida Sans Unicode"/>
              <a:cs typeface="Lucida Sans Unicode"/>
            </a:endParaRPr>
          </a:p>
          <a:p>
            <a:pPr marL="73025" marR="65405">
              <a:lnSpc>
                <a:spcPct val="111700"/>
              </a:lnSpc>
              <a:spcBef>
                <a:spcPts val="1025"/>
              </a:spcBef>
            </a:pPr>
            <a:r>
              <a:rPr sz="1100" b="1" spc="-5" dirty="0">
                <a:latin typeface="Arial"/>
                <a:cs typeface="Arial"/>
              </a:rPr>
              <a:t>location  </a:t>
            </a:r>
            <a:r>
              <a:rPr sz="1100" spc="-10" dirty="0">
                <a:latin typeface="Arial"/>
                <a:cs typeface="Arial"/>
              </a:rPr>
              <a:t>Blooms</a:t>
            </a:r>
            <a:r>
              <a:rPr sz="1100" spc="-35" dirty="0">
                <a:latin typeface="Arial"/>
                <a:cs typeface="Arial"/>
              </a:rPr>
              <a:t>b</a:t>
            </a:r>
            <a:r>
              <a:rPr sz="1100" spc="-10" dirty="0">
                <a:latin typeface="Arial"/>
                <a:cs typeface="Arial"/>
              </a:rPr>
              <a:t>u</a:t>
            </a:r>
            <a:r>
              <a:rPr sz="1100" spc="25" dirty="0">
                <a:latin typeface="Arial"/>
                <a:cs typeface="Arial"/>
              </a:rPr>
              <a:t>r</a:t>
            </a:r>
            <a:r>
              <a:rPr sz="1100" spc="-5" dirty="0">
                <a:latin typeface="Arial"/>
                <a:cs typeface="Arial"/>
              </a:rPr>
              <a:t>y  Islington</a:t>
            </a:r>
            <a:endParaRPr sz="1100">
              <a:latin typeface="Arial"/>
              <a:cs typeface="Arial"/>
            </a:endParaRPr>
          </a:p>
        </p:txBody>
      </p:sp>
      <p:sp>
        <p:nvSpPr>
          <p:cNvPr id="45" name="object 45"/>
          <p:cNvSpPr/>
          <p:nvPr/>
        </p:nvSpPr>
        <p:spPr>
          <a:xfrm>
            <a:off x="2386291" y="305374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6" name="object 46"/>
          <p:cNvSpPr/>
          <p:nvPr/>
        </p:nvSpPr>
        <p:spPr>
          <a:xfrm>
            <a:off x="1501711" y="3228340"/>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 action="ppaction://noaction"/>
              </a:rPr>
              <a:t>Single table</a:t>
            </a:r>
            <a:r>
              <a:rPr sz="400" spc="-35" dirty="0">
                <a:latin typeface="Arial"/>
                <a:cs typeface="Arial"/>
                <a:hlinkClick r:id="" action="ppaction://noaction"/>
              </a:rPr>
              <a:t> </a:t>
            </a:r>
            <a:r>
              <a:rPr sz="400" dirty="0">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835660" cy="244475"/>
          </a:xfrm>
          <a:prstGeom prst="rect">
            <a:avLst/>
          </a:prstGeom>
        </p:spPr>
        <p:txBody>
          <a:bodyPr vert="horz" wrap="square" lIns="0" tIns="17145" rIns="0" bIns="0" rtlCol="0">
            <a:spAutoFit/>
          </a:bodyPr>
          <a:lstStyle/>
          <a:p>
            <a:pPr marL="12700">
              <a:lnSpc>
                <a:spcPct val="100000"/>
              </a:lnSpc>
              <a:spcBef>
                <a:spcPts val="135"/>
              </a:spcBef>
            </a:pPr>
            <a:r>
              <a:rPr spc="15" dirty="0"/>
              <a:t>Projection</a:t>
            </a:r>
          </a:p>
        </p:txBody>
      </p:sp>
      <p:sp>
        <p:nvSpPr>
          <p:cNvPr id="35" name="object 35"/>
          <p:cNvSpPr txBox="1"/>
          <p:nvPr/>
        </p:nvSpPr>
        <p:spPr>
          <a:xfrm>
            <a:off x="167297" y="445692"/>
            <a:ext cx="2494915"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Find what beers are sold </a:t>
            </a:r>
            <a:r>
              <a:rPr sz="1100" spc="-20" dirty="0">
                <a:latin typeface="Arial"/>
                <a:cs typeface="Arial"/>
              </a:rPr>
              <a:t>by </a:t>
            </a:r>
            <a:r>
              <a:rPr sz="1100" spc="-5" dirty="0">
                <a:latin typeface="Arial"/>
                <a:cs typeface="Arial"/>
              </a:rPr>
              <a:t>which</a:t>
            </a:r>
            <a:r>
              <a:rPr sz="1100" spc="-70" dirty="0">
                <a:latin typeface="Arial"/>
                <a:cs typeface="Arial"/>
              </a:rPr>
              <a:t> </a:t>
            </a:r>
            <a:r>
              <a:rPr sz="1100" spc="-5" dirty="0">
                <a:latin typeface="Arial"/>
                <a:cs typeface="Arial"/>
              </a:rPr>
              <a:t>pubs:</a:t>
            </a:r>
            <a:endParaRPr sz="1100">
              <a:latin typeface="Arial"/>
              <a:cs typeface="Arial"/>
            </a:endParaRPr>
          </a:p>
        </p:txBody>
      </p:sp>
      <p:sp>
        <p:nvSpPr>
          <p:cNvPr id="36" name="object 36"/>
          <p:cNvSpPr txBox="1"/>
          <p:nvPr/>
        </p:nvSpPr>
        <p:spPr>
          <a:xfrm>
            <a:off x="942924" y="845513"/>
            <a:ext cx="2002789" cy="191770"/>
          </a:xfrm>
          <a:prstGeom prst="rect">
            <a:avLst/>
          </a:prstGeom>
        </p:spPr>
        <p:txBody>
          <a:bodyPr vert="horz" wrap="square" lIns="0" tIns="11430" rIns="0" bIns="0" rtlCol="0">
            <a:spAutoFit/>
          </a:bodyPr>
          <a:lstStyle/>
          <a:p>
            <a:pPr marL="12700">
              <a:lnSpc>
                <a:spcPct val="100000"/>
              </a:lnSpc>
              <a:spcBef>
                <a:spcPts val="90"/>
              </a:spcBef>
            </a:pPr>
            <a:r>
              <a:rPr sz="1100" spc="-10" dirty="0">
                <a:solidFill>
                  <a:srgbClr val="0000FF"/>
                </a:solidFill>
                <a:latin typeface="Arial"/>
                <a:cs typeface="Arial"/>
              </a:rPr>
              <a:t>SELECT </a:t>
            </a:r>
            <a:r>
              <a:rPr sz="1100" spc="-20" dirty="0">
                <a:solidFill>
                  <a:srgbClr val="0000FF"/>
                </a:solidFill>
                <a:latin typeface="Arial"/>
                <a:cs typeface="Arial"/>
              </a:rPr>
              <a:t>beer, </a:t>
            </a:r>
            <a:r>
              <a:rPr sz="1100" spc="-10" dirty="0">
                <a:solidFill>
                  <a:srgbClr val="0000FF"/>
                </a:solidFill>
                <a:latin typeface="Arial"/>
                <a:cs typeface="Arial"/>
              </a:rPr>
              <a:t>pub </a:t>
            </a:r>
            <a:r>
              <a:rPr sz="1100" spc="-15" dirty="0">
                <a:solidFill>
                  <a:srgbClr val="0000FF"/>
                </a:solidFill>
                <a:latin typeface="Arial"/>
                <a:cs typeface="Arial"/>
              </a:rPr>
              <a:t>FROM</a:t>
            </a:r>
            <a:r>
              <a:rPr sz="1100" dirty="0">
                <a:solidFill>
                  <a:srgbClr val="0000FF"/>
                </a:solidFill>
                <a:latin typeface="Arial"/>
                <a:cs typeface="Arial"/>
              </a:rPr>
              <a:t> </a:t>
            </a:r>
            <a:r>
              <a:rPr sz="1100" spc="-5" dirty="0">
                <a:solidFill>
                  <a:srgbClr val="0000FF"/>
                </a:solidFill>
                <a:latin typeface="Arial"/>
                <a:cs typeface="Arial"/>
              </a:rPr>
              <a:t>Sells;</a:t>
            </a:r>
            <a:endParaRPr sz="1100">
              <a:latin typeface="Arial"/>
              <a:cs typeface="Arial"/>
            </a:endParaRPr>
          </a:p>
        </p:txBody>
      </p:sp>
      <p:graphicFrame>
        <p:nvGraphicFramePr>
          <p:cNvPr id="37" name="object 37"/>
          <p:cNvGraphicFramePr>
            <a:graphicFrameLocks noGrp="1"/>
          </p:cNvGraphicFramePr>
          <p:nvPr/>
        </p:nvGraphicFramePr>
        <p:xfrm>
          <a:off x="800226" y="1190409"/>
          <a:ext cx="2282825" cy="1928237"/>
        </p:xfrm>
        <a:graphic>
          <a:graphicData uri="http://schemas.openxmlformats.org/drawingml/2006/table">
            <a:tbl>
              <a:tblPr firstRow="1" bandRow="1">
                <a:tableStyleId>{2D5ABB26-0587-4C30-8999-92F81FD0307C}</a:tableStyleId>
              </a:tblPr>
              <a:tblGrid>
                <a:gridCol w="1045210">
                  <a:extLst>
                    <a:ext uri="{9D8B030D-6E8A-4147-A177-3AD203B41FA5}">
                      <a16:colId xmlns:a16="http://schemas.microsoft.com/office/drawing/2014/main" val="20000"/>
                    </a:ext>
                  </a:extLst>
                </a:gridCol>
                <a:gridCol w="1237615">
                  <a:extLst>
                    <a:ext uri="{9D8B030D-6E8A-4147-A177-3AD203B41FA5}">
                      <a16:colId xmlns:a16="http://schemas.microsoft.com/office/drawing/2014/main" val="20001"/>
                    </a:ext>
                  </a:extLst>
                </a:gridCol>
              </a:tblGrid>
              <a:tr h="189782">
                <a:tc>
                  <a:txBody>
                    <a:bodyPr/>
                    <a:lstStyle/>
                    <a:p>
                      <a:pPr marL="75565">
                        <a:lnSpc>
                          <a:spcPts val="1190"/>
                        </a:lnSpc>
                      </a:pPr>
                      <a:r>
                        <a:rPr sz="1100" b="1" spc="-5" dirty="0">
                          <a:latin typeface="Arial"/>
                          <a:cs typeface="Arial"/>
                        </a:rPr>
                        <a:t>beer</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10" dirty="0">
                          <a:latin typeface="Arial"/>
                          <a:cs typeface="Arial"/>
                        </a:rPr>
                        <a:t>pub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404">
                <a:tc>
                  <a:txBody>
                    <a:bodyPr/>
                    <a:lstStyle/>
                    <a:p>
                      <a:pPr marL="75565">
                        <a:lnSpc>
                          <a:spcPts val="1280"/>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5" dirty="0">
                          <a:latin typeface="Arial"/>
                          <a:cs typeface="Arial"/>
                        </a:rPr>
                        <a:t>Shining</a:t>
                      </a:r>
                      <a:r>
                        <a:rPr sz="1100" spc="-20" dirty="0">
                          <a:latin typeface="Arial"/>
                          <a:cs typeface="Arial"/>
                        </a:rPr>
                        <a:t> </a:t>
                      </a:r>
                      <a:r>
                        <a:rPr sz="1100" spc="-5" dirty="0">
                          <a:latin typeface="Arial"/>
                          <a:cs typeface="Arial"/>
                        </a:rPr>
                        <a:t>Wit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72072">
                <a:tc>
                  <a:txBody>
                    <a:bodyPr/>
                    <a:lstStyle/>
                    <a:p>
                      <a:pPr marL="75565">
                        <a:lnSpc>
                          <a:spcPts val="1255"/>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172078">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72078">
                <a:tc>
                  <a:txBody>
                    <a:bodyPr/>
                    <a:lstStyle/>
                    <a:p>
                      <a:pPr marL="75565">
                        <a:lnSpc>
                          <a:spcPts val="1255"/>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7"/>
                  </a:ext>
                </a:extLst>
              </a:tr>
              <a:tr h="172072">
                <a:tc>
                  <a:txBody>
                    <a:bodyPr/>
                    <a:lstStyle/>
                    <a:p>
                      <a:pPr marL="75565">
                        <a:lnSpc>
                          <a:spcPts val="1255"/>
                        </a:lnSpc>
                      </a:pPr>
                      <a:r>
                        <a:rPr sz="1100" spc="-5" dirty="0">
                          <a:latin typeface="Arial"/>
                          <a:cs typeface="Arial"/>
                        </a:rPr>
                        <a:t>Shining</a:t>
                      </a:r>
                      <a:r>
                        <a:rPr sz="1100" spc="-20" dirty="0">
                          <a:latin typeface="Arial"/>
                          <a:cs typeface="Arial"/>
                        </a:rPr>
                        <a:t> </a:t>
                      </a:r>
                      <a:r>
                        <a:rPr sz="1100" spc="-5" dirty="0">
                          <a:latin typeface="Arial"/>
                          <a:cs typeface="Arial"/>
                        </a:rPr>
                        <a:t>Wit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8"/>
                  </a:ext>
                </a:extLst>
              </a:tr>
              <a:tr h="172072">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9"/>
                  </a:ext>
                </a:extLst>
              </a:tr>
              <a:tr h="186463">
                <a:tc>
                  <a:txBody>
                    <a:bodyPr/>
                    <a:lstStyle/>
                    <a:p>
                      <a:pPr marL="75565">
                        <a:lnSpc>
                          <a:spcPts val="1260"/>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10"/>
                  </a:ext>
                </a:extLst>
              </a:tr>
            </a:tbl>
          </a:graphicData>
        </a:graphic>
      </p:graphicFrame>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 action="ppaction://noaction"/>
              </a:rPr>
              <a:t>Single table</a:t>
            </a:r>
            <a:r>
              <a:rPr sz="400" spc="-35" dirty="0">
                <a:latin typeface="Arial"/>
                <a:cs typeface="Arial"/>
                <a:hlinkClick r:id="" action="ppaction://noaction"/>
              </a:rPr>
              <a:t> </a:t>
            </a:r>
            <a:r>
              <a:rPr sz="400" dirty="0">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835660" cy="244475"/>
          </a:xfrm>
          <a:prstGeom prst="rect">
            <a:avLst/>
          </a:prstGeom>
        </p:spPr>
        <p:txBody>
          <a:bodyPr vert="horz" wrap="square" lIns="0" tIns="17145" rIns="0" bIns="0" rtlCol="0">
            <a:spAutoFit/>
          </a:bodyPr>
          <a:lstStyle/>
          <a:p>
            <a:pPr marL="12700">
              <a:lnSpc>
                <a:spcPct val="100000"/>
              </a:lnSpc>
              <a:spcBef>
                <a:spcPts val="135"/>
              </a:spcBef>
            </a:pPr>
            <a:r>
              <a:rPr spc="15" dirty="0"/>
              <a:t>Projection</a:t>
            </a:r>
          </a:p>
        </p:txBody>
      </p:sp>
      <p:sp>
        <p:nvSpPr>
          <p:cNvPr id="35" name="object 35"/>
          <p:cNvSpPr txBox="1"/>
          <p:nvPr/>
        </p:nvSpPr>
        <p:spPr>
          <a:xfrm>
            <a:off x="167297" y="346365"/>
            <a:ext cx="2045335"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Find the prices of beers in</a:t>
            </a:r>
            <a:r>
              <a:rPr sz="1100" spc="-70" dirty="0">
                <a:latin typeface="Arial"/>
                <a:cs typeface="Arial"/>
              </a:rPr>
              <a:t> </a:t>
            </a:r>
            <a:r>
              <a:rPr sz="1100" spc="-5" dirty="0">
                <a:latin typeface="Arial"/>
                <a:cs typeface="Arial"/>
              </a:rPr>
              <a:t>euros:</a:t>
            </a:r>
            <a:endParaRPr sz="1100">
              <a:latin typeface="Arial"/>
              <a:cs typeface="Arial"/>
            </a:endParaRPr>
          </a:p>
        </p:txBody>
      </p:sp>
      <p:sp>
        <p:nvSpPr>
          <p:cNvPr id="36" name="object 36"/>
          <p:cNvSpPr txBox="1"/>
          <p:nvPr/>
        </p:nvSpPr>
        <p:spPr>
          <a:xfrm>
            <a:off x="744550" y="685328"/>
            <a:ext cx="2399030" cy="535940"/>
          </a:xfrm>
          <a:prstGeom prst="rect">
            <a:avLst/>
          </a:prstGeom>
        </p:spPr>
        <p:txBody>
          <a:bodyPr vert="horz" wrap="square" lIns="0" tIns="11430" rIns="0" bIns="0" rtlCol="0">
            <a:spAutoFit/>
          </a:bodyPr>
          <a:lstStyle/>
          <a:p>
            <a:pPr marL="12700">
              <a:lnSpc>
                <a:spcPct val="100000"/>
              </a:lnSpc>
              <a:spcBef>
                <a:spcPts val="90"/>
              </a:spcBef>
              <a:tabLst>
                <a:tab pos="702945" algn="l"/>
              </a:tabLst>
            </a:pPr>
            <a:r>
              <a:rPr sz="1100" spc="-10" dirty="0">
                <a:solidFill>
                  <a:srgbClr val="0000FF"/>
                </a:solidFill>
                <a:latin typeface="Arial"/>
                <a:cs typeface="Arial"/>
              </a:rPr>
              <a:t>SELECT	</a:t>
            </a:r>
            <a:r>
              <a:rPr sz="1100" spc="-5" dirty="0">
                <a:solidFill>
                  <a:srgbClr val="0000FF"/>
                </a:solidFill>
                <a:latin typeface="Arial"/>
                <a:cs typeface="Arial"/>
              </a:rPr>
              <a:t>beer </a:t>
            </a:r>
            <a:r>
              <a:rPr sz="1100" spc="-10" dirty="0">
                <a:solidFill>
                  <a:srgbClr val="0000FF"/>
                </a:solidFill>
                <a:latin typeface="Arial"/>
                <a:cs typeface="Arial"/>
              </a:rPr>
              <a:t>AS</a:t>
            </a:r>
            <a:r>
              <a:rPr sz="1100" spc="-15" dirty="0">
                <a:solidFill>
                  <a:srgbClr val="0000FF"/>
                </a:solidFill>
                <a:latin typeface="Arial"/>
                <a:cs typeface="Arial"/>
              </a:rPr>
              <a:t> </a:t>
            </a:r>
            <a:r>
              <a:rPr sz="1100" spc="-10" dirty="0">
                <a:solidFill>
                  <a:srgbClr val="0000FF"/>
                </a:solidFill>
                <a:latin typeface="Arial"/>
                <a:cs typeface="Arial"/>
              </a:rPr>
              <a:t>Ale,</a:t>
            </a:r>
            <a:endParaRPr sz="1100" dirty="0">
              <a:latin typeface="Arial"/>
              <a:cs typeface="Arial"/>
            </a:endParaRPr>
          </a:p>
          <a:p>
            <a:pPr marL="702945">
              <a:lnSpc>
                <a:spcPct val="100000"/>
              </a:lnSpc>
              <a:spcBef>
                <a:spcPts val="35"/>
              </a:spcBef>
            </a:pPr>
            <a:r>
              <a:rPr sz="1100" spc="-5" dirty="0">
                <a:solidFill>
                  <a:srgbClr val="0000FF"/>
                </a:solidFill>
                <a:latin typeface="Arial"/>
                <a:cs typeface="Arial"/>
              </a:rPr>
              <a:t>price*1.12 </a:t>
            </a:r>
            <a:r>
              <a:rPr sz="1100" spc="-10" dirty="0">
                <a:solidFill>
                  <a:srgbClr val="0000FF"/>
                </a:solidFill>
                <a:latin typeface="Arial"/>
                <a:cs typeface="Arial"/>
              </a:rPr>
              <a:t>AS</a:t>
            </a:r>
            <a:r>
              <a:rPr sz="1100" spc="-45" dirty="0">
                <a:solidFill>
                  <a:srgbClr val="0000FF"/>
                </a:solidFill>
                <a:latin typeface="Arial"/>
                <a:cs typeface="Arial"/>
              </a:rPr>
              <a:t> </a:t>
            </a:r>
            <a:r>
              <a:rPr sz="1100" spc="-5" dirty="0">
                <a:solidFill>
                  <a:srgbClr val="0000FF"/>
                </a:solidFill>
                <a:latin typeface="Arial"/>
                <a:cs typeface="Arial"/>
              </a:rPr>
              <a:t>PriceInEuros</a:t>
            </a:r>
            <a:endParaRPr sz="1100" dirty="0">
              <a:latin typeface="Arial"/>
              <a:cs typeface="Arial"/>
            </a:endParaRPr>
          </a:p>
          <a:p>
            <a:pPr marL="12700">
              <a:lnSpc>
                <a:spcPct val="100000"/>
              </a:lnSpc>
              <a:spcBef>
                <a:spcPts val="35"/>
              </a:spcBef>
              <a:tabLst>
                <a:tab pos="702945" algn="l"/>
              </a:tabLst>
            </a:pPr>
            <a:r>
              <a:rPr sz="1100" spc="-15" dirty="0">
                <a:solidFill>
                  <a:srgbClr val="0000FF"/>
                </a:solidFill>
                <a:latin typeface="Arial"/>
                <a:cs typeface="Arial"/>
              </a:rPr>
              <a:t>FROM	</a:t>
            </a:r>
            <a:r>
              <a:rPr sz="1100" spc="-5" dirty="0">
                <a:solidFill>
                  <a:srgbClr val="0000FF"/>
                </a:solidFill>
                <a:latin typeface="Arial"/>
                <a:cs typeface="Arial"/>
              </a:rPr>
              <a:t>Sells;</a:t>
            </a:r>
            <a:endParaRPr sz="1100" dirty="0">
              <a:latin typeface="Arial"/>
              <a:cs typeface="Arial"/>
            </a:endParaRPr>
          </a:p>
        </p:txBody>
      </p:sp>
      <p:graphicFrame>
        <p:nvGraphicFramePr>
          <p:cNvPr id="37" name="object 37"/>
          <p:cNvGraphicFramePr>
            <a:graphicFrameLocks noGrp="1"/>
          </p:cNvGraphicFramePr>
          <p:nvPr/>
        </p:nvGraphicFramePr>
        <p:xfrm>
          <a:off x="917168" y="1358544"/>
          <a:ext cx="2047875" cy="1928237"/>
        </p:xfrm>
        <a:graphic>
          <a:graphicData uri="http://schemas.openxmlformats.org/drawingml/2006/table">
            <a:tbl>
              <a:tblPr firstRow="1" bandRow="1">
                <a:tableStyleId>{2D5ABB26-0587-4C30-8999-92F81FD0307C}</a:tableStyleId>
              </a:tblPr>
              <a:tblGrid>
                <a:gridCol w="1044575">
                  <a:extLst>
                    <a:ext uri="{9D8B030D-6E8A-4147-A177-3AD203B41FA5}">
                      <a16:colId xmlns:a16="http://schemas.microsoft.com/office/drawing/2014/main" val="20000"/>
                    </a:ext>
                  </a:extLst>
                </a:gridCol>
                <a:gridCol w="1003300">
                  <a:extLst>
                    <a:ext uri="{9D8B030D-6E8A-4147-A177-3AD203B41FA5}">
                      <a16:colId xmlns:a16="http://schemas.microsoft.com/office/drawing/2014/main" val="20001"/>
                    </a:ext>
                  </a:extLst>
                </a:gridCol>
              </a:tblGrid>
              <a:tr h="189782">
                <a:tc>
                  <a:txBody>
                    <a:bodyPr/>
                    <a:lstStyle/>
                    <a:p>
                      <a:pPr marL="75565">
                        <a:lnSpc>
                          <a:spcPts val="1190"/>
                        </a:lnSpc>
                      </a:pPr>
                      <a:r>
                        <a:rPr sz="1100" b="1" spc="-5" dirty="0">
                          <a:latin typeface="Arial"/>
                          <a:cs typeface="Arial"/>
                        </a:rPr>
                        <a:t>Ale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10" dirty="0">
                          <a:latin typeface="Arial"/>
                          <a:cs typeface="Arial"/>
                        </a:rPr>
                        <a:t>PriceInEuros</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404">
                <a:tc>
                  <a:txBody>
                    <a:bodyPr/>
                    <a:lstStyle/>
                    <a:p>
                      <a:pPr marL="75565">
                        <a:lnSpc>
                          <a:spcPts val="1280"/>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1.68</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2.24</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5" dirty="0">
                          <a:latin typeface="Arial"/>
                          <a:cs typeface="Arial"/>
                        </a:rPr>
                        <a:t>Shining</a:t>
                      </a:r>
                      <a:r>
                        <a:rPr sz="1100" spc="-20" dirty="0">
                          <a:latin typeface="Arial"/>
                          <a:cs typeface="Arial"/>
                        </a:rPr>
                        <a:t> </a:t>
                      </a:r>
                      <a:r>
                        <a:rPr sz="1100" spc="-5" dirty="0">
                          <a:latin typeface="Arial"/>
                          <a:cs typeface="Arial"/>
                        </a:rPr>
                        <a:t>Wit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3.08</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2.80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72078">
                <a:tc>
                  <a:txBody>
                    <a:bodyPr/>
                    <a:lstStyle/>
                    <a:p>
                      <a:pPr marL="75565">
                        <a:lnSpc>
                          <a:spcPts val="1255"/>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1.96</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172078">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2.80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72072">
                <a:tc>
                  <a:txBody>
                    <a:bodyPr/>
                    <a:lstStyle/>
                    <a:p>
                      <a:pPr marL="75565">
                        <a:lnSpc>
                          <a:spcPts val="1255"/>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2.80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7"/>
                  </a:ext>
                </a:extLst>
              </a:tr>
              <a:tr h="172072">
                <a:tc>
                  <a:txBody>
                    <a:bodyPr/>
                    <a:lstStyle/>
                    <a:p>
                      <a:pPr marL="75565">
                        <a:lnSpc>
                          <a:spcPts val="1255"/>
                        </a:lnSpc>
                      </a:pPr>
                      <a:r>
                        <a:rPr sz="1100" spc="-5" dirty="0">
                          <a:latin typeface="Arial"/>
                          <a:cs typeface="Arial"/>
                        </a:rPr>
                        <a:t>Shining</a:t>
                      </a:r>
                      <a:r>
                        <a:rPr sz="1100" spc="-20" dirty="0">
                          <a:latin typeface="Arial"/>
                          <a:cs typeface="Arial"/>
                        </a:rPr>
                        <a:t> </a:t>
                      </a:r>
                      <a:r>
                        <a:rPr sz="1100" spc="-5" dirty="0">
                          <a:latin typeface="Arial"/>
                          <a:cs typeface="Arial"/>
                        </a:rPr>
                        <a:t>Wit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2.52</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8"/>
                  </a:ext>
                </a:extLst>
              </a:tr>
              <a:tr h="172072">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2.80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9"/>
                  </a:ext>
                </a:extLst>
              </a:tr>
              <a:tr h="186463">
                <a:tc>
                  <a:txBody>
                    <a:bodyPr/>
                    <a:lstStyle/>
                    <a:p>
                      <a:pPr marL="75565">
                        <a:lnSpc>
                          <a:spcPts val="1260"/>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3.08</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10"/>
                  </a:ext>
                </a:extLst>
              </a:tr>
            </a:tbl>
          </a:graphicData>
        </a:graphic>
      </p:graphicFrame>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 action="ppaction://noaction"/>
              </a:rPr>
              <a:t>Single table</a:t>
            </a:r>
            <a:r>
              <a:rPr sz="400" spc="-35" dirty="0">
                <a:latin typeface="Arial"/>
                <a:cs typeface="Arial"/>
                <a:hlinkClick r:id="" action="ppaction://noaction"/>
              </a:rPr>
              <a:t> </a:t>
            </a:r>
            <a:r>
              <a:rPr sz="400" dirty="0">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775335" cy="244475"/>
          </a:xfrm>
          <a:prstGeom prst="rect">
            <a:avLst/>
          </a:prstGeom>
        </p:spPr>
        <p:txBody>
          <a:bodyPr vert="horz" wrap="square" lIns="0" tIns="17145" rIns="0" bIns="0" rtlCol="0">
            <a:spAutoFit/>
          </a:bodyPr>
          <a:lstStyle/>
          <a:p>
            <a:pPr marL="12700">
              <a:lnSpc>
                <a:spcPct val="100000"/>
              </a:lnSpc>
              <a:spcBef>
                <a:spcPts val="135"/>
              </a:spcBef>
            </a:pPr>
            <a:r>
              <a:rPr spc="15" dirty="0"/>
              <a:t>Selection</a:t>
            </a:r>
          </a:p>
        </p:txBody>
      </p:sp>
      <p:sp>
        <p:nvSpPr>
          <p:cNvPr id="35" name="object 35"/>
          <p:cNvSpPr txBox="1"/>
          <p:nvPr/>
        </p:nvSpPr>
        <p:spPr>
          <a:xfrm>
            <a:off x="167297" y="340600"/>
            <a:ext cx="1750695"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Arial"/>
                <a:cs typeface="Arial"/>
              </a:rPr>
              <a:t>Who </a:t>
            </a:r>
            <a:r>
              <a:rPr sz="1100" spc="-5" dirty="0">
                <a:latin typeface="Arial"/>
                <a:cs typeface="Arial"/>
              </a:rPr>
              <a:t>visits the ’March</a:t>
            </a:r>
            <a:r>
              <a:rPr sz="1100" spc="-70" dirty="0">
                <a:latin typeface="Arial"/>
                <a:cs typeface="Arial"/>
              </a:rPr>
              <a:t> </a:t>
            </a:r>
            <a:r>
              <a:rPr sz="1100" spc="-5" dirty="0">
                <a:latin typeface="Arial"/>
                <a:cs typeface="Arial"/>
              </a:rPr>
              <a:t>Hare’:</a:t>
            </a:r>
            <a:endParaRPr sz="1100">
              <a:latin typeface="Arial"/>
              <a:cs typeface="Arial"/>
            </a:endParaRPr>
          </a:p>
        </p:txBody>
      </p:sp>
      <p:sp>
        <p:nvSpPr>
          <p:cNvPr id="36" name="object 36"/>
          <p:cNvSpPr txBox="1"/>
          <p:nvPr/>
        </p:nvSpPr>
        <p:spPr>
          <a:xfrm>
            <a:off x="167297" y="666304"/>
            <a:ext cx="3553460" cy="191770"/>
          </a:xfrm>
          <a:prstGeom prst="rect">
            <a:avLst/>
          </a:prstGeom>
        </p:spPr>
        <p:txBody>
          <a:bodyPr vert="horz" wrap="square" lIns="0" tIns="11430" rIns="0" bIns="0" rtlCol="0">
            <a:spAutoFit/>
          </a:bodyPr>
          <a:lstStyle/>
          <a:p>
            <a:pPr marL="12700">
              <a:lnSpc>
                <a:spcPct val="100000"/>
              </a:lnSpc>
              <a:spcBef>
                <a:spcPts val="90"/>
              </a:spcBef>
            </a:pPr>
            <a:r>
              <a:rPr sz="1100" spc="-10" dirty="0">
                <a:solidFill>
                  <a:srgbClr val="0000FF"/>
                </a:solidFill>
                <a:latin typeface="Arial"/>
                <a:cs typeface="Arial"/>
              </a:rPr>
              <a:t>SELECT drinker </a:t>
            </a:r>
            <a:r>
              <a:rPr sz="1100" spc="-15" dirty="0">
                <a:solidFill>
                  <a:srgbClr val="0000FF"/>
                </a:solidFill>
                <a:latin typeface="Arial"/>
                <a:cs typeface="Arial"/>
              </a:rPr>
              <a:t>FROM </a:t>
            </a:r>
            <a:r>
              <a:rPr sz="1100" spc="-5" dirty="0">
                <a:solidFill>
                  <a:srgbClr val="0000FF"/>
                </a:solidFill>
                <a:latin typeface="Arial"/>
                <a:cs typeface="Arial"/>
              </a:rPr>
              <a:t>Visits </a:t>
            </a:r>
            <a:r>
              <a:rPr sz="1100" spc="-10" dirty="0">
                <a:solidFill>
                  <a:srgbClr val="0000FF"/>
                </a:solidFill>
                <a:latin typeface="Arial"/>
                <a:cs typeface="Arial"/>
              </a:rPr>
              <a:t>WHERE </a:t>
            </a:r>
            <a:r>
              <a:rPr sz="1100" spc="-5" dirty="0">
                <a:solidFill>
                  <a:srgbClr val="0000FF"/>
                </a:solidFill>
                <a:latin typeface="Arial"/>
                <a:cs typeface="Arial"/>
              </a:rPr>
              <a:t>pub=’March</a:t>
            </a:r>
            <a:r>
              <a:rPr sz="1100" spc="-90" dirty="0">
                <a:solidFill>
                  <a:srgbClr val="0000FF"/>
                </a:solidFill>
                <a:latin typeface="Arial"/>
                <a:cs typeface="Arial"/>
              </a:rPr>
              <a:t> </a:t>
            </a:r>
            <a:r>
              <a:rPr sz="1100" spc="-5" dirty="0">
                <a:solidFill>
                  <a:srgbClr val="0000FF"/>
                </a:solidFill>
                <a:latin typeface="Arial"/>
                <a:cs typeface="Arial"/>
              </a:rPr>
              <a:t>Hare’;</a:t>
            </a:r>
            <a:endParaRPr sz="1100">
              <a:latin typeface="Arial"/>
              <a:cs typeface="Arial"/>
            </a:endParaRPr>
          </a:p>
        </p:txBody>
      </p:sp>
      <p:graphicFrame>
        <p:nvGraphicFramePr>
          <p:cNvPr id="37" name="object 37"/>
          <p:cNvGraphicFramePr>
            <a:graphicFrameLocks noGrp="1"/>
          </p:cNvGraphicFramePr>
          <p:nvPr/>
        </p:nvGraphicFramePr>
        <p:xfrm>
          <a:off x="1011923" y="955611"/>
          <a:ext cx="1859280" cy="1412021"/>
        </p:xfrm>
        <a:graphic>
          <a:graphicData uri="http://schemas.openxmlformats.org/drawingml/2006/table">
            <a:tbl>
              <a:tblPr firstRow="1" bandRow="1">
                <a:tableStyleId>{2D5ABB26-0587-4C30-8999-92F81FD0307C}</a:tableStyleId>
              </a:tblPr>
              <a:tblGrid>
                <a:gridCol w="621665">
                  <a:extLst>
                    <a:ext uri="{9D8B030D-6E8A-4147-A177-3AD203B41FA5}">
                      <a16:colId xmlns:a16="http://schemas.microsoft.com/office/drawing/2014/main" val="20000"/>
                    </a:ext>
                  </a:extLst>
                </a:gridCol>
                <a:gridCol w="1237615">
                  <a:extLst>
                    <a:ext uri="{9D8B030D-6E8A-4147-A177-3AD203B41FA5}">
                      <a16:colId xmlns:a16="http://schemas.microsoft.com/office/drawing/2014/main" val="20001"/>
                    </a:ext>
                  </a:extLst>
                </a:gridCol>
              </a:tblGrid>
              <a:tr h="189782">
                <a:tc>
                  <a:txBody>
                    <a:bodyPr/>
                    <a:lstStyle/>
                    <a:p>
                      <a:pPr marL="75565">
                        <a:lnSpc>
                          <a:spcPts val="1190"/>
                        </a:lnSpc>
                      </a:pPr>
                      <a:r>
                        <a:rPr sz="1100" b="1" spc="-5" dirty="0">
                          <a:latin typeface="Arial"/>
                          <a:cs typeface="Arial"/>
                        </a:rPr>
                        <a:t>drinker</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10" dirty="0">
                          <a:latin typeface="Arial"/>
                          <a:cs typeface="Arial"/>
                        </a:rPr>
                        <a:t>pub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404">
                <a:tc>
                  <a:txBody>
                    <a:bodyPr/>
                    <a:lstStyle/>
                    <a:p>
                      <a:pPr marL="75565">
                        <a:lnSpc>
                          <a:spcPts val="1280"/>
                        </a:lnSpc>
                      </a:pPr>
                      <a:r>
                        <a:rPr sz="1100" spc="-5" dirty="0">
                          <a:latin typeface="Arial"/>
                          <a:cs typeface="Arial"/>
                        </a:rPr>
                        <a:t>Alice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5" dirty="0">
                          <a:latin typeface="Arial"/>
                          <a:cs typeface="Arial"/>
                        </a:rPr>
                        <a:t>Alice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10" dirty="0">
                          <a:latin typeface="Arial"/>
                          <a:cs typeface="Arial"/>
                        </a:rPr>
                        <a:t>Bob</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10" dirty="0">
                          <a:latin typeface="Arial"/>
                          <a:cs typeface="Arial"/>
                        </a:rPr>
                        <a:t>Bob</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72078">
                <a:tc>
                  <a:txBody>
                    <a:bodyPr/>
                    <a:lstStyle/>
                    <a:p>
                      <a:pPr marL="75565">
                        <a:lnSpc>
                          <a:spcPts val="1255"/>
                        </a:lnSpc>
                      </a:pPr>
                      <a:r>
                        <a:rPr sz="1100" spc="-5" dirty="0">
                          <a:latin typeface="Arial"/>
                          <a:cs typeface="Arial"/>
                        </a:rPr>
                        <a:t>Carol</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172078">
                <a:tc>
                  <a:txBody>
                    <a:bodyPr/>
                    <a:lstStyle/>
                    <a:p>
                      <a:pPr marL="75565">
                        <a:lnSpc>
                          <a:spcPts val="1255"/>
                        </a:lnSpc>
                      </a:pPr>
                      <a:r>
                        <a:rPr sz="1100" spc="-20" dirty="0">
                          <a:latin typeface="Arial"/>
                          <a:cs typeface="Arial"/>
                        </a:rPr>
                        <a:t>Dave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86463">
                <a:tc>
                  <a:txBody>
                    <a:bodyPr/>
                    <a:lstStyle/>
                    <a:p>
                      <a:pPr marL="75565">
                        <a:lnSpc>
                          <a:spcPts val="1260"/>
                        </a:lnSpc>
                      </a:pPr>
                      <a:r>
                        <a:rPr sz="1100" spc="-20" dirty="0">
                          <a:latin typeface="Arial"/>
                          <a:cs typeface="Arial"/>
                        </a:rPr>
                        <a:t>Eve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7"/>
                  </a:ext>
                </a:extLst>
              </a:tr>
            </a:tbl>
          </a:graphicData>
        </a:graphic>
      </p:graphicFrame>
      <p:sp>
        <p:nvSpPr>
          <p:cNvPr id="38" name="object 38"/>
          <p:cNvSpPr/>
          <p:nvPr/>
        </p:nvSpPr>
        <p:spPr>
          <a:xfrm>
            <a:off x="1633258" y="2754960"/>
            <a:ext cx="621665" cy="0"/>
          </a:xfrm>
          <a:custGeom>
            <a:avLst/>
            <a:gdLst/>
            <a:ahLst/>
            <a:cxnLst/>
            <a:rect l="l" t="t" r="r" b="b"/>
            <a:pathLst>
              <a:path w="621664">
                <a:moveTo>
                  <a:pt x="0" y="0"/>
                </a:moveTo>
                <a:lnTo>
                  <a:pt x="621487" y="0"/>
                </a:lnTo>
              </a:path>
            </a:pathLst>
          </a:custGeom>
          <a:ln w="5054">
            <a:solidFill>
              <a:srgbClr val="000000"/>
            </a:solidFill>
          </a:ln>
        </p:spPr>
        <p:txBody>
          <a:bodyPr wrap="square" lIns="0" tIns="0" rIns="0" bIns="0" rtlCol="0"/>
          <a:lstStyle/>
          <a:p>
            <a:endParaRPr/>
          </a:p>
        </p:txBody>
      </p:sp>
      <p:sp>
        <p:nvSpPr>
          <p:cNvPr id="39" name="object 39"/>
          <p:cNvSpPr/>
          <p:nvPr/>
        </p:nvSpPr>
        <p:spPr>
          <a:xfrm>
            <a:off x="1633258" y="2932099"/>
            <a:ext cx="621665" cy="0"/>
          </a:xfrm>
          <a:custGeom>
            <a:avLst/>
            <a:gdLst/>
            <a:ahLst/>
            <a:cxnLst/>
            <a:rect l="l" t="t" r="r" b="b"/>
            <a:pathLst>
              <a:path w="621664">
                <a:moveTo>
                  <a:pt x="0" y="0"/>
                </a:moveTo>
                <a:lnTo>
                  <a:pt x="621487" y="0"/>
                </a:lnTo>
              </a:path>
            </a:pathLst>
          </a:custGeom>
          <a:ln w="5054">
            <a:solidFill>
              <a:srgbClr val="000000"/>
            </a:solidFill>
          </a:ln>
        </p:spPr>
        <p:txBody>
          <a:bodyPr wrap="square" lIns="0" tIns="0" rIns="0" bIns="0" rtlCol="0"/>
          <a:lstStyle/>
          <a:p>
            <a:endParaRPr/>
          </a:p>
        </p:txBody>
      </p:sp>
      <p:sp>
        <p:nvSpPr>
          <p:cNvPr id="40" name="object 40"/>
          <p:cNvSpPr/>
          <p:nvPr/>
        </p:nvSpPr>
        <p:spPr>
          <a:xfrm>
            <a:off x="1633258" y="2957410"/>
            <a:ext cx="621665" cy="0"/>
          </a:xfrm>
          <a:custGeom>
            <a:avLst/>
            <a:gdLst/>
            <a:ahLst/>
            <a:cxnLst/>
            <a:rect l="l" t="t" r="r" b="b"/>
            <a:pathLst>
              <a:path w="621664">
                <a:moveTo>
                  <a:pt x="0" y="0"/>
                </a:moveTo>
                <a:lnTo>
                  <a:pt x="621487" y="0"/>
                </a:lnTo>
              </a:path>
            </a:pathLst>
          </a:custGeom>
          <a:ln w="5054">
            <a:solidFill>
              <a:srgbClr val="000000"/>
            </a:solidFill>
          </a:ln>
        </p:spPr>
        <p:txBody>
          <a:bodyPr wrap="square" lIns="0" tIns="0" rIns="0" bIns="0" rtlCol="0"/>
          <a:lstStyle/>
          <a:p>
            <a:endParaRPr/>
          </a:p>
        </p:txBody>
      </p:sp>
      <p:sp>
        <p:nvSpPr>
          <p:cNvPr id="41" name="object 41"/>
          <p:cNvSpPr/>
          <p:nvPr/>
        </p:nvSpPr>
        <p:spPr>
          <a:xfrm>
            <a:off x="1633258" y="2959938"/>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2" name="object 42"/>
          <p:cNvSpPr/>
          <p:nvPr/>
        </p:nvSpPr>
        <p:spPr>
          <a:xfrm>
            <a:off x="2254745" y="2959938"/>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3" name="object 43"/>
          <p:cNvSpPr/>
          <p:nvPr/>
        </p:nvSpPr>
        <p:spPr>
          <a:xfrm>
            <a:off x="1633258" y="313201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4" name="object 44"/>
          <p:cNvSpPr txBox="1"/>
          <p:nvPr/>
        </p:nvSpPr>
        <p:spPr>
          <a:xfrm>
            <a:off x="1635785" y="2288476"/>
            <a:ext cx="616585" cy="1004569"/>
          </a:xfrm>
          <a:prstGeom prst="rect">
            <a:avLst/>
          </a:prstGeom>
        </p:spPr>
        <p:txBody>
          <a:bodyPr vert="horz" wrap="square" lIns="0" tIns="141605" rIns="0" bIns="0" rtlCol="0">
            <a:spAutoFit/>
          </a:bodyPr>
          <a:lstStyle/>
          <a:p>
            <a:pPr marR="42545" algn="ctr">
              <a:lnSpc>
                <a:spcPct val="100000"/>
              </a:lnSpc>
              <a:spcBef>
                <a:spcPts val="1115"/>
              </a:spcBef>
            </a:pPr>
            <a:r>
              <a:rPr sz="1400" spc="-204" dirty="0">
                <a:solidFill>
                  <a:srgbClr val="0000FF"/>
                </a:solidFill>
                <a:latin typeface="Lucida Sans Unicode"/>
                <a:cs typeface="Lucida Sans Unicode"/>
              </a:rPr>
              <a:t>⇓</a:t>
            </a:r>
            <a:endParaRPr sz="1400">
              <a:latin typeface="Lucida Sans Unicode"/>
              <a:cs typeface="Lucida Sans Unicode"/>
            </a:endParaRPr>
          </a:p>
          <a:p>
            <a:pPr marL="73025" marR="65405">
              <a:lnSpc>
                <a:spcPct val="111700"/>
              </a:lnSpc>
              <a:spcBef>
                <a:spcPts val="590"/>
              </a:spcBef>
            </a:pPr>
            <a:r>
              <a:rPr sz="1100" b="1" spc="-5" dirty="0">
                <a:latin typeface="Arial"/>
                <a:cs typeface="Arial"/>
              </a:rPr>
              <a:t>drinker  </a:t>
            </a:r>
            <a:r>
              <a:rPr sz="1100" spc="-5" dirty="0">
                <a:latin typeface="Arial"/>
                <a:cs typeface="Arial"/>
              </a:rPr>
              <a:t>Carol  </a:t>
            </a:r>
            <a:r>
              <a:rPr sz="1100" spc="-20" dirty="0">
                <a:latin typeface="Arial"/>
                <a:cs typeface="Arial"/>
              </a:rPr>
              <a:t>Eve</a:t>
            </a:r>
            <a:endParaRPr sz="1100">
              <a:latin typeface="Arial"/>
              <a:cs typeface="Arial"/>
            </a:endParaRPr>
          </a:p>
        </p:txBody>
      </p:sp>
      <p:sp>
        <p:nvSpPr>
          <p:cNvPr id="45" name="object 45"/>
          <p:cNvSpPr/>
          <p:nvPr/>
        </p:nvSpPr>
        <p:spPr>
          <a:xfrm>
            <a:off x="2254745" y="313201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6" name="object 46"/>
          <p:cNvSpPr/>
          <p:nvPr/>
        </p:nvSpPr>
        <p:spPr>
          <a:xfrm>
            <a:off x="1633258" y="3306610"/>
            <a:ext cx="621665" cy="0"/>
          </a:xfrm>
          <a:custGeom>
            <a:avLst/>
            <a:gdLst/>
            <a:ahLst/>
            <a:cxnLst/>
            <a:rect l="l" t="t" r="r" b="b"/>
            <a:pathLst>
              <a:path w="621664">
                <a:moveTo>
                  <a:pt x="0" y="0"/>
                </a:moveTo>
                <a:lnTo>
                  <a:pt x="621487" y="0"/>
                </a:lnTo>
              </a:path>
            </a:pathLst>
          </a:custGeom>
          <a:ln w="5054">
            <a:solidFill>
              <a:srgbClr val="000000"/>
            </a:solidFill>
          </a:ln>
        </p:spPr>
        <p:txBody>
          <a:bodyPr wrap="square" lIns="0" tIns="0" rIns="0" bIns="0" rtlCol="0"/>
          <a:lstStyle/>
          <a:p>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 action="ppaction://noaction"/>
              </a:rPr>
              <a:t>Single table</a:t>
            </a:r>
            <a:r>
              <a:rPr sz="400" spc="-35" dirty="0">
                <a:latin typeface="Arial"/>
                <a:cs typeface="Arial"/>
                <a:hlinkClick r:id="" action="ppaction://noaction"/>
              </a:rPr>
              <a:t> </a:t>
            </a:r>
            <a:r>
              <a:rPr sz="400" dirty="0">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775335" cy="244475"/>
          </a:xfrm>
          <a:prstGeom prst="rect">
            <a:avLst/>
          </a:prstGeom>
        </p:spPr>
        <p:txBody>
          <a:bodyPr vert="horz" wrap="square" lIns="0" tIns="17145" rIns="0" bIns="0" rtlCol="0">
            <a:spAutoFit/>
          </a:bodyPr>
          <a:lstStyle/>
          <a:p>
            <a:pPr marL="12700">
              <a:lnSpc>
                <a:spcPct val="100000"/>
              </a:lnSpc>
              <a:spcBef>
                <a:spcPts val="135"/>
              </a:spcBef>
            </a:pPr>
            <a:r>
              <a:rPr spc="15" dirty="0"/>
              <a:t>Selection</a:t>
            </a:r>
          </a:p>
        </p:txBody>
      </p:sp>
      <p:sp>
        <p:nvSpPr>
          <p:cNvPr id="35" name="object 35"/>
          <p:cNvSpPr txBox="1"/>
          <p:nvPr/>
        </p:nvSpPr>
        <p:spPr>
          <a:xfrm>
            <a:off x="167297" y="575461"/>
            <a:ext cx="291719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Arial"/>
                <a:cs typeface="Arial"/>
              </a:rPr>
              <a:t>Which pubs </a:t>
            </a:r>
            <a:r>
              <a:rPr sz="1100" spc="-5" dirty="0">
                <a:latin typeface="Arial"/>
                <a:cs typeface="Arial"/>
              </a:rPr>
              <a:t>sell ’Bad Habit’ </a:t>
            </a:r>
            <a:r>
              <a:rPr sz="1100" spc="-20" dirty="0">
                <a:latin typeface="Arial"/>
                <a:cs typeface="Arial"/>
              </a:rPr>
              <a:t>for </a:t>
            </a:r>
            <a:r>
              <a:rPr sz="1100" spc="-5" dirty="0">
                <a:latin typeface="Arial"/>
                <a:cs typeface="Arial"/>
              </a:rPr>
              <a:t>less than</a:t>
            </a:r>
            <a:r>
              <a:rPr sz="1100" dirty="0">
                <a:latin typeface="Arial"/>
                <a:cs typeface="Arial"/>
              </a:rPr>
              <a:t> </a:t>
            </a:r>
            <a:r>
              <a:rPr sz="1100" spc="-5" dirty="0">
                <a:latin typeface="Arial"/>
                <a:cs typeface="Arial"/>
              </a:rPr>
              <a:t>2.50?:</a:t>
            </a:r>
            <a:endParaRPr sz="1100">
              <a:latin typeface="Arial"/>
              <a:cs typeface="Arial"/>
            </a:endParaRPr>
          </a:p>
        </p:txBody>
      </p:sp>
      <p:sp>
        <p:nvSpPr>
          <p:cNvPr id="36" name="object 36"/>
          <p:cNvSpPr txBox="1"/>
          <p:nvPr/>
        </p:nvSpPr>
        <p:spPr>
          <a:xfrm>
            <a:off x="1140218" y="965478"/>
            <a:ext cx="1607820" cy="708025"/>
          </a:xfrm>
          <a:prstGeom prst="rect">
            <a:avLst/>
          </a:prstGeom>
        </p:spPr>
        <p:txBody>
          <a:bodyPr vert="horz" wrap="square" lIns="0" tIns="6985" rIns="0" bIns="0" rtlCol="0">
            <a:spAutoFit/>
          </a:bodyPr>
          <a:lstStyle/>
          <a:p>
            <a:pPr marL="12700" marR="777875">
              <a:lnSpc>
                <a:spcPct val="102600"/>
              </a:lnSpc>
              <a:spcBef>
                <a:spcPts val="55"/>
              </a:spcBef>
            </a:pPr>
            <a:r>
              <a:rPr sz="1100" spc="-10" dirty="0">
                <a:solidFill>
                  <a:srgbClr val="0000FF"/>
                </a:solidFill>
                <a:latin typeface="Arial"/>
                <a:cs typeface="Arial"/>
              </a:rPr>
              <a:t>SELECT</a:t>
            </a:r>
            <a:r>
              <a:rPr sz="1100" spc="-65" dirty="0">
                <a:solidFill>
                  <a:srgbClr val="0000FF"/>
                </a:solidFill>
                <a:latin typeface="Arial"/>
                <a:cs typeface="Arial"/>
              </a:rPr>
              <a:t> </a:t>
            </a:r>
            <a:r>
              <a:rPr sz="1100" spc="-10" dirty="0">
                <a:solidFill>
                  <a:srgbClr val="0000FF"/>
                </a:solidFill>
                <a:latin typeface="Arial"/>
                <a:cs typeface="Arial"/>
              </a:rPr>
              <a:t>pub  </a:t>
            </a:r>
            <a:r>
              <a:rPr sz="1100" spc="-15" dirty="0">
                <a:solidFill>
                  <a:srgbClr val="0000FF"/>
                </a:solidFill>
                <a:latin typeface="Arial"/>
                <a:cs typeface="Arial"/>
              </a:rPr>
              <a:t>FROM</a:t>
            </a:r>
            <a:r>
              <a:rPr sz="1100" spc="-40" dirty="0">
                <a:solidFill>
                  <a:srgbClr val="0000FF"/>
                </a:solidFill>
                <a:latin typeface="Arial"/>
                <a:cs typeface="Arial"/>
              </a:rPr>
              <a:t> </a:t>
            </a:r>
            <a:r>
              <a:rPr sz="1100" spc="-5" dirty="0">
                <a:solidFill>
                  <a:srgbClr val="0000FF"/>
                </a:solidFill>
                <a:latin typeface="Arial"/>
                <a:cs typeface="Arial"/>
              </a:rPr>
              <a:t>Sells</a:t>
            </a:r>
            <a:endParaRPr sz="1100" dirty="0">
              <a:latin typeface="Arial"/>
              <a:cs typeface="Arial"/>
            </a:endParaRPr>
          </a:p>
          <a:p>
            <a:pPr marL="12700" marR="5080">
              <a:lnSpc>
                <a:spcPct val="102600"/>
              </a:lnSpc>
            </a:pPr>
            <a:r>
              <a:rPr sz="1100" spc="-10" dirty="0">
                <a:solidFill>
                  <a:srgbClr val="0000FF"/>
                </a:solidFill>
                <a:latin typeface="Arial"/>
                <a:cs typeface="Arial"/>
              </a:rPr>
              <a:t>WHERE </a:t>
            </a:r>
            <a:r>
              <a:rPr sz="1100" spc="-5" dirty="0">
                <a:solidFill>
                  <a:srgbClr val="0000FF"/>
                </a:solidFill>
                <a:latin typeface="Arial"/>
                <a:cs typeface="Arial"/>
              </a:rPr>
              <a:t>beer=’Bad</a:t>
            </a:r>
            <a:r>
              <a:rPr sz="1100" spc="-80" dirty="0">
                <a:solidFill>
                  <a:srgbClr val="0000FF"/>
                </a:solidFill>
                <a:latin typeface="Arial"/>
                <a:cs typeface="Arial"/>
              </a:rPr>
              <a:t> </a:t>
            </a:r>
            <a:r>
              <a:rPr sz="1100" spc="-5" dirty="0">
                <a:solidFill>
                  <a:srgbClr val="0000FF"/>
                </a:solidFill>
                <a:latin typeface="Arial"/>
                <a:cs typeface="Arial"/>
              </a:rPr>
              <a:t>Habit’  </a:t>
            </a:r>
            <a:r>
              <a:rPr sz="1100" spc="-10" dirty="0">
                <a:solidFill>
                  <a:srgbClr val="0000FF"/>
                </a:solidFill>
                <a:latin typeface="Arial"/>
                <a:cs typeface="Arial"/>
              </a:rPr>
              <a:t>AND </a:t>
            </a:r>
            <a:r>
              <a:rPr sz="1100" spc="-5" dirty="0">
                <a:solidFill>
                  <a:srgbClr val="0000FF"/>
                </a:solidFill>
                <a:latin typeface="Arial"/>
                <a:cs typeface="Arial"/>
              </a:rPr>
              <a:t>price </a:t>
            </a:r>
            <a:r>
              <a:rPr sz="1100" spc="-10" dirty="0">
                <a:solidFill>
                  <a:srgbClr val="0000FF"/>
                </a:solidFill>
                <a:latin typeface="Arial"/>
                <a:cs typeface="Arial"/>
              </a:rPr>
              <a:t>&lt;</a:t>
            </a:r>
            <a:r>
              <a:rPr sz="1100" spc="-15" dirty="0">
                <a:solidFill>
                  <a:srgbClr val="0000FF"/>
                </a:solidFill>
                <a:latin typeface="Arial"/>
                <a:cs typeface="Arial"/>
              </a:rPr>
              <a:t> </a:t>
            </a:r>
            <a:r>
              <a:rPr sz="1100" spc="-5" dirty="0">
                <a:solidFill>
                  <a:srgbClr val="0000FF"/>
                </a:solidFill>
                <a:latin typeface="Arial"/>
                <a:cs typeface="Arial"/>
              </a:rPr>
              <a:t>2.50;</a:t>
            </a:r>
            <a:endParaRPr sz="1100" dirty="0">
              <a:latin typeface="Arial"/>
              <a:cs typeface="Arial"/>
            </a:endParaRPr>
          </a:p>
        </p:txBody>
      </p:sp>
      <p:sp>
        <p:nvSpPr>
          <p:cNvPr id="37" name="object 37"/>
          <p:cNvSpPr/>
          <p:nvPr/>
        </p:nvSpPr>
        <p:spPr>
          <a:xfrm>
            <a:off x="1325206" y="2374874"/>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
        <p:nvSpPr>
          <p:cNvPr id="38" name="object 38"/>
          <p:cNvSpPr/>
          <p:nvPr/>
        </p:nvSpPr>
        <p:spPr>
          <a:xfrm>
            <a:off x="1325206" y="2552001"/>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
        <p:nvSpPr>
          <p:cNvPr id="39" name="object 39"/>
          <p:cNvSpPr/>
          <p:nvPr/>
        </p:nvSpPr>
        <p:spPr>
          <a:xfrm>
            <a:off x="1325206" y="2577312"/>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
        <p:nvSpPr>
          <p:cNvPr id="40" name="object 40"/>
          <p:cNvSpPr/>
          <p:nvPr/>
        </p:nvSpPr>
        <p:spPr>
          <a:xfrm>
            <a:off x="1325206" y="257984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1" name="object 41"/>
          <p:cNvSpPr/>
          <p:nvPr/>
        </p:nvSpPr>
        <p:spPr>
          <a:xfrm>
            <a:off x="2562796" y="257984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2" name="object 42"/>
          <p:cNvSpPr/>
          <p:nvPr/>
        </p:nvSpPr>
        <p:spPr>
          <a:xfrm>
            <a:off x="1325206" y="2751925"/>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3" name="object 43"/>
          <p:cNvSpPr txBox="1"/>
          <p:nvPr/>
        </p:nvSpPr>
        <p:spPr>
          <a:xfrm>
            <a:off x="167297" y="1875623"/>
            <a:ext cx="2393315" cy="103759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hlinkClick r:id="" action="ppaction://noaction"/>
              </a:rPr>
              <a:t>(See Sells</a:t>
            </a:r>
            <a:r>
              <a:rPr sz="1100" spc="-10" dirty="0">
                <a:latin typeface="Arial"/>
                <a:cs typeface="Arial"/>
                <a:hlinkClick r:id="" action="ppaction://noaction"/>
              </a:rPr>
              <a:t> table)</a:t>
            </a:r>
            <a:endParaRPr sz="1100">
              <a:latin typeface="Arial"/>
              <a:cs typeface="Arial"/>
            </a:endParaRPr>
          </a:p>
          <a:p>
            <a:pPr>
              <a:lnSpc>
                <a:spcPct val="100000"/>
              </a:lnSpc>
            </a:pPr>
            <a:endParaRPr sz="1300">
              <a:latin typeface="Times New Roman"/>
              <a:cs typeface="Times New Roman"/>
            </a:endParaRPr>
          </a:p>
          <a:p>
            <a:pPr marL="1233805">
              <a:lnSpc>
                <a:spcPct val="100000"/>
              </a:lnSpc>
              <a:spcBef>
                <a:spcPts val="895"/>
              </a:spcBef>
            </a:pPr>
            <a:r>
              <a:rPr sz="1100" b="1" spc="-10" dirty="0">
                <a:latin typeface="Arial"/>
                <a:cs typeface="Arial"/>
              </a:rPr>
              <a:t>pub</a:t>
            </a:r>
            <a:endParaRPr sz="1100">
              <a:latin typeface="Arial"/>
              <a:cs typeface="Arial"/>
            </a:endParaRPr>
          </a:p>
          <a:p>
            <a:pPr marL="1233805" marR="65405">
              <a:lnSpc>
                <a:spcPct val="102600"/>
              </a:lnSpc>
              <a:spcBef>
                <a:spcPts val="240"/>
              </a:spcBef>
            </a:pPr>
            <a:r>
              <a:rPr sz="1100" spc="-5" dirty="0">
                <a:latin typeface="Arial"/>
                <a:cs typeface="Arial"/>
              </a:rPr>
              <a:t>Horse </a:t>
            </a:r>
            <a:r>
              <a:rPr sz="1100" spc="-10" dirty="0">
                <a:latin typeface="Arial"/>
                <a:cs typeface="Arial"/>
              </a:rPr>
              <a:t>and</a:t>
            </a:r>
            <a:r>
              <a:rPr sz="1100" spc="-70" dirty="0">
                <a:latin typeface="Arial"/>
                <a:cs typeface="Arial"/>
              </a:rPr>
              <a:t> </a:t>
            </a:r>
            <a:r>
              <a:rPr sz="1100" spc="-10" dirty="0">
                <a:latin typeface="Arial"/>
                <a:cs typeface="Arial"/>
              </a:rPr>
              <a:t>Hound  March</a:t>
            </a:r>
            <a:r>
              <a:rPr sz="1100" spc="-15" dirty="0">
                <a:latin typeface="Arial"/>
                <a:cs typeface="Arial"/>
              </a:rPr>
              <a:t> </a:t>
            </a:r>
            <a:r>
              <a:rPr sz="1100" spc="-10" dirty="0">
                <a:latin typeface="Arial"/>
                <a:cs typeface="Arial"/>
              </a:rPr>
              <a:t>Hare</a:t>
            </a:r>
            <a:endParaRPr sz="1100">
              <a:latin typeface="Arial"/>
              <a:cs typeface="Arial"/>
            </a:endParaRPr>
          </a:p>
        </p:txBody>
      </p:sp>
      <p:sp>
        <p:nvSpPr>
          <p:cNvPr id="44" name="object 44"/>
          <p:cNvSpPr/>
          <p:nvPr/>
        </p:nvSpPr>
        <p:spPr>
          <a:xfrm>
            <a:off x="2562796" y="2751925"/>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5" name="object 45"/>
          <p:cNvSpPr/>
          <p:nvPr/>
        </p:nvSpPr>
        <p:spPr>
          <a:xfrm>
            <a:off x="1325206" y="2926524"/>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57484"/>
            <a:ext cx="513715" cy="607060"/>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ADADE0"/>
                </a:solidFill>
                <a:latin typeface="Arial"/>
                <a:cs typeface="Arial"/>
                <a:hlinkClick r:id="rId2" action="ppaction://hlinksldjump"/>
              </a:rPr>
              <a:t>SQL</a:t>
            </a:r>
            <a:r>
              <a:rPr sz="600" spc="-5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Overview</a:t>
            </a:r>
            <a:endParaRPr sz="600">
              <a:latin typeface="Arial"/>
              <a:cs typeface="Arial"/>
            </a:endParaRPr>
          </a:p>
          <a:p>
            <a:pPr marL="12700" marR="159385">
              <a:lnSpc>
                <a:spcPts val="700"/>
              </a:lnSpc>
              <a:spcBef>
                <a:spcPts val="560"/>
              </a:spcBef>
            </a:pPr>
            <a:r>
              <a:rPr sz="600" spc="-5" dirty="0">
                <a:solidFill>
                  <a:srgbClr val="ADADE0"/>
                </a:solidFill>
                <a:latin typeface="Arial"/>
                <a:cs typeface="Arial"/>
                <a:hlinkClick r:id="rId3" action="ppaction://hlinksldjump"/>
              </a:rPr>
              <a:t>SQL</a:t>
            </a:r>
            <a:r>
              <a:rPr sz="600" spc="-7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Data  Definition</a:t>
            </a:r>
            <a:endParaRPr sz="600">
              <a:latin typeface="Arial"/>
              <a:cs typeface="Arial"/>
            </a:endParaRPr>
          </a:p>
          <a:p>
            <a:pPr marL="12700">
              <a:lnSpc>
                <a:spcPct val="100000"/>
              </a:lnSpc>
              <a:spcBef>
                <a:spcPts val="495"/>
              </a:spcBef>
            </a:pPr>
            <a:r>
              <a:rPr sz="600" spc="-5" dirty="0">
                <a:solidFill>
                  <a:srgbClr val="ADADE0"/>
                </a:solidFill>
                <a:latin typeface="Arial"/>
                <a:cs typeface="Arial"/>
                <a:hlinkClick r:id="rId4" action="ppaction://hlinksldjump"/>
              </a:rPr>
              <a:t>SQL</a:t>
            </a:r>
            <a:r>
              <a:rPr sz="600" spc="-20" dirty="0">
                <a:solidFill>
                  <a:srgbClr val="ADADE0"/>
                </a:solidFill>
                <a:latin typeface="Arial"/>
                <a:cs typeface="Arial"/>
                <a:hlinkClick r:id="rId4" action="ppaction://hlinksldjump"/>
              </a:rPr>
              <a:t> </a:t>
            </a:r>
            <a:r>
              <a:rPr sz="600" spc="-5" dirty="0">
                <a:solidFill>
                  <a:srgbClr val="ADADE0"/>
                </a:solidFill>
                <a:latin typeface="Arial"/>
                <a:cs typeface="Arial"/>
                <a:hlinkClick r:id="rId4"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 action="ppaction://noaction"/>
              </a:rPr>
              <a:t>Single table</a:t>
            </a:r>
            <a:r>
              <a:rPr sz="400" spc="-35" dirty="0">
                <a:latin typeface="Arial"/>
                <a:cs typeface="Arial"/>
                <a:hlinkClick r:id="" action="ppaction://noaction"/>
              </a:rPr>
              <a:t> </a:t>
            </a:r>
            <a:r>
              <a:rPr sz="400" dirty="0">
                <a:latin typeface="Arial"/>
                <a:cs typeface="Arial"/>
                <a:hlinkClick r:id="" action="ppaction://noaction"/>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1595120" cy="244475"/>
          </a:xfrm>
          <a:prstGeom prst="rect">
            <a:avLst/>
          </a:prstGeom>
        </p:spPr>
        <p:txBody>
          <a:bodyPr vert="horz" wrap="square" lIns="0" tIns="17145" rIns="0" bIns="0" rtlCol="0">
            <a:spAutoFit/>
          </a:bodyPr>
          <a:lstStyle/>
          <a:p>
            <a:pPr marL="12700">
              <a:lnSpc>
                <a:spcPct val="100000"/>
              </a:lnSpc>
              <a:spcBef>
                <a:spcPts val="135"/>
              </a:spcBef>
            </a:pPr>
            <a:r>
              <a:rPr spc="15" dirty="0"/>
              <a:t>Selection</a:t>
            </a:r>
            <a:r>
              <a:rPr spc="-65" dirty="0"/>
              <a:t> </a:t>
            </a:r>
            <a:r>
              <a:rPr spc="15" dirty="0"/>
              <a:t>Condition</a:t>
            </a:r>
          </a:p>
        </p:txBody>
      </p:sp>
      <p:sp>
        <p:nvSpPr>
          <p:cNvPr id="35" name="object 35"/>
          <p:cNvSpPr txBox="1"/>
          <p:nvPr/>
        </p:nvSpPr>
        <p:spPr>
          <a:xfrm>
            <a:off x="141897" y="710881"/>
            <a:ext cx="3556635" cy="2140585"/>
          </a:xfrm>
          <a:prstGeom prst="rect">
            <a:avLst/>
          </a:prstGeom>
        </p:spPr>
        <p:txBody>
          <a:bodyPr vert="horz" wrap="square" lIns="0" tIns="6985" rIns="0" bIns="0" rtlCol="0">
            <a:spAutoFit/>
          </a:bodyPr>
          <a:lstStyle/>
          <a:p>
            <a:pPr marL="38100" marR="30480">
              <a:lnSpc>
                <a:spcPct val="102699"/>
              </a:lnSpc>
              <a:spcBef>
                <a:spcPts val="55"/>
              </a:spcBef>
            </a:pPr>
            <a:r>
              <a:rPr sz="1100" spc="-10" dirty="0">
                <a:latin typeface="Arial"/>
                <a:cs typeface="Arial"/>
              </a:rPr>
              <a:t>A </a:t>
            </a:r>
            <a:r>
              <a:rPr sz="1100" spc="-5" dirty="0">
                <a:latin typeface="Arial"/>
                <a:cs typeface="Arial"/>
              </a:rPr>
              <a:t>boolean </a:t>
            </a:r>
            <a:r>
              <a:rPr sz="1100" spc="-10" dirty="0">
                <a:latin typeface="Arial"/>
                <a:cs typeface="Arial"/>
              </a:rPr>
              <a:t>expression </a:t>
            </a:r>
            <a:r>
              <a:rPr sz="1100" spc="-5" dirty="0">
                <a:latin typeface="Arial"/>
                <a:cs typeface="Arial"/>
              </a:rPr>
              <a:t>in the </a:t>
            </a:r>
            <a:r>
              <a:rPr sz="1100" spc="-10" dirty="0">
                <a:solidFill>
                  <a:srgbClr val="0000FF"/>
                </a:solidFill>
                <a:latin typeface="Arial"/>
                <a:cs typeface="Arial"/>
              </a:rPr>
              <a:t>WHERE </a:t>
            </a:r>
            <a:r>
              <a:rPr sz="1100" spc="-5" dirty="0">
                <a:latin typeface="Arial"/>
                <a:cs typeface="Arial"/>
              </a:rPr>
              <a:t>clause </a:t>
            </a:r>
            <a:r>
              <a:rPr sz="1100" spc="-20" dirty="0">
                <a:latin typeface="Arial"/>
                <a:cs typeface="Arial"/>
              </a:rPr>
              <a:t>may </a:t>
            </a:r>
            <a:r>
              <a:rPr sz="1100" spc="-5" dirty="0">
                <a:latin typeface="Arial"/>
                <a:cs typeface="Arial"/>
              </a:rPr>
              <a:t>contain  the </a:t>
            </a:r>
            <a:r>
              <a:rPr sz="1100" spc="-15" dirty="0">
                <a:latin typeface="Arial"/>
                <a:cs typeface="Arial"/>
              </a:rPr>
              <a:t>following</a:t>
            </a:r>
            <a:r>
              <a:rPr sz="1100" spc="-10" dirty="0">
                <a:latin typeface="Arial"/>
                <a:cs typeface="Arial"/>
              </a:rPr>
              <a:t> operators:</a:t>
            </a:r>
            <a:endParaRPr sz="1100" dirty="0">
              <a:latin typeface="Arial"/>
              <a:cs typeface="Arial"/>
            </a:endParaRPr>
          </a:p>
          <a:p>
            <a:pPr marL="167005">
              <a:lnSpc>
                <a:spcPct val="100000"/>
              </a:lnSpc>
              <a:spcBef>
                <a:spcPts val="334"/>
              </a:spcBef>
            </a:pPr>
            <a:r>
              <a:rPr sz="1200" spc="127" baseline="6944" dirty="0">
                <a:solidFill>
                  <a:srgbClr val="3333B2"/>
                </a:solidFill>
                <a:latin typeface="Arial Black"/>
                <a:cs typeface="Arial Black"/>
              </a:rPr>
              <a:t>e </a:t>
            </a:r>
            <a:r>
              <a:rPr sz="1100" spc="-10" dirty="0">
                <a:solidFill>
                  <a:srgbClr val="0000FF"/>
                </a:solidFill>
                <a:latin typeface="Arial"/>
                <a:cs typeface="Arial"/>
              </a:rPr>
              <a:t>AND</a:t>
            </a:r>
            <a:r>
              <a:rPr sz="1100" spc="-10" dirty="0">
                <a:latin typeface="Arial"/>
                <a:cs typeface="Arial"/>
              </a:rPr>
              <a:t>: </a:t>
            </a:r>
            <a:r>
              <a:rPr sz="1100" spc="-5" dirty="0">
                <a:solidFill>
                  <a:srgbClr val="0000FF"/>
                </a:solidFill>
                <a:latin typeface="Arial"/>
                <a:cs typeface="Arial"/>
              </a:rPr>
              <a:t>beer=’Bad Habit’ </a:t>
            </a:r>
            <a:r>
              <a:rPr sz="1100" spc="-10" dirty="0">
                <a:solidFill>
                  <a:srgbClr val="0000FF"/>
                </a:solidFill>
                <a:latin typeface="Arial"/>
                <a:cs typeface="Arial"/>
              </a:rPr>
              <a:t>AND </a:t>
            </a:r>
            <a:r>
              <a:rPr sz="1100" spc="-5" dirty="0">
                <a:solidFill>
                  <a:srgbClr val="0000FF"/>
                </a:solidFill>
                <a:latin typeface="Arial"/>
                <a:cs typeface="Arial"/>
              </a:rPr>
              <a:t>price </a:t>
            </a:r>
            <a:r>
              <a:rPr sz="1100" spc="-10" dirty="0">
                <a:solidFill>
                  <a:srgbClr val="0000FF"/>
                </a:solidFill>
                <a:latin typeface="Arial"/>
                <a:cs typeface="Arial"/>
              </a:rPr>
              <a:t>&lt;</a:t>
            </a:r>
            <a:r>
              <a:rPr sz="1100" spc="-170" dirty="0">
                <a:solidFill>
                  <a:srgbClr val="0000FF"/>
                </a:solidFill>
                <a:latin typeface="Arial"/>
                <a:cs typeface="Arial"/>
              </a:rPr>
              <a:t> </a:t>
            </a:r>
            <a:r>
              <a:rPr sz="1100" spc="-5" dirty="0">
                <a:solidFill>
                  <a:srgbClr val="0000FF"/>
                </a:solidFill>
                <a:latin typeface="Arial"/>
                <a:cs typeface="Arial"/>
              </a:rPr>
              <a:t>2.50</a:t>
            </a:r>
            <a:endParaRPr sz="1100" dirty="0">
              <a:latin typeface="Arial"/>
              <a:cs typeface="Arial"/>
            </a:endParaRPr>
          </a:p>
          <a:p>
            <a:pPr marL="314960" marR="1163320" indent="-148590">
              <a:lnSpc>
                <a:spcPct val="102600"/>
              </a:lnSpc>
              <a:spcBef>
                <a:spcPts val="295"/>
              </a:spcBef>
            </a:pPr>
            <a:r>
              <a:rPr sz="1200" spc="127" baseline="6944" dirty="0">
                <a:solidFill>
                  <a:srgbClr val="3333B2"/>
                </a:solidFill>
                <a:latin typeface="Arial Black"/>
                <a:cs typeface="Arial Black"/>
              </a:rPr>
              <a:t>e </a:t>
            </a:r>
            <a:r>
              <a:rPr sz="1100" spc="-20" dirty="0">
                <a:solidFill>
                  <a:srgbClr val="0000FF"/>
                </a:solidFill>
                <a:latin typeface="Arial"/>
                <a:cs typeface="Arial"/>
              </a:rPr>
              <a:t>NOT</a:t>
            </a:r>
            <a:r>
              <a:rPr sz="1100" spc="-20" dirty="0">
                <a:latin typeface="Arial"/>
                <a:cs typeface="Arial"/>
              </a:rPr>
              <a:t>: </a:t>
            </a:r>
            <a:r>
              <a:rPr sz="1100" spc="-25" dirty="0">
                <a:solidFill>
                  <a:srgbClr val="0000FF"/>
                </a:solidFill>
                <a:latin typeface="Arial"/>
                <a:cs typeface="Arial"/>
              </a:rPr>
              <a:t>NOT </a:t>
            </a:r>
            <a:r>
              <a:rPr sz="1100" spc="-5" dirty="0">
                <a:solidFill>
                  <a:srgbClr val="0000FF"/>
                </a:solidFill>
                <a:latin typeface="Arial"/>
                <a:cs typeface="Arial"/>
              </a:rPr>
              <a:t>beer=’Bad Habit’ </a:t>
            </a:r>
            <a:r>
              <a:rPr sz="1100" spc="-5" dirty="0">
                <a:latin typeface="Arial"/>
                <a:cs typeface="Arial"/>
              </a:rPr>
              <a:t> </a:t>
            </a:r>
            <a:r>
              <a:rPr sz="1100" spc="-10" dirty="0">
                <a:latin typeface="Arial"/>
                <a:cs typeface="Arial"/>
              </a:rPr>
              <a:t>Equivalently: </a:t>
            </a:r>
            <a:r>
              <a:rPr sz="1100" spc="-5" dirty="0">
                <a:solidFill>
                  <a:srgbClr val="0000FF"/>
                </a:solidFill>
                <a:latin typeface="Arial"/>
                <a:cs typeface="Arial"/>
              </a:rPr>
              <a:t>beer </a:t>
            </a:r>
            <a:r>
              <a:rPr sz="1100" i="1" spc="-55" dirty="0">
                <a:solidFill>
                  <a:srgbClr val="0000FF"/>
                </a:solidFill>
                <a:latin typeface="Verdana"/>
                <a:cs typeface="Verdana"/>
              </a:rPr>
              <a:t>&lt;&gt; </a:t>
            </a:r>
            <a:r>
              <a:rPr sz="1100" spc="-5" dirty="0">
                <a:solidFill>
                  <a:srgbClr val="0000FF"/>
                </a:solidFill>
                <a:latin typeface="Arial"/>
                <a:cs typeface="Arial"/>
              </a:rPr>
              <a:t>’Bad Habit’</a:t>
            </a:r>
            <a:endParaRPr sz="1100" dirty="0">
              <a:latin typeface="Arial"/>
              <a:cs typeface="Arial"/>
            </a:endParaRPr>
          </a:p>
          <a:p>
            <a:pPr marL="38100" marR="323215" indent="128905">
              <a:lnSpc>
                <a:spcPct val="125299"/>
              </a:lnSpc>
            </a:pPr>
            <a:r>
              <a:rPr sz="1200" spc="127" baseline="6944" dirty="0">
                <a:solidFill>
                  <a:srgbClr val="3333B2"/>
                </a:solidFill>
                <a:latin typeface="Arial Black"/>
                <a:cs typeface="Arial Black"/>
              </a:rPr>
              <a:t>e </a:t>
            </a:r>
            <a:r>
              <a:rPr sz="1100" spc="-10" dirty="0">
                <a:solidFill>
                  <a:srgbClr val="0000FF"/>
                </a:solidFill>
                <a:latin typeface="Arial"/>
                <a:cs typeface="Arial"/>
              </a:rPr>
              <a:t>OR</a:t>
            </a:r>
            <a:r>
              <a:rPr sz="1100" spc="-10" dirty="0">
                <a:latin typeface="Arial"/>
                <a:cs typeface="Arial"/>
              </a:rPr>
              <a:t>: </a:t>
            </a:r>
            <a:r>
              <a:rPr sz="1100" spc="-5" dirty="0">
                <a:solidFill>
                  <a:srgbClr val="0000FF"/>
                </a:solidFill>
                <a:latin typeface="Arial"/>
                <a:cs typeface="Arial"/>
              </a:rPr>
              <a:t>beer=’Bad Habit’ </a:t>
            </a:r>
            <a:r>
              <a:rPr sz="1100" spc="-10" dirty="0">
                <a:solidFill>
                  <a:srgbClr val="0000FF"/>
                </a:solidFill>
                <a:latin typeface="Arial"/>
                <a:cs typeface="Arial"/>
              </a:rPr>
              <a:t>OR </a:t>
            </a:r>
            <a:r>
              <a:rPr sz="1100" spc="-5" dirty="0">
                <a:solidFill>
                  <a:srgbClr val="0000FF"/>
                </a:solidFill>
                <a:latin typeface="Arial"/>
                <a:cs typeface="Arial"/>
              </a:rPr>
              <a:t>beer=’Rampant </a:t>
            </a:r>
            <a:r>
              <a:rPr sz="1100" spc="-10" dirty="0">
                <a:solidFill>
                  <a:srgbClr val="0000FF"/>
                </a:solidFill>
                <a:latin typeface="Arial"/>
                <a:cs typeface="Arial"/>
              </a:rPr>
              <a:t>Ram’ </a:t>
            </a:r>
            <a:r>
              <a:rPr sz="1100" spc="-10" dirty="0">
                <a:latin typeface="Arial"/>
                <a:cs typeface="Arial"/>
              </a:rPr>
              <a:t> </a:t>
            </a:r>
            <a:r>
              <a:rPr sz="1100" spc="-5" dirty="0">
                <a:latin typeface="Arial"/>
                <a:cs typeface="Arial"/>
              </a:rPr>
              <a:t>or </a:t>
            </a:r>
            <a:r>
              <a:rPr sz="1100" spc="-15" dirty="0">
                <a:latin typeface="Arial"/>
                <a:cs typeface="Arial"/>
              </a:rPr>
              <a:t>any</a:t>
            </a:r>
            <a:r>
              <a:rPr sz="1100" spc="-10" dirty="0">
                <a:latin typeface="Arial"/>
                <a:cs typeface="Arial"/>
              </a:rPr>
              <a:t> </a:t>
            </a:r>
            <a:r>
              <a:rPr sz="1100" spc="-5" dirty="0">
                <a:latin typeface="Arial"/>
                <a:cs typeface="Arial"/>
              </a:rPr>
              <a:t>combination:</a:t>
            </a:r>
            <a:endParaRPr sz="1100" dirty="0">
              <a:latin typeface="Arial"/>
              <a:cs typeface="Arial"/>
            </a:endParaRPr>
          </a:p>
          <a:p>
            <a:pPr marL="314960" marR="276860" indent="-148590">
              <a:lnSpc>
                <a:spcPct val="102600"/>
              </a:lnSpc>
              <a:spcBef>
                <a:spcPts val="300"/>
              </a:spcBef>
            </a:pPr>
            <a:r>
              <a:rPr sz="1200" spc="127" baseline="6944" dirty="0">
                <a:solidFill>
                  <a:srgbClr val="3333B2"/>
                </a:solidFill>
                <a:latin typeface="Arial Black"/>
                <a:cs typeface="Arial Black"/>
              </a:rPr>
              <a:t>e </a:t>
            </a:r>
            <a:r>
              <a:rPr sz="1100" spc="-5" dirty="0">
                <a:solidFill>
                  <a:srgbClr val="0000FF"/>
                </a:solidFill>
                <a:latin typeface="Arial"/>
                <a:cs typeface="Arial"/>
              </a:rPr>
              <a:t>beer=’Bad Habit’ </a:t>
            </a:r>
            <a:r>
              <a:rPr sz="1100" spc="-10" dirty="0">
                <a:solidFill>
                  <a:srgbClr val="0000FF"/>
                </a:solidFill>
                <a:latin typeface="Arial"/>
                <a:cs typeface="Arial"/>
              </a:rPr>
              <a:t>OR </a:t>
            </a:r>
            <a:r>
              <a:rPr sz="1100" spc="-5" dirty="0">
                <a:solidFill>
                  <a:srgbClr val="0000FF"/>
                </a:solidFill>
                <a:latin typeface="Arial"/>
                <a:cs typeface="Arial"/>
              </a:rPr>
              <a:t>beer=’Rampant </a:t>
            </a:r>
            <a:r>
              <a:rPr sz="1100" spc="-10" dirty="0">
                <a:solidFill>
                  <a:srgbClr val="0000FF"/>
                </a:solidFill>
                <a:latin typeface="Arial"/>
                <a:cs typeface="Arial"/>
              </a:rPr>
              <a:t>Ram’ AND  </a:t>
            </a:r>
            <a:r>
              <a:rPr sz="1100" spc="-5" dirty="0">
                <a:solidFill>
                  <a:srgbClr val="0000FF"/>
                </a:solidFill>
                <a:latin typeface="Arial"/>
                <a:cs typeface="Arial"/>
              </a:rPr>
              <a:t>price </a:t>
            </a:r>
            <a:r>
              <a:rPr sz="1100" spc="-10" dirty="0">
                <a:solidFill>
                  <a:srgbClr val="0000FF"/>
                </a:solidFill>
                <a:latin typeface="Arial"/>
                <a:cs typeface="Arial"/>
              </a:rPr>
              <a:t>&lt; </a:t>
            </a:r>
            <a:r>
              <a:rPr sz="1100" spc="-5" dirty="0">
                <a:solidFill>
                  <a:srgbClr val="0000FF"/>
                </a:solidFill>
                <a:latin typeface="Arial"/>
                <a:cs typeface="Arial"/>
              </a:rPr>
              <a:t>2.50</a:t>
            </a:r>
            <a:endParaRPr sz="1100" dirty="0">
              <a:latin typeface="Arial"/>
              <a:cs typeface="Arial"/>
            </a:endParaRPr>
          </a:p>
          <a:p>
            <a:pPr marL="314960" marR="607060" indent="-148590">
              <a:lnSpc>
                <a:spcPct val="102600"/>
              </a:lnSpc>
              <a:spcBef>
                <a:spcPts val="300"/>
              </a:spcBef>
            </a:pPr>
            <a:r>
              <a:rPr sz="1200" spc="127" baseline="6944" dirty="0">
                <a:solidFill>
                  <a:srgbClr val="3333B2"/>
                </a:solidFill>
                <a:latin typeface="Arial Black"/>
                <a:cs typeface="Arial Black"/>
              </a:rPr>
              <a:t>e </a:t>
            </a:r>
            <a:r>
              <a:rPr sz="1100" spc="-5" dirty="0">
                <a:latin typeface="Arial"/>
                <a:cs typeface="Arial"/>
              </a:rPr>
              <a:t>which is </a:t>
            </a:r>
            <a:r>
              <a:rPr sz="1100" spc="-10" dirty="0">
                <a:latin typeface="Arial"/>
                <a:cs typeface="Arial"/>
              </a:rPr>
              <a:t>equivalent </a:t>
            </a:r>
            <a:r>
              <a:rPr sz="1100" spc="-5" dirty="0">
                <a:latin typeface="Arial"/>
                <a:cs typeface="Arial"/>
              </a:rPr>
              <a:t>to </a:t>
            </a:r>
            <a:r>
              <a:rPr sz="1100" spc="-5" dirty="0">
                <a:solidFill>
                  <a:srgbClr val="0000FF"/>
                </a:solidFill>
                <a:latin typeface="Arial"/>
                <a:cs typeface="Arial"/>
              </a:rPr>
              <a:t>beer=’Bad Habit’ </a:t>
            </a:r>
            <a:r>
              <a:rPr sz="1100" spc="-10" dirty="0">
                <a:solidFill>
                  <a:srgbClr val="0000FF"/>
                </a:solidFill>
                <a:latin typeface="Arial"/>
                <a:cs typeface="Arial"/>
              </a:rPr>
              <a:t>OR  </a:t>
            </a:r>
            <a:r>
              <a:rPr sz="1100" spc="-5" dirty="0">
                <a:solidFill>
                  <a:srgbClr val="0000FF"/>
                </a:solidFill>
                <a:latin typeface="Arial"/>
                <a:cs typeface="Arial"/>
              </a:rPr>
              <a:t>(beer=’Rampant </a:t>
            </a:r>
            <a:r>
              <a:rPr sz="1100" spc="-10" dirty="0">
                <a:solidFill>
                  <a:srgbClr val="0000FF"/>
                </a:solidFill>
                <a:latin typeface="Arial"/>
                <a:cs typeface="Arial"/>
              </a:rPr>
              <a:t>Ram’ AND </a:t>
            </a:r>
            <a:r>
              <a:rPr sz="1100" spc="-5" dirty="0">
                <a:solidFill>
                  <a:srgbClr val="0000FF"/>
                </a:solidFill>
                <a:latin typeface="Arial"/>
                <a:cs typeface="Arial"/>
              </a:rPr>
              <a:t>price </a:t>
            </a:r>
            <a:r>
              <a:rPr sz="1100" spc="-10" dirty="0">
                <a:solidFill>
                  <a:srgbClr val="0000FF"/>
                </a:solidFill>
                <a:latin typeface="Arial"/>
                <a:cs typeface="Arial"/>
              </a:rPr>
              <a:t>&lt;</a:t>
            </a:r>
            <a:r>
              <a:rPr sz="1100" spc="-25" dirty="0">
                <a:solidFill>
                  <a:srgbClr val="0000FF"/>
                </a:solidFill>
                <a:latin typeface="Arial"/>
                <a:cs typeface="Arial"/>
              </a:rPr>
              <a:t> </a:t>
            </a:r>
            <a:r>
              <a:rPr sz="1100" spc="-5" dirty="0">
                <a:solidFill>
                  <a:srgbClr val="0000FF"/>
                </a:solidFill>
                <a:latin typeface="Arial"/>
                <a:cs typeface="Arial"/>
              </a:rPr>
              <a:t>2.50)</a:t>
            </a:r>
            <a:endParaRPr sz="1100" dirty="0">
              <a:latin typeface="Arial"/>
              <a:cs typeface="Arial"/>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206375"/>
            <a:ext cx="3276550" cy="646331"/>
          </a:xfrm>
        </p:spPr>
        <p:txBody>
          <a:bodyPr/>
          <a:lstStyle/>
          <a:p>
            <a:r>
              <a:rPr lang="en-US" dirty="0"/>
              <a:t>Further reading: PDF (sql_tutorial.pdf)</a:t>
            </a:r>
            <a:br>
              <a:rPr lang="en-US" dirty="0"/>
            </a:br>
            <a:br>
              <a:rPr lang="en-US" dirty="0"/>
            </a:br>
            <a:r>
              <a:rPr lang="en-US" dirty="0"/>
              <a:t>and practice: </a:t>
            </a:r>
          </a:p>
        </p:txBody>
      </p:sp>
      <p:sp>
        <p:nvSpPr>
          <p:cNvPr id="4" name="Rectangle 3">
            <a:extLst>
              <a:ext uri="{FF2B5EF4-FFF2-40B4-BE49-F238E27FC236}">
                <a16:creationId xmlns:a16="http://schemas.microsoft.com/office/drawing/2014/main" id="{D85D340E-F027-CCC5-AA00-DB20F55FBDDA}"/>
              </a:ext>
            </a:extLst>
          </p:cNvPr>
          <p:cNvSpPr/>
          <p:nvPr/>
        </p:nvSpPr>
        <p:spPr>
          <a:xfrm>
            <a:off x="242975" y="1416145"/>
            <a:ext cx="3285900" cy="292388"/>
          </a:xfrm>
          <a:prstGeom prst="rect">
            <a:avLst/>
          </a:prstGeom>
        </p:spPr>
        <p:txBody>
          <a:bodyPr wrap="none">
            <a:spAutoFit/>
          </a:bodyPr>
          <a:lstStyle/>
          <a:p>
            <a:r>
              <a:rPr lang="en-US" sz="1300" dirty="0"/>
              <a:t>Practice: https://sqlzoo.net/wiki/SQL_Tutorial</a:t>
            </a:r>
          </a:p>
        </p:txBody>
      </p:sp>
    </p:spTree>
    <p:extLst>
      <p:ext uri="{BB962C8B-B14F-4D97-AF65-F5344CB8AC3E}">
        <p14:creationId xmlns:p14="http://schemas.microsoft.com/office/powerpoint/2010/main" val="3017345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90550" cy="243840"/>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3" action="ppaction://hlinksldjump"/>
              </a:rPr>
              <a:t>SQL</a:t>
            </a:r>
            <a:r>
              <a:rPr sz="600" spc="-1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rId3" action="ppaction://hlinksldjump"/>
              </a:rPr>
              <a:t>Multi-table (join)</a:t>
            </a:r>
            <a:r>
              <a:rPr sz="400" spc="-30" dirty="0">
                <a:latin typeface="Arial"/>
                <a:cs typeface="Arial"/>
                <a:hlinkClick r:id="rId3" action="ppaction://hlinksldjump"/>
              </a:rPr>
              <a:t> </a:t>
            </a:r>
            <a:r>
              <a:rPr sz="400" dirty="0">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872740" cy="244475"/>
          </a:xfrm>
          <a:prstGeom prst="rect">
            <a:avLst/>
          </a:prstGeom>
        </p:spPr>
        <p:txBody>
          <a:bodyPr vert="horz" wrap="square" lIns="0" tIns="17145" rIns="0" bIns="0" rtlCol="0">
            <a:spAutoFit/>
          </a:bodyPr>
          <a:lstStyle/>
          <a:p>
            <a:pPr marL="12700">
              <a:lnSpc>
                <a:spcPct val="100000"/>
              </a:lnSpc>
              <a:spcBef>
                <a:spcPts val="135"/>
              </a:spcBef>
            </a:pPr>
            <a:r>
              <a:rPr spc="10" dirty="0"/>
              <a:t>Retrieving </a:t>
            </a:r>
            <a:r>
              <a:rPr spc="15" dirty="0"/>
              <a:t>data from </a:t>
            </a:r>
            <a:r>
              <a:rPr spc="10" dirty="0"/>
              <a:t>multiple</a:t>
            </a:r>
            <a:r>
              <a:rPr spc="-50" dirty="0"/>
              <a:t> </a:t>
            </a:r>
            <a:r>
              <a:rPr spc="10" dirty="0"/>
              <a:t>tables</a:t>
            </a:r>
          </a:p>
        </p:txBody>
      </p:sp>
      <p:sp>
        <p:nvSpPr>
          <p:cNvPr id="35" name="object 35"/>
          <p:cNvSpPr txBox="1"/>
          <p:nvPr/>
        </p:nvSpPr>
        <p:spPr>
          <a:xfrm>
            <a:off x="270992" y="948852"/>
            <a:ext cx="3475354" cy="1553845"/>
          </a:xfrm>
          <a:prstGeom prst="rect">
            <a:avLst/>
          </a:prstGeom>
        </p:spPr>
        <p:txBody>
          <a:bodyPr vert="horz" wrap="square" lIns="0" tIns="55244" rIns="0" bIns="0" rtlCol="0">
            <a:spAutoFit/>
          </a:bodyPr>
          <a:lstStyle/>
          <a:p>
            <a:pPr marL="38100">
              <a:lnSpc>
                <a:spcPct val="100000"/>
              </a:lnSpc>
              <a:spcBef>
                <a:spcPts val="434"/>
              </a:spcBef>
            </a:pPr>
            <a:r>
              <a:rPr sz="1200" spc="127" baseline="6944" dirty="0">
                <a:solidFill>
                  <a:srgbClr val="3333B2"/>
                </a:solidFill>
                <a:latin typeface="Arial Black"/>
                <a:cs typeface="Arial Black"/>
              </a:rPr>
              <a:t>e </a:t>
            </a:r>
            <a:r>
              <a:rPr lang="en-US" sz="1100" spc="-10" dirty="0">
                <a:latin typeface="Arial"/>
                <a:cs typeface="Arial"/>
              </a:rPr>
              <a:t>L</a:t>
            </a:r>
            <a:r>
              <a:rPr sz="1100" spc="-10" dirty="0">
                <a:latin typeface="Arial"/>
                <a:cs typeface="Arial"/>
              </a:rPr>
              <a:t>ist each table </a:t>
            </a:r>
            <a:r>
              <a:rPr sz="1100" spc="-5" dirty="0">
                <a:latin typeface="Arial"/>
                <a:cs typeface="Arial"/>
              </a:rPr>
              <a:t>required in the </a:t>
            </a:r>
            <a:r>
              <a:rPr sz="1100" spc="-15" dirty="0">
                <a:solidFill>
                  <a:srgbClr val="0000FF"/>
                </a:solidFill>
                <a:latin typeface="Arial"/>
                <a:cs typeface="Arial"/>
              </a:rPr>
              <a:t>FROM</a:t>
            </a:r>
            <a:r>
              <a:rPr sz="1100" spc="-175" dirty="0">
                <a:solidFill>
                  <a:srgbClr val="0000FF"/>
                </a:solidFill>
                <a:latin typeface="Arial"/>
                <a:cs typeface="Arial"/>
              </a:rPr>
              <a:t> </a:t>
            </a:r>
            <a:r>
              <a:rPr sz="1100" spc="-5" dirty="0">
                <a:latin typeface="Arial"/>
                <a:cs typeface="Arial"/>
              </a:rPr>
              <a:t>clause</a:t>
            </a:r>
            <a:endParaRPr sz="1100" dirty="0">
              <a:latin typeface="Arial"/>
              <a:cs typeface="Arial"/>
            </a:endParaRPr>
          </a:p>
          <a:p>
            <a:pPr marL="186055" marR="67310" indent="-148590">
              <a:lnSpc>
                <a:spcPct val="102600"/>
              </a:lnSpc>
              <a:spcBef>
                <a:spcPts val="300"/>
              </a:spcBef>
            </a:pPr>
            <a:r>
              <a:rPr sz="1200" spc="127" baseline="6944" dirty="0">
                <a:solidFill>
                  <a:srgbClr val="3333B2"/>
                </a:solidFill>
                <a:latin typeface="Arial Black"/>
                <a:cs typeface="Arial Black"/>
              </a:rPr>
              <a:t>e </a:t>
            </a:r>
            <a:r>
              <a:rPr sz="1100" spc="-10" dirty="0">
                <a:solidFill>
                  <a:srgbClr val="0000FF"/>
                </a:solidFill>
                <a:latin typeface="Arial"/>
                <a:cs typeface="Arial"/>
              </a:rPr>
              <a:t>SELECT </a:t>
            </a:r>
            <a:r>
              <a:rPr sz="1100" spc="-10" dirty="0">
                <a:latin typeface="Arial"/>
                <a:cs typeface="Arial"/>
              </a:rPr>
              <a:t>and </a:t>
            </a:r>
            <a:r>
              <a:rPr sz="1100" spc="-10" dirty="0">
                <a:solidFill>
                  <a:srgbClr val="0000FF"/>
                </a:solidFill>
                <a:latin typeface="Arial"/>
                <a:cs typeface="Arial"/>
              </a:rPr>
              <a:t>WHERE </a:t>
            </a:r>
            <a:r>
              <a:rPr sz="1100" spc="-5" dirty="0">
                <a:latin typeface="Arial"/>
                <a:cs typeface="Arial"/>
              </a:rPr>
              <a:t>clauses can </a:t>
            </a:r>
            <a:r>
              <a:rPr sz="1100" spc="-15" dirty="0">
                <a:latin typeface="Arial"/>
                <a:cs typeface="Arial"/>
              </a:rPr>
              <a:t>refer </a:t>
            </a:r>
            <a:r>
              <a:rPr sz="1100" spc="-5" dirty="0">
                <a:latin typeface="Arial"/>
                <a:cs typeface="Arial"/>
              </a:rPr>
              <a:t>to attributes  of </a:t>
            </a:r>
            <a:r>
              <a:rPr sz="1100" spc="-15" dirty="0">
                <a:latin typeface="Arial"/>
                <a:cs typeface="Arial"/>
              </a:rPr>
              <a:t>any </a:t>
            </a:r>
            <a:r>
              <a:rPr sz="1100" spc="-5" dirty="0">
                <a:latin typeface="Arial"/>
                <a:cs typeface="Arial"/>
              </a:rPr>
              <a:t>of these </a:t>
            </a:r>
            <a:r>
              <a:rPr sz="1100" spc="-10" dirty="0">
                <a:latin typeface="Arial"/>
                <a:cs typeface="Arial"/>
              </a:rPr>
              <a:t>tables</a:t>
            </a:r>
            <a:endParaRPr sz="1100" dirty="0">
              <a:latin typeface="Arial"/>
              <a:cs typeface="Arial"/>
            </a:endParaRPr>
          </a:p>
          <a:p>
            <a:pPr marL="186055" marR="30480" indent="-148590">
              <a:lnSpc>
                <a:spcPct val="102600"/>
              </a:lnSpc>
              <a:spcBef>
                <a:spcPts val="300"/>
              </a:spcBef>
            </a:pPr>
            <a:r>
              <a:rPr sz="1200" spc="127" baseline="6944" dirty="0">
                <a:solidFill>
                  <a:srgbClr val="3333B2"/>
                </a:solidFill>
                <a:latin typeface="Arial Black"/>
                <a:cs typeface="Arial Black"/>
              </a:rPr>
              <a:t>e </a:t>
            </a:r>
            <a:r>
              <a:rPr lang="en-US" sz="1100" spc="-5" dirty="0">
                <a:latin typeface="Arial"/>
                <a:cs typeface="Arial"/>
              </a:rPr>
              <a:t>U</a:t>
            </a:r>
            <a:r>
              <a:rPr sz="1100" spc="-5" dirty="0">
                <a:latin typeface="Arial"/>
                <a:cs typeface="Arial"/>
              </a:rPr>
              <a:t>sually conditions (such as </a:t>
            </a:r>
            <a:r>
              <a:rPr sz="1100" spc="-10" dirty="0">
                <a:latin typeface="Arial"/>
                <a:cs typeface="Arial"/>
              </a:rPr>
              <a:t>two </a:t>
            </a:r>
            <a:r>
              <a:rPr sz="1100" spc="-5" dirty="0">
                <a:latin typeface="Arial"/>
                <a:cs typeface="Arial"/>
              </a:rPr>
              <a:t>attribute </a:t>
            </a:r>
            <a:r>
              <a:rPr sz="1100" spc="-10" dirty="0">
                <a:latin typeface="Arial"/>
                <a:cs typeface="Arial"/>
              </a:rPr>
              <a:t>values </a:t>
            </a:r>
            <a:r>
              <a:rPr sz="1100" spc="-5" dirty="0">
                <a:latin typeface="Arial"/>
                <a:cs typeface="Arial"/>
              </a:rPr>
              <a:t>being  equal) </a:t>
            </a:r>
            <a:r>
              <a:rPr sz="1100" spc="-10" dirty="0">
                <a:latin typeface="Arial"/>
                <a:cs typeface="Arial"/>
              </a:rPr>
              <a:t>need </a:t>
            </a:r>
            <a:r>
              <a:rPr sz="1100" spc="-5" dirty="0">
                <a:latin typeface="Arial"/>
                <a:cs typeface="Arial"/>
              </a:rPr>
              <a:t>to “connect” the</a:t>
            </a:r>
            <a:r>
              <a:rPr sz="1100" spc="-10" dirty="0">
                <a:latin typeface="Arial"/>
                <a:cs typeface="Arial"/>
              </a:rPr>
              <a:t> tables</a:t>
            </a:r>
            <a:endParaRPr sz="1100" dirty="0">
              <a:latin typeface="Arial"/>
              <a:cs typeface="Arial"/>
            </a:endParaRPr>
          </a:p>
          <a:p>
            <a:pPr marL="186055" marR="143510" indent="-148590">
              <a:lnSpc>
                <a:spcPct val="102600"/>
              </a:lnSpc>
              <a:spcBef>
                <a:spcPts val="300"/>
              </a:spcBef>
            </a:pPr>
            <a:r>
              <a:rPr sz="1200" spc="127" baseline="6944" dirty="0">
                <a:solidFill>
                  <a:srgbClr val="3333B2"/>
                </a:solidFill>
                <a:latin typeface="Arial Black"/>
                <a:cs typeface="Arial Black"/>
              </a:rPr>
              <a:t>e </a:t>
            </a:r>
            <a:r>
              <a:rPr lang="en-US" sz="1100" spc="-5" dirty="0">
                <a:latin typeface="Arial"/>
                <a:cs typeface="Arial"/>
              </a:rPr>
              <a:t>I</a:t>
            </a:r>
            <a:r>
              <a:rPr sz="1100" spc="-5" dirty="0">
                <a:latin typeface="Arial"/>
                <a:cs typeface="Arial"/>
              </a:rPr>
              <a:t>f the </a:t>
            </a:r>
            <a:r>
              <a:rPr sz="1100" spc="-10" dirty="0">
                <a:latin typeface="Arial"/>
                <a:cs typeface="Arial"/>
              </a:rPr>
              <a:t>same </a:t>
            </a:r>
            <a:r>
              <a:rPr sz="1100" spc="-5" dirty="0">
                <a:latin typeface="Arial"/>
                <a:cs typeface="Arial"/>
              </a:rPr>
              <a:t>attribute </a:t>
            </a:r>
            <a:r>
              <a:rPr sz="1100" spc="-10" dirty="0">
                <a:latin typeface="Arial"/>
                <a:cs typeface="Arial"/>
              </a:rPr>
              <a:t>name </a:t>
            </a:r>
            <a:r>
              <a:rPr sz="1100" spc="-5" dirty="0">
                <a:latin typeface="Arial"/>
                <a:cs typeface="Arial"/>
              </a:rPr>
              <a:t>appears in </a:t>
            </a:r>
            <a:r>
              <a:rPr sz="1100" spc="-10" dirty="0">
                <a:latin typeface="Arial"/>
                <a:cs typeface="Arial"/>
              </a:rPr>
              <a:t>two relations,  </a:t>
            </a:r>
            <a:r>
              <a:rPr sz="1100" spc="-15" dirty="0">
                <a:latin typeface="Arial"/>
                <a:cs typeface="Arial"/>
              </a:rPr>
              <a:t>we </a:t>
            </a:r>
            <a:r>
              <a:rPr sz="1100" spc="-5" dirty="0">
                <a:latin typeface="Arial"/>
                <a:cs typeface="Arial"/>
              </a:rPr>
              <a:t>can disambiguate </a:t>
            </a:r>
            <a:r>
              <a:rPr sz="1100" spc="-10" dirty="0">
                <a:latin typeface="Arial"/>
                <a:cs typeface="Arial"/>
              </a:rPr>
              <a:t>them </a:t>
            </a:r>
            <a:r>
              <a:rPr sz="1100" spc="-20" dirty="0">
                <a:latin typeface="Arial"/>
                <a:cs typeface="Arial"/>
              </a:rPr>
              <a:t>by </a:t>
            </a:r>
            <a:r>
              <a:rPr sz="1100" spc="-5" dirty="0">
                <a:latin typeface="Arial"/>
                <a:cs typeface="Arial"/>
              </a:rPr>
              <a:t>using the relation  </a:t>
            </a:r>
            <a:r>
              <a:rPr sz="1100" spc="-10" dirty="0">
                <a:latin typeface="Arial"/>
                <a:cs typeface="Arial"/>
              </a:rPr>
              <a:t>name </a:t>
            </a:r>
            <a:r>
              <a:rPr sz="1100" spc="-5" dirty="0">
                <a:latin typeface="Arial"/>
                <a:cs typeface="Arial"/>
              </a:rPr>
              <a:t>as </a:t>
            </a:r>
            <a:r>
              <a:rPr sz="1100" spc="-10" dirty="0">
                <a:latin typeface="Arial"/>
                <a:cs typeface="Arial"/>
              </a:rPr>
              <a:t>well, e.g.,</a:t>
            </a:r>
            <a:r>
              <a:rPr sz="1100" spc="5" dirty="0">
                <a:latin typeface="Arial"/>
                <a:cs typeface="Arial"/>
              </a:rPr>
              <a:t> </a:t>
            </a:r>
            <a:r>
              <a:rPr sz="1100" spc="-10" dirty="0" err="1">
                <a:solidFill>
                  <a:srgbClr val="0000FF"/>
                </a:solidFill>
                <a:latin typeface="Arial"/>
                <a:cs typeface="Arial"/>
              </a:rPr>
              <a:t>Pubs.location</a:t>
            </a:r>
            <a:endParaRPr sz="1100" dirty="0">
              <a:latin typeface="Arial"/>
              <a:cs typeface="Arial"/>
            </a:endParaRPr>
          </a:p>
        </p:txBody>
      </p:sp>
    </p:spTree>
    <p:extLst>
      <p:ext uri="{BB962C8B-B14F-4D97-AF65-F5344CB8AC3E}">
        <p14:creationId xmlns:p14="http://schemas.microsoft.com/office/powerpoint/2010/main" val="175862911"/>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90550" cy="243840"/>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rId2" action="ppaction://hlinksldjump"/>
              </a:rPr>
              <a:t>Multi-table (join)</a:t>
            </a:r>
            <a:r>
              <a:rPr sz="400" spc="-30" dirty="0">
                <a:latin typeface="Arial"/>
                <a:cs typeface="Arial"/>
                <a:hlinkClick r:id="rId2" action="ppaction://hlinksldjump"/>
              </a:rPr>
              <a:t> </a:t>
            </a:r>
            <a:r>
              <a:rPr sz="400" dirty="0">
                <a:latin typeface="Arial"/>
                <a:cs typeface="Arial"/>
                <a:hlinkClick r:id="rId2"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1468120" cy="244475"/>
          </a:xfrm>
          <a:prstGeom prst="rect">
            <a:avLst/>
          </a:prstGeom>
        </p:spPr>
        <p:txBody>
          <a:bodyPr vert="horz" wrap="square" lIns="0" tIns="17145" rIns="0" bIns="0" rtlCol="0">
            <a:spAutoFit/>
          </a:bodyPr>
          <a:lstStyle/>
          <a:p>
            <a:pPr marL="12700">
              <a:lnSpc>
                <a:spcPct val="100000"/>
              </a:lnSpc>
              <a:spcBef>
                <a:spcPts val="135"/>
              </a:spcBef>
            </a:pPr>
            <a:r>
              <a:rPr spc="15" dirty="0"/>
              <a:t>Joining </a:t>
            </a:r>
            <a:r>
              <a:rPr spc="10" dirty="0"/>
              <a:t>two</a:t>
            </a:r>
            <a:r>
              <a:rPr spc="-85" dirty="0"/>
              <a:t> </a:t>
            </a:r>
            <a:r>
              <a:rPr spc="10" dirty="0"/>
              <a:t>tables</a:t>
            </a:r>
          </a:p>
        </p:txBody>
      </p:sp>
      <p:sp>
        <p:nvSpPr>
          <p:cNvPr id="35" name="object 35"/>
          <p:cNvSpPr txBox="1"/>
          <p:nvPr/>
        </p:nvSpPr>
        <p:spPr>
          <a:xfrm>
            <a:off x="167297" y="339368"/>
            <a:ext cx="240157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Find the </a:t>
            </a:r>
            <a:r>
              <a:rPr sz="1100" spc="-10" dirty="0">
                <a:latin typeface="Arial"/>
                <a:cs typeface="Arial"/>
              </a:rPr>
              <a:t>pubs </a:t>
            </a:r>
            <a:r>
              <a:rPr sz="1100" spc="-5" dirty="0">
                <a:latin typeface="Arial"/>
                <a:cs typeface="Arial"/>
              </a:rPr>
              <a:t>located </a:t>
            </a:r>
            <a:r>
              <a:rPr sz="1100" spc="-10" dirty="0">
                <a:latin typeface="Arial"/>
                <a:cs typeface="Arial"/>
              </a:rPr>
              <a:t>where Bob</a:t>
            </a:r>
            <a:r>
              <a:rPr sz="1100" spc="-20" dirty="0">
                <a:latin typeface="Arial"/>
                <a:cs typeface="Arial"/>
              </a:rPr>
              <a:t> </a:t>
            </a:r>
            <a:r>
              <a:rPr sz="1100" spc="-10" dirty="0">
                <a:latin typeface="Arial"/>
                <a:cs typeface="Arial"/>
              </a:rPr>
              <a:t>lives:</a:t>
            </a:r>
            <a:endParaRPr sz="1100">
              <a:latin typeface="Arial"/>
              <a:cs typeface="Arial"/>
            </a:endParaRPr>
          </a:p>
        </p:txBody>
      </p:sp>
      <p:sp>
        <p:nvSpPr>
          <p:cNvPr id="36" name="object 36"/>
          <p:cNvSpPr txBox="1"/>
          <p:nvPr/>
        </p:nvSpPr>
        <p:spPr>
          <a:xfrm>
            <a:off x="182841" y="1044865"/>
            <a:ext cx="37973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Pubs:</a:t>
            </a:r>
            <a:endParaRPr sz="1100">
              <a:latin typeface="Arial"/>
              <a:cs typeface="Arial"/>
            </a:endParaRPr>
          </a:p>
        </p:txBody>
      </p:sp>
      <p:graphicFrame>
        <p:nvGraphicFramePr>
          <p:cNvPr id="37" name="object 37"/>
          <p:cNvGraphicFramePr>
            <a:graphicFrameLocks noGrp="1"/>
          </p:cNvGraphicFramePr>
          <p:nvPr/>
        </p:nvGraphicFramePr>
        <p:xfrm>
          <a:off x="594918" y="625005"/>
          <a:ext cx="1589405" cy="1067876"/>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351790">
                  <a:extLst>
                    <a:ext uri="{9D8B030D-6E8A-4147-A177-3AD203B41FA5}">
                      <a16:colId xmlns:a16="http://schemas.microsoft.com/office/drawing/2014/main" val="20001"/>
                    </a:ext>
                  </a:extLst>
                </a:gridCol>
              </a:tblGrid>
              <a:tr h="189788">
                <a:tc>
                  <a:txBody>
                    <a:bodyPr/>
                    <a:lstStyle/>
                    <a:p>
                      <a:pPr marL="75565">
                        <a:lnSpc>
                          <a:spcPts val="1190"/>
                        </a:lnSpc>
                      </a:pPr>
                      <a:r>
                        <a:rPr sz="1100" b="1" spc="-10" dirty="0">
                          <a:latin typeface="Arial"/>
                          <a:cs typeface="Arial"/>
                        </a:rPr>
                        <a:t>name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7">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dirty="0">
                          <a:latin typeface="Arial"/>
                          <a:cs typeface="Arial"/>
                        </a:rPr>
                        <a:t>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I</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8">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B</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8">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I</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dirty="0">
                          <a:latin typeface="Arial"/>
                          <a:cs typeface="Arial"/>
                        </a:rPr>
                        <a:t>B</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38" name="object 38"/>
          <p:cNvSpPr txBox="1"/>
          <p:nvPr/>
        </p:nvSpPr>
        <p:spPr>
          <a:xfrm>
            <a:off x="2212886" y="1044865"/>
            <a:ext cx="57912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Arial"/>
                <a:cs typeface="Arial"/>
              </a:rPr>
              <a:t>Drinkers:</a:t>
            </a:r>
            <a:endParaRPr sz="1100">
              <a:latin typeface="Arial"/>
              <a:cs typeface="Arial"/>
            </a:endParaRPr>
          </a:p>
        </p:txBody>
      </p:sp>
      <p:graphicFrame>
        <p:nvGraphicFramePr>
          <p:cNvPr id="39" name="object 39"/>
          <p:cNvGraphicFramePr>
            <a:graphicFrameLocks noGrp="1"/>
          </p:cNvGraphicFramePr>
          <p:nvPr/>
        </p:nvGraphicFramePr>
        <p:xfrm>
          <a:off x="2824200" y="625005"/>
          <a:ext cx="865505" cy="1067878"/>
        </p:xfrm>
        <a:graphic>
          <a:graphicData uri="http://schemas.openxmlformats.org/drawingml/2006/table">
            <a:tbl>
              <a:tblPr firstRow="1" bandRow="1">
                <a:tableStyleId>{2D5ABB26-0587-4C30-8999-92F81FD0307C}</a:tableStyleId>
              </a:tblPr>
              <a:tblGrid>
                <a:gridCol w="513715">
                  <a:extLst>
                    <a:ext uri="{9D8B030D-6E8A-4147-A177-3AD203B41FA5}">
                      <a16:colId xmlns:a16="http://schemas.microsoft.com/office/drawing/2014/main" val="20000"/>
                    </a:ext>
                  </a:extLst>
                </a:gridCol>
                <a:gridCol w="351790">
                  <a:extLst>
                    <a:ext uri="{9D8B030D-6E8A-4147-A177-3AD203B41FA5}">
                      <a16:colId xmlns:a16="http://schemas.microsoft.com/office/drawing/2014/main" val="20001"/>
                    </a:ext>
                  </a:extLst>
                </a:gridCol>
              </a:tblGrid>
              <a:tr h="189788">
                <a:tc>
                  <a:txBody>
                    <a:bodyPr/>
                    <a:lstStyle/>
                    <a:p>
                      <a:pPr marL="75565">
                        <a:lnSpc>
                          <a:spcPts val="1190"/>
                        </a:lnSpc>
                      </a:pPr>
                      <a:r>
                        <a:rPr sz="1100" b="1" spc="-10" dirty="0">
                          <a:latin typeface="Arial"/>
                          <a:cs typeface="Arial"/>
                        </a:rPr>
                        <a:t>name</a:t>
                      </a:r>
                      <a:endParaRPr sz="11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878090">
                <a:tc>
                  <a:txBody>
                    <a:bodyPr/>
                    <a:lstStyle/>
                    <a:p>
                      <a:pPr marL="75565">
                        <a:lnSpc>
                          <a:spcPts val="1290"/>
                        </a:lnSpc>
                      </a:pPr>
                      <a:r>
                        <a:rPr sz="1100" spc="-5" dirty="0">
                          <a:latin typeface="Arial"/>
                          <a:cs typeface="Arial"/>
                        </a:rPr>
                        <a:t>Alice</a:t>
                      </a:r>
                      <a:endParaRPr sz="1100" dirty="0">
                        <a:latin typeface="Arial"/>
                        <a:cs typeface="Arial"/>
                      </a:endParaRPr>
                    </a:p>
                    <a:p>
                      <a:pPr marL="75565" marR="99060">
                        <a:lnSpc>
                          <a:spcPct val="102600"/>
                        </a:lnSpc>
                      </a:pPr>
                      <a:r>
                        <a:rPr sz="1100" spc="-10" dirty="0">
                          <a:latin typeface="Arial"/>
                          <a:cs typeface="Arial"/>
                        </a:rPr>
                        <a:t>Bob  </a:t>
                      </a:r>
                      <a:r>
                        <a:rPr sz="1100" dirty="0">
                          <a:latin typeface="Arial"/>
                          <a:cs typeface="Arial"/>
                        </a:rPr>
                        <a:t>Carol  D</a:t>
                      </a:r>
                      <a:r>
                        <a:rPr sz="1100" spc="-25" dirty="0">
                          <a:latin typeface="Arial"/>
                          <a:cs typeface="Arial"/>
                        </a:rPr>
                        <a:t>a</a:t>
                      </a:r>
                      <a:r>
                        <a:rPr sz="1100" spc="-30" dirty="0">
                          <a:latin typeface="Arial"/>
                          <a:cs typeface="Arial"/>
                        </a:rPr>
                        <a:t>v</a:t>
                      </a:r>
                      <a:r>
                        <a:rPr sz="1100" dirty="0">
                          <a:latin typeface="Arial"/>
                          <a:cs typeface="Arial"/>
                        </a:rPr>
                        <a:t>e  </a:t>
                      </a:r>
                      <a:r>
                        <a:rPr sz="1100" spc="-20" dirty="0">
                          <a:latin typeface="Arial"/>
                          <a:cs typeface="Arial"/>
                        </a:rPr>
                        <a:t>Eve</a:t>
                      </a:r>
                      <a:endParaRPr sz="11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90"/>
                        </a:lnSpc>
                      </a:pPr>
                      <a:r>
                        <a:rPr sz="1100" dirty="0">
                          <a:latin typeface="Arial"/>
                          <a:cs typeface="Arial"/>
                        </a:rPr>
                        <a:t>I</a:t>
                      </a:r>
                    </a:p>
                    <a:p>
                      <a:pPr marL="75565" marR="175895">
                        <a:lnSpc>
                          <a:spcPct val="102600"/>
                        </a:lnSpc>
                      </a:pPr>
                      <a:r>
                        <a:rPr sz="1100" dirty="0">
                          <a:latin typeface="Arial"/>
                          <a:cs typeface="Arial"/>
                        </a:rPr>
                        <a:t>B   </a:t>
                      </a:r>
                      <a:r>
                        <a:rPr sz="1100" spc="-5" dirty="0">
                          <a:latin typeface="Arial"/>
                          <a:cs typeface="Arial"/>
                        </a:rPr>
                        <a:t>I  </a:t>
                      </a:r>
                      <a:r>
                        <a:rPr sz="1100" dirty="0">
                          <a:latin typeface="Arial"/>
                          <a:cs typeface="Arial"/>
                        </a:rPr>
                        <a:t>B  S</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
        <p:nvSpPr>
          <p:cNvPr id="40" name="object 40"/>
          <p:cNvSpPr/>
          <p:nvPr/>
        </p:nvSpPr>
        <p:spPr>
          <a:xfrm>
            <a:off x="1325206" y="2586558"/>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
        <p:nvSpPr>
          <p:cNvPr id="41" name="object 41"/>
          <p:cNvSpPr/>
          <p:nvPr/>
        </p:nvSpPr>
        <p:spPr>
          <a:xfrm>
            <a:off x="1325206" y="2763697"/>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
        <p:nvSpPr>
          <p:cNvPr id="42" name="object 42"/>
          <p:cNvSpPr/>
          <p:nvPr/>
        </p:nvSpPr>
        <p:spPr>
          <a:xfrm>
            <a:off x="1325206" y="2789009"/>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
        <p:nvSpPr>
          <p:cNvPr id="43" name="object 43"/>
          <p:cNvSpPr/>
          <p:nvPr/>
        </p:nvSpPr>
        <p:spPr>
          <a:xfrm>
            <a:off x="1325206" y="2791536"/>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4" name="object 44"/>
          <p:cNvSpPr/>
          <p:nvPr/>
        </p:nvSpPr>
        <p:spPr>
          <a:xfrm>
            <a:off x="2562796" y="2791536"/>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5" name="object 45"/>
          <p:cNvSpPr/>
          <p:nvPr/>
        </p:nvSpPr>
        <p:spPr>
          <a:xfrm>
            <a:off x="1325206" y="2963608"/>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6" name="object 46"/>
          <p:cNvSpPr/>
          <p:nvPr/>
        </p:nvSpPr>
        <p:spPr>
          <a:xfrm>
            <a:off x="2562796" y="2963608"/>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7" name="object 47"/>
          <p:cNvSpPr/>
          <p:nvPr/>
        </p:nvSpPr>
        <p:spPr>
          <a:xfrm>
            <a:off x="1325206" y="313568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8" name="object 48"/>
          <p:cNvSpPr txBox="1"/>
          <p:nvPr/>
        </p:nvSpPr>
        <p:spPr>
          <a:xfrm>
            <a:off x="167297" y="1759710"/>
            <a:ext cx="2393315" cy="1537335"/>
          </a:xfrm>
          <a:prstGeom prst="rect">
            <a:avLst/>
          </a:prstGeom>
        </p:spPr>
        <p:txBody>
          <a:bodyPr vert="horz" wrap="square" lIns="0" tIns="6985" rIns="0" bIns="0" rtlCol="0">
            <a:spAutoFit/>
          </a:bodyPr>
          <a:lstStyle/>
          <a:p>
            <a:pPr marL="12700" marR="1022985">
              <a:lnSpc>
                <a:spcPct val="102699"/>
              </a:lnSpc>
              <a:spcBef>
                <a:spcPts val="55"/>
              </a:spcBef>
            </a:pPr>
            <a:r>
              <a:rPr sz="1100" spc="-10" dirty="0">
                <a:solidFill>
                  <a:srgbClr val="0000FF"/>
                </a:solidFill>
                <a:latin typeface="Arial"/>
                <a:cs typeface="Arial"/>
              </a:rPr>
              <a:t>SELECT Pubs.name  </a:t>
            </a:r>
            <a:r>
              <a:rPr sz="1100" spc="-15" dirty="0">
                <a:solidFill>
                  <a:srgbClr val="0000FF"/>
                </a:solidFill>
                <a:latin typeface="Arial"/>
                <a:cs typeface="Arial"/>
              </a:rPr>
              <a:t>FROM </a:t>
            </a:r>
            <a:r>
              <a:rPr sz="1100" spc="-10" dirty="0">
                <a:solidFill>
                  <a:srgbClr val="0000FF"/>
                </a:solidFill>
                <a:latin typeface="Arial"/>
                <a:cs typeface="Arial"/>
              </a:rPr>
              <a:t>Pubs,</a:t>
            </a:r>
            <a:r>
              <a:rPr sz="1100" spc="-45" dirty="0">
                <a:solidFill>
                  <a:srgbClr val="0000FF"/>
                </a:solidFill>
                <a:latin typeface="Arial"/>
                <a:cs typeface="Arial"/>
              </a:rPr>
              <a:t> </a:t>
            </a:r>
            <a:r>
              <a:rPr sz="1100" spc="-10" dirty="0">
                <a:solidFill>
                  <a:srgbClr val="0000FF"/>
                </a:solidFill>
                <a:latin typeface="Arial"/>
                <a:cs typeface="Arial"/>
              </a:rPr>
              <a:t>Drinkers</a:t>
            </a:r>
            <a:endParaRPr sz="1100" dirty="0">
              <a:latin typeface="Arial"/>
              <a:cs typeface="Arial"/>
            </a:endParaRPr>
          </a:p>
          <a:p>
            <a:pPr marL="12700" marR="454025">
              <a:lnSpc>
                <a:spcPct val="102600"/>
              </a:lnSpc>
            </a:pPr>
            <a:r>
              <a:rPr sz="1100" spc="-10" dirty="0">
                <a:solidFill>
                  <a:srgbClr val="0000FF"/>
                </a:solidFill>
                <a:latin typeface="Arial"/>
                <a:cs typeface="Arial"/>
              </a:rPr>
              <a:t>WHERE Drinkers.name = </a:t>
            </a:r>
            <a:r>
              <a:rPr sz="1100" spc="-5" dirty="0">
                <a:solidFill>
                  <a:srgbClr val="0000FF"/>
                </a:solidFill>
                <a:latin typeface="Arial"/>
                <a:cs typeface="Arial"/>
              </a:rPr>
              <a:t>’Bob’  </a:t>
            </a:r>
            <a:r>
              <a:rPr sz="1100" spc="-10" dirty="0">
                <a:solidFill>
                  <a:srgbClr val="0000FF"/>
                </a:solidFill>
                <a:latin typeface="Arial"/>
                <a:cs typeface="Arial"/>
              </a:rPr>
              <a:t>AND Pubs.loc=Drinkers.loc;</a:t>
            </a:r>
            <a:endParaRPr sz="1100" dirty="0">
              <a:latin typeface="Arial"/>
              <a:cs typeface="Arial"/>
            </a:endParaRPr>
          </a:p>
          <a:p>
            <a:pPr marL="1233805">
              <a:lnSpc>
                <a:spcPct val="100000"/>
              </a:lnSpc>
              <a:spcBef>
                <a:spcPts val="905"/>
              </a:spcBef>
            </a:pPr>
            <a:r>
              <a:rPr sz="1100" b="1" spc="-10" dirty="0">
                <a:latin typeface="Arial"/>
                <a:cs typeface="Arial"/>
              </a:rPr>
              <a:t>name</a:t>
            </a:r>
            <a:endParaRPr sz="1100" dirty="0">
              <a:latin typeface="Arial"/>
              <a:cs typeface="Arial"/>
            </a:endParaRPr>
          </a:p>
          <a:p>
            <a:pPr marL="1233805" marR="65405">
              <a:lnSpc>
                <a:spcPct val="102600"/>
              </a:lnSpc>
              <a:spcBef>
                <a:spcPts val="235"/>
              </a:spcBef>
            </a:pPr>
            <a:r>
              <a:rPr sz="1100" spc="-5" dirty="0">
                <a:latin typeface="Arial"/>
                <a:cs typeface="Arial"/>
              </a:rPr>
              <a:t>Horse </a:t>
            </a:r>
            <a:r>
              <a:rPr sz="1100" spc="-10" dirty="0">
                <a:latin typeface="Arial"/>
                <a:cs typeface="Arial"/>
              </a:rPr>
              <a:t>and</a:t>
            </a:r>
            <a:r>
              <a:rPr sz="1100" spc="-70" dirty="0">
                <a:latin typeface="Arial"/>
                <a:cs typeface="Arial"/>
              </a:rPr>
              <a:t> </a:t>
            </a:r>
            <a:r>
              <a:rPr sz="1100" spc="-10" dirty="0">
                <a:latin typeface="Arial"/>
                <a:cs typeface="Arial"/>
              </a:rPr>
              <a:t>Hound  March Hare  </a:t>
            </a:r>
            <a:r>
              <a:rPr sz="1100" spc="-5" dirty="0">
                <a:latin typeface="Arial"/>
                <a:cs typeface="Arial"/>
              </a:rPr>
              <a:t>White</a:t>
            </a:r>
            <a:r>
              <a:rPr sz="1100" spc="-20" dirty="0">
                <a:latin typeface="Arial"/>
                <a:cs typeface="Arial"/>
              </a:rPr>
              <a:t> </a:t>
            </a:r>
            <a:r>
              <a:rPr sz="1100" spc="-5" dirty="0">
                <a:latin typeface="Arial"/>
                <a:cs typeface="Arial"/>
              </a:rPr>
              <a:t>Horse</a:t>
            </a:r>
            <a:endParaRPr sz="1100" dirty="0">
              <a:latin typeface="Arial"/>
              <a:cs typeface="Arial"/>
            </a:endParaRPr>
          </a:p>
        </p:txBody>
      </p:sp>
      <p:sp>
        <p:nvSpPr>
          <p:cNvPr id="49" name="object 49"/>
          <p:cNvSpPr/>
          <p:nvPr/>
        </p:nvSpPr>
        <p:spPr>
          <a:xfrm>
            <a:off x="2562796" y="313568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50" name="object 50"/>
          <p:cNvSpPr/>
          <p:nvPr/>
        </p:nvSpPr>
        <p:spPr>
          <a:xfrm>
            <a:off x="1325206" y="3310293"/>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594662246"/>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90550" cy="243840"/>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rId2" action="ppaction://hlinksldjump"/>
              </a:rPr>
              <a:t>Multi-table (join)</a:t>
            </a:r>
            <a:r>
              <a:rPr sz="400" spc="-30" dirty="0">
                <a:latin typeface="Arial"/>
                <a:cs typeface="Arial"/>
                <a:hlinkClick r:id="rId2" action="ppaction://hlinksldjump"/>
              </a:rPr>
              <a:t> </a:t>
            </a:r>
            <a:r>
              <a:rPr sz="400" dirty="0">
                <a:latin typeface="Arial"/>
                <a:cs typeface="Arial"/>
                <a:hlinkClick r:id="rId2"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1675474" y="3573411"/>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1947673" y="331436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1934973" y="3301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1947673" y="332706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2202105" y="3301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2214805" y="331436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2214805" y="332706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420620" cy="244475"/>
          </a:xfrm>
          <a:prstGeom prst="rect">
            <a:avLst/>
          </a:prstGeom>
        </p:spPr>
        <p:txBody>
          <a:bodyPr vert="horz" wrap="square" lIns="0" tIns="17145" rIns="0" bIns="0" rtlCol="0">
            <a:spAutoFit/>
          </a:bodyPr>
          <a:lstStyle/>
          <a:p>
            <a:pPr marL="12700">
              <a:lnSpc>
                <a:spcPct val="100000"/>
              </a:lnSpc>
              <a:spcBef>
                <a:spcPts val="135"/>
              </a:spcBef>
            </a:pPr>
            <a:r>
              <a:rPr spc="10" dirty="0"/>
              <a:t>Naively </a:t>
            </a:r>
            <a:r>
              <a:rPr spc="15" dirty="0"/>
              <a:t>computing the </a:t>
            </a:r>
            <a:r>
              <a:rPr spc="10" dirty="0"/>
              <a:t>join</a:t>
            </a:r>
            <a:r>
              <a:rPr spc="-65" dirty="0"/>
              <a:t> </a:t>
            </a:r>
            <a:r>
              <a:rPr spc="10" dirty="0"/>
              <a:t>(1)</a:t>
            </a:r>
          </a:p>
        </p:txBody>
      </p:sp>
      <p:sp>
        <p:nvSpPr>
          <p:cNvPr id="35" name="object 35"/>
          <p:cNvSpPr txBox="1"/>
          <p:nvPr/>
        </p:nvSpPr>
        <p:spPr>
          <a:xfrm>
            <a:off x="163061" y="866205"/>
            <a:ext cx="1379990" cy="134652"/>
          </a:xfrm>
          <a:prstGeom prst="rect">
            <a:avLst/>
          </a:prstGeom>
        </p:spPr>
        <p:txBody>
          <a:bodyPr vert="horz" wrap="square" lIns="0" tIns="11430" rIns="0" bIns="0" rtlCol="0">
            <a:spAutoFit/>
          </a:bodyPr>
          <a:lstStyle/>
          <a:p>
            <a:pPr marL="12700">
              <a:lnSpc>
                <a:spcPct val="100000"/>
              </a:lnSpc>
              <a:spcBef>
                <a:spcPts val="90"/>
              </a:spcBef>
            </a:pPr>
            <a:r>
              <a:rPr sz="800" spc="-10" dirty="0">
                <a:latin typeface="Arial"/>
                <a:cs typeface="Arial"/>
              </a:rPr>
              <a:t>Form </a:t>
            </a:r>
            <a:r>
              <a:rPr sz="800" spc="-5" dirty="0">
                <a:latin typeface="Arial"/>
                <a:cs typeface="Arial"/>
              </a:rPr>
              <a:t>the </a:t>
            </a:r>
            <a:r>
              <a:rPr sz="800" dirty="0">
                <a:latin typeface="Arial"/>
                <a:cs typeface="Arial"/>
              </a:rPr>
              <a:t>Cartesian</a:t>
            </a:r>
            <a:r>
              <a:rPr sz="800" spc="-75" dirty="0">
                <a:latin typeface="Arial"/>
                <a:cs typeface="Arial"/>
              </a:rPr>
              <a:t> </a:t>
            </a:r>
            <a:r>
              <a:rPr sz="800" spc="-5" dirty="0">
                <a:latin typeface="Arial"/>
                <a:cs typeface="Arial"/>
              </a:rPr>
              <a:t>product:</a:t>
            </a:r>
            <a:endParaRPr sz="800" dirty="0">
              <a:latin typeface="Arial"/>
              <a:cs typeface="Arial"/>
            </a:endParaRPr>
          </a:p>
        </p:txBody>
      </p:sp>
      <p:graphicFrame>
        <p:nvGraphicFramePr>
          <p:cNvPr id="36" name="object 36"/>
          <p:cNvGraphicFramePr>
            <a:graphicFrameLocks noGrp="1"/>
          </p:cNvGraphicFramePr>
          <p:nvPr/>
        </p:nvGraphicFramePr>
        <p:xfrm>
          <a:off x="167297" y="1044575"/>
          <a:ext cx="1620518" cy="93637"/>
        </p:xfrm>
        <a:graphic>
          <a:graphicData uri="http://schemas.openxmlformats.org/drawingml/2006/table">
            <a:tbl>
              <a:tblPr firstRow="1" bandRow="1">
                <a:tableStyleId>{2D5ABB26-0587-4C30-8999-92F81FD0307C}</a:tableStyleId>
              </a:tblPr>
              <a:tblGrid>
                <a:gridCol w="746760">
                  <a:extLst>
                    <a:ext uri="{9D8B030D-6E8A-4147-A177-3AD203B41FA5}">
                      <a16:colId xmlns:a16="http://schemas.microsoft.com/office/drawing/2014/main" val="20000"/>
                    </a:ext>
                  </a:extLst>
                </a:gridCol>
                <a:gridCol w="261620">
                  <a:extLst>
                    <a:ext uri="{9D8B030D-6E8A-4147-A177-3AD203B41FA5}">
                      <a16:colId xmlns:a16="http://schemas.microsoft.com/office/drawing/2014/main" val="20001"/>
                    </a:ext>
                  </a:extLst>
                </a:gridCol>
                <a:gridCol w="350519">
                  <a:extLst>
                    <a:ext uri="{9D8B030D-6E8A-4147-A177-3AD203B41FA5}">
                      <a16:colId xmlns:a16="http://schemas.microsoft.com/office/drawing/2014/main" val="20002"/>
                    </a:ext>
                  </a:extLst>
                </a:gridCol>
                <a:gridCol w="261619">
                  <a:extLst>
                    <a:ext uri="{9D8B030D-6E8A-4147-A177-3AD203B41FA5}">
                      <a16:colId xmlns:a16="http://schemas.microsoft.com/office/drawing/2014/main" val="20003"/>
                    </a:ext>
                  </a:extLst>
                </a:gridCol>
              </a:tblGrid>
              <a:tr h="93637">
                <a:tc>
                  <a:txBody>
                    <a:bodyPr/>
                    <a:lstStyle/>
                    <a:p>
                      <a:pPr marL="75565">
                        <a:lnSpc>
                          <a:spcPts val="630"/>
                        </a:lnSpc>
                      </a:pPr>
                      <a:r>
                        <a:rPr sz="600" b="1" spc="-5" dirty="0">
                          <a:latin typeface="Arial"/>
                          <a:cs typeface="Arial"/>
                        </a:rPr>
                        <a:t>name</a:t>
                      </a:r>
                      <a:endParaRPr sz="6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630"/>
                        </a:lnSpc>
                      </a:pPr>
                      <a:r>
                        <a:rPr sz="600" b="1" spc="-5" dirty="0">
                          <a:latin typeface="Arial"/>
                          <a:cs typeface="Arial"/>
                        </a:rPr>
                        <a:t>loc</a:t>
                      </a:r>
                      <a:endParaRPr sz="6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630"/>
                        </a:lnSpc>
                      </a:pPr>
                      <a:r>
                        <a:rPr sz="600" b="1" spc="-5" dirty="0">
                          <a:latin typeface="Arial"/>
                          <a:cs typeface="Arial"/>
                        </a:rPr>
                        <a:t>name</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630"/>
                        </a:lnSpc>
                      </a:pPr>
                      <a:r>
                        <a:rPr sz="600" b="1" spc="-5" dirty="0">
                          <a:latin typeface="Arial"/>
                          <a:cs typeface="Arial"/>
                        </a:rPr>
                        <a:t>loc</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37" name="object 37"/>
          <p:cNvGraphicFramePr>
            <a:graphicFrameLocks noGrp="1"/>
          </p:cNvGraphicFramePr>
          <p:nvPr/>
        </p:nvGraphicFramePr>
        <p:xfrm>
          <a:off x="167297" y="1163511"/>
          <a:ext cx="1620518" cy="2219244"/>
        </p:xfrm>
        <a:graphic>
          <a:graphicData uri="http://schemas.openxmlformats.org/drawingml/2006/table">
            <a:tbl>
              <a:tblPr firstRow="1" bandRow="1">
                <a:tableStyleId>{2D5ABB26-0587-4C30-8999-92F81FD0307C}</a:tableStyleId>
              </a:tblPr>
              <a:tblGrid>
                <a:gridCol w="746760">
                  <a:extLst>
                    <a:ext uri="{9D8B030D-6E8A-4147-A177-3AD203B41FA5}">
                      <a16:colId xmlns:a16="http://schemas.microsoft.com/office/drawing/2014/main" val="20000"/>
                    </a:ext>
                  </a:extLst>
                </a:gridCol>
                <a:gridCol w="261620">
                  <a:extLst>
                    <a:ext uri="{9D8B030D-6E8A-4147-A177-3AD203B41FA5}">
                      <a16:colId xmlns:a16="http://schemas.microsoft.com/office/drawing/2014/main" val="20001"/>
                    </a:ext>
                  </a:extLst>
                </a:gridCol>
                <a:gridCol w="350519">
                  <a:extLst>
                    <a:ext uri="{9D8B030D-6E8A-4147-A177-3AD203B41FA5}">
                      <a16:colId xmlns:a16="http://schemas.microsoft.com/office/drawing/2014/main" val="20002"/>
                    </a:ext>
                  </a:extLst>
                </a:gridCol>
                <a:gridCol w="261619">
                  <a:extLst>
                    <a:ext uri="{9D8B030D-6E8A-4147-A177-3AD203B41FA5}">
                      <a16:colId xmlns:a16="http://schemas.microsoft.com/office/drawing/2014/main" val="20003"/>
                    </a:ext>
                  </a:extLst>
                </a:gridCol>
              </a:tblGrid>
              <a:tr h="83457">
                <a:tc>
                  <a:txBody>
                    <a:bodyPr/>
                    <a:lstStyle/>
                    <a:p>
                      <a:pPr marL="75565">
                        <a:lnSpc>
                          <a:spcPts val="555"/>
                        </a:lnSpc>
                      </a:pPr>
                      <a:r>
                        <a:rPr sz="600" spc="-5" dirty="0">
                          <a:latin typeface="Arial"/>
                          <a:cs typeface="Arial"/>
                        </a:rPr>
                        <a:t>Horse and</a:t>
                      </a:r>
                      <a:r>
                        <a:rPr sz="600" spc="-25" dirty="0">
                          <a:latin typeface="Arial"/>
                          <a:cs typeface="Arial"/>
                        </a:rPr>
                        <a:t> </a:t>
                      </a:r>
                      <a:r>
                        <a:rPr sz="600" spc="-5" dirty="0">
                          <a:latin typeface="Arial"/>
                          <a:cs typeface="Arial"/>
                        </a:rPr>
                        <a:t>Hound</a:t>
                      </a:r>
                      <a:endParaRPr sz="6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R="52069" algn="ctr">
                        <a:lnSpc>
                          <a:spcPts val="55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R="26034" algn="ctr">
                        <a:lnSpc>
                          <a:spcPts val="555"/>
                        </a:lnSpc>
                      </a:pPr>
                      <a:r>
                        <a:rPr sz="600" spc="-5" dirty="0">
                          <a:latin typeface="Arial"/>
                          <a:cs typeface="Arial"/>
                        </a:rPr>
                        <a:t>Alice</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R="80645" algn="ctr">
                        <a:lnSpc>
                          <a:spcPts val="55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0"/>
                  </a:ext>
                </a:extLst>
              </a:tr>
              <a:tr h="88569">
                <a:tc>
                  <a:txBody>
                    <a:bodyPr/>
                    <a:lstStyle/>
                    <a:p>
                      <a:pPr marL="75565">
                        <a:lnSpc>
                          <a:spcPts val="595"/>
                        </a:lnSpc>
                      </a:pPr>
                      <a:r>
                        <a:rPr sz="600" spc="-5" dirty="0">
                          <a:latin typeface="Arial"/>
                          <a:cs typeface="Arial"/>
                        </a:rPr>
                        <a:t>Horse and</a:t>
                      </a:r>
                      <a:r>
                        <a:rPr sz="600" spc="-25" dirty="0">
                          <a:latin typeface="Arial"/>
                          <a:cs typeface="Arial"/>
                        </a:rPr>
                        <a:t> </a:t>
                      </a:r>
                      <a:r>
                        <a:rPr sz="600" spc="-5" dirty="0">
                          <a:latin typeface="Arial"/>
                          <a:cs typeface="Arial"/>
                        </a:rPr>
                        <a:t>Hound</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5244" algn="ctr">
                        <a:lnSpc>
                          <a:spcPts val="595"/>
                        </a:lnSpc>
                      </a:pPr>
                      <a:r>
                        <a:rPr sz="600" spc="-5" dirty="0">
                          <a:latin typeface="Arial"/>
                          <a:cs typeface="Arial"/>
                        </a:rPr>
                        <a:t>Bob</a:t>
                      </a:r>
                      <a:endParaRPr sz="600" dirty="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1"/>
                  </a:ext>
                </a:extLst>
              </a:tr>
              <a:tr h="88569">
                <a:tc>
                  <a:txBody>
                    <a:bodyPr/>
                    <a:lstStyle/>
                    <a:p>
                      <a:pPr marL="75565">
                        <a:lnSpc>
                          <a:spcPts val="595"/>
                        </a:lnSpc>
                      </a:pPr>
                      <a:r>
                        <a:rPr sz="600" spc="-5" dirty="0">
                          <a:latin typeface="Arial"/>
                          <a:cs typeface="Arial"/>
                        </a:rPr>
                        <a:t>Horse and</a:t>
                      </a:r>
                      <a:r>
                        <a:rPr sz="600" spc="-25" dirty="0">
                          <a:latin typeface="Arial"/>
                          <a:cs typeface="Arial"/>
                        </a:rPr>
                        <a:t> </a:t>
                      </a:r>
                      <a:r>
                        <a:rPr sz="600" spc="-5" dirty="0">
                          <a:latin typeface="Arial"/>
                          <a:cs typeface="Arial"/>
                        </a:rPr>
                        <a:t>Hound</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890" algn="ctr">
                        <a:lnSpc>
                          <a:spcPts val="595"/>
                        </a:lnSpc>
                      </a:pPr>
                      <a:r>
                        <a:rPr sz="600" spc="-5" dirty="0">
                          <a:latin typeface="Arial"/>
                          <a:cs typeface="Arial"/>
                        </a:rPr>
                        <a:t>Carol</a:t>
                      </a:r>
                      <a:endParaRPr sz="600" dirty="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88569">
                <a:tc>
                  <a:txBody>
                    <a:bodyPr/>
                    <a:lstStyle/>
                    <a:p>
                      <a:pPr marL="75565">
                        <a:lnSpc>
                          <a:spcPts val="595"/>
                        </a:lnSpc>
                      </a:pPr>
                      <a:r>
                        <a:rPr sz="600" spc="-5" dirty="0">
                          <a:latin typeface="Arial"/>
                          <a:cs typeface="Arial"/>
                        </a:rPr>
                        <a:t>Horse and</a:t>
                      </a:r>
                      <a:r>
                        <a:rPr sz="600" spc="-25" dirty="0">
                          <a:latin typeface="Arial"/>
                          <a:cs typeface="Arial"/>
                        </a:rPr>
                        <a:t> </a:t>
                      </a:r>
                      <a:r>
                        <a:rPr sz="600" spc="-5" dirty="0">
                          <a:latin typeface="Arial"/>
                          <a:cs typeface="Arial"/>
                        </a:rPr>
                        <a:t>Hound</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16510" algn="ctr">
                        <a:lnSpc>
                          <a:spcPts val="595"/>
                        </a:lnSpc>
                      </a:pPr>
                      <a:r>
                        <a:rPr sz="600" spc="-10" dirty="0">
                          <a:latin typeface="Arial"/>
                          <a:cs typeface="Arial"/>
                        </a:rPr>
                        <a:t>Dave</a:t>
                      </a:r>
                      <a:endParaRPr sz="600" dirty="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88569">
                <a:tc>
                  <a:txBody>
                    <a:bodyPr/>
                    <a:lstStyle/>
                    <a:p>
                      <a:pPr marL="75565">
                        <a:lnSpc>
                          <a:spcPts val="595"/>
                        </a:lnSpc>
                      </a:pPr>
                      <a:r>
                        <a:rPr sz="600" spc="-5" dirty="0">
                          <a:latin typeface="Arial"/>
                          <a:cs typeface="Arial"/>
                        </a:rPr>
                        <a:t>Horse and</a:t>
                      </a:r>
                      <a:r>
                        <a:rPr sz="600" spc="-25" dirty="0">
                          <a:latin typeface="Arial"/>
                          <a:cs typeface="Arial"/>
                        </a:rPr>
                        <a:t> </a:t>
                      </a:r>
                      <a:r>
                        <a:rPr sz="600" spc="-5" dirty="0">
                          <a:latin typeface="Arial"/>
                          <a:cs typeface="Arial"/>
                        </a:rPr>
                        <a:t>Hound</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61594" algn="ctr">
                        <a:lnSpc>
                          <a:spcPts val="595"/>
                        </a:lnSpc>
                      </a:pPr>
                      <a:r>
                        <a:rPr sz="600" spc="-10" dirty="0">
                          <a:latin typeface="Arial"/>
                          <a:cs typeface="Arial"/>
                        </a:rPr>
                        <a:t>Eve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S</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88563">
                <a:tc>
                  <a:txBody>
                    <a:bodyPr/>
                    <a:lstStyle/>
                    <a:p>
                      <a:pPr marL="75565">
                        <a:lnSpc>
                          <a:spcPts val="595"/>
                        </a:lnSpc>
                      </a:pPr>
                      <a:r>
                        <a:rPr sz="600" spc="-5" dirty="0">
                          <a:latin typeface="Arial"/>
                          <a:cs typeface="Arial"/>
                        </a:rPr>
                        <a:t>Hound and</a:t>
                      </a:r>
                      <a:r>
                        <a:rPr sz="600" spc="-20" dirty="0">
                          <a:latin typeface="Arial"/>
                          <a:cs typeface="Arial"/>
                        </a:rPr>
                        <a:t> </a:t>
                      </a:r>
                      <a:r>
                        <a:rPr sz="600" spc="-5" dirty="0">
                          <a:latin typeface="Arial"/>
                          <a:cs typeface="Arial"/>
                        </a:rPr>
                        <a:t>Hare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26034" algn="ctr">
                        <a:lnSpc>
                          <a:spcPts val="595"/>
                        </a:lnSpc>
                      </a:pPr>
                      <a:r>
                        <a:rPr sz="600" spc="-5" dirty="0">
                          <a:latin typeface="Arial"/>
                          <a:cs typeface="Arial"/>
                        </a:rPr>
                        <a:t>Alice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88563">
                <a:tc>
                  <a:txBody>
                    <a:bodyPr/>
                    <a:lstStyle/>
                    <a:p>
                      <a:pPr marL="75565">
                        <a:lnSpc>
                          <a:spcPts val="595"/>
                        </a:lnSpc>
                      </a:pPr>
                      <a:r>
                        <a:rPr sz="600" spc="-5" dirty="0">
                          <a:latin typeface="Arial"/>
                          <a:cs typeface="Arial"/>
                        </a:rPr>
                        <a:t>Hound and</a:t>
                      </a:r>
                      <a:r>
                        <a:rPr sz="600" spc="-20" dirty="0">
                          <a:latin typeface="Arial"/>
                          <a:cs typeface="Arial"/>
                        </a:rPr>
                        <a:t> </a:t>
                      </a:r>
                      <a:r>
                        <a:rPr sz="600" spc="-5" dirty="0">
                          <a:latin typeface="Arial"/>
                          <a:cs typeface="Arial"/>
                        </a:rPr>
                        <a:t>Hare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5244" algn="ctr">
                        <a:lnSpc>
                          <a:spcPts val="595"/>
                        </a:lnSpc>
                      </a:pPr>
                      <a:r>
                        <a:rPr sz="600" spc="-5" dirty="0">
                          <a:latin typeface="Arial"/>
                          <a:cs typeface="Arial"/>
                        </a:rPr>
                        <a:t>Bob</a:t>
                      </a:r>
                      <a:endParaRPr sz="600" dirty="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88569">
                <a:tc>
                  <a:txBody>
                    <a:bodyPr/>
                    <a:lstStyle/>
                    <a:p>
                      <a:pPr marL="75565">
                        <a:lnSpc>
                          <a:spcPts val="595"/>
                        </a:lnSpc>
                      </a:pPr>
                      <a:r>
                        <a:rPr sz="600" spc="-5" dirty="0">
                          <a:latin typeface="Arial"/>
                          <a:cs typeface="Arial"/>
                        </a:rPr>
                        <a:t>Hound and</a:t>
                      </a:r>
                      <a:r>
                        <a:rPr sz="600" spc="-20" dirty="0">
                          <a:latin typeface="Arial"/>
                          <a:cs typeface="Arial"/>
                        </a:rPr>
                        <a:t> </a:t>
                      </a:r>
                      <a:r>
                        <a:rPr sz="600" spc="-5" dirty="0">
                          <a:latin typeface="Arial"/>
                          <a:cs typeface="Arial"/>
                        </a:rPr>
                        <a:t>Hare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890" algn="ctr">
                        <a:lnSpc>
                          <a:spcPts val="595"/>
                        </a:lnSpc>
                      </a:pPr>
                      <a:r>
                        <a:rPr sz="600" spc="-5" dirty="0">
                          <a:latin typeface="Arial"/>
                          <a:cs typeface="Arial"/>
                        </a:rPr>
                        <a:t>Carol</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7"/>
                  </a:ext>
                </a:extLst>
              </a:tr>
              <a:tr h="88569">
                <a:tc>
                  <a:txBody>
                    <a:bodyPr/>
                    <a:lstStyle/>
                    <a:p>
                      <a:pPr marL="75565">
                        <a:lnSpc>
                          <a:spcPts val="595"/>
                        </a:lnSpc>
                      </a:pPr>
                      <a:r>
                        <a:rPr sz="600" spc="-5" dirty="0">
                          <a:latin typeface="Arial"/>
                          <a:cs typeface="Arial"/>
                        </a:rPr>
                        <a:t>Hound and</a:t>
                      </a:r>
                      <a:r>
                        <a:rPr sz="600" spc="-20" dirty="0">
                          <a:latin typeface="Arial"/>
                          <a:cs typeface="Arial"/>
                        </a:rPr>
                        <a:t> </a:t>
                      </a:r>
                      <a:r>
                        <a:rPr sz="600" spc="-5" dirty="0">
                          <a:latin typeface="Arial"/>
                          <a:cs typeface="Arial"/>
                        </a:rPr>
                        <a:t>Hare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16510" algn="ctr">
                        <a:lnSpc>
                          <a:spcPts val="595"/>
                        </a:lnSpc>
                      </a:pPr>
                      <a:r>
                        <a:rPr sz="600" spc="-10" dirty="0">
                          <a:latin typeface="Arial"/>
                          <a:cs typeface="Arial"/>
                        </a:rPr>
                        <a:t>Dave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8"/>
                  </a:ext>
                </a:extLst>
              </a:tr>
              <a:tr h="88569">
                <a:tc>
                  <a:txBody>
                    <a:bodyPr/>
                    <a:lstStyle/>
                    <a:p>
                      <a:pPr marL="75565">
                        <a:lnSpc>
                          <a:spcPts val="595"/>
                        </a:lnSpc>
                      </a:pPr>
                      <a:r>
                        <a:rPr sz="600" spc="-5" dirty="0">
                          <a:latin typeface="Arial"/>
                          <a:cs typeface="Arial"/>
                        </a:rPr>
                        <a:t>Hound and</a:t>
                      </a:r>
                      <a:r>
                        <a:rPr sz="600" spc="-20" dirty="0">
                          <a:latin typeface="Arial"/>
                          <a:cs typeface="Arial"/>
                        </a:rPr>
                        <a:t> </a:t>
                      </a:r>
                      <a:r>
                        <a:rPr sz="600" spc="-5" dirty="0">
                          <a:latin typeface="Arial"/>
                          <a:cs typeface="Arial"/>
                        </a:rPr>
                        <a:t>Hare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61594" algn="ctr">
                        <a:lnSpc>
                          <a:spcPts val="595"/>
                        </a:lnSpc>
                      </a:pPr>
                      <a:r>
                        <a:rPr sz="600" spc="-10" dirty="0">
                          <a:latin typeface="Arial"/>
                          <a:cs typeface="Arial"/>
                        </a:rPr>
                        <a:t>Eve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S</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9"/>
                  </a:ext>
                </a:extLst>
              </a:tr>
              <a:tr h="88569">
                <a:tc>
                  <a:txBody>
                    <a:bodyPr/>
                    <a:lstStyle/>
                    <a:p>
                      <a:pPr marL="75565">
                        <a:lnSpc>
                          <a:spcPts val="595"/>
                        </a:lnSpc>
                      </a:pPr>
                      <a:r>
                        <a:rPr sz="600" spc="-5" dirty="0">
                          <a:latin typeface="Arial"/>
                          <a:cs typeface="Arial"/>
                        </a:rPr>
                        <a:t>March</a:t>
                      </a:r>
                      <a:r>
                        <a:rPr sz="600" spc="-10" dirty="0">
                          <a:latin typeface="Arial"/>
                          <a:cs typeface="Arial"/>
                        </a:rPr>
                        <a:t> </a:t>
                      </a:r>
                      <a:r>
                        <a:rPr sz="600" spc="-5" dirty="0">
                          <a:latin typeface="Arial"/>
                          <a:cs typeface="Arial"/>
                        </a:rPr>
                        <a:t>Hare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26034" algn="ctr">
                        <a:lnSpc>
                          <a:spcPts val="595"/>
                        </a:lnSpc>
                      </a:pPr>
                      <a:r>
                        <a:rPr sz="600" spc="-5" dirty="0">
                          <a:latin typeface="Arial"/>
                          <a:cs typeface="Arial"/>
                        </a:rPr>
                        <a:t>Alice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0"/>
                  </a:ext>
                </a:extLst>
              </a:tr>
              <a:tr h="88563">
                <a:tc>
                  <a:txBody>
                    <a:bodyPr/>
                    <a:lstStyle/>
                    <a:p>
                      <a:pPr marL="75565">
                        <a:lnSpc>
                          <a:spcPts val="595"/>
                        </a:lnSpc>
                      </a:pPr>
                      <a:r>
                        <a:rPr sz="600" spc="-5" dirty="0">
                          <a:latin typeface="Arial"/>
                          <a:cs typeface="Arial"/>
                        </a:rPr>
                        <a:t>March</a:t>
                      </a:r>
                      <a:r>
                        <a:rPr sz="600" spc="-10" dirty="0">
                          <a:latin typeface="Arial"/>
                          <a:cs typeface="Arial"/>
                        </a:rPr>
                        <a:t> </a:t>
                      </a:r>
                      <a:r>
                        <a:rPr sz="600" spc="-5" dirty="0">
                          <a:latin typeface="Arial"/>
                          <a:cs typeface="Arial"/>
                        </a:rPr>
                        <a:t>Hare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5244" algn="ctr">
                        <a:lnSpc>
                          <a:spcPts val="595"/>
                        </a:lnSpc>
                      </a:pPr>
                      <a:r>
                        <a:rPr sz="600" spc="-5" dirty="0">
                          <a:latin typeface="Arial"/>
                          <a:cs typeface="Arial"/>
                        </a:rPr>
                        <a:t>Bob</a:t>
                      </a:r>
                      <a:endParaRPr sz="600" dirty="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1"/>
                  </a:ext>
                </a:extLst>
              </a:tr>
              <a:tr h="88563">
                <a:tc>
                  <a:txBody>
                    <a:bodyPr/>
                    <a:lstStyle/>
                    <a:p>
                      <a:pPr marL="75565">
                        <a:lnSpc>
                          <a:spcPts val="595"/>
                        </a:lnSpc>
                      </a:pPr>
                      <a:r>
                        <a:rPr sz="600" spc="-5" dirty="0">
                          <a:latin typeface="Arial"/>
                          <a:cs typeface="Arial"/>
                        </a:rPr>
                        <a:t>March</a:t>
                      </a:r>
                      <a:r>
                        <a:rPr sz="600" spc="-10" dirty="0">
                          <a:latin typeface="Arial"/>
                          <a:cs typeface="Arial"/>
                        </a:rPr>
                        <a:t> </a:t>
                      </a:r>
                      <a:r>
                        <a:rPr sz="600" spc="-5" dirty="0">
                          <a:latin typeface="Arial"/>
                          <a:cs typeface="Arial"/>
                        </a:rPr>
                        <a:t>Hare</a:t>
                      </a:r>
                      <a:endParaRPr sz="600" dirty="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890" algn="ctr">
                        <a:lnSpc>
                          <a:spcPts val="595"/>
                        </a:lnSpc>
                      </a:pPr>
                      <a:r>
                        <a:rPr sz="600" spc="-5" dirty="0">
                          <a:latin typeface="Arial"/>
                          <a:cs typeface="Arial"/>
                        </a:rPr>
                        <a:t>Carol</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2"/>
                  </a:ext>
                </a:extLst>
              </a:tr>
              <a:tr h="88569">
                <a:tc>
                  <a:txBody>
                    <a:bodyPr/>
                    <a:lstStyle/>
                    <a:p>
                      <a:pPr marL="75565">
                        <a:lnSpc>
                          <a:spcPts val="595"/>
                        </a:lnSpc>
                      </a:pPr>
                      <a:r>
                        <a:rPr sz="600" spc="-5" dirty="0">
                          <a:latin typeface="Arial"/>
                          <a:cs typeface="Arial"/>
                        </a:rPr>
                        <a:t>March</a:t>
                      </a:r>
                      <a:r>
                        <a:rPr sz="600" spc="-10" dirty="0">
                          <a:latin typeface="Arial"/>
                          <a:cs typeface="Arial"/>
                        </a:rPr>
                        <a:t> </a:t>
                      </a:r>
                      <a:r>
                        <a:rPr sz="600" spc="-5" dirty="0">
                          <a:latin typeface="Arial"/>
                          <a:cs typeface="Arial"/>
                        </a:rPr>
                        <a:t>Hare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16510" algn="ctr">
                        <a:lnSpc>
                          <a:spcPts val="595"/>
                        </a:lnSpc>
                      </a:pPr>
                      <a:r>
                        <a:rPr sz="600" spc="-10" dirty="0">
                          <a:latin typeface="Arial"/>
                          <a:cs typeface="Arial"/>
                        </a:rPr>
                        <a:t>Dave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3"/>
                  </a:ext>
                </a:extLst>
              </a:tr>
              <a:tr h="88569">
                <a:tc>
                  <a:txBody>
                    <a:bodyPr/>
                    <a:lstStyle/>
                    <a:p>
                      <a:pPr marL="75565">
                        <a:lnSpc>
                          <a:spcPts val="595"/>
                        </a:lnSpc>
                      </a:pPr>
                      <a:r>
                        <a:rPr sz="600" spc="-5" dirty="0">
                          <a:latin typeface="Arial"/>
                          <a:cs typeface="Arial"/>
                        </a:rPr>
                        <a:t>March</a:t>
                      </a:r>
                      <a:r>
                        <a:rPr sz="600" spc="-10" dirty="0">
                          <a:latin typeface="Arial"/>
                          <a:cs typeface="Arial"/>
                        </a:rPr>
                        <a:t> </a:t>
                      </a:r>
                      <a:r>
                        <a:rPr sz="600" spc="-5" dirty="0">
                          <a:latin typeface="Arial"/>
                          <a:cs typeface="Arial"/>
                        </a:rPr>
                        <a:t>Hare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61594" algn="ctr">
                        <a:lnSpc>
                          <a:spcPts val="595"/>
                        </a:lnSpc>
                      </a:pPr>
                      <a:r>
                        <a:rPr sz="600" spc="-10" dirty="0">
                          <a:latin typeface="Arial"/>
                          <a:cs typeface="Arial"/>
                        </a:rPr>
                        <a:t>Eve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S</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4"/>
                  </a:ext>
                </a:extLst>
              </a:tr>
              <a:tr h="88569">
                <a:tc>
                  <a:txBody>
                    <a:bodyPr/>
                    <a:lstStyle/>
                    <a:p>
                      <a:pPr marL="75565">
                        <a:lnSpc>
                          <a:spcPts val="595"/>
                        </a:lnSpc>
                      </a:pPr>
                      <a:r>
                        <a:rPr sz="600" spc="-5" dirty="0">
                          <a:latin typeface="Arial"/>
                          <a:cs typeface="Arial"/>
                        </a:rPr>
                        <a:t>Black</a:t>
                      </a:r>
                      <a:r>
                        <a:rPr sz="600" spc="-15" dirty="0">
                          <a:latin typeface="Arial"/>
                          <a:cs typeface="Arial"/>
                        </a:rPr>
                        <a:t> </a:t>
                      </a:r>
                      <a:r>
                        <a:rPr sz="600" spc="-5" dirty="0">
                          <a:latin typeface="Arial"/>
                          <a:cs typeface="Arial"/>
                        </a:rPr>
                        <a:t>Horse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26034" algn="ctr">
                        <a:lnSpc>
                          <a:spcPts val="595"/>
                        </a:lnSpc>
                      </a:pPr>
                      <a:r>
                        <a:rPr sz="600" spc="-5" dirty="0">
                          <a:latin typeface="Arial"/>
                          <a:cs typeface="Arial"/>
                        </a:rPr>
                        <a:t>Alice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5"/>
                  </a:ext>
                </a:extLst>
              </a:tr>
              <a:tr h="88569">
                <a:tc>
                  <a:txBody>
                    <a:bodyPr/>
                    <a:lstStyle/>
                    <a:p>
                      <a:pPr marL="75565">
                        <a:lnSpc>
                          <a:spcPts val="595"/>
                        </a:lnSpc>
                      </a:pPr>
                      <a:r>
                        <a:rPr sz="600" spc="-5" dirty="0">
                          <a:latin typeface="Arial"/>
                          <a:cs typeface="Arial"/>
                        </a:rPr>
                        <a:t>Black</a:t>
                      </a:r>
                      <a:r>
                        <a:rPr sz="600" spc="-15" dirty="0">
                          <a:latin typeface="Arial"/>
                          <a:cs typeface="Arial"/>
                        </a:rPr>
                        <a:t> </a:t>
                      </a:r>
                      <a:r>
                        <a:rPr sz="600" spc="-5" dirty="0">
                          <a:latin typeface="Arial"/>
                          <a:cs typeface="Arial"/>
                        </a:rPr>
                        <a:t>Horse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5244" algn="ctr">
                        <a:lnSpc>
                          <a:spcPts val="595"/>
                        </a:lnSpc>
                      </a:pPr>
                      <a:r>
                        <a:rPr sz="600" spc="-5" dirty="0">
                          <a:latin typeface="Arial"/>
                          <a:cs typeface="Arial"/>
                        </a:rPr>
                        <a:t>Bob</a:t>
                      </a:r>
                      <a:endParaRPr sz="600" dirty="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6"/>
                  </a:ext>
                </a:extLst>
              </a:tr>
              <a:tr h="88569">
                <a:tc>
                  <a:txBody>
                    <a:bodyPr/>
                    <a:lstStyle/>
                    <a:p>
                      <a:pPr marL="75565">
                        <a:lnSpc>
                          <a:spcPts val="595"/>
                        </a:lnSpc>
                      </a:pPr>
                      <a:r>
                        <a:rPr sz="600" spc="-5" dirty="0">
                          <a:latin typeface="Arial"/>
                          <a:cs typeface="Arial"/>
                        </a:rPr>
                        <a:t>Black</a:t>
                      </a:r>
                      <a:r>
                        <a:rPr sz="600" spc="-15" dirty="0">
                          <a:latin typeface="Arial"/>
                          <a:cs typeface="Arial"/>
                        </a:rPr>
                        <a:t> </a:t>
                      </a:r>
                      <a:r>
                        <a:rPr sz="600" spc="-5" dirty="0">
                          <a:latin typeface="Arial"/>
                          <a:cs typeface="Arial"/>
                        </a:rPr>
                        <a:t>Horse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890" algn="ctr">
                        <a:lnSpc>
                          <a:spcPts val="595"/>
                        </a:lnSpc>
                      </a:pPr>
                      <a:r>
                        <a:rPr sz="600" spc="-5" dirty="0">
                          <a:latin typeface="Arial"/>
                          <a:cs typeface="Arial"/>
                        </a:rPr>
                        <a:t>Carol</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7"/>
                  </a:ext>
                </a:extLst>
              </a:tr>
              <a:tr h="88563">
                <a:tc>
                  <a:txBody>
                    <a:bodyPr/>
                    <a:lstStyle/>
                    <a:p>
                      <a:pPr marL="75565">
                        <a:lnSpc>
                          <a:spcPts val="595"/>
                        </a:lnSpc>
                      </a:pPr>
                      <a:r>
                        <a:rPr sz="600" spc="-5" dirty="0">
                          <a:latin typeface="Arial"/>
                          <a:cs typeface="Arial"/>
                        </a:rPr>
                        <a:t>Black</a:t>
                      </a:r>
                      <a:r>
                        <a:rPr sz="600" spc="-15" dirty="0">
                          <a:latin typeface="Arial"/>
                          <a:cs typeface="Arial"/>
                        </a:rPr>
                        <a:t> </a:t>
                      </a:r>
                      <a:r>
                        <a:rPr sz="600" spc="-5" dirty="0">
                          <a:latin typeface="Arial"/>
                          <a:cs typeface="Arial"/>
                        </a:rPr>
                        <a:t>Horse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16510" algn="ctr">
                        <a:lnSpc>
                          <a:spcPts val="595"/>
                        </a:lnSpc>
                      </a:pPr>
                      <a:r>
                        <a:rPr sz="600" spc="-10" dirty="0">
                          <a:latin typeface="Arial"/>
                          <a:cs typeface="Arial"/>
                        </a:rPr>
                        <a:t>Dave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8"/>
                  </a:ext>
                </a:extLst>
              </a:tr>
              <a:tr h="88563">
                <a:tc>
                  <a:txBody>
                    <a:bodyPr/>
                    <a:lstStyle/>
                    <a:p>
                      <a:pPr marL="75565">
                        <a:lnSpc>
                          <a:spcPts val="595"/>
                        </a:lnSpc>
                      </a:pPr>
                      <a:r>
                        <a:rPr sz="600" spc="-5" dirty="0">
                          <a:latin typeface="Arial"/>
                          <a:cs typeface="Arial"/>
                        </a:rPr>
                        <a:t>Black</a:t>
                      </a:r>
                      <a:r>
                        <a:rPr sz="600" spc="-15" dirty="0">
                          <a:latin typeface="Arial"/>
                          <a:cs typeface="Arial"/>
                        </a:rPr>
                        <a:t> </a:t>
                      </a:r>
                      <a:r>
                        <a:rPr sz="600" spc="-5" dirty="0">
                          <a:latin typeface="Arial"/>
                          <a:cs typeface="Arial"/>
                        </a:rPr>
                        <a:t>Horse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61594" algn="ctr">
                        <a:lnSpc>
                          <a:spcPts val="595"/>
                        </a:lnSpc>
                      </a:pPr>
                      <a:r>
                        <a:rPr sz="600" spc="-10" dirty="0">
                          <a:latin typeface="Arial"/>
                          <a:cs typeface="Arial"/>
                        </a:rPr>
                        <a:t>Eve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S</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9"/>
                  </a:ext>
                </a:extLst>
              </a:tr>
              <a:tr h="88569">
                <a:tc>
                  <a:txBody>
                    <a:bodyPr/>
                    <a:lstStyle/>
                    <a:p>
                      <a:pPr marL="75565">
                        <a:lnSpc>
                          <a:spcPts val="595"/>
                        </a:lnSpc>
                      </a:pPr>
                      <a:r>
                        <a:rPr sz="600" spc="-5" dirty="0">
                          <a:latin typeface="Arial"/>
                          <a:cs typeface="Arial"/>
                        </a:rPr>
                        <a:t>White</a:t>
                      </a:r>
                      <a:r>
                        <a:rPr sz="600" spc="-10" dirty="0">
                          <a:latin typeface="Arial"/>
                          <a:cs typeface="Arial"/>
                        </a:rPr>
                        <a:t> </a:t>
                      </a:r>
                      <a:r>
                        <a:rPr sz="600" spc="-5" dirty="0">
                          <a:latin typeface="Arial"/>
                          <a:cs typeface="Arial"/>
                        </a:rPr>
                        <a:t>Horse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26034" algn="ctr">
                        <a:lnSpc>
                          <a:spcPts val="595"/>
                        </a:lnSpc>
                      </a:pPr>
                      <a:r>
                        <a:rPr sz="600" spc="-5" dirty="0">
                          <a:latin typeface="Arial"/>
                          <a:cs typeface="Arial"/>
                        </a:rPr>
                        <a:t>Alice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20"/>
                  </a:ext>
                </a:extLst>
              </a:tr>
              <a:tr h="88569">
                <a:tc>
                  <a:txBody>
                    <a:bodyPr/>
                    <a:lstStyle/>
                    <a:p>
                      <a:pPr marL="75565">
                        <a:lnSpc>
                          <a:spcPts val="595"/>
                        </a:lnSpc>
                      </a:pPr>
                      <a:r>
                        <a:rPr sz="600" spc="-5" dirty="0">
                          <a:latin typeface="Arial"/>
                          <a:cs typeface="Arial"/>
                        </a:rPr>
                        <a:t>White</a:t>
                      </a:r>
                      <a:r>
                        <a:rPr sz="600" spc="-10" dirty="0">
                          <a:latin typeface="Arial"/>
                          <a:cs typeface="Arial"/>
                        </a:rPr>
                        <a:t> </a:t>
                      </a:r>
                      <a:r>
                        <a:rPr sz="600" spc="-5" dirty="0">
                          <a:latin typeface="Arial"/>
                          <a:cs typeface="Arial"/>
                        </a:rPr>
                        <a:t>Horse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5244" algn="ctr">
                        <a:lnSpc>
                          <a:spcPts val="595"/>
                        </a:lnSpc>
                      </a:pPr>
                      <a:r>
                        <a:rPr sz="600" spc="-5" dirty="0">
                          <a:latin typeface="Arial"/>
                          <a:cs typeface="Arial"/>
                        </a:rPr>
                        <a:t>Bob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21"/>
                  </a:ext>
                </a:extLst>
              </a:tr>
              <a:tr h="88569">
                <a:tc>
                  <a:txBody>
                    <a:bodyPr/>
                    <a:lstStyle/>
                    <a:p>
                      <a:pPr marL="75565">
                        <a:lnSpc>
                          <a:spcPts val="595"/>
                        </a:lnSpc>
                      </a:pPr>
                      <a:r>
                        <a:rPr sz="600" spc="-5" dirty="0">
                          <a:latin typeface="Arial"/>
                          <a:cs typeface="Arial"/>
                        </a:rPr>
                        <a:t>White</a:t>
                      </a:r>
                      <a:r>
                        <a:rPr sz="600" spc="-10" dirty="0">
                          <a:latin typeface="Arial"/>
                          <a:cs typeface="Arial"/>
                        </a:rPr>
                        <a:t> </a:t>
                      </a:r>
                      <a:r>
                        <a:rPr sz="600" spc="-5" dirty="0">
                          <a:latin typeface="Arial"/>
                          <a:cs typeface="Arial"/>
                        </a:rPr>
                        <a:t>Horse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890" algn="ctr">
                        <a:lnSpc>
                          <a:spcPts val="595"/>
                        </a:lnSpc>
                      </a:pPr>
                      <a:r>
                        <a:rPr sz="600" spc="-5" dirty="0">
                          <a:latin typeface="Arial"/>
                          <a:cs typeface="Arial"/>
                        </a:rPr>
                        <a:t>Carol</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80645" algn="ctr">
                        <a:lnSpc>
                          <a:spcPts val="595"/>
                        </a:lnSpc>
                      </a:pPr>
                      <a:r>
                        <a:rPr sz="600" dirty="0">
                          <a:latin typeface="Arial"/>
                          <a:cs typeface="Arial"/>
                        </a:rPr>
                        <a:t>I</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22"/>
                  </a:ext>
                </a:extLst>
              </a:tr>
              <a:tr h="88569">
                <a:tc>
                  <a:txBody>
                    <a:bodyPr/>
                    <a:lstStyle/>
                    <a:p>
                      <a:pPr marL="75565">
                        <a:lnSpc>
                          <a:spcPts val="595"/>
                        </a:lnSpc>
                      </a:pPr>
                      <a:r>
                        <a:rPr sz="600" spc="-5" dirty="0">
                          <a:latin typeface="Arial"/>
                          <a:cs typeface="Arial"/>
                        </a:rPr>
                        <a:t>White</a:t>
                      </a:r>
                      <a:r>
                        <a:rPr sz="600" spc="-10" dirty="0">
                          <a:latin typeface="Arial"/>
                          <a:cs typeface="Arial"/>
                        </a:rPr>
                        <a:t> </a:t>
                      </a:r>
                      <a:r>
                        <a:rPr sz="600" spc="-5" dirty="0">
                          <a:latin typeface="Arial"/>
                          <a:cs typeface="Arial"/>
                        </a:rPr>
                        <a:t>Horse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2069"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16510" algn="ctr">
                        <a:lnSpc>
                          <a:spcPts val="595"/>
                        </a:lnSpc>
                      </a:pPr>
                      <a:r>
                        <a:rPr sz="600" spc="-10" dirty="0">
                          <a:latin typeface="Arial"/>
                          <a:cs typeface="Arial"/>
                        </a:rPr>
                        <a:t>Dave</a:t>
                      </a:r>
                      <a:endParaRPr sz="6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1435" algn="ctr">
                        <a:lnSpc>
                          <a:spcPts val="595"/>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23"/>
                  </a:ext>
                </a:extLst>
              </a:tr>
              <a:tr h="98736">
                <a:tc>
                  <a:txBody>
                    <a:bodyPr/>
                    <a:lstStyle/>
                    <a:p>
                      <a:pPr marL="75565">
                        <a:lnSpc>
                          <a:spcPts val="670"/>
                        </a:lnSpc>
                      </a:pPr>
                      <a:r>
                        <a:rPr sz="600" spc="-5" dirty="0">
                          <a:latin typeface="Arial"/>
                          <a:cs typeface="Arial"/>
                        </a:rPr>
                        <a:t>White</a:t>
                      </a:r>
                      <a:r>
                        <a:rPr sz="600" spc="-10" dirty="0">
                          <a:latin typeface="Arial"/>
                          <a:cs typeface="Arial"/>
                        </a:rPr>
                        <a:t> </a:t>
                      </a:r>
                      <a:r>
                        <a:rPr sz="600" spc="-5" dirty="0">
                          <a:latin typeface="Arial"/>
                          <a:cs typeface="Arial"/>
                        </a:rPr>
                        <a:t>Horse</a:t>
                      </a:r>
                      <a:endParaRPr sz="6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R="52069" algn="ctr">
                        <a:lnSpc>
                          <a:spcPts val="670"/>
                        </a:lnSpc>
                      </a:pPr>
                      <a:r>
                        <a:rPr sz="600" dirty="0">
                          <a:latin typeface="Arial"/>
                          <a:cs typeface="Arial"/>
                        </a:rPr>
                        <a:t>B</a:t>
                      </a:r>
                      <a:endParaRPr sz="6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R="61594" algn="ctr">
                        <a:lnSpc>
                          <a:spcPts val="670"/>
                        </a:lnSpc>
                      </a:pPr>
                      <a:r>
                        <a:rPr sz="600" spc="-10" dirty="0">
                          <a:latin typeface="Arial"/>
                          <a:cs typeface="Arial"/>
                        </a:rPr>
                        <a:t>Eve</a:t>
                      </a:r>
                      <a:endParaRPr sz="6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R="51435" algn="ctr">
                        <a:lnSpc>
                          <a:spcPts val="670"/>
                        </a:lnSpc>
                      </a:pPr>
                      <a:r>
                        <a:rPr sz="600" dirty="0">
                          <a:latin typeface="Arial"/>
                          <a:cs typeface="Arial"/>
                        </a:rPr>
                        <a:t>S</a:t>
                      </a: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24"/>
                  </a:ext>
                </a:extLst>
              </a:tr>
            </a:tbl>
          </a:graphicData>
        </a:graphic>
      </p:graphicFrame>
      <p:graphicFrame>
        <p:nvGraphicFramePr>
          <p:cNvPr id="38" name="object 36"/>
          <p:cNvGraphicFramePr>
            <a:graphicFrameLocks noGrp="1"/>
          </p:cNvGraphicFramePr>
          <p:nvPr/>
        </p:nvGraphicFramePr>
        <p:xfrm>
          <a:off x="1861681" y="360714"/>
          <a:ext cx="1922600" cy="1095475"/>
        </p:xfrm>
        <a:graphic>
          <a:graphicData uri="http://schemas.openxmlformats.org/drawingml/2006/table">
            <a:tbl>
              <a:tblPr firstRow="1" bandRow="1">
                <a:tableStyleId>{2D5ABB26-0587-4C30-8999-92F81FD0307C}</a:tableStyleId>
              </a:tblPr>
              <a:tblGrid>
                <a:gridCol w="969257">
                  <a:extLst>
                    <a:ext uri="{9D8B030D-6E8A-4147-A177-3AD203B41FA5}">
                      <a16:colId xmlns:a16="http://schemas.microsoft.com/office/drawing/2014/main" val="20000"/>
                    </a:ext>
                  </a:extLst>
                </a:gridCol>
                <a:gridCol w="275510">
                  <a:extLst>
                    <a:ext uri="{9D8B030D-6E8A-4147-A177-3AD203B41FA5}">
                      <a16:colId xmlns:a16="http://schemas.microsoft.com/office/drawing/2014/main" val="20001"/>
                    </a:ext>
                  </a:extLst>
                </a:gridCol>
                <a:gridCol w="402324">
                  <a:extLst>
                    <a:ext uri="{9D8B030D-6E8A-4147-A177-3AD203B41FA5}">
                      <a16:colId xmlns:a16="http://schemas.microsoft.com/office/drawing/2014/main" val="20002"/>
                    </a:ext>
                  </a:extLst>
                </a:gridCol>
                <a:gridCol w="275509">
                  <a:extLst>
                    <a:ext uri="{9D8B030D-6E8A-4147-A177-3AD203B41FA5}">
                      <a16:colId xmlns:a16="http://schemas.microsoft.com/office/drawing/2014/main" val="20003"/>
                    </a:ext>
                  </a:extLst>
                </a:gridCol>
              </a:tblGrid>
              <a:tr h="206734">
                <a:tc>
                  <a:txBody>
                    <a:bodyPr/>
                    <a:lstStyle/>
                    <a:p>
                      <a:pPr marL="75565">
                        <a:lnSpc>
                          <a:spcPts val="1190"/>
                        </a:lnSpc>
                      </a:pPr>
                      <a:r>
                        <a:rPr sz="800" b="1" spc="-10" dirty="0">
                          <a:latin typeface="Arial"/>
                          <a:cs typeface="Arial"/>
                        </a:rPr>
                        <a:t>name</a:t>
                      </a:r>
                      <a:endParaRPr sz="8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800" b="1" spc="-5" dirty="0">
                          <a:latin typeface="Arial"/>
                          <a:cs typeface="Arial"/>
                        </a:rPr>
                        <a:t>loc</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800" b="1" spc="-10" dirty="0">
                          <a:latin typeface="Arial"/>
                          <a:cs typeface="Arial"/>
                        </a:rPr>
                        <a:t>name</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800" b="1" spc="-5" dirty="0">
                          <a:latin typeface="Arial"/>
                          <a:cs typeface="Arial"/>
                        </a:rPr>
                        <a:t>loc</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23962">
                <a:tc>
                  <a:txBody>
                    <a:bodyPr/>
                    <a:lstStyle/>
                    <a:p>
                      <a:pPr marL="75565">
                        <a:lnSpc>
                          <a:spcPts val="1280"/>
                        </a:lnSpc>
                      </a:pPr>
                      <a:r>
                        <a:rPr sz="800" spc="-5" dirty="0">
                          <a:latin typeface="Arial"/>
                          <a:cs typeface="Arial"/>
                        </a:rPr>
                        <a:t>Horse </a:t>
                      </a:r>
                      <a:r>
                        <a:rPr sz="800" spc="-10" dirty="0">
                          <a:latin typeface="Arial"/>
                          <a:cs typeface="Arial"/>
                        </a:rPr>
                        <a:t>and</a:t>
                      </a:r>
                      <a:r>
                        <a:rPr sz="800" spc="-40" dirty="0">
                          <a:latin typeface="Arial"/>
                          <a:cs typeface="Arial"/>
                        </a:rPr>
                        <a:t> </a:t>
                      </a:r>
                      <a:r>
                        <a:rPr sz="800" spc="-10" dirty="0">
                          <a:latin typeface="Arial"/>
                          <a:cs typeface="Arial"/>
                        </a:rPr>
                        <a:t>Hound</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800" dirty="0">
                          <a:latin typeface="Arial"/>
                          <a:cs typeface="Arial"/>
                        </a:rPr>
                        <a:t>B</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800" spc="-10" dirty="0">
                          <a:latin typeface="Arial"/>
                          <a:cs typeface="Arial"/>
                        </a:rPr>
                        <a:t>Bob</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800" dirty="0">
                          <a:latin typeface="Arial"/>
                          <a:cs typeface="Arial"/>
                        </a:rPr>
                        <a:t>B</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223962">
                <a:tc>
                  <a:txBody>
                    <a:bodyPr/>
                    <a:lstStyle/>
                    <a:p>
                      <a:pPr marL="75565">
                        <a:lnSpc>
                          <a:spcPts val="1255"/>
                        </a:lnSpc>
                      </a:pPr>
                      <a:r>
                        <a:rPr sz="800" spc="-10" dirty="0">
                          <a:latin typeface="Arial"/>
                          <a:cs typeface="Arial"/>
                        </a:rPr>
                        <a:t>Hound and</a:t>
                      </a:r>
                      <a:r>
                        <a:rPr sz="800" spc="-15" dirty="0">
                          <a:latin typeface="Arial"/>
                          <a:cs typeface="Arial"/>
                        </a:rPr>
                        <a:t> </a:t>
                      </a:r>
                      <a:r>
                        <a:rPr sz="800" spc="-10" dirty="0">
                          <a:latin typeface="Arial"/>
                          <a:cs typeface="Arial"/>
                        </a:rPr>
                        <a:t>Hare</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dirty="0">
                          <a:latin typeface="Arial"/>
                          <a:cs typeface="Arial"/>
                        </a:rPr>
                        <a:t>I</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Bob</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dirty="0">
                          <a:latin typeface="Arial"/>
                          <a:cs typeface="Arial"/>
                        </a:rPr>
                        <a:t>B</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11981">
                <a:tc>
                  <a:txBody>
                    <a:bodyPr/>
                    <a:lstStyle/>
                    <a:p>
                      <a:pPr marL="75565">
                        <a:lnSpc>
                          <a:spcPts val="1255"/>
                        </a:lnSpc>
                      </a:pPr>
                      <a:r>
                        <a:rPr sz="800" spc="-10" dirty="0">
                          <a:latin typeface="Arial"/>
                          <a:cs typeface="Arial"/>
                        </a:rPr>
                        <a:t>March Hare</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dirty="0">
                          <a:latin typeface="Arial"/>
                          <a:cs typeface="Arial"/>
                        </a:rPr>
                        <a:t>B</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Bob</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dirty="0">
                          <a:latin typeface="Arial"/>
                          <a:cs typeface="Arial"/>
                        </a:rPr>
                        <a:t>B</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11981">
                <a:tc>
                  <a:txBody>
                    <a:bodyPr/>
                    <a:lstStyle/>
                    <a:p>
                      <a:pPr marL="75565">
                        <a:lnSpc>
                          <a:spcPts val="1255"/>
                        </a:lnSpc>
                      </a:pPr>
                      <a:r>
                        <a:rPr sz="800" spc="-10" dirty="0">
                          <a:latin typeface="Arial"/>
                          <a:cs typeface="Arial"/>
                        </a:rPr>
                        <a:t>Black</a:t>
                      </a:r>
                      <a:r>
                        <a:rPr sz="800" spc="-15" dirty="0">
                          <a:latin typeface="Arial"/>
                          <a:cs typeface="Arial"/>
                        </a:rPr>
                        <a:t> </a:t>
                      </a:r>
                      <a:r>
                        <a:rPr sz="800" spc="-5" dirty="0">
                          <a:latin typeface="Arial"/>
                          <a:cs typeface="Arial"/>
                        </a:rPr>
                        <a:t>Horse</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dirty="0">
                          <a:latin typeface="Arial"/>
                          <a:cs typeface="Arial"/>
                        </a:rPr>
                        <a:t>I</a:t>
                      </a: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Bob</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dirty="0">
                          <a:latin typeface="Arial"/>
                          <a:cs typeface="Arial"/>
                        </a:rPr>
                        <a:t>B</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11981">
                <a:tc>
                  <a:txBody>
                    <a:bodyPr/>
                    <a:lstStyle/>
                    <a:p>
                      <a:pPr marL="75565">
                        <a:lnSpc>
                          <a:spcPts val="1260"/>
                        </a:lnSpc>
                      </a:pPr>
                      <a:r>
                        <a:rPr sz="800" spc="-5" dirty="0">
                          <a:latin typeface="Arial"/>
                          <a:cs typeface="Arial"/>
                        </a:rPr>
                        <a:t>White</a:t>
                      </a:r>
                      <a:r>
                        <a:rPr sz="800" spc="-15" dirty="0">
                          <a:latin typeface="Arial"/>
                          <a:cs typeface="Arial"/>
                        </a:rPr>
                        <a:t> </a:t>
                      </a:r>
                      <a:r>
                        <a:rPr sz="800" spc="-5" dirty="0">
                          <a:latin typeface="Arial"/>
                          <a:cs typeface="Arial"/>
                        </a:rPr>
                        <a:t>Horse</a:t>
                      </a:r>
                      <a:endParaRPr sz="8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800" dirty="0">
                          <a:latin typeface="Arial"/>
                          <a:cs typeface="Arial"/>
                        </a:rPr>
                        <a:t>B</a:t>
                      </a:r>
                      <a:endParaRPr sz="8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800" spc="-10" dirty="0">
                          <a:latin typeface="Arial"/>
                          <a:cs typeface="Arial"/>
                        </a:rPr>
                        <a:t>Bob</a:t>
                      </a:r>
                      <a:endParaRPr sz="8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800" dirty="0">
                          <a:latin typeface="Arial"/>
                          <a:cs typeface="Arial"/>
                        </a:rPr>
                        <a:t>B</a:t>
                      </a: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39" name="object 35"/>
          <p:cNvSpPr txBox="1"/>
          <p:nvPr/>
        </p:nvSpPr>
        <p:spPr>
          <a:xfrm>
            <a:off x="1953284" y="1522609"/>
            <a:ext cx="2145794" cy="119263"/>
          </a:xfrm>
          <a:prstGeom prst="rect">
            <a:avLst/>
          </a:prstGeom>
        </p:spPr>
        <p:txBody>
          <a:bodyPr vert="horz" wrap="square" lIns="0" tIns="11430" rIns="0" bIns="0" rtlCol="0">
            <a:spAutoFit/>
          </a:bodyPr>
          <a:lstStyle/>
          <a:p>
            <a:pPr marL="12700">
              <a:lnSpc>
                <a:spcPct val="100000"/>
              </a:lnSpc>
              <a:spcBef>
                <a:spcPts val="90"/>
              </a:spcBef>
            </a:pPr>
            <a:r>
              <a:rPr sz="700" spc="-20" dirty="0">
                <a:latin typeface="Arial"/>
                <a:cs typeface="Arial"/>
              </a:rPr>
              <a:t>Keep </a:t>
            </a:r>
            <a:r>
              <a:rPr sz="700" spc="-5" dirty="0">
                <a:latin typeface="Arial"/>
                <a:cs typeface="Arial"/>
              </a:rPr>
              <a:t>only tuples satisfying</a:t>
            </a:r>
            <a:r>
              <a:rPr sz="700" spc="20" dirty="0">
                <a:latin typeface="Arial"/>
                <a:cs typeface="Arial"/>
              </a:rPr>
              <a:t> </a:t>
            </a:r>
            <a:r>
              <a:rPr sz="700" spc="-10" dirty="0">
                <a:solidFill>
                  <a:srgbClr val="0000FF"/>
                </a:solidFill>
                <a:latin typeface="Arial"/>
                <a:cs typeface="Arial"/>
              </a:rPr>
              <a:t>Drinkers.name=’Bob’</a:t>
            </a:r>
            <a:r>
              <a:rPr sz="700" spc="-10" dirty="0">
                <a:latin typeface="Arial"/>
                <a:cs typeface="Arial"/>
              </a:rPr>
              <a:t>:</a:t>
            </a:r>
            <a:endParaRPr sz="700" dirty="0">
              <a:latin typeface="Arial"/>
              <a:cs typeface="Arial"/>
            </a:endParaRPr>
          </a:p>
        </p:txBody>
      </p:sp>
      <p:graphicFrame>
        <p:nvGraphicFramePr>
          <p:cNvPr id="40" name="object 36"/>
          <p:cNvGraphicFramePr>
            <a:graphicFrameLocks noGrp="1"/>
          </p:cNvGraphicFramePr>
          <p:nvPr/>
        </p:nvGraphicFramePr>
        <p:xfrm>
          <a:off x="1872680" y="1910202"/>
          <a:ext cx="2261170" cy="598856"/>
        </p:xfrm>
        <a:graphic>
          <a:graphicData uri="http://schemas.openxmlformats.org/drawingml/2006/table">
            <a:tbl>
              <a:tblPr firstRow="1" bandRow="1">
                <a:tableStyleId>{2D5ABB26-0587-4C30-8999-92F81FD0307C}</a:tableStyleId>
              </a:tblPr>
              <a:tblGrid>
                <a:gridCol w="1139944">
                  <a:extLst>
                    <a:ext uri="{9D8B030D-6E8A-4147-A177-3AD203B41FA5}">
                      <a16:colId xmlns:a16="http://schemas.microsoft.com/office/drawing/2014/main" val="20000"/>
                    </a:ext>
                  </a:extLst>
                </a:gridCol>
                <a:gridCol w="324027">
                  <a:extLst>
                    <a:ext uri="{9D8B030D-6E8A-4147-A177-3AD203B41FA5}">
                      <a16:colId xmlns:a16="http://schemas.microsoft.com/office/drawing/2014/main" val="20001"/>
                    </a:ext>
                  </a:extLst>
                </a:gridCol>
                <a:gridCol w="473173">
                  <a:extLst>
                    <a:ext uri="{9D8B030D-6E8A-4147-A177-3AD203B41FA5}">
                      <a16:colId xmlns:a16="http://schemas.microsoft.com/office/drawing/2014/main" val="20002"/>
                    </a:ext>
                  </a:extLst>
                </a:gridCol>
                <a:gridCol w="324026">
                  <a:extLst>
                    <a:ext uri="{9D8B030D-6E8A-4147-A177-3AD203B41FA5}">
                      <a16:colId xmlns:a16="http://schemas.microsoft.com/office/drawing/2014/main" val="20003"/>
                    </a:ext>
                  </a:extLst>
                </a:gridCol>
              </a:tblGrid>
              <a:tr h="157046">
                <a:tc>
                  <a:txBody>
                    <a:bodyPr/>
                    <a:lstStyle/>
                    <a:p>
                      <a:pPr marL="75565">
                        <a:lnSpc>
                          <a:spcPts val="1190"/>
                        </a:lnSpc>
                      </a:pPr>
                      <a:r>
                        <a:rPr sz="800" b="1" spc="-10" dirty="0">
                          <a:latin typeface="Arial"/>
                          <a:cs typeface="Arial"/>
                        </a:rPr>
                        <a:t>name</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800" b="1" spc="-5" dirty="0">
                          <a:latin typeface="Arial"/>
                          <a:cs typeface="Arial"/>
                        </a:rPr>
                        <a:t>loc</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800" b="1" spc="-10" dirty="0">
                          <a:latin typeface="Arial"/>
                          <a:cs typeface="Arial"/>
                        </a:rPr>
                        <a:t>name</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800" b="1" spc="-5" dirty="0">
                          <a:latin typeface="Arial"/>
                          <a:cs typeface="Arial"/>
                        </a:rPr>
                        <a:t>loc</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41810">
                <a:tc>
                  <a:txBody>
                    <a:bodyPr/>
                    <a:lstStyle/>
                    <a:p>
                      <a:pPr marL="75565">
                        <a:lnSpc>
                          <a:spcPts val="1290"/>
                        </a:lnSpc>
                      </a:pPr>
                      <a:r>
                        <a:rPr sz="800" spc="-5" dirty="0">
                          <a:latin typeface="Arial"/>
                          <a:cs typeface="Arial"/>
                        </a:rPr>
                        <a:t>Horse </a:t>
                      </a:r>
                      <a:r>
                        <a:rPr sz="800" spc="-10" dirty="0">
                          <a:latin typeface="Arial"/>
                          <a:cs typeface="Arial"/>
                        </a:rPr>
                        <a:t>and</a:t>
                      </a:r>
                      <a:r>
                        <a:rPr sz="800" spc="-40" dirty="0">
                          <a:latin typeface="Arial"/>
                          <a:cs typeface="Arial"/>
                        </a:rPr>
                        <a:t> </a:t>
                      </a:r>
                      <a:r>
                        <a:rPr sz="800" spc="-10" dirty="0">
                          <a:latin typeface="Arial"/>
                          <a:cs typeface="Arial"/>
                        </a:rPr>
                        <a:t>Hound</a:t>
                      </a:r>
                      <a:endParaRPr sz="800">
                        <a:latin typeface="Arial"/>
                        <a:cs typeface="Arial"/>
                      </a:endParaRPr>
                    </a:p>
                    <a:p>
                      <a:pPr marL="75565" marR="391795">
                        <a:lnSpc>
                          <a:spcPct val="102699"/>
                        </a:lnSpc>
                      </a:pPr>
                      <a:r>
                        <a:rPr sz="800" spc="-10" dirty="0">
                          <a:latin typeface="Arial"/>
                          <a:cs typeface="Arial"/>
                        </a:rPr>
                        <a:t>March Hare  </a:t>
                      </a:r>
                      <a:r>
                        <a:rPr sz="800" spc="-5" dirty="0">
                          <a:latin typeface="Arial"/>
                          <a:cs typeface="Arial"/>
                        </a:rPr>
                        <a:t>White</a:t>
                      </a:r>
                      <a:r>
                        <a:rPr sz="800" spc="-100" dirty="0">
                          <a:latin typeface="Arial"/>
                          <a:cs typeface="Arial"/>
                        </a:rPr>
                        <a:t> </a:t>
                      </a:r>
                      <a:r>
                        <a:rPr sz="800" spc="-5" dirty="0">
                          <a:latin typeface="Arial"/>
                          <a:cs typeface="Arial"/>
                        </a:rPr>
                        <a:t>Horse</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90"/>
                        </a:lnSpc>
                      </a:pPr>
                      <a:r>
                        <a:rPr sz="800" dirty="0">
                          <a:latin typeface="Arial"/>
                          <a:cs typeface="Arial"/>
                        </a:rPr>
                        <a:t>B</a:t>
                      </a:r>
                      <a:endParaRPr sz="800">
                        <a:latin typeface="Arial"/>
                        <a:cs typeface="Arial"/>
                      </a:endParaRPr>
                    </a:p>
                    <a:p>
                      <a:pPr marL="75565" marR="175895">
                        <a:lnSpc>
                          <a:spcPct val="102699"/>
                        </a:lnSpc>
                      </a:pPr>
                      <a:r>
                        <a:rPr sz="800" dirty="0">
                          <a:latin typeface="Arial"/>
                          <a:cs typeface="Arial"/>
                        </a:rPr>
                        <a:t>B  B</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90"/>
                        </a:lnSpc>
                      </a:pPr>
                      <a:r>
                        <a:rPr sz="800" spc="-10" dirty="0">
                          <a:latin typeface="Arial"/>
                          <a:cs typeface="Arial"/>
                        </a:rPr>
                        <a:t>Bob</a:t>
                      </a:r>
                      <a:endParaRPr sz="800">
                        <a:latin typeface="Arial"/>
                        <a:cs typeface="Arial"/>
                      </a:endParaRPr>
                    </a:p>
                    <a:p>
                      <a:pPr marL="75565" marR="183515">
                        <a:lnSpc>
                          <a:spcPct val="102699"/>
                        </a:lnSpc>
                      </a:pPr>
                      <a:r>
                        <a:rPr sz="800" dirty="0">
                          <a:latin typeface="Arial"/>
                          <a:cs typeface="Arial"/>
                        </a:rPr>
                        <a:t>Bob  Bob</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90"/>
                        </a:lnSpc>
                      </a:pPr>
                      <a:r>
                        <a:rPr sz="800" dirty="0">
                          <a:latin typeface="Arial"/>
                          <a:cs typeface="Arial"/>
                        </a:rPr>
                        <a:t>B</a:t>
                      </a:r>
                    </a:p>
                    <a:p>
                      <a:pPr marL="75565" marR="175895">
                        <a:lnSpc>
                          <a:spcPct val="102699"/>
                        </a:lnSpc>
                      </a:pPr>
                      <a:r>
                        <a:rPr sz="800" dirty="0">
                          <a:latin typeface="Arial"/>
                          <a:cs typeface="Arial"/>
                        </a:rPr>
                        <a:t>B  B</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
        <p:nvSpPr>
          <p:cNvPr id="41" name="object 35"/>
          <p:cNvSpPr txBox="1"/>
          <p:nvPr/>
        </p:nvSpPr>
        <p:spPr>
          <a:xfrm>
            <a:off x="1974345" y="2534457"/>
            <a:ext cx="2040583" cy="119263"/>
          </a:xfrm>
          <a:prstGeom prst="rect">
            <a:avLst/>
          </a:prstGeom>
        </p:spPr>
        <p:txBody>
          <a:bodyPr vert="horz" wrap="square" lIns="0" tIns="11430" rIns="0" bIns="0" rtlCol="0">
            <a:spAutoFit/>
          </a:bodyPr>
          <a:lstStyle/>
          <a:p>
            <a:pPr marL="12700">
              <a:lnSpc>
                <a:spcPct val="100000"/>
              </a:lnSpc>
              <a:spcBef>
                <a:spcPts val="90"/>
              </a:spcBef>
            </a:pPr>
            <a:r>
              <a:rPr sz="700" spc="-20" dirty="0">
                <a:latin typeface="Arial"/>
                <a:cs typeface="Arial"/>
              </a:rPr>
              <a:t>Keep </a:t>
            </a:r>
            <a:r>
              <a:rPr sz="700" spc="-5" dirty="0">
                <a:latin typeface="Arial"/>
                <a:cs typeface="Arial"/>
              </a:rPr>
              <a:t>only tuples satisfying</a:t>
            </a:r>
            <a:r>
              <a:rPr sz="700" spc="15" dirty="0">
                <a:latin typeface="Arial"/>
                <a:cs typeface="Arial"/>
              </a:rPr>
              <a:t> </a:t>
            </a:r>
            <a:r>
              <a:rPr sz="700" spc="-10" dirty="0">
                <a:solidFill>
                  <a:srgbClr val="0000FF"/>
                </a:solidFill>
                <a:latin typeface="Arial"/>
                <a:cs typeface="Arial"/>
              </a:rPr>
              <a:t>Pubs.loc=Drinkers.loc</a:t>
            </a:r>
            <a:r>
              <a:rPr sz="700" spc="-10" dirty="0">
                <a:latin typeface="Arial"/>
                <a:cs typeface="Arial"/>
              </a:rPr>
              <a:t>:</a:t>
            </a:r>
            <a:endParaRPr sz="700" dirty="0">
              <a:latin typeface="Arial"/>
              <a:cs typeface="Arial"/>
            </a:endParaRPr>
          </a:p>
        </p:txBody>
      </p:sp>
      <p:sp>
        <p:nvSpPr>
          <p:cNvPr id="43" name="object 48"/>
          <p:cNvSpPr txBox="1"/>
          <p:nvPr/>
        </p:nvSpPr>
        <p:spPr>
          <a:xfrm>
            <a:off x="1444494" y="2844009"/>
            <a:ext cx="1988939" cy="473206"/>
          </a:xfrm>
          <a:prstGeom prst="rect">
            <a:avLst/>
          </a:prstGeom>
        </p:spPr>
        <p:txBody>
          <a:bodyPr vert="horz" wrap="square" lIns="0" tIns="6985" rIns="0" bIns="0" rtlCol="0">
            <a:spAutoFit/>
          </a:bodyPr>
          <a:lstStyle/>
          <a:p>
            <a:pPr marL="1233805">
              <a:lnSpc>
                <a:spcPct val="100000"/>
              </a:lnSpc>
              <a:spcBef>
                <a:spcPts val="905"/>
              </a:spcBef>
            </a:pPr>
            <a:r>
              <a:rPr sz="700" b="1" spc="-10" dirty="0">
                <a:latin typeface="Arial"/>
                <a:cs typeface="Arial"/>
              </a:rPr>
              <a:t>name</a:t>
            </a:r>
            <a:endParaRPr sz="700" dirty="0">
              <a:latin typeface="Arial"/>
              <a:cs typeface="Arial"/>
            </a:endParaRPr>
          </a:p>
          <a:p>
            <a:pPr marL="1233805" marR="65405">
              <a:lnSpc>
                <a:spcPct val="102600"/>
              </a:lnSpc>
              <a:spcBef>
                <a:spcPts val="235"/>
              </a:spcBef>
            </a:pPr>
            <a:r>
              <a:rPr sz="700" spc="-5" dirty="0">
                <a:latin typeface="Arial"/>
                <a:cs typeface="Arial"/>
              </a:rPr>
              <a:t>Horse </a:t>
            </a:r>
            <a:r>
              <a:rPr sz="700" spc="-10" dirty="0">
                <a:latin typeface="Arial"/>
                <a:cs typeface="Arial"/>
              </a:rPr>
              <a:t>and</a:t>
            </a:r>
            <a:r>
              <a:rPr sz="700" spc="-70" dirty="0">
                <a:latin typeface="Arial"/>
                <a:cs typeface="Arial"/>
              </a:rPr>
              <a:t> </a:t>
            </a:r>
            <a:r>
              <a:rPr sz="700" spc="-10" dirty="0">
                <a:latin typeface="Arial"/>
                <a:cs typeface="Arial"/>
              </a:rPr>
              <a:t>Hound  March Hare  </a:t>
            </a:r>
            <a:r>
              <a:rPr sz="700" spc="-5" dirty="0">
                <a:latin typeface="Arial"/>
                <a:cs typeface="Arial"/>
              </a:rPr>
              <a:t>White</a:t>
            </a:r>
            <a:r>
              <a:rPr sz="700" spc="-20" dirty="0">
                <a:latin typeface="Arial"/>
                <a:cs typeface="Arial"/>
              </a:rPr>
              <a:t> </a:t>
            </a:r>
            <a:r>
              <a:rPr sz="700" spc="-5" dirty="0">
                <a:latin typeface="Arial"/>
                <a:cs typeface="Arial"/>
              </a:rPr>
              <a:t>Horse</a:t>
            </a:r>
            <a:endParaRPr sz="700" dirty="0">
              <a:latin typeface="Arial"/>
              <a:cs typeface="Arial"/>
            </a:endParaRPr>
          </a:p>
        </p:txBody>
      </p:sp>
      <p:sp>
        <p:nvSpPr>
          <p:cNvPr id="44" name="object 48"/>
          <p:cNvSpPr txBox="1"/>
          <p:nvPr/>
        </p:nvSpPr>
        <p:spPr>
          <a:xfrm>
            <a:off x="1814307" y="2769491"/>
            <a:ext cx="1798448" cy="114775"/>
          </a:xfrm>
          <a:prstGeom prst="rect">
            <a:avLst/>
          </a:prstGeom>
        </p:spPr>
        <p:txBody>
          <a:bodyPr vert="horz" wrap="square" lIns="0" tIns="6985" rIns="0" bIns="0" rtlCol="0">
            <a:spAutoFit/>
          </a:bodyPr>
          <a:lstStyle/>
          <a:p>
            <a:pPr marL="1233805" algn="ctr" rtl="1">
              <a:lnSpc>
                <a:spcPct val="100000"/>
              </a:lnSpc>
              <a:spcBef>
                <a:spcPts val="905"/>
              </a:spcBef>
            </a:pPr>
            <a:r>
              <a:rPr lang="en-US" sz="700" b="1" spc="-10" dirty="0">
                <a:latin typeface="Arial"/>
                <a:cs typeface="Arial"/>
              </a:rPr>
              <a:t>Finally, </a:t>
            </a:r>
            <a:endParaRPr sz="700" dirty="0">
              <a:latin typeface="Arial"/>
              <a:cs typeface="Arial"/>
            </a:endParaRPr>
          </a:p>
        </p:txBody>
      </p:sp>
    </p:spTree>
    <p:extLst>
      <p:ext uri="{BB962C8B-B14F-4D97-AF65-F5344CB8AC3E}">
        <p14:creationId xmlns:p14="http://schemas.microsoft.com/office/powerpoint/2010/main" val="1287663011"/>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90550" cy="243840"/>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rId2" action="ppaction://hlinksldjump"/>
              </a:rPr>
              <a:t>Multi-table (join)</a:t>
            </a:r>
            <a:r>
              <a:rPr sz="400" spc="-30" dirty="0">
                <a:latin typeface="Arial"/>
                <a:cs typeface="Arial"/>
                <a:hlinkClick r:id="rId2" action="ppaction://hlinksldjump"/>
              </a:rPr>
              <a:t> </a:t>
            </a:r>
            <a:r>
              <a:rPr sz="400" dirty="0">
                <a:latin typeface="Arial"/>
                <a:cs typeface="Arial"/>
                <a:hlinkClick r:id="rId2"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065655" cy="244475"/>
          </a:xfrm>
          <a:prstGeom prst="rect">
            <a:avLst/>
          </a:prstGeom>
        </p:spPr>
        <p:txBody>
          <a:bodyPr vert="horz" wrap="square" lIns="0" tIns="17145" rIns="0" bIns="0" rtlCol="0">
            <a:spAutoFit/>
          </a:bodyPr>
          <a:lstStyle/>
          <a:p>
            <a:pPr marL="12700">
              <a:lnSpc>
                <a:spcPct val="100000"/>
              </a:lnSpc>
              <a:spcBef>
                <a:spcPts val="135"/>
              </a:spcBef>
            </a:pPr>
            <a:r>
              <a:rPr spc="15" dirty="0"/>
              <a:t>Another </a:t>
            </a:r>
            <a:r>
              <a:rPr spc="10" dirty="0"/>
              <a:t>join of two</a:t>
            </a:r>
            <a:r>
              <a:rPr spc="-65" dirty="0"/>
              <a:t> </a:t>
            </a:r>
            <a:r>
              <a:rPr spc="10" dirty="0"/>
              <a:t>tables</a:t>
            </a:r>
          </a:p>
        </p:txBody>
      </p:sp>
      <p:sp>
        <p:nvSpPr>
          <p:cNvPr id="35" name="object 35"/>
          <p:cNvSpPr txBox="1"/>
          <p:nvPr/>
        </p:nvSpPr>
        <p:spPr>
          <a:xfrm>
            <a:off x="167297" y="282575"/>
            <a:ext cx="2661285" cy="134652"/>
          </a:xfrm>
          <a:prstGeom prst="rect">
            <a:avLst/>
          </a:prstGeom>
        </p:spPr>
        <p:txBody>
          <a:bodyPr vert="horz" wrap="square" lIns="0" tIns="11430" rIns="0" bIns="0" rtlCol="0">
            <a:spAutoFit/>
          </a:bodyPr>
          <a:lstStyle/>
          <a:p>
            <a:pPr marL="12700">
              <a:lnSpc>
                <a:spcPct val="100000"/>
              </a:lnSpc>
              <a:spcBef>
                <a:spcPts val="90"/>
              </a:spcBef>
            </a:pPr>
            <a:r>
              <a:rPr sz="800" spc="-5" dirty="0">
                <a:latin typeface="Arial"/>
                <a:cs typeface="Arial"/>
              </a:rPr>
              <a:t>Find the beers sold </a:t>
            </a:r>
            <a:r>
              <a:rPr sz="800" spc="-20" dirty="0">
                <a:latin typeface="Arial"/>
                <a:cs typeface="Arial"/>
              </a:rPr>
              <a:t>by </a:t>
            </a:r>
            <a:r>
              <a:rPr sz="800" spc="-10" dirty="0">
                <a:latin typeface="Arial"/>
                <a:cs typeface="Arial"/>
              </a:rPr>
              <a:t>pubs </a:t>
            </a:r>
            <a:r>
              <a:rPr sz="800" spc="-5" dirty="0">
                <a:latin typeface="Arial"/>
                <a:cs typeface="Arial"/>
              </a:rPr>
              <a:t>visited </a:t>
            </a:r>
            <a:r>
              <a:rPr sz="800" spc="-20" dirty="0">
                <a:latin typeface="Arial"/>
                <a:cs typeface="Arial"/>
              </a:rPr>
              <a:t>by</a:t>
            </a:r>
            <a:r>
              <a:rPr sz="800" spc="-35" dirty="0">
                <a:latin typeface="Arial"/>
                <a:cs typeface="Arial"/>
              </a:rPr>
              <a:t> </a:t>
            </a:r>
            <a:r>
              <a:rPr sz="800" spc="-5" dirty="0">
                <a:latin typeface="Arial"/>
                <a:cs typeface="Arial"/>
              </a:rPr>
              <a:t>Bob:</a:t>
            </a:r>
            <a:endParaRPr sz="800">
              <a:latin typeface="Arial"/>
              <a:cs typeface="Arial"/>
            </a:endParaRPr>
          </a:p>
        </p:txBody>
      </p:sp>
      <p:sp>
        <p:nvSpPr>
          <p:cNvPr id="36" name="object 36"/>
          <p:cNvSpPr txBox="1"/>
          <p:nvPr/>
        </p:nvSpPr>
        <p:spPr>
          <a:xfrm>
            <a:off x="171450" y="1285011"/>
            <a:ext cx="364490" cy="134652"/>
          </a:xfrm>
          <a:prstGeom prst="rect">
            <a:avLst/>
          </a:prstGeom>
        </p:spPr>
        <p:txBody>
          <a:bodyPr vert="horz" wrap="square" lIns="0" tIns="11430" rIns="0" bIns="0" rtlCol="0">
            <a:spAutoFit/>
          </a:bodyPr>
          <a:lstStyle/>
          <a:p>
            <a:pPr marL="12700">
              <a:lnSpc>
                <a:spcPct val="100000"/>
              </a:lnSpc>
              <a:spcBef>
                <a:spcPts val="90"/>
              </a:spcBef>
            </a:pPr>
            <a:r>
              <a:rPr sz="800" spc="-5" dirty="0">
                <a:latin typeface="Arial"/>
                <a:cs typeface="Arial"/>
              </a:rPr>
              <a:t>Sells:</a:t>
            </a:r>
            <a:endParaRPr sz="800">
              <a:latin typeface="Arial"/>
              <a:cs typeface="Arial"/>
            </a:endParaRPr>
          </a:p>
        </p:txBody>
      </p:sp>
      <p:graphicFrame>
        <p:nvGraphicFramePr>
          <p:cNvPr id="37" name="object 37"/>
          <p:cNvGraphicFramePr>
            <a:graphicFrameLocks noGrp="1"/>
          </p:cNvGraphicFramePr>
          <p:nvPr/>
        </p:nvGraphicFramePr>
        <p:xfrm>
          <a:off x="568020" y="434975"/>
          <a:ext cx="1221398" cy="1712508"/>
        </p:xfrm>
        <a:graphic>
          <a:graphicData uri="http://schemas.openxmlformats.org/drawingml/2006/table">
            <a:tbl>
              <a:tblPr firstRow="1" bandRow="1">
                <a:tableStyleId>{2D5ABB26-0587-4C30-8999-92F81FD0307C}</a:tableStyleId>
              </a:tblPr>
              <a:tblGrid>
                <a:gridCol w="431114">
                  <a:extLst>
                    <a:ext uri="{9D8B030D-6E8A-4147-A177-3AD203B41FA5}">
                      <a16:colId xmlns:a16="http://schemas.microsoft.com/office/drawing/2014/main" val="20000"/>
                    </a:ext>
                  </a:extLst>
                </a:gridCol>
                <a:gridCol w="378644">
                  <a:extLst>
                    <a:ext uri="{9D8B030D-6E8A-4147-A177-3AD203B41FA5}">
                      <a16:colId xmlns:a16="http://schemas.microsoft.com/office/drawing/2014/main" val="20001"/>
                    </a:ext>
                  </a:extLst>
                </a:gridCol>
                <a:gridCol w="411640">
                  <a:extLst>
                    <a:ext uri="{9D8B030D-6E8A-4147-A177-3AD203B41FA5}">
                      <a16:colId xmlns:a16="http://schemas.microsoft.com/office/drawing/2014/main" val="20002"/>
                    </a:ext>
                  </a:extLst>
                </a:gridCol>
              </a:tblGrid>
              <a:tr h="168549">
                <a:tc>
                  <a:txBody>
                    <a:bodyPr/>
                    <a:lstStyle/>
                    <a:p>
                      <a:pPr marL="75565">
                        <a:lnSpc>
                          <a:spcPts val="1190"/>
                        </a:lnSpc>
                      </a:pPr>
                      <a:r>
                        <a:rPr sz="800" b="1" spc="-10" dirty="0">
                          <a:latin typeface="Arial"/>
                          <a:cs typeface="Arial"/>
                        </a:rPr>
                        <a:t>pub</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800" b="1" spc="-5" dirty="0">
                          <a:latin typeface="Arial"/>
                          <a:cs typeface="Arial"/>
                        </a:rPr>
                        <a:t>beer</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190"/>
                        </a:lnSpc>
                      </a:pPr>
                      <a:r>
                        <a:rPr sz="800" b="1" spc="-5" dirty="0">
                          <a:latin typeface="Arial"/>
                          <a:cs typeface="Arial"/>
                        </a:rPr>
                        <a:t>price</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55774">
                <a:tc>
                  <a:txBody>
                    <a:bodyPr/>
                    <a:lstStyle/>
                    <a:p>
                      <a:pPr marL="75565">
                        <a:lnSpc>
                          <a:spcPts val="1280"/>
                        </a:lnSpc>
                      </a:pPr>
                      <a:r>
                        <a:rPr sz="800" spc="-10" dirty="0">
                          <a:latin typeface="Arial"/>
                          <a:cs typeface="Arial"/>
                        </a:rPr>
                        <a:t>HoHo</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800" spc="-10" dirty="0">
                          <a:latin typeface="Arial"/>
                          <a:cs typeface="Arial"/>
                        </a:rPr>
                        <a:t>BH</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R="53340" algn="ctr">
                        <a:lnSpc>
                          <a:spcPts val="1280"/>
                        </a:lnSpc>
                      </a:pPr>
                      <a:r>
                        <a:rPr sz="800" spc="-5" dirty="0">
                          <a:latin typeface="Arial"/>
                          <a:cs typeface="Arial"/>
                        </a:rPr>
                        <a:t>1.50</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52826">
                <a:tc>
                  <a:txBody>
                    <a:bodyPr/>
                    <a:lstStyle/>
                    <a:p>
                      <a:pPr marL="75565">
                        <a:lnSpc>
                          <a:spcPts val="1255"/>
                        </a:lnSpc>
                      </a:pPr>
                      <a:r>
                        <a:rPr sz="800" spc="-10" dirty="0">
                          <a:latin typeface="Arial"/>
                          <a:cs typeface="Arial"/>
                        </a:rPr>
                        <a:t>HoHo</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RR</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3340" algn="ctr">
                        <a:lnSpc>
                          <a:spcPts val="1255"/>
                        </a:lnSpc>
                      </a:pPr>
                      <a:r>
                        <a:rPr sz="800" spc="-5" dirty="0">
                          <a:latin typeface="Arial"/>
                          <a:cs typeface="Arial"/>
                        </a:rPr>
                        <a:t>2.00</a:t>
                      </a:r>
                      <a:endParaRPr sz="800" dirty="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52821">
                <a:tc>
                  <a:txBody>
                    <a:bodyPr/>
                    <a:lstStyle/>
                    <a:p>
                      <a:pPr marL="75565">
                        <a:lnSpc>
                          <a:spcPts val="1255"/>
                        </a:lnSpc>
                      </a:pPr>
                      <a:r>
                        <a:rPr sz="800" spc="-10" dirty="0">
                          <a:latin typeface="Arial"/>
                          <a:cs typeface="Arial"/>
                        </a:rPr>
                        <a:t>HoHa</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SW</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3340" algn="ctr">
                        <a:lnSpc>
                          <a:spcPts val="1255"/>
                        </a:lnSpc>
                      </a:pPr>
                      <a:r>
                        <a:rPr sz="800" spc="-5" dirty="0">
                          <a:latin typeface="Arial"/>
                          <a:cs typeface="Arial"/>
                        </a:rPr>
                        <a:t>2.75</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52821">
                <a:tc>
                  <a:txBody>
                    <a:bodyPr/>
                    <a:lstStyle/>
                    <a:p>
                      <a:pPr marL="75565">
                        <a:lnSpc>
                          <a:spcPts val="1255"/>
                        </a:lnSpc>
                      </a:pPr>
                      <a:r>
                        <a:rPr sz="800" spc="-10" dirty="0">
                          <a:latin typeface="Arial"/>
                          <a:cs typeface="Arial"/>
                        </a:rPr>
                        <a:t>HoHa</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RR</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3340" algn="ctr">
                        <a:lnSpc>
                          <a:spcPts val="1255"/>
                        </a:lnSpc>
                      </a:pPr>
                      <a:r>
                        <a:rPr sz="800" spc="-5" dirty="0">
                          <a:latin typeface="Arial"/>
                          <a:cs typeface="Arial"/>
                        </a:rPr>
                        <a:t>2.50</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52821">
                <a:tc>
                  <a:txBody>
                    <a:bodyPr/>
                    <a:lstStyle/>
                    <a:p>
                      <a:pPr marL="75565">
                        <a:lnSpc>
                          <a:spcPts val="1255"/>
                        </a:lnSpc>
                      </a:pPr>
                      <a:r>
                        <a:rPr sz="800" spc="-10" dirty="0">
                          <a:latin typeface="Arial"/>
                          <a:cs typeface="Arial"/>
                        </a:rPr>
                        <a:t>MH</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BH</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3340" algn="ctr">
                        <a:lnSpc>
                          <a:spcPts val="1255"/>
                        </a:lnSpc>
                      </a:pPr>
                      <a:r>
                        <a:rPr sz="800" spc="-5" dirty="0">
                          <a:latin typeface="Arial"/>
                          <a:cs typeface="Arial"/>
                        </a:rPr>
                        <a:t>1.75</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152826">
                <a:tc>
                  <a:txBody>
                    <a:bodyPr/>
                    <a:lstStyle/>
                    <a:p>
                      <a:pPr marL="75565">
                        <a:lnSpc>
                          <a:spcPts val="1255"/>
                        </a:lnSpc>
                      </a:pPr>
                      <a:r>
                        <a:rPr sz="800" spc="-10" dirty="0">
                          <a:latin typeface="Arial"/>
                          <a:cs typeface="Arial"/>
                        </a:rPr>
                        <a:t>MH</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RR</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3340" algn="ctr">
                        <a:lnSpc>
                          <a:spcPts val="1255"/>
                        </a:lnSpc>
                      </a:pPr>
                      <a:r>
                        <a:rPr sz="800" spc="-5" dirty="0">
                          <a:latin typeface="Arial"/>
                          <a:cs typeface="Arial"/>
                        </a:rPr>
                        <a:t>2.50</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52826">
                <a:tc>
                  <a:txBody>
                    <a:bodyPr/>
                    <a:lstStyle/>
                    <a:p>
                      <a:pPr marL="75565">
                        <a:lnSpc>
                          <a:spcPts val="1255"/>
                        </a:lnSpc>
                      </a:pPr>
                      <a:r>
                        <a:rPr sz="800" spc="-10" dirty="0">
                          <a:latin typeface="Arial"/>
                          <a:cs typeface="Arial"/>
                        </a:rPr>
                        <a:t>BH</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BH</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3340" algn="ctr">
                        <a:lnSpc>
                          <a:spcPts val="1255"/>
                        </a:lnSpc>
                      </a:pPr>
                      <a:r>
                        <a:rPr sz="800" spc="-5" dirty="0">
                          <a:latin typeface="Arial"/>
                          <a:cs typeface="Arial"/>
                        </a:rPr>
                        <a:t>2.50</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7"/>
                  </a:ext>
                </a:extLst>
              </a:tr>
              <a:tr h="152821">
                <a:tc>
                  <a:txBody>
                    <a:bodyPr/>
                    <a:lstStyle/>
                    <a:p>
                      <a:pPr marL="75565">
                        <a:lnSpc>
                          <a:spcPts val="1255"/>
                        </a:lnSpc>
                      </a:pPr>
                      <a:r>
                        <a:rPr sz="800" spc="-10" dirty="0">
                          <a:latin typeface="Arial"/>
                          <a:cs typeface="Arial"/>
                        </a:rPr>
                        <a:t>BH</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SW</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3340" algn="ctr">
                        <a:lnSpc>
                          <a:spcPts val="1255"/>
                        </a:lnSpc>
                      </a:pPr>
                      <a:r>
                        <a:rPr sz="800" spc="-5" dirty="0">
                          <a:latin typeface="Arial"/>
                          <a:cs typeface="Arial"/>
                        </a:rPr>
                        <a:t>2.25</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8"/>
                  </a:ext>
                </a:extLst>
              </a:tr>
              <a:tr h="152821">
                <a:tc>
                  <a:txBody>
                    <a:bodyPr/>
                    <a:lstStyle/>
                    <a:p>
                      <a:pPr marL="75565">
                        <a:lnSpc>
                          <a:spcPts val="1255"/>
                        </a:lnSpc>
                      </a:pPr>
                      <a:r>
                        <a:rPr sz="800" spc="-10" dirty="0">
                          <a:latin typeface="Arial"/>
                          <a:cs typeface="Arial"/>
                        </a:rPr>
                        <a:t>BH</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RR</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R="53340" algn="ctr">
                        <a:lnSpc>
                          <a:spcPts val="1255"/>
                        </a:lnSpc>
                      </a:pPr>
                      <a:r>
                        <a:rPr sz="800" spc="-5" dirty="0">
                          <a:latin typeface="Arial"/>
                          <a:cs typeface="Arial"/>
                        </a:rPr>
                        <a:t>2.50</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9"/>
                  </a:ext>
                </a:extLst>
              </a:tr>
              <a:tr h="165602">
                <a:tc>
                  <a:txBody>
                    <a:bodyPr/>
                    <a:lstStyle/>
                    <a:p>
                      <a:pPr marL="75565">
                        <a:lnSpc>
                          <a:spcPts val="1260"/>
                        </a:lnSpc>
                      </a:pPr>
                      <a:r>
                        <a:rPr sz="800" spc="-10" dirty="0">
                          <a:latin typeface="Arial"/>
                          <a:cs typeface="Arial"/>
                        </a:rPr>
                        <a:t>WH</a:t>
                      </a:r>
                      <a:endParaRPr sz="8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800" spc="-10" dirty="0">
                          <a:latin typeface="Arial"/>
                          <a:cs typeface="Arial"/>
                        </a:rPr>
                        <a:t>RR</a:t>
                      </a:r>
                      <a:endParaRPr sz="8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R="53340" algn="ctr">
                        <a:lnSpc>
                          <a:spcPts val="1260"/>
                        </a:lnSpc>
                      </a:pPr>
                      <a:r>
                        <a:rPr sz="800" spc="-5" dirty="0">
                          <a:latin typeface="Arial"/>
                          <a:cs typeface="Arial"/>
                        </a:rPr>
                        <a:t>2.75</a:t>
                      </a:r>
                      <a:endParaRPr sz="800" dirty="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10"/>
                  </a:ext>
                </a:extLst>
              </a:tr>
            </a:tbl>
          </a:graphicData>
        </a:graphic>
      </p:graphicFrame>
      <p:sp>
        <p:nvSpPr>
          <p:cNvPr id="38" name="object 38"/>
          <p:cNvSpPr txBox="1"/>
          <p:nvPr/>
        </p:nvSpPr>
        <p:spPr>
          <a:xfrm>
            <a:off x="2029689" y="1285011"/>
            <a:ext cx="394970" cy="134652"/>
          </a:xfrm>
          <a:prstGeom prst="rect">
            <a:avLst/>
          </a:prstGeom>
        </p:spPr>
        <p:txBody>
          <a:bodyPr vert="horz" wrap="square" lIns="0" tIns="11430" rIns="0" bIns="0" rtlCol="0">
            <a:spAutoFit/>
          </a:bodyPr>
          <a:lstStyle/>
          <a:p>
            <a:pPr marL="12700">
              <a:lnSpc>
                <a:spcPct val="100000"/>
              </a:lnSpc>
              <a:spcBef>
                <a:spcPts val="90"/>
              </a:spcBef>
            </a:pPr>
            <a:r>
              <a:rPr sz="800" spc="-5" dirty="0">
                <a:latin typeface="Arial"/>
                <a:cs typeface="Arial"/>
              </a:rPr>
              <a:t>Visits:</a:t>
            </a:r>
            <a:endParaRPr sz="800">
              <a:latin typeface="Arial"/>
              <a:cs typeface="Arial"/>
            </a:endParaRPr>
          </a:p>
        </p:txBody>
      </p:sp>
      <p:graphicFrame>
        <p:nvGraphicFramePr>
          <p:cNvPr id="39" name="object 39"/>
          <p:cNvGraphicFramePr>
            <a:graphicFrameLocks noGrp="1"/>
          </p:cNvGraphicFramePr>
          <p:nvPr/>
        </p:nvGraphicFramePr>
        <p:xfrm>
          <a:off x="2457018" y="693077"/>
          <a:ext cx="956083" cy="1302002"/>
        </p:xfrm>
        <a:graphic>
          <a:graphicData uri="http://schemas.openxmlformats.org/drawingml/2006/table">
            <a:tbl>
              <a:tblPr firstRow="1" bandRow="1">
                <a:tableStyleId>{2D5ABB26-0587-4C30-8999-92F81FD0307C}</a:tableStyleId>
              </a:tblPr>
              <a:tblGrid>
                <a:gridCol w="527030">
                  <a:extLst>
                    <a:ext uri="{9D8B030D-6E8A-4147-A177-3AD203B41FA5}">
                      <a16:colId xmlns:a16="http://schemas.microsoft.com/office/drawing/2014/main" val="20000"/>
                    </a:ext>
                  </a:extLst>
                </a:gridCol>
                <a:gridCol w="429053">
                  <a:extLst>
                    <a:ext uri="{9D8B030D-6E8A-4147-A177-3AD203B41FA5}">
                      <a16:colId xmlns:a16="http://schemas.microsoft.com/office/drawing/2014/main" val="20001"/>
                    </a:ext>
                  </a:extLst>
                </a:gridCol>
              </a:tblGrid>
              <a:tr h="175007">
                <a:tc>
                  <a:txBody>
                    <a:bodyPr/>
                    <a:lstStyle/>
                    <a:p>
                      <a:pPr marL="75565">
                        <a:lnSpc>
                          <a:spcPts val="1190"/>
                        </a:lnSpc>
                      </a:pPr>
                      <a:r>
                        <a:rPr sz="800" b="1" spc="-5" dirty="0">
                          <a:latin typeface="Arial"/>
                          <a:cs typeface="Arial"/>
                        </a:rPr>
                        <a:t>drinker</a:t>
                      </a:r>
                      <a:endParaRPr sz="8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800" b="1" spc="-10" dirty="0">
                          <a:latin typeface="Arial"/>
                          <a:cs typeface="Arial"/>
                        </a:rPr>
                        <a:t>pub</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1725">
                <a:tc>
                  <a:txBody>
                    <a:bodyPr/>
                    <a:lstStyle/>
                    <a:p>
                      <a:pPr marL="75565">
                        <a:lnSpc>
                          <a:spcPts val="1280"/>
                        </a:lnSpc>
                      </a:pPr>
                      <a:r>
                        <a:rPr sz="800" spc="-5" dirty="0">
                          <a:latin typeface="Arial"/>
                          <a:cs typeface="Arial"/>
                        </a:rPr>
                        <a:t>Alice</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800" spc="-10" dirty="0">
                          <a:latin typeface="Arial"/>
                          <a:cs typeface="Arial"/>
                        </a:rPr>
                        <a:t>BH</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58670">
                <a:tc>
                  <a:txBody>
                    <a:bodyPr/>
                    <a:lstStyle/>
                    <a:p>
                      <a:pPr marL="75565">
                        <a:lnSpc>
                          <a:spcPts val="1255"/>
                        </a:lnSpc>
                      </a:pPr>
                      <a:r>
                        <a:rPr sz="800" spc="-5" dirty="0">
                          <a:latin typeface="Arial"/>
                          <a:cs typeface="Arial"/>
                        </a:rPr>
                        <a:t>Alice</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HoHa</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58670">
                <a:tc>
                  <a:txBody>
                    <a:bodyPr/>
                    <a:lstStyle/>
                    <a:p>
                      <a:pPr marL="75565">
                        <a:lnSpc>
                          <a:spcPts val="1255"/>
                        </a:lnSpc>
                      </a:pPr>
                      <a:r>
                        <a:rPr sz="800" spc="-10" dirty="0">
                          <a:latin typeface="Arial"/>
                          <a:cs typeface="Arial"/>
                        </a:rPr>
                        <a:t>Bob</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HoHo</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58665">
                <a:tc>
                  <a:txBody>
                    <a:bodyPr/>
                    <a:lstStyle/>
                    <a:p>
                      <a:pPr marL="75565">
                        <a:lnSpc>
                          <a:spcPts val="1255"/>
                        </a:lnSpc>
                      </a:pPr>
                      <a:r>
                        <a:rPr sz="800" spc="-10" dirty="0">
                          <a:latin typeface="Arial"/>
                          <a:cs typeface="Arial"/>
                        </a:rPr>
                        <a:t>Bob</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WH</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58665">
                <a:tc>
                  <a:txBody>
                    <a:bodyPr/>
                    <a:lstStyle/>
                    <a:p>
                      <a:pPr marL="75565">
                        <a:lnSpc>
                          <a:spcPts val="1255"/>
                        </a:lnSpc>
                      </a:pPr>
                      <a:r>
                        <a:rPr sz="800" spc="-5" dirty="0">
                          <a:latin typeface="Arial"/>
                          <a:cs typeface="Arial"/>
                        </a:rPr>
                        <a:t>Carol</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MH</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158665">
                <a:tc>
                  <a:txBody>
                    <a:bodyPr/>
                    <a:lstStyle/>
                    <a:p>
                      <a:pPr marL="75565">
                        <a:lnSpc>
                          <a:spcPts val="1255"/>
                        </a:lnSpc>
                      </a:pPr>
                      <a:r>
                        <a:rPr sz="800" spc="-20" dirty="0">
                          <a:latin typeface="Arial"/>
                          <a:cs typeface="Arial"/>
                        </a:rPr>
                        <a:t>Dave</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800" spc="-10" dirty="0">
                          <a:latin typeface="Arial"/>
                          <a:cs typeface="Arial"/>
                        </a:rPr>
                        <a:t>HoHa</a:t>
                      </a:r>
                      <a:endParaRPr sz="8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71935">
                <a:tc>
                  <a:txBody>
                    <a:bodyPr/>
                    <a:lstStyle/>
                    <a:p>
                      <a:pPr marL="75565">
                        <a:lnSpc>
                          <a:spcPts val="1260"/>
                        </a:lnSpc>
                      </a:pPr>
                      <a:r>
                        <a:rPr sz="800" spc="-20" dirty="0">
                          <a:latin typeface="Arial"/>
                          <a:cs typeface="Arial"/>
                        </a:rPr>
                        <a:t>Eve</a:t>
                      </a:r>
                      <a:endParaRPr sz="8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800" spc="-10" dirty="0">
                          <a:latin typeface="Arial"/>
                          <a:cs typeface="Arial"/>
                        </a:rPr>
                        <a:t>MH</a:t>
                      </a:r>
                      <a:endParaRPr sz="800" dirty="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7"/>
                  </a:ext>
                </a:extLst>
              </a:tr>
            </a:tbl>
          </a:graphicData>
        </a:graphic>
      </p:graphicFrame>
      <p:sp>
        <p:nvSpPr>
          <p:cNvPr id="40" name="object 34"/>
          <p:cNvSpPr txBox="1"/>
          <p:nvPr/>
        </p:nvSpPr>
        <p:spPr>
          <a:xfrm>
            <a:off x="2049745" y="2122974"/>
            <a:ext cx="1642110" cy="506036"/>
          </a:xfrm>
          <a:prstGeom prst="rect">
            <a:avLst/>
          </a:prstGeom>
        </p:spPr>
        <p:txBody>
          <a:bodyPr vert="horz" wrap="square" lIns="0" tIns="6985" rIns="0" bIns="0" rtlCol="0">
            <a:spAutoFit/>
          </a:bodyPr>
          <a:lstStyle/>
          <a:p>
            <a:pPr marL="12700" marR="471805">
              <a:lnSpc>
                <a:spcPct val="102600"/>
              </a:lnSpc>
              <a:spcBef>
                <a:spcPts val="55"/>
              </a:spcBef>
            </a:pPr>
            <a:r>
              <a:rPr sz="800" spc="-10" dirty="0">
                <a:solidFill>
                  <a:srgbClr val="0000FF"/>
                </a:solidFill>
                <a:latin typeface="Arial"/>
                <a:cs typeface="Arial"/>
              </a:rPr>
              <a:t>SELECT </a:t>
            </a:r>
            <a:r>
              <a:rPr sz="800" spc="-5" dirty="0">
                <a:solidFill>
                  <a:srgbClr val="0000FF"/>
                </a:solidFill>
                <a:latin typeface="Arial"/>
                <a:cs typeface="Arial"/>
              </a:rPr>
              <a:t>beer  </a:t>
            </a:r>
            <a:r>
              <a:rPr sz="800" spc="-15" dirty="0">
                <a:solidFill>
                  <a:srgbClr val="0000FF"/>
                </a:solidFill>
                <a:latin typeface="Arial"/>
                <a:cs typeface="Arial"/>
              </a:rPr>
              <a:t>FROM </a:t>
            </a:r>
            <a:r>
              <a:rPr sz="800" spc="-10" dirty="0">
                <a:solidFill>
                  <a:srgbClr val="0000FF"/>
                </a:solidFill>
                <a:latin typeface="Arial"/>
                <a:cs typeface="Arial"/>
              </a:rPr>
              <a:t>Sells,</a:t>
            </a:r>
            <a:r>
              <a:rPr sz="800" spc="-60" dirty="0">
                <a:solidFill>
                  <a:srgbClr val="0000FF"/>
                </a:solidFill>
                <a:latin typeface="Arial"/>
                <a:cs typeface="Arial"/>
              </a:rPr>
              <a:t> </a:t>
            </a:r>
            <a:r>
              <a:rPr sz="800" spc="-5" dirty="0">
                <a:solidFill>
                  <a:srgbClr val="0000FF"/>
                </a:solidFill>
                <a:latin typeface="Arial"/>
                <a:cs typeface="Arial"/>
              </a:rPr>
              <a:t>Visits</a:t>
            </a:r>
            <a:endParaRPr sz="800" dirty="0">
              <a:latin typeface="Arial"/>
              <a:cs typeface="Arial"/>
            </a:endParaRPr>
          </a:p>
          <a:p>
            <a:pPr marL="12700" marR="5080">
              <a:lnSpc>
                <a:spcPct val="102699"/>
              </a:lnSpc>
            </a:pPr>
            <a:r>
              <a:rPr sz="800" spc="-10" dirty="0">
                <a:solidFill>
                  <a:srgbClr val="0000FF"/>
                </a:solidFill>
                <a:latin typeface="Arial"/>
                <a:cs typeface="Arial"/>
              </a:rPr>
              <a:t>WHERE drinker = </a:t>
            </a:r>
            <a:r>
              <a:rPr sz="800" spc="-5" dirty="0">
                <a:solidFill>
                  <a:srgbClr val="0000FF"/>
                </a:solidFill>
                <a:latin typeface="Arial"/>
                <a:cs typeface="Arial"/>
              </a:rPr>
              <a:t>’Bob’  </a:t>
            </a:r>
            <a:r>
              <a:rPr sz="800" spc="-10" dirty="0">
                <a:solidFill>
                  <a:srgbClr val="0000FF"/>
                </a:solidFill>
                <a:latin typeface="Arial"/>
                <a:cs typeface="Arial"/>
              </a:rPr>
              <a:t>AND Sells.pub=Visits.pub;</a:t>
            </a:r>
            <a:endParaRPr sz="800" dirty="0">
              <a:latin typeface="Arial"/>
              <a:cs typeface="Arial"/>
            </a:endParaRPr>
          </a:p>
        </p:txBody>
      </p:sp>
      <p:sp>
        <p:nvSpPr>
          <p:cNvPr id="42" name="object 36"/>
          <p:cNvSpPr txBox="1"/>
          <p:nvPr/>
        </p:nvSpPr>
        <p:spPr>
          <a:xfrm>
            <a:off x="2065617" y="2688940"/>
            <a:ext cx="1045210" cy="153888"/>
          </a:xfrm>
          <a:prstGeom prst="rect">
            <a:avLst/>
          </a:prstGeom>
          <a:ln w="5054">
            <a:solidFill>
              <a:srgbClr val="000000"/>
            </a:solidFill>
          </a:ln>
        </p:spPr>
        <p:txBody>
          <a:bodyPr vert="horz" wrap="square" lIns="0" tIns="0" rIns="0" bIns="0" rtlCol="0">
            <a:spAutoFit/>
          </a:bodyPr>
          <a:lstStyle/>
          <a:p>
            <a:pPr marL="75565">
              <a:lnSpc>
                <a:spcPts val="1150"/>
              </a:lnSpc>
            </a:pPr>
            <a:r>
              <a:rPr sz="800" b="1" spc="-5" dirty="0">
                <a:latin typeface="Arial"/>
                <a:cs typeface="Arial"/>
              </a:rPr>
              <a:t>beer</a:t>
            </a:r>
            <a:endParaRPr sz="800">
              <a:latin typeface="Arial"/>
              <a:cs typeface="Arial"/>
            </a:endParaRPr>
          </a:p>
        </p:txBody>
      </p:sp>
      <p:sp>
        <p:nvSpPr>
          <p:cNvPr id="43" name="object 37"/>
          <p:cNvSpPr txBox="1"/>
          <p:nvPr/>
        </p:nvSpPr>
        <p:spPr>
          <a:xfrm>
            <a:off x="2065617" y="2861012"/>
            <a:ext cx="1045210" cy="407547"/>
          </a:xfrm>
          <a:prstGeom prst="rect">
            <a:avLst/>
          </a:prstGeom>
          <a:ln w="5054">
            <a:solidFill>
              <a:srgbClr val="000000"/>
            </a:solidFill>
          </a:ln>
        </p:spPr>
        <p:txBody>
          <a:bodyPr vert="horz" wrap="square" lIns="0" tIns="0" rIns="0" bIns="0" rtlCol="0">
            <a:spAutoFit/>
          </a:bodyPr>
          <a:lstStyle/>
          <a:p>
            <a:pPr marL="75565">
              <a:lnSpc>
                <a:spcPts val="1150"/>
              </a:lnSpc>
            </a:pPr>
            <a:r>
              <a:rPr sz="800" spc="-10" dirty="0">
                <a:latin typeface="Arial"/>
                <a:cs typeface="Arial"/>
              </a:rPr>
              <a:t>Bad</a:t>
            </a:r>
            <a:r>
              <a:rPr sz="800" spc="-15" dirty="0">
                <a:latin typeface="Arial"/>
                <a:cs typeface="Arial"/>
              </a:rPr>
              <a:t> </a:t>
            </a:r>
            <a:r>
              <a:rPr sz="800" spc="-5" dirty="0">
                <a:latin typeface="Arial"/>
                <a:cs typeface="Arial"/>
              </a:rPr>
              <a:t>Habit</a:t>
            </a:r>
            <a:endParaRPr sz="800">
              <a:latin typeface="Arial"/>
              <a:cs typeface="Arial"/>
            </a:endParaRPr>
          </a:p>
          <a:p>
            <a:pPr marL="75565" marR="67945">
              <a:lnSpc>
                <a:spcPct val="102600"/>
              </a:lnSpc>
            </a:pPr>
            <a:r>
              <a:rPr sz="800" spc="-10" dirty="0">
                <a:latin typeface="Arial"/>
                <a:cs typeface="Arial"/>
              </a:rPr>
              <a:t>Rampant</a:t>
            </a:r>
            <a:r>
              <a:rPr sz="800" spc="-60" dirty="0">
                <a:latin typeface="Arial"/>
                <a:cs typeface="Arial"/>
              </a:rPr>
              <a:t> </a:t>
            </a:r>
            <a:r>
              <a:rPr sz="800" spc="-10" dirty="0">
                <a:latin typeface="Arial"/>
                <a:cs typeface="Arial"/>
              </a:rPr>
              <a:t>Ram  Rampant</a:t>
            </a:r>
            <a:r>
              <a:rPr sz="800" spc="-60" dirty="0">
                <a:latin typeface="Arial"/>
                <a:cs typeface="Arial"/>
              </a:rPr>
              <a:t> </a:t>
            </a:r>
            <a:r>
              <a:rPr sz="800" spc="-10" dirty="0">
                <a:latin typeface="Arial"/>
                <a:cs typeface="Arial"/>
              </a:rPr>
              <a:t>Ram</a:t>
            </a:r>
            <a:endParaRPr sz="800">
              <a:latin typeface="Arial"/>
              <a:cs typeface="Arial"/>
            </a:endParaRPr>
          </a:p>
        </p:txBody>
      </p:sp>
      <p:sp>
        <p:nvSpPr>
          <p:cNvPr id="44" name="Rectangle 43"/>
          <p:cNvSpPr/>
          <p:nvPr/>
        </p:nvSpPr>
        <p:spPr>
          <a:xfrm>
            <a:off x="-3607" y="2919677"/>
            <a:ext cx="1927657" cy="345992"/>
          </a:xfrm>
          <a:prstGeom prst="rect">
            <a:avLst/>
          </a:prstGeom>
        </p:spPr>
        <p:txBody>
          <a:bodyPr wrap="square">
            <a:spAutoFit/>
          </a:bodyPr>
          <a:lstStyle/>
          <a:p>
            <a:pPr marL="12700" marR="5080">
              <a:lnSpc>
                <a:spcPct val="102600"/>
              </a:lnSpc>
              <a:spcBef>
                <a:spcPts val="55"/>
              </a:spcBef>
            </a:pPr>
            <a:r>
              <a:rPr lang="en-US" sz="800" spc="-5" dirty="0">
                <a:latin typeface="Arial"/>
                <a:cs typeface="Arial"/>
              </a:rPr>
              <a:t>This time the </a:t>
            </a:r>
            <a:r>
              <a:rPr lang="en-US" sz="800" dirty="0">
                <a:latin typeface="Arial"/>
                <a:cs typeface="Arial"/>
              </a:rPr>
              <a:t>Cartesian </a:t>
            </a:r>
            <a:r>
              <a:rPr lang="en-US" sz="800" spc="-5" dirty="0">
                <a:latin typeface="Arial"/>
                <a:cs typeface="Arial"/>
              </a:rPr>
              <a:t>product </a:t>
            </a:r>
            <a:r>
              <a:rPr lang="en-US" sz="800" spc="-10" dirty="0">
                <a:latin typeface="Arial"/>
                <a:cs typeface="Arial"/>
              </a:rPr>
              <a:t>would</a:t>
            </a:r>
            <a:r>
              <a:rPr lang="en-US" sz="800" spc="-85" dirty="0">
                <a:latin typeface="Arial"/>
                <a:cs typeface="Arial"/>
              </a:rPr>
              <a:t> </a:t>
            </a:r>
            <a:r>
              <a:rPr lang="en-US" sz="800" spc="-5" dirty="0">
                <a:latin typeface="Arial"/>
                <a:cs typeface="Arial"/>
              </a:rPr>
              <a:t>contain  </a:t>
            </a:r>
            <a:r>
              <a:rPr lang="en-US" sz="800" spc="-10" dirty="0">
                <a:solidFill>
                  <a:srgbClr val="0000FF"/>
                </a:solidFill>
                <a:latin typeface="Arial"/>
                <a:cs typeface="Arial"/>
              </a:rPr>
              <a:t>10 </a:t>
            </a:r>
            <a:r>
              <a:rPr lang="en-US" sz="800" i="1" spc="-55" dirty="0">
                <a:solidFill>
                  <a:srgbClr val="0000FF"/>
                </a:solidFill>
                <a:latin typeface="Verdana"/>
                <a:cs typeface="Verdana"/>
              </a:rPr>
              <a:t>× </a:t>
            </a:r>
            <a:r>
              <a:rPr lang="en-US" sz="800" spc="-10" dirty="0">
                <a:solidFill>
                  <a:srgbClr val="0000FF"/>
                </a:solidFill>
                <a:latin typeface="Arial"/>
                <a:cs typeface="Arial"/>
              </a:rPr>
              <a:t>7 </a:t>
            </a:r>
            <a:r>
              <a:rPr lang="en-US" sz="800" spc="-30" dirty="0">
                <a:solidFill>
                  <a:srgbClr val="0000FF"/>
                </a:solidFill>
                <a:latin typeface="Lucida Sans Unicode"/>
                <a:cs typeface="Lucida Sans Unicode"/>
              </a:rPr>
              <a:t>= </a:t>
            </a:r>
            <a:r>
              <a:rPr lang="en-US" sz="800" spc="-10" dirty="0">
                <a:solidFill>
                  <a:srgbClr val="0000FF"/>
                </a:solidFill>
                <a:latin typeface="Arial"/>
                <a:cs typeface="Arial"/>
              </a:rPr>
              <a:t>70</a:t>
            </a:r>
            <a:r>
              <a:rPr lang="en-US" sz="800" spc="-165" dirty="0">
                <a:solidFill>
                  <a:srgbClr val="0000FF"/>
                </a:solidFill>
                <a:latin typeface="Arial"/>
                <a:cs typeface="Arial"/>
              </a:rPr>
              <a:t> </a:t>
            </a:r>
            <a:r>
              <a:rPr lang="en-US" sz="800" spc="-10" dirty="0">
                <a:latin typeface="Arial"/>
                <a:cs typeface="Arial"/>
              </a:rPr>
              <a:t>tuples.</a:t>
            </a:r>
            <a:endParaRPr lang="en-US" sz="800" dirty="0">
              <a:latin typeface="Arial"/>
              <a:cs typeface="Arial"/>
            </a:endParaRPr>
          </a:p>
        </p:txBody>
      </p:sp>
    </p:spTree>
    <p:extLst>
      <p:ext uri="{BB962C8B-B14F-4D97-AF65-F5344CB8AC3E}">
        <p14:creationId xmlns:p14="http://schemas.microsoft.com/office/powerpoint/2010/main" val="2389867070"/>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90550" cy="243840"/>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rId2" action="ppaction://hlinksldjump"/>
              </a:rPr>
              <a:t>Multi-table (join)</a:t>
            </a:r>
            <a:r>
              <a:rPr sz="400" spc="-30" dirty="0">
                <a:latin typeface="Arial"/>
                <a:cs typeface="Arial"/>
                <a:hlinkClick r:id="rId2" action="ppaction://hlinksldjump"/>
              </a:rPr>
              <a:t> </a:t>
            </a:r>
            <a:r>
              <a:rPr sz="400" dirty="0">
                <a:latin typeface="Arial"/>
                <a:cs typeface="Arial"/>
                <a:hlinkClick r:id="rId2"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339340" cy="244475"/>
          </a:xfrm>
          <a:prstGeom prst="rect">
            <a:avLst/>
          </a:prstGeom>
        </p:spPr>
        <p:txBody>
          <a:bodyPr vert="horz" wrap="square" lIns="0" tIns="17145" rIns="0" bIns="0" rtlCol="0">
            <a:spAutoFit/>
          </a:bodyPr>
          <a:lstStyle/>
          <a:p>
            <a:pPr marL="12700">
              <a:lnSpc>
                <a:spcPct val="100000"/>
              </a:lnSpc>
              <a:spcBef>
                <a:spcPts val="135"/>
              </a:spcBef>
            </a:pPr>
            <a:r>
              <a:rPr spc="15" dirty="0"/>
              <a:t>Joining more than </a:t>
            </a:r>
            <a:r>
              <a:rPr spc="10" dirty="0"/>
              <a:t>two</a:t>
            </a:r>
            <a:r>
              <a:rPr spc="-85" dirty="0"/>
              <a:t> </a:t>
            </a:r>
            <a:r>
              <a:rPr spc="10" dirty="0"/>
              <a:t>tables</a:t>
            </a:r>
          </a:p>
        </p:txBody>
      </p:sp>
      <p:sp>
        <p:nvSpPr>
          <p:cNvPr id="35" name="object 35"/>
          <p:cNvSpPr txBox="1"/>
          <p:nvPr/>
        </p:nvSpPr>
        <p:spPr>
          <a:xfrm>
            <a:off x="167297" y="430630"/>
            <a:ext cx="326136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Find the beers sold </a:t>
            </a:r>
            <a:r>
              <a:rPr sz="1100" spc="-20" dirty="0">
                <a:latin typeface="Arial"/>
                <a:cs typeface="Arial"/>
              </a:rPr>
              <a:t>by </a:t>
            </a:r>
            <a:r>
              <a:rPr sz="1100" spc="-10" dirty="0">
                <a:latin typeface="Arial"/>
                <a:cs typeface="Arial"/>
              </a:rPr>
              <a:t>pubs </a:t>
            </a:r>
            <a:r>
              <a:rPr sz="1100" spc="-5" dirty="0">
                <a:latin typeface="Arial"/>
                <a:cs typeface="Arial"/>
              </a:rPr>
              <a:t>located </a:t>
            </a:r>
            <a:r>
              <a:rPr sz="1100" spc="-10" dirty="0">
                <a:latin typeface="Arial"/>
                <a:cs typeface="Arial"/>
              </a:rPr>
              <a:t>where Bob</a:t>
            </a:r>
            <a:r>
              <a:rPr sz="1100" spc="5" dirty="0">
                <a:latin typeface="Arial"/>
                <a:cs typeface="Arial"/>
              </a:rPr>
              <a:t> </a:t>
            </a:r>
            <a:r>
              <a:rPr sz="1100" spc="-10" dirty="0">
                <a:latin typeface="Arial"/>
                <a:cs typeface="Arial"/>
              </a:rPr>
              <a:t>lives:</a:t>
            </a:r>
            <a:endParaRPr sz="1100">
              <a:latin typeface="Arial"/>
              <a:cs typeface="Arial"/>
            </a:endParaRPr>
          </a:p>
        </p:txBody>
      </p:sp>
      <p:sp>
        <p:nvSpPr>
          <p:cNvPr id="36" name="object 36"/>
          <p:cNvSpPr txBox="1"/>
          <p:nvPr/>
        </p:nvSpPr>
        <p:spPr>
          <a:xfrm>
            <a:off x="167297" y="830451"/>
            <a:ext cx="1927225" cy="880110"/>
          </a:xfrm>
          <a:prstGeom prst="rect">
            <a:avLst/>
          </a:prstGeom>
        </p:spPr>
        <p:txBody>
          <a:bodyPr vert="horz" wrap="square" lIns="0" tIns="11430" rIns="0" bIns="0" rtlCol="0">
            <a:spAutoFit/>
          </a:bodyPr>
          <a:lstStyle/>
          <a:p>
            <a:pPr marL="12700">
              <a:lnSpc>
                <a:spcPct val="100000"/>
              </a:lnSpc>
              <a:spcBef>
                <a:spcPts val="90"/>
              </a:spcBef>
            </a:pPr>
            <a:r>
              <a:rPr sz="1100" spc="-10" dirty="0">
                <a:solidFill>
                  <a:srgbClr val="0000FF"/>
                </a:solidFill>
                <a:latin typeface="Arial"/>
                <a:cs typeface="Arial"/>
              </a:rPr>
              <a:t>SELECT </a:t>
            </a:r>
            <a:r>
              <a:rPr sz="1100" spc="-5" dirty="0">
                <a:solidFill>
                  <a:srgbClr val="0000FF"/>
                </a:solidFill>
                <a:latin typeface="Arial"/>
                <a:cs typeface="Arial"/>
              </a:rPr>
              <a:t>beer</a:t>
            </a:r>
            <a:endParaRPr sz="1100">
              <a:latin typeface="Arial"/>
              <a:cs typeface="Arial"/>
            </a:endParaRPr>
          </a:p>
          <a:p>
            <a:pPr marL="12700" marR="5080">
              <a:lnSpc>
                <a:spcPct val="102600"/>
              </a:lnSpc>
            </a:pPr>
            <a:r>
              <a:rPr sz="1100" spc="-15" dirty="0">
                <a:solidFill>
                  <a:srgbClr val="0000FF"/>
                </a:solidFill>
                <a:latin typeface="Arial"/>
                <a:cs typeface="Arial"/>
              </a:rPr>
              <a:t>FROM </a:t>
            </a:r>
            <a:r>
              <a:rPr sz="1100" spc="-10" dirty="0">
                <a:solidFill>
                  <a:srgbClr val="0000FF"/>
                </a:solidFill>
                <a:latin typeface="Arial"/>
                <a:cs typeface="Arial"/>
              </a:rPr>
              <a:t>Sells, Pubs, Drinkers  WHERE</a:t>
            </a:r>
            <a:r>
              <a:rPr sz="1100" spc="-30" dirty="0">
                <a:solidFill>
                  <a:srgbClr val="0000FF"/>
                </a:solidFill>
                <a:latin typeface="Arial"/>
                <a:cs typeface="Arial"/>
              </a:rPr>
              <a:t> </a:t>
            </a:r>
            <a:r>
              <a:rPr sz="1100" spc="-10" dirty="0">
                <a:solidFill>
                  <a:srgbClr val="0000FF"/>
                </a:solidFill>
                <a:latin typeface="Arial"/>
                <a:cs typeface="Arial"/>
              </a:rPr>
              <a:t>Sells.pub=Pubs.name  AND Pubs.loc=Drinkers.loc  AND Drinkers.name =</a:t>
            </a:r>
            <a:r>
              <a:rPr sz="1100" spc="-15" dirty="0">
                <a:solidFill>
                  <a:srgbClr val="0000FF"/>
                </a:solidFill>
                <a:latin typeface="Arial"/>
                <a:cs typeface="Arial"/>
              </a:rPr>
              <a:t> </a:t>
            </a:r>
            <a:r>
              <a:rPr sz="1100" spc="-5" dirty="0">
                <a:solidFill>
                  <a:srgbClr val="0000FF"/>
                </a:solidFill>
                <a:latin typeface="Arial"/>
                <a:cs typeface="Arial"/>
              </a:rPr>
              <a:t>’Bob’;</a:t>
            </a:r>
            <a:endParaRPr sz="1100">
              <a:latin typeface="Arial"/>
              <a:cs typeface="Arial"/>
            </a:endParaRPr>
          </a:p>
        </p:txBody>
      </p:sp>
      <p:sp>
        <p:nvSpPr>
          <p:cNvPr id="37" name="object 37"/>
          <p:cNvSpPr txBox="1"/>
          <p:nvPr/>
        </p:nvSpPr>
        <p:spPr>
          <a:xfrm>
            <a:off x="598817" y="2116378"/>
            <a:ext cx="1045210" cy="172085"/>
          </a:xfrm>
          <a:prstGeom prst="rect">
            <a:avLst/>
          </a:prstGeom>
          <a:ln w="5054">
            <a:solidFill>
              <a:srgbClr val="000000"/>
            </a:solidFill>
          </a:ln>
        </p:spPr>
        <p:txBody>
          <a:bodyPr vert="horz" wrap="square" lIns="0" tIns="0" rIns="0" bIns="0" rtlCol="0">
            <a:spAutoFit/>
          </a:bodyPr>
          <a:lstStyle/>
          <a:p>
            <a:pPr marL="75565">
              <a:lnSpc>
                <a:spcPts val="1150"/>
              </a:lnSpc>
            </a:pPr>
            <a:r>
              <a:rPr sz="1100" b="1" spc="-5" dirty="0">
                <a:latin typeface="Arial"/>
                <a:cs typeface="Arial"/>
              </a:rPr>
              <a:t>beer</a:t>
            </a:r>
            <a:endParaRPr sz="1100">
              <a:latin typeface="Arial"/>
              <a:cs typeface="Arial"/>
            </a:endParaRPr>
          </a:p>
        </p:txBody>
      </p:sp>
      <p:sp>
        <p:nvSpPr>
          <p:cNvPr id="38" name="object 38"/>
          <p:cNvSpPr txBox="1"/>
          <p:nvPr/>
        </p:nvSpPr>
        <p:spPr>
          <a:xfrm>
            <a:off x="598817" y="2288451"/>
            <a:ext cx="1045210" cy="860425"/>
          </a:xfrm>
          <a:prstGeom prst="rect">
            <a:avLst/>
          </a:prstGeom>
          <a:ln w="5054">
            <a:solidFill>
              <a:srgbClr val="000000"/>
            </a:solidFill>
          </a:ln>
        </p:spPr>
        <p:txBody>
          <a:bodyPr vert="horz" wrap="square" lIns="0" tIns="0" rIns="0" bIns="0" rtlCol="0">
            <a:spAutoFit/>
          </a:bodyPr>
          <a:lstStyle/>
          <a:p>
            <a:pPr marL="75565">
              <a:lnSpc>
                <a:spcPts val="1150"/>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p>
            <a:pPr marL="75565" marR="67945">
              <a:lnSpc>
                <a:spcPct val="102600"/>
              </a:lnSpc>
            </a:pPr>
            <a:r>
              <a:rPr sz="1100" spc="-10" dirty="0">
                <a:latin typeface="Arial"/>
                <a:cs typeface="Arial"/>
              </a:rPr>
              <a:t>Rampant</a:t>
            </a:r>
            <a:r>
              <a:rPr sz="1100" spc="-60" dirty="0">
                <a:latin typeface="Arial"/>
                <a:cs typeface="Arial"/>
              </a:rPr>
              <a:t> </a:t>
            </a:r>
            <a:r>
              <a:rPr sz="1100" spc="-10" dirty="0">
                <a:latin typeface="Arial"/>
                <a:cs typeface="Arial"/>
              </a:rPr>
              <a:t>Ram  Bad </a:t>
            </a:r>
            <a:r>
              <a:rPr sz="1100" spc="-5" dirty="0">
                <a:latin typeface="Arial"/>
                <a:cs typeface="Arial"/>
              </a:rPr>
              <a:t>Habit  </a:t>
            </a:r>
            <a:r>
              <a:rPr sz="1100" spc="-10" dirty="0">
                <a:latin typeface="Arial"/>
                <a:cs typeface="Arial"/>
              </a:rPr>
              <a:t>Rampant</a:t>
            </a:r>
            <a:r>
              <a:rPr sz="1100" spc="-60" dirty="0">
                <a:latin typeface="Arial"/>
                <a:cs typeface="Arial"/>
              </a:rPr>
              <a:t> </a:t>
            </a:r>
            <a:r>
              <a:rPr sz="1100" spc="-10" dirty="0">
                <a:latin typeface="Arial"/>
                <a:cs typeface="Arial"/>
              </a:rPr>
              <a:t>Ram  Rampant</a:t>
            </a:r>
            <a:r>
              <a:rPr sz="1100" spc="-60" dirty="0">
                <a:latin typeface="Arial"/>
                <a:cs typeface="Arial"/>
              </a:rPr>
              <a:t> </a:t>
            </a:r>
            <a:r>
              <a:rPr sz="1100" spc="-10" dirty="0">
                <a:latin typeface="Arial"/>
                <a:cs typeface="Arial"/>
              </a:rPr>
              <a:t>Ram</a:t>
            </a:r>
            <a:endParaRPr sz="1100">
              <a:latin typeface="Arial"/>
              <a:cs typeface="Arial"/>
            </a:endParaRPr>
          </a:p>
        </p:txBody>
      </p:sp>
      <p:sp>
        <p:nvSpPr>
          <p:cNvPr id="39" name="object 39"/>
          <p:cNvSpPr txBox="1"/>
          <p:nvPr/>
        </p:nvSpPr>
        <p:spPr>
          <a:xfrm>
            <a:off x="1706918" y="2255125"/>
            <a:ext cx="1519555" cy="880110"/>
          </a:xfrm>
          <a:prstGeom prst="rect">
            <a:avLst/>
          </a:prstGeom>
        </p:spPr>
        <p:txBody>
          <a:bodyPr vert="horz" wrap="square" lIns="0" tIns="6985" rIns="0" bIns="0" rtlCol="0">
            <a:spAutoFit/>
          </a:bodyPr>
          <a:lstStyle/>
          <a:p>
            <a:pPr marL="12700" marR="5080" algn="just">
              <a:lnSpc>
                <a:spcPct val="102600"/>
              </a:lnSpc>
              <a:spcBef>
                <a:spcPts val="55"/>
              </a:spcBef>
            </a:pPr>
            <a:r>
              <a:rPr sz="1100" spc="-5" dirty="0">
                <a:latin typeface="Arial"/>
                <a:cs typeface="Arial"/>
              </a:rPr>
              <a:t>(from Horse </a:t>
            </a:r>
            <a:r>
              <a:rPr sz="1100" spc="-10" dirty="0">
                <a:latin typeface="Arial"/>
                <a:cs typeface="Arial"/>
              </a:rPr>
              <a:t>and</a:t>
            </a:r>
            <a:r>
              <a:rPr sz="1100" spc="-60" dirty="0">
                <a:latin typeface="Arial"/>
                <a:cs typeface="Arial"/>
              </a:rPr>
              <a:t> </a:t>
            </a:r>
            <a:r>
              <a:rPr sz="1100" spc="-10" dirty="0">
                <a:latin typeface="Arial"/>
                <a:cs typeface="Arial"/>
              </a:rPr>
              <a:t>Hound)  </a:t>
            </a:r>
            <a:r>
              <a:rPr sz="1100" spc="-5" dirty="0">
                <a:latin typeface="Arial"/>
                <a:cs typeface="Arial"/>
              </a:rPr>
              <a:t>(from Horse </a:t>
            </a:r>
            <a:r>
              <a:rPr sz="1100" spc="-10" dirty="0">
                <a:latin typeface="Arial"/>
                <a:cs typeface="Arial"/>
              </a:rPr>
              <a:t>and</a:t>
            </a:r>
            <a:r>
              <a:rPr sz="1100" spc="-60" dirty="0">
                <a:latin typeface="Arial"/>
                <a:cs typeface="Arial"/>
              </a:rPr>
              <a:t> </a:t>
            </a:r>
            <a:r>
              <a:rPr sz="1100" spc="-10" dirty="0">
                <a:latin typeface="Arial"/>
                <a:cs typeface="Arial"/>
              </a:rPr>
              <a:t>Hound)  </a:t>
            </a:r>
            <a:r>
              <a:rPr sz="1100" spc="-5" dirty="0">
                <a:latin typeface="Arial"/>
                <a:cs typeface="Arial"/>
              </a:rPr>
              <a:t>(from </a:t>
            </a:r>
            <a:r>
              <a:rPr sz="1100" spc="-10" dirty="0">
                <a:latin typeface="Arial"/>
                <a:cs typeface="Arial"/>
              </a:rPr>
              <a:t>March</a:t>
            </a:r>
            <a:r>
              <a:rPr sz="1100" spc="-20" dirty="0">
                <a:latin typeface="Arial"/>
                <a:cs typeface="Arial"/>
              </a:rPr>
              <a:t> </a:t>
            </a:r>
            <a:r>
              <a:rPr sz="1100" spc="-5" dirty="0">
                <a:latin typeface="Arial"/>
                <a:cs typeface="Arial"/>
              </a:rPr>
              <a:t>Hare)</a:t>
            </a:r>
            <a:endParaRPr sz="1100">
              <a:latin typeface="Arial"/>
              <a:cs typeface="Arial"/>
            </a:endParaRPr>
          </a:p>
          <a:p>
            <a:pPr marL="12700" marR="328295" algn="just">
              <a:lnSpc>
                <a:spcPct val="102600"/>
              </a:lnSpc>
            </a:pPr>
            <a:r>
              <a:rPr sz="1100" spc="-5" dirty="0">
                <a:latin typeface="Arial"/>
                <a:cs typeface="Arial"/>
              </a:rPr>
              <a:t>(from </a:t>
            </a:r>
            <a:r>
              <a:rPr sz="1100" spc="-10" dirty="0">
                <a:latin typeface="Arial"/>
                <a:cs typeface="Arial"/>
              </a:rPr>
              <a:t>March </a:t>
            </a:r>
            <a:r>
              <a:rPr sz="1100" spc="-5" dirty="0">
                <a:latin typeface="Arial"/>
                <a:cs typeface="Arial"/>
              </a:rPr>
              <a:t>Hare)  (from White</a:t>
            </a:r>
            <a:r>
              <a:rPr sz="1100" spc="-95" dirty="0">
                <a:latin typeface="Arial"/>
                <a:cs typeface="Arial"/>
              </a:rPr>
              <a:t> </a:t>
            </a:r>
            <a:r>
              <a:rPr sz="1100" spc="-5" dirty="0">
                <a:latin typeface="Arial"/>
                <a:cs typeface="Arial"/>
              </a:rPr>
              <a:t>Horse)</a:t>
            </a:r>
            <a:endParaRPr sz="1100">
              <a:latin typeface="Arial"/>
              <a:cs typeface="Arial"/>
            </a:endParaRPr>
          </a:p>
        </p:txBody>
      </p:sp>
    </p:spTree>
    <p:extLst>
      <p:ext uri="{BB962C8B-B14F-4D97-AF65-F5344CB8AC3E}">
        <p14:creationId xmlns:p14="http://schemas.microsoft.com/office/powerpoint/2010/main" val="1845815276"/>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90550" cy="243840"/>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a:lnSpc>
                <a:spcPct val="100000"/>
              </a:lnSpc>
              <a:spcBef>
                <a:spcPts val="204"/>
              </a:spcBef>
            </a:pPr>
            <a:r>
              <a:rPr sz="400" spc="-5" dirty="0">
                <a:latin typeface="Arial"/>
                <a:cs typeface="Arial"/>
                <a:hlinkClick r:id="rId2" action="ppaction://hlinksldjump"/>
              </a:rPr>
              <a:t>Multi-table (join)</a:t>
            </a:r>
            <a:r>
              <a:rPr sz="400" spc="-30" dirty="0">
                <a:latin typeface="Arial"/>
                <a:cs typeface="Arial"/>
                <a:hlinkClick r:id="rId2" action="ppaction://hlinksldjump"/>
              </a:rPr>
              <a:t> </a:t>
            </a:r>
            <a:r>
              <a:rPr sz="400" dirty="0">
                <a:latin typeface="Arial"/>
                <a:cs typeface="Arial"/>
                <a:hlinkClick r:id="rId2"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3608668" cy="232756"/>
          </a:xfrm>
          <a:prstGeom prst="rect">
            <a:avLst/>
          </a:prstGeom>
        </p:spPr>
        <p:txBody>
          <a:bodyPr vert="horz" wrap="square" lIns="0" tIns="17145" rIns="0" bIns="0" rtlCol="0">
            <a:spAutoFit/>
          </a:bodyPr>
          <a:lstStyle/>
          <a:p>
            <a:pPr marL="12700">
              <a:lnSpc>
                <a:spcPct val="100000"/>
              </a:lnSpc>
              <a:spcBef>
                <a:spcPts val="135"/>
              </a:spcBef>
            </a:pPr>
            <a:r>
              <a:rPr lang="en-US" spc="20" dirty="0"/>
              <a:t>Further readings: join (SQL_Joins.pdf)</a:t>
            </a:r>
            <a:endParaRPr spc="10" dirty="0"/>
          </a:p>
        </p:txBody>
      </p:sp>
    </p:spTree>
    <p:extLst>
      <p:ext uri="{BB962C8B-B14F-4D97-AF65-F5344CB8AC3E}">
        <p14:creationId xmlns:p14="http://schemas.microsoft.com/office/powerpoint/2010/main" val="2254778642"/>
      </p:ext>
    </p:extLst>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3" action="ppaction://hlinksldjump"/>
              </a:rPr>
              <a:t>SQL</a:t>
            </a:r>
            <a:r>
              <a:rPr sz="600" spc="-20"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queries</a:t>
            </a:r>
            <a:endParaRPr sz="600">
              <a:latin typeface="Arial"/>
              <a:cs typeface="Arial"/>
            </a:endParaRPr>
          </a:p>
          <a:p>
            <a:pPr marL="37465" marR="5080">
              <a:lnSpc>
                <a:spcPct val="142400"/>
              </a:lnSpc>
            </a:pPr>
            <a:r>
              <a:rPr sz="400" spc="-5" dirty="0">
                <a:latin typeface="Arial"/>
                <a:cs typeface="Arial"/>
                <a:hlinkClick r:id="rId3" action="ppaction://hlinksldjump"/>
              </a:rPr>
              <a:t>SQL Subqueries </a:t>
            </a:r>
            <a:r>
              <a:rPr sz="400" spc="-5" dirty="0">
                <a:latin typeface="Arial"/>
                <a:cs typeface="Arial"/>
              </a:rPr>
              <a:t> </a:t>
            </a:r>
            <a:r>
              <a:rPr sz="400" spc="-5" dirty="0">
                <a:solidFill>
                  <a:srgbClr val="999999"/>
                </a:solidFill>
                <a:latin typeface="Arial"/>
                <a:cs typeface="Arial"/>
                <a:hlinkClick r:id="rId4" action="ppaction://hlinksldjump"/>
              </a:rPr>
              <a:t>Aggregation</a:t>
            </a:r>
            <a:r>
              <a:rPr sz="400" spc="-25" dirty="0">
                <a:solidFill>
                  <a:srgbClr val="999999"/>
                </a:solidFill>
                <a:latin typeface="Arial"/>
                <a:cs typeface="Arial"/>
                <a:hlinkClick r:id="rId4" action="ppaction://hlinksldjump"/>
              </a:rPr>
              <a:t> </a:t>
            </a:r>
            <a:r>
              <a:rPr sz="400" spc="-5" dirty="0">
                <a:solidFill>
                  <a:srgbClr val="999999"/>
                </a:solidFill>
                <a:latin typeface="Arial"/>
                <a:cs typeface="Arial"/>
                <a:hlinkClick r:id="rId4"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1365250" cy="244475"/>
          </a:xfrm>
          <a:prstGeom prst="rect">
            <a:avLst/>
          </a:prstGeom>
        </p:spPr>
        <p:txBody>
          <a:bodyPr vert="horz" wrap="square" lIns="0" tIns="17145" rIns="0" bIns="0" rtlCol="0">
            <a:spAutoFit/>
          </a:bodyPr>
          <a:lstStyle/>
          <a:p>
            <a:pPr marL="12700">
              <a:lnSpc>
                <a:spcPct val="100000"/>
              </a:lnSpc>
              <a:spcBef>
                <a:spcPts val="135"/>
              </a:spcBef>
            </a:pPr>
            <a:r>
              <a:rPr spc="20" dirty="0"/>
              <a:t>SQL</a:t>
            </a:r>
            <a:r>
              <a:rPr spc="-35" dirty="0"/>
              <a:t> </a:t>
            </a:r>
            <a:r>
              <a:rPr spc="15" dirty="0"/>
              <a:t>Subqueries</a:t>
            </a:r>
          </a:p>
        </p:txBody>
      </p:sp>
      <p:sp>
        <p:nvSpPr>
          <p:cNvPr id="35" name="object 35"/>
          <p:cNvSpPr txBox="1"/>
          <p:nvPr/>
        </p:nvSpPr>
        <p:spPr>
          <a:xfrm>
            <a:off x="270992" y="1049463"/>
            <a:ext cx="3466465" cy="1393825"/>
          </a:xfrm>
          <a:prstGeom prst="rect">
            <a:avLst/>
          </a:prstGeom>
        </p:spPr>
        <p:txBody>
          <a:bodyPr vert="horz" wrap="square" lIns="0" tIns="6985" rIns="0" bIns="0" rtlCol="0">
            <a:spAutoFit/>
          </a:bodyPr>
          <a:lstStyle/>
          <a:p>
            <a:pPr marL="186055" marR="348615" indent="-148590">
              <a:lnSpc>
                <a:spcPct val="102699"/>
              </a:lnSpc>
              <a:spcBef>
                <a:spcPts val="55"/>
              </a:spcBef>
            </a:pPr>
            <a:r>
              <a:rPr sz="1200" spc="127" baseline="6944" dirty="0">
                <a:solidFill>
                  <a:srgbClr val="3333B2"/>
                </a:solidFill>
                <a:latin typeface="Arial Black"/>
                <a:cs typeface="Arial Black"/>
              </a:rPr>
              <a:t>e </a:t>
            </a:r>
            <a:r>
              <a:rPr lang="en-US" sz="1100" spc="-10" baseline="6944" dirty="0">
                <a:solidFill>
                  <a:srgbClr val="3333B2"/>
                </a:solidFill>
                <a:latin typeface="Arial"/>
                <a:cs typeface="Arial"/>
              </a:rPr>
              <a:t>O</a:t>
            </a:r>
            <a:r>
              <a:rPr sz="1100" spc="-10" dirty="0">
                <a:latin typeface="Arial"/>
                <a:cs typeface="Arial"/>
              </a:rPr>
              <a:t>ne SQL </a:t>
            </a:r>
            <a:r>
              <a:rPr sz="1100" dirty="0">
                <a:latin typeface="Arial"/>
                <a:cs typeface="Arial"/>
              </a:rPr>
              <a:t>query </a:t>
            </a:r>
            <a:r>
              <a:rPr sz="1100" spc="-5" dirty="0">
                <a:latin typeface="Arial"/>
                <a:cs typeface="Arial"/>
              </a:rPr>
              <a:t>can </a:t>
            </a:r>
            <a:r>
              <a:rPr sz="1100" spc="-10" dirty="0">
                <a:latin typeface="Arial"/>
                <a:cs typeface="Arial"/>
              </a:rPr>
              <a:t>be used </a:t>
            </a:r>
            <a:r>
              <a:rPr sz="1100" spc="-5" dirty="0">
                <a:latin typeface="Arial"/>
                <a:cs typeface="Arial"/>
              </a:rPr>
              <a:t>in the </a:t>
            </a:r>
            <a:r>
              <a:rPr sz="1100" spc="-15" dirty="0">
                <a:latin typeface="Arial"/>
                <a:cs typeface="Arial"/>
              </a:rPr>
              <a:t>evaluation </a:t>
            </a:r>
            <a:r>
              <a:rPr sz="1100" spc="-5" dirty="0">
                <a:latin typeface="Arial"/>
                <a:cs typeface="Arial"/>
              </a:rPr>
              <a:t>of  another</a:t>
            </a:r>
            <a:endParaRPr sz="1100" dirty="0">
              <a:latin typeface="Arial"/>
              <a:cs typeface="Arial"/>
            </a:endParaRPr>
          </a:p>
          <a:p>
            <a:pPr marL="38100">
              <a:lnSpc>
                <a:spcPct val="100000"/>
              </a:lnSpc>
              <a:spcBef>
                <a:spcPts val="334"/>
              </a:spcBef>
            </a:pPr>
            <a:r>
              <a:rPr sz="1200" spc="127" baseline="6944" dirty="0">
                <a:solidFill>
                  <a:srgbClr val="3333B2"/>
                </a:solidFill>
                <a:latin typeface="Arial Black"/>
                <a:cs typeface="Arial Black"/>
              </a:rPr>
              <a:t>e </a:t>
            </a:r>
            <a:r>
              <a:rPr lang="en-US" sz="1100" spc="-10" dirty="0">
                <a:latin typeface="Arial"/>
                <a:cs typeface="Arial"/>
              </a:rPr>
              <a:t>A</a:t>
            </a:r>
            <a:r>
              <a:rPr sz="1100" spc="-10" dirty="0">
                <a:latin typeface="Arial"/>
                <a:cs typeface="Arial"/>
              </a:rPr>
              <a:t> </a:t>
            </a:r>
            <a:r>
              <a:rPr sz="1100" dirty="0">
                <a:latin typeface="Arial"/>
                <a:cs typeface="Arial"/>
              </a:rPr>
              <a:t>query </a:t>
            </a:r>
            <a:r>
              <a:rPr sz="1100" spc="-5" dirty="0">
                <a:latin typeface="Arial"/>
                <a:cs typeface="Arial"/>
              </a:rPr>
              <a:t>that is </a:t>
            </a:r>
            <a:r>
              <a:rPr sz="1100" spc="5" dirty="0">
                <a:latin typeface="Arial"/>
                <a:cs typeface="Arial"/>
              </a:rPr>
              <a:t>part </a:t>
            </a:r>
            <a:r>
              <a:rPr sz="1100" spc="-5" dirty="0">
                <a:latin typeface="Arial"/>
                <a:cs typeface="Arial"/>
              </a:rPr>
              <a:t>of another is called </a:t>
            </a:r>
            <a:r>
              <a:rPr sz="1100" spc="-10" dirty="0">
                <a:latin typeface="Arial"/>
                <a:cs typeface="Arial"/>
              </a:rPr>
              <a:t>a</a:t>
            </a:r>
            <a:r>
              <a:rPr sz="1100" spc="-195" dirty="0">
                <a:latin typeface="Arial"/>
                <a:cs typeface="Arial"/>
              </a:rPr>
              <a:t> </a:t>
            </a:r>
            <a:r>
              <a:rPr sz="1100" i="1" spc="-5" dirty="0">
                <a:latin typeface="Arial"/>
                <a:cs typeface="Arial"/>
              </a:rPr>
              <a:t>subquery</a:t>
            </a:r>
            <a:endParaRPr sz="1100" dirty="0">
              <a:latin typeface="Arial"/>
              <a:cs typeface="Arial"/>
            </a:endParaRPr>
          </a:p>
          <a:p>
            <a:pPr marL="38100">
              <a:lnSpc>
                <a:spcPct val="100000"/>
              </a:lnSpc>
              <a:spcBef>
                <a:spcPts val="170"/>
              </a:spcBef>
            </a:pPr>
            <a:r>
              <a:rPr sz="1200" spc="127" baseline="6944" dirty="0">
                <a:solidFill>
                  <a:srgbClr val="3333B2"/>
                </a:solidFill>
                <a:latin typeface="Arial Black"/>
                <a:cs typeface="Arial Black"/>
              </a:rPr>
              <a:t>e </a:t>
            </a:r>
            <a:r>
              <a:rPr lang="en-US" sz="1100" spc="-5" dirty="0">
                <a:latin typeface="Arial"/>
                <a:cs typeface="Arial"/>
              </a:rPr>
              <a:t>S</a:t>
            </a:r>
            <a:r>
              <a:rPr sz="1100" spc="-5" dirty="0">
                <a:latin typeface="Arial"/>
                <a:cs typeface="Arial"/>
              </a:rPr>
              <a:t>ubqueries can </a:t>
            </a:r>
            <a:r>
              <a:rPr sz="1100" spc="-10" dirty="0">
                <a:latin typeface="Arial"/>
                <a:cs typeface="Arial"/>
              </a:rPr>
              <a:t>be</a:t>
            </a:r>
            <a:r>
              <a:rPr sz="1100" spc="-170" dirty="0">
                <a:latin typeface="Arial"/>
                <a:cs typeface="Arial"/>
              </a:rPr>
              <a:t> </a:t>
            </a:r>
            <a:r>
              <a:rPr sz="1100" spc="-10" dirty="0">
                <a:latin typeface="Arial"/>
                <a:cs typeface="Arial"/>
              </a:rPr>
              <a:t>used</a:t>
            </a:r>
            <a:endParaRPr sz="1100" dirty="0">
              <a:latin typeface="Arial"/>
              <a:cs typeface="Arial"/>
            </a:endParaRPr>
          </a:p>
          <a:p>
            <a:pPr marL="462915" marR="30480" indent="-137160">
              <a:lnSpc>
                <a:spcPct val="100000"/>
              </a:lnSpc>
              <a:spcBef>
                <a:spcPts val="175"/>
              </a:spcBef>
            </a:pPr>
            <a:r>
              <a:rPr sz="900" spc="494" baseline="13888" dirty="0">
                <a:solidFill>
                  <a:srgbClr val="3333B2"/>
                </a:solidFill>
                <a:latin typeface="Arial"/>
                <a:cs typeface="Arial"/>
              </a:rPr>
              <a:t>) </a:t>
            </a:r>
            <a:r>
              <a:rPr sz="1000" spc="-5" dirty="0">
                <a:latin typeface="Arial"/>
                <a:cs typeface="Arial"/>
              </a:rPr>
              <a:t>at the “top” </a:t>
            </a:r>
            <a:r>
              <a:rPr sz="1000" spc="-15" dirty="0">
                <a:latin typeface="Arial"/>
                <a:cs typeface="Arial"/>
              </a:rPr>
              <a:t>level </a:t>
            </a:r>
            <a:r>
              <a:rPr sz="1000" spc="-5" dirty="0">
                <a:latin typeface="Arial"/>
                <a:cs typeface="Arial"/>
              </a:rPr>
              <a:t>of an SQL </a:t>
            </a:r>
            <a:r>
              <a:rPr sz="1000" dirty="0">
                <a:latin typeface="Arial"/>
                <a:cs typeface="Arial"/>
              </a:rPr>
              <a:t>query </a:t>
            </a:r>
            <a:r>
              <a:rPr sz="1000" spc="-5" dirty="0">
                <a:latin typeface="Arial"/>
                <a:cs typeface="Arial"/>
              </a:rPr>
              <a:t>(union, intersection  and</a:t>
            </a:r>
            <a:r>
              <a:rPr sz="1000" spc="-10" dirty="0">
                <a:latin typeface="Arial"/>
                <a:cs typeface="Arial"/>
              </a:rPr>
              <a:t> </a:t>
            </a:r>
            <a:r>
              <a:rPr sz="1000" spc="-5" dirty="0">
                <a:latin typeface="Arial"/>
                <a:cs typeface="Arial"/>
              </a:rPr>
              <a:t>difference)</a:t>
            </a:r>
            <a:endParaRPr sz="1000" dirty="0">
              <a:latin typeface="Arial"/>
              <a:cs typeface="Arial"/>
            </a:endParaRPr>
          </a:p>
          <a:p>
            <a:pPr marL="325755">
              <a:lnSpc>
                <a:spcPts val="1190"/>
              </a:lnSpc>
            </a:pPr>
            <a:r>
              <a:rPr sz="900" spc="494" baseline="13888" dirty="0">
                <a:solidFill>
                  <a:srgbClr val="3333B2"/>
                </a:solidFill>
                <a:latin typeface="Arial"/>
                <a:cs typeface="Arial"/>
              </a:rPr>
              <a:t>) </a:t>
            </a:r>
            <a:r>
              <a:rPr sz="1000" spc="-5" dirty="0">
                <a:latin typeface="Arial"/>
                <a:cs typeface="Arial"/>
              </a:rPr>
              <a:t>in the </a:t>
            </a:r>
            <a:r>
              <a:rPr sz="1000" spc="-5" dirty="0">
                <a:solidFill>
                  <a:srgbClr val="0000FF"/>
                </a:solidFill>
                <a:latin typeface="Arial"/>
                <a:cs typeface="Arial"/>
              </a:rPr>
              <a:t>WHERE</a:t>
            </a:r>
            <a:r>
              <a:rPr sz="1000" spc="35" dirty="0">
                <a:solidFill>
                  <a:srgbClr val="0000FF"/>
                </a:solidFill>
                <a:latin typeface="Arial"/>
                <a:cs typeface="Arial"/>
              </a:rPr>
              <a:t> </a:t>
            </a:r>
            <a:r>
              <a:rPr sz="1000" spc="-5" dirty="0">
                <a:latin typeface="Arial"/>
                <a:cs typeface="Arial"/>
              </a:rPr>
              <a:t>clause</a:t>
            </a:r>
            <a:endParaRPr sz="1000" dirty="0">
              <a:latin typeface="Arial"/>
              <a:cs typeface="Arial"/>
            </a:endParaRPr>
          </a:p>
          <a:p>
            <a:pPr marL="325755">
              <a:lnSpc>
                <a:spcPts val="1200"/>
              </a:lnSpc>
            </a:pPr>
            <a:r>
              <a:rPr sz="900" spc="494" baseline="13888" dirty="0">
                <a:solidFill>
                  <a:srgbClr val="3333B2"/>
                </a:solidFill>
                <a:latin typeface="Arial"/>
                <a:cs typeface="Arial"/>
              </a:rPr>
              <a:t>) </a:t>
            </a:r>
            <a:r>
              <a:rPr sz="1000" spc="-5" dirty="0">
                <a:latin typeface="Arial"/>
                <a:cs typeface="Arial"/>
              </a:rPr>
              <a:t>in the </a:t>
            </a:r>
            <a:r>
              <a:rPr sz="1000" spc="-10" dirty="0">
                <a:solidFill>
                  <a:srgbClr val="0000FF"/>
                </a:solidFill>
                <a:latin typeface="Arial"/>
                <a:cs typeface="Arial"/>
              </a:rPr>
              <a:t>FROM</a:t>
            </a:r>
            <a:r>
              <a:rPr sz="1000" spc="35" dirty="0">
                <a:solidFill>
                  <a:srgbClr val="0000FF"/>
                </a:solidFill>
                <a:latin typeface="Arial"/>
                <a:cs typeface="Arial"/>
              </a:rPr>
              <a:t> </a:t>
            </a:r>
            <a:r>
              <a:rPr sz="1000" spc="-5" dirty="0">
                <a:latin typeface="Arial"/>
                <a:cs typeface="Arial"/>
              </a:rPr>
              <a:t>clause</a:t>
            </a:r>
            <a:endParaRPr sz="1000" dirty="0">
              <a:latin typeface="Arial"/>
              <a:cs typeface="Arial"/>
            </a:endParaRPr>
          </a:p>
        </p:txBody>
      </p:sp>
    </p:spTree>
    <p:extLst>
      <p:ext uri="{BB962C8B-B14F-4D97-AF65-F5344CB8AC3E}">
        <p14:creationId xmlns:p14="http://schemas.microsoft.com/office/powerpoint/2010/main" val="4056452987"/>
      </p:ext>
    </p:extLst>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latin typeface="Arial"/>
                <a:cs typeface="Arial"/>
                <a:hlinkClick r:id="rId2" action="ppaction://hlinksldjump"/>
              </a:rPr>
              <a:t>SQL Subqueries </a:t>
            </a:r>
            <a:r>
              <a:rPr sz="400" spc="-5" dirty="0">
                <a:latin typeface="Arial"/>
                <a:cs typeface="Arial"/>
              </a:rPr>
              <a:t> </a:t>
            </a:r>
            <a:r>
              <a:rPr sz="400" spc="-5" dirty="0">
                <a:solidFill>
                  <a:srgbClr val="999999"/>
                </a:solidFill>
                <a:latin typeface="Arial"/>
                <a:cs typeface="Arial"/>
                <a:hlinkClick r:id="rId3" action="ppaction://hlinksldjump"/>
              </a:rPr>
              <a:t>Aggregation</a:t>
            </a:r>
            <a:r>
              <a:rPr sz="400" spc="-25"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1569720" cy="244475"/>
          </a:xfrm>
          <a:prstGeom prst="rect">
            <a:avLst/>
          </a:prstGeom>
        </p:spPr>
        <p:txBody>
          <a:bodyPr vert="horz" wrap="square" lIns="0" tIns="17145" rIns="0" bIns="0" rtlCol="0">
            <a:spAutoFit/>
          </a:bodyPr>
          <a:lstStyle/>
          <a:p>
            <a:pPr marL="12700">
              <a:lnSpc>
                <a:spcPct val="100000"/>
              </a:lnSpc>
              <a:spcBef>
                <a:spcPts val="135"/>
              </a:spcBef>
            </a:pPr>
            <a:r>
              <a:rPr spc="15" dirty="0"/>
              <a:t>Union </a:t>
            </a:r>
            <a:r>
              <a:rPr spc="10" dirty="0"/>
              <a:t>of two</a:t>
            </a:r>
            <a:r>
              <a:rPr spc="-75" dirty="0"/>
              <a:t> </a:t>
            </a:r>
            <a:r>
              <a:rPr spc="10" dirty="0"/>
              <a:t>tables</a:t>
            </a:r>
          </a:p>
        </p:txBody>
      </p:sp>
      <p:sp>
        <p:nvSpPr>
          <p:cNvPr id="35" name="object 35"/>
          <p:cNvSpPr txBox="1"/>
          <p:nvPr/>
        </p:nvSpPr>
        <p:spPr>
          <a:xfrm>
            <a:off x="167297" y="352614"/>
            <a:ext cx="355346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Find all locations </a:t>
            </a:r>
            <a:r>
              <a:rPr sz="1100" spc="-10" dirty="0">
                <a:latin typeface="Arial"/>
                <a:cs typeface="Arial"/>
              </a:rPr>
              <a:t>where a drinker lives </a:t>
            </a:r>
            <a:r>
              <a:rPr sz="1100" spc="-5" dirty="0">
                <a:latin typeface="Arial"/>
                <a:cs typeface="Arial"/>
              </a:rPr>
              <a:t>or </a:t>
            </a:r>
            <a:r>
              <a:rPr sz="1100" spc="-10" dirty="0">
                <a:latin typeface="Arial"/>
                <a:cs typeface="Arial"/>
              </a:rPr>
              <a:t>a pub </a:t>
            </a:r>
            <a:r>
              <a:rPr sz="1100" spc="-5" dirty="0">
                <a:latin typeface="Arial"/>
                <a:cs typeface="Arial"/>
              </a:rPr>
              <a:t>is</a:t>
            </a:r>
            <a:r>
              <a:rPr sz="1100" spc="-105" dirty="0">
                <a:latin typeface="Arial"/>
                <a:cs typeface="Arial"/>
              </a:rPr>
              <a:t> </a:t>
            </a:r>
            <a:r>
              <a:rPr sz="1100" spc="-5" dirty="0">
                <a:latin typeface="Arial"/>
                <a:cs typeface="Arial"/>
              </a:rPr>
              <a:t>located:</a:t>
            </a:r>
            <a:endParaRPr sz="1100">
              <a:latin typeface="Arial"/>
              <a:cs typeface="Arial"/>
            </a:endParaRPr>
          </a:p>
        </p:txBody>
      </p:sp>
      <p:sp>
        <p:nvSpPr>
          <p:cNvPr id="36" name="object 36"/>
          <p:cNvSpPr txBox="1"/>
          <p:nvPr/>
        </p:nvSpPr>
        <p:spPr>
          <a:xfrm>
            <a:off x="182841" y="1097812"/>
            <a:ext cx="37973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Pubs:</a:t>
            </a:r>
            <a:endParaRPr sz="1100">
              <a:latin typeface="Arial"/>
              <a:cs typeface="Arial"/>
            </a:endParaRPr>
          </a:p>
        </p:txBody>
      </p:sp>
      <p:graphicFrame>
        <p:nvGraphicFramePr>
          <p:cNvPr id="37" name="object 37"/>
          <p:cNvGraphicFramePr>
            <a:graphicFrameLocks noGrp="1"/>
          </p:cNvGraphicFramePr>
          <p:nvPr/>
        </p:nvGraphicFramePr>
        <p:xfrm>
          <a:off x="594918" y="677951"/>
          <a:ext cx="1589405" cy="1067876"/>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351790">
                  <a:extLst>
                    <a:ext uri="{9D8B030D-6E8A-4147-A177-3AD203B41FA5}">
                      <a16:colId xmlns:a16="http://schemas.microsoft.com/office/drawing/2014/main" val="20001"/>
                    </a:ext>
                  </a:extLst>
                </a:gridCol>
              </a:tblGrid>
              <a:tr h="189788">
                <a:tc>
                  <a:txBody>
                    <a:bodyPr/>
                    <a:lstStyle/>
                    <a:p>
                      <a:pPr marL="75565">
                        <a:lnSpc>
                          <a:spcPts val="1190"/>
                        </a:lnSpc>
                      </a:pPr>
                      <a:r>
                        <a:rPr sz="1100" b="1" spc="-10" dirty="0">
                          <a:latin typeface="Arial"/>
                          <a:cs typeface="Arial"/>
                        </a:rPr>
                        <a:t>name</a:t>
                      </a:r>
                      <a:endParaRPr sz="11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7">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dirty="0">
                          <a:latin typeface="Arial"/>
                          <a:cs typeface="Arial"/>
                        </a:rPr>
                        <a:t>B</a:t>
                      </a: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I</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B</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8">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I</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9">
                <a:tc>
                  <a:txBody>
                    <a:bodyPr/>
                    <a:lstStyle/>
                    <a:p>
                      <a:pPr marL="75565">
                        <a:lnSpc>
                          <a:spcPts val="1260"/>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dirty="0">
                          <a:latin typeface="Arial"/>
                          <a:cs typeface="Arial"/>
                        </a:rPr>
                        <a:t>B</a:t>
                      </a: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38" name="object 38"/>
          <p:cNvSpPr txBox="1"/>
          <p:nvPr/>
        </p:nvSpPr>
        <p:spPr>
          <a:xfrm>
            <a:off x="2212886" y="1097812"/>
            <a:ext cx="57912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Arial"/>
                <a:cs typeface="Arial"/>
              </a:rPr>
              <a:t>Drinkers:</a:t>
            </a:r>
            <a:endParaRPr sz="1100" dirty="0">
              <a:latin typeface="Arial"/>
              <a:cs typeface="Arial"/>
            </a:endParaRPr>
          </a:p>
        </p:txBody>
      </p:sp>
      <p:graphicFrame>
        <p:nvGraphicFramePr>
          <p:cNvPr id="39" name="object 39"/>
          <p:cNvGraphicFramePr>
            <a:graphicFrameLocks noGrp="1"/>
          </p:cNvGraphicFramePr>
          <p:nvPr/>
        </p:nvGraphicFramePr>
        <p:xfrm>
          <a:off x="2824200" y="677951"/>
          <a:ext cx="865505" cy="1067878"/>
        </p:xfrm>
        <a:graphic>
          <a:graphicData uri="http://schemas.openxmlformats.org/drawingml/2006/table">
            <a:tbl>
              <a:tblPr firstRow="1" bandRow="1">
                <a:tableStyleId>{2D5ABB26-0587-4C30-8999-92F81FD0307C}</a:tableStyleId>
              </a:tblPr>
              <a:tblGrid>
                <a:gridCol w="513715">
                  <a:extLst>
                    <a:ext uri="{9D8B030D-6E8A-4147-A177-3AD203B41FA5}">
                      <a16:colId xmlns:a16="http://schemas.microsoft.com/office/drawing/2014/main" val="20000"/>
                    </a:ext>
                  </a:extLst>
                </a:gridCol>
                <a:gridCol w="351790">
                  <a:extLst>
                    <a:ext uri="{9D8B030D-6E8A-4147-A177-3AD203B41FA5}">
                      <a16:colId xmlns:a16="http://schemas.microsoft.com/office/drawing/2014/main" val="20001"/>
                    </a:ext>
                  </a:extLst>
                </a:gridCol>
              </a:tblGrid>
              <a:tr h="189788">
                <a:tc>
                  <a:txBody>
                    <a:bodyPr/>
                    <a:lstStyle/>
                    <a:p>
                      <a:pPr marL="75565">
                        <a:lnSpc>
                          <a:spcPts val="1190"/>
                        </a:lnSpc>
                      </a:pPr>
                      <a:r>
                        <a:rPr sz="1100" b="1" spc="-10" dirty="0">
                          <a:latin typeface="Arial"/>
                          <a:cs typeface="Arial"/>
                        </a:rPr>
                        <a:t>name</a:t>
                      </a:r>
                      <a:endParaRPr sz="11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878090">
                <a:tc>
                  <a:txBody>
                    <a:bodyPr/>
                    <a:lstStyle/>
                    <a:p>
                      <a:pPr marL="75565">
                        <a:lnSpc>
                          <a:spcPts val="1290"/>
                        </a:lnSpc>
                      </a:pPr>
                      <a:r>
                        <a:rPr sz="1100" spc="-5" dirty="0">
                          <a:latin typeface="Arial"/>
                          <a:cs typeface="Arial"/>
                        </a:rPr>
                        <a:t>Alice</a:t>
                      </a:r>
                      <a:endParaRPr sz="1100">
                        <a:latin typeface="Arial"/>
                        <a:cs typeface="Arial"/>
                      </a:endParaRPr>
                    </a:p>
                    <a:p>
                      <a:pPr marL="75565" marR="99060">
                        <a:lnSpc>
                          <a:spcPct val="102600"/>
                        </a:lnSpc>
                      </a:pPr>
                      <a:r>
                        <a:rPr sz="1100" spc="-10" dirty="0">
                          <a:latin typeface="Arial"/>
                          <a:cs typeface="Arial"/>
                        </a:rPr>
                        <a:t>Bob  </a:t>
                      </a:r>
                      <a:r>
                        <a:rPr sz="1100" dirty="0">
                          <a:latin typeface="Arial"/>
                          <a:cs typeface="Arial"/>
                        </a:rPr>
                        <a:t>Carol  D</a:t>
                      </a:r>
                      <a:r>
                        <a:rPr sz="1100" spc="-25" dirty="0">
                          <a:latin typeface="Arial"/>
                          <a:cs typeface="Arial"/>
                        </a:rPr>
                        <a:t>a</a:t>
                      </a:r>
                      <a:r>
                        <a:rPr sz="1100" spc="-30" dirty="0">
                          <a:latin typeface="Arial"/>
                          <a:cs typeface="Arial"/>
                        </a:rPr>
                        <a:t>v</a:t>
                      </a:r>
                      <a:r>
                        <a:rPr sz="1100" dirty="0">
                          <a:latin typeface="Arial"/>
                          <a:cs typeface="Arial"/>
                        </a:rPr>
                        <a:t>e  </a:t>
                      </a:r>
                      <a:r>
                        <a:rPr sz="1100" spc="-20" dirty="0">
                          <a:latin typeface="Arial"/>
                          <a:cs typeface="Arial"/>
                        </a:rPr>
                        <a:t>Eve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90"/>
                        </a:lnSpc>
                      </a:pPr>
                      <a:r>
                        <a:rPr sz="1100" dirty="0">
                          <a:latin typeface="Arial"/>
                          <a:cs typeface="Arial"/>
                        </a:rPr>
                        <a:t>I</a:t>
                      </a:r>
                    </a:p>
                    <a:p>
                      <a:pPr marL="75565" marR="175895">
                        <a:lnSpc>
                          <a:spcPct val="102600"/>
                        </a:lnSpc>
                      </a:pPr>
                      <a:r>
                        <a:rPr sz="1100" dirty="0">
                          <a:latin typeface="Arial"/>
                          <a:cs typeface="Arial"/>
                        </a:rPr>
                        <a:t>B   </a:t>
                      </a:r>
                      <a:r>
                        <a:rPr sz="1100" spc="-5" dirty="0">
                          <a:latin typeface="Arial"/>
                          <a:cs typeface="Arial"/>
                        </a:rPr>
                        <a:t>I  </a:t>
                      </a:r>
                      <a:r>
                        <a:rPr sz="1100" dirty="0">
                          <a:latin typeface="Arial"/>
                          <a:cs typeface="Arial"/>
                        </a:rPr>
                        <a:t>B  S</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
        <p:nvSpPr>
          <p:cNvPr id="40" name="object 40"/>
          <p:cNvSpPr/>
          <p:nvPr/>
        </p:nvSpPr>
        <p:spPr>
          <a:xfrm>
            <a:off x="1501711" y="2546858"/>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41" name="object 41"/>
          <p:cNvSpPr/>
          <p:nvPr/>
        </p:nvSpPr>
        <p:spPr>
          <a:xfrm>
            <a:off x="1501711" y="2723984"/>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42" name="object 42"/>
          <p:cNvSpPr/>
          <p:nvPr/>
        </p:nvSpPr>
        <p:spPr>
          <a:xfrm>
            <a:off x="1501711" y="2749296"/>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43" name="object 43"/>
          <p:cNvSpPr/>
          <p:nvPr/>
        </p:nvSpPr>
        <p:spPr>
          <a:xfrm>
            <a:off x="1501711" y="2751823"/>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4" name="object 44"/>
          <p:cNvSpPr/>
          <p:nvPr/>
        </p:nvSpPr>
        <p:spPr>
          <a:xfrm>
            <a:off x="2386291" y="2751823"/>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5" name="object 45"/>
          <p:cNvSpPr/>
          <p:nvPr/>
        </p:nvSpPr>
        <p:spPr>
          <a:xfrm>
            <a:off x="1501711" y="2923895"/>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6" name="object 46"/>
          <p:cNvSpPr/>
          <p:nvPr/>
        </p:nvSpPr>
        <p:spPr>
          <a:xfrm>
            <a:off x="2386291" y="2923895"/>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7" name="object 47"/>
          <p:cNvSpPr/>
          <p:nvPr/>
        </p:nvSpPr>
        <p:spPr>
          <a:xfrm>
            <a:off x="1501711" y="309598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8" name="object 48"/>
          <p:cNvSpPr txBox="1"/>
          <p:nvPr/>
        </p:nvSpPr>
        <p:spPr>
          <a:xfrm>
            <a:off x="167297" y="1852370"/>
            <a:ext cx="2216785" cy="1404620"/>
          </a:xfrm>
          <a:prstGeom prst="rect">
            <a:avLst/>
          </a:prstGeom>
        </p:spPr>
        <p:txBody>
          <a:bodyPr vert="horz" wrap="square" lIns="0" tIns="6985" rIns="0" bIns="0" rtlCol="0">
            <a:spAutoFit/>
          </a:bodyPr>
          <a:lstStyle/>
          <a:p>
            <a:pPr marL="473709" marR="351790" indent="-461645">
              <a:lnSpc>
                <a:spcPct val="102600"/>
              </a:lnSpc>
              <a:spcBef>
                <a:spcPts val="55"/>
              </a:spcBef>
            </a:pPr>
            <a:r>
              <a:rPr sz="1100" spc="-10" dirty="0">
                <a:solidFill>
                  <a:srgbClr val="0000FF"/>
                </a:solidFill>
                <a:latin typeface="Arial"/>
                <a:cs typeface="Arial"/>
              </a:rPr>
              <a:t>(SELECT </a:t>
            </a:r>
            <a:r>
              <a:rPr sz="1100" spc="-5" dirty="0">
                <a:solidFill>
                  <a:srgbClr val="0000FF"/>
                </a:solidFill>
                <a:latin typeface="Arial"/>
                <a:cs typeface="Arial"/>
              </a:rPr>
              <a:t>loc </a:t>
            </a:r>
            <a:r>
              <a:rPr sz="1100" spc="-15" dirty="0">
                <a:solidFill>
                  <a:srgbClr val="0000FF"/>
                </a:solidFill>
                <a:latin typeface="Arial"/>
                <a:cs typeface="Arial"/>
              </a:rPr>
              <a:t>FROM </a:t>
            </a:r>
            <a:r>
              <a:rPr sz="1100" spc="-10" dirty="0">
                <a:solidFill>
                  <a:srgbClr val="0000FF"/>
                </a:solidFill>
                <a:latin typeface="Arial"/>
                <a:cs typeface="Arial"/>
              </a:rPr>
              <a:t>Drinkers)  UNION</a:t>
            </a:r>
            <a:endParaRPr sz="1100" dirty="0">
              <a:latin typeface="Arial"/>
              <a:cs typeface="Arial"/>
            </a:endParaRPr>
          </a:p>
          <a:p>
            <a:pPr marL="12700">
              <a:lnSpc>
                <a:spcPct val="100000"/>
              </a:lnSpc>
              <a:spcBef>
                <a:spcPts val="35"/>
              </a:spcBef>
            </a:pPr>
            <a:r>
              <a:rPr sz="1100" spc="-10" dirty="0">
                <a:solidFill>
                  <a:srgbClr val="0000FF"/>
                </a:solidFill>
                <a:latin typeface="Arial"/>
                <a:cs typeface="Arial"/>
              </a:rPr>
              <a:t>(SELECT </a:t>
            </a:r>
            <a:r>
              <a:rPr sz="1100" spc="-5" dirty="0">
                <a:solidFill>
                  <a:srgbClr val="0000FF"/>
                </a:solidFill>
                <a:latin typeface="Arial"/>
                <a:cs typeface="Arial"/>
              </a:rPr>
              <a:t>loc </a:t>
            </a:r>
            <a:r>
              <a:rPr sz="1100" spc="-15" dirty="0">
                <a:solidFill>
                  <a:srgbClr val="0000FF"/>
                </a:solidFill>
                <a:latin typeface="Arial"/>
                <a:cs typeface="Arial"/>
              </a:rPr>
              <a:t>FROM</a:t>
            </a:r>
            <a:r>
              <a:rPr sz="1100" spc="-10" dirty="0">
                <a:solidFill>
                  <a:srgbClr val="0000FF"/>
                </a:solidFill>
                <a:latin typeface="Arial"/>
                <a:cs typeface="Arial"/>
              </a:rPr>
              <a:t> </a:t>
            </a:r>
            <a:r>
              <a:rPr sz="1100" spc="-5" dirty="0">
                <a:solidFill>
                  <a:srgbClr val="0000FF"/>
                </a:solidFill>
                <a:latin typeface="Arial"/>
                <a:cs typeface="Arial"/>
              </a:rPr>
              <a:t>Pubs);</a:t>
            </a:r>
            <a:endParaRPr sz="1100" dirty="0">
              <a:latin typeface="Arial"/>
              <a:cs typeface="Arial"/>
            </a:endParaRPr>
          </a:p>
          <a:p>
            <a:pPr>
              <a:lnSpc>
                <a:spcPct val="100000"/>
              </a:lnSpc>
              <a:spcBef>
                <a:spcPts val="10"/>
              </a:spcBef>
            </a:pPr>
            <a:endParaRPr sz="1050" dirty="0">
              <a:latin typeface="Times New Roman"/>
              <a:cs typeface="Times New Roman"/>
            </a:endParaRPr>
          </a:p>
          <a:p>
            <a:pPr marL="1409700">
              <a:lnSpc>
                <a:spcPct val="100000"/>
              </a:lnSpc>
            </a:pPr>
            <a:r>
              <a:rPr sz="1100" b="1" spc="-5" dirty="0">
                <a:latin typeface="Arial"/>
                <a:cs typeface="Arial"/>
              </a:rPr>
              <a:t>loc</a:t>
            </a:r>
            <a:endParaRPr sz="1100" dirty="0">
              <a:latin typeface="Arial"/>
              <a:cs typeface="Arial"/>
            </a:endParaRPr>
          </a:p>
          <a:p>
            <a:pPr marL="1409700" marR="65405">
              <a:lnSpc>
                <a:spcPct val="102600"/>
              </a:lnSpc>
              <a:spcBef>
                <a:spcPts val="240"/>
              </a:spcBef>
            </a:pPr>
            <a:r>
              <a:rPr sz="1100" spc="-10" dirty="0">
                <a:latin typeface="Arial"/>
                <a:cs typeface="Arial"/>
              </a:rPr>
              <a:t>Blooms</a:t>
            </a:r>
            <a:r>
              <a:rPr sz="1100" spc="-35" dirty="0">
                <a:latin typeface="Arial"/>
                <a:cs typeface="Arial"/>
              </a:rPr>
              <a:t>b</a:t>
            </a:r>
            <a:r>
              <a:rPr sz="1100" spc="-10" dirty="0">
                <a:latin typeface="Arial"/>
                <a:cs typeface="Arial"/>
              </a:rPr>
              <a:t>u</a:t>
            </a:r>
            <a:r>
              <a:rPr sz="1100" spc="25" dirty="0">
                <a:latin typeface="Arial"/>
                <a:cs typeface="Arial"/>
              </a:rPr>
              <a:t>r</a:t>
            </a:r>
            <a:r>
              <a:rPr sz="1100" spc="-5" dirty="0">
                <a:latin typeface="Arial"/>
                <a:cs typeface="Arial"/>
              </a:rPr>
              <a:t>y  Islington  </a:t>
            </a:r>
            <a:r>
              <a:rPr sz="1100" spc="-10" dirty="0">
                <a:latin typeface="Arial"/>
                <a:cs typeface="Arial"/>
              </a:rPr>
              <a:t>Stratford</a:t>
            </a:r>
            <a:endParaRPr sz="1100" dirty="0">
              <a:latin typeface="Arial"/>
              <a:cs typeface="Arial"/>
            </a:endParaRPr>
          </a:p>
        </p:txBody>
      </p:sp>
      <p:sp>
        <p:nvSpPr>
          <p:cNvPr id="49" name="object 49"/>
          <p:cNvSpPr/>
          <p:nvPr/>
        </p:nvSpPr>
        <p:spPr>
          <a:xfrm>
            <a:off x="2386291" y="309598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50" name="object 50"/>
          <p:cNvSpPr/>
          <p:nvPr/>
        </p:nvSpPr>
        <p:spPr>
          <a:xfrm>
            <a:off x="1501711" y="3270580"/>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248297390"/>
      </p:ext>
    </p:extLst>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latin typeface="Arial"/>
                <a:cs typeface="Arial"/>
                <a:hlinkClick r:id="rId2" action="ppaction://hlinksldjump"/>
              </a:rPr>
              <a:t>SQL Subqueries </a:t>
            </a:r>
            <a:r>
              <a:rPr sz="400" spc="-5" dirty="0">
                <a:latin typeface="Arial"/>
                <a:cs typeface="Arial"/>
              </a:rPr>
              <a:t> </a:t>
            </a:r>
            <a:r>
              <a:rPr sz="400" spc="-5" dirty="0">
                <a:solidFill>
                  <a:srgbClr val="999999"/>
                </a:solidFill>
                <a:latin typeface="Arial"/>
                <a:cs typeface="Arial"/>
                <a:hlinkClick r:id="rId3" action="ppaction://hlinksldjump"/>
              </a:rPr>
              <a:t>Aggregation</a:t>
            </a:r>
            <a:r>
              <a:rPr sz="400" spc="-25"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035810" cy="244475"/>
          </a:xfrm>
          <a:prstGeom prst="rect">
            <a:avLst/>
          </a:prstGeom>
        </p:spPr>
        <p:txBody>
          <a:bodyPr vert="horz" wrap="square" lIns="0" tIns="17145" rIns="0" bIns="0" rtlCol="0">
            <a:spAutoFit/>
          </a:bodyPr>
          <a:lstStyle/>
          <a:p>
            <a:pPr marL="12700">
              <a:lnSpc>
                <a:spcPct val="100000"/>
              </a:lnSpc>
              <a:spcBef>
                <a:spcPts val="135"/>
              </a:spcBef>
            </a:pPr>
            <a:r>
              <a:rPr spc="10" dirty="0"/>
              <a:t>Intersection of two</a:t>
            </a:r>
            <a:r>
              <a:rPr spc="-30" dirty="0"/>
              <a:t> </a:t>
            </a:r>
            <a:r>
              <a:rPr spc="10" dirty="0"/>
              <a:t>tables</a:t>
            </a:r>
          </a:p>
        </p:txBody>
      </p:sp>
      <p:sp>
        <p:nvSpPr>
          <p:cNvPr id="35" name="object 35"/>
          <p:cNvSpPr txBox="1"/>
          <p:nvPr/>
        </p:nvSpPr>
        <p:spPr>
          <a:xfrm>
            <a:off x="167297" y="684909"/>
            <a:ext cx="3286760" cy="363855"/>
          </a:xfrm>
          <a:prstGeom prst="rect">
            <a:avLst/>
          </a:prstGeom>
        </p:spPr>
        <p:txBody>
          <a:bodyPr vert="horz" wrap="square" lIns="0" tIns="6985" rIns="0" bIns="0" rtlCol="0">
            <a:spAutoFit/>
          </a:bodyPr>
          <a:lstStyle/>
          <a:p>
            <a:pPr marL="12700" marR="5080">
              <a:lnSpc>
                <a:spcPct val="102600"/>
              </a:lnSpc>
              <a:spcBef>
                <a:spcPts val="55"/>
              </a:spcBef>
            </a:pPr>
            <a:r>
              <a:rPr sz="1100" spc="-5" dirty="0">
                <a:latin typeface="Arial"/>
                <a:cs typeface="Arial"/>
              </a:rPr>
              <a:t>Find locations </a:t>
            </a:r>
            <a:r>
              <a:rPr sz="1100" spc="-10" dirty="0">
                <a:latin typeface="Arial"/>
                <a:cs typeface="Arial"/>
              </a:rPr>
              <a:t>where </a:t>
            </a:r>
            <a:r>
              <a:rPr sz="1100" spc="-5" dirty="0">
                <a:latin typeface="Arial"/>
                <a:cs typeface="Arial"/>
              </a:rPr>
              <a:t>both </a:t>
            </a:r>
            <a:r>
              <a:rPr sz="1100" spc="-10" dirty="0">
                <a:latin typeface="Arial"/>
                <a:cs typeface="Arial"/>
              </a:rPr>
              <a:t>a drinker lives and a pub </a:t>
            </a:r>
            <a:r>
              <a:rPr sz="1100" spc="-5" dirty="0">
                <a:latin typeface="Arial"/>
                <a:cs typeface="Arial"/>
              </a:rPr>
              <a:t>is  located:</a:t>
            </a:r>
            <a:endParaRPr sz="1100">
              <a:latin typeface="Arial"/>
              <a:cs typeface="Arial"/>
            </a:endParaRPr>
          </a:p>
        </p:txBody>
      </p:sp>
      <p:sp>
        <p:nvSpPr>
          <p:cNvPr id="36" name="object 36"/>
          <p:cNvSpPr/>
          <p:nvPr/>
        </p:nvSpPr>
        <p:spPr>
          <a:xfrm>
            <a:off x="1501711" y="1894916"/>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37" name="object 37"/>
          <p:cNvSpPr/>
          <p:nvPr/>
        </p:nvSpPr>
        <p:spPr>
          <a:xfrm>
            <a:off x="1501711" y="2072055"/>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38" name="object 38"/>
          <p:cNvSpPr/>
          <p:nvPr/>
        </p:nvSpPr>
        <p:spPr>
          <a:xfrm>
            <a:off x="1501711" y="2097354"/>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39" name="object 39"/>
          <p:cNvSpPr/>
          <p:nvPr/>
        </p:nvSpPr>
        <p:spPr>
          <a:xfrm>
            <a:off x="1501711" y="2099894"/>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0" name="object 40"/>
          <p:cNvSpPr/>
          <p:nvPr/>
        </p:nvSpPr>
        <p:spPr>
          <a:xfrm>
            <a:off x="2386291" y="2099894"/>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1" name="object 41"/>
          <p:cNvSpPr/>
          <p:nvPr/>
        </p:nvSpPr>
        <p:spPr>
          <a:xfrm>
            <a:off x="1501711" y="2271966"/>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2" name="object 42"/>
          <p:cNvSpPr/>
          <p:nvPr/>
        </p:nvSpPr>
        <p:spPr>
          <a:xfrm>
            <a:off x="2386291" y="2271966"/>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3" name="object 43"/>
          <p:cNvSpPr/>
          <p:nvPr/>
        </p:nvSpPr>
        <p:spPr>
          <a:xfrm>
            <a:off x="1501711" y="2446566"/>
            <a:ext cx="885190" cy="0"/>
          </a:xfrm>
          <a:custGeom>
            <a:avLst/>
            <a:gdLst/>
            <a:ahLst/>
            <a:cxnLst/>
            <a:rect l="l" t="t" r="r" b="b"/>
            <a:pathLst>
              <a:path w="885189">
                <a:moveTo>
                  <a:pt x="0" y="0"/>
                </a:moveTo>
                <a:lnTo>
                  <a:pt x="884593" y="0"/>
                </a:lnTo>
              </a:path>
            </a:pathLst>
          </a:custGeom>
          <a:ln w="5054">
            <a:solidFill>
              <a:srgbClr val="000000"/>
            </a:solidFill>
          </a:ln>
        </p:spPr>
        <p:txBody>
          <a:bodyPr wrap="square" lIns="0" tIns="0" rIns="0" bIns="0" rtlCol="0"/>
          <a:lstStyle/>
          <a:p>
            <a:endParaRPr/>
          </a:p>
        </p:txBody>
      </p:sp>
      <p:sp>
        <p:nvSpPr>
          <p:cNvPr id="44" name="object 44"/>
          <p:cNvSpPr txBox="1"/>
          <p:nvPr/>
        </p:nvSpPr>
        <p:spPr>
          <a:xfrm>
            <a:off x="167297" y="1180882"/>
            <a:ext cx="3488690" cy="1747520"/>
          </a:xfrm>
          <a:prstGeom prst="rect">
            <a:avLst/>
          </a:prstGeom>
        </p:spPr>
        <p:txBody>
          <a:bodyPr vert="horz" wrap="square" lIns="0" tIns="6985" rIns="0" bIns="0" rtlCol="0">
            <a:spAutoFit/>
          </a:bodyPr>
          <a:lstStyle/>
          <a:p>
            <a:pPr marL="473709" marR="1624330" indent="-461645">
              <a:lnSpc>
                <a:spcPct val="102600"/>
              </a:lnSpc>
              <a:spcBef>
                <a:spcPts val="55"/>
              </a:spcBef>
            </a:pPr>
            <a:r>
              <a:rPr sz="1100" spc="-10" dirty="0">
                <a:solidFill>
                  <a:srgbClr val="0000FF"/>
                </a:solidFill>
                <a:latin typeface="Arial"/>
                <a:cs typeface="Arial"/>
              </a:rPr>
              <a:t>(SELECT </a:t>
            </a:r>
            <a:r>
              <a:rPr sz="1100" spc="-5" dirty="0">
                <a:solidFill>
                  <a:srgbClr val="0000FF"/>
                </a:solidFill>
                <a:latin typeface="Arial"/>
                <a:cs typeface="Arial"/>
              </a:rPr>
              <a:t>loc </a:t>
            </a:r>
            <a:r>
              <a:rPr sz="1100" spc="-15" dirty="0">
                <a:solidFill>
                  <a:srgbClr val="0000FF"/>
                </a:solidFill>
                <a:latin typeface="Arial"/>
                <a:cs typeface="Arial"/>
              </a:rPr>
              <a:t>FROM </a:t>
            </a:r>
            <a:r>
              <a:rPr sz="1100" spc="-10" dirty="0">
                <a:solidFill>
                  <a:srgbClr val="0000FF"/>
                </a:solidFill>
                <a:latin typeface="Arial"/>
                <a:cs typeface="Arial"/>
              </a:rPr>
              <a:t>Drinkers)  INTERSECT</a:t>
            </a:r>
            <a:endParaRPr sz="1100" dirty="0">
              <a:latin typeface="Arial"/>
              <a:cs typeface="Arial"/>
            </a:endParaRPr>
          </a:p>
          <a:p>
            <a:pPr marL="12700">
              <a:lnSpc>
                <a:spcPct val="100000"/>
              </a:lnSpc>
              <a:spcBef>
                <a:spcPts val="35"/>
              </a:spcBef>
            </a:pPr>
            <a:r>
              <a:rPr sz="1100" spc="-10" dirty="0">
                <a:solidFill>
                  <a:srgbClr val="0000FF"/>
                </a:solidFill>
                <a:latin typeface="Arial"/>
                <a:cs typeface="Arial"/>
              </a:rPr>
              <a:t>(SELECT </a:t>
            </a:r>
            <a:r>
              <a:rPr sz="1100" spc="-5" dirty="0">
                <a:solidFill>
                  <a:srgbClr val="0000FF"/>
                </a:solidFill>
                <a:latin typeface="Arial"/>
                <a:cs typeface="Arial"/>
              </a:rPr>
              <a:t>loc </a:t>
            </a:r>
            <a:r>
              <a:rPr sz="1100" spc="-15" dirty="0">
                <a:solidFill>
                  <a:srgbClr val="0000FF"/>
                </a:solidFill>
                <a:latin typeface="Arial"/>
                <a:cs typeface="Arial"/>
              </a:rPr>
              <a:t>FROM</a:t>
            </a:r>
            <a:r>
              <a:rPr sz="1100" spc="-5" dirty="0">
                <a:solidFill>
                  <a:srgbClr val="0000FF"/>
                </a:solidFill>
                <a:latin typeface="Arial"/>
                <a:cs typeface="Arial"/>
              </a:rPr>
              <a:t> Pubs);</a:t>
            </a:r>
            <a:endParaRPr sz="1100" dirty="0">
              <a:latin typeface="Arial"/>
              <a:cs typeface="Arial"/>
            </a:endParaRPr>
          </a:p>
          <a:p>
            <a:pPr>
              <a:lnSpc>
                <a:spcPct val="100000"/>
              </a:lnSpc>
              <a:spcBef>
                <a:spcPts val="5"/>
              </a:spcBef>
            </a:pPr>
            <a:endParaRPr sz="1050" dirty="0">
              <a:latin typeface="Times New Roman"/>
              <a:cs typeface="Times New Roman"/>
            </a:endParaRPr>
          </a:p>
          <a:p>
            <a:pPr marL="1409700" marR="1337310">
              <a:lnSpc>
                <a:spcPct val="111700"/>
              </a:lnSpc>
              <a:spcBef>
                <a:spcPts val="5"/>
              </a:spcBef>
            </a:pPr>
            <a:r>
              <a:rPr sz="1100" b="1" spc="-5" dirty="0">
                <a:latin typeface="Arial"/>
                <a:cs typeface="Arial"/>
              </a:rPr>
              <a:t>loc  </a:t>
            </a:r>
            <a:r>
              <a:rPr sz="1100" spc="-10" dirty="0">
                <a:latin typeface="Arial"/>
                <a:cs typeface="Arial"/>
              </a:rPr>
              <a:t>Blooms</a:t>
            </a:r>
            <a:r>
              <a:rPr sz="1100" spc="-35" dirty="0">
                <a:latin typeface="Arial"/>
                <a:cs typeface="Arial"/>
              </a:rPr>
              <a:t>b</a:t>
            </a:r>
            <a:r>
              <a:rPr sz="1100" spc="-10" dirty="0">
                <a:latin typeface="Arial"/>
                <a:cs typeface="Arial"/>
              </a:rPr>
              <a:t>u</a:t>
            </a:r>
            <a:r>
              <a:rPr sz="1100" spc="25" dirty="0">
                <a:latin typeface="Arial"/>
                <a:cs typeface="Arial"/>
              </a:rPr>
              <a:t>r</a:t>
            </a:r>
            <a:r>
              <a:rPr sz="1100" spc="-5" dirty="0">
                <a:latin typeface="Arial"/>
                <a:cs typeface="Arial"/>
              </a:rPr>
              <a:t>y  Islington</a:t>
            </a:r>
            <a:endParaRPr sz="1100" dirty="0">
              <a:latin typeface="Arial"/>
              <a:cs typeface="Arial"/>
            </a:endParaRPr>
          </a:p>
          <a:p>
            <a:pPr>
              <a:lnSpc>
                <a:spcPct val="100000"/>
              </a:lnSpc>
              <a:spcBef>
                <a:spcPts val="35"/>
              </a:spcBef>
            </a:pPr>
            <a:endParaRPr sz="1000" dirty="0">
              <a:latin typeface="Times New Roman"/>
              <a:cs typeface="Times New Roman"/>
            </a:endParaRPr>
          </a:p>
          <a:p>
            <a:pPr marL="12700" marR="5080">
              <a:lnSpc>
                <a:spcPct val="102699"/>
              </a:lnSpc>
            </a:pPr>
            <a:r>
              <a:rPr sz="1100" spc="-5" dirty="0">
                <a:latin typeface="Arial"/>
                <a:cs typeface="Arial"/>
              </a:rPr>
              <a:t>Note that </a:t>
            </a:r>
            <a:r>
              <a:rPr sz="1100" spc="-10" dirty="0">
                <a:solidFill>
                  <a:srgbClr val="0000FF"/>
                </a:solidFill>
                <a:latin typeface="Arial"/>
                <a:cs typeface="Arial"/>
              </a:rPr>
              <a:t>UNION</a:t>
            </a:r>
            <a:r>
              <a:rPr sz="1100" spc="-10" dirty="0">
                <a:latin typeface="Arial"/>
                <a:cs typeface="Arial"/>
              </a:rPr>
              <a:t>, </a:t>
            </a:r>
            <a:r>
              <a:rPr sz="1100" spc="-10" dirty="0">
                <a:solidFill>
                  <a:srgbClr val="0000FF"/>
                </a:solidFill>
                <a:latin typeface="Arial"/>
                <a:cs typeface="Arial"/>
              </a:rPr>
              <a:t>INTERSECT </a:t>
            </a:r>
            <a:r>
              <a:rPr sz="1100" spc="-10" dirty="0">
                <a:latin typeface="Arial"/>
                <a:cs typeface="Arial"/>
              </a:rPr>
              <a:t>and </a:t>
            </a:r>
            <a:r>
              <a:rPr sz="1100" spc="-10" dirty="0">
                <a:solidFill>
                  <a:srgbClr val="0000FF"/>
                </a:solidFill>
                <a:latin typeface="Arial"/>
                <a:cs typeface="Arial"/>
              </a:rPr>
              <a:t>EXCEPT </a:t>
            </a:r>
            <a:r>
              <a:rPr sz="1100" i="1" spc="-10" dirty="0">
                <a:latin typeface="Arial"/>
                <a:cs typeface="Arial"/>
              </a:rPr>
              <a:t>do </a:t>
            </a:r>
            <a:r>
              <a:rPr sz="1100" spc="-15" dirty="0">
                <a:latin typeface="Arial"/>
                <a:cs typeface="Arial"/>
              </a:rPr>
              <a:t>remove  </a:t>
            </a:r>
            <a:r>
              <a:rPr sz="1100" spc="-5" dirty="0">
                <a:latin typeface="Arial"/>
                <a:cs typeface="Arial"/>
              </a:rPr>
              <a:t>duplicate</a:t>
            </a:r>
            <a:r>
              <a:rPr sz="1100" spc="-10" dirty="0">
                <a:latin typeface="Arial"/>
                <a:cs typeface="Arial"/>
              </a:rPr>
              <a:t> </a:t>
            </a:r>
            <a:r>
              <a:rPr sz="1100" spc="-15" dirty="0">
                <a:latin typeface="Arial"/>
                <a:cs typeface="Arial"/>
              </a:rPr>
              <a:t>answers.</a:t>
            </a:r>
            <a:endParaRPr sz="1100" dirty="0">
              <a:latin typeface="Arial"/>
              <a:cs typeface="Arial"/>
            </a:endParaRPr>
          </a:p>
        </p:txBody>
      </p:sp>
    </p:spTree>
    <p:extLst>
      <p:ext uri="{BB962C8B-B14F-4D97-AF65-F5344CB8AC3E}">
        <p14:creationId xmlns:p14="http://schemas.microsoft.com/office/powerpoint/2010/main" val="1561536351"/>
      </p:ext>
    </p:extLst>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latin typeface="Arial"/>
                <a:cs typeface="Arial"/>
                <a:hlinkClick r:id="rId2" action="ppaction://hlinksldjump"/>
              </a:rPr>
              <a:t>SQL Subqueries </a:t>
            </a:r>
            <a:r>
              <a:rPr sz="400" spc="-5" dirty="0">
                <a:latin typeface="Arial"/>
                <a:cs typeface="Arial"/>
              </a:rPr>
              <a:t> </a:t>
            </a:r>
            <a:r>
              <a:rPr sz="400" spc="-5" dirty="0">
                <a:solidFill>
                  <a:srgbClr val="999999"/>
                </a:solidFill>
                <a:latin typeface="Arial"/>
                <a:cs typeface="Arial"/>
                <a:hlinkClick r:id="rId3" action="ppaction://hlinksldjump"/>
              </a:rPr>
              <a:t>Aggregation</a:t>
            </a:r>
            <a:r>
              <a:rPr sz="400" spc="-25"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866140" cy="244475"/>
          </a:xfrm>
          <a:prstGeom prst="rect">
            <a:avLst/>
          </a:prstGeom>
        </p:spPr>
        <p:txBody>
          <a:bodyPr vert="horz" wrap="square" lIns="0" tIns="17145" rIns="0" bIns="0" rtlCol="0">
            <a:spAutoFit/>
          </a:bodyPr>
          <a:lstStyle/>
          <a:p>
            <a:pPr marL="12700">
              <a:lnSpc>
                <a:spcPct val="100000"/>
              </a:lnSpc>
              <a:spcBef>
                <a:spcPts val="135"/>
              </a:spcBef>
            </a:pPr>
            <a:r>
              <a:rPr spc="15" dirty="0"/>
              <a:t>Using</a:t>
            </a:r>
            <a:r>
              <a:rPr spc="-65" dirty="0"/>
              <a:t> </a:t>
            </a:r>
            <a:r>
              <a:rPr spc="20" dirty="0">
                <a:solidFill>
                  <a:srgbClr val="0000FF"/>
                </a:solidFill>
              </a:rPr>
              <a:t>ALL</a:t>
            </a:r>
          </a:p>
        </p:txBody>
      </p:sp>
      <p:sp>
        <p:nvSpPr>
          <p:cNvPr id="35" name="object 35"/>
          <p:cNvSpPr txBox="1"/>
          <p:nvPr/>
        </p:nvSpPr>
        <p:spPr>
          <a:xfrm>
            <a:off x="167297" y="742390"/>
            <a:ext cx="3391535" cy="363855"/>
          </a:xfrm>
          <a:prstGeom prst="rect">
            <a:avLst/>
          </a:prstGeom>
        </p:spPr>
        <p:txBody>
          <a:bodyPr vert="horz" wrap="square" lIns="0" tIns="6985" rIns="0" bIns="0" rtlCol="0">
            <a:spAutoFit/>
          </a:bodyPr>
          <a:lstStyle/>
          <a:p>
            <a:pPr marL="12700" marR="5080">
              <a:lnSpc>
                <a:spcPct val="102600"/>
              </a:lnSpc>
              <a:spcBef>
                <a:spcPts val="55"/>
              </a:spcBef>
            </a:pPr>
            <a:r>
              <a:rPr sz="1100" spc="-5" dirty="0">
                <a:latin typeface="Arial"/>
                <a:cs typeface="Arial"/>
              </a:rPr>
              <a:t>Find the </a:t>
            </a:r>
            <a:r>
              <a:rPr sz="1100" spc="-20" dirty="0">
                <a:latin typeface="Arial"/>
                <a:cs typeface="Arial"/>
              </a:rPr>
              <a:t>pub, </a:t>
            </a:r>
            <a:r>
              <a:rPr sz="1100" spc="-5" dirty="0">
                <a:latin typeface="Arial"/>
                <a:cs typeface="Arial"/>
              </a:rPr>
              <a:t>beer </a:t>
            </a:r>
            <a:r>
              <a:rPr sz="1100" spc="-10" dirty="0">
                <a:latin typeface="Arial"/>
                <a:cs typeface="Arial"/>
              </a:rPr>
              <a:t>and </a:t>
            </a:r>
            <a:r>
              <a:rPr sz="1100" spc="-5" dirty="0">
                <a:latin typeface="Arial"/>
                <a:cs typeface="Arial"/>
              </a:rPr>
              <a:t>price </a:t>
            </a:r>
            <a:r>
              <a:rPr sz="1100" spc="-20" dirty="0">
                <a:latin typeface="Arial"/>
                <a:cs typeface="Arial"/>
              </a:rPr>
              <a:t>for </a:t>
            </a:r>
            <a:r>
              <a:rPr sz="1100" spc="-5" dirty="0">
                <a:latin typeface="Arial"/>
                <a:cs typeface="Arial"/>
              </a:rPr>
              <a:t>the cheapest beer sold  </a:t>
            </a:r>
            <a:r>
              <a:rPr sz="1100" spc="-20" dirty="0">
                <a:latin typeface="Arial"/>
                <a:cs typeface="Arial"/>
              </a:rPr>
              <a:t>by </a:t>
            </a:r>
            <a:r>
              <a:rPr sz="1100" spc="-15" dirty="0">
                <a:latin typeface="Arial"/>
                <a:cs typeface="Arial"/>
              </a:rPr>
              <a:t>any</a:t>
            </a:r>
            <a:r>
              <a:rPr sz="1100" spc="5" dirty="0">
                <a:latin typeface="Arial"/>
                <a:cs typeface="Arial"/>
              </a:rPr>
              <a:t> </a:t>
            </a:r>
            <a:r>
              <a:rPr sz="1100" spc="-5" dirty="0">
                <a:latin typeface="Arial"/>
                <a:cs typeface="Arial"/>
              </a:rPr>
              <a:t>pub:</a:t>
            </a:r>
            <a:endParaRPr sz="1100">
              <a:latin typeface="Arial"/>
              <a:cs typeface="Arial"/>
            </a:endParaRPr>
          </a:p>
        </p:txBody>
      </p:sp>
      <p:sp>
        <p:nvSpPr>
          <p:cNvPr id="36" name="object 36"/>
          <p:cNvSpPr txBox="1"/>
          <p:nvPr/>
        </p:nvSpPr>
        <p:spPr>
          <a:xfrm>
            <a:off x="167297" y="1238375"/>
            <a:ext cx="1528445" cy="880110"/>
          </a:xfrm>
          <a:prstGeom prst="rect">
            <a:avLst/>
          </a:prstGeom>
        </p:spPr>
        <p:txBody>
          <a:bodyPr vert="horz" wrap="square" lIns="0" tIns="11430" rIns="0" bIns="0" rtlCol="0">
            <a:spAutoFit/>
          </a:bodyPr>
          <a:lstStyle/>
          <a:p>
            <a:pPr marL="12700">
              <a:lnSpc>
                <a:spcPct val="100000"/>
              </a:lnSpc>
              <a:spcBef>
                <a:spcPts val="90"/>
              </a:spcBef>
            </a:pPr>
            <a:r>
              <a:rPr sz="1100" spc="-10" dirty="0">
                <a:solidFill>
                  <a:srgbClr val="0000FF"/>
                </a:solidFill>
                <a:latin typeface="Arial"/>
                <a:cs typeface="Arial"/>
              </a:rPr>
              <a:t>SELECT </a:t>
            </a:r>
            <a:r>
              <a:rPr sz="1100" spc="-5" dirty="0">
                <a:solidFill>
                  <a:srgbClr val="0000FF"/>
                </a:solidFill>
                <a:latin typeface="Arial"/>
                <a:cs typeface="Arial"/>
              </a:rPr>
              <a:t>*</a:t>
            </a:r>
            <a:endParaRPr sz="1100" dirty="0">
              <a:latin typeface="Arial"/>
              <a:cs typeface="Arial"/>
            </a:endParaRPr>
          </a:p>
          <a:p>
            <a:pPr marL="12700">
              <a:lnSpc>
                <a:spcPct val="100000"/>
              </a:lnSpc>
              <a:spcBef>
                <a:spcPts val="35"/>
              </a:spcBef>
            </a:pPr>
            <a:r>
              <a:rPr sz="1100" spc="-15" dirty="0">
                <a:solidFill>
                  <a:srgbClr val="0000FF"/>
                </a:solidFill>
                <a:latin typeface="Arial"/>
                <a:cs typeface="Arial"/>
              </a:rPr>
              <a:t>FROM</a:t>
            </a:r>
            <a:r>
              <a:rPr sz="1100" spc="-10" dirty="0">
                <a:solidFill>
                  <a:srgbClr val="0000FF"/>
                </a:solidFill>
                <a:latin typeface="Arial"/>
                <a:cs typeface="Arial"/>
              </a:rPr>
              <a:t> </a:t>
            </a:r>
            <a:r>
              <a:rPr sz="1100" spc="-5" dirty="0">
                <a:solidFill>
                  <a:srgbClr val="0000FF"/>
                </a:solidFill>
                <a:latin typeface="Arial"/>
                <a:cs typeface="Arial"/>
              </a:rPr>
              <a:t>Sells</a:t>
            </a:r>
            <a:endParaRPr sz="1100" dirty="0">
              <a:latin typeface="Arial"/>
              <a:cs typeface="Arial"/>
            </a:endParaRPr>
          </a:p>
          <a:p>
            <a:pPr marL="12700">
              <a:lnSpc>
                <a:spcPct val="100000"/>
              </a:lnSpc>
              <a:spcBef>
                <a:spcPts val="35"/>
              </a:spcBef>
            </a:pPr>
            <a:r>
              <a:rPr sz="1100" spc="-10" dirty="0">
                <a:solidFill>
                  <a:srgbClr val="0000FF"/>
                </a:solidFill>
                <a:latin typeface="Arial"/>
                <a:cs typeface="Arial"/>
              </a:rPr>
              <a:t>WHERE </a:t>
            </a:r>
            <a:r>
              <a:rPr sz="1100" spc="-5" dirty="0">
                <a:solidFill>
                  <a:srgbClr val="0000FF"/>
                </a:solidFill>
                <a:latin typeface="Arial"/>
                <a:cs typeface="Arial"/>
              </a:rPr>
              <a:t>price </a:t>
            </a:r>
            <a:r>
              <a:rPr sz="1100" spc="-10" dirty="0">
                <a:solidFill>
                  <a:srgbClr val="0000FF"/>
                </a:solidFill>
                <a:latin typeface="Arial"/>
                <a:cs typeface="Arial"/>
              </a:rPr>
              <a:t>&lt;=</a:t>
            </a:r>
            <a:r>
              <a:rPr sz="1100" spc="-20" dirty="0">
                <a:solidFill>
                  <a:srgbClr val="0000FF"/>
                </a:solidFill>
                <a:latin typeface="Arial"/>
                <a:cs typeface="Arial"/>
              </a:rPr>
              <a:t> </a:t>
            </a:r>
            <a:r>
              <a:rPr sz="1100" spc="-10" dirty="0">
                <a:solidFill>
                  <a:srgbClr val="0000FF"/>
                </a:solidFill>
                <a:latin typeface="Arial"/>
                <a:cs typeface="Arial"/>
              </a:rPr>
              <a:t>ALL</a:t>
            </a:r>
            <a:endParaRPr sz="1100" dirty="0">
              <a:latin typeface="Arial"/>
              <a:cs typeface="Arial"/>
            </a:endParaRPr>
          </a:p>
          <a:p>
            <a:pPr marL="589280" marR="5080">
              <a:lnSpc>
                <a:spcPct val="102600"/>
              </a:lnSpc>
            </a:pPr>
            <a:r>
              <a:rPr sz="1100" spc="-10" dirty="0">
                <a:solidFill>
                  <a:srgbClr val="0000FF"/>
                </a:solidFill>
                <a:latin typeface="Arial"/>
                <a:cs typeface="Arial"/>
              </a:rPr>
              <a:t>(SELECT</a:t>
            </a:r>
            <a:r>
              <a:rPr sz="1100" spc="-55" dirty="0">
                <a:solidFill>
                  <a:srgbClr val="0000FF"/>
                </a:solidFill>
                <a:latin typeface="Arial"/>
                <a:cs typeface="Arial"/>
              </a:rPr>
              <a:t> </a:t>
            </a:r>
            <a:r>
              <a:rPr sz="1100" spc="-5" dirty="0">
                <a:solidFill>
                  <a:srgbClr val="0000FF"/>
                </a:solidFill>
                <a:latin typeface="Arial"/>
                <a:cs typeface="Arial"/>
              </a:rPr>
              <a:t>price  </a:t>
            </a:r>
            <a:r>
              <a:rPr sz="1100" spc="-15" dirty="0">
                <a:solidFill>
                  <a:srgbClr val="0000FF"/>
                </a:solidFill>
                <a:latin typeface="Arial"/>
                <a:cs typeface="Arial"/>
              </a:rPr>
              <a:t>FROM</a:t>
            </a:r>
            <a:r>
              <a:rPr sz="1100" spc="-30" dirty="0">
                <a:solidFill>
                  <a:srgbClr val="0000FF"/>
                </a:solidFill>
                <a:latin typeface="Arial"/>
                <a:cs typeface="Arial"/>
              </a:rPr>
              <a:t> </a:t>
            </a:r>
            <a:r>
              <a:rPr sz="1100" spc="-5" dirty="0">
                <a:solidFill>
                  <a:srgbClr val="0000FF"/>
                </a:solidFill>
                <a:latin typeface="Arial"/>
                <a:cs typeface="Arial"/>
              </a:rPr>
              <a:t>Sells);</a:t>
            </a:r>
            <a:endParaRPr sz="1100" dirty="0">
              <a:latin typeface="Arial"/>
              <a:cs typeface="Arial"/>
            </a:endParaRPr>
          </a:p>
        </p:txBody>
      </p:sp>
      <p:graphicFrame>
        <p:nvGraphicFramePr>
          <p:cNvPr id="37" name="object 37"/>
          <p:cNvGraphicFramePr>
            <a:graphicFrameLocks noGrp="1"/>
          </p:cNvGraphicFramePr>
          <p:nvPr/>
        </p:nvGraphicFramePr>
        <p:xfrm>
          <a:off x="701116" y="2294026"/>
          <a:ext cx="2480310" cy="379576"/>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760095">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189788">
                <a:tc>
                  <a:txBody>
                    <a:bodyPr/>
                    <a:lstStyle/>
                    <a:p>
                      <a:pPr marL="75565">
                        <a:lnSpc>
                          <a:spcPts val="1190"/>
                        </a:lnSpc>
                      </a:pPr>
                      <a:r>
                        <a:rPr sz="1100" b="1" spc="-10" dirty="0">
                          <a:latin typeface="Arial"/>
                          <a:cs typeface="Arial"/>
                        </a:rPr>
                        <a:t>pub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beer</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190"/>
                        </a:lnSpc>
                      </a:pPr>
                      <a:r>
                        <a:rPr sz="1100" b="1" spc="-5" dirty="0">
                          <a:latin typeface="Arial"/>
                          <a:cs typeface="Arial"/>
                        </a:rPr>
                        <a:t>price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89788">
                <a:tc>
                  <a:txBody>
                    <a:bodyPr/>
                    <a:lstStyle/>
                    <a:p>
                      <a:pPr marL="75565">
                        <a:lnSpc>
                          <a:spcPts val="129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90"/>
                        </a:lnSpc>
                      </a:pPr>
                      <a:r>
                        <a:rPr sz="1100" spc="-10" dirty="0">
                          <a:latin typeface="Arial"/>
                          <a:cs typeface="Arial"/>
                        </a:rPr>
                        <a:t>Bad</a:t>
                      </a:r>
                      <a:r>
                        <a:rPr sz="1100" spc="-3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53340" algn="ctr">
                        <a:lnSpc>
                          <a:spcPts val="1290"/>
                        </a:lnSpc>
                      </a:pPr>
                      <a:r>
                        <a:rPr sz="1100" spc="-5" dirty="0">
                          <a:latin typeface="Arial"/>
                          <a:cs typeface="Arial"/>
                        </a:rPr>
                        <a:t>1.50</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77098055"/>
      </p:ext>
    </p:extLst>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latin typeface="Arial"/>
                <a:cs typeface="Arial"/>
                <a:hlinkClick r:id="rId2" action="ppaction://hlinksldjump"/>
              </a:rPr>
              <a:t>SQL Subqueries </a:t>
            </a:r>
            <a:r>
              <a:rPr sz="400" spc="-5" dirty="0">
                <a:latin typeface="Arial"/>
                <a:cs typeface="Arial"/>
              </a:rPr>
              <a:t> </a:t>
            </a:r>
            <a:r>
              <a:rPr sz="400" spc="-5" dirty="0">
                <a:solidFill>
                  <a:srgbClr val="999999"/>
                </a:solidFill>
                <a:latin typeface="Arial"/>
                <a:cs typeface="Arial"/>
                <a:hlinkClick r:id="rId3" action="ppaction://hlinksldjump"/>
              </a:rPr>
              <a:t>Aggregation</a:t>
            </a:r>
            <a:r>
              <a:rPr sz="400" spc="-25"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724535" cy="244475"/>
          </a:xfrm>
          <a:prstGeom prst="rect">
            <a:avLst/>
          </a:prstGeom>
        </p:spPr>
        <p:txBody>
          <a:bodyPr vert="horz" wrap="square" lIns="0" tIns="17145" rIns="0" bIns="0" rtlCol="0">
            <a:spAutoFit/>
          </a:bodyPr>
          <a:lstStyle/>
          <a:p>
            <a:pPr marL="12700">
              <a:lnSpc>
                <a:spcPct val="100000"/>
              </a:lnSpc>
              <a:spcBef>
                <a:spcPts val="135"/>
              </a:spcBef>
            </a:pPr>
            <a:r>
              <a:rPr spc="15" dirty="0"/>
              <a:t>Using</a:t>
            </a:r>
            <a:r>
              <a:rPr spc="-60" dirty="0"/>
              <a:t> </a:t>
            </a:r>
            <a:r>
              <a:rPr spc="15" dirty="0">
                <a:solidFill>
                  <a:srgbClr val="0000FF"/>
                </a:solidFill>
              </a:rPr>
              <a:t>IN</a:t>
            </a:r>
          </a:p>
        </p:txBody>
      </p:sp>
      <p:sp>
        <p:nvSpPr>
          <p:cNvPr id="35" name="object 35"/>
          <p:cNvSpPr txBox="1"/>
          <p:nvPr/>
        </p:nvSpPr>
        <p:spPr>
          <a:xfrm>
            <a:off x="167297" y="496429"/>
            <a:ext cx="2661285"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Find the beers sold </a:t>
            </a:r>
            <a:r>
              <a:rPr sz="1100" spc="-20" dirty="0">
                <a:latin typeface="Arial"/>
                <a:cs typeface="Arial"/>
              </a:rPr>
              <a:t>by </a:t>
            </a:r>
            <a:r>
              <a:rPr sz="1100" spc="-10" dirty="0">
                <a:latin typeface="Arial"/>
                <a:cs typeface="Arial"/>
              </a:rPr>
              <a:t>pubs </a:t>
            </a:r>
            <a:r>
              <a:rPr sz="1100" spc="-5" dirty="0">
                <a:latin typeface="Arial"/>
                <a:cs typeface="Arial"/>
              </a:rPr>
              <a:t>visited </a:t>
            </a:r>
            <a:r>
              <a:rPr sz="1100" spc="-20" dirty="0">
                <a:latin typeface="Arial"/>
                <a:cs typeface="Arial"/>
              </a:rPr>
              <a:t>by</a:t>
            </a:r>
            <a:r>
              <a:rPr sz="1100" spc="-35" dirty="0">
                <a:latin typeface="Arial"/>
                <a:cs typeface="Arial"/>
              </a:rPr>
              <a:t> </a:t>
            </a:r>
            <a:r>
              <a:rPr sz="1100" spc="-5" dirty="0">
                <a:latin typeface="Arial"/>
                <a:cs typeface="Arial"/>
              </a:rPr>
              <a:t>Bob:</a:t>
            </a:r>
            <a:endParaRPr sz="1100">
              <a:latin typeface="Arial"/>
              <a:cs typeface="Arial"/>
            </a:endParaRPr>
          </a:p>
        </p:txBody>
      </p:sp>
      <p:sp>
        <p:nvSpPr>
          <p:cNvPr id="36" name="object 36"/>
          <p:cNvSpPr txBox="1"/>
          <p:nvPr/>
        </p:nvSpPr>
        <p:spPr>
          <a:xfrm>
            <a:off x="167297" y="820329"/>
            <a:ext cx="2131060" cy="2216150"/>
          </a:xfrm>
          <a:prstGeom prst="rect">
            <a:avLst/>
          </a:prstGeom>
        </p:spPr>
        <p:txBody>
          <a:bodyPr vert="horz" wrap="square" lIns="0" tIns="6985" rIns="0" bIns="0" rtlCol="0">
            <a:spAutoFit/>
          </a:bodyPr>
          <a:lstStyle/>
          <a:p>
            <a:pPr marL="12700" marR="1147445">
              <a:lnSpc>
                <a:spcPct val="102600"/>
              </a:lnSpc>
              <a:spcBef>
                <a:spcPts val="55"/>
              </a:spcBef>
            </a:pPr>
            <a:r>
              <a:rPr sz="1100" spc="-10" dirty="0">
                <a:solidFill>
                  <a:srgbClr val="0000FF"/>
                </a:solidFill>
                <a:latin typeface="Arial"/>
                <a:cs typeface="Arial"/>
              </a:rPr>
              <a:t>SELECT </a:t>
            </a:r>
            <a:r>
              <a:rPr sz="1100" spc="-5" dirty="0">
                <a:solidFill>
                  <a:srgbClr val="0000FF"/>
                </a:solidFill>
                <a:latin typeface="Arial"/>
                <a:cs typeface="Arial"/>
              </a:rPr>
              <a:t>beer  </a:t>
            </a:r>
            <a:r>
              <a:rPr sz="1100" spc="-15" dirty="0">
                <a:solidFill>
                  <a:srgbClr val="0000FF"/>
                </a:solidFill>
                <a:latin typeface="Arial"/>
                <a:cs typeface="Arial"/>
              </a:rPr>
              <a:t>FROM </a:t>
            </a:r>
            <a:r>
              <a:rPr sz="1100" spc="-5" dirty="0">
                <a:solidFill>
                  <a:srgbClr val="0000FF"/>
                </a:solidFill>
                <a:latin typeface="Arial"/>
                <a:cs typeface="Arial"/>
              </a:rPr>
              <a:t>Sells  </a:t>
            </a:r>
            <a:r>
              <a:rPr sz="1100" spc="-10" dirty="0">
                <a:solidFill>
                  <a:srgbClr val="0000FF"/>
                </a:solidFill>
                <a:latin typeface="Arial"/>
                <a:cs typeface="Arial"/>
              </a:rPr>
              <a:t>WHERE pub</a:t>
            </a:r>
            <a:r>
              <a:rPr sz="1100" spc="-70" dirty="0">
                <a:solidFill>
                  <a:srgbClr val="0000FF"/>
                </a:solidFill>
                <a:latin typeface="Arial"/>
                <a:cs typeface="Arial"/>
              </a:rPr>
              <a:t> </a:t>
            </a:r>
            <a:r>
              <a:rPr sz="1100" spc="-5" dirty="0">
                <a:solidFill>
                  <a:srgbClr val="0000FF"/>
                </a:solidFill>
                <a:latin typeface="Arial"/>
                <a:cs typeface="Arial"/>
              </a:rPr>
              <a:t>IN</a:t>
            </a:r>
            <a:endParaRPr sz="1100" dirty="0">
              <a:latin typeface="Arial"/>
              <a:cs typeface="Arial"/>
            </a:endParaRPr>
          </a:p>
          <a:p>
            <a:pPr marL="589280" marR="678180">
              <a:lnSpc>
                <a:spcPct val="102600"/>
              </a:lnSpc>
            </a:pPr>
            <a:r>
              <a:rPr sz="1100" spc="-10" dirty="0">
                <a:solidFill>
                  <a:srgbClr val="0000FF"/>
                </a:solidFill>
                <a:latin typeface="Arial"/>
                <a:cs typeface="Arial"/>
              </a:rPr>
              <a:t>(SELECT</a:t>
            </a:r>
            <a:r>
              <a:rPr sz="1100" spc="-60" dirty="0">
                <a:solidFill>
                  <a:srgbClr val="0000FF"/>
                </a:solidFill>
                <a:latin typeface="Arial"/>
                <a:cs typeface="Arial"/>
              </a:rPr>
              <a:t> </a:t>
            </a:r>
            <a:r>
              <a:rPr sz="1100" spc="-10" dirty="0">
                <a:solidFill>
                  <a:srgbClr val="0000FF"/>
                </a:solidFill>
                <a:latin typeface="Arial"/>
                <a:cs typeface="Arial"/>
              </a:rPr>
              <a:t>pub  </a:t>
            </a:r>
            <a:r>
              <a:rPr sz="1100" spc="-15" dirty="0">
                <a:solidFill>
                  <a:srgbClr val="0000FF"/>
                </a:solidFill>
                <a:latin typeface="Arial"/>
                <a:cs typeface="Arial"/>
              </a:rPr>
              <a:t>FROM</a:t>
            </a:r>
            <a:r>
              <a:rPr sz="1100" spc="-35" dirty="0">
                <a:solidFill>
                  <a:srgbClr val="0000FF"/>
                </a:solidFill>
                <a:latin typeface="Arial"/>
                <a:cs typeface="Arial"/>
              </a:rPr>
              <a:t> </a:t>
            </a:r>
            <a:r>
              <a:rPr sz="1100" spc="-5" dirty="0">
                <a:solidFill>
                  <a:srgbClr val="0000FF"/>
                </a:solidFill>
                <a:latin typeface="Arial"/>
                <a:cs typeface="Arial"/>
              </a:rPr>
              <a:t>Visits</a:t>
            </a:r>
            <a:endParaRPr sz="1100" dirty="0">
              <a:latin typeface="Arial"/>
              <a:cs typeface="Arial"/>
            </a:endParaRPr>
          </a:p>
          <a:p>
            <a:pPr marL="589280">
              <a:lnSpc>
                <a:spcPct val="100000"/>
              </a:lnSpc>
              <a:spcBef>
                <a:spcPts val="35"/>
              </a:spcBef>
            </a:pPr>
            <a:r>
              <a:rPr sz="1100" spc="-10" dirty="0">
                <a:solidFill>
                  <a:srgbClr val="0000FF"/>
                </a:solidFill>
                <a:latin typeface="Arial"/>
                <a:cs typeface="Arial"/>
              </a:rPr>
              <a:t>WHERE drinker =</a:t>
            </a:r>
            <a:r>
              <a:rPr sz="1100" spc="-35" dirty="0">
                <a:solidFill>
                  <a:srgbClr val="0000FF"/>
                </a:solidFill>
                <a:latin typeface="Arial"/>
                <a:cs typeface="Arial"/>
              </a:rPr>
              <a:t> </a:t>
            </a:r>
            <a:r>
              <a:rPr sz="1100" spc="-5" dirty="0">
                <a:solidFill>
                  <a:srgbClr val="0000FF"/>
                </a:solidFill>
                <a:latin typeface="Arial"/>
                <a:cs typeface="Arial"/>
              </a:rPr>
              <a:t>’Bob’);</a:t>
            </a:r>
            <a:endParaRPr sz="1100" dirty="0">
              <a:latin typeface="Arial"/>
              <a:cs typeface="Arial"/>
            </a:endParaRPr>
          </a:p>
          <a:p>
            <a:pPr>
              <a:lnSpc>
                <a:spcPct val="100000"/>
              </a:lnSpc>
              <a:spcBef>
                <a:spcPts val="25"/>
              </a:spcBef>
            </a:pPr>
            <a:endParaRPr sz="1050" dirty="0">
              <a:latin typeface="Times New Roman"/>
              <a:cs typeface="Times New Roman"/>
            </a:endParaRPr>
          </a:p>
          <a:p>
            <a:pPr marL="12700">
              <a:lnSpc>
                <a:spcPct val="100000"/>
              </a:lnSpc>
            </a:pPr>
            <a:r>
              <a:rPr sz="1100" spc="-10" dirty="0">
                <a:latin typeface="Arial"/>
                <a:cs typeface="Arial"/>
              </a:rPr>
              <a:t>Previously </a:t>
            </a:r>
            <a:r>
              <a:rPr sz="1100" spc="-15" dirty="0">
                <a:latin typeface="Arial"/>
                <a:cs typeface="Arial"/>
              </a:rPr>
              <a:t>we</a:t>
            </a:r>
            <a:r>
              <a:rPr sz="1100" spc="-75" dirty="0">
                <a:latin typeface="Arial"/>
                <a:cs typeface="Arial"/>
              </a:rPr>
              <a:t> </a:t>
            </a:r>
            <a:r>
              <a:rPr sz="1100" spc="-5" dirty="0">
                <a:latin typeface="Arial"/>
                <a:cs typeface="Arial"/>
              </a:rPr>
              <a:t>had:</a:t>
            </a:r>
            <a:endParaRPr sz="1100" dirty="0">
              <a:latin typeface="Arial"/>
              <a:cs typeface="Arial"/>
            </a:endParaRPr>
          </a:p>
          <a:p>
            <a:pPr>
              <a:lnSpc>
                <a:spcPct val="100000"/>
              </a:lnSpc>
              <a:spcBef>
                <a:spcPts val="45"/>
              </a:spcBef>
            </a:pPr>
            <a:endParaRPr sz="1000" dirty="0">
              <a:latin typeface="Times New Roman"/>
              <a:cs typeface="Times New Roman"/>
            </a:endParaRPr>
          </a:p>
          <a:p>
            <a:pPr marL="12700" marR="960119">
              <a:lnSpc>
                <a:spcPct val="102600"/>
              </a:lnSpc>
            </a:pPr>
            <a:r>
              <a:rPr sz="1100" spc="-10" dirty="0">
                <a:solidFill>
                  <a:srgbClr val="0000FF"/>
                </a:solidFill>
                <a:latin typeface="Arial"/>
                <a:cs typeface="Arial"/>
              </a:rPr>
              <a:t>SELECT </a:t>
            </a:r>
            <a:r>
              <a:rPr sz="1100" spc="-5" dirty="0">
                <a:solidFill>
                  <a:srgbClr val="0000FF"/>
                </a:solidFill>
                <a:latin typeface="Arial"/>
                <a:cs typeface="Arial"/>
              </a:rPr>
              <a:t>beer  </a:t>
            </a:r>
            <a:r>
              <a:rPr sz="1100" spc="-15" dirty="0">
                <a:solidFill>
                  <a:srgbClr val="0000FF"/>
                </a:solidFill>
                <a:latin typeface="Arial"/>
                <a:cs typeface="Arial"/>
              </a:rPr>
              <a:t>FROM </a:t>
            </a:r>
            <a:r>
              <a:rPr sz="1100" spc="-10" dirty="0">
                <a:solidFill>
                  <a:srgbClr val="0000FF"/>
                </a:solidFill>
                <a:latin typeface="Arial"/>
                <a:cs typeface="Arial"/>
              </a:rPr>
              <a:t>Sells,</a:t>
            </a:r>
            <a:r>
              <a:rPr sz="1100" spc="-65" dirty="0">
                <a:solidFill>
                  <a:srgbClr val="0000FF"/>
                </a:solidFill>
                <a:latin typeface="Arial"/>
                <a:cs typeface="Arial"/>
              </a:rPr>
              <a:t> </a:t>
            </a:r>
            <a:r>
              <a:rPr sz="1100" spc="-5" dirty="0">
                <a:solidFill>
                  <a:srgbClr val="0000FF"/>
                </a:solidFill>
                <a:latin typeface="Arial"/>
                <a:cs typeface="Arial"/>
              </a:rPr>
              <a:t>Visits</a:t>
            </a:r>
            <a:endParaRPr sz="1100" dirty="0">
              <a:latin typeface="Arial"/>
              <a:cs typeface="Arial"/>
            </a:endParaRPr>
          </a:p>
          <a:p>
            <a:pPr marL="12700" marR="493395">
              <a:lnSpc>
                <a:spcPct val="102600"/>
              </a:lnSpc>
            </a:pPr>
            <a:r>
              <a:rPr sz="1100" spc="-10" dirty="0">
                <a:solidFill>
                  <a:srgbClr val="0000FF"/>
                </a:solidFill>
                <a:latin typeface="Arial"/>
                <a:cs typeface="Arial"/>
              </a:rPr>
              <a:t>WHERE drinker = </a:t>
            </a:r>
            <a:r>
              <a:rPr sz="1100" spc="-5" dirty="0">
                <a:solidFill>
                  <a:srgbClr val="0000FF"/>
                </a:solidFill>
                <a:latin typeface="Arial"/>
                <a:cs typeface="Arial"/>
              </a:rPr>
              <a:t>’Bob’  </a:t>
            </a:r>
            <a:r>
              <a:rPr sz="1100" spc="-10" dirty="0">
                <a:solidFill>
                  <a:srgbClr val="0000FF"/>
                </a:solidFill>
                <a:latin typeface="Arial"/>
                <a:cs typeface="Arial"/>
              </a:rPr>
              <a:t>AND Sells.pub=Visits.pub;</a:t>
            </a:r>
            <a:endParaRPr sz="1100" dirty="0">
              <a:latin typeface="Arial"/>
              <a:cs typeface="Arial"/>
            </a:endParaRPr>
          </a:p>
        </p:txBody>
      </p:sp>
    </p:spTree>
    <p:extLst>
      <p:ext uri="{BB962C8B-B14F-4D97-AF65-F5344CB8AC3E}">
        <p14:creationId xmlns:p14="http://schemas.microsoft.com/office/powerpoint/2010/main" val="3363822207"/>
      </p:ext>
    </p:extLst>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latin typeface="Arial"/>
                <a:cs typeface="Arial"/>
                <a:hlinkClick r:id="rId2" action="ppaction://hlinksldjump"/>
              </a:rPr>
              <a:t>SQL Subqueries </a:t>
            </a:r>
            <a:r>
              <a:rPr sz="400" spc="-5" dirty="0">
                <a:latin typeface="Arial"/>
                <a:cs typeface="Arial"/>
              </a:rPr>
              <a:t> </a:t>
            </a:r>
            <a:r>
              <a:rPr sz="400" spc="-5" dirty="0">
                <a:solidFill>
                  <a:srgbClr val="999999"/>
                </a:solidFill>
                <a:latin typeface="Arial"/>
                <a:cs typeface="Arial"/>
                <a:hlinkClick r:id="rId3" action="ppaction://hlinksldjump"/>
              </a:rPr>
              <a:t>Aggregation</a:t>
            </a:r>
            <a:r>
              <a:rPr sz="400" spc="-25"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1820545" cy="244475"/>
          </a:xfrm>
          <a:prstGeom prst="rect">
            <a:avLst/>
          </a:prstGeom>
        </p:spPr>
        <p:txBody>
          <a:bodyPr vert="horz" wrap="square" lIns="0" tIns="17145" rIns="0" bIns="0" rtlCol="0">
            <a:spAutoFit/>
          </a:bodyPr>
          <a:lstStyle/>
          <a:p>
            <a:pPr marL="12700">
              <a:lnSpc>
                <a:spcPct val="100000"/>
              </a:lnSpc>
              <a:spcBef>
                <a:spcPts val="135"/>
              </a:spcBef>
            </a:pPr>
            <a:r>
              <a:rPr spc="15" dirty="0"/>
              <a:t>Correlated</a:t>
            </a:r>
            <a:r>
              <a:rPr spc="-40" dirty="0"/>
              <a:t> </a:t>
            </a:r>
            <a:r>
              <a:rPr spc="15" dirty="0"/>
              <a:t>subqueries</a:t>
            </a:r>
          </a:p>
        </p:txBody>
      </p:sp>
      <p:sp>
        <p:nvSpPr>
          <p:cNvPr id="35" name="object 35"/>
          <p:cNvSpPr txBox="1"/>
          <p:nvPr/>
        </p:nvSpPr>
        <p:spPr>
          <a:xfrm>
            <a:off x="270992" y="993291"/>
            <a:ext cx="3412490" cy="1510665"/>
          </a:xfrm>
          <a:prstGeom prst="rect">
            <a:avLst/>
          </a:prstGeom>
        </p:spPr>
        <p:txBody>
          <a:bodyPr vert="horz" wrap="square" lIns="0" tIns="6985" rIns="0" bIns="0" rtlCol="0">
            <a:spAutoFit/>
          </a:bodyPr>
          <a:lstStyle/>
          <a:p>
            <a:pPr marL="186055" marR="65405" indent="-148590">
              <a:lnSpc>
                <a:spcPct val="102600"/>
              </a:lnSpc>
              <a:spcBef>
                <a:spcPts val="55"/>
              </a:spcBef>
            </a:pPr>
            <a:r>
              <a:rPr sz="1200" spc="127" baseline="6944" dirty="0">
                <a:solidFill>
                  <a:srgbClr val="3333B2"/>
                </a:solidFill>
                <a:latin typeface="Arial Black"/>
                <a:cs typeface="Arial Black"/>
              </a:rPr>
              <a:t>e </a:t>
            </a:r>
            <a:r>
              <a:rPr sz="1100" spc="-5" dirty="0">
                <a:latin typeface="Arial"/>
                <a:cs typeface="Arial"/>
              </a:rPr>
              <a:t>In the </a:t>
            </a:r>
            <a:r>
              <a:rPr sz="1100" spc="-10" dirty="0">
                <a:latin typeface="Arial"/>
                <a:cs typeface="Arial"/>
              </a:rPr>
              <a:t>previous </a:t>
            </a:r>
            <a:r>
              <a:rPr sz="1100" spc="-5" dirty="0">
                <a:latin typeface="Arial"/>
                <a:cs typeface="Arial"/>
              </a:rPr>
              <a:t>queries, the subquery could </a:t>
            </a:r>
            <a:r>
              <a:rPr sz="1100" spc="-10" dirty="0">
                <a:latin typeface="Arial"/>
                <a:cs typeface="Arial"/>
              </a:rPr>
              <a:t>be  </a:t>
            </a:r>
            <a:r>
              <a:rPr sz="1100" spc="-15" dirty="0">
                <a:latin typeface="Arial"/>
                <a:cs typeface="Arial"/>
              </a:rPr>
              <a:t>evaluated </a:t>
            </a:r>
            <a:r>
              <a:rPr sz="1100" spc="-10" dirty="0">
                <a:latin typeface="Arial"/>
                <a:cs typeface="Arial"/>
              </a:rPr>
              <a:t>once, e.g. </a:t>
            </a:r>
            <a:r>
              <a:rPr sz="1100" spc="-5" dirty="0">
                <a:latin typeface="Arial"/>
                <a:cs typeface="Arial"/>
              </a:rPr>
              <a:t>to find the </a:t>
            </a:r>
            <a:r>
              <a:rPr sz="1100" spc="-10" dirty="0">
                <a:latin typeface="Arial"/>
                <a:cs typeface="Arial"/>
              </a:rPr>
              <a:t>pubs </a:t>
            </a:r>
            <a:r>
              <a:rPr sz="1100" spc="-5" dirty="0">
                <a:latin typeface="Arial"/>
                <a:cs typeface="Arial"/>
              </a:rPr>
              <a:t>visited </a:t>
            </a:r>
            <a:r>
              <a:rPr sz="1100" spc="-20" dirty="0">
                <a:latin typeface="Arial"/>
                <a:cs typeface="Arial"/>
              </a:rPr>
              <a:t>by</a:t>
            </a:r>
            <a:r>
              <a:rPr sz="1100" spc="20" dirty="0">
                <a:latin typeface="Arial"/>
                <a:cs typeface="Arial"/>
              </a:rPr>
              <a:t> </a:t>
            </a:r>
            <a:r>
              <a:rPr sz="1100" spc="-20" dirty="0">
                <a:latin typeface="Arial"/>
                <a:cs typeface="Arial"/>
              </a:rPr>
              <a:t>Bob.</a:t>
            </a:r>
            <a:endParaRPr sz="1100" dirty="0">
              <a:latin typeface="Arial"/>
              <a:cs typeface="Arial"/>
            </a:endParaRPr>
          </a:p>
          <a:p>
            <a:pPr marL="186055" marR="30480" indent="-148590">
              <a:lnSpc>
                <a:spcPct val="102600"/>
              </a:lnSpc>
              <a:spcBef>
                <a:spcPts val="300"/>
              </a:spcBef>
            </a:pPr>
            <a:r>
              <a:rPr sz="1200" spc="127" baseline="6944" dirty="0">
                <a:solidFill>
                  <a:srgbClr val="3333B2"/>
                </a:solidFill>
                <a:latin typeface="Arial Black"/>
                <a:cs typeface="Arial Black"/>
              </a:rPr>
              <a:t>e </a:t>
            </a:r>
            <a:r>
              <a:rPr sz="1100" spc="-5" dirty="0">
                <a:solidFill>
                  <a:srgbClr val="00B050"/>
                </a:solidFill>
                <a:latin typeface="Arial"/>
                <a:cs typeface="Arial"/>
              </a:rPr>
              <a:t>This </a:t>
            </a:r>
            <a:r>
              <a:rPr sz="1100" spc="-15" dirty="0">
                <a:solidFill>
                  <a:srgbClr val="00B050"/>
                </a:solidFill>
                <a:latin typeface="Arial"/>
                <a:cs typeface="Arial"/>
              </a:rPr>
              <a:t>was </a:t>
            </a:r>
            <a:r>
              <a:rPr sz="1100" spc="-5" dirty="0">
                <a:solidFill>
                  <a:srgbClr val="00B050"/>
                </a:solidFill>
                <a:latin typeface="Arial"/>
                <a:cs typeface="Arial"/>
              </a:rPr>
              <a:t>because the subquery </a:t>
            </a:r>
            <a:r>
              <a:rPr sz="1100" spc="-15" dirty="0">
                <a:solidFill>
                  <a:srgbClr val="00B050"/>
                </a:solidFill>
                <a:latin typeface="Arial"/>
                <a:cs typeface="Arial"/>
              </a:rPr>
              <a:t>was </a:t>
            </a:r>
            <a:r>
              <a:rPr sz="1100" spc="-5" dirty="0">
                <a:solidFill>
                  <a:srgbClr val="00B050"/>
                </a:solidFill>
                <a:latin typeface="Arial"/>
                <a:cs typeface="Arial"/>
              </a:rPr>
              <a:t>independent of  the outer</a:t>
            </a:r>
            <a:r>
              <a:rPr sz="1100" spc="-10" dirty="0">
                <a:solidFill>
                  <a:srgbClr val="00B050"/>
                </a:solidFill>
                <a:latin typeface="Arial"/>
                <a:cs typeface="Arial"/>
              </a:rPr>
              <a:t> </a:t>
            </a:r>
            <a:r>
              <a:rPr sz="1100" spc="-20" dirty="0">
                <a:solidFill>
                  <a:srgbClr val="00B050"/>
                </a:solidFill>
                <a:latin typeface="Arial"/>
                <a:cs typeface="Arial"/>
              </a:rPr>
              <a:t>query.</a:t>
            </a:r>
            <a:endParaRPr sz="1100" dirty="0">
              <a:solidFill>
                <a:srgbClr val="00B050"/>
              </a:solidFill>
              <a:latin typeface="Arial"/>
              <a:cs typeface="Arial"/>
            </a:endParaRPr>
          </a:p>
          <a:p>
            <a:pPr marL="186055" marR="153670" indent="-148590">
              <a:lnSpc>
                <a:spcPct val="102699"/>
              </a:lnSpc>
              <a:spcBef>
                <a:spcPts val="300"/>
              </a:spcBef>
            </a:pPr>
            <a:r>
              <a:rPr sz="1200" spc="127" baseline="6944" dirty="0">
                <a:solidFill>
                  <a:srgbClr val="3333B2"/>
                </a:solidFill>
                <a:latin typeface="Arial Black"/>
                <a:cs typeface="Arial Black"/>
              </a:rPr>
              <a:t>e </a:t>
            </a:r>
            <a:r>
              <a:rPr sz="1100" spc="-5" dirty="0">
                <a:latin typeface="Arial"/>
                <a:cs typeface="Arial"/>
              </a:rPr>
              <a:t>This is not the case </a:t>
            </a:r>
            <a:r>
              <a:rPr sz="1100" spc="-10" dirty="0">
                <a:latin typeface="Arial"/>
                <a:cs typeface="Arial"/>
              </a:rPr>
              <a:t>when </a:t>
            </a:r>
            <a:r>
              <a:rPr sz="1100" spc="-5" dirty="0">
                <a:latin typeface="Arial"/>
                <a:cs typeface="Arial"/>
              </a:rPr>
              <a:t>the subquery </a:t>
            </a:r>
            <a:r>
              <a:rPr sz="1100" spc="-10" dirty="0">
                <a:latin typeface="Arial"/>
                <a:cs typeface="Arial"/>
              </a:rPr>
              <a:t>refers </a:t>
            </a:r>
            <a:r>
              <a:rPr sz="1100" spc="-5" dirty="0">
                <a:latin typeface="Arial"/>
                <a:cs typeface="Arial"/>
              </a:rPr>
              <a:t>to </a:t>
            </a:r>
            <a:r>
              <a:rPr sz="1100" spc="-10" dirty="0">
                <a:latin typeface="Arial"/>
                <a:cs typeface="Arial"/>
              </a:rPr>
              <a:t>a  </a:t>
            </a:r>
            <a:r>
              <a:rPr sz="1100" spc="-5" dirty="0">
                <a:solidFill>
                  <a:srgbClr val="FF0000"/>
                </a:solidFill>
                <a:latin typeface="Arial"/>
                <a:cs typeface="Arial"/>
              </a:rPr>
              <a:t>tuple </a:t>
            </a:r>
            <a:r>
              <a:rPr sz="1100" spc="-10" dirty="0">
                <a:solidFill>
                  <a:srgbClr val="FF0000"/>
                </a:solidFill>
                <a:latin typeface="Arial"/>
                <a:cs typeface="Arial"/>
              </a:rPr>
              <a:t>variable </a:t>
            </a:r>
            <a:r>
              <a:rPr sz="1100" spc="-5" dirty="0">
                <a:latin typeface="Arial"/>
                <a:cs typeface="Arial"/>
              </a:rPr>
              <a:t>in the </a:t>
            </a:r>
            <a:r>
              <a:rPr sz="1100" spc="-5" dirty="0">
                <a:solidFill>
                  <a:srgbClr val="00B050"/>
                </a:solidFill>
                <a:latin typeface="Arial"/>
                <a:cs typeface="Arial"/>
              </a:rPr>
              <a:t>outer</a:t>
            </a:r>
            <a:r>
              <a:rPr sz="1100" spc="-10" dirty="0">
                <a:solidFill>
                  <a:srgbClr val="00B050"/>
                </a:solidFill>
                <a:latin typeface="Arial"/>
                <a:cs typeface="Arial"/>
              </a:rPr>
              <a:t> </a:t>
            </a:r>
            <a:r>
              <a:rPr sz="1100" spc="-20" dirty="0">
                <a:solidFill>
                  <a:srgbClr val="00B050"/>
                </a:solidFill>
                <a:latin typeface="Arial"/>
                <a:cs typeface="Arial"/>
              </a:rPr>
              <a:t>query.</a:t>
            </a:r>
            <a:endParaRPr sz="1100" dirty="0">
              <a:solidFill>
                <a:srgbClr val="00B050"/>
              </a:solidFill>
              <a:latin typeface="Arial"/>
              <a:cs typeface="Arial"/>
            </a:endParaRPr>
          </a:p>
          <a:p>
            <a:pPr marL="38100">
              <a:lnSpc>
                <a:spcPct val="100000"/>
              </a:lnSpc>
              <a:spcBef>
                <a:spcPts val="330"/>
              </a:spcBef>
            </a:pPr>
            <a:r>
              <a:rPr sz="1200" spc="127" baseline="6944" dirty="0">
                <a:solidFill>
                  <a:srgbClr val="3333B2"/>
                </a:solidFill>
                <a:latin typeface="Arial Black"/>
                <a:cs typeface="Arial Black"/>
              </a:rPr>
              <a:t>e </a:t>
            </a:r>
            <a:r>
              <a:rPr sz="1100" spc="-5" dirty="0">
                <a:latin typeface="Arial"/>
                <a:cs typeface="Arial"/>
              </a:rPr>
              <a:t>In such </a:t>
            </a:r>
            <a:r>
              <a:rPr sz="1100" spc="-10" dirty="0">
                <a:latin typeface="Arial"/>
                <a:cs typeface="Arial"/>
              </a:rPr>
              <a:t>a case, </a:t>
            </a:r>
            <a:r>
              <a:rPr sz="1100" spc="-15" dirty="0">
                <a:latin typeface="Arial"/>
                <a:cs typeface="Arial"/>
              </a:rPr>
              <a:t>we </a:t>
            </a:r>
            <a:r>
              <a:rPr sz="1100" spc="-20" dirty="0">
                <a:latin typeface="Arial"/>
                <a:cs typeface="Arial"/>
              </a:rPr>
              <a:t>have </a:t>
            </a:r>
            <a:r>
              <a:rPr sz="1100" spc="-5" dirty="0">
                <a:latin typeface="Arial"/>
                <a:cs typeface="Arial"/>
              </a:rPr>
              <a:t>what is </a:t>
            </a:r>
            <a:r>
              <a:rPr sz="1100" spc="-10" dirty="0">
                <a:latin typeface="Arial"/>
                <a:cs typeface="Arial"/>
              </a:rPr>
              <a:t>known </a:t>
            </a:r>
            <a:r>
              <a:rPr sz="1100" spc="-5" dirty="0">
                <a:latin typeface="Arial"/>
                <a:cs typeface="Arial"/>
              </a:rPr>
              <a:t>as</a:t>
            </a:r>
            <a:r>
              <a:rPr sz="1100" spc="-155" dirty="0">
                <a:latin typeface="Arial"/>
                <a:cs typeface="Arial"/>
              </a:rPr>
              <a:t> </a:t>
            </a:r>
            <a:r>
              <a:rPr sz="1100" spc="-10" dirty="0">
                <a:latin typeface="Arial"/>
                <a:cs typeface="Arial"/>
              </a:rPr>
              <a:t>a</a:t>
            </a:r>
            <a:endParaRPr sz="1100" dirty="0">
              <a:latin typeface="Arial"/>
              <a:cs typeface="Arial"/>
            </a:endParaRPr>
          </a:p>
          <a:p>
            <a:pPr marL="186055">
              <a:lnSpc>
                <a:spcPct val="100000"/>
              </a:lnSpc>
              <a:spcBef>
                <a:spcPts val="35"/>
              </a:spcBef>
            </a:pPr>
            <a:r>
              <a:rPr sz="1100" i="1" spc="-5" dirty="0">
                <a:solidFill>
                  <a:srgbClr val="FF0000"/>
                </a:solidFill>
                <a:latin typeface="Arial"/>
                <a:cs typeface="Arial"/>
              </a:rPr>
              <a:t>correlated</a:t>
            </a:r>
            <a:r>
              <a:rPr sz="1100" i="1" spc="95" dirty="0">
                <a:solidFill>
                  <a:srgbClr val="FF0000"/>
                </a:solidFill>
                <a:latin typeface="Arial"/>
                <a:cs typeface="Arial"/>
              </a:rPr>
              <a:t> </a:t>
            </a:r>
            <a:r>
              <a:rPr sz="1100" spc="-15" dirty="0">
                <a:latin typeface="Arial"/>
                <a:cs typeface="Arial"/>
              </a:rPr>
              <a:t>subquery.</a:t>
            </a:r>
            <a:endParaRPr sz="1100" dirty="0">
              <a:latin typeface="Arial"/>
              <a:cs typeface="Arial"/>
            </a:endParaRPr>
          </a:p>
        </p:txBody>
      </p:sp>
    </p:spTree>
    <p:extLst>
      <p:ext uri="{BB962C8B-B14F-4D97-AF65-F5344CB8AC3E}">
        <p14:creationId xmlns:p14="http://schemas.microsoft.com/office/powerpoint/2010/main" val="138325804"/>
      </p:ext>
    </p:extLst>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latin typeface="Arial"/>
                <a:cs typeface="Arial"/>
                <a:hlinkClick r:id="rId2" action="ppaction://hlinksldjump"/>
              </a:rPr>
              <a:t>SQL Subqueries </a:t>
            </a:r>
            <a:r>
              <a:rPr sz="400" spc="-5" dirty="0">
                <a:latin typeface="Arial"/>
                <a:cs typeface="Arial"/>
              </a:rPr>
              <a:t> </a:t>
            </a:r>
            <a:r>
              <a:rPr sz="400" spc="-5" dirty="0">
                <a:solidFill>
                  <a:srgbClr val="999999"/>
                </a:solidFill>
                <a:latin typeface="Arial"/>
                <a:cs typeface="Arial"/>
                <a:hlinkClick r:id="rId3" action="ppaction://hlinksldjump"/>
              </a:rPr>
              <a:t>Aggregation</a:t>
            </a:r>
            <a:r>
              <a:rPr sz="400" spc="-25"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603500" cy="244475"/>
          </a:xfrm>
          <a:prstGeom prst="rect">
            <a:avLst/>
          </a:prstGeom>
        </p:spPr>
        <p:txBody>
          <a:bodyPr vert="horz" wrap="square" lIns="0" tIns="17145" rIns="0" bIns="0" rtlCol="0">
            <a:spAutoFit/>
          </a:bodyPr>
          <a:lstStyle/>
          <a:p>
            <a:pPr marL="12700">
              <a:lnSpc>
                <a:spcPct val="100000"/>
              </a:lnSpc>
              <a:spcBef>
                <a:spcPts val="135"/>
              </a:spcBef>
            </a:pPr>
            <a:r>
              <a:rPr spc="15" dirty="0"/>
              <a:t>Example </a:t>
            </a:r>
            <a:r>
              <a:rPr spc="10" dirty="0"/>
              <a:t>of </a:t>
            </a:r>
            <a:r>
              <a:rPr spc="15" dirty="0"/>
              <a:t>correlated</a:t>
            </a:r>
            <a:r>
              <a:rPr spc="-45" dirty="0"/>
              <a:t> </a:t>
            </a:r>
            <a:r>
              <a:rPr spc="20" dirty="0"/>
              <a:t>subquery</a:t>
            </a:r>
          </a:p>
        </p:txBody>
      </p:sp>
      <p:sp>
        <p:nvSpPr>
          <p:cNvPr id="35" name="object 35"/>
          <p:cNvSpPr txBox="1"/>
          <p:nvPr/>
        </p:nvSpPr>
        <p:spPr>
          <a:xfrm>
            <a:off x="167297" y="453782"/>
            <a:ext cx="3216910" cy="363855"/>
          </a:xfrm>
          <a:prstGeom prst="rect">
            <a:avLst/>
          </a:prstGeom>
        </p:spPr>
        <p:txBody>
          <a:bodyPr vert="horz" wrap="square" lIns="0" tIns="6985" rIns="0" bIns="0" rtlCol="0">
            <a:spAutoFit/>
          </a:bodyPr>
          <a:lstStyle/>
          <a:p>
            <a:pPr marL="12700" marR="5080">
              <a:lnSpc>
                <a:spcPct val="102699"/>
              </a:lnSpc>
              <a:spcBef>
                <a:spcPts val="55"/>
              </a:spcBef>
            </a:pPr>
            <a:r>
              <a:rPr sz="1100" spc="-5" dirty="0">
                <a:latin typeface="Arial"/>
                <a:cs typeface="Arial"/>
              </a:rPr>
              <a:t>Find the </a:t>
            </a:r>
            <a:r>
              <a:rPr sz="1100" spc="-10" dirty="0">
                <a:latin typeface="Arial"/>
                <a:cs typeface="Arial"/>
              </a:rPr>
              <a:t>names </a:t>
            </a:r>
            <a:r>
              <a:rPr sz="1100" spc="-5" dirty="0">
                <a:latin typeface="Arial"/>
                <a:cs typeface="Arial"/>
              </a:rPr>
              <a:t>of </a:t>
            </a:r>
            <a:r>
              <a:rPr sz="1100" spc="-10" dirty="0">
                <a:latin typeface="Arial"/>
                <a:cs typeface="Arial"/>
              </a:rPr>
              <a:t>drinkers who </a:t>
            </a:r>
            <a:r>
              <a:rPr sz="1100" spc="-15" dirty="0">
                <a:latin typeface="Arial"/>
                <a:cs typeface="Arial"/>
              </a:rPr>
              <a:t>live </a:t>
            </a:r>
            <a:r>
              <a:rPr sz="1100" spc="-10" dirty="0">
                <a:latin typeface="Arial"/>
                <a:cs typeface="Arial"/>
              </a:rPr>
              <a:t>where no pub </a:t>
            </a:r>
            <a:r>
              <a:rPr sz="1100" spc="-5" dirty="0">
                <a:latin typeface="Arial"/>
                <a:cs typeface="Arial"/>
              </a:rPr>
              <a:t>is  located:</a:t>
            </a:r>
            <a:endParaRPr sz="1100">
              <a:latin typeface="Arial"/>
              <a:cs typeface="Arial"/>
            </a:endParaRPr>
          </a:p>
        </p:txBody>
      </p:sp>
      <p:sp>
        <p:nvSpPr>
          <p:cNvPr id="36" name="object 36"/>
          <p:cNvSpPr/>
          <p:nvPr/>
        </p:nvSpPr>
        <p:spPr>
          <a:xfrm>
            <a:off x="1687144" y="2729458"/>
            <a:ext cx="513715" cy="0"/>
          </a:xfrm>
          <a:custGeom>
            <a:avLst/>
            <a:gdLst/>
            <a:ahLst/>
            <a:cxnLst/>
            <a:rect l="l" t="t" r="r" b="b"/>
            <a:pathLst>
              <a:path w="513714">
                <a:moveTo>
                  <a:pt x="0" y="0"/>
                </a:moveTo>
                <a:lnTo>
                  <a:pt x="513702" y="0"/>
                </a:lnTo>
              </a:path>
            </a:pathLst>
          </a:custGeom>
          <a:ln w="5054">
            <a:solidFill>
              <a:srgbClr val="000000"/>
            </a:solidFill>
          </a:ln>
        </p:spPr>
        <p:txBody>
          <a:bodyPr wrap="square" lIns="0" tIns="0" rIns="0" bIns="0" rtlCol="0"/>
          <a:lstStyle/>
          <a:p>
            <a:endParaRPr/>
          </a:p>
        </p:txBody>
      </p:sp>
      <p:sp>
        <p:nvSpPr>
          <p:cNvPr id="37" name="object 37"/>
          <p:cNvSpPr/>
          <p:nvPr/>
        </p:nvSpPr>
        <p:spPr>
          <a:xfrm>
            <a:off x="1687144" y="2906598"/>
            <a:ext cx="513715" cy="0"/>
          </a:xfrm>
          <a:custGeom>
            <a:avLst/>
            <a:gdLst/>
            <a:ahLst/>
            <a:cxnLst/>
            <a:rect l="l" t="t" r="r" b="b"/>
            <a:pathLst>
              <a:path w="513714">
                <a:moveTo>
                  <a:pt x="0" y="0"/>
                </a:moveTo>
                <a:lnTo>
                  <a:pt x="513702" y="0"/>
                </a:lnTo>
              </a:path>
            </a:pathLst>
          </a:custGeom>
          <a:ln w="5054">
            <a:solidFill>
              <a:srgbClr val="000000"/>
            </a:solidFill>
          </a:ln>
        </p:spPr>
        <p:txBody>
          <a:bodyPr wrap="square" lIns="0" tIns="0" rIns="0" bIns="0" rtlCol="0"/>
          <a:lstStyle/>
          <a:p>
            <a:endParaRPr/>
          </a:p>
        </p:txBody>
      </p:sp>
      <p:sp>
        <p:nvSpPr>
          <p:cNvPr id="38" name="object 38"/>
          <p:cNvSpPr/>
          <p:nvPr/>
        </p:nvSpPr>
        <p:spPr>
          <a:xfrm>
            <a:off x="1687144" y="2931896"/>
            <a:ext cx="513715" cy="0"/>
          </a:xfrm>
          <a:custGeom>
            <a:avLst/>
            <a:gdLst/>
            <a:ahLst/>
            <a:cxnLst/>
            <a:rect l="l" t="t" r="r" b="b"/>
            <a:pathLst>
              <a:path w="513714">
                <a:moveTo>
                  <a:pt x="0" y="0"/>
                </a:moveTo>
                <a:lnTo>
                  <a:pt x="513702" y="0"/>
                </a:lnTo>
              </a:path>
            </a:pathLst>
          </a:custGeom>
          <a:ln w="5054">
            <a:solidFill>
              <a:srgbClr val="000000"/>
            </a:solidFill>
          </a:ln>
        </p:spPr>
        <p:txBody>
          <a:bodyPr wrap="square" lIns="0" tIns="0" rIns="0" bIns="0" rtlCol="0"/>
          <a:lstStyle/>
          <a:p>
            <a:endParaRPr/>
          </a:p>
        </p:txBody>
      </p:sp>
      <p:sp>
        <p:nvSpPr>
          <p:cNvPr id="39" name="object 39"/>
          <p:cNvSpPr/>
          <p:nvPr/>
        </p:nvSpPr>
        <p:spPr>
          <a:xfrm>
            <a:off x="1687144" y="2934436"/>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0" name="object 40"/>
          <p:cNvSpPr txBox="1"/>
          <p:nvPr/>
        </p:nvSpPr>
        <p:spPr>
          <a:xfrm>
            <a:off x="167297" y="1025688"/>
            <a:ext cx="3553460" cy="2070100"/>
          </a:xfrm>
          <a:prstGeom prst="rect">
            <a:avLst/>
          </a:prstGeom>
        </p:spPr>
        <p:txBody>
          <a:bodyPr vert="horz" wrap="square" lIns="0" tIns="6985" rIns="0" bIns="0" rtlCol="0">
            <a:spAutoFit/>
          </a:bodyPr>
          <a:lstStyle/>
          <a:p>
            <a:pPr marL="12700" marR="2574290">
              <a:lnSpc>
                <a:spcPct val="102600"/>
              </a:lnSpc>
              <a:spcBef>
                <a:spcPts val="55"/>
              </a:spcBef>
            </a:pPr>
            <a:r>
              <a:rPr sz="1100" spc="-10" dirty="0">
                <a:solidFill>
                  <a:srgbClr val="0000FF"/>
                </a:solidFill>
                <a:latin typeface="Arial"/>
                <a:cs typeface="Arial"/>
              </a:rPr>
              <a:t>SELECT name  </a:t>
            </a:r>
            <a:r>
              <a:rPr sz="1100" spc="-15" dirty="0">
                <a:solidFill>
                  <a:srgbClr val="0000FF"/>
                </a:solidFill>
                <a:latin typeface="Arial"/>
                <a:cs typeface="Arial"/>
              </a:rPr>
              <a:t>FROM</a:t>
            </a:r>
            <a:r>
              <a:rPr sz="1100" spc="-60" dirty="0">
                <a:solidFill>
                  <a:srgbClr val="0000FF"/>
                </a:solidFill>
                <a:latin typeface="Arial"/>
                <a:cs typeface="Arial"/>
              </a:rPr>
              <a:t> </a:t>
            </a:r>
            <a:r>
              <a:rPr sz="1100" spc="-10" dirty="0">
                <a:solidFill>
                  <a:srgbClr val="0000FF"/>
                </a:solidFill>
                <a:latin typeface="Arial"/>
                <a:cs typeface="Arial"/>
              </a:rPr>
              <a:t>Drinkers</a:t>
            </a:r>
            <a:endParaRPr sz="1100" dirty="0">
              <a:latin typeface="Arial"/>
              <a:cs typeface="Arial"/>
            </a:endParaRPr>
          </a:p>
          <a:p>
            <a:pPr marL="12700">
              <a:lnSpc>
                <a:spcPct val="100000"/>
              </a:lnSpc>
              <a:spcBef>
                <a:spcPts val="35"/>
              </a:spcBef>
            </a:pPr>
            <a:r>
              <a:rPr sz="1100" spc="-10" dirty="0">
                <a:solidFill>
                  <a:srgbClr val="0000FF"/>
                </a:solidFill>
                <a:latin typeface="Arial"/>
                <a:cs typeface="Arial"/>
              </a:rPr>
              <a:t>WHERE </a:t>
            </a:r>
            <a:r>
              <a:rPr sz="1100" spc="-25" dirty="0">
                <a:solidFill>
                  <a:srgbClr val="0000FF"/>
                </a:solidFill>
                <a:latin typeface="Arial"/>
                <a:cs typeface="Arial"/>
              </a:rPr>
              <a:t>NOT</a:t>
            </a:r>
            <a:r>
              <a:rPr sz="1100" spc="-5" dirty="0">
                <a:solidFill>
                  <a:srgbClr val="0000FF"/>
                </a:solidFill>
                <a:latin typeface="Arial"/>
                <a:cs typeface="Arial"/>
              </a:rPr>
              <a:t> </a:t>
            </a:r>
            <a:r>
              <a:rPr sz="1100" spc="-10" dirty="0">
                <a:solidFill>
                  <a:srgbClr val="0000FF"/>
                </a:solidFill>
                <a:latin typeface="Arial"/>
                <a:cs typeface="Arial"/>
              </a:rPr>
              <a:t>EXISTS</a:t>
            </a:r>
            <a:endParaRPr sz="1100" dirty="0">
              <a:latin typeface="Arial"/>
              <a:cs typeface="Arial"/>
            </a:endParaRPr>
          </a:p>
          <a:p>
            <a:pPr marL="589280" marR="1985645">
              <a:lnSpc>
                <a:spcPct val="102600"/>
              </a:lnSpc>
            </a:pPr>
            <a:r>
              <a:rPr sz="1100" spc="-10" dirty="0">
                <a:solidFill>
                  <a:srgbClr val="0000FF"/>
                </a:solidFill>
                <a:latin typeface="Arial"/>
                <a:cs typeface="Arial"/>
              </a:rPr>
              <a:t>(SELECT</a:t>
            </a:r>
            <a:r>
              <a:rPr sz="1100" spc="-55" dirty="0">
                <a:solidFill>
                  <a:srgbClr val="0000FF"/>
                </a:solidFill>
                <a:latin typeface="Arial"/>
                <a:cs typeface="Arial"/>
              </a:rPr>
              <a:t> </a:t>
            </a:r>
            <a:r>
              <a:rPr sz="1100" spc="-10" dirty="0">
                <a:solidFill>
                  <a:srgbClr val="0000FF"/>
                </a:solidFill>
                <a:latin typeface="Arial"/>
                <a:cs typeface="Arial"/>
              </a:rPr>
              <a:t>name  </a:t>
            </a:r>
            <a:r>
              <a:rPr sz="1100" spc="-15" dirty="0">
                <a:solidFill>
                  <a:srgbClr val="0000FF"/>
                </a:solidFill>
                <a:latin typeface="Arial"/>
                <a:cs typeface="Arial"/>
              </a:rPr>
              <a:t>FROM</a:t>
            </a:r>
            <a:r>
              <a:rPr sz="1100" spc="-20" dirty="0">
                <a:solidFill>
                  <a:srgbClr val="0000FF"/>
                </a:solidFill>
                <a:latin typeface="Arial"/>
                <a:cs typeface="Arial"/>
              </a:rPr>
              <a:t> </a:t>
            </a:r>
            <a:r>
              <a:rPr sz="1100" spc="-10" dirty="0">
                <a:solidFill>
                  <a:srgbClr val="0000FF"/>
                </a:solidFill>
                <a:latin typeface="Arial"/>
                <a:cs typeface="Arial"/>
              </a:rPr>
              <a:t>Pubs</a:t>
            </a:r>
            <a:endParaRPr sz="1100" dirty="0">
              <a:latin typeface="Arial"/>
              <a:cs typeface="Arial"/>
            </a:endParaRPr>
          </a:p>
          <a:p>
            <a:pPr marL="589280">
              <a:lnSpc>
                <a:spcPct val="100000"/>
              </a:lnSpc>
              <a:spcBef>
                <a:spcPts val="35"/>
              </a:spcBef>
            </a:pPr>
            <a:r>
              <a:rPr sz="1100" spc="-10" dirty="0">
                <a:solidFill>
                  <a:srgbClr val="0000FF"/>
                </a:solidFill>
                <a:latin typeface="Arial"/>
                <a:cs typeface="Arial"/>
              </a:rPr>
              <a:t>WHERE</a:t>
            </a:r>
            <a:r>
              <a:rPr sz="1100" spc="-5" dirty="0">
                <a:solidFill>
                  <a:srgbClr val="0000FF"/>
                </a:solidFill>
                <a:latin typeface="Arial"/>
                <a:cs typeface="Arial"/>
              </a:rPr>
              <a:t> </a:t>
            </a:r>
            <a:r>
              <a:rPr sz="1100" spc="-10" dirty="0">
                <a:solidFill>
                  <a:srgbClr val="0000FF"/>
                </a:solidFill>
                <a:latin typeface="Arial"/>
                <a:cs typeface="Arial"/>
              </a:rPr>
              <a:t>location=Drinkers.location);</a:t>
            </a:r>
            <a:endParaRPr sz="1100" dirty="0">
              <a:latin typeface="Arial"/>
              <a:cs typeface="Arial"/>
            </a:endParaRPr>
          </a:p>
          <a:p>
            <a:pPr>
              <a:lnSpc>
                <a:spcPct val="100000"/>
              </a:lnSpc>
              <a:spcBef>
                <a:spcPts val="45"/>
              </a:spcBef>
            </a:pPr>
            <a:endParaRPr sz="1000" dirty="0">
              <a:latin typeface="Times New Roman"/>
              <a:cs typeface="Times New Roman"/>
            </a:endParaRPr>
          </a:p>
          <a:p>
            <a:pPr marL="12700" marR="5080">
              <a:lnSpc>
                <a:spcPct val="102600"/>
              </a:lnSpc>
            </a:pPr>
            <a:r>
              <a:rPr sz="1100" spc="-5" dirty="0">
                <a:latin typeface="Arial"/>
                <a:cs typeface="Arial"/>
              </a:rPr>
              <a:t>Subquery </a:t>
            </a:r>
            <a:r>
              <a:rPr sz="1100" spc="-10" dirty="0">
                <a:latin typeface="Arial"/>
                <a:cs typeface="Arial"/>
              </a:rPr>
              <a:t>refers </a:t>
            </a:r>
            <a:r>
              <a:rPr sz="1100" spc="-5" dirty="0">
                <a:latin typeface="Arial"/>
                <a:cs typeface="Arial"/>
              </a:rPr>
              <a:t>to </a:t>
            </a:r>
            <a:r>
              <a:rPr sz="1100" spc="-10" dirty="0">
                <a:latin typeface="Arial"/>
                <a:cs typeface="Arial"/>
              </a:rPr>
              <a:t>the </a:t>
            </a:r>
            <a:r>
              <a:rPr sz="1100" spc="-5" dirty="0">
                <a:latin typeface="Arial"/>
                <a:cs typeface="Arial"/>
              </a:rPr>
              <a:t>tuple </a:t>
            </a:r>
            <a:r>
              <a:rPr sz="1100" spc="-10" dirty="0">
                <a:latin typeface="Arial"/>
                <a:cs typeface="Arial"/>
              </a:rPr>
              <a:t>variable </a:t>
            </a:r>
            <a:r>
              <a:rPr sz="1100" spc="-5" dirty="0">
                <a:latin typeface="Arial"/>
                <a:cs typeface="Arial"/>
              </a:rPr>
              <a:t>(or relation) </a:t>
            </a:r>
            <a:r>
              <a:rPr sz="1100" spc="-10" dirty="0">
                <a:solidFill>
                  <a:srgbClr val="0000FF"/>
                </a:solidFill>
                <a:latin typeface="Arial"/>
                <a:cs typeface="Arial"/>
              </a:rPr>
              <a:t>Drinkers  </a:t>
            </a:r>
            <a:r>
              <a:rPr sz="1100" spc="-5" dirty="0">
                <a:latin typeface="Arial"/>
                <a:cs typeface="Arial"/>
              </a:rPr>
              <a:t>in the outer</a:t>
            </a:r>
            <a:r>
              <a:rPr sz="1100" spc="-10" dirty="0">
                <a:latin typeface="Arial"/>
                <a:cs typeface="Arial"/>
              </a:rPr>
              <a:t> </a:t>
            </a:r>
            <a:r>
              <a:rPr sz="1100" spc="-20" dirty="0">
                <a:latin typeface="Arial"/>
                <a:cs typeface="Arial"/>
              </a:rPr>
              <a:t>query.</a:t>
            </a:r>
            <a:endParaRPr sz="1100" dirty="0">
              <a:latin typeface="Arial"/>
              <a:cs typeface="Arial"/>
            </a:endParaRPr>
          </a:p>
          <a:p>
            <a:pPr>
              <a:lnSpc>
                <a:spcPct val="100000"/>
              </a:lnSpc>
              <a:spcBef>
                <a:spcPts val="45"/>
              </a:spcBef>
            </a:pPr>
            <a:endParaRPr sz="1000" dirty="0">
              <a:latin typeface="Times New Roman"/>
              <a:cs typeface="Times New Roman"/>
            </a:endParaRPr>
          </a:p>
          <a:p>
            <a:pPr marL="1595755">
              <a:lnSpc>
                <a:spcPct val="100000"/>
              </a:lnSpc>
            </a:pPr>
            <a:r>
              <a:rPr sz="1100" b="1" spc="-10" dirty="0">
                <a:latin typeface="Arial"/>
                <a:cs typeface="Arial"/>
              </a:rPr>
              <a:t>name</a:t>
            </a:r>
            <a:endParaRPr sz="1100" dirty="0">
              <a:latin typeface="Arial"/>
              <a:cs typeface="Arial"/>
            </a:endParaRPr>
          </a:p>
          <a:p>
            <a:pPr marL="1595755">
              <a:lnSpc>
                <a:spcPct val="100000"/>
              </a:lnSpc>
              <a:spcBef>
                <a:spcPts val="275"/>
              </a:spcBef>
            </a:pPr>
            <a:r>
              <a:rPr sz="1100" spc="-20" dirty="0">
                <a:latin typeface="Arial"/>
                <a:cs typeface="Arial"/>
              </a:rPr>
              <a:t>Eve</a:t>
            </a:r>
            <a:endParaRPr sz="1100" dirty="0">
              <a:latin typeface="Arial"/>
              <a:cs typeface="Arial"/>
            </a:endParaRPr>
          </a:p>
        </p:txBody>
      </p:sp>
      <p:sp>
        <p:nvSpPr>
          <p:cNvPr id="41" name="object 41"/>
          <p:cNvSpPr/>
          <p:nvPr/>
        </p:nvSpPr>
        <p:spPr>
          <a:xfrm>
            <a:off x="2200859" y="2934436"/>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2" name="object 42"/>
          <p:cNvSpPr/>
          <p:nvPr/>
        </p:nvSpPr>
        <p:spPr>
          <a:xfrm>
            <a:off x="1687144" y="3109036"/>
            <a:ext cx="513715" cy="0"/>
          </a:xfrm>
          <a:custGeom>
            <a:avLst/>
            <a:gdLst/>
            <a:ahLst/>
            <a:cxnLst/>
            <a:rect l="l" t="t" r="r" b="b"/>
            <a:pathLst>
              <a:path w="513714">
                <a:moveTo>
                  <a:pt x="0" y="0"/>
                </a:moveTo>
                <a:lnTo>
                  <a:pt x="513702" y="0"/>
                </a:lnTo>
              </a:path>
            </a:pathLst>
          </a:custGeom>
          <a:ln w="5054">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531799324"/>
      </p:ext>
    </p:extLst>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Subqueries </a:t>
            </a:r>
            <a:r>
              <a:rPr sz="400" spc="-5" dirty="0">
                <a:solidFill>
                  <a:srgbClr val="999999"/>
                </a:solidFill>
                <a:latin typeface="Arial"/>
                <a:cs typeface="Arial"/>
              </a:rPr>
              <a:t> </a:t>
            </a:r>
            <a:r>
              <a:rPr sz="400" spc="-5" dirty="0">
                <a:latin typeface="Arial"/>
                <a:cs typeface="Arial"/>
                <a:hlinkClick r:id="rId3" action="ppaction://hlinksldjump"/>
              </a:rPr>
              <a:t>Aggregation</a:t>
            </a:r>
            <a:r>
              <a:rPr sz="400" spc="-25" dirty="0">
                <a:latin typeface="Arial"/>
                <a:cs typeface="Arial"/>
                <a:hlinkClick r:id="rId3" action="ppaction://hlinksldjump"/>
              </a:rPr>
              <a:t> </a:t>
            </a:r>
            <a:r>
              <a:rPr sz="400" spc="-5" dirty="0">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1864995" cy="244475"/>
          </a:xfrm>
          <a:prstGeom prst="rect">
            <a:avLst/>
          </a:prstGeom>
        </p:spPr>
        <p:txBody>
          <a:bodyPr vert="horz" wrap="square" lIns="0" tIns="17145" rIns="0" bIns="0" rtlCol="0">
            <a:spAutoFit/>
          </a:bodyPr>
          <a:lstStyle/>
          <a:p>
            <a:pPr marL="12700">
              <a:lnSpc>
                <a:spcPct val="100000"/>
              </a:lnSpc>
              <a:spcBef>
                <a:spcPts val="135"/>
              </a:spcBef>
            </a:pPr>
            <a:r>
              <a:rPr spc="15" dirty="0"/>
              <a:t>Aggregation</a:t>
            </a:r>
            <a:r>
              <a:rPr spc="-70" dirty="0"/>
              <a:t> </a:t>
            </a:r>
            <a:r>
              <a:rPr spc="15" dirty="0"/>
              <a:t>Operators</a:t>
            </a:r>
          </a:p>
        </p:txBody>
      </p:sp>
      <p:sp>
        <p:nvSpPr>
          <p:cNvPr id="35" name="object 35"/>
          <p:cNvSpPr txBox="1"/>
          <p:nvPr/>
        </p:nvSpPr>
        <p:spPr>
          <a:xfrm>
            <a:off x="270992" y="918386"/>
            <a:ext cx="3474085" cy="1697989"/>
          </a:xfrm>
          <a:prstGeom prst="rect">
            <a:avLst/>
          </a:prstGeom>
        </p:spPr>
        <p:txBody>
          <a:bodyPr vert="horz" wrap="square" lIns="0" tIns="6985" rIns="0" bIns="0" rtlCol="0">
            <a:spAutoFit/>
          </a:bodyPr>
          <a:lstStyle/>
          <a:p>
            <a:pPr marL="186055" marR="30480" indent="-148590">
              <a:lnSpc>
                <a:spcPct val="102600"/>
              </a:lnSpc>
              <a:spcBef>
                <a:spcPts val="55"/>
              </a:spcBef>
            </a:pPr>
            <a:r>
              <a:rPr sz="1200" spc="127" baseline="6944" dirty="0">
                <a:solidFill>
                  <a:srgbClr val="3333B2"/>
                </a:solidFill>
                <a:latin typeface="Arial Black"/>
                <a:cs typeface="Arial Black"/>
              </a:rPr>
              <a:t>e </a:t>
            </a:r>
            <a:r>
              <a:rPr lang="en-US" sz="1100" spc="-5" dirty="0">
                <a:latin typeface="Arial"/>
                <a:cs typeface="Arial"/>
              </a:rPr>
              <a:t>S</a:t>
            </a:r>
            <a:r>
              <a:rPr sz="1100" spc="-5" dirty="0">
                <a:latin typeface="Arial"/>
                <a:cs typeface="Arial"/>
              </a:rPr>
              <a:t>ometimes </a:t>
            </a:r>
            <a:r>
              <a:rPr sz="1100" spc="-15" dirty="0">
                <a:latin typeface="Arial"/>
                <a:cs typeface="Arial"/>
              </a:rPr>
              <a:t>we </a:t>
            </a:r>
            <a:r>
              <a:rPr sz="1100" spc="-20" dirty="0">
                <a:latin typeface="Arial"/>
                <a:cs typeface="Arial"/>
              </a:rPr>
              <a:t>may </a:t>
            </a:r>
            <a:r>
              <a:rPr sz="1100" spc="-10" dirty="0">
                <a:latin typeface="Arial"/>
                <a:cs typeface="Arial"/>
              </a:rPr>
              <a:t>want </a:t>
            </a:r>
            <a:r>
              <a:rPr sz="1100" spc="-5" dirty="0">
                <a:latin typeface="Arial"/>
                <a:cs typeface="Arial"/>
              </a:rPr>
              <a:t>to “summarise” </a:t>
            </a:r>
            <a:r>
              <a:rPr sz="1100" spc="-10" dirty="0">
                <a:latin typeface="Arial"/>
                <a:cs typeface="Arial"/>
              </a:rPr>
              <a:t>a number </a:t>
            </a:r>
            <a:r>
              <a:rPr sz="1100" spc="-5" dirty="0">
                <a:latin typeface="Arial"/>
                <a:cs typeface="Arial"/>
              </a:rPr>
              <a:t>of  </a:t>
            </a:r>
            <a:r>
              <a:rPr sz="1100" spc="-10" dirty="0">
                <a:latin typeface="Arial"/>
                <a:cs typeface="Arial"/>
              </a:rPr>
              <a:t>values </a:t>
            </a:r>
            <a:r>
              <a:rPr sz="1100" spc="-5" dirty="0">
                <a:latin typeface="Arial"/>
                <a:cs typeface="Arial"/>
              </a:rPr>
              <a:t>in </a:t>
            </a:r>
            <a:r>
              <a:rPr sz="1100" spc="-10" dirty="0">
                <a:latin typeface="Arial"/>
                <a:cs typeface="Arial"/>
              </a:rPr>
              <a:t>a</a:t>
            </a:r>
            <a:r>
              <a:rPr sz="1100" spc="-5" dirty="0">
                <a:latin typeface="Arial"/>
                <a:cs typeface="Arial"/>
              </a:rPr>
              <a:t> column</a:t>
            </a:r>
            <a:endParaRPr sz="1100" dirty="0">
              <a:latin typeface="Arial"/>
              <a:cs typeface="Arial"/>
            </a:endParaRPr>
          </a:p>
          <a:p>
            <a:pPr marL="38100">
              <a:lnSpc>
                <a:spcPct val="100000"/>
              </a:lnSpc>
              <a:spcBef>
                <a:spcPts val="335"/>
              </a:spcBef>
            </a:pPr>
            <a:r>
              <a:rPr sz="1200" spc="127" baseline="6944" dirty="0">
                <a:solidFill>
                  <a:srgbClr val="3333B2"/>
                </a:solidFill>
                <a:latin typeface="Arial Black"/>
                <a:cs typeface="Arial Black"/>
              </a:rPr>
              <a:t>e </a:t>
            </a:r>
            <a:r>
              <a:rPr lang="en-US" sz="1100" spc="-5" dirty="0">
                <a:latin typeface="Arial"/>
                <a:cs typeface="Arial"/>
              </a:rPr>
              <a:t>T</a:t>
            </a:r>
            <a:r>
              <a:rPr sz="1100" spc="-5" dirty="0">
                <a:latin typeface="Arial"/>
                <a:cs typeface="Arial"/>
              </a:rPr>
              <a:t>his can </a:t>
            </a:r>
            <a:r>
              <a:rPr sz="1100" spc="-10" dirty="0">
                <a:latin typeface="Arial"/>
                <a:cs typeface="Arial"/>
              </a:rPr>
              <a:t>be done </a:t>
            </a:r>
            <a:r>
              <a:rPr sz="1100" spc="-5" dirty="0">
                <a:latin typeface="Arial"/>
                <a:cs typeface="Arial"/>
              </a:rPr>
              <a:t>using </a:t>
            </a:r>
            <a:r>
              <a:rPr sz="1100" i="1" spc="-10" dirty="0">
                <a:latin typeface="Arial"/>
                <a:cs typeface="Arial"/>
              </a:rPr>
              <a:t>aggregation</a:t>
            </a:r>
            <a:r>
              <a:rPr sz="1100" i="1" spc="-130" dirty="0">
                <a:latin typeface="Arial"/>
                <a:cs typeface="Arial"/>
              </a:rPr>
              <a:t> </a:t>
            </a:r>
            <a:r>
              <a:rPr sz="1100" spc="-10" dirty="0">
                <a:latin typeface="Arial"/>
                <a:cs typeface="Arial"/>
              </a:rPr>
              <a:t>operators</a:t>
            </a:r>
            <a:endParaRPr sz="1100" dirty="0">
              <a:latin typeface="Arial"/>
              <a:cs typeface="Arial"/>
            </a:endParaRPr>
          </a:p>
          <a:p>
            <a:pPr marL="38100">
              <a:lnSpc>
                <a:spcPct val="100000"/>
              </a:lnSpc>
              <a:spcBef>
                <a:spcPts val="175"/>
              </a:spcBef>
            </a:pPr>
            <a:r>
              <a:rPr sz="1200" spc="127" baseline="6944" dirty="0">
                <a:solidFill>
                  <a:srgbClr val="3333B2"/>
                </a:solidFill>
                <a:latin typeface="Arial Black"/>
                <a:cs typeface="Arial Black"/>
              </a:rPr>
              <a:t>e </a:t>
            </a:r>
            <a:r>
              <a:rPr sz="1100" spc="-10" dirty="0">
                <a:latin typeface="Arial"/>
                <a:cs typeface="Arial"/>
              </a:rPr>
              <a:t>SQL aggregation operators</a:t>
            </a:r>
            <a:r>
              <a:rPr sz="1100" spc="-160" dirty="0">
                <a:latin typeface="Arial"/>
                <a:cs typeface="Arial"/>
              </a:rPr>
              <a:t> </a:t>
            </a:r>
            <a:r>
              <a:rPr sz="1100" spc="-5" dirty="0">
                <a:latin typeface="Arial"/>
                <a:cs typeface="Arial"/>
              </a:rPr>
              <a:t>include</a:t>
            </a:r>
            <a:endParaRPr sz="1100" dirty="0">
              <a:latin typeface="Arial"/>
              <a:cs typeface="Arial"/>
            </a:endParaRPr>
          </a:p>
          <a:p>
            <a:pPr marL="325755">
              <a:lnSpc>
                <a:spcPts val="1200"/>
              </a:lnSpc>
              <a:spcBef>
                <a:spcPts val="175"/>
              </a:spcBef>
            </a:pPr>
            <a:r>
              <a:rPr sz="900" spc="494" baseline="13888" dirty="0">
                <a:solidFill>
                  <a:srgbClr val="3333B2"/>
                </a:solidFill>
                <a:latin typeface="Arial"/>
                <a:cs typeface="Arial"/>
              </a:rPr>
              <a:t>) </a:t>
            </a:r>
            <a:r>
              <a:rPr sz="1000" spc="-5" dirty="0">
                <a:solidFill>
                  <a:srgbClr val="0000FF"/>
                </a:solidFill>
                <a:latin typeface="Arial"/>
                <a:cs typeface="Arial"/>
              </a:rPr>
              <a:t>SUM</a:t>
            </a:r>
            <a:r>
              <a:rPr sz="1000" spc="-5" dirty="0">
                <a:latin typeface="Arial"/>
                <a:cs typeface="Arial"/>
              </a:rPr>
              <a:t>: produces the sum of </a:t>
            </a:r>
            <a:r>
              <a:rPr sz="1000" spc="-10" dirty="0">
                <a:latin typeface="Arial"/>
                <a:cs typeface="Arial"/>
              </a:rPr>
              <a:t>values </a:t>
            </a:r>
            <a:r>
              <a:rPr sz="1000" spc="-5" dirty="0">
                <a:latin typeface="Arial"/>
                <a:cs typeface="Arial"/>
              </a:rPr>
              <a:t>in a</a:t>
            </a:r>
            <a:r>
              <a:rPr sz="1000" spc="50" dirty="0">
                <a:latin typeface="Arial"/>
                <a:cs typeface="Arial"/>
              </a:rPr>
              <a:t> </a:t>
            </a:r>
            <a:r>
              <a:rPr sz="1000" spc="-5" dirty="0">
                <a:latin typeface="Arial"/>
                <a:cs typeface="Arial"/>
              </a:rPr>
              <a:t>column</a:t>
            </a:r>
            <a:endParaRPr sz="1000" dirty="0">
              <a:latin typeface="Arial"/>
              <a:cs typeface="Arial"/>
            </a:endParaRPr>
          </a:p>
          <a:p>
            <a:pPr marL="325755">
              <a:lnSpc>
                <a:spcPts val="1195"/>
              </a:lnSpc>
            </a:pPr>
            <a:r>
              <a:rPr sz="900" spc="494" baseline="13888" dirty="0">
                <a:solidFill>
                  <a:srgbClr val="3333B2"/>
                </a:solidFill>
                <a:latin typeface="Arial"/>
                <a:cs typeface="Arial"/>
              </a:rPr>
              <a:t>) </a:t>
            </a:r>
            <a:r>
              <a:rPr sz="1000" spc="-30" dirty="0">
                <a:solidFill>
                  <a:srgbClr val="0000FF"/>
                </a:solidFill>
                <a:latin typeface="Arial"/>
                <a:cs typeface="Arial"/>
              </a:rPr>
              <a:t>AVG</a:t>
            </a:r>
            <a:r>
              <a:rPr sz="1000" spc="-30" dirty="0">
                <a:latin typeface="Arial"/>
                <a:cs typeface="Arial"/>
              </a:rPr>
              <a:t>: </a:t>
            </a:r>
            <a:r>
              <a:rPr sz="1000" spc="-5" dirty="0">
                <a:latin typeface="Arial"/>
                <a:cs typeface="Arial"/>
              </a:rPr>
              <a:t>produces the </a:t>
            </a:r>
            <a:r>
              <a:rPr sz="1000" spc="-10" dirty="0">
                <a:latin typeface="Arial"/>
                <a:cs typeface="Arial"/>
              </a:rPr>
              <a:t>average </a:t>
            </a:r>
            <a:r>
              <a:rPr sz="1000" spc="-5" dirty="0">
                <a:latin typeface="Arial"/>
                <a:cs typeface="Arial"/>
              </a:rPr>
              <a:t>of </a:t>
            </a:r>
            <a:r>
              <a:rPr sz="1000" spc="-10" dirty="0">
                <a:latin typeface="Arial"/>
                <a:cs typeface="Arial"/>
              </a:rPr>
              <a:t>values </a:t>
            </a:r>
            <a:r>
              <a:rPr sz="1000" spc="-5" dirty="0">
                <a:latin typeface="Arial"/>
                <a:cs typeface="Arial"/>
              </a:rPr>
              <a:t>in a</a:t>
            </a:r>
            <a:r>
              <a:rPr sz="1000" spc="75" dirty="0">
                <a:latin typeface="Arial"/>
                <a:cs typeface="Arial"/>
              </a:rPr>
              <a:t> </a:t>
            </a:r>
            <a:r>
              <a:rPr sz="1000" spc="-5" dirty="0">
                <a:latin typeface="Arial"/>
                <a:cs typeface="Arial"/>
              </a:rPr>
              <a:t>column</a:t>
            </a:r>
            <a:endParaRPr sz="1000" dirty="0">
              <a:latin typeface="Arial"/>
              <a:cs typeface="Arial"/>
            </a:endParaRPr>
          </a:p>
          <a:p>
            <a:pPr marL="462915" marR="316230" indent="-137160">
              <a:lnSpc>
                <a:spcPts val="1200"/>
              </a:lnSpc>
              <a:spcBef>
                <a:spcPts val="35"/>
              </a:spcBef>
            </a:pPr>
            <a:r>
              <a:rPr sz="900" spc="494" baseline="13888" dirty="0">
                <a:solidFill>
                  <a:srgbClr val="3333B2"/>
                </a:solidFill>
                <a:latin typeface="Arial"/>
                <a:cs typeface="Arial"/>
              </a:rPr>
              <a:t>) </a:t>
            </a:r>
            <a:r>
              <a:rPr sz="1000" spc="-5" dirty="0">
                <a:solidFill>
                  <a:srgbClr val="0000FF"/>
                </a:solidFill>
                <a:latin typeface="Arial"/>
                <a:cs typeface="Arial"/>
              </a:rPr>
              <a:t>MIN </a:t>
            </a:r>
            <a:r>
              <a:rPr sz="1000" spc="-5" dirty="0">
                <a:latin typeface="Arial"/>
                <a:cs typeface="Arial"/>
              </a:rPr>
              <a:t>and </a:t>
            </a:r>
            <a:r>
              <a:rPr sz="1000" spc="-5" dirty="0">
                <a:solidFill>
                  <a:srgbClr val="0000FF"/>
                </a:solidFill>
                <a:latin typeface="Arial"/>
                <a:cs typeface="Arial"/>
              </a:rPr>
              <a:t>MAX</a:t>
            </a:r>
            <a:r>
              <a:rPr sz="1000" spc="-5" dirty="0">
                <a:latin typeface="Arial"/>
                <a:cs typeface="Arial"/>
              </a:rPr>
              <a:t>: produce the smallest and largest  </a:t>
            </a:r>
            <a:r>
              <a:rPr sz="1000" spc="-10" dirty="0">
                <a:latin typeface="Arial"/>
                <a:cs typeface="Arial"/>
              </a:rPr>
              <a:t>values, </a:t>
            </a:r>
            <a:r>
              <a:rPr sz="1000" spc="-15" dirty="0">
                <a:latin typeface="Arial"/>
                <a:cs typeface="Arial"/>
              </a:rPr>
              <a:t>respectively, </a:t>
            </a:r>
            <a:r>
              <a:rPr sz="1000" spc="-5" dirty="0">
                <a:latin typeface="Arial"/>
                <a:cs typeface="Arial"/>
              </a:rPr>
              <a:t>in a</a:t>
            </a:r>
            <a:r>
              <a:rPr sz="1000" spc="5" dirty="0">
                <a:latin typeface="Arial"/>
                <a:cs typeface="Arial"/>
              </a:rPr>
              <a:t> </a:t>
            </a:r>
            <a:r>
              <a:rPr sz="1000" spc="-5" dirty="0">
                <a:latin typeface="Arial"/>
                <a:cs typeface="Arial"/>
              </a:rPr>
              <a:t>column</a:t>
            </a:r>
            <a:endParaRPr sz="1000" dirty="0">
              <a:latin typeface="Arial"/>
              <a:cs typeface="Arial"/>
            </a:endParaRPr>
          </a:p>
          <a:p>
            <a:pPr marL="325755">
              <a:lnSpc>
                <a:spcPts val="1150"/>
              </a:lnSpc>
            </a:pPr>
            <a:r>
              <a:rPr sz="900" spc="494" baseline="13888" dirty="0">
                <a:solidFill>
                  <a:srgbClr val="3333B2"/>
                </a:solidFill>
                <a:latin typeface="Arial"/>
                <a:cs typeface="Arial"/>
              </a:rPr>
              <a:t>) </a:t>
            </a:r>
            <a:r>
              <a:rPr sz="1000" spc="-5" dirty="0">
                <a:solidFill>
                  <a:srgbClr val="0000FF"/>
                </a:solidFill>
                <a:latin typeface="Arial"/>
                <a:cs typeface="Arial"/>
              </a:rPr>
              <a:t>COUNT</a:t>
            </a:r>
            <a:r>
              <a:rPr sz="1000" spc="-5" dirty="0">
                <a:latin typeface="Arial"/>
                <a:cs typeface="Arial"/>
              </a:rPr>
              <a:t>: produces the number of (not</a:t>
            </a:r>
            <a:r>
              <a:rPr sz="1000" spc="55" dirty="0">
                <a:latin typeface="Arial"/>
                <a:cs typeface="Arial"/>
              </a:rPr>
              <a:t> </a:t>
            </a:r>
            <a:r>
              <a:rPr sz="1000" spc="-5" dirty="0">
                <a:latin typeface="Arial"/>
                <a:cs typeface="Arial"/>
              </a:rPr>
              <a:t>necessarily</a:t>
            </a:r>
            <a:endParaRPr sz="1000" dirty="0">
              <a:latin typeface="Arial"/>
              <a:cs typeface="Arial"/>
            </a:endParaRPr>
          </a:p>
          <a:p>
            <a:pPr marL="462915">
              <a:lnSpc>
                <a:spcPts val="1200"/>
              </a:lnSpc>
            </a:pPr>
            <a:r>
              <a:rPr sz="1000" spc="-5" dirty="0">
                <a:latin typeface="Arial"/>
                <a:cs typeface="Arial"/>
              </a:rPr>
              <a:t>distinct) </a:t>
            </a:r>
            <a:r>
              <a:rPr sz="1000" spc="-10" dirty="0">
                <a:latin typeface="Arial"/>
                <a:cs typeface="Arial"/>
              </a:rPr>
              <a:t>values </a:t>
            </a:r>
            <a:r>
              <a:rPr sz="1000" spc="-5" dirty="0">
                <a:latin typeface="Arial"/>
                <a:cs typeface="Arial"/>
              </a:rPr>
              <a:t>in a column</a:t>
            </a:r>
            <a:endParaRPr sz="1000" dirty="0">
              <a:latin typeface="Arial"/>
              <a:cs typeface="Arial"/>
            </a:endParaRPr>
          </a:p>
        </p:txBody>
      </p:sp>
    </p:spTree>
    <p:extLst>
      <p:ext uri="{BB962C8B-B14F-4D97-AF65-F5344CB8AC3E}">
        <p14:creationId xmlns:p14="http://schemas.microsoft.com/office/powerpoint/2010/main" val="764218284"/>
      </p:ext>
    </p:extLst>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Subqueries </a:t>
            </a:r>
            <a:r>
              <a:rPr sz="400" spc="-5" dirty="0">
                <a:solidFill>
                  <a:srgbClr val="999999"/>
                </a:solidFill>
                <a:latin typeface="Arial"/>
                <a:cs typeface="Arial"/>
              </a:rPr>
              <a:t> </a:t>
            </a:r>
            <a:r>
              <a:rPr sz="400" spc="-5" dirty="0">
                <a:latin typeface="Arial"/>
                <a:cs typeface="Arial"/>
                <a:hlinkClick r:id="rId3" action="ppaction://hlinksldjump"/>
              </a:rPr>
              <a:t>Aggregation</a:t>
            </a:r>
            <a:r>
              <a:rPr sz="400" spc="-25" dirty="0">
                <a:latin typeface="Arial"/>
                <a:cs typeface="Arial"/>
                <a:hlinkClick r:id="rId3" action="ppaction://hlinksldjump"/>
              </a:rPr>
              <a:t> </a:t>
            </a:r>
            <a:r>
              <a:rPr sz="400" spc="-5" dirty="0">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196465" cy="244475"/>
          </a:xfrm>
          <a:prstGeom prst="rect">
            <a:avLst/>
          </a:prstGeom>
        </p:spPr>
        <p:txBody>
          <a:bodyPr vert="horz" wrap="square" lIns="0" tIns="17145" rIns="0" bIns="0" rtlCol="0">
            <a:spAutoFit/>
          </a:bodyPr>
          <a:lstStyle/>
          <a:p>
            <a:pPr marL="12700">
              <a:lnSpc>
                <a:spcPct val="100000"/>
              </a:lnSpc>
              <a:spcBef>
                <a:spcPts val="135"/>
              </a:spcBef>
            </a:pPr>
            <a:r>
              <a:rPr spc="15" dirty="0"/>
              <a:t>Finding the minimum</a:t>
            </a:r>
            <a:r>
              <a:rPr spc="-65" dirty="0"/>
              <a:t> </a:t>
            </a:r>
            <a:r>
              <a:rPr spc="5" dirty="0"/>
              <a:t>value</a:t>
            </a:r>
          </a:p>
        </p:txBody>
      </p:sp>
      <p:sp>
        <p:nvSpPr>
          <p:cNvPr id="35" name="object 35"/>
          <p:cNvSpPr txBox="1"/>
          <p:nvPr/>
        </p:nvSpPr>
        <p:spPr>
          <a:xfrm>
            <a:off x="167297" y="712024"/>
            <a:ext cx="341757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Find the price of the cheapest beer sold in</a:t>
            </a:r>
            <a:r>
              <a:rPr sz="1100" spc="-60" dirty="0">
                <a:latin typeface="Arial"/>
                <a:cs typeface="Arial"/>
              </a:rPr>
              <a:t> </a:t>
            </a:r>
            <a:r>
              <a:rPr sz="1100" spc="-5" dirty="0">
                <a:latin typeface="Arial"/>
                <a:cs typeface="Arial"/>
              </a:rPr>
              <a:t>Bloomsbury:</a:t>
            </a:r>
            <a:endParaRPr sz="1100">
              <a:latin typeface="Arial"/>
              <a:cs typeface="Arial"/>
            </a:endParaRPr>
          </a:p>
        </p:txBody>
      </p:sp>
      <p:sp>
        <p:nvSpPr>
          <p:cNvPr id="36" name="object 36"/>
          <p:cNvSpPr/>
          <p:nvPr/>
        </p:nvSpPr>
        <p:spPr>
          <a:xfrm>
            <a:off x="1575485" y="2342095"/>
            <a:ext cx="737235" cy="0"/>
          </a:xfrm>
          <a:custGeom>
            <a:avLst/>
            <a:gdLst/>
            <a:ahLst/>
            <a:cxnLst/>
            <a:rect l="l" t="t" r="r" b="b"/>
            <a:pathLst>
              <a:path w="737235">
                <a:moveTo>
                  <a:pt x="0" y="0"/>
                </a:moveTo>
                <a:lnTo>
                  <a:pt x="737031" y="0"/>
                </a:lnTo>
              </a:path>
            </a:pathLst>
          </a:custGeom>
          <a:ln w="5054">
            <a:solidFill>
              <a:srgbClr val="000000"/>
            </a:solidFill>
          </a:ln>
        </p:spPr>
        <p:txBody>
          <a:bodyPr wrap="square" lIns="0" tIns="0" rIns="0" bIns="0" rtlCol="0"/>
          <a:lstStyle/>
          <a:p>
            <a:endParaRPr/>
          </a:p>
        </p:txBody>
      </p:sp>
      <p:sp>
        <p:nvSpPr>
          <p:cNvPr id="37" name="object 37"/>
          <p:cNvSpPr/>
          <p:nvPr/>
        </p:nvSpPr>
        <p:spPr>
          <a:xfrm>
            <a:off x="1575485" y="2519235"/>
            <a:ext cx="737235" cy="0"/>
          </a:xfrm>
          <a:custGeom>
            <a:avLst/>
            <a:gdLst/>
            <a:ahLst/>
            <a:cxnLst/>
            <a:rect l="l" t="t" r="r" b="b"/>
            <a:pathLst>
              <a:path w="737235">
                <a:moveTo>
                  <a:pt x="0" y="0"/>
                </a:moveTo>
                <a:lnTo>
                  <a:pt x="737031" y="0"/>
                </a:lnTo>
              </a:path>
            </a:pathLst>
          </a:custGeom>
          <a:ln w="5054">
            <a:solidFill>
              <a:srgbClr val="000000"/>
            </a:solidFill>
          </a:ln>
        </p:spPr>
        <p:txBody>
          <a:bodyPr wrap="square" lIns="0" tIns="0" rIns="0" bIns="0" rtlCol="0"/>
          <a:lstStyle/>
          <a:p>
            <a:endParaRPr/>
          </a:p>
        </p:txBody>
      </p:sp>
      <p:sp>
        <p:nvSpPr>
          <p:cNvPr id="38" name="object 38"/>
          <p:cNvSpPr/>
          <p:nvPr/>
        </p:nvSpPr>
        <p:spPr>
          <a:xfrm>
            <a:off x="1575485" y="2544546"/>
            <a:ext cx="737235" cy="0"/>
          </a:xfrm>
          <a:custGeom>
            <a:avLst/>
            <a:gdLst/>
            <a:ahLst/>
            <a:cxnLst/>
            <a:rect l="l" t="t" r="r" b="b"/>
            <a:pathLst>
              <a:path w="737235">
                <a:moveTo>
                  <a:pt x="0" y="0"/>
                </a:moveTo>
                <a:lnTo>
                  <a:pt x="737031" y="0"/>
                </a:lnTo>
              </a:path>
            </a:pathLst>
          </a:custGeom>
          <a:ln w="5054">
            <a:solidFill>
              <a:srgbClr val="000000"/>
            </a:solidFill>
          </a:ln>
        </p:spPr>
        <p:txBody>
          <a:bodyPr wrap="square" lIns="0" tIns="0" rIns="0" bIns="0" rtlCol="0"/>
          <a:lstStyle/>
          <a:p>
            <a:endParaRPr/>
          </a:p>
        </p:txBody>
      </p:sp>
      <p:sp>
        <p:nvSpPr>
          <p:cNvPr id="39" name="object 39"/>
          <p:cNvSpPr/>
          <p:nvPr/>
        </p:nvSpPr>
        <p:spPr>
          <a:xfrm>
            <a:off x="1575485" y="2547073"/>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0" name="object 40"/>
          <p:cNvSpPr txBox="1"/>
          <p:nvPr/>
        </p:nvSpPr>
        <p:spPr>
          <a:xfrm>
            <a:off x="167297" y="1111845"/>
            <a:ext cx="2593975" cy="1596390"/>
          </a:xfrm>
          <a:prstGeom prst="rect">
            <a:avLst/>
          </a:prstGeom>
        </p:spPr>
        <p:txBody>
          <a:bodyPr vert="horz" wrap="square" lIns="0" tIns="6985" rIns="0" bIns="0" rtlCol="0">
            <a:spAutoFit/>
          </a:bodyPr>
          <a:lstStyle/>
          <a:p>
            <a:pPr marL="12700" marR="544195">
              <a:lnSpc>
                <a:spcPct val="102600"/>
              </a:lnSpc>
              <a:spcBef>
                <a:spcPts val="55"/>
              </a:spcBef>
            </a:pPr>
            <a:r>
              <a:rPr sz="1100" spc="-10" dirty="0">
                <a:solidFill>
                  <a:srgbClr val="0000FF"/>
                </a:solidFill>
                <a:latin typeface="Arial"/>
                <a:cs typeface="Arial"/>
              </a:rPr>
              <a:t>SELECT </a:t>
            </a:r>
            <a:r>
              <a:rPr sz="1100" spc="-5" dirty="0">
                <a:solidFill>
                  <a:srgbClr val="0000FF"/>
                </a:solidFill>
                <a:latin typeface="Arial"/>
                <a:cs typeface="Arial"/>
              </a:rPr>
              <a:t>MIN(price) </a:t>
            </a:r>
            <a:r>
              <a:rPr sz="1100" spc="-10" dirty="0">
                <a:solidFill>
                  <a:srgbClr val="0000FF"/>
                </a:solidFill>
                <a:latin typeface="Arial"/>
                <a:cs typeface="Arial"/>
              </a:rPr>
              <a:t>AS</a:t>
            </a:r>
            <a:r>
              <a:rPr sz="1100" spc="-30" dirty="0">
                <a:solidFill>
                  <a:srgbClr val="0000FF"/>
                </a:solidFill>
                <a:latin typeface="Arial"/>
                <a:cs typeface="Arial"/>
              </a:rPr>
              <a:t> </a:t>
            </a:r>
            <a:r>
              <a:rPr sz="1100" spc="-5" dirty="0">
                <a:solidFill>
                  <a:srgbClr val="0000FF"/>
                </a:solidFill>
                <a:latin typeface="Arial"/>
                <a:cs typeface="Arial"/>
              </a:rPr>
              <a:t>minPrice  </a:t>
            </a:r>
            <a:r>
              <a:rPr sz="1100" spc="-15" dirty="0">
                <a:solidFill>
                  <a:srgbClr val="0000FF"/>
                </a:solidFill>
                <a:latin typeface="Arial"/>
                <a:cs typeface="Arial"/>
              </a:rPr>
              <a:t>FROM</a:t>
            </a:r>
            <a:r>
              <a:rPr sz="1100" spc="-10" dirty="0">
                <a:solidFill>
                  <a:srgbClr val="0000FF"/>
                </a:solidFill>
                <a:latin typeface="Arial"/>
                <a:cs typeface="Arial"/>
              </a:rPr>
              <a:t> </a:t>
            </a:r>
            <a:r>
              <a:rPr sz="1100" spc="-5" dirty="0">
                <a:solidFill>
                  <a:srgbClr val="0000FF"/>
                </a:solidFill>
                <a:latin typeface="Arial"/>
                <a:cs typeface="Arial"/>
              </a:rPr>
              <a:t>Sells</a:t>
            </a:r>
            <a:endParaRPr sz="1100" dirty="0">
              <a:latin typeface="Arial"/>
              <a:cs typeface="Arial"/>
            </a:endParaRPr>
          </a:p>
          <a:p>
            <a:pPr marL="12700">
              <a:lnSpc>
                <a:spcPct val="100000"/>
              </a:lnSpc>
              <a:spcBef>
                <a:spcPts val="35"/>
              </a:spcBef>
            </a:pPr>
            <a:r>
              <a:rPr sz="1100" spc="-10" dirty="0">
                <a:solidFill>
                  <a:srgbClr val="0000FF"/>
                </a:solidFill>
                <a:latin typeface="Arial"/>
                <a:cs typeface="Arial"/>
              </a:rPr>
              <a:t>WHERE pub</a:t>
            </a:r>
            <a:r>
              <a:rPr sz="1100" spc="-5" dirty="0">
                <a:solidFill>
                  <a:srgbClr val="0000FF"/>
                </a:solidFill>
                <a:latin typeface="Arial"/>
                <a:cs typeface="Arial"/>
              </a:rPr>
              <a:t> IN</a:t>
            </a:r>
            <a:endParaRPr sz="1100" dirty="0">
              <a:latin typeface="Arial"/>
              <a:cs typeface="Arial"/>
            </a:endParaRPr>
          </a:p>
          <a:p>
            <a:pPr marL="589280" marR="1026160">
              <a:lnSpc>
                <a:spcPct val="102600"/>
              </a:lnSpc>
            </a:pPr>
            <a:r>
              <a:rPr sz="1100" spc="-10" dirty="0">
                <a:solidFill>
                  <a:srgbClr val="0000FF"/>
                </a:solidFill>
                <a:latin typeface="Arial"/>
                <a:cs typeface="Arial"/>
              </a:rPr>
              <a:t>(SELECT</a:t>
            </a:r>
            <a:r>
              <a:rPr sz="1100" spc="-55" dirty="0">
                <a:solidFill>
                  <a:srgbClr val="0000FF"/>
                </a:solidFill>
                <a:latin typeface="Arial"/>
                <a:cs typeface="Arial"/>
              </a:rPr>
              <a:t> </a:t>
            </a:r>
            <a:r>
              <a:rPr sz="1100" spc="-10" dirty="0">
                <a:solidFill>
                  <a:srgbClr val="0000FF"/>
                </a:solidFill>
                <a:latin typeface="Arial"/>
                <a:cs typeface="Arial"/>
              </a:rPr>
              <a:t>name  </a:t>
            </a:r>
            <a:r>
              <a:rPr sz="1100" spc="-15" dirty="0">
                <a:solidFill>
                  <a:srgbClr val="0000FF"/>
                </a:solidFill>
                <a:latin typeface="Arial"/>
                <a:cs typeface="Arial"/>
              </a:rPr>
              <a:t>FROM</a:t>
            </a:r>
            <a:r>
              <a:rPr sz="1100" spc="-20" dirty="0">
                <a:solidFill>
                  <a:srgbClr val="0000FF"/>
                </a:solidFill>
                <a:latin typeface="Arial"/>
                <a:cs typeface="Arial"/>
              </a:rPr>
              <a:t> </a:t>
            </a:r>
            <a:r>
              <a:rPr sz="1100" spc="-10" dirty="0">
                <a:solidFill>
                  <a:srgbClr val="0000FF"/>
                </a:solidFill>
                <a:latin typeface="Arial"/>
                <a:cs typeface="Arial"/>
              </a:rPr>
              <a:t>Pubs</a:t>
            </a:r>
            <a:endParaRPr sz="1100" dirty="0">
              <a:latin typeface="Arial"/>
              <a:cs typeface="Arial"/>
            </a:endParaRPr>
          </a:p>
          <a:p>
            <a:pPr marL="589280">
              <a:lnSpc>
                <a:spcPct val="100000"/>
              </a:lnSpc>
              <a:spcBef>
                <a:spcPts val="35"/>
              </a:spcBef>
            </a:pPr>
            <a:r>
              <a:rPr sz="1100" spc="-10" dirty="0">
                <a:solidFill>
                  <a:srgbClr val="0000FF"/>
                </a:solidFill>
                <a:latin typeface="Arial"/>
                <a:cs typeface="Arial"/>
              </a:rPr>
              <a:t>WHERE</a:t>
            </a:r>
            <a:r>
              <a:rPr sz="1100" spc="-50" dirty="0">
                <a:solidFill>
                  <a:srgbClr val="0000FF"/>
                </a:solidFill>
                <a:latin typeface="Arial"/>
                <a:cs typeface="Arial"/>
              </a:rPr>
              <a:t> </a:t>
            </a:r>
            <a:r>
              <a:rPr sz="1100" spc="-5" dirty="0">
                <a:solidFill>
                  <a:srgbClr val="0000FF"/>
                </a:solidFill>
                <a:latin typeface="Arial"/>
                <a:cs typeface="Arial"/>
              </a:rPr>
              <a:t>location=’Bloomsbury’);</a:t>
            </a:r>
            <a:endParaRPr sz="1100" dirty="0">
              <a:latin typeface="Arial"/>
              <a:cs typeface="Arial"/>
            </a:endParaRPr>
          </a:p>
          <a:p>
            <a:pPr>
              <a:lnSpc>
                <a:spcPct val="100000"/>
              </a:lnSpc>
              <a:spcBef>
                <a:spcPts val="45"/>
              </a:spcBef>
            </a:pPr>
            <a:endParaRPr sz="1150" dirty="0">
              <a:latin typeface="Times New Roman"/>
              <a:cs typeface="Times New Roman"/>
            </a:endParaRPr>
          </a:p>
          <a:p>
            <a:pPr marL="1483995">
              <a:lnSpc>
                <a:spcPct val="100000"/>
              </a:lnSpc>
              <a:spcBef>
                <a:spcPts val="5"/>
              </a:spcBef>
            </a:pPr>
            <a:r>
              <a:rPr sz="1100" b="1" spc="-5" dirty="0">
                <a:latin typeface="Arial"/>
                <a:cs typeface="Arial"/>
              </a:rPr>
              <a:t>minPrice</a:t>
            </a:r>
            <a:endParaRPr sz="1100" dirty="0">
              <a:latin typeface="Arial"/>
              <a:cs typeface="Arial"/>
            </a:endParaRPr>
          </a:p>
          <a:p>
            <a:pPr marL="1483995">
              <a:lnSpc>
                <a:spcPct val="100000"/>
              </a:lnSpc>
              <a:spcBef>
                <a:spcPts val="270"/>
              </a:spcBef>
            </a:pPr>
            <a:r>
              <a:rPr sz="1100" spc="-5" dirty="0">
                <a:latin typeface="Arial"/>
                <a:cs typeface="Arial"/>
              </a:rPr>
              <a:t>1.50</a:t>
            </a:r>
            <a:endParaRPr sz="1100" dirty="0">
              <a:latin typeface="Arial"/>
              <a:cs typeface="Arial"/>
            </a:endParaRPr>
          </a:p>
        </p:txBody>
      </p:sp>
      <p:sp>
        <p:nvSpPr>
          <p:cNvPr id="41" name="object 41"/>
          <p:cNvSpPr/>
          <p:nvPr/>
        </p:nvSpPr>
        <p:spPr>
          <a:xfrm>
            <a:off x="2312517" y="2547073"/>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2" name="object 42"/>
          <p:cNvSpPr/>
          <p:nvPr/>
        </p:nvSpPr>
        <p:spPr>
          <a:xfrm>
            <a:off x="1575485" y="2721673"/>
            <a:ext cx="737235" cy="0"/>
          </a:xfrm>
          <a:custGeom>
            <a:avLst/>
            <a:gdLst/>
            <a:ahLst/>
            <a:cxnLst/>
            <a:rect l="l" t="t" r="r" b="b"/>
            <a:pathLst>
              <a:path w="737235">
                <a:moveTo>
                  <a:pt x="0" y="0"/>
                </a:moveTo>
                <a:lnTo>
                  <a:pt x="737031" y="0"/>
                </a:lnTo>
              </a:path>
            </a:pathLst>
          </a:custGeom>
          <a:ln w="5054">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4032155847"/>
      </p:ext>
    </p:extLst>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Subqueries </a:t>
            </a:r>
            <a:r>
              <a:rPr sz="400" spc="-5" dirty="0">
                <a:solidFill>
                  <a:srgbClr val="999999"/>
                </a:solidFill>
                <a:latin typeface="Arial"/>
                <a:cs typeface="Arial"/>
              </a:rPr>
              <a:t> </a:t>
            </a:r>
            <a:r>
              <a:rPr sz="400" spc="-5" dirty="0">
                <a:latin typeface="Arial"/>
                <a:cs typeface="Arial"/>
                <a:hlinkClick r:id="rId3" action="ppaction://hlinksldjump"/>
              </a:rPr>
              <a:t>Aggregation</a:t>
            </a:r>
            <a:r>
              <a:rPr sz="400" spc="-25" dirty="0">
                <a:latin typeface="Arial"/>
                <a:cs typeface="Arial"/>
                <a:hlinkClick r:id="rId3" action="ppaction://hlinksldjump"/>
              </a:rPr>
              <a:t> </a:t>
            </a:r>
            <a:r>
              <a:rPr sz="400" spc="-5" dirty="0">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1291590" cy="244475"/>
          </a:xfrm>
          <a:prstGeom prst="rect">
            <a:avLst/>
          </a:prstGeom>
        </p:spPr>
        <p:txBody>
          <a:bodyPr vert="horz" wrap="square" lIns="0" tIns="17145" rIns="0" bIns="0" rtlCol="0">
            <a:spAutoFit/>
          </a:bodyPr>
          <a:lstStyle/>
          <a:p>
            <a:pPr marL="12700">
              <a:lnSpc>
                <a:spcPct val="100000"/>
              </a:lnSpc>
              <a:spcBef>
                <a:spcPts val="135"/>
              </a:spcBef>
            </a:pPr>
            <a:r>
              <a:rPr spc="15" dirty="0"/>
              <a:t>Counting</a:t>
            </a:r>
            <a:r>
              <a:rPr spc="-60" dirty="0"/>
              <a:t> </a:t>
            </a:r>
            <a:r>
              <a:rPr spc="15" dirty="0"/>
              <a:t>tuples</a:t>
            </a:r>
          </a:p>
        </p:txBody>
      </p:sp>
      <p:sp>
        <p:nvSpPr>
          <p:cNvPr id="35" name="object 35"/>
          <p:cNvSpPr/>
          <p:nvPr/>
        </p:nvSpPr>
        <p:spPr>
          <a:xfrm>
            <a:off x="1364551" y="1974875"/>
            <a:ext cx="1159510" cy="0"/>
          </a:xfrm>
          <a:custGeom>
            <a:avLst/>
            <a:gdLst/>
            <a:ahLst/>
            <a:cxnLst/>
            <a:rect l="l" t="t" r="r" b="b"/>
            <a:pathLst>
              <a:path w="1159510">
                <a:moveTo>
                  <a:pt x="0" y="0"/>
                </a:moveTo>
                <a:lnTo>
                  <a:pt x="1158900" y="0"/>
                </a:lnTo>
              </a:path>
            </a:pathLst>
          </a:custGeom>
          <a:ln w="5054">
            <a:solidFill>
              <a:srgbClr val="000000"/>
            </a:solidFill>
          </a:ln>
        </p:spPr>
        <p:txBody>
          <a:bodyPr wrap="square" lIns="0" tIns="0" rIns="0" bIns="0" rtlCol="0"/>
          <a:lstStyle/>
          <a:p>
            <a:endParaRPr/>
          </a:p>
        </p:txBody>
      </p:sp>
      <p:sp>
        <p:nvSpPr>
          <p:cNvPr id="36" name="object 36"/>
          <p:cNvSpPr/>
          <p:nvPr/>
        </p:nvSpPr>
        <p:spPr>
          <a:xfrm>
            <a:off x="1364551" y="2152015"/>
            <a:ext cx="1159510" cy="0"/>
          </a:xfrm>
          <a:custGeom>
            <a:avLst/>
            <a:gdLst/>
            <a:ahLst/>
            <a:cxnLst/>
            <a:rect l="l" t="t" r="r" b="b"/>
            <a:pathLst>
              <a:path w="1159510">
                <a:moveTo>
                  <a:pt x="0" y="0"/>
                </a:moveTo>
                <a:lnTo>
                  <a:pt x="1158900" y="0"/>
                </a:lnTo>
              </a:path>
            </a:pathLst>
          </a:custGeom>
          <a:ln w="5054">
            <a:solidFill>
              <a:srgbClr val="000000"/>
            </a:solidFill>
          </a:ln>
        </p:spPr>
        <p:txBody>
          <a:bodyPr wrap="square" lIns="0" tIns="0" rIns="0" bIns="0" rtlCol="0"/>
          <a:lstStyle/>
          <a:p>
            <a:endParaRPr/>
          </a:p>
        </p:txBody>
      </p:sp>
      <p:sp>
        <p:nvSpPr>
          <p:cNvPr id="37" name="object 37"/>
          <p:cNvSpPr/>
          <p:nvPr/>
        </p:nvSpPr>
        <p:spPr>
          <a:xfrm>
            <a:off x="1364551" y="2177326"/>
            <a:ext cx="1159510" cy="0"/>
          </a:xfrm>
          <a:custGeom>
            <a:avLst/>
            <a:gdLst/>
            <a:ahLst/>
            <a:cxnLst/>
            <a:rect l="l" t="t" r="r" b="b"/>
            <a:pathLst>
              <a:path w="1159510">
                <a:moveTo>
                  <a:pt x="0" y="0"/>
                </a:moveTo>
                <a:lnTo>
                  <a:pt x="1158900" y="0"/>
                </a:lnTo>
              </a:path>
            </a:pathLst>
          </a:custGeom>
          <a:ln w="5054">
            <a:solidFill>
              <a:srgbClr val="000000"/>
            </a:solidFill>
          </a:ln>
        </p:spPr>
        <p:txBody>
          <a:bodyPr wrap="square" lIns="0" tIns="0" rIns="0" bIns="0" rtlCol="0"/>
          <a:lstStyle/>
          <a:p>
            <a:endParaRPr/>
          </a:p>
        </p:txBody>
      </p:sp>
      <p:sp>
        <p:nvSpPr>
          <p:cNvPr id="38" name="object 38"/>
          <p:cNvSpPr/>
          <p:nvPr/>
        </p:nvSpPr>
        <p:spPr>
          <a:xfrm>
            <a:off x="1364551" y="2179853"/>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39" name="object 39"/>
          <p:cNvSpPr/>
          <p:nvPr/>
        </p:nvSpPr>
        <p:spPr>
          <a:xfrm>
            <a:off x="2523451" y="2179853"/>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0" name="object 40"/>
          <p:cNvSpPr/>
          <p:nvPr/>
        </p:nvSpPr>
        <p:spPr>
          <a:xfrm>
            <a:off x="1364551" y="2354453"/>
            <a:ext cx="1159510" cy="0"/>
          </a:xfrm>
          <a:custGeom>
            <a:avLst/>
            <a:gdLst/>
            <a:ahLst/>
            <a:cxnLst/>
            <a:rect l="l" t="t" r="r" b="b"/>
            <a:pathLst>
              <a:path w="1159510">
                <a:moveTo>
                  <a:pt x="0" y="0"/>
                </a:moveTo>
                <a:lnTo>
                  <a:pt x="1158900" y="0"/>
                </a:lnTo>
              </a:path>
            </a:pathLst>
          </a:custGeom>
          <a:ln w="5054">
            <a:solidFill>
              <a:srgbClr val="000000"/>
            </a:solidFill>
          </a:ln>
        </p:spPr>
        <p:txBody>
          <a:bodyPr wrap="square" lIns="0" tIns="0" rIns="0" bIns="0" rtlCol="0"/>
          <a:lstStyle/>
          <a:p>
            <a:endParaRPr/>
          </a:p>
        </p:txBody>
      </p:sp>
      <p:sp>
        <p:nvSpPr>
          <p:cNvPr id="41" name="object 41"/>
          <p:cNvSpPr txBox="1"/>
          <p:nvPr/>
        </p:nvSpPr>
        <p:spPr>
          <a:xfrm>
            <a:off x="167297" y="861033"/>
            <a:ext cx="3408045" cy="1802764"/>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Find the </a:t>
            </a:r>
            <a:r>
              <a:rPr sz="1100" spc="-10" dirty="0">
                <a:latin typeface="Arial"/>
                <a:cs typeface="Arial"/>
              </a:rPr>
              <a:t>number </a:t>
            </a:r>
            <a:r>
              <a:rPr sz="1100" spc="-5" dirty="0">
                <a:latin typeface="Arial"/>
                <a:cs typeface="Arial"/>
              </a:rPr>
              <a:t>of people </a:t>
            </a:r>
            <a:r>
              <a:rPr sz="1100" spc="-10" dirty="0">
                <a:latin typeface="Arial"/>
                <a:cs typeface="Arial"/>
              </a:rPr>
              <a:t>who </a:t>
            </a:r>
            <a:r>
              <a:rPr sz="1100" spc="-5" dirty="0">
                <a:latin typeface="Arial"/>
                <a:cs typeface="Arial"/>
              </a:rPr>
              <a:t>visit the </a:t>
            </a:r>
            <a:r>
              <a:rPr sz="1100" spc="-10" dirty="0">
                <a:latin typeface="Arial"/>
                <a:cs typeface="Arial"/>
              </a:rPr>
              <a:t>March</a:t>
            </a:r>
            <a:r>
              <a:rPr sz="1100" spc="-15" dirty="0">
                <a:latin typeface="Arial"/>
                <a:cs typeface="Arial"/>
              </a:rPr>
              <a:t> </a:t>
            </a:r>
            <a:r>
              <a:rPr sz="1100" spc="-5" dirty="0">
                <a:latin typeface="Arial"/>
                <a:cs typeface="Arial"/>
              </a:rPr>
              <a:t>Hare:</a:t>
            </a:r>
            <a:endParaRPr sz="1100" dirty="0">
              <a:latin typeface="Arial"/>
              <a:cs typeface="Arial"/>
            </a:endParaRPr>
          </a:p>
          <a:p>
            <a:pPr>
              <a:lnSpc>
                <a:spcPct val="100000"/>
              </a:lnSpc>
              <a:spcBef>
                <a:spcPts val="10"/>
              </a:spcBef>
            </a:pPr>
            <a:endParaRPr sz="1550" dirty="0">
              <a:latin typeface="Times New Roman"/>
              <a:cs typeface="Times New Roman"/>
            </a:endParaRPr>
          </a:p>
          <a:p>
            <a:pPr marL="12700" marR="625475">
              <a:lnSpc>
                <a:spcPct val="102600"/>
              </a:lnSpc>
            </a:pPr>
            <a:r>
              <a:rPr sz="1100" spc="-10" dirty="0">
                <a:solidFill>
                  <a:srgbClr val="0000FF"/>
                </a:solidFill>
                <a:latin typeface="Arial"/>
                <a:cs typeface="Arial"/>
              </a:rPr>
              <a:t>SELECT COUNT(drinker) AS numberVisiting  </a:t>
            </a:r>
            <a:r>
              <a:rPr sz="1100" spc="-15" dirty="0">
                <a:solidFill>
                  <a:srgbClr val="0000FF"/>
                </a:solidFill>
                <a:latin typeface="Arial"/>
                <a:cs typeface="Arial"/>
              </a:rPr>
              <a:t>FROM</a:t>
            </a:r>
            <a:r>
              <a:rPr sz="1100" spc="-10" dirty="0">
                <a:solidFill>
                  <a:srgbClr val="0000FF"/>
                </a:solidFill>
                <a:latin typeface="Arial"/>
                <a:cs typeface="Arial"/>
              </a:rPr>
              <a:t> </a:t>
            </a:r>
            <a:r>
              <a:rPr sz="1100" spc="-5" dirty="0">
                <a:solidFill>
                  <a:srgbClr val="0000FF"/>
                </a:solidFill>
                <a:latin typeface="Arial"/>
                <a:cs typeface="Arial"/>
              </a:rPr>
              <a:t>Visits</a:t>
            </a:r>
            <a:endParaRPr sz="1100" dirty="0">
              <a:latin typeface="Arial"/>
              <a:cs typeface="Arial"/>
            </a:endParaRPr>
          </a:p>
          <a:p>
            <a:pPr marL="12700">
              <a:lnSpc>
                <a:spcPct val="100000"/>
              </a:lnSpc>
              <a:spcBef>
                <a:spcPts val="35"/>
              </a:spcBef>
            </a:pPr>
            <a:r>
              <a:rPr sz="1100" spc="-10" dirty="0">
                <a:solidFill>
                  <a:srgbClr val="0000FF"/>
                </a:solidFill>
                <a:latin typeface="Arial"/>
                <a:cs typeface="Arial"/>
              </a:rPr>
              <a:t>WHERE </a:t>
            </a:r>
            <a:r>
              <a:rPr sz="1100" spc="-5" dirty="0">
                <a:solidFill>
                  <a:srgbClr val="0000FF"/>
                </a:solidFill>
                <a:latin typeface="Arial"/>
                <a:cs typeface="Arial"/>
              </a:rPr>
              <a:t>pub=’March Hare’;</a:t>
            </a:r>
            <a:endParaRPr sz="1100" dirty="0">
              <a:latin typeface="Arial"/>
              <a:cs typeface="Arial"/>
            </a:endParaRPr>
          </a:p>
          <a:p>
            <a:pPr>
              <a:lnSpc>
                <a:spcPct val="100000"/>
              </a:lnSpc>
              <a:spcBef>
                <a:spcPts val="45"/>
              </a:spcBef>
            </a:pPr>
            <a:endParaRPr sz="1150" dirty="0">
              <a:latin typeface="Times New Roman"/>
              <a:cs typeface="Times New Roman"/>
            </a:endParaRPr>
          </a:p>
          <a:p>
            <a:pPr marL="1272540">
              <a:lnSpc>
                <a:spcPct val="100000"/>
              </a:lnSpc>
              <a:spcBef>
                <a:spcPts val="5"/>
              </a:spcBef>
            </a:pPr>
            <a:r>
              <a:rPr sz="1100" b="1" spc="-10" dirty="0">
                <a:latin typeface="Arial"/>
                <a:cs typeface="Arial"/>
              </a:rPr>
              <a:t>numberVisiting</a:t>
            </a:r>
            <a:endParaRPr sz="1100" dirty="0">
              <a:latin typeface="Arial"/>
              <a:cs typeface="Arial"/>
            </a:endParaRPr>
          </a:p>
          <a:p>
            <a:pPr marL="1272540">
              <a:lnSpc>
                <a:spcPct val="100000"/>
              </a:lnSpc>
              <a:spcBef>
                <a:spcPts val="270"/>
              </a:spcBef>
            </a:pPr>
            <a:r>
              <a:rPr sz="1100" spc="-10" dirty="0">
                <a:latin typeface="Arial"/>
                <a:cs typeface="Arial"/>
              </a:rPr>
              <a:t>2</a:t>
            </a:r>
            <a:endParaRPr sz="1100" dirty="0">
              <a:latin typeface="Arial"/>
              <a:cs typeface="Arial"/>
            </a:endParaRPr>
          </a:p>
          <a:p>
            <a:pPr>
              <a:lnSpc>
                <a:spcPct val="100000"/>
              </a:lnSpc>
              <a:spcBef>
                <a:spcPts val="20"/>
              </a:spcBef>
            </a:pPr>
            <a:endParaRPr sz="1050" dirty="0">
              <a:latin typeface="Times New Roman"/>
              <a:cs typeface="Times New Roman"/>
            </a:endParaRPr>
          </a:p>
          <a:p>
            <a:pPr marL="12700">
              <a:lnSpc>
                <a:spcPct val="100000"/>
              </a:lnSpc>
            </a:pPr>
            <a:r>
              <a:rPr sz="1100" spc="-5" dirty="0">
                <a:latin typeface="Arial"/>
                <a:cs typeface="Arial"/>
              </a:rPr>
              <a:t>Could also use </a:t>
            </a:r>
            <a:r>
              <a:rPr sz="1100" spc="-10" dirty="0">
                <a:solidFill>
                  <a:srgbClr val="0000FF"/>
                </a:solidFill>
                <a:latin typeface="Arial"/>
                <a:cs typeface="Arial"/>
              </a:rPr>
              <a:t>COUNT(*) </a:t>
            </a:r>
            <a:r>
              <a:rPr sz="1100" spc="-5" dirty="0">
                <a:latin typeface="Arial"/>
                <a:cs typeface="Arial"/>
              </a:rPr>
              <a:t>to count the </a:t>
            </a:r>
            <a:r>
              <a:rPr sz="1100" spc="-10" dirty="0">
                <a:latin typeface="Arial"/>
                <a:cs typeface="Arial"/>
              </a:rPr>
              <a:t>number </a:t>
            </a:r>
            <a:r>
              <a:rPr sz="1100" spc="-5" dirty="0">
                <a:latin typeface="Arial"/>
                <a:cs typeface="Arial"/>
              </a:rPr>
              <a:t>of</a:t>
            </a:r>
            <a:r>
              <a:rPr sz="1100" spc="-20" dirty="0">
                <a:latin typeface="Arial"/>
                <a:cs typeface="Arial"/>
              </a:rPr>
              <a:t> </a:t>
            </a:r>
            <a:r>
              <a:rPr sz="1100" spc="-15" dirty="0">
                <a:latin typeface="Arial"/>
                <a:cs typeface="Arial"/>
              </a:rPr>
              <a:t>rows.</a:t>
            </a:r>
            <a:endParaRPr sz="1100" dirty="0">
              <a:latin typeface="Arial"/>
              <a:cs typeface="Arial"/>
            </a:endParaRPr>
          </a:p>
        </p:txBody>
      </p:sp>
    </p:spTree>
    <p:extLst>
      <p:ext uri="{BB962C8B-B14F-4D97-AF65-F5344CB8AC3E}">
        <p14:creationId xmlns:p14="http://schemas.microsoft.com/office/powerpoint/2010/main" val="3226916385"/>
      </p:ext>
    </p:extLst>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Subqueries </a:t>
            </a:r>
            <a:r>
              <a:rPr sz="400" spc="-5" dirty="0">
                <a:solidFill>
                  <a:srgbClr val="999999"/>
                </a:solidFill>
                <a:latin typeface="Arial"/>
                <a:cs typeface="Arial"/>
              </a:rPr>
              <a:t> </a:t>
            </a:r>
            <a:r>
              <a:rPr sz="400" spc="-5" dirty="0">
                <a:latin typeface="Arial"/>
                <a:cs typeface="Arial"/>
                <a:hlinkClick r:id="rId3" action="ppaction://hlinksldjump"/>
              </a:rPr>
              <a:t>Aggregation</a:t>
            </a:r>
            <a:r>
              <a:rPr sz="400" spc="-25" dirty="0">
                <a:latin typeface="Arial"/>
                <a:cs typeface="Arial"/>
                <a:hlinkClick r:id="rId3" action="ppaction://hlinksldjump"/>
              </a:rPr>
              <a:t> </a:t>
            </a:r>
            <a:r>
              <a:rPr sz="400" spc="-5" dirty="0">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775335" cy="244475"/>
          </a:xfrm>
          <a:prstGeom prst="rect">
            <a:avLst/>
          </a:prstGeom>
        </p:spPr>
        <p:txBody>
          <a:bodyPr vert="horz" wrap="square" lIns="0" tIns="17145" rIns="0" bIns="0" rtlCol="0">
            <a:spAutoFit/>
          </a:bodyPr>
          <a:lstStyle/>
          <a:p>
            <a:pPr marL="12700">
              <a:lnSpc>
                <a:spcPct val="100000"/>
              </a:lnSpc>
              <a:spcBef>
                <a:spcPts val="135"/>
              </a:spcBef>
            </a:pPr>
            <a:r>
              <a:rPr spc="15" dirty="0"/>
              <a:t>Grouping</a:t>
            </a:r>
          </a:p>
        </p:txBody>
      </p:sp>
      <p:sp>
        <p:nvSpPr>
          <p:cNvPr id="35" name="object 35"/>
          <p:cNvSpPr txBox="1"/>
          <p:nvPr/>
        </p:nvSpPr>
        <p:spPr>
          <a:xfrm>
            <a:off x="283692" y="396200"/>
            <a:ext cx="3409315" cy="1085850"/>
          </a:xfrm>
          <a:prstGeom prst="rect">
            <a:avLst/>
          </a:prstGeom>
        </p:spPr>
        <p:txBody>
          <a:bodyPr vert="horz" wrap="square" lIns="0" tIns="6985" rIns="0" bIns="0" rtlCol="0">
            <a:spAutoFit/>
          </a:bodyPr>
          <a:lstStyle/>
          <a:p>
            <a:pPr marL="173355" marR="52705" indent="-148590">
              <a:lnSpc>
                <a:spcPct val="102600"/>
              </a:lnSpc>
              <a:spcBef>
                <a:spcPts val="55"/>
              </a:spcBef>
            </a:pPr>
            <a:r>
              <a:rPr sz="1200" spc="127" baseline="6944" dirty="0">
                <a:solidFill>
                  <a:srgbClr val="3333B2"/>
                </a:solidFill>
                <a:latin typeface="Arial Black"/>
                <a:cs typeface="Arial Black"/>
              </a:rPr>
              <a:t>e </a:t>
            </a:r>
            <a:r>
              <a:rPr sz="1100" spc="-10" dirty="0">
                <a:latin typeface="Arial"/>
                <a:cs typeface="Arial"/>
              </a:rPr>
              <a:t>Sometimes </a:t>
            </a:r>
            <a:r>
              <a:rPr sz="1100" spc="-15" dirty="0">
                <a:latin typeface="Arial"/>
                <a:cs typeface="Arial"/>
              </a:rPr>
              <a:t>we </a:t>
            </a:r>
            <a:r>
              <a:rPr sz="1100" spc="-5" dirty="0">
                <a:latin typeface="Arial"/>
                <a:cs typeface="Arial"/>
              </a:rPr>
              <a:t>don’t </a:t>
            </a:r>
            <a:r>
              <a:rPr sz="1100" spc="-10" dirty="0">
                <a:latin typeface="Arial"/>
                <a:cs typeface="Arial"/>
              </a:rPr>
              <a:t>want an aggregation </a:t>
            </a:r>
            <a:r>
              <a:rPr sz="1100" spc="-5" dirty="0">
                <a:latin typeface="Arial"/>
                <a:cs typeface="Arial"/>
              </a:rPr>
              <a:t>applied to  </a:t>
            </a:r>
            <a:r>
              <a:rPr sz="1100" spc="-10" dirty="0">
                <a:latin typeface="Arial"/>
                <a:cs typeface="Arial"/>
              </a:rPr>
              <a:t>an </a:t>
            </a:r>
            <a:r>
              <a:rPr sz="1100" spc="-5" dirty="0">
                <a:latin typeface="Arial"/>
                <a:cs typeface="Arial"/>
              </a:rPr>
              <a:t>entire column.</a:t>
            </a:r>
            <a:endParaRPr sz="1100">
              <a:latin typeface="Arial"/>
              <a:cs typeface="Arial"/>
            </a:endParaRPr>
          </a:p>
          <a:p>
            <a:pPr marL="173355" marR="17780" indent="-148590">
              <a:lnSpc>
                <a:spcPct val="102600"/>
              </a:lnSpc>
              <a:spcBef>
                <a:spcPts val="135"/>
              </a:spcBef>
            </a:pPr>
            <a:r>
              <a:rPr sz="1200" spc="127" baseline="6944" dirty="0">
                <a:solidFill>
                  <a:srgbClr val="3333B2"/>
                </a:solidFill>
                <a:latin typeface="Arial Black"/>
                <a:cs typeface="Arial Black"/>
              </a:rPr>
              <a:t>e </a:t>
            </a:r>
            <a:r>
              <a:rPr sz="1100" spc="-5" dirty="0">
                <a:latin typeface="Arial"/>
                <a:cs typeface="Arial"/>
              </a:rPr>
              <a:t>Instead </a:t>
            </a:r>
            <a:r>
              <a:rPr sz="1100" spc="-15" dirty="0">
                <a:latin typeface="Arial"/>
                <a:cs typeface="Arial"/>
              </a:rPr>
              <a:t>we </a:t>
            </a:r>
            <a:r>
              <a:rPr sz="1100" spc="-10" dirty="0">
                <a:latin typeface="Arial"/>
                <a:cs typeface="Arial"/>
              </a:rPr>
              <a:t>want </a:t>
            </a:r>
            <a:r>
              <a:rPr sz="1100" spc="-5" dirty="0">
                <a:latin typeface="Arial"/>
                <a:cs typeface="Arial"/>
              </a:rPr>
              <a:t>to </a:t>
            </a:r>
            <a:r>
              <a:rPr sz="1100" i="1" spc="-10" dirty="0">
                <a:latin typeface="Arial"/>
                <a:cs typeface="Arial"/>
              </a:rPr>
              <a:t>group </a:t>
            </a:r>
            <a:r>
              <a:rPr sz="1100" spc="-5" dirty="0">
                <a:latin typeface="Arial"/>
                <a:cs typeface="Arial"/>
              </a:rPr>
              <a:t>the tuples of </a:t>
            </a:r>
            <a:r>
              <a:rPr sz="1100" spc="-10" dirty="0">
                <a:latin typeface="Arial"/>
                <a:cs typeface="Arial"/>
              </a:rPr>
              <a:t>a </a:t>
            </a:r>
            <a:r>
              <a:rPr sz="1100" spc="-5" dirty="0">
                <a:latin typeface="Arial"/>
                <a:cs typeface="Arial"/>
              </a:rPr>
              <a:t>relation into  </a:t>
            </a:r>
            <a:r>
              <a:rPr sz="1100" spc="-10" dirty="0">
                <a:latin typeface="Arial"/>
                <a:cs typeface="Arial"/>
              </a:rPr>
              <a:t>groups based on </a:t>
            </a:r>
            <a:r>
              <a:rPr sz="1100" spc="-5" dirty="0">
                <a:latin typeface="Arial"/>
                <a:cs typeface="Arial"/>
              </a:rPr>
              <a:t>the </a:t>
            </a:r>
            <a:r>
              <a:rPr sz="1100" spc="-15" dirty="0">
                <a:latin typeface="Arial"/>
                <a:cs typeface="Arial"/>
              </a:rPr>
              <a:t>value </a:t>
            </a:r>
            <a:r>
              <a:rPr sz="1100" spc="-5" dirty="0">
                <a:latin typeface="Arial"/>
                <a:cs typeface="Arial"/>
              </a:rPr>
              <a:t>of </a:t>
            </a:r>
            <a:r>
              <a:rPr sz="1100" spc="-10" dirty="0">
                <a:latin typeface="Arial"/>
                <a:cs typeface="Arial"/>
              </a:rPr>
              <a:t>some</a:t>
            </a:r>
            <a:r>
              <a:rPr sz="1100" spc="30" dirty="0">
                <a:latin typeface="Arial"/>
                <a:cs typeface="Arial"/>
              </a:rPr>
              <a:t> </a:t>
            </a:r>
            <a:r>
              <a:rPr sz="1100" spc="-10" dirty="0">
                <a:latin typeface="Arial"/>
                <a:cs typeface="Arial"/>
              </a:rPr>
              <a:t>attribute.</a:t>
            </a:r>
            <a:endParaRPr sz="1100">
              <a:latin typeface="Arial"/>
              <a:cs typeface="Arial"/>
            </a:endParaRPr>
          </a:p>
          <a:p>
            <a:pPr marL="173355" marR="266065" indent="-148590">
              <a:lnSpc>
                <a:spcPct val="102600"/>
              </a:lnSpc>
              <a:spcBef>
                <a:spcPts val="130"/>
              </a:spcBef>
            </a:pPr>
            <a:r>
              <a:rPr sz="1200" spc="127" baseline="6944" dirty="0">
                <a:solidFill>
                  <a:srgbClr val="3333B2"/>
                </a:solidFill>
                <a:latin typeface="Arial Black"/>
                <a:cs typeface="Arial Black"/>
              </a:rPr>
              <a:t>e </a:t>
            </a:r>
            <a:r>
              <a:rPr sz="1100" spc="-5" dirty="0">
                <a:latin typeface="Arial"/>
                <a:cs typeface="Arial"/>
              </a:rPr>
              <a:t>E.g., </a:t>
            </a:r>
            <a:r>
              <a:rPr sz="1100" spc="-15" dirty="0">
                <a:latin typeface="Arial"/>
                <a:cs typeface="Arial"/>
              </a:rPr>
              <a:t>we </a:t>
            </a:r>
            <a:r>
              <a:rPr sz="1100" spc="-5" dirty="0">
                <a:latin typeface="Arial"/>
                <a:cs typeface="Arial"/>
              </a:rPr>
              <a:t>can </a:t>
            </a:r>
            <a:r>
              <a:rPr sz="1100" spc="-10" dirty="0">
                <a:latin typeface="Arial"/>
                <a:cs typeface="Arial"/>
              </a:rPr>
              <a:t>group </a:t>
            </a:r>
            <a:r>
              <a:rPr sz="1100" spc="-5" dirty="0">
                <a:solidFill>
                  <a:srgbClr val="0000FF"/>
                </a:solidFill>
                <a:latin typeface="Arial"/>
                <a:cs typeface="Arial"/>
              </a:rPr>
              <a:t>Sells </a:t>
            </a:r>
            <a:r>
              <a:rPr sz="1100" spc="-5" dirty="0">
                <a:latin typeface="Arial"/>
                <a:cs typeface="Arial"/>
              </a:rPr>
              <a:t>tuples according to </a:t>
            </a:r>
            <a:r>
              <a:rPr sz="1100" spc="-10" dirty="0">
                <a:solidFill>
                  <a:srgbClr val="0000FF"/>
                </a:solidFill>
                <a:latin typeface="Arial"/>
                <a:cs typeface="Arial"/>
              </a:rPr>
              <a:t>pub </a:t>
            </a:r>
            <a:r>
              <a:rPr sz="1100" spc="-10" dirty="0">
                <a:latin typeface="Arial"/>
                <a:cs typeface="Arial"/>
              </a:rPr>
              <a:t> </a:t>
            </a:r>
            <a:r>
              <a:rPr sz="1100" spc="-15" dirty="0">
                <a:latin typeface="Arial"/>
                <a:cs typeface="Arial"/>
              </a:rPr>
              <a:t>value.</a:t>
            </a:r>
            <a:endParaRPr sz="1100">
              <a:latin typeface="Arial"/>
              <a:cs typeface="Arial"/>
            </a:endParaRPr>
          </a:p>
        </p:txBody>
      </p:sp>
      <p:graphicFrame>
        <p:nvGraphicFramePr>
          <p:cNvPr id="36" name="object 36"/>
          <p:cNvGraphicFramePr>
            <a:graphicFrameLocks noGrp="1"/>
          </p:cNvGraphicFramePr>
          <p:nvPr/>
        </p:nvGraphicFramePr>
        <p:xfrm>
          <a:off x="658964" y="1565071"/>
          <a:ext cx="2566035" cy="1725797"/>
        </p:xfrm>
        <a:graphic>
          <a:graphicData uri="http://schemas.openxmlformats.org/drawingml/2006/table">
            <a:tbl>
              <a:tblPr firstRow="1" bandRow="1">
                <a:tableStyleId>{2D5ABB26-0587-4C30-8999-92F81FD0307C}</a:tableStyleId>
              </a:tblPr>
              <a:tblGrid>
                <a:gridCol w="1143635">
                  <a:extLst>
                    <a:ext uri="{9D8B030D-6E8A-4147-A177-3AD203B41FA5}">
                      <a16:colId xmlns:a16="http://schemas.microsoft.com/office/drawing/2014/main" val="20000"/>
                    </a:ext>
                  </a:extLst>
                </a:gridCol>
                <a:gridCol w="967740">
                  <a:extLst>
                    <a:ext uri="{9D8B030D-6E8A-4147-A177-3AD203B41FA5}">
                      <a16:colId xmlns:a16="http://schemas.microsoft.com/office/drawing/2014/main" val="20001"/>
                    </a:ext>
                  </a:extLst>
                </a:gridCol>
                <a:gridCol w="454660">
                  <a:extLst>
                    <a:ext uri="{9D8B030D-6E8A-4147-A177-3AD203B41FA5}">
                      <a16:colId xmlns:a16="http://schemas.microsoft.com/office/drawing/2014/main" val="20002"/>
                    </a:ext>
                  </a:extLst>
                </a:gridCol>
              </a:tblGrid>
              <a:tr h="169538">
                <a:tc>
                  <a:txBody>
                    <a:bodyPr/>
                    <a:lstStyle/>
                    <a:p>
                      <a:pPr marL="75565">
                        <a:lnSpc>
                          <a:spcPts val="1055"/>
                        </a:lnSpc>
                      </a:pPr>
                      <a:r>
                        <a:rPr sz="1000" b="1" spc="-5" dirty="0">
                          <a:latin typeface="Arial"/>
                          <a:cs typeface="Arial"/>
                        </a:rPr>
                        <a:t>pub</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r>
                        <a:rPr sz="1000" b="1" spc="-5" dirty="0">
                          <a:latin typeface="Arial"/>
                          <a:cs typeface="Arial"/>
                        </a:rPr>
                        <a:t>beer</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r>
                        <a:rPr sz="1000" b="1" spc="-5" dirty="0">
                          <a:latin typeface="Arial"/>
                          <a:cs typeface="Arial"/>
                        </a:rPr>
                        <a:t>price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55124">
                <a:tc>
                  <a:txBody>
                    <a:bodyPr/>
                    <a:lstStyle/>
                    <a:p>
                      <a:pPr marL="75565">
                        <a:lnSpc>
                          <a:spcPts val="1120"/>
                        </a:lnSpc>
                      </a:pPr>
                      <a:r>
                        <a:rPr sz="1000" spc="-5" dirty="0">
                          <a:latin typeface="Arial"/>
                          <a:cs typeface="Arial"/>
                        </a:rPr>
                        <a:t>Horse and</a:t>
                      </a:r>
                      <a:r>
                        <a:rPr sz="1000" spc="-40" dirty="0">
                          <a:latin typeface="Arial"/>
                          <a:cs typeface="Arial"/>
                        </a:rPr>
                        <a:t> </a:t>
                      </a:r>
                      <a:r>
                        <a:rPr sz="1000" spc="-5" dirty="0">
                          <a:latin typeface="Arial"/>
                          <a:cs typeface="Arial"/>
                        </a:rPr>
                        <a:t>Hound</a:t>
                      </a:r>
                      <a:endParaRPr sz="10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120"/>
                        </a:lnSpc>
                      </a:pPr>
                      <a:r>
                        <a:rPr sz="1000" spc="-5" dirty="0">
                          <a:latin typeface="Arial"/>
                          <a:cs typeface="Arial"/>
                        </a:rPr>
                        <a:t>Bad</a:t>
                      </a:r>
                      <a:r>
                        <a:rPr sz="1000" spc="-15" dirty="0">
                          <a:latin typeface="Arial"/>
                          <a:cs typeface="Arial"/>
                        </a:rPr>
                        <a:t> </a:t>
                      </a:r>
                      <a:r>
                        <a:rPr sz="1000" spc="-5" dirty="0">
                          <a:latin typeface="Arial"/>
                          <a:cs typeface="Arial"/>
                        </a:rPr>
                        <a:t>Habit</a:t>
                      </a:r>
                      <a:endParaRPr sz="10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120"/>
                        </a:lnSpc>
                      </a:pPr>
                      <a:r>
                        <a:rPr sz="1000" spc="-5" dirty="0">
                          <a:latin typeface="Arial"/>
                          <a:cs typeface="Arial"/>
                        </a:rPr>
                        <a:t>1.50</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66255">
                <a:tc>
                  <a:txBody>
                    <a:bodyPr/>
                    <a:lstStyle/>
                    <a:p>
                      <a:pPr marL="75565">
                        <a:lnSpc>
                          <a:spcPts val="1130"/>
                        </a:lnSpc>
                      </a:pPr>
                      <a:r>
                        <a:rPr sz="1000" spc="-5" dirty="0">
                          <a:latin typeface="Arial"/>
                          <a:cs typeface="Arial"/>
                        </a:rPr>
                        <a:t>Horse and</a:t>
                      </a:r>
                      <a:r>
                        <a:rPr sz="1000" spc="-40" dirty="0">
                          <a:latin typeface="Arial"/>
                          <a:cs typeface="Arial"/>
                        </a:rPr>
                        <a:t> </a:t>
                      </a:r>
                      <a:r>
                        <a:rPr sz="1000" spc="-5" dirty="0">
                          <a:latin typeface="Arial"/>
                          <a:cs typeface="Arial"/>
                        </a:rPr>
                        <a:t>Hound</a:t>
                      </a:r>
                      <a:endParaRPr sz="1000" dirty="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130"/>
                        </a:lnSpc>
                      </a:pPr>
                      <a:r>
                        <a:rPr sz="1000" spc="-5" dirty="0">
                          <a:latin typeface="Arial"/>
                          <a:cs typeface="Arial"/>
                        </a:rPr>
                        <a:t>Rampant</a:t>
                      </a:r>
                      <a:r>
                        <a:rPr sz="1000" spc="-30" dirty="0">
                          <a:latin typeface="Arial"/>
                          <a:cs typeface="Arial"/>
                        </a:rPr>
                        <a:t> </a:t>
                      </a:r>
                      <a:r>
                        <a:rPr sz="1000" spc="-5" dirty="0">
                          <a:latin typeface="Arial"/>
                          <a:cs typeface="Arial"/>
                        </a:rPr>
                        <a:t>Ram</a:t>
                      </a:r>
                      <a:endParaRPr sz="1000" dirty="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130"/>
                        </a:lnSpc>
                      </a:pPr>
                      <a:r>
                        <a:rPr sz="1000" spc="-5" dirty="0">
                          <a:latin typeface="Arial"/>
                          <a:cs typeface="Arial"/>
                        </a:rPr>
                        <a:t>2.00</a:t>
                      </a:r>
                      <a:endParaRPr sz="10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2"/>
                  </a:ext>
                </a:extLst>
              </a:tr>
              <a:tr h="142462">
                <a:tc>
                  <a:txBody>
                    <a:bodyPr/>
                    <a:lstStyle/>
                    <a:p>
                      <a:pPr marL="75565">
                        <a:lnSpc>
                          <a:spcPts val="1019"/>
                        </a:lnSpc>
                      </a:pPr>
                      <a:r>
                        <a:rPr sz="1000" spc="-5" dirty="0">
                          <a:latin typeface="Arial"/>
                          <a:cs typeface="Arial"/>
                        </a:rPr>
                        <a:t>Hound and</a:t>
                      </a:r>
                      <a:r>
                        <a:rPr sz="1000" spc="-30" dirty="0">
                          <a:latin typeface="Arial"/>
                          <a:cs typeface="Arial"/>
                        </a:rPr>
                        <a:t> </a:t>
                      </a:r>
                      <a:r>
                        <a:rPr sz="1000" spc="-5" dirty="0">
                          <a:latin typeface="Arial"/>
                          <a:cs typeface="Arial"/>
                        </a:rPr>
                        <a:t>Hare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019"/>
                        </a:lnSpc>
                      </a:pPr>
                      <a:r>
                        <a:rPr sz="1000" spc="-5" dirty="0">
                          <a:latin typeface="Arial"/>
                          <a:cs typeface="Arial"/>
                        </a:rPr>
                        <a:t>Shining</a:t>
                      </a:r>
                      <a:r>
                        <a:rPr sz="1000" spc="-15" dirty="0">
                          <a:latin typeface="Arial"/>
                          <a:cs typeface="Arial"/>
                        </a:rPr>
                        <a:t> </a:t>
                      </a:r>
                      <a:r>
                        <a:rPr sz="1000" spc="-5" dirty="0">
                          <a:latin typeface="Arial"/>
                          <a:cs typeface="Arial"/>
                        </a:rPr>
                        <a:t>Wit</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019"/>
                        </a:lnSpc>
                      </a:pPr>
                      <a:r>
                        <a:rPr sz="1000" spc="-5" dirty="0">
                          <a:latin typeface="Arial"/>
                          <a:cs typeface="Arial"/>
                        </a:rPr>
                        <a:t>2.75</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3"/>
                  </a:ext>
                </a:extLst>
              </a:tr>
              <a:tr h="166249">
                <a:tc>
                  <a:txBody>
                    <a:bodyPr/>
                    <a:lstStyle/>
                    <a:p>
                      <a:pPr marL="75565">
                        <a:lnSpc>
                          <a:spcPts val="1130"/>
                        </a:lnSpc>
                      </a:pPr>
                      <a:r>
                        <a:rPr sz="1000" spc="-5" dirty="0">
                          <a:latin typeface="Arial"/>
                          <a:cs typeface="Arial"/>
                        </a:rPr>
                        <a:t>Hound and</a:t>
                      </a:r>
                      <a:r>
                        <a:rPr sz="1000" spc="-30" dirty="0">
                          <a:latin typeface="Arial"/>
                          <a:cs typeface="Arial"/>
                        </a:rPr>
                        <a:t> </a:t>
                      </a:r>
                      <a:r>
                        <a:rPr sz="1000" spc="-5" dirty="0">
                          <a:latin typeface="Arial"/>
                          <a:cs typeface="Arial"/>
                        </a:rPr>
                        <a:t>Hare</a:t>
                      </a:r>
                      <a:endParaRPr sz="10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130"/>
                        </a:lnSpc>
                      </a:pPr>
                      <a:r>
                        <a:rPr sz="1000" spc="-5" dirty="0">
                          <a:latin typeface="Arial"/>
                          <a:cs typeface="Arial"/>
                        </a:rPr>
                        <a:t>Rampant</a:t>
                      </a:r>
                      <a:r>
                        <a:rPr sz="1000" spc="-30" dirty="0">
                          <a:latin typeface="Arial"/>
                          <a:cs typeface="Arial"/>
                        </a:rPr>
                        <a:t> </a:t>
                      </a:r>
                      <a:r>
                        <a:rPr sz="1000" spc="-5" dirty="0">
                          <a:latin typeface="Arial"/>
                          <a:cs typeface="Arial"/>
                        </a:rPr>
                        <a:t>Ram</a:t>
                      </a:r>
                      <a:endParaRPr sz="10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130"/>
                        </a:lnSpc>
                      </a:pPr>
                      <a:r>
                        <a:rPr sz="1000" spc="-5" dirty="0">
                          <a:latin typeface="Arial"/>
                          <a:cs typeface="Arial"/>
                        </a:rPr>
                        <a:t>2.50</a:t>
                      </a:r>
                      <a:endParaRPr sz="10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4"/>
                  </a:ext>
                </a:extLst>
              </a:tr>
              <a:tr h="142468">
                <a:tc>
                  <a:txBody>
                    <a:bodyPr/>
                    <a:lstStyle/>
                    <a:p>
                      <a:pPr marL="75565">
                        <a:lnSpc>
                          <a:spcPts val="1019"/>
                        </a:lnSpc>
                      </a:pPr>
                      <a:r>
                        <a:rPr sz="1000" spc="-5" dirty="0">
                          <a:latin typeface="Arial"/>
                          <a:cs typeface="Arial"/>
                        </a:rPr>
                        <a:t>March</a:t>
                      </a:r>
                      <a:r>
                        <a:rPr sz="1000" spc="-15" dirty="0">
                          <a:latin typeface="Arial"/>
                          <a:cs typeface="Arial"/>
                        </a:rPr>
                        <a:t> </a:t>
                      </a:r>
                      <a:r>
                        <a:rPr sz="1000" spc="-5" dirty="0">
                          <a:latin typeface="Arial"/>
                          <a:cs typeface="Arial"/>
                        </a:rPr>
                        <a:t>Hare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019"/>
                        </a:lnSpc>
                      </a:pPr>
                      <a:r>
                        <a:rPr sz="1000" spc="-5" dirty="0">
                          <a:latin typeface="Arial"/>
                          <a:cs typeface="Arial"/>
                        </a:rPr>
                        <a:t>Bad</a:t>
                      </a:r>
                      <a:r>
                        <a:rPr sz="1000" spc="-15" dirty="0">
                          <a:latin typeface="Arial"/>
                          <a:cs typeface="Arial"/>
                        </a:rPr>
                        <a:t> </a:t>
                      </a:r>
                      <a:r>
                        <a:rPr sz="1000" spc="-5" dirty="0">
                          <a:latin typeface="Arial"/>
                          <a:cs typeface="Arial"/>
                        </a:rPr>
                        <a:t>Habit</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019"/>
                        </a:lnSpc>
                      </a:pPr>
                      <a:r>
                        <a:rPr sz="1000" spc="-5" dirty="0">
                          <a:latin typeface="Arial"/>
                          <a:cs typeface="Arial"/>
                        </a:rPr>
                        <a:t>1.75</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5"/>
                  </a:ext>
                </a:extLst>
              </a:tr>
              <a:tr h="166255">
                <a:tc>
                  <a:txBody>
                    <a:bodyPr/>
                    <a:lstStyle/>
                    <a:p>
                      <a:pPr marL="75565">
                        <a:lnSpc>
                          <a:spcPts val="1130"/>
                        </a:lnSpc>
                      </a:pPr>
                      <a:r>
                        <a:rPr sz="1000" spc="-5" dirty="0">
                          <a:latin typeface="Arial"/>
                          <a:cs typeface="Arial"/>
                        </a:rPr>
                        <a:t>March</a:t>
                      </a:r>
                      <a:r>
                        <a:rPr sz="1000" spc="-15" dirty="0">
                          <a:latin typeface="Arial"/>
                          <a:cs typeface="Arial"/>
                        </a:rPr>
                        <a:t> </a:t>
                      </a:r>
                      <a:r>
                        <a:rPr sz="1000" spc="-5" dirty="0">
                          <a:latin typeface="Arial"/>
                          <a:cs typeface="Arial"/>
                        </a:rPr>
                        <a:t>Hare</a:t>
                      </a:r>
                      <a:endParaRPr sz="10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130"/>
                        </a:lnSpc>
                      </a:pPr>
                      <a:r>
                        <a:rPr sz="1000" spc="-5" dirty="0">
                          <a:latin typeface="Arial"/>
                          <a:cs typeface="Arial"/>
                        </a:rPr>
                        <a:t>Rampant</a:t>
                      </a:r>
                      <a:r>
                        <a:rPr sz="1000" spc="-30" dirty="0">
                          <a:latin typeface="Arial"/>
                          <a:cs typeface="Arial"/>
                        </a:rPr>
                        <a:t> </a:t>
                      </a:r>
                      <a:r>
                        <a:rPr sz="1000" spc="-5" dirty="0">
                          <a:latin typeface="Arial"/>
                          <a:cs typeface="Arial"/>
                        </a:rPr>
                        <a:t>Ram</a:t>
                      </a:r>
                      <a:endParaRPr sz="10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130"/>
                        </a:lnSpc>
                      </a:pPr>
                      <a:r>
                        <a:rPr sz="1000" spc="-5" dirty="0">
                          <a:latin typeface="Arial"/>
                          <a:cs typeface="Arial"/>
                        </a:rPr>
                        <a:t>2.50</a:t>
                      </a:r>
                      <a:endParaRPr sz="10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6"/>
                  </a:ext>
                </a:extLst>
              </a:tr>
              <a:tr h="142468">
                <a:tc>
                  <a:txBody>
                    <a:bodyPr/>
                    <a:lstStyle/>
                    <a:p>
                      <a:pPr marL="75565">
                        <a:lnSpc>
                          <a:spcPts val="1019"/>
                        </a:lnSpc>
                      </a:pPr>
                      <a:r>
                        <a:rPr sz="1000" spc="-10" dirty="0">
                          <a:latin typeface="Arial"/>
                          <a:cs typeface="Arial"/>
                        </a:rPr>
                        <a:t>Black</a:t>
                      </a:r>
                      <a:r>
                        <a:rPr sz="1000" spc="-15" dirty="0">
                          <a:latin typeface="Arial"/>
                          <a:cs typeface="Arial"/>
                        </a:rPr>
                        <a:t> </a:t>
                      </a:r>
                      <a:r>
                        <a:rPr sz="1000" spc="-5" dirty="0">
                          <a:latin typeface="Arial"/>
                          <a:cs typeface="Arial"/>
                        </a:rPr>
                        <a:t>Horse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019"/>
                        </a:lnSpc>
                      </a:pPr>
                      <a:r>
                        <a:rPr sz="1000" spc="-5" dirty="0">
                          <a:latin typeface="Arial"/>
                          <a:cs typeface="Arial"/>
                        </a:rPr>
                        <a:t>Bad</a:t>
                      </a:r>
                      <a:r>
                        <a:rPr sz="1000" spc="-15" dirty="0">
                          <a:latin typeface="Arial"/>
                          <a:cs typeface="Arial"/>
                        </a:rPr>
                        <a:t> </a:t>
                      </a:r>
                      <a:r>
                        <a:rPr sz="1000" spc="-5" dirty="0">
                          <a:latin typeface="Arial"/>
                          <a:cs typeface="Arial"/>
                        </a:rPr>
                        <a:t>Habit</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019"/>
                        </a:lnSpc>
                      </a:pPr>
                      <a:r>
                        <a:rPr sz="1000" spc="-5" dirty="0">
                          <a:latin typeface="Arial"/>
                          <a:cs typeface="Arial"/>
                        </a:rPr>
                        <a:t>2.50</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7"/>
                  </a:ext>
                </a:extLst>
              </a:tr>
              <a:tr h="151828">
                <a:tc>
                  <a:txBody>
                    <a:bodyPr/>
                    <a:lstStyle/>
                    <a:p>
                      <a:pPr marL="75565">
                        <a:lnSpc>
                          <a:spcPts val="1095"/>
                        </a:lnSpc>
                      </a:pPr>
                      <a:r>
                        <a:rPr sz="1000" spc="-10" dirty="0">
                          <a:latin typeface="Arial"/>
                          <a:cs typeface="Arial"/>
                        </a:rPr>
                        <a:t>Black</a:t>
                      </a:r>
                      <a:r>
                        <a:rPr sz="1000" spc="-15" dirty="0">
                          <a:latin typeface="Arial"/>
                          <a:cs typeface="Arial"/>
                        </a:rPr>
                        <a:t> </a:t>
                      </a:r>
                      <a:r>
                        <a:rPr sz="1000" spc="-5" dirty="0">
                          <a:latin typeface="Arial"/>
                          <a:cs typeface="Arial"/>
                        </a:rPr>
                        <a:t>Horse</a:t>
                      </a:r>
                      <a:endParaRPr sz="10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095"/>
                        </a:lnSpc>
                      </a:pPr>
                      <a:r>
                        <a:rPr sz="1000" spc="-5" dirty="0">
                          <a:latin typeface="Arial"/>
                          <a:cs typeface="Arial"/>
                        </a:rPr>
                        <a:t>Shining</a:t>
                      </a:r>
                      <a:r>
                        <a:rPr sz="1000" spc="-15" dirty="0">
                          <a:latin typeface="Arial"/>
                          <a:cs typeface="Arial"/>
                        </a:rPr>
                        <a:t> </a:t>
                      </a:r>
                      <a:r>
                        <a:rPr sz="1000" spc="-5" dirty="0">
                          <a:latin typeface="Arial"/>
                          <a:cs typeface="Arial"/>
                        </a:rPr>
                        <a:t>Wit</a:t>
                      </a:r>
                      <a:endParaRPr sz="10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095"/>
                        </a:lnSpc>
                      </a:pPr>
                      <a:r>
                        <a:rPr sz="1000" spc="-5" dirty="0">
                          <a:latin typeface="Arial"/>
                          <a:cs typeface="Arial"/>
                        </a:rPr>
                        <a:t>2.25</a:t>
                      </a:r>
                      <a:endParaRPr sz="10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8"/>
                  </a:ext>
                </a:extLst>
              </a:tr>
              <a:tr h="166255">
                <a:tc>
                  <a:txBody>
                    <a:bodyPr/>
                    <a:lstStyle/>
                    <a:p>
                      <a:pPr marL="75565">
                        <a:lnSpc>
                          <a:spcPts val="1130"/>
                        </a:lnSpc>
                      </a:pPr>
                      <a:r>
                        <a:rPr sz="1000" spc="-10" dirty="0">
                          <a:latin typeface="Arial"/>
                          <a:cs typeface="Arial"/>
                        </a:rPr>
                        <a:t>Black</a:t>
                      </a:r>
                      <a:r>
                        <a:rPr sz="1000" spc="-15" dirty="0">
                          <a:latin typeface="Arial"/>
                          <a:cs typeface="Arial"/>
                        </a:rPr>
                        <a:t> </a:t>
                      </a:r>
                      <a:r>
                        <a:rPr sz="1000" spc="-5" dirty="0">
                          <a:latin typeface="Arial"/>
                          <a:cs typeface="Arial"/>
                        </a:rPr>
                        <a:t>Horse</a:t>
                      </a:r>
                      <a:endParaRPr sz="10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130"/>
                        </a:lnSpc>
                      </a:pPr>
                      <a:r>
                        <a:rPr sz="1000" spc="-5" dirty="0">
                          <a:latin typeface="Arial"/>
                          <a:cs typeface="Arial"/>
                        </a:rPr>
                        <a:t>Rampant</a:t>
                      </a:r>
                      <a:r>
                        <a:rPr sz="1000" spc="-30" dirty="0">
                          <a:latin typeface="Arial"/>
                          <a:cs typeface="Arial"/>
                        </a:rPr>
                        <a:t> </a:t>
                      </a:r>
                      <a:r>
                        <a:rPr sz="1000" spc="-5" dirty="0">
                          <a:latin typeface="Arial"/>
                          <a:cs typeface="Arial"/>
                        </a:rPr>
                        <a:t>Ram</a:t>
                      </a:r>
                      <a:endParaRPr sz="10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130"/>
                        </a:lnSpc>
                      </a:pPr>
                      <a:r>
                        <a:rPr sz="1000" spc="-5" dirty="0">
                          <a:latin typeface="Arial"/>
                          <a:cs typeface="Arial"/>
                        </a:rPr>
                        <a:t>2.50</a:t>
                      </a:r>
                      <a:endParaRPr sz="10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9"/>
                  </a:ext>
                </a:extLst>
              </a:tr>
              <a:tr h="156895">
                <a:tc>
                  <a:txBody>
                    <a:bodyPr/>
                    <a:lstStyle/>
                    <a:p>
                      <a:pPr marL="75565">
                        <a:lnSpc>
                          <a:spcPts val="1055"/>
                        </a:lnSpc>
                      </a:pPr>
                      <a:r>
                        <a:rPr sz="1000" spc="-5" dirty="0">
                          <a:latin typeface="Arial"/>
                          <a:cs typeface="Arial"/>
                        </a:rPr>
                        <a:t>White</a:t>
                      </a:r>
                      <a:r>
                        <a:rPr sz="1000" spc="-15" dirty="0">
                          <a:latin typeface="Arial"/>
                          <a:cs typeface="Arial"/>
                        </a:rPr>
                        <a:t> </a:t>
                      </a:r>
                      <a:r>
                        <a:rPr sz="1000" spc="-5" dirty="0">
                          <a:latin typeface="Arial"/>
                          <a:cs typeface="Arial"/>
                        </a:rPr>
                        <a:t>Horse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r>
                        <a:rPr sz="1000" spc="-5" dirty="0">
                          <a:latin typeface="Arial"/>
                          <a:cs typeface="Arial"/>
                        </a:rPr>
                        <a:t>Rampant</a:t>
                      </a:r>
                      <a:r>
                        <a:rPr sz="1000" spc="-30" dirty="0">
                          <a:latin typeface="Arial"/>
                          <a:cs typeface="Arial"/>
                        </a:rPr>
                        <a:t> </a:t>
                      </a:r>
                      <a:r>
                        <a:rPr sz="1000" spc="-5" dirty="0">
                          <a:latin typeface="Arial"/>
                          <a:cs typeface="Arial"/>
                        </a:rPr>
                        <a:t>Ram</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r>
                        <a:rPr sz="1000" spc="-5" dirty="0">
                          <a:latin typeface="Arial"/>
                          <a:cs typeface="Arial"/>
                        </a:rPr>
                        <a:t>2.75</a:t>
                      </a:r>
                      <a:endParaRPr sz="10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911119140"/>
      </p:ext>
    </p:extLst>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Subqueries </a:t>
            </a:r>
            <a:r>
              <a:rPr sz="400" spc="-5" dirty="0">
                <a:solidFill>
                  <a:srgbClr val="999999"/>
                </a:solidFill>
                <a:latin typeface="Arial"/>
                <a:cs typeface="Arial"/>
              </a:rPr>
              <a:t> </a:t>
            </a:r>
            <a:r>
              <a:rPr sz="400" spc="-5" dirty="0">
                <a:latin typeface="Arial"/>
                <a:cs typeface="Arial"/>
                <a:hlinkClick r:id="rId3" action="ppaction://hlinksldjump"/>
              </a:rPr>
              <a:t>Aggregation</a:t>
            </a:r>
            <a:r>
              <a:rPr sz="400" spc="-25" dirty="0">
                <a:latin typeface="Arial"/>
                <a:cs typeface="Arial"/>
                <a:hlinkClick r:id="rId3" action="ppaction://hlinksldjump"/>
              </a:rPr>
              <a:t> </a:t>
            </a:r>
            <a:r>
              <a:rPr sz="400" spc="-5" dirty="0">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1508760" cy="244475"/>
          </a:xfrm>
          <a:prstGeom prst="rect">
            <a:avLst/>
          </a:prstGeom>
        </p:spPr>
        <p:txBody>
          <a:bodyPr vert="horz" wrap="square" lIns="0" tIns="17145" rIns="0" bIns="0" rtlCol="0">
            <a:spAutoFit/>
          </a:bodyPr>
          <a:lstStyle/>
          <a:p>
            <a:pPr marL="12700">
              <a:lnSpc>
                <a:spcPct val="100000"/>
              </a:lnSpc>
              <a:spcBef>
                <a:spcPts val="135"/>
              </a:spcBef>
            </a:pPr>
            <a:r>
              <a:rPr spc="15" dirty="0"/>
              <a:t>Grouping</a:t>
            </a:r>
            <a:r>
              <a:rPr spc="-50" dirty="0"/>
              <a:t> </a:t>
            </a:r>
            <a:r>
              <a:rPr spc="10" dirty="0"/>
              <a:t>example</a:t>
            </a:r>
          </a:p>
        </p:txBody>
      </p:sp>
      <p:sp>
        <p:nvSpPr>
          <p:cNvPr id="35" name="object 35"/>
          <p:cNvSpPr txBox="1"/>
          <p:nvPr/>
        </p:nvSpPr>
        <p:spPr>
          <a:xfrm>
            <a:off x="167297" y="617345"/>
            <a:ext cx="318516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Find the </a:t>
            </a:r>
            <a:r>
              <a:rPr sz="1100" spc="-15" dirty="0">
                <a:latin typeface="Arial"/>
                <a:cs typeface="Arial"/>
              </a:rPr>
              <a:t>average </a:t>
            </a:r>
            <a:r>
              <a:rPr sz="1100" spc="-5" dirty="0">
                <a:latin typeface="Arial"/>
                <a:cs typeface="Arial"/>
              </a:rPr>
              <a:t>price of the beer sold in </a:t>
            </a:r>
            <a:r>
              <a:rPr sz="1100" spc="-10" dirty="0">
                <a:latin typeface="Arial"/>
                <a:cs typeface="Arial"/>
              </a:rPr>
              <a:t>each</a:t>
            </a:r>
            <a:r>
              <a:rPr sz="1100" spc="-35" dirty="0">
                <a:latin typeface="Arial"/>
                <a:cs typeface="Arial"/>
              </a:rPr>
              <a:t> </a:t>
            </a:r>
            <a:r>
              <a:rPr sz="1100" spc="-5" dirty="0">
                <a:latin typeface="Arial"/>
                <a:cs typeface="Arial"/>
              </a:rPr>
              <a:t>pub:</a:t>
            </a:r>
            <a:endParaRPr sz="1100">
              <a:latin typeface="Arial"/>
              <a:cs typeface="Arial"/>
            </a:endParaRPr>
          </a:p>
        </p:txBody>
      </p:sp>
      <p:sp>
        <p:nvSpPr>
          <p:cNvPr id="36" name="object 36"/>
          <p:cNvSpPr txBox="1"/>
          <p:nvPr/>
        </p:nvSpPr>
        <p:spPr>
          <a:xfrm>
            <a:off x="167297" y="941259"/>
            <a:ext cx="2378075" cy="535940"/>
          </a:xfrm>
          <a:prstGeom prst="rect">
            <a:avLst/>
          </a:prstGeom>
        </p:spPr>
        <p:txBody>
          <a:bodyPr vert="horz" wrap="square" lIns="0" tIns="6985" rIns="0" bIns="0" rtlCol="0">
            <a:spAutoFit/>
          </a:bodyPr>
          <a:lstStyle/>
          <a:p>
            <a:pPr marL="12700" marR="5080">
              <a:lnSpc>
                <a:spcPct val="102600"/>
              </a:lnSpc>
              <a:spcBef>
                <a:spcPts val="55"/>
              </a:spcBef>
            </a:pPr>
            <a:r>
              <a:rPr sz="1100" spc="-10" dirty="0">
                <a:solidFill>
                  <a:srgbClr val="0000FF"/>
                </a:solidFill>
                <a:latin typeface="Arial"/>
                <a:cs typeface="Arial"/>
              </a:rPr>
              <a:t>SELECT </a:t>
            </a:r>
            <a:r>
              <a:rPr sz="1100" spc="-20" dirty="0">
                <a:solidFill>
                  <a:srgbClr val="0000FF"/>
                </a:solidFill>
                <a:latin typeface="Arial"/>
                <a:cs typeface="Arial"/>
              </a:rPr>
              <a:t>pub, AVG(price) </a:t>
            </a:r>
            <a:r>
              <a:rPr sz="1100" spc="-10" dirty="0">
                <a:solidFill>
                  <a:srgbClr val="0000FF"/>
                </a:solidFill>
                <a:latin typeface="Arial"/>
                <a:cs typeface="Arial"/>
              </a:rPr>
              <a:t>AS avgPrice  </a:t>
            </a:r>
            <a:r>
              <a:rPr sz="1100" spc="-15" dirty="0">
                <a:solidFill>
                  <a:srgbClr val="0000FF"/>
                </a:solidFill>
                <a:latin typeface="Arial"/>
                <a:cs typeface="Arial"/>
              </a:rPr>
              <a:t>FROM</a:t>
            </a:r>
            <a:r>
              <a:rPr sz="1100" spc="-10" dirty="0">
                <a:solidFill>
                  <a:srgbClr val="0000FF"/>
                </a:solidFill>
                <a:latin typeface="Arial"/>
                <a:cs typeface="Arial"/>
              </a:rPr>
              <a:t> </a:t>
            </a:r>
            <a:r>
              <a:rPr sz="1100" spc="-5" dirty="0">
                <a:solidFill>
                  <a:srgbClr val="0000FF"/>
                </a:solidFill>
                <a:latin typeface="Arial"/>
                <a:cs typeface="Arial"/>
              </a:rPr>
              <a:t>Sells</a:t>
            </a:r>
            <a:endParaRPr sz="1100" dirty="0">
              <a:latin typeface="Arial"/>
              <a:cs typeface="Arial"/>
            </a:endParaRPr>
          </a:p>
          <a:p>
            <a:pPr marL="12700">
              <a:lnSpc>
                <a:spcPct val="100000"/>
              </a:lnSpc>
              <a:spcBef>
                <a:spcPts val="35"/>
              </a:spcBef>
            </a:pPr>
            <a:r>
              <a:rPr sz="1100" spc="-15" dirty="0">
                <a:solidFill>
                  <a:srgbClr val="0000FF"/>
                </a:solidFill>
                <a:latin typeface="Arial"/>
                <a:cs typeface="Arial"/>
              </a:rPr>
              <a:t>GROUP </a:t>
            </a:r>
            <a:r>
              <a:rPr sz="1100" spc="-10" dirty="0">
                <a:solidFill>
                  <a:srgbClr val="0000FF"/>
                </a:solidFill>
                <a:latin typeface="Arial"/>
                <a:cs typeface="Arial"/>
              </a:rPr>
              <a:t>BY</a:t>
            </a:r>
            <a:r>
              <a:rPr sz="1100" dirty="0">
                <a:solidFill>
                  <a:srgbClr val="0000FF"/>
                </a:solidFill>
                <a:latin typeface="Arial"/>
                <a:cs typeface="Arial"/>
              </a:rPr>
              <a:t> </a:t>
            </a:r>
            <a:r>
              <a:rPr sz="1100" spc="-5" dirty="0">
                <a:solidFill>
                  <a:srgbClr val="0000FF"/>
                </a:solidFill>
                <a:latin typeface="Arial"/>
                <a:cs typeface="Arial"/>
              </a:rPr>
              <a:t>pub;</a:t>
            </a:r>
            <a:endParaRPr sz="1100" dirty="0">
              <a:latin typeface="Arial"/>
              <a:cs typeface="Arial"/>
            </a:endParaRPr>
          </a:p>
        </p:txBody>
      </p:sp>
      <p:graphicFrame>
        <p:nvGraphicFramePr>
          <p:cNvPr id="37" name="object 37"/>
          <p:cNvGraphicFramePr>
            <a:graphicFrameLocks noGrp="1"/>
          </p:cNvGraphicFramePr>
          <p:nvPr/>
        </p:nvGraphicFramePr>
        <p:xfrm>
          <a:off x="959002" y="1652765"/>
          <a:ext cx="1964689" cy="1067864"/>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727074">
                  <a:extLst>
                    <a:ext uri="{9D8B030D-6E8A-4147-A177-3AD203B41FA5}">
                      <a16:colId xmlns:a16="http://schemas.microsoft.com/office/drawing/2014/main" val="20001"/>
                    </a:ext>
                  </a:extLst>
                </a:gridCol>
              </a:tblGrid>
              <a:tr h="189782">
                <a:tc>
                  <a:txBody>
                    <a:bodyPr/>
                    <a:lstStyle/>
                    <a:p>
                      <a:pPr marL="75565">
                        <a:lnSpc>
                          <a:spcPts val="1190"/>
                        </a:lnSpc>
                      </a:pPr>
                      <a:r>
                        <a:rPr sz="1100" b="1" spc="-10" dirty="0">
                          <a:latin typeface="Arial"/>
                          <a:cs typeface="Arial"/>
                        </a:rPr>
                        <a:t>pub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10" dirty="0">
                          <a:latin typeface="Arial"/>
                          <a:cs typeface="Arial"/>
                        </a:rPr>
                        <a:t>avgPrice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7">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1.75</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8">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2.675</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2.125</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2.416</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2.75</a:t>
                      </a:r>
                      <a:endParaRPr sz="1100" dirty="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38" name="object 38"/>
          <p:cNvSpPr txBox="1"/>
          <p:nvPr/>
        </p:nvSpPr>
        <p:spPr>
          <a:xfrm>
            <a:off x="167297" y="2837648"/>
            <a:ext cx="237744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Arial"/>
                <a:cs typeface="Arial"/>
              </a:rPr>
              <a:t>Each pub </a:t>
            </a:r>
            <a:r>
              <a:rPr sz="1100" spc="-5" dirty="0">
                <a:latin typeface="Arial"/>
                <a:cs typeface="Arial"/>
              </a:rPr>
              <a:t>appears </a:t>
            </a:r>
            <a:r>
              <a:rPr sz="1100" spc="-10" dirty="0">
                <a:latin typeface="Arial"/>
                <a:cs typeface="Arial"/>
              </a:rPr>
              <a:t>once </a:t>
            </a:r>
            <a:r>
              <a:rPr sz="1100" spc="-5" dirty="0">
                <a:latin typeface="Arial"/>
                <a:cs typeface="Arial"/>
              </a:rPr>
              <a:t>in the</a:t>
            </a:r>
            <a:r>
              <a:rPr sz="1100" spc="-30" dirty="0">
                <a:latin typeface="Arial"/>
                <a:cs typeface="Arial"/>
              </a:rPr>
              <a:t> </a:t>
            </a:r>
            <a:r>
              <a:rPr sz="1100" spc="-20" dirty="0">
                <a:latin typeface="Arial"/>
                <a:cs typeface="Arial"/>
              </a:rPr>
              <a:t>answer.</a:t>
            </a:r>
            <a:endParaRPr sz="1100">
              <a:latin typeface="Arial"/>
              <a:cs typeface="Arial"/>
            </a:endParaRPr>
          </a:p>
        </p:txBody>
      </p:sp>
    </p:spTree>
    <p:extLst>
      <p:ext uri="{BB962C8B-B14F-4D97-AF65-F5344CB8AC3E}">
        <p14:creationId xmlns:p14="http://schemas.microsoft.com/office/powerpoint/2010/main" val="3125258640"/>
      </p:ext>
    </p:extLst>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Subqueries </a:t>
            </a:r>
            <a:r>
              <a:rPr sz="400" spc="-5" dirty="0">
                <a:solidFill>
                  <a:srgbClr val="999999"/>
                </a:solidFill>
                <a:latin typeface="Arial"/>
                <a:cs typeface="Arial"/>
              </a:rPr>
              <a:t> </a:t>
            </a:r>
            <a:r>
              <a:rPr sz="400" spc="-5" dirty="0">
                <a:latin typeface="Arial"/>
                <a:cs typeface="Arial"/>
                <a:hlinkClick r:id="rId3" action="ppaction://hlinksldjump"/>
              </a:rPr>
              <a:t>Aggregation</a:t>
            </a:r>
            <a:r>
              <a:rPr sz="400" spc="-25" dirty="0">
                <a:latin typeface="Arial"/>
                <a:cs typeface="Arial"/>
                <a:hlinkClick r:id="rId3" action="ppaction://hlinksldjump"/>
              </a:rPr>
              <a:t> </a:t>
            </a:r>
            <a:r>
              <a:rPr sz="400" spc="-5" dirty="0">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1423035" cy="244475"/>
          </a:xfrm>
          <a:prstGeom prst="rect">
            <a:avLst/>
          </a:prstGeom>
        </p:spPr>
        <p:txBody>
          <a:bodyPr vert="horz" wrap="square" lIns="0" tIns="17145" rIns="0" bIns="0" rtlCol="0">
            <a:spAutoFit/>
          </a:bodyPr>
          <a:lstStyle/>
          <a:p>
            <a:pPr marL="12700">
              <a:lnSpc>
                <a:spcPct val="100000"/>
              </a:lnSpc>
              <a:spcBef>
                <a:spcPts val="135"/>
              </a:spcBef>
            </a:pPr>
            <a:r>
              <a:rPr spc="15" dirty="0"/>
              <a:t>Selecting</a:t>
            </a:r>
            <a:r>
              <a:rPr spc="-55" dirty="0"/>
              <a:t> </a:t>
            </a:r>
            <a:r>
              <a:rPr spc="15" dirty="0"/>
              <a:t>Groups</a:t>
            </a:r>
          </a:p>
        </p:txBody>
      </p:sp>
      <p:sp>
        <p:nvSpPr>
          <p:cNvPr id="35" name="object 35"/>
          <p:cNvSpPr txBox="1"/>
          <p:nvPr/>
        </p:nvSpPr>
        <p:spPr>
          <a:xfrm>
            <a:off x="167297" y="604734"/>
            <a:ext cx="3416300" cy="363855"/>
          </a:xfrm>
          <a:prstGeom prst="rect">
            <a:avLst/>
          </a:prstGeom>
        </p:spPr>
        <p:txBody>
          <a:bodyPr vert="horz" wrap="square" lIns="0" tIns="6985" rIns="0" bIns="0" rtlCol="0">
            <a:spAutoFit/>
          </a:bodyPr>
          <a:lstStyle/>
          <a:p>
            <a:pPr marL="12700" marR="5080">
              <a:lnSpc>
                <a:spcPct val="102600"/>
              </a:lnSpc>
              <a:spcBef>
                <a:spcPts val="55"/>
              </a:spcBef>
            </a:pPr>
            <a:r>
              <a:rPr sz="1100" spc="-5" dirty="0">
                <a:latin typeface="Arial"/>
                <a:cs typeface="Arial"/>
              </a:rPr>
              <a:t>Find the </a:t>
            </a:r>
            <a:r>
              <a:rPr sz="1100" spc="-15" dirty="0">
                <a:latin typeface="Arial"/>
                <a:cs typeface="Arial"/>
              </a:rPr>
              <a:t>average </a:t>
            </a:r>
            <a:r>
              <a:rPr sz="1100" spc="-5" dirty="0">
                <a:latin typeface="Arial"/>
                <a:cs typeface="Arial"/>
              </a:rPr>
              <a:t>price of the beer sold in </a:t>
            </a:r>
            <a:r>
              <a:rPr sz="1100" spc="-10" dirty="0">
                <a:latin typeface="Arial"/>
                <a:cs typeface="Arial"/>
              </a:rPr>
              <a:t>each pub </a:t>
            </a:r>
            <a:r>
              <a:rPr sz="1100" spc="-5" dirty="0">
                <a:latin typeface="Arial"/>
                <a:cs typeface="Arial"/>
              </a:rPr>
              <a:t>that  sells at least </a:t>
            </a:r>
            <a:r>
              <a:rPr sz="1100" spc="-10" dirty="0">
                <a:latin typeface="Arial"/>
                <a:cs typeface="Arial"/>
              </a:rPr>
              <a:t>two</a:t>
            </a:r>
            <a:r>
              <a:rPr sz="1100" spc="-15" dirty="0">
                <a:latin typeface="Arial"/>
                <a:cs typeface="Arial"/>
              </a:rPr>
              <a:t> </a:t>
            </a:r>
            <a:r>
              <a:rPr sz="1100" spc="-5" dirty="0">
                <a:latin typeface="Arial"/>
                <a:cs typeface="Arial"/>
              </a:rPr>
              <a:t>beers:</a:t>
            </a:r>
            <a:endParaRPr sz="1100" dirty="0">
              <a:latin typeface="Arial"/>
              <a:cs typeface="Arial"/>
            </a:endParaRPr>
          </a:p>
        </p:txBody>
      </p:sp>
      <p:sp>
        <p:nvSpPr>
          <p:cNvPr id="36" name="object 36"/>
          <p:cNvSpPr txBox="1"/>
          <p:nvPr/>
        </p:nvSpPr>
        <p:spPr>
          <a:xfrm>
            <a:off x="167297" y="1100707"/>
            <a:ext cx="3725252" cy="519951"/>
          </a:xfrm>
          <a:prstGeom prst="rect">
            <a:avLst/>
          </a:prstGeom>
        </p:spPr>
        <p:txBody>
          <a:bodyPr vert="horz" wrap="square" lIns="0" tIns="6985" rIns="0" bIns="0" rtlCol="0">
            <a:spAutoFit/>
          </a:bodyPr>
          <a:lstStyle/>
          <a:p>
            <a:pPr marL="12700" marR="5080">
              <a:lnSpc>
                <a:spcPct val="102699"/>
              </a:lnSpc>
              <a:spcBef>
                <a:spcPts val="55"/>
              </a:spcBef>
            </a:pPr>
            <a:r>
              <a:rPr sz="1100" spc="-10" dirty="0">
                <a:solidFill>
                  <a:srgbClr val="0000FF"/>
                </a:solidFill>
                <a:latin typeface="Arial"/>
                <a:cs typeface="Arial"/>
              </a:rPr>
              <a:t>SELECT </a:t>
            </a:r>
            <a:r>
              <a:rPr sz="1100" spc="-20" dirty="0">
                <a:solidFill>
                  <a:srgbClr val="0000FF"/>
                </a:solidFill>
                <a:latin typeface="Arial"/>
                <a:cs typeface="Arial"/>
              </a:rPr>
              <a:t>pub, AVG(price) </a:t>
            </a:r>
            <a:r>
              <a:rPr sz="1100" spc="-10" dirty="0">
                <a:solidFill>
                  <a:srgbClr val="0000FF"/>
                </a:solidFill>
                <a:latin typeface="Arial"/>
                <a:cs typeface="Arial"/>
              </a:rPr>
              <a:t>AS avgPrice  </a:t>
            </a:r>
            <a:r>
              <a:rPr sz="1100" spc="-15" dirty="0">
                <a:solidFill>
                  <a:srgbClr val="0000FF"/>
                </a:solidFill>
                <a:latin typeface="Arial"/>
                <a:cs typeface="Arial"/>
              </a:rPr>
              <a:t>FROM</a:t>
            </a:r>
            <a:r>
              <a:rPr sz="1100" spc="-10" dirty="0">
                <a:solidFill>
                  <a:srgbClr val="0000FF"/>
                </a:solidFill>
                <a:latin typeface="Arial"/>
                <a:cs typeface="Arial"/>
              </a:rPr>
              <a:t> </a:t>
            </a:r>
            <a:r>
              <a:rPr sz="1100" spc="-5" dirty="0">
                <a:solidFill>
                  <a:srgbClr val="0000FF"/>
                </a:solidFill>
                <a:latin typeface="Arial"/>
                <a:cs typeface="Arial"/>
              </a:rPr>
              <a:t>Sells</a:t>
            </a:r>
            <a:endParaRPr sz="1100" dirty="0">
              <a:latin typeface="Arial"/>
              <a:cs typeface="Arial"/>
            </a:endParaRPr>
          </a:p>
          <a:p>
            <a:pPr marL="12700">
              <a:lnSpc>
                <a:spcPct val="100000"/>
              </a:lnSpc>
              <a:spcBef>
                <a:spcPts val="35"/>
              </a:spcBef>
            </a:pPr>
            <a:r>
              <a:rPr sz="1100" spc="-15" dirty="0">
                <a:solidFill>
                  <a:srgbClr val="0000FF"/>
                </a:solidFill>
                <a:latin typeface="Arial"/>
                <a:cs typeface="Arial"/>
              </a:rPr>
              <a:t>GROUP </a:t>
            </a:r>
            <a:r>
              <a:rPr sz="1100" spc="-10" dirty="0">
                <a:solidFill>
                  <a:srgbClr val="0000FF"/>
                </a:solidFill>
                <a:latin typeface="Arial"/>
                <a:cs typeface="Arial"/>
              </a:rPr>
              <a:t>BY</a:t>
            </a:r>
            <a:r>
              <a:rPr sz="1100" dirty="0">
                <a:solidFill>
                  <a:srgbClr val="0000FF"/>
                </a:solidFill>
                <a:latin typeface="Arial"/>
                <a:cs typeface="Arial"/>
              </a:rPr>
              <a:t> </a:t>
            </a:r>
            <a:r>
              <a:rPr sz="1100" spc="-10" dirty="0">
                <a:solidFill>
                  <a:srgbClr val="0000FF"/>
                </a:solidFill>
                <a:latin typeface="Arial"/>
                <a:cs typeface="Arial"/>
              </a:rPr>
              <a:t>pub</a:t>
            </a:r>
            <a:endParaRPr sz="1100" dirty="0">
              <a:latin typeface="Arial"/>
              <a:cs typeface="Arial"/>
            </a:endParaRPr>
          </a:p>
          <a:p>
            <a:pPr marL="12700">
              <a:lnSpc>
                <a:spcPct val="100000"/>
              </a:lnSpc>
              <a:spcBef>
                <a:spcPts val="35"/>
              </a:spcBef>
            </a:pPr>
            <a:r>
              <a:rPr sz="1100" spc="-20" dirty="0">
                <a:solidFill>
                  <a:srgbClr val="0000FF"/>
                </a:solidFill>
                <a:latin typeface="Arial"/>
                <a:cs typeface="Arial"/>
              </a:rPr>
              <a:t>HAVING </a:t>
            </a:r>
            <a:r>
              <a:rPr sz="1100" spc="-10" dirty="0">
                <a:solidFill>
                  <a:srgbClr val="0000FF"/>
                </a:solidFill>
                <a:latin typeface="Arial"/>
                <a:cs typeface="Arial"/>
              </a:rPr>
              <a:t>COUNT(beer) &gt;</a:t>
            </a:r>
            <a:r>
              <a:rPr sz="1100" spc="5" dirty="0">
                <a:solidFill>
                  <a:srgbClr val="0000FF"/>
                </a:solidFill>
                <a:latin typeface="Arial"/>
                <a:cs typeface="Arial"/>
              </a:rPr>
              <a:t> </a:t>
            </a:r>
            <a:r>
              <a:rPr sz="1100" spc="-5" dirty="0">
                <a:solidFill>
                  <a:srgbClr val="0000FF"/>
                </a:solidFill>
                <a:latin typeface="Arial"/>
                <a:cs typeface="Arial"/>
              </a:rPr>
              <a:t>1;</a:t>
            </a:r>
            <a:endParaRPr sz="1100" dirty="0">
              <a:latin typeface="Arial"/>
              <a:cs typeface="Arial"/>
            </a:endParaRPr>
          </a:p>
        </p:txBody>
      </p:sp>
      <p:graphicFrame>
        <p:nvGraphicFramePr>
          <p:cNvPr id="37" name="object 37"/>
          <p:cNvGraphicFramePr>
            <a:graphicFrameLocks noGrp="1"/>
          </p:cNvGraphicFramePr>
          <p:nvPr/>
        </p:nvGraphicFramePr>
        <p:xfrm>
          <a:off x="959002" y="1984286"/>
          <a:ext cx="1964689" cy="895805"/>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727074">
                  <a:extLst>
                    <a:ext uri="{9D8B030D-6E8A-4147-A177-3AD203B41FA5}">
                      <a16:colId xmlns:a16="http://schemas.microsoft.com/office/drawing/2014/main" val="20001"/>
                    </a:ext>
                  </a:extLst>
                </a:gridCol>
              </a:tblGrid>
              <a:tr h="189795">
                <a:tc>
                  <a:txBody>
                    <a:bodyPr/>
                    <a:lstStyle/>
                    <a:p>
                      <a:pPr marL="75565">
                        <a:lnSpc>
                          <a:spcPts val="1190"/>
                        </a:lnSpc>
                      </a:pPr>
                      <a:r>
                        <a:rPr sz="1100" b="1" spc="-10" dirty="0">
                          <a:latin typeface="Arial"/>
                          <a:cs typeface="Arial"/>
                        </a:rPr>
                        <a:t>pub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10" dirty="0">
                          <a:latin typeface="Arial"/>
                          <a:cs typeface="Arial"/>
                        </a:rPr>
                        <a:t>avgPrice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1">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1.75</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8">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2.675</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8">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2.125</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86463">
                <a:tc>
                  <a:txBody>
                    <a:bodyPr/>
                    <a:lstStyle/>
                    <a:p>
                      <a:pPr marL="75565">
                        <a:lnSpc>
                          <a:spcPts val="1260"/>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2.416</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55929125"/>
      </p:ext>
    </p:extLst>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Subqueries </a:t>
            </a:r>
            <a:r>
              <a:rPr sz="400" spc="-5" dirty="0">
                <a:solidFill>
                  <a:srgbClr val="999999"/>
                </a:solidFill>
                <a:latin typeface="Arial"/>
                <a:cs typeface="Arial"/>
              </a:rPr>
              <a:t> </a:t>
            </a:r>
            <a:r>
              <a:rPr sz="400" spc="-5" dirty="0">
                <a:latin typeface="Arial"/>
                <a:cs typeface="Arial"/>
                <a:hlinkClick r:id="rId3" action="ppaction://hlinksldjump"/>
              </a:rPr>
              <a:t>Aggregation</a:t>
            </a:r>
            <a:r>
              <a:rPr sz="400" spc="-25" dirty="0">
                <a:latin typeface="Arial"/>
                <a:cs typeface="Arial"/>
                <a:hlinkClick r:id="rId3" action="ppaction://hlinksldjump"/>
              </a:rPr>
              <a:t> </a:t>
            </a:r>
            <a:r>
              <a:rPr sz="400" spc="-5" dirty="0">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1598295" cy="244475"/>
          </a:xfrm>
          <a:prstGeom prst="rect">
            <a:avLst/>
          </a:prstGeom>
        </p:spPr>
        <p:txBody>
          <a:bodyPr vert="horz" wrap="square" lIns="0" tIns="17145" rIns="0" bIns="0" rtlCol="0">
            <a:spAutoFit/>
          </a:bodyPr>
          <a:lstStyle/>
          <a:p>
            <a:pPr marL="12700">
              <a:lnSpc>
                <a:spcPct val="100000"/>
              </a:lnSpc>
              <a:spcBef>
                <a:spcPts val="135"/>
              </a:spcBef>
            </a:pPr>
            <a:r>
              <a:rPr spc="15" dirty="0"/>
              <a:t>Ordering the</a:t>
            </a:r>
            <a:r>
              <a:rPr spc="-60" dirty="0"/>
              <a:t> </a:t>
            </a:r>
            <a:r>
              <a:rPr spc="15" dirty="0"/>
              <a:t>output</a:t>
            </a:r>
          </a:p>
        </p:txBody>
      </p:sp>
      <p:sp>
        <p:nvSpPr>
          <p:cNvPr id="35" name="object 35"/>
          <p:cNvSpPr txBox="1"/>
          <p:nvPr/>
        </p:nvSpPr>
        <p:spPr>
          <a:xfrm>
            <a:off x="270992" y="1086508"/>
            <a:ext cx="3475354" cy="1209675"/>
          </a:xfrm>
          <a:prstGeom prst="rect">
            <a:avLst/>
          </a:prstGeom>
        </p:spPr>
        <p:txBody>
          <a:bodyPr vert="horz" wrap="square" lIns="0" tIns="55244" rIns="0" bIns="0" rtlCol="0">
            <a:spAutoFit/>
          </a:bodyPr>
          <a:lstStyle/>
          <a:p>
            <a:pPr marL="38100">
              <a:lnSpc>
                <a:spcPct val="100000"/>
              </a:lnSpc>
              <a:spcBef>
                <a:spcPts val="434"/>
              </a:spcBef>
            </a:pPr>
            <a:r>
              <a:rPr sz="1200" spc="127" baseline="6944" dirty="0">
                <a:solidFill>
                  <a:srgbClr val="3333B2"/>
                </a:solidFill>
                <a:latin typeface="Arial Black"/>
                <a:cs typeface="Arial Black"/>
              </a:rPr>
              <a:t>e </a:t>
            </a:r>
            <a:r>
              <a:rPr lang="en-US" sz="1100" spc="-5" dirty="0">
                <a:latin typeface="Arial"/>
                <a:cs typeface="Arial"/>
              </a:rPr>
              <a:t>W</a:t>
            </a:r>
            <a:r>
              <a:rPr sz="1100" spc="-5" dirty="0">
                <a:latin typeface="Arial"/>
                <a:cs typeface="Arial"/>
              </a:rPr>
              <a:t>e can ask </a:t>
            </a:r>
            <a:r>
              <a:rPr sz="1100" spc="-20" dirty="0">
                <a:latin typeface="Arial"/>
                <a:cs typeface="Arial"/>
              </a:rPr>
              <a:t>for </a:t>
            </a:r>
            <a:r>
              <a:rPr sz="1100" spc="-5" dirty="0">
                <a:latin typeface="Arial"/>
                <a:cs typeface="Arial"/>
              </a:rPr>
              <a:t>the tuples in the output to </a:t>
            </a:r>
            <a:r>
              <a:rPr sz="1100" spc="-10" dirty="0">
                <a:latin typeface="Arial"/>
                <a:cs typeface="Arial"/>
              </a:rPr>
              <a:t>be</a:t>
            </a:r>
            <a:r>
              <a:rPr sz="1100" spc="-170" dirty="0">
                <a:latin typeface="Arial"/>
                <a:cs typeface="Arial"/>
              </a:rPr>
              <a:t> </a:t>
            </a:r>
            <a:r>
              <a:rPr sz="1100" dirty="0">
                <a:latin typeface="Arial"/>
                <a:cs typeface="Arial"/>
              </a:rPr>
              <a:t>sorted</a:t>
            </a:r>
          </a:p>
          <a:p>
            <a:pPr marL="38100">
              <a:lnSpc>
                <a:spcPct val="100000"/>
              </a:lnSpc>
              <a:spcBef>
                <a:spcPts val="334"/>
              </a:spcBef>
            </a:pPr>
            <a:r>
              <a:rPr sz="1200" spc="127" baseline="6944" dirty="0">
                <a:solidFill>
                  <a:srgbClr val="3333B2"/>
                </a:solidFill>
                <a:latin typeface="Arial Black"/>
                <a:cs typeface="Arial Black"/>
              </a:rPr>
              <a:t>e </a:t>
            </a:r>
            <a:r>
              <a:rPr lang="en-US" sz="1100" spc="-5" dirty="0">
                <a:latin typeface="Arial"/>
                <a:cs typeface="Arial"/>
              </a:rPr>
              <a:t>B</a:t>
            </a:r>
            <a:r>
              <a:rPr sz="1100" spc="-5" dirty="0">
                <a:latin typeface="Arial"/>
                <a:cs typeface="Arial"/>
              </a:rPr>
              <a:t>y using </a:t>
            </a:r>
            <a:r>
              <a:rPr sz="1100" spc="-10" dirty="0">
                <a:solidFill>
                  <a:srgbClr val="0000FF"/>
                </a:solidFill>
                <a:latin typeface="Arial"/>
                <a:cs typeface="Arial"/>
              </a:rPr>
              <a:t>ORDER BY </a:t>
            </a:r>
            <a:r>
              <a:rPr sz="1100" spc="-5" dirty="0">
                <a:latin typeface="Arial"/>
                <a:cs typeface="Arial"/>
              </a:rPr>
              <a:t>clause after </a:t>
            </a:r>
            <a:r>
              <a:rPr sz="1100" spc="-15" dirty="0">
                <a:latin typeface="Arial"/>
                <a:cs typeface="Arial"/>
              </a:rPr>
              <a:t>any</a:t>
            </a:r>
            <a:r>
              <a:rPr sz="1100" spc="-155" dirty="0">
                <a:latin typeface="Arial"/>
                <a:cs typeface="Arial"/>
              </a:rPr>
              <a:t> </a:t>
            </a:r>
            <a:r>
              <a:rPr sz="1100" spc="-10" dirty="0">
                <a:solidFill>
                  <a:srgbClr val="0000FF"/>
                </a:solidFill>
                <a:latin typeface="Arial"/>
                <a:cs typeface="Arial"/>
              </a:rPr>
              <a:t>WHERE</a:t>
            </a:r>
            <a:r>
              <a:rPr sz="1100" spc="-10" dirty="0">
                <a:latin typeface="Arial"/>
                <a:cs typeface="Arial"/>
              </a:rPr>
              <a:t>,</a:t>
            </a:r>
            <a:endParaRPr sz="1100" dirty="0">
              <a:latin typeface="Arial"/>
              <a:cs typeface="Arial"/>
            </a:endParaRPr>
          </a:p>
          <a:p>
            <a:pPr marL="186055">
              <a:lnSpc>
                <a:spcPct val="100000"/>
              </a:lnSpc>
              <a:spcBef>
                <a:spcPts val="35"/>
              </a:spcBef>
            </a:pPr>
            <a:r>
              <a:rPr sz="1100" spc="-15" dirty="0">
                <a:solidFill>
                  <a:srgbClr val="0000FF"/>
                </a:solidFill>
                <a:latin typeface="Arial"/>
                <a:cs typeface="Arial"/>
              </a:rPr>
              <a:t>GROUP </a:t>
            </a:r>
            <a:r>
              <a:rPr sz="1100" spc="-10" dirty="0">
                <a:solidFill>
                  <a:srgbClr val="0000FF"/>
                </a:solidFill>
                <a:latin typeface="Arial"/>
                <a:cs typeface="Arial"/>
              </a:rPr>
              <a:t>BY </a:t>
            </a:r>
            <a:r>
              <a:rPr sz="1100" spc="-5" dirty="0">
                <a:latin typeface="Arial"/>
                <a:cs typeface="Arial"/>
              </a:rPr>
              <a:t>or </a:t>
            </a:r>
            <a:r>
              <a:rPr sz="1100" spc="-20" dirty="0">
                <a:solidFill>
                  <a:srgbClr val="0000FF"/>
                </a:solidFill>
                <a:latin typeface="Arial"/>
                <a:cs typeface="Arial"/>
              </a:rPr>
              <a:t>HAVING</a:t>
            </a:r>
            <a:r>
              <a:rPr sz="1100" dirty="0">
                <a:solidFill>
                  <a:srgbClr val="0000FF"/>
                </a:solidFill>
                <a:latin typeface="Arial"/>
                <a:cs typeface="Arial"/>
              </a:rPr>
              <a:t> </a:t>
            </a:r>
            <a:r>
              <a:rPr sz="1100" spc="-5" dirty="0">
                <a:latin typeface="Arial"/>
                <a:cs typeface="Arial"/>
              </a:rPr>
              <a:t>clauses</a:t>
            </a:r>
            <a:endParaRPr sz="1100" dirty="0">
              <a:latin typeface="Arial"/>
              <a:cs typeface="Arial"/>
            </a:endParaRPr>
          </a:p>
          <a:p>
            <a:pPr marL="38100">
              <a:lnSpc>
                <a:spcPct val="100000"/>
              </a:lnSpc>
              <a:spcBef>
                <a:spcPts val="330"/>
              </a:spcBef>
            </a:pPr>
            <a:r>
              <a:rPr sz="1200" spc="127" baseline="6944" dirty="0">
                <a:solidFill>
                  <a:srgbClr val="3333B2"/>
                </a:solidFill>
                <a:latin typeface="Arial Black"/>
                <a:cs typeface="Arial Black"/>
              </a:rPr>
              <a:t>e </a:t>
            </a:r>
            <a:r>
              <a:rPr sz="1100" spc="-10" dirty="0">
                <a:solidFill>
                  <a:srgbClr val="0000FF"/>
                </a:solidFill>
                <a:latin typeface="Arial"/>
                <a:cs typeface="Arial"/>
              </a:rPr>
              <a:t>ORDER BY </a:t>
            </a:r>
            <a:r>
              <a:rPr sz="1100" spc="-5" dirty="0">
                <a:latin typeface="Arial"/>
                <a:cs typeface="Arial"/>
              </a:rPr>
              <a:t>is </a:t>
            </a:r>
            <a:r>
              <a:rPr sz="1100" spc="-15" dirty="0">
                <a:latin typeface="Arial"/>
                <a:cs typeface="Arial"/>
              </a:rPr>
              <a:t>followed </a:t>
            </a:r>
            <a:r>
              <a:rPr sz="1100" spc="-20" dirty="0">
                <a:latin typeface="Arial"/>
                <a:cs typeface="Arial"/>
              </a:rPr>
              <a:t>by </a:t>
            </a:r>
            <a:r>
              <a:rPr sz="1100" spc="-10" dirty="0">
                <a:latin typeface="Arial"/>
                <a:cs typeface="Arial"/>
              </a:rPr>
              <a:t>a </a:t>
            </a:r>
            <a:r>
              <a:rPr sz="1100" spc="-5" dirty="0">
                <a:latin typeface="Arial"/>
                <a:cs typeface="Arial"/>
              </a:rPr>
              <a:t>list of</a:t>
            </a:r>
            <a:r>
              <a:rPr sz="1100" spc="-140" dirty="0">
                <a:latin typeface="Arial"/>
                <a:cs typeface="Arial"/>
              </a:rPr>
              <a:t> </a:t>
            </a:r>
            <a:r>
              <a:rPr sz="1100" spc="-5" dirty="0">
                <a:latin typeface="Arial"/>
                <a:cs typeface="Arial"/>
              </a:rPr>
              <a:t>attributes</a:t>
            </a:r>
            <a:endParaRPr sz="1100" dirty="0">
              <a:latin typeface="Arial"/>
              <a:cs typeface="Arial"/>
            </a:endParaRPr>
          </a:p>
          <a:p>
            <a:pPr marL="186055" marR="30480" indent="-148590">
              <a:lnSpc>
                <a:spcPct val="102600"/>
              </a:lnSpc>
              <a:spcBef>
                <a:spcPts val="300"/>
              </a:spcBef>
            </a:pPr>
            <a:r>
              <a:rPr sz="1200" spc="127" baseline="6944" dirty="0">
                <a:solidFill>
                  <a:srgbClr val="3333B2"/>
                </a:solidFill>
                <a:latin typeface="Arial Black"/>
                <a:cs typeface="Arial Black"/>
              </a:rPr>
              <a:t>e </a:t>
            </a:r>
            <a:r>
              <a:rPr lang="en-US" sz="1100" spc="-5" dirty="0">
                <a:latin typeface="Arial"/>
                <a:cs typeface="Arial"/>
              </a:rPr>
              <a:t>O</a:t>
            </a:r>
            <a:r>
              <a:rPr sz="1100" spc="-5" dirty="0">
                <a:latin typeface="Arial"/>
                <a:cs typeface="Arial"/>
              </a:rPr>
              <a:t>rdering is </a:t>
            </a:r>
            <a:r>
              <a:rPr sz="1100" spc="-20" dirty="0">
                <a:latin typeface="Arial"/>
                <a:cs typeface="Arial"/>
              </a:rPr>
              <a:t>by </a:t>
            </a:r>
            <a:r>
              <a:rPr sz="1100" spc="-10" dirty="0">
                <a:latin typeface="Arial"/>
                <a:cs typeface="Arial"/>
              </a:rPr>
              <a:t>default </a:t>
            </a:r>
            <a:r>
              <a:rPr sz="1100" spc="-5" dirty="0">
                <a:latin typeface="Arial"/>
                <a:cs typeface="Arial"/>
              </a:rPr>
              <a:t>ascending (</a:t>
            </a:r>
            <a:r>
              <a:rPr sz="1100" spc="-5" dirty="0">
                <a:solidFill>
                  <a:srgbClr val="0000FF"/>
                </a:solidFill>
                <a:latin typeface="Arial"/>
                <a:cs typeface="Arial"/>
              </a:rPr>
              <a:t>ASC</a:t>
            </a:r>
            <a:r>
              <a:rPr sz="1100" spc="-5" dirty="0">
                <a:latin typeface="Arial"/>
                <a:cs typeface="Arial"/>
              </a:rPr>
              <a:t>) </a:t>
            </a:r>
            <a:r>
              <a:rPr sz="1100" spc="-15" dirty="0">
                <a:latin typeface="Arial"/>
                <a:cs typeface="Arial"/>
              </a:rPr>
              <a:t>but we </a:t>
            </a:r>
            <a:r>
              <a:rPr sz="1100" spc="-5" dirty="0">
                <a:latin typeface="Arial"/>
                <a:cs typeface="Arial"/>
              </a:rPr>
              <a:t>can  specify </a:t>
            </a:r>
            <a:r>
              <a:rPr sz="1100" spc="-10" dirty="0">
                <a:solidFill>
                  <a:srgbClr val="0000FF"/>
                </a:solidFill>
                <a:latin typeface="Arial"/>
                <a:cs typeface="Arial"/>
              </a:rPr>
              <a:t>DESC </a:t>
            </a:r>
            <a:r>
              <a:rPr sz="1100" spc="-5" dirty="0">
                <a:latin typeface="Arial"/>
                <a:cs typeface="Arial"/>
              </a:rPr>
              <a:t>after </a:t>
            </a:r>
            <a:r>
              <a:rPr sz="1100" spc="-15" dirty="0">
                <a:latin typeface="Arial"/>
                <a:cs typeface="Arial"/>
              </a:rPr>
              <a:t>any </a:t>
            </a:r>
            <a:r>
              <a:rPr sz="1100" spc="-5" dirty="0">
                <a:latin typeface="Arial"/>
                <a:cs typeface="Arial"/>
              </a:rPr>
              <a:t>attribute </a:t>
            </a:r>
            <a:r>
              <a:rPr sz="1100" spc="-20" dirty="0">
                <a:latin typeface="Arial"/>
                <a:cs typeface="Arial"/>
              </a:rPr>
              <a:t>for </a:t>
            </a:r>
            <a:r>
              <a:rPr sz="1100" spc="-5" dirty="0">
                <a:latin typeface="Arial"/>
                <a:cs typeface="Arial"/>
              </a:rPr>
              <a:t>descending</a:t>
            </a:r>
            <a:r>
              <a:rPr sz="1100" spc="-195" dirty="0">
                <a:latin typeface="Arial"/>
                <a:cs typeface="Arial"/>
              </a:rPr>
              <a:t> </a:t>
            </a:r>
            <a:r>
              <a:rPr sz="1100" spc="-5" dirty="0">
                <a:latin typeface="Arial"/>
                <a:cs typeface="Arial"/>
              </a:rPr>
              <a:t>order</a:t>
            </a:r>
            <a:endParaRPr sz="1100" dirty="0">
              <a:latin typeface="Arial"/>
              <a:cs typeface="Arial"/>
            </a:endParaRPr>
          </a:p>
        </p:txBody>
      </p:sp>
    </p:spTree>
    <p:extLst>
      <p:ext uri="{BB962C8B-B14F-4D97-AF65-F5344CB8AC3E}">
        <p14:creationId xmlns:p14="http://schemas.microsoft.com/office/powerpoint/2010/main" val="1222779455"/>
      </p:ext>
    </p:extLst>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Subqueries </a:t>
            </a:r>
            <a:r>
              <a:rPr sz="400" spc="-5" dirty="0">
                <a:solidFill>
                  <a:srgbClr val="999999"/>
                </a:solidFill>
                <a:latin typeface="Arial"/>
                <a:cs typeface="Arial"/>
              </a:rPr>
              <a:t> </a:t>
            </a:r>
            <a:r>
              <a:rPr sz="400" spc="-5" dirty="0">
                <a:latin typeface="Arial"/>
                <a:cs typeface="Arial"/>
                <a:hlinkClick r:id="rId3" action="ppaction://hlinksldjump"/>
              </a:rPr>
              <a:t>Aggregation</a:t>
            </a:r>
            <a:r>
              <a:rPr sz="400" spc="-25" dirty="0">
                <a:latin typeface="Arial"/>
                <a:cs typeface="Arial"/>
                <a:hlinkClick r:id="rId3" action="ppaction://hlinksldjump"/>
              </a:rPr>
              <a:t> </a:t>
            </a:r>
            <a:r>
              <a:rPr sz="400" spc="-5" dirty="0">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375535" cy="244475"/>
          </a:xfrm>
          <a:prstGeom prst="rect">
            <a:avLst/>
          </a:prstGeom>
        </p:spPr>
        <p:txBody>
          <a:bodyPr vert="horz" wrap="square" lIns="0" tIns="17145" rIns="0" bIns="0" rtlCol="0">
            <a:spAutoFit/>
          </a:bodyPr>
          <a:lstStyle/>
          <a:p>
            <a:pPr marL="12700">
              <a:lnSpc>
                <a:spcPct val="100000"/>
              </a:lnSpc>
              <a:spcBef>
                <a:spcPts val="135"/>
              </a:spcBef>
            </a:pPr>
            <a:r>
              <a:rPr spc="15" dirty="0"/>
              <a:t>Other </a:t>
            </a:r>
            <a:r>
              <a:rPr spc="20" dirty="0"/>
              <a:t>Comparison</a:t>
            </a:r>
            <a:r>
              <a:rPr spc="-75" dirty="0"/>
              <a:t> </a:t>
            </a:r>
            <a:r>
              <a:rPr spc="15" dirty="0"/>
              <a:t>Operators</a:t>
            </a:r>
          </a:p>
        </p:txBody>
      </p:sp>
      <p:sp>
        <p:nvSpPr>
          <p:cNvPr id="35" name="object 35"/>
          <p:cNvSpPr txBox="1"/>
          <p:nvPr/>
        </p:nvSpPr>
        <p:spPr>
          <a:xfrm>
            <a:off x="270992" y="1109787"/>
            <a:ext cx="3423285" cy="1038225"/>
          </a:xfrm>
          <a:prstGeom prst="rect">
            <a:avLst/>
          </a:prstGeom>
        </p:spPr>
        <p:txBody>
          <a:bodyPr vert="horz" wrap="square" lIns="0" tIns="55244" rIns="0" bIns="0" rtlCol="0">
            <a:spAutoFit/>
          </a:bodyPr>
          <a:lstStyle/>
          <a:p>
            <a:pPr marL="38100">
              <a:lnSpc>
                <a:spcPct val="100000"/>
              </a:lnSpc>
              <a:spcBef>
                <a:spcPts val="434"/>
              </a:spcBef>
            </a:pPr>
            <a:r>
              <a:rPr sz="1200" spc="127" baseline="6944" dirty="0">
                <a:solidFill>
                  <a:srgbClr val="3333B2"/>
                </a:solidFill>
                <a:latin typeface="Arial Black"/>
                <a:cs typeface="Arial Black"/>
              </a:rPr>
              <a:t>e </a:t>
            </a:r>
            <a:r>
              <a:rPr sz="1100" spc="-5" dirty="0">
                <a:solidFill>
                  <a:srgbClr val="0000FF"/>
                </a:solidFill>
                <a:latin typeface="Arial"/>
                <a:cs typeface="Arial"/>
              </a:rPr>
              <a:t>IN</a:t>
            </a:r>
            <a:r>
              <a:rPr sz="1100" spc="-5" dirty="0">
                <a:latin typeface="Arial"/>
                <a:cs typeface="Arial"/>
              </a:rPr>
              <a:t>, </a:t>
            </a:r>
            <a:r>
              <a:rPr sz="1100" spc="-10" dirty="0">
                <a:latin typeface="Arial"/>
                <a:cs typeface="Arial"/>
              </a:rPr>
              <a:t>e.g., </a:t>
            </a:r>
            <a:r>
              <a:rPr sz="1100" spc="-10" dirty="0">
                <a:solidFill>
                  <a:srgbClr val="0000FF"/>
                </a:solidFill>
                <a:latin typeface="Arial"/>
                <a:cs typeface="Arial"/>
              </a:rPr>
              <a:t>a </a:t>
            </a:r>
            <a:r>
              <a:rPr sz="1100" spc="-5" dirty="0">
                <a:solidFill>
                  <a:srgbClr val="0000FF"/>
                </a:solidFill>
                <a:latin typeface="Arial"/>
                <a:cs typeface="Arial"/>
              </a:rPr>
              <a:t>IN (b1, b2, . . .</a:t>
            </a:r>
            <a:r>
              <a:rPr sz="1100" spc="-175" dirty="0">
                <a:solidFill>
                  <a:srgbClr val="0000FF"/>
                </a:solidFill>
                <a:latin typeface="Arial"/>
                <a:cs typeface="Arial"/>
              </a:rPr>
              <a:t> </a:t>
            </a:r>
            <a:r>
              <a:rPr sz="1100" spc="-5" dirty="0">
                <a:solidFill>
                  <a:srgbClr val="0000FF"/>
                </a:solidFill>
                <a:latin typeface="Arial"/>
                <a:cs typeface="Arial"/>
              </a:rPr>
              <a:t>)</a:t>
            </a:r>
            <a:endParaRPr sz="1100" dirty="0">
              <a:latin typeface="Arial"/>
              <a:cs typeface="Arial"/>
            </a:endParaRPr>
          </a:p>
          <a:p>
            <a:pPr marL="38100">
              <a:lnSpc>
                <a:spcPct val="100000"/>
              </a:lnSpc>
              <a:spcBef>
                <a:spcPts val="334"/>
              </a:spcBef>
            </a:pPr>
            <a:r>
              <a:rPr sz="1200" spc="127" baseline="6944" dirty="0">
                <a:solidFill>
                  <a:srgbClr val="3333B2"/>
                </a:solidFill>
                <a:latin typeface="Arial Black"/>
                <a:cs typeface="Arial Black"/>
              </a:rPr>
              <a:t>e </a:t>
            </a:r>
            <a:r>
              <a:rPr sz="1100" spc="-10" dirty="0">
                <a:solidFill>
                  <a:srgbClr val="0000FF"/>
                </a:solidFill>
                <a:latin typeface="Arial"/>
                <a:cs typeface="Arial"/>
              </a:rPr>
              <a:t>BETWEEN</a:t>
            </a:r>
            <a:r>
              <a:rPr sz="1100" spc="-10" dirty="0">
                <a:latin typeface="Arial"/>
                <a:cs typeface="Arial"/>
              </a:rPr>
              <a:t>, e.g., </a:t>
            </a:r>
            <a:r>
              <a:rPr sz="1100" spc="-10" dirty="0">
                <a:solidFill>
                  <a:srgbClr val="0000FF"/>
                </a:solidFill>
                <a:latin typeface="Arial"/>
                <a:cs typeface="Arial"/>
              </a:rPr>
              <a:t>a BETWEEN b and</a:t>
            </a:r>
            <a:r>
              <a:rPr sz="1100" spc="-145" dirty="0">
                <a:solidFill>
                  <a:srgbClr val="0000FF"/>
                </a:solidFill>
                <a:latin typeface="Arial"/>
                <a:cs typeface="Arial"/>
              </a:rPr>
              <a:t> </a:t>
            </a:r>
            <a:r>
              <a:rPr sz="1100" spc="-5" dirty="0">
                <a:solidFill>
                  <a:srgbClr val="0000FF"/>
                </a:solidFill>
                <a:latin typeface="Arial"/>
                <a:cs typeface="Arial"/>
              </a:rPr>
              <a:t>c</a:t>
            </a:r>
            <a:endParaRPr sz="1100" dirty="0">
              <a:latin typeface="Arial"/>
              <a:cs typeface="Arial"/>
            </a:endParaRPr>
          </a:p>
          <a:p>
            <a:pPr marL="38100">
              <a:lnSpc>
                <a:spcPct val="100000"/>
              </a:lnSpc>
              <a:spcBef>
                <a:spcPts val="330"/>
              </a:spcBef>
            </a:pPr>
            <a:r>
              <a:rPr sz="1200" spc="127" baseline="6944" dirty="0">
                <a:solidFill>
                  <a:srgbClr val="3333B2"/>
                </a:solidFill>
                <a:latin typeface="Arial Black"/>
                <a:cs typeface="Arial Black"/>
              </a:rPr>
              <a:t>e </a:t>
            </a:r>
            <a:r>
              <a:rPr sz="1100" spc="-5" dirty="0">
                <a:solidFill>
                  <a:srgbClr val="0000FF"/>
                </a:solidFill>
                <a:latin typeface="Arial"/>
                <a:cs typeface="Arial"/>
              </a:rPr>
              <a:t>LIKE </a:t>
            </a:r>
            <a:r>
              <a:rPr sz="1100" spc="-10" dirty="0">
                <a:latin typeface="Arial"/>
                <a:cs typeface="Arial"/>
              </a:rPr>
              <a:t>— </a:t>
            </a:r>
            <a:r>
              <a:rPr sz="1100" spc="-5" dirty="0">
                <a:latin typeface="Arial"/>
                <a:cs typeface="Arial"/>
              </a:rPr>
              <a:t>see </a:t>
            </a:r>
            <a:r>
              <a:rPr sz="1100" spc="-15" dirty="0">
                <a:latin typeface="Arial"/>
                <a:cs typeface="Arial"/>
              </a:rPr>
              <a:t>next</a:t>
            </a:r>
            <a:r>
              <a:rPr sz="1100" spc="-170" dirty="0">
                <a:latin typeface="Arial"/>
                <a:cs typeface="Arial"/>
              </a:rPr>
              <a:t> </a:t>
            </a:r>
            <a:r>
              <a:rPr sz="1100" spc="-5" dirty="0">
                <a:latin typeface="Arial"/>
                <a:cs typeface="Arial"/>
              </a:rPr>
              <a:t>slide</a:t>
            </a:r>
            <a:endParaRPr sz="1100" dirty="0">
              <a:latin typeface="Arial"/>
              <a:cs typeface="Arial"/>
            </a:endParaRPr>
          </a:p>
          <a:p>
            <a:pPr marL="186055" marR="30480" indent="-148590">
              <a:lnSpc>
                <a:spcPct val="102600"/>
              </a:lnSpc>
              <a:spcBef>
                <a:spcPts val="300"/>
              </a:spcBef>
            </a:pPr>
            <a:r>
              <a:rPr sz="1200" spc="127" baseline="6944" dirty="0">
                <a:solidFill>
                  <a:srgbClr val="3333B2"/>
                </a:solidFill>
                <a:latin typeface="Arial Black"/>
                <a:cs typeface="Arial Black"/>
              </a:rPr>
              <a:t>e </a:t>
            </a:r>
            <a:r>
              <a:rPr sz="1100" spc="-10" dirty="0">
                <a:solidFill>
                  <a:srgbClr val="0000FF"/>
                </a:solidFill>
                <a:latin typeface="Arial"/>
                <a:cs typeface="Arial"/>
              </a:rPr>
              <a:t>REGEX</a:t>
            </a:r>
            <a:r>
              <a:rPr sz="1100" spc="-10" dirty="0">
                <a:latin typeface="Arial"/>
                <a:cs typeface="Arial"/>
              </a:rPr>
              <a:t>, e.g., </a:t>
            </a:r>
            <a:r>
              <a:rPr sz="1100" spc="-10" dirty="0">
                <a:solidFill>
                  <a:srgbClr val="0000FF"/>
                </a:solidFill>
                <a:latin typeface="Arial"/>
                <a:cs typeface="Arial"/>
              </a:rPr>
              <a:t>a REGEX b </a:t>
            </a:r>
            <a:r>
              <a:rPr sz="1100" spc="-10" dirty="0">
                <a:latin typeface="Arial"/>
                <a:cs typeface="Arial"/>
              </a:rPr>
              <a:t>— </a:t>
            </a:r>
            <a:r>
              <a:rPr sz="1100" spc="-10" dirty="0">
                <a:solidFill>
                  <a:srgbClr val="0000FF"/>
                </a:solidFill>
                <a:latin typeface="Arial"/>
                <a:cs typeface="Arial"/>
              </a:rPr>
              <a:t>a </a:t>
            </a:r>
            <a:r>
              <a:rPr sz="1100" spc="-5" dirty="0">
                <a:latin typeface="Arial"/>
                <a:cs typeface="Arial"/>
              </a:rPr>
              <a:t>matches pattern </a:t>
            </a:r>
            <a:r>
              <a:rPr sz="1100" spc="-5" dirty="0">
                <a:solidFill>
                  <a:srgbClr val="0000FF"/>
                </a:solidFill>
                <a:latin typeface="Arial"/>
                <a:cs typeface="Arial"/>
              </a:rPr>
              <a:t>b</a:t>
            </a:r>
            <a:r>
              <a:rPr sz="1100" spc="-5" dirty="0">
                <a:latin typeface="Arial"/>
                <a:cs typeface="Arial"/>
              </a:rPr>
              <a:t>,  </a:t>
            </a:r>
            <a:r>
              <a:rPr sz="1100" spc="-10" dirty="0">
                <a:latin typeface="Arial"/>
                <a:cs typeface="Arial"/>
              </a:rPr>
              <a:t>where </a:t>
            </a:r>
            <a:r>
              <a:rPr sz="1100" spc="-10" dirty="0">
                <a:solidFill>
                  <a:srgbClr val="0000FF"/>
                </a:solidFill>
                <a:latin typeface="Arial"/>
                <a:cs typeface="Arial"/>
              </a:rPr>
              <a:t>b </a:t>
            </a:r>
            <a:r>
              <a:rPr sz="1100" spc="-5" dirty="0">
                <a:latin typeface="Arial"/>
                <a:cs typeface="Arial"/>
              </a:rPr>
              <a:t>uses regular </a:t>
            </a:r>
            <a:r>
              <a:rPr sz="1100" spc="-10" dirty="0">
                <a:latin typeface="Arial"/>
                <a:cs typeface="Arial"/>
              </a:rPr>
              <a:t>expression </a:t>
            </a:r>
            <a:r>
              <a:rPr sz="1100" spc="-5" dirty="0">
                <a:latin typeface="Arial"/>
                <a:cs typeface="Arial"/>
              </a:rPr>
              <a:t>syntax (see</a:t>
            </a:r>
            <a:r>
              <a:rPr sz="1100" spc="-25" dirty="0">
                <a:latin typeface="Arial"/>
                <a:cs typeface="Arial"/>
              </a:rPr>
              <a:t> </a:t>
            </a:r>
            <a:r>
              <a:rPr sz="1100" spc="-5" dirty="0">
                <a:latin typeface="Arial"/>
                <a:cs typeface="Arial"/>
              </a:rPr>
              <a:t>online)</a:t>
            </a:r>
            <a:endParaRPr sz="1100" dirty="0">
              <a:latin typeface="Arial"/>
              <a:cs typeface="Arial"/>
            </a:endParaRPr>
          </a:p>
        </p:txBody>
      </p:sp>
    </p:spTree>
    <p:extLst>
      <p:ext uri="{BB962C8B-B14F-4D97-AF65-F5344CB8AC3E}">
        <p14:creationId xmlns:p14="http://schemas.microsoft.com/office/powerpoint/2010/main" val="3459054047"/>
      </p:ext>
    </p:extLst>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515620" cy="33083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20"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queries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Subqueries </a:t>
            </a:r>
            <a:r>
              <a:rPr sz="400" spc="-5" dirty="0">
                <a:solidFill>
                  <a:srgbClr val="999999"/>
                </a:solidFill>
                <a:latin typeface="Arial"/>
                <a:cs typeface="Arial"/>
              </a:rPr>
              <a:t> </a:t>
            </a:r>
            <a:r>
              <a:rPr sz="400" spc="-5" dirty="0">
                <a:latin typeface="Arial"/>
                <a:cs typeface="Arial"/>
                <a:hlinkClick r:id="rId3" action="ppaction://hlinksldjump"/>
              </a:rPr>
              <a:t>Aggregation</a:t>
            </a:r>
            <a:r>
              <a:rPr sz="400" spc="-25" dirty="0">
                <a:latin typeface="Arial"/>
                <a:cs typeface="Arial"/>
                <a:hlinkClick r:id="rId3" action="ppaction://hlinksldjump"/>
              </a:rPr>
              <a:t> </a:t>
            </a:r>
            <a:r>
              <a:rPr sz="400" spc="-5" dirty="0">
                <a:latin typeface="Arial"/>
                <a:cs typeface="Arial"/>
                <a:hlinkClick r:id="rId3" action="ppaction://hlinksldjump"/>
              </a:rPr>
              <a:t>Queries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7" name="object 7"/>
          <p:cNvSpPr/>
          <p:nvPr/>
        </p:nvSpPr>
        <p:spPr>
          <a:xfrm>
            <a:off x="2619031" y="33813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8" name="object 8"/>
          <p:cNvSpPr/>
          <p:nvPr/>
        </p:nvSpPr>
        <p:spPr>
          <a:xfrm>
            <a:off x="2629523" y="337107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9"/>
          <p:cNvSpPr/>
          <p:nvPr/>
        </p:nvSpPr>
        <p:spPr>
          <a:xfrm>
            <a:off x="2639683" y="3360914"/>
            <a:ext cx="43180" cy="30480"/>
          </a:xfrm>
          <a:custGeom>
            <a:avLst/>
            <a:gdLst/>
            <a:ahLst/>
            <a:cxnLst/>
            <a:rect l="l" t="t" r="r" b="b"/>
            <a:pathLst>
              <a:path w="43180"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10"/>
          <p:cNvSpPr/>
          <p:nvPr/>
        </p:nvSpPr>
        <p:spPr>
          <a:xfrm>
            <a:off x="255586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2911882" y="33863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2899182"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6"/>
          <p:cNvSpPr/>
          <p:nvPr/>
        </p:nvSpPr>
        <p:spPr>
          <a:xfrm>
            <a:off x="2911882"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7"/>
          <p:cNvSpPr/>
          <p:nvPr/>
        </p:nvSpPr>
        <p:spPr>
          <a:xfrm>
            <a:off x="3166314"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179014"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9"/>
          <p:cNvSpPr/>
          <p:nvPr/>
        </p:nvSpPr>
        <p:spPr>
          <a:xfrm>
            <a:off x="3179014"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20"/>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object 21"/>
          <p:cNvSpPr/>
          <p:nvPr/>
        </p:nvSpPr>
        <p:spPr>
          <a:xfrm>
            <a:off x="3166314" y="33990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22"/>
          <p:cNvSpPr/>
          <p:nvPr/>
        </p:nvSpPr>
        <p:spPr>
          <a:xfrm>
            <a:off x="3179014" y="3411715"/>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3"/>
          <p:cNvSpPr/>
          <p:nvPr/>
        </p:nvSpPr>
        <p:spPr>
          <a:xfrm>
            <a:off x="3433433" y="3360914"/>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3446133"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3446133" y="33863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3433433" y="33990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7"/>
          <p:cNvSpPr/>
          <p:nvPr/>
        </p:nvSpPr>
        <p:spPr>
          <a:xfrm>
            <a:off x="3446133" y="34117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8" name="object 28"/>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object 29"/>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object 30"/>
          <p:cNvSpPr/>
          <p:nvPr/>
        </p:nvSpPr>
        <p:spPr>
          <a:xfrm>
            <a:off x="3624351" y="3360914"/>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31" name="object 31"/>
          <p:cNvSpPr/>
          <p:nvPr/>
        </p:nvSpPr>
        <p:spPr>
          <a:xfrm>
            <a:off x="3609111"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3776753" y="3360914"/>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3" name="object 33"/>
          <p:cNvSpPr/>
          <p:nvPr/>
        </p:nvSpPr>
        <p:spPr>
          <a:xfrm>
            <a:off x="3812313" y="3378695"/>
            <a:ext cx="30480" cy="12700"/>
          </a:xfrm>
          <a:custGeom>
            <a:avLst/>
            <a:gdLst/>
            <a:ahLst/>
            <a:cxnLst/>
            <a:rect l="l" t="t" r="r" b="b"/>
            <a:pathLst>
              <a:path w="30479" h="12700">
                <a:moveTo>
                  <a:pt x="30480" y="0"/>
                </a:moveTo>
                <a:lnTo>
                  <a:pt x="15240" y="12699"/>
                </a:lnTo>
                <a:lnTo>
                  <a:pt x="0" y="0"/>
                </a:lnTo>
              </a:path>
            </a:pathLst>
          </a:custGeom>
          <a:ln w="5060">
            <a:solidFill>
              <a:srgbClr val="ADADE0"/>
            </a:solidFill>
          </a:ln>
        </p:spPr>
        <p:txBody>
          <a:bodyPr wrap="square" lIns="0" tIns="0" rIns="0" bIns="0" rtlCol="0"/>
          <a:lstStyle/>
          <a:p>
            <a:endParaRPr/>
          </a:p>
        </p:txBody>
      </p:sp>
      <p:sp>
        <p:nvSpPr>
          <p:cNvPr id="34" name="object 34"/>
          <p:cNvSpPr txBox="1">
            <a:spLocks noGrp="1"/>
          </p:cNvSpPr>
          <p:nvPr>
            <p:ph type="title"/>
          </p:nvPr>
        </p:nvSpPr>
        <p:spPr>
          <a:xfrm>
            <a:off x="95300" y="59814"/>
            <a:ext cx="2749550" cy="244475"/>
          </a:xfrm>
          <a:prstGeom prst="rect">
            <a:avLst/>
          </a:prstGeom>
        </p:spPr>
        <p:txBody>
          <a:bodyPr vert="horz" wrap="square" lIns="0" tIns="17145" rIns="0" bIns="0" rtlCol="0">
            <a:spAutoFit/>
          </a:bodyPr>
          <a:lstStyle/>
          <a:p>
            <a:pPr marL="12700">
              <a:lnSpc>
                <a:spcPct val="100000"/>
              </a:lnSpc>
              <a:spcBef>
                <a:spcPts val="135"/>
              </a:spcBef>
            </a:pPr>
            <a:r>
              <a:rPr spc="15" dirty="0"/>
              <a:t>String </a:t>
            </a:r>
            <a:r>
              <a:rPr spc="10" dirty="0"/>
              <a:t>Pattern </a:t>
            </a:r>
            <a:r>
              <a:rPr spc="15" dirty="0"/>
              <a:t>Matching with</a:t>
            </a:r>
            <a:r>
              <a:rPr spc="-50" dirty="0"/>
              <a:t> </a:t>
            </a:r>
            <a:r>
              <a:rPr spc="15" dirty="0"/>
              <a:t>LIKE</a:t>
            </a:r>
          </a:p>
        </p:txBody>
      </p:sp>
      <p:sp>
        <p:nvSpPr>
          <p:cNvPr id="35" name="object 35"/>
          <p:cNvSpPr txBox="1"/>
          <p:nvPr/>
        </p:nvSpPr>
        <p:spPr>
          <a:xfrm>
            <a:off x="167297" y="339749"/>
            <a:ext cx="3410585" cy="850265"/>
          </a:xfrm>
          <a:prstGeom prst="rect">
            <a:avLst/>
          </a:prstGeom>
        </p:spPr>
        <p:txBody>
          <a:bodyPr vert="horz" wrap="square" lIns="0" tIns="11430" rIns="0" bIns="0" rtlCol="0">
            <a:spAutoFit/>
          </a:bodyPr>
          <a:lstStyle/>
          <a:p>
            <a:pPr marL="12700">
              <a:lnSpc>
                <a:spcPct val="100000"/>
              </a:lnSpc>
              <a:spcBef>
                <a:spcPts val="90"/>
              </a:spcBef>
            </a:pPr>
            <a:r>
              <a:rPr sz="1100" spc="-10" dirty="0">
                <a:latin typeface="Arial"/>
                <a:cs typeface="Arial"/>
              </a:rPr>
              <a:t>Which pubs </a:t>
            </a:r>
            <a:r>
              <a:rPr sz="1100" spc="-20" dirty="0">
                <a:latin typeface="Arial"/>
                <a:cs typeface="Arial"/>
              </a:rPr>
              <a:t>have </a:t>
            </a:r>
            <a:r>
              <a:rPr sz="1100" spc="-10" dirty="0">
                <a:latin typeface="Arial"/>
                <a:cs typeface="Arial"/>
              </a:rPr>
              <a:t>names </a:t>
            </a:r>
            <a:r>
              <a:rPr sz="1100" spc="-5" dirty="0">
                <a:latin typeface="Arial"/>
                <a:cs typeface="Arial"/>
              </a:rPr>
              <a:t>that include the string</a:t>
            </a:r>
            <a:r>
              <a:rPr sz="1100" spc="35" dirty="0">
                <a:latin typeface="Arial"/>
                <a:cs typeface="Arial"/>
              </a:rPr>
              <a:t> </a:t>
            </a:r>
            <a:r>
              <a:rPr sz="1100" spc="-5" dirty="0">
                <a:latin typeface="Arial"/>
                <a:cs typeface="Arial"/>
              </a:rPr>
              <a:t>’Hare’?:</a:t>
            </a:r>
            <a:endParaRPr sz="1100" dirty="0">
              <a:latin typeface="Arial"/>
              <a:cs typeface="Arial"/>
            </a:endParaRPr>
          </a:p>
          <a:p>
            <a:pPr marL="833119" marR="1644650">
              <a:lnSpc>
                <a:spcPct val="102600"/>
              </a:lnSpc>
              <a:spcBef>
                <a:spcPts val="1120"/>
              </a:spcBef>
            </a:pPr>
            <a:r>
              <a:rPr sz="1100" spc="-10" dirty="0">
                <a:solidFill>
                  <a:srgbClr val="0000FF"/>
                </a:solidFill>
                <a:latin typeface="Arial"/>
                <a:cs typeface="Arial"/>
              </a:rPr>
              <a:t>SELECT</a:t>
            </a:r>
            <a:r>
              <a:rPr sz="1100" spc="-60" dirty="0">
                <a:solidFill>
                  <a:srgbClr val="0000FF"/>
                </a:solidFill>
                <a:latin typeface="Arial"/>
                <a:cs typeface="Arial"/>
              </a:rPr>
              <a:t> </a:t>
            </a:r>
            <a:r>
              <a:rPr sz="1100" spc="-10" dirty="0">
                <a:solidFill>
                  <a:srgbClr val="0000FF"/>
                </a:solidFill>
                <a:latin typeface="Arial"/>
                <a:cs typeface="Arial"/>
              </a:rPr>
              <a:t>name  </a:t>
            </a:r>
            <a:r>
              <a:rPr sz="1100" spc="-15" dirty="0">
                <a:solidFill>
                  <a:srgbClr val="0000FF"/>
                </a:solidFill>
                <a:latin typeface="Arial"/>
                <a:cs typeface="Arial"/>
              </a:rPr>
              <a:t>FROM</a:t>
            </a:r>
            <a:r>
              <a:rPr sz="1100" spc="-20" dirty="0">
                <a:solidFill>
                  <a:srgbClr val="0000FF"/>
                </a:solidFill>
                <a:latin typeface="Arial"/>
                <a:cs typeface="Arial"/>
              </a:rPr>
              <a:t> </a:t>
            </a:r>
            <a:r>
              <a:rPr sz="1100" spc="-10" dirty="0">
                <a:solidFill>
                  <a:srgbClr val="0000FF"/>
                </a:solidFill>
                <a:latin typeface="Arial"/>
                <a:cs typeface="Arial"/>
              </a:rPr>
              <a:t>Pubs</a:t>
            </a:r>
            <a:endParaRPr sz="1100" dirty="0">
              <a:latin typeface="Arial"/>
              <a:cs typeface="Arial"/>
            </a:endParaRPr>
          </a:p>
          <a:p>
            <a:pPr marL="833119">
              <a:lnSpc>
                <a:spcPct val="100000"/>
              </a:lnSpc>
              <a:spcBef>
                <a:spcPts val="35"/>
              </a:spcBef>
            </a:pPr>
            <a:r>
              <a:rPr sz="1100" spc="-10" dirty="0">
                <a:solidFill>
                  <a:srgbClr val="0000FF"/>
                </a:solidFill>
                <a:latin typeface="Arial"/>
                <a:cs typeface="Arial"/>
              </a:rPr>
              <a:t>WHERE name </a:t>
            </a:r>
            <a:r>
              <a:rPr sz="1100" spc="-5" dirty="0">
                <a:solidFill>
                  <a:srgbClr val="0000FF"/>
                </a:solidFill>
                <a:latin typeface="Arial"/>
                <a:cs typeface="Arial"/>
              </a:rPr>
              <a:t>LIKE</a:t>
            </a:r>
            <a:r>
              <a:rPr sz="1100" dirty="0">
                <a:solidFill>
                  <a:srgbClr val="0000FF"/>
                </a:solidFill>
                <a:latin typeface="Arial"/>
                <a:cs typeface="Arial"/>
              </a:rPr>
              <a:t> </a:t>
            </a:r>
            <a:r>
              <a:rPr sz="1100" spc="-10" dirty="0">
                <a:solidFill>
                  <a:srgbClr val="0000FF"/>
                </a:solidFill>
                <a:latin typeface="Arial"/>
                <a:cs typeface="Arial"/>
              </a:rPr>
              <a:t>’%Hare%’</a:t>
            </a:r>
            <a:endParaRPr sz="1100" dirty="0">
              <a:latin typeface="Arial"/>
              <a:cs typeface="Arial"/>
            </a:endParaRPr>
          </a:p>
        </p:txBody>
      </p:sp>
      <p:graphicFrame>
        <p:nvGraphicFramePr>
          <p:cNvPr id="36" name="object 36"/>
          <p:cNvGraphicFramePr>
            <a:graphicFrameLocks noGrp="1"/>
          </p:cNvGraphicFramePr>
          <p:nvPr/>
        </p:nvGraphicFramePr>
        <p:xfrm>
          <a:off x="880376" y="1307338"/>
          <a:ext cx="2122170" cy="1067864"/>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884555">
                  <a:extLst>
                    <a:ext uri="{9D8B030D-6E8A-4147-A177-3AD203B41FA5}">
                      <a16:colId xmlns:a16="http://schemas.microsoft.com/office/drawing/2014/main" val="20001"/>
                    </a:ext>
                  </a:extLst>
                </a:gridCol>
              </a:tblGrid>
              <a:tr h="189788">
                <a:tc>
                  <a:txBody>
                    <a:bodyPr/>
                    <a:lstStyle/>
                    <a:p>
                      <a:pPr marL="75565">
                        <a:lnSpc>
                          <a:spcPts val="1190"/>
                        </a:lnSpc>
                      </a:pPr>
                      <a:r>
                        <a:rPr sz="1100" b="1" spc="-10" dirty="0">
                          <a:latin typeface="Arial"/>
                          <a:cs typeface="Arial"/>
                        </a:rPr>
                        <a:t>name</a:t>
                      </a:r>
                      <a:endParaRPr sz="11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location</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7">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10" dirty="0">
                          <a:latin typeface="Arial"/>
                          <a:cs typeface="Arial"/>
                        </a:rPr>
                        <a:t>March Hare</a:t>
                      </a:r>
                      <a:endParaRPr sz="1100" dirty="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Islington</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Bloomsbury</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37" name="object 37"/>
          <p:cNvSpPr/>
          <p:nvPr/>
        </p:nvSpPr>
        <p:spPr>
          <a:xfrm>
            <a:off x="1359839" y="2757487"/>
            <a:ext cx="1168400" cy="0"/>
          </a:xfrm>
          <a:custGeom>
            <a:avLst/>
            <a:gdLst/>
            <a:ahLst/>
            <a:cxnLst/>
            <a:rect l="l" t="t" r="r" b="b"/>
            <a:pathLst>
              <a:path w="1168400">
                <a:moveTo>
                  <a:pt x="0" y="0"/>
                </a:moveTo>
                <a:lnTo>
                  <a:pt x="1168323" y="0"/>
                </a:lnTo>
              </a:path>
            </a:pathLst>
          </a:custGeom>
          <a:ln w="5054">
            <a:solidFill>
              <a:srgbClr val="000000"/>
            </a:solidFill>
          </a:ln>
        </p:spPr>
        <p:txBody>
          <a:bodyPr wrap="square" lIns="0" tIns="0" rIns="0" bIns="0" rtlCol="0"/>
          <a:lstStyle/>
          <a:p>
            <a:endParaRPr/>
          </a:p>
        </p:txBody>
      </p:sp>
      <p:sp>
        <p:nvSpPr>
          <p:cNvPr id="38" name="object 38"/>
          <p:cNvSpPr/>
          <p:nvPr/>
        </p:nvSpPr>
        <p:spPr>
          <a:xfrm>
            <a:off x="1359839" y="2934627"/>
            <a:ext cx="1168400" cy="0"/>
          </a:xfrm>
          <a:custGeom>
            <a:avLst/>
            <a:gdLst/>
            <a:ahLst/>
            <a:cxnLst/>
            <a:rect l="l" t="t" r="r" b="b"/>
            <a:pathLst>
              <a:path w="1168400">
                <a:moveTo>
                  <a:pt x="0" y="0"/>
                </a:moveTo>
                <a:lnTo>
                  <a:pt x="1168323" y="0"/>
                </a:lnTo>
              </a:path>
            </a:pathLst>
          </a:custGeom>
          <a:ln w="5054">
            <a:solidFill>
              <a:srgbClr val="000000"/>
            </a:solidFill>
          </a:ln>
        </p:spPr>
        <p:txBody>
          <a:bodyPr wrap="square" lIns="0" tIns="0" rIns="0" bIns="0" rtlCol="0"/>
          <a:lstStyle/>
          <a:p>
            <a:endParaRPr/>
          </a:p>
        </p:txBody>
      </p:sp>
      <p:sp>
        <p:nvSpPr>
          <p:cNvPr id="39" name="object 39"/>
          <p:cNvSpPr/>
          <p:nvPr/>
        </p:nvSpPr>
        <p:spPr>
          <a:xfrm>
            <a:off x="1359839" y="2959925"/>
            <a:ext cx="1168400" cy="0"/>
          </a:xfrm>
          <a:custGeom>
            <a:avLst/>
            <a:gdLst/>
            <a:ahLst/>
            <a:cxnLst/>
            <a:rect l="l" t="t" r="r" b="b"/>
            <a:pathLst>
              <a:path w="1168400">
                <a:moveTo>
                  <a:pt x="0" y="0"/>
                </a:moveTo>
                <a:lnTo>
                  <a:pt x="1168323" y="0"/>
                </a:lnTo>
              </a:path>
            </a:pathLst>
          </a:custGeom>
          <a:ln w="5054">
            <a:solidFill>
              <a:srgbClr val="000000"/>
            </a:solidFill>
          </a:ln>
        </p:spPr>
        <p:txBody>
          <a:bodyPr wrap="square" lIns="0" tIns="0" rIns="0" bIns="0" rtlCol="0"/>
          <a:lstStyle/>
          <a:p>
            <a:endParaRPr/>
          </a:p>
        </p:txBody>
      </p:sp>
      <p:sp>
        <p:nvSpPr>
          <p:cNvPr id="40" name="object 40"/>
          <p:cNvSpPr/>
          <p:nvPr/>
        </p:nvSpPr>
        <p:spPr>
          <a:xfrm>
            <a:off x="1359839" y="2962465"/>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1" name="object 41"/>
          <p:cNvSpPr/>
          <p:nvPr/>
        </p:nvSpPr>
        <p:spPr>
          <a:xfrm>
            <a:off x="2528163" y="2962465"/>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2" name="object 42"/>
          <p:cNvSpPr/>
          <p:nvPr/>
        </p:nvSpPr>
        <p:spPr>
          <a:xfrm>
            <a:off x="1359839" y="3134537"/>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3" name="object 43"/>
          <p:cNvSpPr txBox="1"/>
          <p:nvPr/>
        </p:nvSpPr>
        <p:spPr>
          <a:xfrm>
            <a:off x="1362367" y="2296854"/>
            <a:ext cx="1163320" cy="998855"/>
          </a:xfrm>
          <a:prstGeom prst="rect">
            <a:avLst/>
          </a:prstGeom>
        </p:spPr>
        <p:txBody>
          <a:bodyPr vert="horz" wrap="square" lIns="0" tIns="138430" rIns="0" bIns="0" rtlCol="0">
            <a:spAutoFit/>
          </a:bodyPr>
          <a:lstStyle/>
          <a:p>
            <a:pPr marR="42545" algn="ctr">
              <a:lnSpc>
                <a:spcPct val="100000"/>
              </a:lnSpc>
              <a:spcBef>
                <a:spcPts val="1090"/>
              </a:spcBef>
            </a:pPr>
            <a:r>
              <a:rPr sz="1400" spc="-204" dirty="0">
                <a:solidFill>
                  <a:srgbClr val="0000FF"/>
                </a:solidFill>
                <a:latin typeface="Lucida Sans Unicode"/>
                <a:cs typeface="Lucida Sans Unicode"/>
              </a:rPr>
              <a:t>⇓</a:t>
            </a:r>
            <a:endParaRPr sz="1400">
              <a:latin typeface="Lucida Sans Unicode"/>
              <a:cs typeface="Lucida Sans Unicode"/>
            </a:endParaRPr>
          </a:p>
          <a:p>
            <a:pPr marL="73025">
              <a:lnSpc>
                <a:spcPct val="100000"/>
              </a:lnSpc>
              <a:spcBef>
                <a:spcPts val="725"/>
              </a:spcBef>
            </a:pPr>
            <a:r>
              <a:rPr sz="1100" b="1" spc="-10" dirty="0">
                <a:latin typeface="Arial"/>
                <a:cs typeface="Arial"/>
              </a:rPr>
              <a:t>name</a:t>
            </a:r>
            <a:endParaRPr sz="1100">
              <a:latin typeface="Arial"/>
              <a:cs typeface="Arial"/>
            </a:endParaRPr>
          </a:p>
          <a:p>
            <a:pPr marL="73025" marR="65405">
              <a:lnSpc>
                <a:spcPct val="102600"/>
              </a:lnSpc>
              <a:spcBef>
                <a:spcPts val="240"/>
              </a:spcBef>
            </a:pPr>
            <a:r>
              <a:rPr sz="1100" spc="-10" dirty="0">
                <a:latin typeface="Arial"/>
                <a:cs typeface="Arial"/>
              </a:rPr>
              <a:t>Hound and</a:t>
            </a:r>
            <a:r>
              <a:rPr sz="1100" spc="-45" dirty="0">
                <a:latin typeface="Arial"/>
                <a:cs typeface="Arial"/>
              </a:rPr>
              <a:t> </a:t>
            </a:r>
            <a:r>
              <a:rPr sz="1100" spc="-10" dirty="0">
                <a:latin typeface="Arial"/>
                <a:cs typeface="Arial"/>
              </a:rPr>
              <a:t>Hare  March</a:t>
            </a:r>
            <a:r>
              <a:rPr sz="1100" spc="-15" dirty="0">
                <a:latin typeface="Arial"/>
                <a:cs typeface="Arial"/>
              </a:rPr>
              <a:t> </a:t>
            </a:r>
            <a:r>
              <a:rPr sz="1100" spc="-10" dirty="0">
                <a:latin typeface="Arial"/>
                <a:cs typeface="Arial"/>
              </a:rPr>
              <a:t>Hare</a:t>
            </a:r>
            <a:endParaRPr sz="1100">
              <a:latin typeface="Arial"/>
              <a:cs typeface="Arial"/>
            </a:endParaRPr>
          </a:p>
        </p:txBody>
      </p:sp>
      <p:sp>
        <p:nvSpPr>
          <p:cNvPr id="44" name="object 44"/>
          <p:cNvSpPr/>
          <p:nvPr/>
        </p:nvSpPr>
        <p:spPr>
          <a:xfrm>
            <a:off x="2528163" y="3134537"/>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45" name="object 45"/>
          <p:cNvSpPr/>
          <p:nvPr/>
        </p:nvSpPr>
        <p:spPr>
          <a:xfrm>
            <a:off x="1359839" y="3309137"/>
            <a:ext cx="1168400" cy="0"/>
          </a:xfrm>
          <a:custGeom>
            <a:avLst/>
            <a:gdLst/>
            <a:ahLst/>
            <a:cxnLst/>
            <a:rect l="l" t="t" r="r" b="b"/>
            <a:pathLst>
              <a:path w="1168400">
                <a:moveTo>
                  <a:pt x="0" y="0"/>
                </a:moveTo>
                <a:lnTo>
                  <a:pt x="1168323" y="0"/>
                </a:lnTo>
              </a:path>
            </a:pathLst>
          </a:custGeom>
          <a:ln w="5054">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436691043"/>
      </p:ext>
    </p:extLst>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3" action="ppaction://hlinksldjump"/>
              </a:rPr>
              <a:t>SQL</a:t>
            </a:r>
            <a:r>
              <a:rPr sz="600" spc="-15" dirty="0">
                <a:solidFill>
                  <a:srgbClr val="ADADE0"/>
                </a:solidFill>
                <a:latin typeface="Arial"/>
                <a:cs typeface="Arial"/>
                <a:hlinkClick r:id="rId3" action="ppaction://hlinksldjump"/>
              </a:rPr>
              <a:t> </a:t>
            </a:r>
            <a:r>
              <a:rPr sz="600" spc="-5" dirty="0">
                <a:solidFill>
                  <a:srgbClr val="ADADE0"/>
                </a:solidFill>
                <a:latin typeface="Arial"/>
                <a:cs typeface="Arial"/>
                <a:hlinkClick r:id="rId3" action="ppaction://hlinksldjump"/>
              </a:rPr>
              <a:t>Updates</a:t>
            </a:r>
            <a:endParaRPr sz="600">
              <a:latin typeface="Arial"/>
              <a:cs typeface="Arial"/>
            </a:endParaRPr>
          </a:p>
          <a:p>
            <a:pPr marL="37465" marR="5080">
              <a:lnSpc>
                <a:spcPct val="142400"/>
              </a:lnSpc>
            </a:pPr>
            <a:r>
              <a:rPr sz="400" spc="-5" dirty="0">
                <a:latin typeface="Arial"/>
                <a:cs typeface="Arial"/>
                <a:hlinkClick r:id="rId3" action="ppaction://hlinksldjump"/>
              </a:rPr>
              <a:t>SQL Update</a:t>
            </a:r>
            <a:r>
              <a:rPr sz="400" spc="-35" dirty="0">
                <a:latin typeface="Arial"/>
                <a:cs typeface="Arial"/>
                <a:hlinkClick r:id="rId3" action="ppaction://hlinksldjump"/>
              </a:rPr>
              <a:t> </a:t>
            </a:r>
            <a:r>
              <a:rPr sz="400" spc="-5" dirty="0">
                <a:latin typeface="Arial"/>
                <a:cs typeface="Arial"/>
                <a:hlinkClick r:id="rId3" action="ppaction://hlinksldjump"/>
              </a:rPr>
              <a:t>Commands </a:t>
            </a:r>
            <a:r>
              <a:rPr sz="400" spc="-5" dirty="0">
                <a:latin typeface="Arial"/>
                <a:cs typeface="Arial"/>
              </a:rPr>
              <a:t> </a:t>
            </a:r>
            <a:r>
              <a:rPr sz="400" spc="-5" dirty="0">
                <a:solidFill>
                  <a:srgbClr val="999999"/>
                </a:solidFill>
                <a:latin typeface="Arial"/>
                <a:cs typeface="Arial"/>
                <a:hlinkClick r:id="rId4" action="ppaction://hlinksldjump"/>
              </a:rPr>
              <a:t>SQL</a:t>
            </a:r>
            <a:r>
              <a:rPr sz="400" spc="-10" dirty="0">
                <a:solidFill>
                  <a:srgbClr val="999999"/>
                </a:solidFill>
                <a:latin typeface="Arial"/>
                <a:cs typeface="Arial"/>
                <a:hlinkClick r:id="rId4" action="ppaction://hlinksldjump"/>
              </a:rPr>
              <a:t> </a:t>
            </a:r>
            <a:r>
              <a:rPr sz="400" spc="-5" dirty="0">
                <a:solidFill>
                  <a:srgbClr val="999999"/>
                </a:solidFill>
                <a:latin typeface="Arial"/>
                <a:cs typeface="Arial"/>
                <a:hlinkClick r:id="rId4" action="ppaction://hlinksldjump"/>
              </a:rPr>
              <a:t>Views</a:t>
            </a:r>
            <a:endParaRPr sz="400">
              <a:latin typeface="Arial"/>
              <a:cs typeface="Arial"/>
            </a:endParaRPr>
          </a:p>
          <a:p>
            <a:pPr marL="37465">
              <a:lnSpc>
                <a:spcPct val="100000"/>
              </a:lnSpc>
              <a:spcBef>
                <a:spcPts val="204"/>
              </a:spcBef>
            </a:pPr>
            <a:r>
              <a:rPr sz="400" spc="-5" dirty="0">
                <a:solidFill>
                  <a:srgbClr val="999999"/>
                </a:solidFill>
                <a:latin typeface="Arial"/>
                <a:cs typeface="Arial"/>
                <a:hlinkClick r:id="rId5" action="ppaction://hlinksldjump"/>
              </a:rPr>
              <a:t>SQL</a:t>
            </a:r>
            <a:r>
              <a:rPr sz="400" spc="-10" dirty="0">
                <a:solidFill>
                  <a:srgbClr val="999999"/>
                </a:solidFill>
                <a:latin typeface="Arial"/>
                <a:cs typeface="Arial"/>
                <a:hlinkClick r:id="rId5"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010410" cy="244475"/>
          </a:xfrm>
          <a:prstGeom prst="rect">
            <a:avLst/>
          </a:prstGeom>
        </p:spPr>
        <p:txBody>
          <a:bodyPr vert="horz" wrap="square" lIns="0" tIns="17145" rIns="0" bIns="0" rtlCol="0">
            <a:spAutoFit/>
          </a:bodyPr>
          <a:lstStyle/>
          <a:p>
            <a:pPr marL="12700">
              <a:lnSpc>
                <a:spcPct val="100000"/>
              </a:lnSpc>
              <a:spcBef>
                <a:spcPts val="135"/>
              </a:spcBef>
            </a:pPr>
            <a:r>
              <a:rPr spc="20" dirty="0"/>
              <a:t>SQL </a:t>
            </a:r>
            <a:r>
              <a:rPr spc="15" dirty="0"/>
              <a:t>Update</a:t>
            </a:r>
            <a:r>
              <a:rPr spc="-60" dirty="0"/>
              <a:t> </a:t>
            </a:r>
            <a:r>
              <a:rPr spc="20" dirty="0"/>
              <a:t>Commands</a:t>
            </a:r>
          </a:p>
        </p:txBody>
      </p:sp>
      <p:sp>
        <p:nvSpPr>
          <p:cNvPr id="24" name="object 24"/>
          <p:cNvSpPr txBox="1"/>
          <p:nvPr/>
        </p:nvSpPr>
        <p:spPr>
          <a:xfrm>
            <a:off x="270992" y="788578"/>
            <a:ext cx="3475354" cy="1956435"/>
          </a:xfrm>
          <a:prstGeom prst="rect">
            <a:avLst/>
          </a:prstGeom>
        </p:spPr>
        <p:txBody>
          <a:bodyPr vert="horz" wrap="square" lIns="0" tIns="55244" rIns="0" bIns="0" rtlCol="0">
            <a:spAutoFit/>
          </a:bodyPr>
          <a:lstStyle/>
          <a:p>
            <a:pPr marL="186055" indent="-148590">
              <a:lnSpc>
                <a:spcPct val="100000"/>
              </a:lnSpc>
              <a:spcBef>
                <a:spcPts val="434"/>
              </a:spcBef>
              <a:buClr>
                <a:srgbClr val="3333B2"/>
              </a:buClr>
              <a:buSzPct val="72727"/>
              <a:buFont typeface="Lucida Sans Unicode"/>
              <a:buChar char="►"/>
              <a:tabLst>
                <a:tab pos="186690" algn="l"/>
              </a:tabLst>
            </a:pPr>
            <a:r>
              <a:rPr sz="1100" dirty="0">
                <a:latin typeface="Arial"/>
                <a:cs typeface="Arial"/>
              </a:rPr>
              <a:t>Insertion </a:t>
            </a:r>
            <a:r>
              <a:rPr sz="1100" spc="-5" dirty="0">
                <a:latin typeface="Arial"/>
                <a:cs typeface="Arial"/>
              </a:rPr>
              <a:t>of </a:t>
            </a:r>
            <a:r>
              <a:rPr sz="1100" spc="-10" dirty="0">
                <a:latin typeface="Arial"/>
                <a:cs typeface="Arial"/>
              </a:rPr>
              <a:t>one row: </a:t>
            </a:r>
            <a:r>
              <a:rPr sz="1100" spc="-15" dirty="0">
                <a:solidFill>
                  <a:srgbClr val="0000FF"/>
                </a:solidFill>
                <a:latin typeface="Arial"/>
                <a:cs typeface="Arial"/>
              </a:rPr>
              <a:t>INSERT </a:t>
            </a:r>
            <a:r>
              <a:rPr sz="1100" spc="-20" dirty="0">
                <a:solidFill>
                  <a:srgbClr val="0000FF"/>
                </a:solidFill>
                <a:latin typeface="Arial"/>
                <a:cs typeface="Arial"/>
              </a:rPr>
              <a:t>INTO </a:t>
            </a:r>
            <a:r>
              <a:rPr sz="1100" i="1" spc="-10" dirty="0">
                <a:solidFill>
                  <a:srgbClr val="0000FF"/>
                </a:solidFill>
                <a:latin typeface="Arial"/>
                <a:cs typeface="Arial"/>
              </a:rPr>
              <a:t>R </a:t>
            </a:r>
            <a:r>
              <a:rPr sz="1100" spc="-25" dirty="0">
                <a:solidFill>
                  <a:srgbClr val="0000FF"/>
                </a:solidFill>
                <a:latin typeface="Arial"/>
                <a:cs typeface="Arial"/>
              </a:rPr>
              <a:t>VALUES </a:t>
            </a:r>
            <a:r>
              <a:rPr sz="1100" spc="-5" dirty="0">
                <a:solidFill>
                  <a:srgbClr val="0000FF"/>
                </a:solidFill>
                <a:latin typeface="Arial"/>
                <a:cs typeface="Arial"/>
              </a:rPr>
              <a:t>. .</a:t>
            </a:r>
            <a:r>
              <a:rPr sz="1100" spc="-75" dirty="0">
                <a:solidFill>
                  <a:srgbClr val="0000FF"/>
                </a:solidFill>
                <a:latin typeface="Arial"/>
                <a:cs typeface="Arial"/>
              </a:rPr>
              <a:t> </a:t>
            </a:r>
            <a:r>
              <a:rPr sz="1100" spc="-5" dirty="0">
                <a:solidFill>
                  <a:srgbClr val="0000FF"/>
                </a:solidFill>
                <a:latin typeface="Arial"/>
                <a:cs typeface="Arial"/>
              </a:rPr>
              <a:t>.</a:t>
            </a:r>
            <a:endParaRPr sz="1100">
              <a:latin typeface="Arial"/>
              <a:cs typeface="Arial"/>
            </a:endParaRPr>
          </a:p>
          <a:p>
            <a:pPr marL="186055" indent="-148590">
              <a:lnSpc>
                <a:spcPct val="100000"/>
              </a:lnSpc>
              <a:spcBef>
                <a:spcPts val="334"/>
              </a:spcBef>
              <a:buClr>
                <a:srgbClr val="3333B2"/>
              </a:buClr>
              <a:buSzPct val="72727"/>
              <a:buFont typeface="Lucida Sans Unicode"/>
              <a:buChar char="►"/>
              <a:tabLst>
                <a:tab pos="186690" algn="l"/>
              </a:tabLst>
            </a:pPr>
            <a:r>
              <a:rPr sz="1100" dirty="0">
                <a:latin typeface="Arial"/>
                <a:cs typeface="Arial"/>
              </a:rPr>
              <a:t>Insertion </a:t>
            </a:r>
            <a:r>
              <a:rPr sz="1100" spc="-5" dirty="0">
                <a:latin typeface="Arial"/>
                <a:cs typeface="Arial"/>
              </a:rPr>
              <a:t>using </a:t>
            </a:r>
            <a:r>
              <a:rPr sz="1100" spc="-10" dirty="0">
                <a:latin typeface="Arial"/>
                <a:cs typeface="Arial"/>
              </a:rPr>
              <a:t>a </a:t>
            </a:r>
            <a:r>
              <a:rPr sz="1100" dirty="0">
                <a:latin typeface="Arial"/>
                <a:cs typeface="Arial"/>
              </a:rPr>
              <a:t>query: </a:t>
            </a:r>
            <a:r>
              <a:rPr sz="1100" spc="-15" dirty="0">
                <a:solidFill>
                  <a:srgbClr val="0000FF"/>
                </a:solidFill>
                <a:latin typeface="Arial"/>
                <a:cs typeface="Arial"/>
              </a:rPr>
              <a:t>INSERT </a:t>
            </a:r>
            <a:r>
              <a:rPr sz="1100" spc="-20" dirty="0">
                <a:solidFill>
                  <a:srgbClr val="0000FF"/>
                </a:solidFill>
                <a:latin typeface="Arial"/>
                <a:cs typeface="Arial"/>
              </a:rPr>
              <a:t>INTO </a:t>
            </a:r>
            <a:r>
              <a:rPr sz="1100" i="1" spc="-10" dirty="0">
                <a:solidFill>
                  <a:srgbClr val="0000FF"/>
                </a:solidFill>
                <a:latin typeface="Arial"/>
                <a:cs typeface="Arial"/>
              </a:rPr>
              <a:t>R</a:t>
            </a:r>
            <a:r>
              <a:rPr sz="1100" i="1" spc="114" dirty="0">
                <a:solidFill>
                  <a:srgbClr val="0000FF"/>
                </a:solidFill>
                <a:latin typeface="Arial"/>
                <a:cs typeface="Arial"/>
              </a:rPr>
              <a:t> </a:t>
            </a:r>
            <a:r>
              <a:rPr sz="1100" spc="-10" dirty="0">
                <a:solidFill>
                  <a:srgbClr val="0000FF"/>
                </a:solidFill>
                <a:latin typeface="Arial"/>
                <a:cs typeface="Arial"/>
              </a:rPr>
              <a:t>SELECT</a:t>
            </a:r>
            <a:endParaRPr sz="1100">
              <a:latin typeface="Arial"/>
              <a:cs typeface="Arial"/>
            </a:endParaRPr>
          </a:p>
          <a:p>
            <a:pPr marL="186055">
              <a:lnSpc>
                <a:spcPct val="100000"/>
              </a:lnSpc>
              <a:spcBef>
                <a:spcPts val="35"/>
              </a:spcBef>
            </a:pPr>
            <a:r>
              <a:rPr sz="1100" spc="-5" dirty="0">
                <a:solidFill>
                  <a:srgbClr val="0000FF"/>
                </a:solidFill>
                <a:latin typeface="Arial"/>
                <a:cs typeface="Arial"/>
              </a:rPr>
              <a:t>. .</a:t>
            </a:r>
            <a:r>
              <a:rPr sz="1100" spc="-250" dirty="0">
                <a:solidFill>
                  <a:srgbClr val="0000FF"/>
                </a:solidFill>
                <a:latin typeface="Arial"/>
                <a:cs typeface="Arial"/>
              </a:rPr>
              <a:t> </a:t>
            </a:r>
            <a:r>
              <a:rPr sz="1100" spc="-5" dirty="0">
                <a:solidFill>
                  <a:srgbClr val="0000FF"/>
                </a:solidFill>
                <a:latin typeface="Arial"/>
                <a:cs typeface="Arial"/>
              </a:rPr>
              <a:t>.</a:t>
            </a:r>
            <a:endParaRPr sz="1100">
              <a:latin typeface="Arial"/>
              <a:cs typeface="Arial"/>
            </a:endParaRPr>
          </a:p>
          <a:p>
            <a:pPr marL="186055" indent="-148590">
              <a:lnSpc>
                <a:spcPct val="100000"/>
              </a:lnSpc>
              <a:spcBef>
                <a:spcPts val="170"/>
              </a:spcBef>
              <a:buClr>
                <a:srgbClr val="3333B2"/>
              </a:buClr>
              <a:buSzPct val="72727"/>
              <a:buFont typeface="Lucida Sans Unicode"/>
              <a:buChar char="►"/>
              <a:tabLst>
                <a:tab pos="186690" algn="l"/>
              </a:tabLst>
            </a:pPr>
            <a:r>
              <a:rPr sz="1100" spc="-5" dirty="0">
                <a:latin typeface="Arial"/>
                <a:cs typeface="Arial"/>
              </a:rPr>
              <a:t>Deletion: </a:t>
            </a:r>
            <a:r>
              <a:rPr sz="1100" spc="-10" dirty="0">
                <a:solidFill>
                  <a:srgbClr val="0000FF"/>
                </a:solidFill>
                <a:latin typeface="Arial"/>
                <a:cs typeface="Arial"/>
              </a:rPr>
              <a:t>DELETE </a:t>
            </a:r>
            <a:r>
              <a:rPr sz="1100" spc="-15" dirty="0">
                <a:solidFill>
                  <a:srgbClr val="0000FF"/>
                </a:solidFill>
                <a:latin typeface="Arial"/>
                <a:cs typeface="Arial"/>
              </a:rPr>
              <a:t>FROM </a:t>
            </a:r>
            <a:r>
              <a:rPr sz="1100" i="1" spc="-10" dirty="0">
                <a:solidFill>
                  <a:srgbClr val="0000FF"/>
                </a:solidFill>
                <a:latin typeface="Arial"/>
                <a:cs typeface="Arial"/>
              </a:rPr>
              <a:t>R </a:t>
            </a:r>
            <a:r>
              <a:rPr sz="1100" spc="-10" dirty="0">
                <a:solidFill>
                  <a:srgbClr val="0000FF"/>
                </a:solidFill>
                <a:latin typeface="Arial"/>
                <a:cs typeface="Arial"/>
              </a:rPr>
              <a:t>WHERE </a:t>
            </a:r>
            <a:r>
              <a:rPr sz="1100" spc="-5" dirty="0">
                <a:solidFill>
                  <a:srgbClr val="0000FF"/>
                </a:solidFill>
                <a:latin typeface="Arial"/>
                <a:cs typeface="Arial"/>
              </a:rPr>
              <a:t>. .</a:t>
            </a:r>
            <a:r>
              <a:rPr sz="1100" spc="-105" dirty="0">
                <a:solidFill>
                  <a:srgbClr val="0000FF"/>
                </a:solidFill>
                <a:latin typeface="Arial"/>
                <a:cs typeface="Arial"/>
              </a:rPr>
              <a:t> </a:t>
            </a:r>
            <a:r>
              <a:rPr sz="1100" spc="-5" dirty="0">
                <a:solidFill>
                  <a:srgbClr val="0000FF"/>
                </a:solidFill>
                <a:latin typeface="Arial"/>
                <a:cs typeface="Arial"/>
              </a:rPr>
              <a:t>.</a:t>
            </a:r>
            <a:endParaRPr sz="1100">
              <a:latin typeface="Arial"/>
              <a:cs typeface="Arial"/>
            </a:endParaRPr>
          </a:p>
          <a:p>
            <a:pPr marL="462915" marR="30480" indent="-137160">
              <a:lnSpc>
                <a:spcPct val="100000"/>
              </a:lnSpc>
              <a:spcBef>
                <a:spcPts val="175"/>
              </a:spcBef>
            </a:pPr>
            <a:r>
              <a:rPr sz="900" spc="494" baseline="13888" dirty="0">
                <a:solidFill>
                  <a:srgbClr val="3333B2"/>
                </a:solidFill>
                <a:latin typeface="Arial"/>
                <a:cs typeface="Arial"/>
              </a:rPr>
              <a:t>) </a:t>
            </a:r>
            <a:r>
              <a:rPr sz="1000" spc="-5" dirty="0">
                <a:latin typeface="Arial"/>
                <a:cs typeface="Arial"/>
              </a:rPr>
              <a:t>e.g., </a:t>
            </a:r>
            <a:r>
              <a:rPr sz="1000" spc="-5" dirty="0">
                <a:solidFill>
                  <a:srgbClr val="0000FF"/>
                </a:solidFill>
                <a:latin typeface="Arial"/>
                <a:cs typeface="Arial"/>
              </a:rPr>
              <a:t>DELETE </a:t>
            </a:r>
            <a:r>
              <a:rPr sz="1000" spc="-10" dirty="0">
                <a:solidFill>
                  <a:srgbClr val="0000FF"/>
                </a:solidFill>
                <a:latin typeface="Arial"/>
                <a:cs typeface="Arial"/>
              </a:rPr>
              <a:t>FROM </a:t>
            </a:r>
            <a:r>
              <a:rPr sz="1000" spc="-5" dirty="0">
                <a:solidFill>
                  <a:srgbClr val="0000FF"/>
                </a:solidFill>
                <a:latin typeface="Arial"/>
                <a:cs typeface="Arial"/>
              </a:rPr>
              <a:t>Drinkers WHERE name=’Alice’;  </a:t>
            </a:r>
            <a:r>
              <a:rPr sz="1000" spc="-5" dirty="0">
                <a:latin typeface="Arial"/>
                <a:cs typeface="Arial"/>
              </a:rPr>
              <a:t>will delete all </a:t>
            </a:r>
            <a:r>
              <a:rPr sz="1000" spc="-10" dirty="0">
                <a:latin typeface="Arial"/>
                <a:cs typeface="Arial"/>
              </a:rPr>
              <a:t>rows </a:t>
            </a:r>
            <a:r>
              <a:rPr sz="1000" spc="-5" dirty="0">
                <a:latin typeface="Arial"/>
                <a:cs typeface="Arial"/>
              </a:rPr>
              <a:t>in which Alice appears from the  Drinkers</a:t>
            </a:r>
            <a:r>
              <a:rPr sz="1000" spc="-10" dirty="0">
                <a:latin typeface="Arial"/>
                <a:cs typeface="Arial"/>
              </a:rPr>
              <a:t> table</a:t>
            </a:r>
            <a:endParaRPr sz="1000">
              <a:latin typeface="Arial"/>
              <a:cs typeface="Arial"/>
            </a:endParaRPr>
          </a:p>
          <a:p>
            <a:pPr marL="186055" indent="-148590">
              <a:lnSpc>
                <a:spcPct val="100000"/>
              </a:lnSpc>
              <a:spcBef>
                <a:spcPts val="185"/>
              </a:spcBef>
              <a:buClr>
                <a:srgbClr val="3333B2"/>
              </a:buClr>
              <a:buSzPct val="72727"/>
              <a:buFont typeface="Lucida Sans Unicode"/>
              <a:buChar char="►"/>
              <a:tabLst>
                <a:tab pos="186690" algn="l"/>
              </a:tabLst>
            </a:pPr>
            <a:r>
              <a:rPr sz="1100" spc="-5" dirty="0">
                <a:latin typeface="Arial"/>
                <a:cs typeface="Arial"/>
              </a:rPr>
              <a:t>Updating:</a:t>
            </a:r>
            <a:r>
              <a:rPr sz="1100" spc="60" dirty="0">
                <a:latin typeface="Arial"/>
                <a:cs typeface="Arial"/>
              </a:rPr>
              <a:t> </a:t>
            </a:r>
            <a:r>
              <a:rPr sz="1100" spc="-40" dirty="0">
                <a:solidFill>
                  <a:srgbClr val="0000FF"/>
                </a:solidFill>
                <a:latin typeface="Arial"/>
                <a:cs typeface="Arial"/>
              </a:rPr>
              <a:t>UPDATE</a:t>
            </a:r>
            <a:r>
              <a:rPr sz="1100" spc="-5" dirty="0">
                <a:solidFill>
                  <a:srgbClr val="0000FF"/>
                </a:solidFill>
                <a:latin typeface="Arial"/>
                <a:cs typeface="Arial"/>
              </a:rPr>
              <a:t> </a:t>
            </a:r>
            <a:r>
              <a:rPr sz="1100" i="1" spc="-10" dirty="0">
                <a:solidFill>
                  <a:srgbClr val="0000FF"/>
                </a:solidFill>
                <a:latin typeface="Arial"/>
                <a:cs typeface="Arial"/>
              </a:rPr>
              <a:t>R</a:t>
            </a:r>
            <a:r>
              <a:rPr sz="1100" i="1" spc="50" dirty="0">
                <a:solidFill>
                  <a:srgbClr val="0000FF"/>
                </a:solidFill>
                <a:latin typeface="Arial"/>
                <a:cs typeface="Arial"/>
              </a:rPr>
              <a:t> </a:t>
            </a:r>
            <a:r>
              <a:rPr sz="1100" spc="-10" dirty="0">
                <a:solidFill>
                  <a:srgbClr val="0000FF"/>
                </a:solidFill>
                <a:latin typeface="Arial"/>
                <a:cs typeface="Arial"/>
              </a:rPr>
              <a:t>SET</a:t>
            </a:r>
            <a:r>
              <a:rPr sz="1100" spc="-5" dirty="0">
                <a:solidFill>
                  <a:srgbClr val="0000FF"/>
                </a:solidFill>
                <a:latin typeface="Arial"/>
                <a:cs typeface="Arial"/>
              </a:rPr>
              <a:t> .</a:t>
            </a:r>
            <a:r>
              <a:rPr sz="1100" spc="-125" dirty="0">
                <a:solidFill>
                  <a:srgbClr val="0000FF"/>
                </a:solidFill>
                <a:latin typeface="Arial"/>
                <a:cs typeface="Arial"/>
              </a:rPr>
              <a:t> </a:t>
            </a:r>
            <a:r>
              <a:rPr sz="1100" spc="-5" dirty="0">
                <a:solidFill>
                  <a:srgbClr val="0000FF"/>
                </a:solidFill>
                <a:latin typeface="Arial"/>
                <a:cs typeface="Arial"/>
              </a:rPr>
              <a:t>.</a:t>
            </a:r>
            <a:r>
              <a:rPr sz="1100" spc="-125" dirty="0">
                <a:solidFill>
                  <a:srgbClr val="0000FF"/>
                </a:solidFill>
                <a:latin typeface="Arial"/>
                <a:cs typeface="Arial"/>
              </a:rPr>
              <a:t> </a:t>
            </a:r>
            <a:r>
              <a:rPr sz="1100" spc="-5" dirty="0">
                <a:solidFill>
                  <a:srgbClr val="0000FF"/>
                </a:solidFill>
                <a:latin typeface="Arial"/>
                <a:cs typeface="Arial"/>
              </a:rPr>
              <a:t>.</a:t>
            </a:r>
            <a:r>
              <a:rPr sz="1100" spc="-130" dirty="0">
                <a:solidFill>
                  <a:srgbClr val="0000FF"/>
                </a:solidFill>
                <a:latin typeface="Arial"/>
                <a:cs typeface="Arial"/>
              </a:rPr>
              <a:t> </a:t>
            </a:r>
            <a:r>
              <a:rPr sz="1100" spc="-10" dirty="0">
                <a:solidFill>
                  <a:srgbClr val="0000FF"/>
                </a:solidFill>
                <a:latin typeface="Arial"/>
                <a:cs typeface="Arial"/>
              </a:rPr>
              <a:t>WHERE</a:t>
            </a:r>
            <a:r>
              <a:rPr sz="1100" spc="-5" dirty="0">
                <a:solidFill>
                  <a:srgbClr val="0000FF"/>
                </a:solidFill>
                <a:latin typeface="Arial"/>
                <a:cs typeface="Arial"/>
              </a:rPr>
              <a:t> .</a:t>
            </a:r>
            <a:r>
              <a:rPr sz="1100" spc="-125" dirty="0">
                <a:solidFill>
                  <a:srgbClr val="0000FF"/>
                </a:solidFill>
                <a:latin typeface="Arial"/>
                <a:cs typeface="Arial"/>
              </a:rPr>
              <a:t> </a:t>
            </a:r>
            <a:r>
              <a:rPr sz="1100" spc="-5" dirty="0">
                <a:solidFill>
                  <a:srgbClr val="0000FF"/>
                </a:solidFill>
                <a:latin typeface="Arial"/>
                <a:cs typeface="Arial"/>
              </a:rPr>
              <a:t>.</a:t>
            </a:r>
            <a:r>
              <a:rPr sz="1100" spc="-125" dirty="0">
                <a:solidFill>
                  <a:srgbClr val="0000FF"/>
                </a:solidFill>
                <a:latin typeface="Arial"/>
                <a:cs typeface="Arial"/>
              </a:rPr>
              <a:t> </a:t>
            </a:r>
            <a:r>
              <a:rPr sz="1100" spc="-5" dirty="0">
                <a:solidFill>
                  <a:srgbClr val="0000FF"/>
                </a:solidFill>
                <a:latin typeface="Arial"/>
                <a:cs typeface="Arial"/>
              </a:rPr>
              <a:t>.</a:t>
            </a:r>
            <a:endParaRPr sz="1100">
              <a:latin typeface="Arial"/>
              <a:cs typeface="Arial"/>
            </a:endParaRPr>
          </a:p>
          <a:p>
            <a:pPr marL="462915" marR="193040" indent="-137160">
              <a:lnSpc>
                <a:spcPct val="100000"/>
              </a:lnSpc>
              <a:spcBef>
                <a:spcPts val="175"/>
              </a:spcBef>
            </a:pPr>
            <a:r>
              <a:rPr sz="900" spc="494" baseline="13888" dirty="0">
                <a:solidFill>
                  <a:srgbClr val="3333B2"/>
                </a:solidFill>
                <a:latin typeface="Arial"/>
                <a:cs typeface="Arial"/>
              </a:rPr>
              <a:t>) </a:t>
            </a:r>
            <a:r>
              <a:rPr sz="1000" spc="-5" dirty="0">
                <a:latin typeface="Arial"/>
                <a:cs typeface="Arial"/>
              </a:rPr>
              <a:t>e.g., to increase all the March </a:t>
            </a:r>
            <a:r>
              <a:rPr sz="1000" spc="-15" dirty="0">
                <a:latin typeface="Arial"/>
                <a:cs typeface="Arial"/>
              </a:rPr>
              <a:t>Hare’s </a:t>
            </a:r>
            <a:r>
              <a:rPr sz="1000" spc="-5" dirty="0">
                <a:latin typeface="Arial"/>
                <a:cs typeface="Arial"/>
              </a:rPr>
              <a:t>prices </a:t>
            </a:r>
            <a:r>
              <a:rPr sz="1000" spc="-15" dirty="0">
                <a:latin typeface="Arial"/>
                <a:cs typeface="Arial"/>
              </a:rPr>
              <a:t>by </a:t>
            </a:r>
            <a:r>
              <a:rPr sz="1000" spc="-5" dirty="0">
                <a:latin typeface="Arial"/>
                <a:cs typeface="Arial"/>
              </a:rPr>
              <a:t>5%  </a:t>
            </a:r>
            <a:r>
              <a:rPr sz="1000" spc="-30" dirty="0">
                <a:solidFill>
                  <a:srgbClr val="0000FF"/>
                </a:solidFill>
                <a:latin typeface="Arial"/>
                <a:cs typeface="Arial"/>
              </a:rPr>
              <a:t>UPDATE </a:t>
            </a:r>
            <a:r>
              <a:rPr sz="1000" spc="-5" dirty="0">
                <a:solidFill>
                  <a:srgbClr val="0000FF"/>
                </a:solidFill>
                <a:latin typeface="Arial"/>
                <a:cs typeface="Arial"/>
              </a:rPr>
              <a:t>Sells SET </a:t>
            </a:r>
            <a:r>
              <a:rPr sz="1000" dirty="0">
                <a:solidFill>
                  <a:srgbClr val="0000FF"/>
                </a:solidFill>
                <a:latin typeface="Arial"/>
                <a:cs typeface="Arial"/>
              </a:rPr>
              <a:t>price </a:t>
            </a:r>
            <a:r>
              <a:rPr sz="1000" spc="-5" dirty="0">
                <a:solidFill>
                  <a:srgbClr val="0000FF"/>
                </a:solidFill>
                <a:latin typeface="Arial"/>
                <a:cs typeface="Arial"/>
              </a:rPr>
              <a:t>= </a:t>
            </a:r>
            <a:r>
              <a:rPr sz="1000" dirty="0">
                <a:solidFill>
                  <a:srgbClr val="0000FF"/>
                </a:solidFill>
                <a:latin typeface="Arial"/>
                <a:cs typeface="Arial"/>
              </a:rPr>
              <a:t>price </a:t>
            </a:r>
            <a:r>
              <a:rPr sz="1000" spc="-5" dirty="0">
                <a:solidFill>
                  <a:srgbClr val="0000FF"/>
                </a:solidFill>
                <a:latin typeface="Arial"/>
                <a:cs typeface="Arial"/>
              </a:rPr>
              <a:t>* 1.05</a:t>
            </a:r>
            <a:endParaRPr sz="1000">
              <a:latin typeface="Arial"/>
              <a:cs typeface="Arial"/>
            </a:endParaRPr>
          </a:p>
          <a:p>
            <a:pPr marL="462915">
              <a:lnSpc>
                <a:spcPts val="1190"/>
              </a:lnSpc>
            </a:pPr>
            <a:r>
              <a:rPr sz="1000" spc="-5" dirty="0">
                <a:solidFill>
                  <a:srgbClr val="0000FF"/>
                </a:solidFill>
                <a:latin typeface="Arial"/>
                <a:cs typeface="Arial"/>
              </a:rPr>
              <a:t>WHERE pub=’March</a:t>
            </a:r>
            <a:r>
              <a:rPr sz="1000" spc="-10" dirty="0">
                <a:solidFill>
                  <a:srgbClr val="0000FF"/>
                </a:solidFill>
                <a:latin typeface="Arial"/>
                <a:cs typeface="Arial"/>
              </a:rPr>
              <a:t> </a:t>
            </a:r>
            <a:r>
              <a:rPr sz="1000" spc="-5" dirty="0">
                <a:solidFill>
                  <a:srgbClr val="0000FF"/>
                </a:solidFill>
                <a:latin typeface="Arial"/>
                <a:cs typeface="Arial"/>
              </a:rPr>
              <a:t>Hare’;</a:t>
            </a:r>
            <a:endParaRPr sz="1000">
              <a:latin typeface="Arial"/>
              <a:cs typeface="Arial"/>
            </a:endParaRPr>
          </a:p>
        </p:txBody>
      </p:sp>
    </p:spTree>
    <p:extLst>
      <p:ext uri="{BB962C8B-B14F-4D97-AF65-F5344CB8AC3E}">
        <p14:creationId xmlns:p14="http://schemas.microsoft.com/office/powerpoint/2010/main" val="2096738710"/>
      </p:ext>
    </p:extLst>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latin typeface="Arial"/>
                <a:cs typeface="Arial"/>
                <a:hlinkClick r:id="rId2" action="ppaction://hlinksldjump"/>
              </a:rPr>
              <a:t>SQL Update</a:t>
            </a:r>
            <a:r>
              <a:rPr sz="400" spc="-35" dirty="0">
                <a:latin typeface="Arial"/>
                <a:cs typeface="Arial"/>
                <a:hlinkClick r:id="rId2" action="ppaction://hlinksldjump"/>
              </a:rPr>
              <a:t> </a:t>
            </a:r>
            <a:r>
              <a:rPr sz="400" spc="-5" dirty="0">
                <a:latin typeface="Arial"/>
                <a:cs typeface="Arial"/>
                <a:hlinkClick r:id="rId2" action="ppaction://hlinksldjump"/>
              </a:rPr>
              <a:t>Commands </a:t>
            </a:r>
            <a:r>
              <a:rPr sz="400" spc="-5" dirty="0">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solidFill>
                  <a:srgbClr val="999999"/>
                </a:solidFill>
                <a:latin typeface="Arial"/>
                <a:cs typeface="Arial"/>
                <a:hlinkClick r:id="rId4" action="ppaction://hlinksldjump"/>
              </a:rPr>
              <a:t>SQL</a:t>
            </a:r>
            <a:r>
              <a:rPr sz="400" spc="-10" dirty="0">
                <a:solidFill>
                  <a:srgbClr val="999999"/>
                </a:solidFill>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028825" cy="244475"/>
          </a:xfrm>
          <a:prstGeom prst="rect">
            <a:avLst/>
          </a:prstGeom>
        </p:spPr>
        <p:txBody>
          <a:bodyPr vert="horz" wrap="square" lIns="0" tIns="17145" rIns="0" bIns="0" rtlCol="0">
            <a:spAutoFit/>
          </a:bodyPr>
          <a:lstStyle/>
          <a:p>
            <a:pPr marL="12700">
              <a:lnSpc>
                <a:spcPct val="100000"/>
              </a:lnSpc>
              <a:spcBef>
                <a:spcPts val="135"/>
              </a:spcBef>
            </a:pPr>
            <a:r>
              <a:rPr spc="15" dirty="0"/>
              <a:t>Updates and</a:t>
            </a:r>
            <a:r>
              <a:rPr spc="-20" dirty="0"/>
              <a:t> </a:t>
            </a:r>
            <a:r>
              <a:rPr spc="10" dirty="0"/>
              <a:t>Constraints</a:t>
            </a:r>
          </a:p>
        </p:txBody>
      </p:sp>
      <p:sp>
        <p:nvSpPr>
          <p:cNvPr id="24" name="object 24"/>
          <p:cNvSpPr txBox="1"/>
          <p:nvPr/>
        </p:nvSpPr>
        <p:spPr>
          <a:xfrm>
            <a:off x="141897" y="919147"/>
            <a:ext cx="3423920" cy="1591945"/>
          </a:xfrm>
          <a:prstGeom prst="rect">
            <a:avLst/>
          </a:prstGeom>
        </p:spPr>
        <p:txBody>
          <a:bodyPr vert="horz" wrap="square" lIns="0" tIns="55244" rIns="0" bIns="0" rtlCol="0">
            <a:spAutoFit/>
          </a:bodyPr>
          <a:lstStyle/>
          <a:p>
            <a:pPr marL="38100">
              <a:lnSpc>
                <a:spcPct val="100000"/>
              </a:lnSpc>
              <a:spcBef>
                <a:spcPts val="434"/>
              </a:spcBef>
            </a:pPr>
            <a:r>
              <a:rPr sz="1100" spc="-5" dirty="0">
                <a:latin typeface="Arial"/>
                <a:cs typeface="Arial"/>
              </a:rPr>
              <a:t>Updates can cause </a:t>
            </a:r>
            <a:r>
              <a:rPr sz="1100" spc="-10" dirty="0">
                <a:latin typeface="Arial"/>
                <a:cs typeface="Arial"/>
              </a:rPr>
              <a:t>constraints </a:t>
            </a:r>
            <a:r>
              <a:rPr sz="1100" spc="-5" dirty="0">
                <a:latin typeface="Arial"/>
                <a:cs typeface="Arial"/>
              </a:rPr>
              <a:t>to </a:t>
            </a:r>
            <a:r>
              <a:rPr sz="1100" spc="-10" dirty="0">
                <a:latin typeface="Arial"/>
                <a:cs typeface="Arial"/>
              </a:rPr>
              <a:t>be </a:t>
            </a:r>
            <a:r>
              <a:rPr sz="1100" spc="-5" dirty="0">
                <a:latin typeface="Arial"/>
                <a:cs typeface="Arial"/>
              </a:rPr>
              <a:t>violated</a:t>
            </a:r>
            <a:endParaRPr sz="1100">
              <a:latin typeface="Arial"/>
              <a:cs typeface="Arial"/>
            </a:endParaRPr>
          </a:p>
          <a:p>
            <a:pPr marL="314960" indent="-148590">
              <a:lnSpc>
                <a:spcPct val="100000"/>
              </a:lnSpc>
              <a:spcBef>
                <a:spcPts val="334"/>
              </a:spcBef>
              <a:buClr>
                <a:srgbClr val="3333B2"/>
              </a:buClr>
              <a:buSzPct val="72727"/>
              <a:buFont typeface="Lucida Sans Unicode"/>
              <a:buChar char="►"/>
              <a:tabLst>
                <a:tab pos="315595" algn="l"/>
              </a:tabLst>
            </a:pPr>
            <a:r>
              <a:rPr sz="1100" dirty="0">
                <a:latin typeface="Arial"/>
                <a:cs typeface="Arial"/>
              </a:rPr>
              <a:t>insert </a:t>
            </a:r>
            <a:r>
              <a:rPr sz="1100" spc="-10" dirty="0">
                <a:latin typeface="Arial"/>
                <a:cs typeface="Arial"/>
              </a:rPr>
              <a:t>a </a:t>
            </a:r>
            <a:r>
              <a:rPr sz="1100" spc="-15" dirty="0">
                <a:latin typeface="Arial"/>
                <a:cs typeface="Arial"/>
              </a:rPr>
              <a:t>row </a:t>
            </a:r>
            <a:r>
              <a:rPr sz="1100" spc="-5" dirty="0">
                <a:latin typeface="Arial"/>
                <a:cs typeface="Arial"/>
              </a:rPr>
              <a:t>with </a:t>
            </a:r>
            <a:r>
              <a:rPr sz="1100" spc="-10" dirty="0">
                <a:latin typeface="Arial"/>
                <a:cs typeface="Arial"/>
              </a:rPr>
              <a:t>a </a:t>
            </a:r>
            <a:r>
              <a:rPr sz="1100" spc="-5" dirty="0">
                <a:latin typeface="Arial"/>
                <a:cs typeface="Arial"/>
              </a:rPr>
              <a:t>duplicate </a:t>
            </a:r>
            <a:r>
              <a:rPr sz="1100" dirty="0">
                <a:latin typeface="Arial"/>
                <a:cs typeface="Arial"/>
              </a:rPr>
              <a:t>primary </a:t>
            </a:r>
            <a:r>
              <a:rPr sz="1100" spc="-25" dirty="0">
                <a:latin typeface="Arial"/>
                <a:cs typeface="Arial"/>
              </a:rPr>
              <a:t>key</a:t>
            </a:r>
            <a:r>
              <a:rPr sz="1100" dirty="0">
                <a:latin typeface="Arial"/>
                <a:cs typeface="Arial"/>
              </a:rPr>
              <a:t> </a:t>
            </a:r>
            <a:r>
              <a:rPr sz="1100" spc="-15" dirty="0">
                <a:latin typeface="Arial"/>
                <a:cs typeface="Arial"/>
              </a:rPr>
              <a:t>value</a:t>
            </a:r>
            <a:endParaRPr sz="1100">
              <a:latin typeface="Arial"/>
              <a:cs typeface="Arial"/>
            </a:endParaRPr>
          </a:p>
          <a:p>
            <a:pPr marL="314960" marR="30480" indent="-148590">
              <a:lnSpc>
                <a:spcPct val="102600"/>
              </a:lnSpc>
              <a:spcBef>
                <a:spcPts val="295"/>
              </a:spcBef>
              <a:buClr>
                <a:srgbClr val="3333B2"/>
              </a:buClr>
              <a:buSzPct val="72727"/>
              <a:buFont typeface="Lucida Sans Unicode"/>
              <a:buChar char="►"/>
              <a:tabLst>
                <a:tab pos="315595" algn="l"/>
              </a:tabLst>
            </a:pPr>
            <a:r>
              <a:rPr sz="1100" spc="-5" dirty="0">
                <a:latin typeface="Arial"/>
                <a:cs typeface="Arial"/>
              </a:rPr>
              <a:t>insert/update </a:t>
            </a:r>
            <a:r>
              <a:rPr sz="1100" spc="-10" dirty="0">
                <a:latin typeface="Arial"/>
                <a:cs typeface="Arial"/>
              </a:rPr>
              <a:t>a </a:t>
            </a:r>
            <a:r>
              <a:rPr sz="1100" spc="-15" dirty="0">
                <a:latin typeface="Arial"/>
                <a:cs typeface="Arial"/>
              </a:rPr>
              <a:t>row </a:t>
            </a:r>
            <a:r>
              <a:rPr sz="1100" spc="-5" dirty="0">
                <a:latin typeface="Arial"/>
                <a:cs typeface="Arial"/>
              </a:rPr>
              <a:t>with </a:t>
            </a:r>
            <a:r>
              <a:rPr sz="1100" spc="-10" dirty="0">
                <a:latin typeface="Arial"/>
                <a:cs typeface="Arial"/>
              </a:rPr>
              <a:t>a foreign </a:t>
            </a:r>
            <a:r>
              <a:rPr sz="1100" spc="-25" dirty="0">
                <a:latin typeface="Arial"/>
                <a:cs typeface="Arial"/>
              </a:rPr>
              <a:t>key </a:t>
            </a:r>
            <a:r>
              <a:rPr sz="1100" spc="-15" dirty="0">
                <a:latin typeface="Arial"/>
                <a:cs typeface="Arial"/>
              </a:rPr>
              <a:t>value </a:t>
            </a:r>
            <a:r>
              <a:rPr sz="1100" spc="-10" dirty="0">
                <a:latin typeface="Arial"/>
                <a:cs typeface="Arial"/>
              </a:rPr>
              <a:t>where  </a:t>
            </a:r>
            <a:r>
              <a:rPr sz="1100" spc="-5" dirty="0">
                <a:latin typeface="Arial"/>
                <a:cs typeface="Arial"/>
              </a:rPr>
              <a:t>corresponding </a:t>
            </a:r>
            <a:r>
              <a:rPr sz="1100" dirty="0">
                <a:latin typeface="Arial"/>
                <a:cs typeface="Arial"/>
              </a:rPr>
              <a:t>primary </a:t>
            </a:r>
            <a:r>
              <a:rPr sz="1100" spc="-25" dirty="0">
                <a:latin typeface="Arial"/>
                <a:cs typeface="Arial"/>
              </a:rPr>
              <a:t>key </a:t>
            </a:r>
            <a:r>
              <a:rPr sz="1100" spc="-15" dirty="0">
                <a:latin typeface="Arial"/>
                <a:cs typeface="Arial"/>
              </a:rPr>
              <a:t>value </a:t>
            </a:r>
            <a:r>
              <a:rPr sz="1100" spc="-10" dirty="0">
                <a:latin typeface="Arial"/>
                <a:cs typeface="Arial"/>
              </a:rPr>
              <a:t>does </a:t>
            </a:r>
            <a:r>
              <a:rPr sz="1100" spc="-5" dirty="0">
                <a:latin typeface="Arial"/>
                <a:cs typeface="Arial"/>
              </a:rPr>
              <a:t>not</a:t>
            </a:r>
            <a:r>
              <a:rPr sz="1100" spc="20" dirty="0">
                <a:latin typeface="Arial"/>
                <a:cs typeface="Arial"/>
              </a:rPr>
              <a:t> </a:t>
            </a:r>
            <a:r>
              <a:rPr sz="1100" spc="-15" dirty="0">
                <a:latin typeface="Arial"/>
                <a:cs typeface="Arial"/>
              </a:rPr>
              <a:t>exist</a:t>
            </a:r>
            <a:endParaRPr sz="1100">
              <a:latin typeface="Arial"/>
              <a:cs typeface="Arial"/>
            </a:endParaRPr>
          </a:p>
          <a:p>
            <a:pPr marL="314960" marR="364490" indent="-148590">
              <a:lnSpc>
                <a:spcPct val="102600"/>
              </a:lnSpc>
              <a:spcBef>
                <a:spcPts val="300"/>
              </a:spcBef>
              <a:buClr>
                <a:srgbClr val="3333B2"/>
              </a:buClr>
              <a:buSzPct val="72727"/>
              <a:buFont typeface="Lucida Sans Unicode"/>
              <a:buChar char="►"/>
              <a:tabLst>
                <a:tab pos="315595" algn="l"/>
              </a:tabLst>
            </a:pPr>
            <a:r>
              <a:rPr sz="1100" spc="-5" dirty="0">
                <a:latin typeface="Arial"/>
                <a:cs typeface="Arial"/>
              </a:rPr>
              <a:t>delete/update </a:t>
            </a:r>
            <a:r>
              <a:rPr sz="1100" spc="-10" dirty="0">
                <a:latin typeface="Arial"/>
                <a:cs typeface="Arial"/>
              </a:rPr>
              <a:t>a </a:t>
            </a:r>
            <a:r>
              <a:rPr sz="1100" spc="-15" dirty="0">
                <a:latin typeface="Arial"/>
                <a:cs typeface="Arial"/>
              </a:rPr>
              <a:t>row </a:t>
            </a:r>
            <a:r>
              <a:rPr sz="1100" spc="-5" dirty="0">
                <a:latin typeface="Arial"/>
                <a:cs typeface="Arial"/>
              </a:rPr>
              <a:t>with </a:t>
            </a:r>
            <a:r>
              <a:rPr sz="1100" spc="-10" dirty="0">
                <a:latin typeface="Arial"/>
                <a:cs typeface="Arial"/>
              </a:rPr>
              <a:t>a </a:t>
            </a:r>
            <a:r>
              <a:rPr sz="1100" dirty="0">
                <a:latin typeface="Arial"/>
                <a:cs typeface="Arial"/>
              </a:rPr>
              <a:t>primary </a:t>
            </a:r>
            <a:r>
              <a:rPr sz="1100" spc="-25" dirty="0">
                <a:latin typeface="Arial"/>
                <a:cs typeface="Arial"/>
              </a:rPr>
              <a:t>key </a:t>
            </a:r>
            <a:r>
              <a:rPr sz="1100" spc="-15" dirty="0">
                <a:latin typeface="Arial"/>
                <a:cs typeface="Arial"/>
              </a:rPr>
              <a:t>value  </a:t>
            </a:r>
            <a:r>
              <a:rPr sz="1100" spc="-10" dirty="0">
                <a:latin typeface="Arial"/>
                <a:cs typeface="Arial"/>
              </a:rPr>
              <a:t>referenced </a:t>
            </a:r>
            <a:r>
              <a:rPr sz="1100" spc="-20" dirty="0">
                <a:latin typeface="Arial"/>
                <a:cs typeface="Arial"/>
              </a:rPr>
              <a:t>by </a:t>
            </a:r>
            <a:r>
              <a:rPr sz="1100" spc="-10" dirty="0">
                <a:latin typeface="Arial"/>
                <a:cs typeface="Arial"/>
              </a:rPr>
              <a:t>a foreign </a:t>
            </a:r>
            <a:r>
              <a:rPr sz="1100" spc="-25" dirty="0">
                <a:latin typeface="Arial"/>
                <a:cs typeface="Arial"/>
              </a:rPr>
              <a:t>key</a:t>
            </a:r>
            <a:r>
              <a:rPr sz="1100" spc="15" dirty="0">
                <a:latin typeface="Arial"/>
                <a:cs typeface="Arial"/>
              </a:rPr>
              <a:t> </a:t>
            </a:r>
            <a:r>
              <a:rPr sz="1100" spc="-15" dirty="0">
                <a:latin typeface="Arial"/>
                <a:cs typeface="Arial"/>
              </a:rPr>
              <a:t>value</a:t>
            </a:r>
            <a:endParaRPr sz="1100">
              <a:latin typeface="Arial"/>
              <a:cs typeface="Arial"/>
            </a:endParaRPr>
          </a:p>
          <a:p>
            <a:pPr marL="38100" marR="239395">
              <a:lnSpc>
                <a:spcPct val="102699"/>
              </a:lnSpc>
              <a:spcBef>
                <a:spcPts val="300"/>
              </a:spcBef>
            </a:pPr>
            <a:r>
              <a:rPr sz="1100" spc="-10" dirty="0">
                <a:latin typeface="Arial"/>
                <a:cs typeface="Arial"/>
              </a:rPr>
              <a:t>The default behaviour </a:t>
            </a:r>
            <a:r>
              <a:rPr sz="1100" spc="-5" dirty="0">
                <a:latin typeface="Arial"/>
                <a:cs typeface="Arial"/>
              </a:rPr>
              <a:t>is </a:t>
            </a:r>
            <a:r>
              <a:rPr sz="1100" spc="-20" dirty="0">
                <a:latin typeface="Arial"/>
                <a:cs typeface="Arial"/>
              </a:rPr>
              <a:t>for </a:t>
            </a:r>
            <a:r>
              <a:rPr sz="1100" spc="-5" dirty="0">
                <a:latin typeface="Arial"/>
                <a:cs typeface="Arial"/>
              </a:rPr>
              <a:t>the database system to  </a:t>
            </a:r>
            <a:r>
              <a:rPr sz="1100" spc="-10" dirty="0">
                <a:latin typeface="Arial"/>
                <a:cs typeface="Arial"/>
              </a:rPr>
              <a:t>disallow </a:t>
            </a:r>
            <a:r>
              <a:rPr sz="1100" spc="-5" dirty="0">
                <a:latin typeface="Arial"/>
                <a:cs typeface="Arial"/>
              </a:rPr>
              <a:t>such </a:t>
            </a:r>
            <a:r>
              <a:rPr sz="1100" spc="-10" dirty="0">
                <a:latin typeface="Arial"/>
                <a:cs typeface="Arial"/>
              </a:rPr>
              <a:t>updates.</a:t>
            </a:r>
            <a:endParaRPr sz="1100">
              <a:latin typeface="Arial"/>
              <a:cs typeface="Arial"/>
            </a:endParaRPr>
          </a:p>
        </p:txBody>
      </p:sp>
    </p:spTree>
    <p:extLst>
      <p:ext uri="{BB962C8B-B14F-4D97-AF65-F5344CB8AC3E}">
        <p14:creationId xmlns:p14="http://schemas.microsoft.com/office/powerpoint/2010/main" val="899902629"/>
      </p:ext>
    </p:extLst>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latin typeface="Arial"/>
                <a:cs typeface="Arial"/>
                <a:hlinkClick r:id="rId2" action="ppaction://hlinksldjump"/>
              </a:rPr>
              <a:t>SQL Update</a:t>
            </a:r>
            <a:r>
              <a:rPr sz="400" spc="-35" dirty="0">
                <a:latin typeface="Arial"/>
                <a:cs typeface="Arial"/>
                <a:hlinkClick r:id="rId2" action="ppaction://hlinksldjump"/>
              </a:rPr>
              <a:t> </a:t>
            </a:r>
            <a:r>
              <a:rPr sz="400" spc="-5" dirty="0">
                <a:latin typeface="Arial"/>
                <a:cs typeface="Arial"/>
                <a:hlinkClick r:id="rId2" action="ppaction://hlinksldjump"/>
              </a:rPr>
              <a:t>Commands </a:t>
            </a:r>
            <a:r>
              <a:rPr sz="400" spc="-5" dirty="0">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solidFill>
                  <a:srgbClr val="999999"/>
                </a:solidFill>
                <a:latin typeface="Arial"/>
                <a:cs typeface="Arial"/>
                <a:hlinkClick r:id="rId4" action="ppaction://hlinksldjump"/>
              </a:rPr>
              <a:t>SQL</a:t>
            </a:r>
            <a:r>
              <a:rPr sz="400" spc="-10" dirty="0">
                <a:solidFill>
                  <a:srgbClr val="999999"/>
                </a:solidFill>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961514" cy="244475"/>
          </a:xfrm>
          <a:prstGeom prst="rect">
            <a:avLst/>
          </a:prstGeom>
        </p:spPr>
        <p:txBody>
          <a:bodyPr vert="horz" wrap="square" lIns="0" tIns="17145" rIns="0" bIns="0" rtlCol="0">
            <a:spAutoFit/>
          </a:bodyPr>
          <a:lstStyle/>
          <a:p>
            <a:pPr marL="12700">
              <a:lnSpc>
                <a:spcPct val="100000"/>
              </a:lnSpc>
              <a:spcBef>
                <a:spcPts val="135"/>
              </a:spcBef>
            </a:pPr>
            <a:r>
              <a:rPr spc="10" dirty="0"/>
              <a:t>Foreign </a:t>
            </a:r>
            <a:r>
              <a:rPr spc="-15" dirty="0"/>
              <a:t>Key</a:t>
            </a:r>
            <a:r>
              <a:rPr spc="-35" dirty="0"/>
              <a:t> </a:t>
            </a:r>
            <a:r>
              <a:rPr spc="10" dirty="0"/>
              <a:t>Constraints</a:t>
            </a:r>
          </a:p>
        </p:txBody>
      </p:sp>
      <p:sp>
        <p:nvSpPr>
          <p:cNvPr id="24" name="object 24"/>
          <p:cNvSpPr txBox="1"/>
          <p:nvPr/>
        </p:nvSpPr>
        <p:spPr>
          <a:xfrm>
            <a:off x="154597" y="316812"/>
            <a:ext cx="3373754" cy="2943225"/>
          </a:xfrm>
          <a:prstGeom prst="rect">
            <a:avLst/>
          </a:prstGeom>
        </p:spPr>
        <p:txBody>
          <a:bodyPr vert="horz" wrap="square" lIns="0" tIns="47625" rIns="0" bIns="0" rtlCol="0">
            <a:spAutoFit/>
          </a:bodyPr>
          <a:lstStyle/>
          <a:p>
            <a:pPr marL="25400">
              <a:lnSpc>
                <a:spcPct val="100000"/>
              </a:lnSpc>
              <a:spcBef>
                <a:spcPts val="375"/>
              </a:spcBef>
            </a:pPr>
            <a:r>
              <a:rPr sz="1100" spc="-5" dirty="0">
                <a:latin typeface="Arial"/>
                <a:cs typeface="Arial"/>
              </a:rPr>
              <a:t>In the </a:t>
            </a:r>
            <a:r>
              <a:rPr sz="1100" spc="-10" dirty="0">
                <a:latin typeface="Arial"/>
                <a:cs typeface="Arial"/>
              </a:rPr>
              <a:t>foreign </a:t>
            </a:r>
            <a:r>
              <a:rPr sz="1100" spc="-25" dirty="0">
                <a:latin typeface="Arial"/>
                <a:cs typeface="Arial"/>
              </a:rPr>
              <a:t>key </a:t>
            </a:r>
            <a:r>
              <a:rPr sz="1100" spc="-5" dirty="0">
                <a:latin typeface="Arial"/>
                <a:cs typeface="Arial"/>
              </a:rPr>
              <a:t>definition, </a:t>
            </a:r>
            <a:r>
              <a:rPr sz="1100" spc="-15" dirty="0">
                <a:latin typeface="Arial"/>
                <a:cs typeface="Arial"/>
              </a:rPr>
              <a:t>we </a:t>
            </a:r>
            <a:r>
              <a:rPr sz="1100" spc="-5" dirty="0">
                <a:latin typeface="Arial"/>
                <a:cs typeface="Arial"/>
              </a:rPr>
              <a:t>can specify</a:t>
            </a:r>
            <a:r>
              <a:rPr sz="1100" spc="5" dirty="0">
                <a:latin typeface="Arial"/>
                <a:cs typeface="Arial"/>
              </a:rPr>
              <a:t> </a:t>
            </a:r>
            <a:r>
              <a:rPr sz="1100" spc="-5" dirty="0">
                <a:latin typeface="Arial"/>
                <a:cs typeface="Arial"/>
              </a:rPr>
              <a:t>either</a:t>
            </a:r>
            <a:endParaRPr sz="1100" dirty="0">
              <a:latin typeface="Arial"/>
              <a:cs typeface="Arial"/>
            </a:endParaRPr>
          </a:p>
          <a:p>
            <a:pPr marL="302260" indent="-148590">
              <a:lnSpc>
                <a:spcPct val="100000"/>
              </a:lnSpc>
              <a:spcBef>
                <a:spcPts val="280"/>
              </a:spcBef>
              <a:buClr>
                <a:srgbClr val="3333B2"/>
              </a:buClr>
              <a:buSzPct val="72727"/>
              <a:buFont typeface="Lucida Sans Unicode"/>
              <a:buChar char="►"/>
              <a:tabLst>
                <a:tab pos="302895" algn="l"/>
              </a:tabLst>
            </a:pPr>
            <a:r>
              <a:rPr sz="1100" spc="-10" dirty="0">
                <a:solidFill>
                  <a:srgbClr val="0000FF"/>
                </a:solidFill>
                <a:latin typeface="Arial"/>
                <a:cs typeface="Arial"/>
              </a:rPr>
              <a:t>ON DELETE</a:t>
            </a:r>
            <a:r>
              <a:rPr sz="1100" spc="-45" dirty="0">
                <a:solidFill>
                  <a:srgbClr val="0000FF"/>
                </a:solidFill>
                <a:latin typeface="Arial"/>
                <a:cs typeface="Arial"/>
              </a:rPr>
              <a:t> </a:t>
            </a:r>
            <a:r>
              <a:rPr sz="1100" spc="-10" dirty="0">
                <a:solidFill>
                  <a:srgbClr val="0000FF"/>
                </a:solidFill>
                <a:latin typeface="Arial"/>
                <a:cs typeface="Arial"/>
              </a:rPr>
              <a:t>CASCADE</a:t>
            </a:r>
            <a:endParaRPr sz="1100" dirty="0">
              <a:latin typeface="Arial"/>
              <a:cs typeface="Arial"/>
            </a:endParaRPr>
          </a:p>
          <a:p>
            <a:pPr marL="302260" indent="-148590">
              <a:lnSpc>
                <a:spcPct val="100000"/>
              </a:lnSpc>
              <a:spcBef>
                <a:spcPts val="265"/>
              </a:spcBef>
              <a:buClr>
                <a:srgbClr val="3333B2"/>
              </a:buClr>
              <a:buSzPct val="72727"/>
              <a:buFont typeface="Lucida Sans Unicode"/>
              <a:buChar char="►"/>
              <a:tabLst>
                <a:tab pos="302895" algn="l"/>
              </a:tabLst>
            </a:pPr>
            <a:r>
              <a:rPr sz="1100" spc="-10" dirty="0">
                <a:solidFill>
                  <a:srgbClr val="0000FF"/>
                </a:solidFill>
                <a:latin typeface="Arial"/>
                <a:cs typeface="Arial"/>
              </a:rPr>
              <a:t>ON </a:t>
            </a:r>
            <a:r>
              <a:rPr sz="1100" spc="-40" dirty="0">
                <a:solidFill>
                  <a:srgbClr val="0000FF"/>
                </a:solidFill>
                <a:latin typeface="Arial"/>
                <a:cs typeface="Arial"/>
              </a:rPr>
              <a:t>UPDATE</a:t>
            </a:r>
            <a:r>
              <a:rPr sz="1100" spc="-50" dirty="0">
                <a:solidFill>
                  <a:srgbClr val="0000FF"/>
                </a:solidFill>
                <a:latin typeface="Arial"/>
                <a:cs typeface="Arial"/>
              </a:rPr>
              <a:t> </a:t>
            </a:r>
            <a:r>
              <a:rPr sz="1100" spc="-10" dirty="0">
                <a:solidFill>
                  <a:srgbClr val="0000FF"/>
                </a:solidFill>
                <a:latin typeface="Arial"/>
                <a:cs typeface="Arial"/>
              </a:rPr>
              <a:t>CASCADE</a:t>
            </a:r>
            <a:endParaRPr sz="1100" dirty="0">
              <a:latin typeface="Arial"/>
              <a:cs typeface="Arial"/>
            </a:endParaRPr>
          </a:p>
          <a:p>
            <a:pPr marL="25400" marR="229870">
              <a:lnSpc>
                <a:spcPct val="102600"/>
              </a:lnSpc>
              <a:spcBef>
                <a:spcPts val="240"/>
              </a:spcBef>
            </a:pPr>
            <a:r>
              <a:rPr sz="1100" spc="-20" dirty="0">
                <a:latin typeface="Arial"/>
                <a:cs typeface="Arial"/>
              </a:rPr>
              <a:t>for </a:t>
            </a:r>
            <a:r>
              <a:rPr sz="1100" spc="-5" dirty="0">
                <a:latin typeface="Arial"/>
                <a:cs typeface="Arial"/>
              </a:rPr>
              <a:t>actions </a:t>
            </a:r>
            <a:r>
              <a:rPr sz="1100" spc="-10" dirty="0">
                <a:latin typeface="Arial"/>
                <a:cs typeface="Arial"/>
              </a:rPr>
              <a:t>on </a:t>
            </a:r>
            <a:r>
              <a:rPr sz="1100" spc="-5" dirty="0">
                <a:latin typeface="Arial"/>
                <a:cs typeface="Arial"/>
              </a:rPr>
              <a:t>the </a:t>
            </a:r>
            <a:r>
              <a:rPr sz="1100" spc="-10" dirty="0">
                <a:latin typeface="Arial"/>
                <a:cs typeface="Arial"/>
              </a:rPr>
              <a:t>referenced </a:t>
            </a:r>
            <a:r>
              <a:rPr sz="1100" spc="-5" dirty="0">
                <a:latin typeface="Arial"/>
                <a:cs typeface="Arial"/>
              </a:rPr>
              <a:t>relation to cascade to  </a:t>
            </a:r>
            <a:r>
              <a:rPr sz="1100" spc="-10" dirty="0">
                <a:latin typeface="Arial"/>
                <a:cs typeface="Arial"/>
              </a:rPr>
              <a:t>referencing </a:t>
            </a:r>
            <a:r>
              <a:rPr sz="1100" spc="-5" dirty="0">
                <a:latin typeface="Arial"/>
                <a:cs typeface="Arial"/>
              </a:rPr>
              <a:t>relation, or</a:t>
            </a:r>
            <a:endParaRPr sz="1100" dirty="0">
              <a:latin typeface="Arial"/>
              <a:cs typeface="Arial"/>
            </a:endParaRPr>
          </a:p>
          <a:p>
            <a:pPr marL="302260" indent="-148590">
              <a:lnSpc>
                <a:spcPct val="100000"/>
              </a:lnSpc>
              <a:spcBef>
                <a:spcPts val="275"/>
              </a:spcBef>
              <a:buClr>
                <a:srgbClr val="3333B2"/>
              </a:buClr>
              <a:buSzPct val="72727"/>
              <a:buFont typeface="Lucida Sans Unicode"/>
              <a:buChar char="►"/>
              <a:tabLst>
                <a:tab pos="302895" algn="l"/>
              </a:tabLst>
            </a:pPr>
            <a:r>
              <a:rPr sz="1100" spc="-10" dirty="0">
                <a:solidFill>
                  <a:srgbClr val="0000FF"/>
                </a:solidFill>
                <a:latin typeface="Arial"/>
                <a:cs typeface="Arial"/>
              </a:rPr>
              <a:t>ON DELETE SET</a:t>
            </a:r>
            <a:r>
              <a:rPr sz="1100" spc="-40" dirty="0">
                <a:solidFill>
                  <a:srgbClr val="0000FF"/>
                </a:solidFill>
                <a:latin typeface="Arial"/>
                <a:cs typeface="Arial"/>
              </a:rPr>
              <a:t> </a:t>
            </a:r>
            <a:r>
              <a:rPr sz="1100" spc="-10" dirty="0">
                <a:solidFill>
                  <a:srgbClr val="0000FF"/>
                </a:solidFill>
                <a:latin typeface="Arial"/>
                <a:cs typeface="Arial"/>
              </a:rPr>
              <a:t>NULL</a:t>
            </a:r>
            <a:endParaRPr sz="1100" dirty="0">
              <a:latin typeface="Arial"/>
              <a:cs typeface="Arial"/>
            </a:endParaRPr>
          </a:p>
          <a:p>
            <a:pPr marL="302260" indent="-148590">
              <a:lnSpc>
                <a:spcPct val="100000"/>
              </a:lnSpc>
              <a:spcBef>
                <a:spcPts val="265"/>
              </a:spcBef>
              <a:buClr>
                <a:srgbClr val="3333B2"/>
              </a:buClr>
              <a:buSzPct val="72727"/>
              <a:buFont typeface="Lucida Sans Unicode"/>
              <a:buChar char="►"/>
              <a:tabLst>
                <a:tab pos="302895" algn="l"/>
              </a:tabLst>
            </a:pPr>
            <a:r>
              <a:rPr sz="1100" spc="-10" dirty="0">
                <a:solidFill>
                  <a:srgbClr val="0000FF"/>
                </a:solidFill>
                <a:latin typeface="Arial"/>
                <a:cs typeface="Arial"/>
              </a:rPr>
              <a:t>ON </a:t>
            </a:r>
            <a:r>
              <a:rPr sz="1100" spc="-40" dirty="0">
                <a:solidFill>
                  <a:srgbClr val="0000FF"/>
                </a:solidFill>
                <a:latin typeface="Arial"/>
                <a:cs typeface="Arial"/>
              </a:rPr>
              <a:t>UPDATE </a:t>
            </a:r>
            <a:r>
              <a:rPr sz="1100" spc="-10" dirty="0">
                <a:solidFill>
                  <a:srgbClr val="0000FF"/>
                </a:solidFill>
                <a:latin typeface="Arial"/>
                <a:cs typeface="Arial"/>
              </a:rPr>
              <a:t>SET NULL</a:t>
            </a:r>
            <a:endParaRPr sz="1100" dirty="0">
              <a:latin typeface="Arial"/>
              <a:cs typeface="Arial"/>
            </a:endParaRPr>
          </a:p>
          <a:p>
            <a:pPr marL="25400" marR="17780">
              <a:lnSpc>
                <a:spcPct val="102600"/>
              </a:lnSpc>
              <a:spcBef>
                <a:spcPts val="245"/>
              </a:spcBef>
            </a:pPr>
            <a:r>
              <a:rPr sz="1100" spc="-20" dirty="0">
                <a:latin typeface="Arial"/>
                <a:cs typeface="Arial"/>
              </a:rPr>
              <a:t>for </a:t>
            </a:r>
            <a:r>
              <a:rPr sz="1100" spc="-5" dirty="0">
                <a:latin typeface="Arial"/>
                <a:cs typeface="Arial"/>
              </a:rPr>
              <a:t>the </a:t>
            </a:r>
            <a:r>
              <a:rPr sz="1100" spc="-10" dirty="0">
                <a:latin typeface="Arial"/>
                <a:cs typeface="Arial"/>
              </a:rPr>
              <a:t>referencing relation’s values </a:t>
            </a:r>
            <a:r>
              <a:rPr sz="1100" spc="-5" dirty="0">
                <a:latin typeface="Arial"/>
                <a:cs typeface="Arial"/>
              </a:rPr>
              <a:t>to </a:t>
            </a:r>
            <a:r>
              <a:rPr sz="1100" spc="-10" dirty="0">
                <a:latin typeface="Arial"/>
                <a:cs typeface="Arial"/>
              </a:rPr>
              <a:t>be </a:t>
            </a:r>
            <a:r>
              <a:rPr sz="1100" spc="-5" dirty="0">
                <a:latin typeface="Arial"/>
                <a:cs typeface="Arial"/>
              </a:rPr>
              <a:t>set to </a:t>
            </a:r>
            <a:r>
              <a:rPr sz="1100" spc="-10" dirty="0">
                <a:latin typeface="Arial"/>
                <a:cs typeface="Arial"/>
              </a:rPr>
              <a:t>null  Assume </a:t>
            </a:r>
            <a:r>
              <a:rPr sz="1100" spc="-10" dirty="0">
                <a:solidFill>
                  <a:srgbClr val="0000FF"/>
                </a:solidFill>
                <a:latin typeface="Arial"/>
                <a:cs typeface="Arial"/>
              </a:rPr>
              <a:t>name </a:t>
            </a:r>
            <a:r>
              <a:rPr sz="1100" spc="-5" dirty="0">
                <a:latin typeface="Arial"/>
                <a:cs typeface="Arial"/>
              </a:rPr>
              <a:t>is the </a:t>
            </a:r>
            <a:r>
              <a:rPr sz="1100" dirty="0">
                <a:latin typeface="Arial"/>
                <a:cs typeface="Arial"/>
              </a:rPr>
              <a:t>primary </a:t>
            </a:r>
            <a:r>
              <a:rPr sz="1100" spc="-25" dirty="0">
                <a:latin typeface="Arial"/>
                <a:cs typeface="Arial"/>
              </a:rPr>
              <a:t>key </a:t>
            </a:r>
            <a:r>
              <a:rPr sz="1100" spc="-20" dirty="0">
                <a:latin typeface="Arial"/>
                <a:cs typeface="Arial"/>
              </a:rPr>
              <a:t>for </a:t>
            </a:r>
            <a:r>
              <a:rPr sz="1100" spc="-5" dirty="0">
                <a:latin typeface="Arial"/>
                <a:cs typeface="Arial"/>
              </a:rPr>
              <a:t>the </a:t>
            </a:r>
            <a:r>
              <a:rPr sz="1100" spc="-10" dirty="0">
                <a:solidFill>
                  <a:srgbClr val="0000FF"/>
                </a:solidFill>
                <a:latin typeface="Arial"/>
                <a:cs typeface="Arial"/>
              </a:rPr>
              <a:t>Pubs</a:t>
            </a:r>
            <a:r>
              <a:rPr sz="1100" spc="55" dirty="0">
                <a:solidFill>
                  <a:srgbClr val="0000FF"/>
                </a:solidFill>
                <a:latin typeface="Arial"/>
                <a:cs typeface="Arial"/>
              </a:rPr>
              <a:t> </a:t>
            </a:r>
            <a:r>
              <a:rPr sz="1100" spc="-5" dirty="0">
                <a:latin typeface="Arial"/>
                <a:cs typeface="Arial"/>
              </a:rPr>
              <a:t>relation.</a:t>
            </a:r>
            <a:endParaRPr sz="1100" dirty="0">
              <a:latin typeface="Arial"/>
              <a:cs typeface="Arial"/>
            </a:endParaRPr>
          </a:p>
          <a:p>
            <a:pPr marL="427355">
              <a:lnSpc>
                <a:spcPct val="100000"/>
              </a:lnSpc>
              <a:spcBef>
                <a:spcPts val="1015"/>
              </a:spcBef>
              <a:tabLst>
                <a:tab pos="964565" algn="l"/>
              </a:tabLst>
            </a:pPr>
            <a:r>
              <a:rPr sz="1100" spc="-5" dirty="0">
                <a:solidFill>
                  <a:srgbClr val="0000FF"/>
                </a:solidFill>
                <a:latin typeface="Arial"/>
                <a:cs typeface="Arial"/>
              </a:rPr>
              <a:t>create	</a:t>
            </a:r>
            <a:r>
              <a:rPr sz="1100" spc="-10" dirty="0">
                <a:solidFill>
                  <a:srgbClr val="0000FF"/>
                </a:solidFill>
                <a:latin typeface="Arial"/>
                <a:cs typeface="Arial"/>
              </a:rPr>
              <a:t>table </a:t>
            </a:r>
            <a:r>
              <a:rPr sz="1100" spc="-5" dirty="0">
                <a:solidFill>
                  <a:srgbClr val="0000FF"/>
                </a:solidFill>
                <a:latin typeface="Arial"/>
                <a:cs typeface="Arial"/>
              </a:rPr>
              <a:t>Sells</a:t>
            </a:r>
            <a:endParaRPr sz="1100" dirty="0">
              <a:latin typeface="Arial"/>
              <a:cs typeface="Arial"/>
            </a:endParaRPr>
          </a:p>
          <a:p>
            <a:pPr marL="964565">
              <a:lnSpc>
                <a:spcPct val="100000"/>
              </a:lnSpc>
              <a:spcBef>
                <a:spcPts val="35"/>
              </a:spcBef>
            </a:pPr>
            <a:r>
              <a:rPr sz="1100" spc="-5" dirty="0">
                <a:solidFill>
                  <a:srgbClr val="0000FF"/>
                </a:solidFill>
                <a:latin typeface="Arial"/>
                <a:cs typeface="Arial"/>
              </a:rPr>
              <a:t>( . .</a:t>
            </a:r>
            <a:r>
              <a:rPr sz="1100" spc="-250" dirty="0">
                <a:solidFill>
                  <a:srgbClr val="0000FF"/>
                </a:solidFill>
                <a:latin typeface="Arial"/>
                <a:cs typeface="Arial"/>
              </a:rPr>
              <a:t> </a:t>
            </a:r>
            <a:r>
              <a:rPr sz="1100" spc="-5" dirty="0">
                <a:solidFill>
                  <a:srgbClr val="0000FF"/>
                </a:solidFill>
                <a:latin typeface="Arial"/>
                <a:cs typeface="Arial"/>
              </a:rPr>
              <a:t>.</a:t>
            </a:r>
            <a:endParaRPr sz="1100" dirty="0">
              <a:latin typeface="Arial"/>
              <a:cs typeface="Arial"/>
            </a:endParaRPr>
          </a:p>
          <a:p>
            <a:pPr marL="964565">
              <a:lnSpc>
                <a:spcPct val="100000"/>
              </a:lnSpc>
              <a:spcBef>
                <a:spcPts val="35"/>
              </a:spcBef>
              <a:tabLst>
                <a:tab pos="1784350" algn="l"/>
              </a:tabLst>
            </a:pPr>
            <a:r>
              <a:rPr sz="1100" spc="-10" dirty="0">
                <a:solidFill>
                  <a:srgbClr val="0000FF"/>
                </a:solidFill>
                <a:latin typeface="Arial"/>
                <a:cs typeface="Arial"/>
              </a:rPr>
              <a:t>foreign</a:t>
            </a:r>
            <a:r>
              <a:rPr sz="1100" dirty="0">
                <a:solidFill>
                  <a:srgbClr val="0000FF"/>
                </a:solidFill>
                <a:latin typeface="Arial"/>
                <a:cs typeface="Arial"/>
              </a:rPr>
              <a:t> </a:t>
            </a:r>
            <a:r>
              <a:rPr sz="1100" spc="-25" dirty="0">
                <a:solidFill>
                  <a:srgbClr val="0000FF"/>
                </a:solidFill>
                <a:latin typeface="Arial"/>
                <a:cs typeface="Arial"/>
              </a:rPr>
              <a:t>key	</a:t>
            </a:r>
            <a:r>
              <a:rPr sz="1100" spc="-5" dirty="0">
                <a:solidFill>
                  <a:srgbClr val="0000FF"/>
                </a:solidFill>
                <a:latin typeface="Arial"/>
                <a:cs typeface="Arial"/>
              </a:rPr>
              <a:t>(pub) </a:t>
            </a:r>
            <a:r>
              <a:rPr sz="1100" spc="-10" dirty="0">
                <a:solidFill>
                  <a:srgbClr val="0000FF"/>
                </a:solidFill>
                <a:latin typeface="Arial"/>
                <a:cs typeface="Arial"/>
              </a:rPr>
              <a:t>references</a:t>
            </a:r>
            <a:r>
              <a:rPr sz="1100" spc="-20" dirty="0">
                <a:solidFill>
                  <a:srgbClr val="0000FF"/>
                </a:solidFill>
                <a:latin typeface="Arial"/>
                <a:cs typeface="Arial"/>
              </a:rPr>
              <a:t> </a:t>
            </a:r>
            <a:r>
              <a:rPr sz="1100" spc="-10" dirty="0">
                <a:solidFill>
                  <a:srgbClr val="0000FF"/>
                </a:solidFill>
                <a:latin typeface="Arial"/>
                <a:cs typeface="Arial"/>
              </a:rPr>
              <a:t>Pubs</a:t>
            </a:r>
            <a:endParaRPr sz="1100" dirty="0">
              <a:latin typeface="Arial"/>
              <a:cs typeface="Arial"/>
            </a:endParaRPr>
          </a:p>
          <a:p>
            <a:pPr marL="1784350" marR="450215">
              <a:lnSpc>
                <a:spcPct val="102600"/>
              </a:lnSpc>
            </a:pPr>
            <a:r>
              <a:rPr sz="1100" spc="-10" dirty="0">
                <a:solidFill>
                  <a:srgbClr val="0000FF"/>
                </a:solidFill>
                <a:latin typeface="Arial"/>
                <a:cs typeface="Arial"/>
              </a:rPr>
              <a:t>on </a:t>
            </a:r>
            <a:r>
              <a:rPr sz="1100" spc="-5" dirty="0">
                <a:solidFill>
                  <a:srgbClr val="0000FF"/>
                </a:solidFill>
                <a:latin typeface="Arial"/>
                <a:cs typeface="Arial"/>
              </a:rPr>
              <a:t>delete</a:t>
            </a:r>
            <a:r>
              <a:rPr sz="1100" spc="-80" dirty="0">
                <a:solidFill>
                  <a:srgbClr val="0000FF"/>
                </a:solidFill>
                <a:latin typeface="Arial"/>
                <a:cs typeface="Arial"/>
              </a:rPr>
              <a:t> </a:t>
            </a:r>
            <a:r>
              <a:rPr sz="1100" spc="-5" dirty="0">
                <a:solidFill>
                  <a:srgbClr val="0000FF"/>
                </a:solidFill>
                <a:latin typeface="Arial"/>
                <a:cs typeface="Arial"/>
              </a:rPr>
              <a:t>cascade  </a:t>
            </a:r>
            <a:r>
              <a:rPr sz="1100" spc="-10" dirty="0">
                <a:solidFill>
                  <a:srgbClr val="0000FF"/>
                </a:solidFill>
                <a:latin typeface="Arial"/>
                <a:cs typeface="Arial"/>
              </a:rPr>
              <a:t>on </a:t>
            </a:r>
            <a:r>
              <a:rPr sz="1100" spc="-5" dirty="0">
                <a:solidFill>
                  <a:srgbClr val="0000FF"/>
                </a:solidFill>
                <a:latin typeface="Arial"/>
                <a:cs typeface="Arial"/>
              </a:rPr>
              <a:t>update set</a:t>
            </a:r>
            <a:r>
              <a:rPr sz="1100" spc="-70" dirty="0">
                <a:solidFill>
                  <a:srgbClr val="0000FF"/>
                </a:solidFill>
                <a:latin typeface="Arial"/>
                <a:cs typeface="Arial"/>
              </a:rPr>
              <a:t> </a:t>
            </a:r>
            <a:r>
              <a:rPr sz="1100" spc="-10" dirty="0">
                <a:solidFill>
                  <a:srgbClr val="0000FF"/>
                </a:solidFill>
                <a:latin typeface="Arial"/>
                <a:cs typeface="Arial"/>
              </a:rPr>
              <a:t>null,</a:t>
            </a:r>
            <a:endParaRPr sz="1100" dirty="0">
              <a:latin typeface="Arial"/>
              <a:cs typeface="Arial"/>
            </a:endParaRPr>
          </a:p>
          <a:p>
            <a:pPr marL="964565">
              <a:lnSpc>
                <a:spcPct val="100000"/>
              </a:lnSpc>
              <a:spcBef>
                <a:spcPts val="35"/>
              </a:spcBef>
            </a:pPr>
            <a:r>
              <a:rPr sz="1100" spc="-5" dirty="0">
                <a:solidFill>
                  <a:srgbClr val="0000FF"/>
                </a:solidFill>
                <a:latin typeface="Arial"/>
                <a:cs typeface="Arial"/>
              </a:rPr>
              <a:t>.</a:t>
            </a:r>
            <a:r>
              <a:rPr sz="1100" spc="-130" dirty="0">
                <a:solidFill>
                  <a:srgbClr val="0000FF"/>
                </a:solidFill>
                <a:latin typeface="Arial"/>
                <a:cs typeface="Arial"/>
              </a:rPr>
              <a:t> </a:t>
            </a:r>
            <a:r>
              <a:rPr sz="1100" spc="-5" dirty="0">
                <a:solidFill>
                  <a:srgbClr val="0000FF"/>
                </a:solidFill>
                <a:latin typeface="Arial"/>
                <a:cs typeface="Arial"/>
              </a:rPr>
              <a:t>.</a:t>
            </a:r>
            <a:r>
              <a:rPr sz="1100" spc="-125" dirty="0">
                <a:solidFill>
                  <a:srgbClr val="0000FF"/>
                </a:solidFill>
                <a:latin typeface="Arial"/>
                <a:cs typeface="Arial"/>
              </a:rPr>
              <a:t> </a:t>
            </a:r>
            <a:r>
              <a:rPr sz="1100" spc="-5" dirty="0">
                <a:solidFill>
                  <a:srgbClr val="0000FF"/>
                </a:solidFill>
                <a:latin typeface="Arial"/>
                <a:cs typeface="Arial"/>
              </a:rPr>
              <a:t>.</a:t>
            </a:r>
            <a:r>
              <a:rPr sz="1100" spc="-125" dirty="0">
                <a:solidFill>
                  <a:srgbClr val="0000FF"/>
                </a:solidFill>
                <a:latin typeface="Arial"/>
                <a:cs typeface="Arial"/>
              </a:rPr>
              <a:t> </a:t>
            </a:r>
            <a:r>
              <a:rPr sz="1100" spc="-5" dirty="0">
                <a:solidFill>
                  <a:srgbClr val="0000FF"/>
                </a:solidFill>
                <a:latin typeface="Arial"/>
                <a:cs typeface="Arial"/>
              </a:rPr>
              <a:t>);</a:t>
            </a:r>
            <a:endParaRPr sz="1100" dirty="0">
              <a:latin typeface="Arial"/>
              <a:cs typeface="Arial"/>
            </a:endParaRPr>
          </a:p>
        </p:txBody>
      </p:sp>
    </p:spTree>
    <p:extLst>
      <p:ext uri="{BB962C8B-B14F-4D97-AF65-F5344CB8AC3E}">
        <p14:creationId xmlns:p14="http://schemas.microsoft.com/office/powerpoint/2010/main" val="262952419"/>
      </p:ext>
    </p:extLst>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latin typeface="Arial"/>
                <a:cs typeface="Arial"/>
                <a:hlinkClick r:id="rId2" action="ppaction://hlinksldjump"/>
              </a:rPr>
              <a:t>SQL Update</a:t>
            </a:r>
            <a:r>
              <a:rPr sz="400" spc="-35" dirty="0">
                <a:latin typeface="Arial"/>
                <a:cs typeface="Arial"/>
                <a:hlinkClick r:id="rId2" action="ppaction://hlinksldjump"/>
              </a:rPr>
              <a:t> </a:t>
            </a:r>
            <a:r>
              <a:rPr sz="400" spc="-5" dirty="0">
                <a:latin typeface="Arial"/>
                <a:cs typeface="Arial"/>
                <a:hlinkClick r:id="rId2" action="ppaction://hlinksldjump"/>
              </a:rPr>
              <a:t>Commands </a:t>
            </a:r>
            <a:r>
              <a:rPr sz="400" spc="-5" dirty="0">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solidFill>
                  <a:srgbClr val="999999"/>
                </a:solidFill>
                <a:latin typeface="Arial"/>
                <a:cs typeface="Arial"/>
                <a:hlinkClick r:id="rId4" action="ppaction://hlinksldjump"/>
              </a:rPr>
              <a:t>SQL</a:t>
            </a:r>
            <a:r>
              <a:rPr sz="400" spc="-10" dirty="0">
                <a:solidFill>
                  <a:srgbClr val="999999"/>
                </a:solidFill>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451610" cy="244475"/>
          </a:xfrm>
          <a:prstGeom prst="rect">
            <a:avLst/>
          </a:prstGeom>
        </p:spPr>
        <p:txBody>
          <a:bodyPr vert="horz" wrap="square" lIns="0" tIns="17145" rIns="0" bIns="0" rtlCol="0">
            <a:spAutoFit/>
          </a:bodyPr>
          <a:lstStyle/>
          <a:p>
            <a:pPr marL="12700">
              <a:lnSpc>
                <a:spcPct val="100000"/>
              </a:lnSpc>
              <a:spcBef>
                <a:spcPts val="135"/>
              </a:spcBef>
            </a:pPr>
            <a:r>
              <a:rPr spc="15" dirty="0"/>
              <a:t>Other</a:t>
            </a:r>
            <a:r>
              <a:rPr spc="-30" dirty="0"/>
              <a:t> </a:t>
            </a:r>
            <a:r>
              <a:rPr spc="10" dirty="0"/>
              <a:t>Constraints</a:t>
            </a:r>
          </a:p>
        </p:txBody>
      </p:sp>
      <p:sp>
        <p:nvSpPr>
          <p:cNvPr id="24" name="object 24"/>
          <p:cNvSpPr txBox="1"/>
          <p:nvPr/>
        </p:nvSpPr>
        <p:spPr>
          <a:xfrm>
            <a:off x="270992" y="954162"/>
            <a:ext cx="3261995" cy="1606550"/>
          </a:xfrm>
          <a:prstGeom prst="rect">
            <a:avLst/>
          </a:prstGeom>
        </p:spPr>
        <p:txBody>
          <a:bodyPr vert="horz" wrap="square" lIns="0" tIns="6985" rIns="0" bIns="0" rtlCol="0">
            <a:spAutoFit/>
          </a:bodyPr>
          <a:lstStyle/>
          <a:p>
            <a:pPr marL="186055" marR="30480" indent="-148590">
              <a:lnSpc>
                <a:spcPct val="102600"/>
              </a:lnSpc>
              <a:spcBef>
                <a:spcPts val="55"/>
              </a:spcBef>
              <a:buClr>
                <a:srgbClr val="3333B2"/>
              </a:buClr>
              <a:buSzPct val="72727"/>
              <a:buFont typeface="Lucida Sans Unicode"/>
              <a:buChar char="►"/>
              <a:tabLst>
                <a:tab pos="186690" algn="l"/>
              </a:tabLst>
            </a:pPr>
            <a:r>
              <a:rPr sz="1100" spc="-25" dirty="0">
                <a:latin typeface="Arial"/>
                <a:cs typeface="Arial"/>
              </a:rPr>
              <a:t>We </a:t>
            </a:r>
            <a:r>
              <a:rPr sz="1100" spc="-20" dirty="0">
                <a:latin typeface="Arial"/>
                <a:cs typeface="Arial"/>
              </a:rPr>
              <a:t>have </a:t>
            </a:r>
            <a:r>
              <a:rPr sz="1100" spc="-5" dirty="0">
                <a:latin typeface="Arial"/>
                <a:cs typeface="Arial"/>
              </a:rPr>
              <a:t>already </a:t>
            </a:r>
            <a:r>
              <a:rPr sz="1100" spc="-15" dirty="0">
                <a:latin typeface="Arial"/>
                <a:cs typeface="Arial"/>
              </a:rPr>
              <a:t>covered </a:t>
            </a:r>
            <a:r>
              <a:rPr sz="1100" dirty="0">
                <a:latin typeface="Arial"/>
                <a:cs typeface="Arial"/>
              </a:rPr>
              <a:t>primary </a:t>
            </a:r>
            <a:r>
              <a:rPr sz="1100" spc="-25" dirty="0">
                <a:latin typeface="Arial"/>
                <a:cs typeface="Arial"/>
              </a:rPr>
              <a:t>key </a:t>
            </a:r>
            <a:r>
              <a:rPr sz="1100" spc="-10" dirty="0">
                <a:latin typeface="Arial"/>
                <a:cs typeface="Arial"/>
              </a:rPr>
              <a:t>and foreign  </a:t>
            </a:r>
            <a:r>
              <a:rPr sz="1100" spc="-25" dirty="0">
                <a:latin typeface="Arial"/>
                <a:cs typeface="Arial"/>
              </a:rPr>
              <a:t>key</a:t>
            </a:r>
            <a:r>
              <a:rPr sz="1100" spc="-10" dirty="0">
                <a:latin typeface="Arial"/>
                <a:cs typeface="Arial"/>
              </a:rPr>
              <a:t> constraints</a:t>
            </a:r>
            <a:endParaRPr sz="1100">
              <a:latin typeface="Arial"/>
              <a:cs typeface="Arial"/>
            </a:endParaRPr>
          </a:p>
          <a:p>
            <a:pPr marL="186055" marR="288290" indent="-148590">
              <a:lnSpc>
                <a:spcPts val="1200"/>
              </a:lnSpc>
              <a:spcBef>
                <a:spcPts val="315"/>
              </a:spcBef>
              <a:buClr>
                <a:srgbClr val="3333B2"/>
              </a:buClr>
              <a:buSzPct val="72727"/>
              <a:buFont typeface="Lucida Sans Unicode"/>
              <a:buChar char="►"/>
              <a:tabLst>
                <a:tab pos="186690" algn="l"/>
              </a:tabLst>
            </a:pPr>
            <a:r>
              <a:rPr sz="1100" spc="-5" dirty="0">
                <a:latin typeface="Arial"/>
                <a:cs typeface="Arial"/>
              </a:rPr>
              <a:t>Other integrity </a:t>
            </a:r>
            <a:r>
              <a:rPr sz="1100" spc="-10" dirty="0">
                <a:latin typeface="Arial"/>
                <a:cs typeface="Arial"/>
              </a:rPr>
              <a:t>constraints on a </a:t>
            </a:r>
            <a:r>
              <a:rPr sz="1100" spc="-5" dirty="0">
                <a:latin typeface="Arial"/>
                <a:cs typeface="Arial"/>
              </a:rPr>
              <a:t>single relation  include:</a:t>
            </a:r>
            <a:endParaRPr sz="1100">
              <a:latin typeface="Arial"/>
              <a:cs typeface="Arial"/>
            </a:endParaRPr>
          </a:p>
          <a:p>
            <a:pPr marL="325755">
              <a:lnSpc>
                <a:spcPts val="1200"/>
              </a:lnSpc>
              <a:spcBef>
                <a:spcPts val="150"/>
              </a:spcBef>
            </a:pPr>
            <a:r>
              <a:rPr sz="900" spc="494" baseline="13888" dirty="0">
                <a:solidFill>
                  <a:srgbClr val="3333B2"/>
                </a:solidFill>
                <a:latin typeface="Arial"/>
                <a:cs typeface="Arial"/>
              </a:rPr>
              <a:t>) </a:t>
            </a:r>
            <a:r>
              <a:rPr sz="1000" spc="-5" dirty="0">
                <a:solidFill>
                  <a:srgbClr val="0000FF"/>
                </a:solidFill>
                <a:latin typeface="Arial"/>
                <a:cs typeface="Arial"/>
              </a:rPr>
              <a:t>not</a:t>
            </a:r>
            <a:r>
              <a:rPr sz="1000" spc="35" dirty="0">
                <a:solidFill>
                  <a:srgbClr val="0000FF"/>
                </a:solidFill>
                <a:latin typeface="Arial"/>
                <a:cs typeface="Arial"/>
              </a:rPr>
              <a:t> </a:t>
            </a:r>
            <a:r>
              <a:rPr sz="1000" spc="-5" dirty="0">
                <a:solidFill>
                  <a:srgbClr val="0000FF"/>
                </a:solidFill>
                <a:latin typeface="Arial"/>
                <a:cs typeface="Arial"/>
              </a:rPr>
              <a:t>null</a:t>
            </a:r>
            <a:endParaRPr sz="1000">
              <a:latin typeface="Arial"/>
              <a:cs typeface="Arial"/>
            </a:endParaRPr>
          </a:p>
          <a:p>
            <a:pPr marL="325755">
              <a:lnSpc>
                <a:spcPts val="1195"/>
              </a:lnSpc>
            </a:pPr>
            <a:r>
              <a:rPr sz="900" spc="494" baseline="13888" dirty="0">
                <a:solidFill>
                  <a:srgbClr val="3333B2"/>
                </a:solidFill>
                <a:latin typeface="Arial"/>
                <a:cs typeface="Arial"/>
              </a:rPr>
              <a:t>)</a:t>
            </a:r>
            <a:r>
              <a:rPr sz="900" spc="562" baseline="13888" dirty="0">
                <a:solidFill>
                  <a:srgbClr val="3333B2"/>
                </a:solidFill>
                <a:latin typeface="Arial"/>
                <a:cs typeface="Arial"/>
              </a:rPr>
              <a:t> </a:t>
            </a:r>
            <a:r>
              <a:rPr sz="1000" spc="-5" dirty="0">
                <a:solidFill>
                  <a:srgbClr val="0000FF"/>
                </a:solidFill>
                <a:latin typeface="Arial"/>
                <a:cs typeface="Arial"/>
              </a:rPr>
              <a:t>unique</a:t>
            </a:r>
            <a:endParaRPr sz="1000">
              <a:latin typeface="Arial"/>
              <a:cs typeface="Arial"/>
            </a:endParaRPr>
          </a:p>
          <a:p>
            <a:pPr marL="325755">
              <a:lnSpc>
                <a:spcPts val="1200"/>
              </a:lnSpc>
            </a:pPr>
            <a:r>
              <a:rPr sz="900" spc="494" baseline="13888" dirty="0">
                <a:solidFill>
                  <a:srgbClr val="3333B2"/>
                </a:solidFill>
                <a:latin typeface="Arial"/>
                <a:cs typeface="Arial"/>
              </a:rPr>
              <a:t>)</a:t>
            </a:r>
            <a:r>
              <a:rPr sz="900" spc="60" baseline="13888" dirty="0">
                <a:solidFill>
                  <a:srgbClr val="3333B2"/>
                </a:solidFill>
                <a:latin typeface="Arial"/>
                <a:cs typeface="Arial"/>
              </a:rPr>
              <a:t> </a:t>
            </a:r>
            <a:r>
              <a:rPr sz="1000" spc="-5" dirty="0">
                <a:solidFill>
                  <a:srgbClr val="0000FF"/>
                </a:solidFill>
                <a:latin typeface="Arial"/>
                <a:cs typeface="Arial"/>
              </a:rPr>
              <a:t>check(. . . )</a:t>
            </a:r>
            <a:endParaRPr sz="1000">
              <a:latin typeface="Arial"/>
              <a:cs typeface="Arial"/>
            </a:endParaRPr>
          </a:p>
          <a:p>
            <a:pPr marL="186055" indent="-148590">
              <a:lnSpc>
                <a:spcPct val="100000"/>
              </a:lnSpc>
              <a:spcBef>
                <a:spcPts val="355"/>
              </a:spcBef>
              <a:buClr>
                <a:srgbClr val="3333B2"/>
              </a:buClr>
              <a:buSzPct val="72727"/>
              <a:buFont typeface="Lucida Sans Unicode"/>
              <a:buChar char="►"/>
              <a:tabLst>
                <a:tab pos="186690" algn="l"/>
              </a:tabLst>
            </a:pPr>
            <a:r>
              <a:rPr sz="1100" spc="-5" dirty="0">
                <a:latin typeface="Arial"/>
                <a:cs typeface="Arial"/>
              </a:rPr>
              <a:t>appear in </a:t>
            </a:r>
            <a:r>
              <a:rPr sz="1100" spc="-5" dirty="0">
                <a:solidFill>
                  <a:srgbClr val="0000FF"/>
                </a:solidFill>
                <a:latin typeface="Arial"/>
                <a:cs typeface="Arial"/>
              </a:rPr>
              <a:t>create </a:t>
            </a:r>
            <a:r>
              <a:rPr sz="1100" spc="-10" dirty="0">
                <a:solidFill>
                  <a:srgbClr val="0000FF"/>
                </a:solidFill>
                <a:latin typeface="Arial"/>
                <a:cs typeface="Arial"/>
              </a:rPr>
              <a:t>table</a:t>
            </a:r>
            <a:r>
              <a:rPr sz="1100" spc="-20" dirty="0">
                <a:solidFill>
                  <a:srgbClr val="0000FF"/>
                </a:solidFill>
                <a:latin typeface="Arial"/>
                <a:cs typeface="Arial"/>
              </a:rPr>
              <a:t> </a:t>
            </a:r>
            <a:r>
              <a:rPr sz="1100" spc="-5" dirty="0">
                <a:latin typeface="Arial"/>
                <a:cs typeface="Arial"/>
              </a:rPr>
              <a:t>statement</a:t>
            </a:r>
            <a:endParaRPr sz="1100">
              <a:latin typeface="Arial"/>
              <a:cs typeface="Arial"/>
            </a:endParaRPr>
          </a:p>
          <a:p>
            <a:pPr marL="186055" indent="-148590">
              <a:lnSpc>
                <a:spcPct val="100000"/>
              </a:lnSpc>
              <a:spcBef>
                <a:spcPts val="330"/>
              </a:spcBef>
              <a:buClr>
                <a:srgbClr val="3333B2"/>
              </a:buClr>
              <a:buSzPct val="72727"/>
              <a:buFont typeface="Lucida Sans Unicode"/>
              <a:buChar char="►"/>
              <a:tabLst>
                <a:tab pos="186690" algn="l"/>
              </a:tabLst>
            </a:pPr>
            <a:r>
              <a:rPr sz="1100" spc="-10" dirty="0">
                <a:latin typeface="Arial"/>
                <a:cs typeface="Arial"/>
              </a:rPr>
              <a:t>e.g., </a:t>
            </a:r>
            <a:r>
              <a:rPr sz="1100" spc="-10" dirty="0">
                <a:solidFill>
                  <a:srgbClr val="0000FF"/>
                </a:solidFill>
                <a:latin typeface="Arial"/>
                <a:cs typeface="Arial"/>
              </a:rPr>
              <a:t>check </a:t>
            </a:r>
            <a:r>
              <a:rPr sz="1100" spc="-5" dirty="0">
                <a:solidFill>
                  <a:srgbClr val="0000FF"/>
                </a:solidFill>
                <a:latin typeface="Arial"/>
                <a:cs typeface="Arial"/>
              </a:rPr>
              <a:t>(price </a:t>
            </a:r>
            <a:r>
              <a:rPr sz="1100" spc="-10" dirty="0">
                <a:solidFill>
                  <a:srgbClr val="0000FF"/>
                </a:solidFill>
                <a:latin typeface="Arial"/>
                <a:cs typeface="Arial"/>
              </a:rPr>
              <a:t>&gt;</a:t>
            </a:r>
            <a:r>
              <a:rPr sz="1100" dirty="0">
                <a:solidFill>
                  <a:srgbClr val="0000FF"/>
                </a:solidFill>
                <a:latin typeface="Arial"/>
                <a:cs typeface="Arial"/>
              </a:rPr>
              <a:t> </a:t>
            </a:r>
            <a:r>
              <a:rPr sz="1100" spc="-5" dirty="0">
                <a:solidFill>
                  <a:srgbClr val="0000FF"/>
                </a:solidFill>
                <a:latin typeface="Arial"/>
                <a:cs typeface="Arial"/>
              </a:rPr>
              <a:t>0)</a:t>
            </a:r>
            <a:endParaRPr sz="1100">
              <a:latin typeface="Arial"/>
              <a:cs typeface="Arial"/>
            </a:endParaRPr>
          </a:p>
        </p:txBody>
      </p:sp>
    </p:spTree>
    <p:extLst>
      <p:ext uri="{BB962C8B-B14F-4D97-AF65-F5344CB8AC3E}">
        <p14:creationId xmlns:p14="http://schemas.microsoft.com/office/powerpoint/2010/main" val="2347134323"/>
      </p:ext>
    </p:extLst>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latin typeface="Arial"/>
                <a:cs typeface="Arial"/>
                <a:hlinkClick r:id="rId3" action="ppaction://hlinksldjump"/>
              </a:rPr>
              <a:t>SQL</a:t>
            </a:r>
            <a:r>
              <a:rPr sz="400" spc="-10" dirty="0">
                <a:latin typeface="Arial"/>
                <a:cs typeface="Arial"/>
                <a:hlinkClick r:id="rId3" action="ppaction://hlinksldjump"/>
              </a:rPr>
              <a:t> </a:t>
            </a:r>
            <a:r>
              <a:rPr sz="400" spc="-5" dirty="0">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solidFill>
                  <a:srgbClr val="999999"/>
                </a:solidFill>
                <a:latin typeface="Arial"/>
                <a:cs typeface="Arial"/>
                <a:hlinkClick r:id="rId4" action="ppaction://hlinksldjump"/>
              </a:rPr>
              <a:t>SQL</a:t>
            </a:r>
            <a:r>
              <a:rPr sz="400" spc="-10" dirty="0">
                <a:solidFill>
                  <a:srgbClr val="999999"/>
                </a:solidFill>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508000" cy="244475"/>
          </a:xfrm>
          <a:prstGeom prst="rect">
            <a:avLst/>
          </a:prstGeom>
        </p:spPr>
        <p:txBody>
          <a:bodyPr vert="horz" wrap="square" lIns="0" tIns="17145" rIns="0" bIns="0" rtlCol="0">
            <a:spAutoFit/>
          </a:bodyPr>
          <a:lstStyle/>
          <a:p>
            <a:pPr marL="12700">
              <a:lnSpc>
                <a:spcPct val="100000"/>
              </a:lnSpc>
              <a:spcBef>
                <a:spcPts val="135"/>
              </a:spcBef>
            </a:pPr>
            <a:r>
              <a:rPr spc="15" dirty="0"/>
              <a:t>Vi</a:t>
            </a:r>
            <a:r>
              <a:rPr spc="-15" dirty="0"/>
              <a:t>e</a:t>
            </a:r>
            <a:r>
              <a:rPr spc="20" dirty="0"/>
              <a:t>ws</a:t>
            </a:r>
          </a:p>
        </p:txBody>
      </p:sp>
      <p:sp>
        <p:nvSpPr>
          <p:cNvPr id="24" name="object 24"/>
          <p:cNvSpPr txBox="1"/>
          <p:nvPr/>
        </p:nvSpPr>
        <p:spPr>
          <a:xfrm>
            <a:off x="270992" y="672425"/>
            <a:ext cx="3450590" cy="2312670"/>
          </a:xfrm>
          <a:prstGeom prst="rect">
            <a:avLst/>
          </a:prstGeom>
        </p:spPr>
        <p:txBody>
          <a:bodyPr vert="horz" wrap="square" lIns="0" tIns="6985" rIns="0" bIns="0" rtlCol="0">
            <a:spAutoFit/>
          </a:bodyPr>
          <a:lstStyle/>
          <a:p>
            <a:pPr marL="186055" marR="96520" indent="-148590">
              <a:lnSpc>
                <a:spcPct val="102600"/>
              </a:lnSpc>
              <a:spcBef>
                <a:spcPts val="55"/>
              </a:spcBef>
              <a:buClr>
                <a:srgbClr val="3333B2"/>
              </a:buClr>
              <a:buSzPct val="72727"/>
              <a:buFont typeface="Lucida Sans Unicode"/>
              <a:buChar char="►"/>
              <a:tabLst>
                <a:tab pos="186690" algn="l"/>
              </a:tabLst>
            </a:pPr>
            <a:r>
              <a:rPr sz="1100" spc="-10" dirty="0">
                <a:latin typeface="Arial"/>
                <a:cs typeface="Arial"/>
              </a:rPr>
              <a:t>So </a:t>
            </a:r>
            <a:r>
              <a:rPr sz="1100" spc="-20" dirty="0">
                <a:latin typeface="Arial"/>
                <a:cs typeface="Arial"/>
              </a:rPr>
              <a:t>far </a:t>
            </a:r>
            <a:r>
              <a:rPr sz="1100" spc="-15" dirty="0">
                <a:latin typeface="Arial"/>
                <a:cs typeface="Arial"/>
              </a:rPr>
              <a:t>we </a:t>
            </a:r>
            <a:r>
              <a:rPr sz="1100" spc="-20" dirty="0">
                <a:latin typeface="Arial"/>
                <a:cs typeface="Arial"/>
              </a:rPr>
              <a:t>have </a:t>
            </a:r>
            <a:r>
              <a:rPr sz="1100" spc="-10" dirty="0">
                <a:latin typeface="Arial"/>
                <a:cs typeface="Arial"/>
              </a:rPr>
              <a:t>been operating </a:t>
            </a:r>
            <a:r>
              <a:rPr sz="1100" spc="-5" dirty="0">
                <a:latin typeface="Arial"/>
                <a:cs typeface="Arial"/>
              </a:rPr>
              <a:t>at the logical </a:t>
            </a:r>
            <a:r>
              <a:rPr sz="1100" spc="-20" dirty="0">
                <a:latin typeface="Arial"/>
                <a:cs typeface="Arial"/>
              </a:rPr>
              <a:t>level </a:t>
            </a:r>
            <a:r>
              <a:rPr sz="1100" spc="-5" dirty="0">
                <a:latin typeface="Arial"/>
                <a:cs typeface="Arial"/>
              </a:rPr>
              <a:t>of  the</a:t>
            </a:r>
            <a:r>
              <a:rPr sz="1100" spc="-10" dirty="0">
                <a:latin typeface="Arial"/>
                <a:cs typeface="Arial"/>
              </a:rPr>
              <a:t> database.</a:t>
            </a:r>
            <a:endParaRPr sz="1100">
              <a:latin typeface="Arial"/>
              <a:cs typeface="Arial"/>
            </a:endParaRPr>
          </a:p>
          <a:p>
            <a:pPr marL="186055" marR="374650" indent="-148590">
              <a:lnSpc>
                <a:spcPct val="102600"/>
              </a:lnSpc>
              <a:spcBef>
                <a:spcPts val="300"/>
              </a:spcBef>
              <a:buClr>
                <a:srgbClr val="3333B2"/>
              </a:buClr>
              <a:buSzPct val="72727"/>
              <a:buFont typeface="Lucida Sans Unicode"/>
              <a:buChar char="►"/>
              <a:tabLst>
                <a:tab pos="186690" algn="l"/>
              </a:tabLst>
            </a:pPr>
            <a:r>
              <a:rPr sz="1100" spc="-20" dirty="0">
                <a:latin typeface="Arial"/>
                <a:cs typeface="Arial"/>
              </a:rPr>
              <a:t>For </a:t>
            </a:r>
            <a:r>
              <a:rPr sz="1100" spc="-10" dirty="0">
                <a:latin typeface="Arial"/>
                <a:cs typeface="Arial"/>
              </a:rPr>
              <a:t>various </a:t>
            </a:r>
            <a:r>
              <a:rPr sz="1100" spc="-5" dirty="0">
                <a:latin typeface="Arial"/>
                <a:cs typeface="Arial"/>
              </a:rPr>
              <a:t>reasons </a:t>
            </a:r>
            <a:r>
              <a:rPr sz="1100" spc="-10" dirty="0">
                <a:latin typeface="Arial"/>
                <a:cs typeface="Arial"/>
              </a:rPr>
              <a:t>(e.g. </a:t>
            </a:r>
            <a:r>
              <a:rPr sz="1100" spc="-5" dirty="0">
                <a:latin typeface="Arial"/>
                <a:cs typeface="Arial"/>
              </a:rPr>
              <a:t>security) not all users  should </a:t>
            </a:r>
            <a:r>
              <a:rPr sz="1100" spc="-20" dirty="0">
                <a:latin typeface="Arial"/>
                <a:cs typeface="Arial"/>
              </a:rPr>
              <a:t>have </a:t>
            </a:r>
            <a:r>
              <a:rPr sz="1100" spc="-5" dirty="0">
                <a:latin typeface="Arial"/>
                <a:cs typeface="Arial"/>
              </a:rPr>
              <a:t>access to the entire logical</a:t>
            </a:r>
            <a:r>
              <a:rPr sz="1100" spc="-55" dirty="0">
                <a:latin typeface="Arial"/>
                <a:cs typeface="Arial"/>
              </a:rPr>
              <a:t> </a:t>
            </a:r>
            <a:r>
              <a:rPr sz="1100" spc="-5" dirty="0">
                <a:latin typeface="Arial"/>
                <a:cs typeface="Arial"/>
              </a:rPr>
              <a:t>model.</a:t>
            </a:r>
            <a:endParaRPr sz="1100">
              <a:latin typeface="Arial"/>
              <a:cs typeface="Arial"/>
            </a:endParaRPr>
          </a:p>
          <a:p>
            <a:pPr marL="186055" marR="302895" indent="-148590">
              <a:lnSpc>
                <a:spcPct val="102600"/>
              </a:lnSpc>
              <a:spcBef>
                <a:spcPts val="300"/>
              </a:spcBef>
              <a:buClr>
                <a:srgbClr val="3333B2"/>
              </a:buClr>
              <a:buSzPct val="72727"/>
              <a:buFont typeface="Lucida Sans Unicode"/>
              <a:buChar char="►"/>
              <a:tabLst>
                <a:tab pos="186690" algn="l"/>
              </a:tabLst>
            </a:pPr>
            <a:r>
              <a:rPr sz="1100" spc="-10" dirty="0">
                <a:latin typeface="Arial"/>
                <a:cs typeface="Arial"/>
              </a:rPr>
              <a:t>The </a:t>
            </a:r>
            <a:r>
              <a:rPr sz="1100" spc="-15" dirty="0">
                <a:latin typeface="Arial"/>
                <a:cs typeface="Arial"/>
              </a:rPr>
              <a:t>view </a:t>
            </a:r>
            <a:r>
              <a:rPr sz="1100" spc="-5" dirty="0">
                <a:latin typeface="Arial"/>
                <a:cs typeface="Arial"/>
              </a:rPr>
              <a:t>(or </a:t>
            </a:r>
            <a:r>
              <a:rPr sz="1100" spc="-10" dirty="0">
                <a:latin typeface="Arial"/>
                <a:cs typeface="Arial"/>
              </a:rPr>
              <a:t>external) </a:t>
            </a:r>
            <a:r>
              <a:rPr sz="1100" spc="-20" dirty="0">
                <a:latin typeface="Arial"/>
                <a:cs typeface="Arial"/>
              </a:rPr>
              <a:t>level </a:t>
            </a:r>
            <a:r>
              <a:rPr sz="1100" spc="-10" dirty="0">
                <a:latin typeface="Arial"/>
                <a:cs typeface="Arial"/>
              </a:rPr>
              <a:t>provides </a:t>
            </a:r>
            <a:r>
              <a:rPr sz="1100" spc="-5" dirty="0">
                <a:latin typeface="Arial"/>
                <a:cs typeface="Arial"/>
              </a:rPr>
              <a:t>appropriate  access </a:t>
            </a:r>
            <a:r>
              <a:rPr sz="1100" spc="-20" dirty="0">
                <a:latin typeface="Arial"/>
                <a:cs typeface="Arial"/>
              </a:rPr>
              <a:t>for</a:t>
            </a:r>
            <a:r>
              <a:rPr sz="1100" spc="-10" dirty="0">
                <a:latin typeface="Arial"/>
                <a:cs typeface="Arial"/>
              </a:rPr>
              <a:t> users.</a:t>
            </a:r>
            <a:endParaRPr sz="1100">
              <a:latin typeface="Arial"/>
              <a:cs typeface="Arial"/>
            </a:endParaRPr>
          </a:p>
          <a:p>
            <a:pPr marL="186055" indent="-148590">
              <a:lnSpc>
                <a:spcPct val="100000"/>
              </a:lnSpc>
              <a:spcBef>
                <a:spcPts val="334"/>
              </a:spcBef>
              <a:buClr>
                <a:srgbClr val="3333B2"/>
              </a:buClr>
              <a:buSzPct val="72727"/>
              <a:buFont typeface="Lucida Sans Unicode"/>
              <a:buChar char="►"/>
              <a:tabLst>
                <a:tab pos="186690" algn="l"/>
              </a:tabLst>
            </a:pPr>
            <a:r>
              <a:rPr sz="1100" spc="-10" dirty="0">
                <a:latin typeface="Arial"/>
                <a:cs typeface="Arial"/>
              </a:rPr>
              <a:t>Views </a:t>
            </a:r>
            <a:r>
              <a:rPr sz="1100" spc="-5" dirty="0">
                <a:latin typeface="Arial"/>
                <a:cs typeface="Arial"/>
              </a:rPr>
              <a:t>are defined using</a:t>
            </a:r>
            <a:r>
              <a:rPr sz="1100" spc="-10" dirty="0">
                <a:latin typeface="Arial"/>
                <a:cs typeface="Arial"/>
              </a:rPr>
              <a:t> </a:t>
            </a:r>
            <a:r>
              <a:rPr sz="1100" spc="-5" dirty="0">
                <a:latin typeface="Arial"/>
                <a:cs typeface="Arial"/>
              </a:rPr>
              <a:t>queries.</a:t>
            </a:r>
            <a:endParaRPr sz="1100">
              <a:latin typeface="Arial"/>
              <a:cs typeface="Arial"/>
            </a:endParaRPr>
          </a:p>
          <a:p>
            <a:pPr marL="186055" marR="30480" indent="-148590">
              <a:lnSpc>
                <a:spcPct val="102699"/>
              </a:lnSpc>
              <a:spcBef>
                <a:spcPts val="295"/>
              </a:spcBef>
              <a:buClr>
                <a:srgbClr val="3333B2"/>
              </a:buClr>
              <a:buSzPct val="72727"/>
              <a:buFont typeface="Lucida Sans Unicode"/>
              <a:buChar char="►"/>
              <a:tabLst>
                <a:tab pos="186690" algn="l"/>
              </a:tabLst>
            </a:pPr>
            <a:r>
              <a:rPr sz="1100" dirty="0">
                <a:latin typeface="Arial"/>
                <a:cs typeface="Arial"/>
              </a:rPr>
              <a:t>(Virtual) </a:t>
            </a:r>
            <a:r>
              <a:rPr sz="1100" spc="-10" dirty="0">
                <a:latin typeface="Arial"/>
                <a:cs typeface="Arial"/>
              </a:rPr>
              <a:t>views </a:t>
            </a:r>
            <a:r>
              <a:rPr sz="1100" spc="-5" dirty="0">
                <a:latin typeface="Arial"/>
                <a:cs typeface="Arial"/>
              </a:rPr>
              <a:t>are </a:t>
            </a:r>
            <a:r>
              <a:rPr sz="1100" i="1" spc="-5" dirty="0">
                <a:latin typeface="Arial"/>
                <a:cs typeface="Arial"/>
              </a:rPr>
              <a:t>not </a:t>
            </a:r>
            <a:r>
              <a:rPr sz="1100" spc="-5" dirty="0">
                <a:latin typeface="Arial"/>
                <a:cs typeface="Arial"/>
              </a:rPr>
              <a:t>precomputed </a:t>
            </a:r>
            <a:r>
              <a:rPr sz="1100" spc="-10" dirty="0">
                <a:latin typeface="Arial"/>
                <a:cs typeface="Arial"/>
              </a:rPr>
              <a:t>and </a:t>
            </a:r>
            <a:r>
              <a:rPr sz="1100" spc="-5" dirty="0">
                <a:latin typeface="Arial"/>
                <a:cs typeface="Arial"/>
              </a:rPr>
              <a:t>their results  stored.</a:t>
            </a:r>
            <a:endParaRPr sz="1100">
              <a:latin typeface="Arial"/>
              <a:cs typeface="Arial"/>
            </a:endParaRPr>
          </a:p>
          <a:p>
            <a:pPr marL="186055" marR="568960" indent="-148590">
              <a:lnSpc>
                <a:spcPct val="102699"/>
              </a:lnSpc>
              <a:spcBef>
                <a:spcPts val="300"/>
              </a:spcBef>
              <a:buClr>
                <a:srgbClr val="3333B2"/>
              </a:buClr>
              <a:buSzPct val="72727"/>
              <a:buFont typeface="Lucida Sans Unicode"/>
              <a:buChar char="►"/>
              <a:tabLst>
                <a:tab pos="186690" algn="l"/>
              </a:tabLst>
            </a:pPr>
            <a:r>
              <a:rPr sz="1100" spc="-5" dirty="0">
                <a:latin typeface="Arial"/>
                <a:cs typeface="Arial"/>
              </a:rPr>
              <a:t>Instead </a:t>
            </a:r>
            <a:r>
              <a:rPr sz="1100" spc="-15" dirty="0">
                <a:latin typeface="Arial"/>
                <a:cs typeface="Arial"/>
              </a:rPr>
              <a:t>they </a:t>
            </a:r>
            <a:r>
              <a:rPr sz="1100" spc="-5" dirty="0">
                <a:latin typeface="Arial"/>
                <a:cs typeface="Arial"/>
              </a:rPr>
              <a:t>can </a:t>
            </a:r>
            <a:r>
              <a:rPr sz="1100" spc="-10" dirty="0">
                <a:latin typeface="Arial"/>
                <a:cs typeface="Arial"/>
              </a:rPr>
              <a:t>be </a:t>
            </a:r>
            <a:r>
              <a:rPr sz="1100" spc="-5" dirty="0">
                <a:latin typeface="Arial"/>
                <a:cs typeface="Arial"/>
              </a:rPr>
              <a:t>queried </a:t>
            </a:r>
            <a:r>
              <a:rPr sz="1100" spc="-10" dirty="0">
                <a:latin typeface="Arial"/>
                <a:cs typeface="Arial"/>
              </a:rPr>
              <a:t>and </a:t>
            </a:r>
            <a:r>
              <a:rPr sz="1100" spc="-5" dirty="0">
                <a:latin typeface="Arial"/>
                <a:cs typeface="Arial"/>
              </a:rPr>
              <a:t>the system  “combines” the </a:t>
            </a:r>
            <a:r>
              <a:rPr sz="1100" dirty="0">
                <a:latin typeface="Arial"/>
                <a:cs typeface="Arial"/>
              </a:rPr>
              <a:t>query </a:t>
            </a:r>
            <a:r>
              <a:rPr sz="1100" spc="-10" dirty="0">
                <a:latin typeface="Arial"/>
                <a:cs typeface="Arial"/>
              </a:rPr>
              <a:t>and </a:t>
            </a:r>
            <a:r>
              <a:rPr sz="1100" spc="-15" dirty="0">
                <a:latin typeface="Arial"/>
                <a:cs typeface="Arial"/>
              </a:rPr>
              <a:t>view</a:t>
            </a:r>
            <a:r>
              <a:rPr sz="1100" spc="-30" dirty="0">
                <a:latin typeface="Arial"/>
                <a:cs typeface="Arial"/>
              </a:rPr>
              <a:t> </a:t>
            </a:r>
            <a:r>
              <a:rPr sz="1100" spc="-5" dirty="0">
                <a:latin typeface="Arial"/>
                <a:cs typeface="Arial"/>
              </a:rPr>
              <a:t>definition.</a:t>
            </a:r>
            <a:endParaRPr sz="1100">
              <a:latin typeface="Arial"/>
              <a:cs typeface="Arial"/>
            </a:endParaRPr>
          </a:p>
          <a:p>
            <a:pPr marL="186055" indent="-148590">
              <a:lnSpc>
                <a:spcPct val="100000"/>
              </a:lnSpc>
              <a:spcBef>
                <a:spcPts val="334"/>
              </a:spcBef>
              <a:buClr>
                <a:srgbClr val="3333B2"/>
              </a:buClr>
              <a:buSzPct val="72727"/>
              <a:buFont typeface="Lucida Sans Unicode"/>
              <a:buChar char="►"/>
              <a:tabLst>
                <a:tab pos="186690" algn="l"/>
              </a:tabLst>
            </a:pPr>
            <a:r>
              <a:rPr sz="1100" spc="-10" dirty="0">
                <a:latin typeface="Arial"/>
                <a:cs typeface="Arial"/>
              </a:rPr>
              <a:t>SQL </a:t>
            </a:r>
            <a:r>
              <a:rPr sz="1100" spc="-5" dirty="0">
                <a:latin typeface="Arial"/>
                <a:cs typeface="Arial"/>
              </a:rPr>
              <a:t>syntax is </a:t>
            </a:r>
            <a:r>
              <a:rPr sz="1100" spc="-30" dirty="0">
                <a:solidFill>
                  <a:srgbClr val="0000FF"/>
                </a:solidFill>
                <a:latin typeface="Arial"/>
                <a:cs typeface="Arial"/>
              </a:rPr>
              <a:t>CREATE </a:t>
            </a:r>
            <a:r>
              <a:rPr sz="1100" spc="-10" dirty="0">
                <a:solidFill>
                  <a:srgbClr val="0000FF"/>
                </a:solidFill>
                <a:latin typeface="Arial"/>
                <a:cs typeface="Arial"/>
              </a:rPr>
              <a:t>VIEW </a:t>
            </a:r>
            <a:r>
              <a:rPr sz="1100" i="1" spc="-10" dirty="0">
                <a:solidFill>
                  <a:srgbClr val="0000FF"/>
                </a:solidFill>
                <a:latin typeface="Arial"/>
                <a:cs typeface="Arial"/>
              </a:rPr>
              <a:t>V </a:t>
            </a:r>
            <a:r>
              <a:rPr sz="1100" spc="-10" dirty="0">
                <a:solidFill>
                  <a:srgbClr val="0000FF"/>
                </a:solidFill>
                <a:latin typeface="Arial"/>
                <a:cs typeface="Arial"/>
              </a:rPr>
              <a:t>AS SELECT </a:t>
            </a:r>
            <a:r>
              <a:rPr sz="1100" spc="-5" dirty="0">
                <a:solidFill>
                  <a:srgbClr val="0000FF"/>
                </a:solidFill>
                <a:latin typeface="Arial"/>
                <a:cs typeface="Arial"/>
              </a:rPr>
              <a:t>. .</a:t>
            </a:r>
            <a:r>
              <a:rPr sz="1100" spc="-60" dirty="0">
                <a:solidFill>
                  <a:srgbClr val="0000FF"/>
                </a:solidFill>
                <a:latin typeface="Arial"/>
                <a:cs typeface="Arial"/>
              </a:rPr>
              <a:t> </a:t>
            </a:r>
            <a:r>
              <a:rPr sz="1100" spc="-5" dirty="0">
                <a:solidFill>
                  <a:srgbClr val="0000FF"/>
                </a:solidFill>
                <a:latin typeface="Arial"/>
                <a:cs typeface="Arial"/>
              </a:rPr>
              <a:t>.</a:t>
            </a:r>
            <a:endParaRPr sz="1100">
              <a:latin typeface="Arial"/>
              <a:cs typeface="Arial"/>
            </a:endParaRPr>
          </a:p>
        </p:txBody>
      </p:sp>
    </p:spTree>
    <p:extLst>
      <p:ext uri="{BB962C8B-B14F-4D97-AF65-F5344CB8AC3E}">
        <p14:creationId xmlns:p14="http://schemas.microsoft.com/office/powerpoint/2010/main" val="3686968822"/>
      </p:ext>
    </p:extLst>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latin typeface="Arial"/>
                <a:cs typeface="Arial"/>
                <a:hlinkClick r:id="rId3" action="ppaction://hlinksldjump"/>
              </a:rPr>
              <a:t>SQL</a:t>
            </a:r>
            <a:r>
              <a:rPr sz="400" spc="-10" dirty="0">
                <a:latin typeface="Arial"/>
                <a:cs typeface="Arial"/>
                <a:hlinkClick r:id="rId3" action="ppaction://hlinksldjump"/>
              </a:rPr>
              <a:t> </a:t>
            </a:r>
            <a:r>
              <a:rPr sz="400" spc="-5" dirty="0">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solidFill>
                  <a:srgbClr val="999999"/>
                </a:solidFill>
                <a:latin typeface="Arial"/>
                <a:cs typeface="Arial"/>
                <a:hlinkClick r:id="rId4" action="ppaction://hlinksldjump"/>
              </a:rPr>
              <a:t>SQL</a:t>
            </a:r>
            <a:r>
              <a:rPr sz="400" spc="-10" dirty="0">
                <a:solidFill>
                  <a:srgbClr val="999999"/>
                </a:solidFill>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287780" cy="244475"/>
          </a:xfrm>
          <a:prstGeom prst="rect">
            <a:avLst/>
          </a:prstGeom>
        </p:spPr>
        <p:txBody>
          <a:bodyPr vert="horz" wrap="square" lIns="0" tIns="17145" rIns="0" bIns="0" rtlCol="0">
            <a:spAutoFit/>
          </a:bodyPr>
          <a:lstStyle/>
          <a:p>
            <a:pPr marL="12700">
              <a:lnSpc>
                <a:spcPct val="100000"/>
              </a:lnSpc>
              <a:spcBef>
                <a:spcPts val="135"/>
              </a:spcBef>
            </a:pPr>
            <a:r>
              <a:rPr spc="15" dirty="0"/>
              <a:t>Defining a</a:t>
            </a:r>
            <a:r>
              <a:rPr spc="-85" dirty="0"/>
              <a:t> </a:t>
            </a:r>
            <a:r>
              <a:rPr spc="10" dirty="0"/>
              <a:t>View</a:t>
            </a:r>
          </a:p>
        </p:txBody>
      </p:sp>
      <p:sp>
        <p:nvSpPr>
          <p:cNvPr id="24" name="object 24"/>
          <p:cNvSpPr txBox="1"/>
          <p:nvPr/>
        </p:nvSpPr>
        <p:spPr>
          <a:xfrm>
            <a:off x="167297" y="351407"/>
            <a:ext cx="3206750" cy="363855"/>
          </a:xfrm>
          <a:prstGeom prst="rect">
            <a:avLst/>
          </a:prstGeom>
        </p:spPr>
        <p:txBody>
          <a:bodyPr vert="horz" wrap="square" lIns="0" tIns="6985" rIns="0" bIns="0" rtlCol="0">
            <a:spAutoFit/>
          </a:bodyPr>
          <a:lstStyle/>
          <a:p>
            <a:pPr marL="12700" marR="5080">
              <a:lnSpc>
                <a:spcPct val="102699"/>
              </a:lnSpc>
              <a:spcBef>
                <a:spcPts val="55"/>
              </a:spcBef>
            </a:pPr>
            <a:r>
              <a:rPr sz="1100" spc="-5" dirty="0">
                <a:latin typeface="Arial"/>
                <a:cs typeface="Arial"/>
              </a:rPr>
              <a:t>Define </a:t>
            </a:r>
            <a:r>
              <a:rPr sz="1100" spc="-10" dirty="0">
                <a:latin typeface="Arial"/>
                <a:cs typeface="Arial"/>
              </a:rPr>
              <a:t>a </a:t>
            </a:r>
            <a:r>
              <a:rPr sz="1100" spc="-15" dirty="0">
                <a:latin typeface="Arial"/>
                <a:cs typeface="Arial"/>
              </a:rPr>
              <a:t>view </a:t>
            </a:r>
            <a:r>
              <a:rPr sz="1100" spc="-20" dirty="0">
                <a:latin typeface="Arial"/>
                <a:cs typeface="Arial"/>
              </a:rPr>
              <a:t>for </a:t>
            </a:r>
            <a:r>
              <a:rPr sz="1100" spc="-5" dirty="0">
                <a:latin typeface="Arial"/>
                <a:cs typeface="Arial"/>
              </a:rPr>
              <a:t>finding which </a:t>
            </a:r>
            <a:r>
              <a:rPr sz="1100" spc="-10" dirty="0">
                <a:latin typeface="Arial"/>
                <a:cs typeface="Arial"/>
              </a:rPr>
              <a:t>pubs </a:t>
            </a:r>
            <a:r>
              <a:rPr sz="1100" spc="-5" dirty="0">
                <a:latin typeface="Arial"/>
                <a:cs typeface="Arial"/>
              </a:rPr>
              <a:t>sell </a:t>
            </a:r>
            <a:r>
              <a:rPr sz="1100" spc="-10" dirty="0">
                <a:latin typeface="Arial"/>
                <a:cs typeface="Arial"/>
              </a:rPr>
              <a:t>cheap </a:t>
            </a:r>
            <a:r>
              <a:rPr sz="1100" spc="-5" dirty="0">
                <a:latin typeface="Arial"/>
                <a:cs typeface="Arial"/>
              </a:rPr>
              <a:t>beer  (price 2.00 or</a:t>
            </a:r>
            <a:r>
              <a:rPr sz="1100" spc="-10" dirty="0">
                <a:latin typeface="Arial"/>
                <a:cs typeface="Arial"/>
              </a:rPr>
              <a:t> </a:t>
            </a:r>
            <a:r>
              <a:rPr sz="1100" spc="-5" dirty="0">
                <a:latin typeface="Arial"/>
                <a:cs typeface="Arial"/>
              </a:rPr>
              <a:t>less).</a:t>
            </a:r>
            <a:endParaRPr sz="1100">
              <a:latin typeface="Arial"/>
              <a:cs typeface="Arial"/>
            </a:endParaRPr>
          </a:p>
        </p:txBody>
      </p:sp>
      <p:sp>
        <p:nvSpPr>
          <p:cNvPr id="25" name="object 25"/>
          <p:cNvSpPr txBox="1"/>
          <p:nvPr/>
        </p:nvSpPr>
        <p:spPr>
          <a:xfrm>
            <a:off x="355384" y="1695283"/>
            <a:ext cx="36449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Sells:</a:t>
            </a:r>
            <a:endParaRPr sz="1100">
              <a:latin typeface="Arial"/>
              <a:cs typeface="Arial"/>
            </a:endParaRPr>
          </a:p>
        </p:txBody>
      </p:sp>
      <p:graphicFrame>
        <p:nvGraphicFramePr>
          <p:cNvPr id="26" name="object 26"/>
          <p:cNvGraphicFramePr>
            <a:graphicFrameLocks noGrp="1"/>
          </p:cNvGraphicFramePr>
          <p:nvPr/>
        </p:nvGraphicFramePr>
        <p:xfrm>
          <a:off x="751954" y="845248"/>
          <a:ext cx="2766060" cy="1928237"/>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1045210">
                  <a:extLst>
                    <a:ext uri="{9D8B030D-6E8A-4147-A177-3AD203B41FA5}">
                      <a16:colId xmlns:a16="http://schemas.microsoft.com/office/drawing/2014/main" val="20001"/>
                    </a:ext>
                  </a:extLst>
                </a:gridCol>
                <a:gridCol w="483235">
                  <a:extLst>
                    <a:ext uri="{9D8B030D-6E8A-4147-A177-3AD203B41FA5}">
                      <a16:colId xmlns:a16="http://schemas.microsoft.com/office/drawing/2014/main" val="20002"/>
                    </a:ext>
                  </a:extLst>
                </a:gridCol>
              </a:tblGrid>
              <a:tr h="189782">
                <a:tc>
                  <a:txBody>
                    <a:bodyPr/>
                    <a:lstStyle/>
                    <a:p>
                      <a:pPr marL="75565">
                        <a:lnSpc>
                          <a:spcPts val="1190"/>
                        </a:lnSpc>
                      </a:pPr>
                      <a:r>
                        <a:rPr sz="1100" b="1" spc="-10" dirty="0">
                          <a:latin typeface="Arial"/>
                          <a:cs typeface="Arial"/>
                        </a:rPr>
                        <a:t>pub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beer</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price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404">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spc="-5" dirty="0">
                          <a:latin typeface="Arial"/>
                          <a:cs typeface="Arial"/>
                        </a:rPr>
                        <a:t>1.50</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2.00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Shining</a:t>
                      </a:r>
                      <a:r>
                        <a:rPr sz="1100" spc="-20" dirty="0">
                          <a:latin typeface="Arial"/>
                          <a:cs typeface="Arial"/>
                        </a:rPr>
                        <a:t> </a:t>
                      </a:r>
                      <a:r>
                        <a:rPr sz="1100" spc="-5" dirty="0">
                          <a:latin typeface="Arial"/>
                          <a:cs typeface="Arial"/>
                        </a:rPr>
                        <a:t>Wit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2.75</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2.50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72072">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1.75</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172078">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2.50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72078">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2.50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7"/>
                  </a:ext>
                </a:extLst>
              </a:tr>
              <a:tr h="172072">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Shining</a:t>
                      </a:r>
                      <a:r>
                        <a:rPr sz="1100" spc="-20" dirty="0">
                          <a:latin typeface="Arial"/>
                          <a:cs typeface="Arial"/>
                        </a:rPr>
                        <a:t> </a:t>
                      </a:r>
                      <a:r>
                        <a:rPr sz="1100" spc="-5" dirty="0">
                          <a:latin typeface="Arial"/>
                          <a:cs typeface="Arial"/>
                        </a:rPr>
                        <a:t>Wit</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2.25</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8"/>
                  </a:ext>
                </a:extLst>
              </a:tr>
              <a:tr h="172072">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spc="-5" dirty="0">
                          <a:latin typeface="Arial"/>
                          <a:cs typeface="Arial"/>
                        </a:rPr>
                        <a:t>2.50</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9"/>
                  </a:ext>
                </a:extLst>
              </a:tr>
              <a:tr h="186463">
                <a:tc>
                  <a:txBody>
                    <a:bodyPr/>
                    <a:lstStyle/>
                    <a:p>
                      <a:pPr marL="75565">
                        <a:lnSpc>
                          <a:spcPts val="1260"/>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10" dirty="0">
                          <a:latin typeface="Arial"/>
                          <a:cs typeface="Arial"/>
                        </a:rPr>
                        <a:t>Rampant</a:t>
                      </a:r>
                      <a:r>
                        <a:rPr sz="1100" spc="-25" dirty="0">
                          <a:latin typeface="Arial"/>
                          <a:cs typeface="Arial"/>
                        </a:rPr>
                        <a:t> </a:t>
                      </a:r>
                      <a:r>
                        <a:rPr sz="1100" spc="-10" dirty="0">
                          <a:latin typeface="Arial"/>
                          <a:cs typeface="Arial"/>
                        </a:rPr>
                        <a:t>Ram</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spc="-5" dirty="0">
                          <a:latin typeface="Arial"/>
                          <a:cs typeface="Arial"/>
                        </a:rPr>
                        <a:t>2.75</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10"/>
                  </a:ext>
                </a:extLst>
              </a:tr>
            </a:tbl>
          </a:graphicData>
        </a:graphic>
      </p:graphicFrame>
      <p:sp>
        <p:nvSpPr>
          <p:cNvPr id="27" name="object 27"/>
          <p:cNvSpPr txBox="1"/>
          <p:nvPr/>
        </p:nvSpPr>
        <p:spPr>
          <a:xfrm>
            <a:off x="243217" y="2901758"/>
            <a:ext cx="3407410" cy="363855"/>
          </a:xfrm>
          <a:prstGeom prst="rect">
            <a:avLst/>
          </a:prstGeom>
        </p:spPr>
        <p:txBody>
          <a:bodyPr vert="horz" wrap="square" lIns="0" tIns="11430" rIns="0" bIns="0" rtlCol="0">
            <a:spAutoFit/>
          </a:bodyPr>
          <a:lstStyle/>
          <a:p>
            <a:pPr marL="12700">
              <a:lnSpc>
                <a:spcPct val="100000"/>
              </a:lnSpc>
              <a:spcBef>
                <a:spcPts val="90"/>
              </a:spcBef>
            </a:pPr>
            <a:r>
              <a:rPr sz="1100" spc="-30" dirty="0">
                <a:solidFill>
                  <a:srgbClr val="0000FF"/>
                </a:solidFill>
                <a:latin typeface="Arial"/>
                <a:cs typeface="Arial"/>
              </a:rPr>
              <a:t>CREATE </a:t>
            </a:r>
            <a:r>
              <a:rPr sz="1100" spc="-10" dirty="0">
                <a:solidFill>
                  <a:srgbClr val="0000FF"/>
                </a:solidFill>
                <a:latin typeface="Arial"/>
                <a:cs typeface="Arial"/>
              </a:rPr>
              <a:t>VIEW </a:t>
            </a:r>
            <a:r>
              <a:rPr sz="1100" spc="-5" dirty="0">
                <a:solidFill>
                  <a:srgbClr val="0000FF"/>
                </a:solidFill>
                <a:latin typeface="Arial"/>
                <a:cs typeface="Arial"/>
              </a:rPr>
              <a:t>cheapBeers</a:t>
            </a:r>
            <a:r>
              <a:rPr sz="1100" spc="20" dirty="0">
                <a:solidFill>
                  <a:srgbClr val="0000FF"/>
                </a:solidFill>
                <a:latin typeface="Arial"/>
                <a:cs typeface="Arial"/>
              </a:rPr>
              <a:t> </a:t>
            </a:r>
            <a:r>
              <a:rPr sz="1100" spc="-10" dirty="0">
                <a:solidFill>
                  <a:srgbClr val="0000FF"/>
                </a:solidFill>
                <a:latin typeface="Arial"/>
                <a:cs typeface="Arial"/>
              </a:rPr>
              <a:t>AS</a:t>
            </a:r>
            <a:endParaRPr sz="1100" dirty="0">
              <a:latin typeface="Arial"/>
              <a:cs typeface="Arial"/>
            </a:endParaRPr>
          </a:p>
          <a:p>
            <a:pPr marL="12700">
              <a:lnSpc>
                <a:spcPct val="100000"/>
              </a:lnSpc>
              <a:spcBef>
                <a:spcPts val="35"/>
              </a:spcBef>
            </a:pPr>
            <a:r>
              <a:rPr sz="1100" spc="-10" dirty="0">
                <a:solidFill>
                  <a:srgbClr val="0000FF"/>
                </a:solidFill>
                <a:latin typeface="Arial"/>
                <a:cs typeface="Arial"/>
              </a:rPr>
              <a:t>SELECT </a:t>
            </a:r>
            <a:r>
              <a:rPr sz="1100" spc="-20" dirty="0">
                <a:solidFill>
                  <a:srgbClr val="0000FF"/>
                </a:solidFill>
                <a:latin typeface="Arial"/>
                <a:cs typeface="Arial"/>
              </a:rPr>
              <a:t>pub, </a:t>
            </a:r>
            <a:r>
              <a:rPr sz="1100" spc="-5" dirty="0">
                <a:solidFill>
                  <a:srgbClr val="0000FF"/>
                </a:solidFill>
                <a:latin typeface="Arial"/>
                <a:cs typeface="Arial"/>
              </a:rPr>
              <a:t>beer </a:t>
            </a:r>
            <a:r>
              <a:rPr sz="1100" spc="-15" dirty="0">
                <a:solidFill>
                  <a:srgbClr val="0000FF"/>
                </a:solidFill>
                <a:latin typeface="Arial"/>
                <a:cs typeface="Arial"/>
              </a:rPr>
              <a:t>FROM </a:t>
            </a:r>
            <a:r>
              <a:rPr sz="1100" spc="-5" dirty="0">
                <a:solidFill>
                  <a:srgbClr val="0000FF"/>
                </a:solidFill>
                <a:latin typeface="Arial"/>
                <a:cs typeface="Arial"/>
              </a:rPr>
              <a:t>Sells </a:t>
            </a:r>
            <a:r>
              <a:rPr sz="1100" spc="-10" dirty="0">
                <a:solidFill>
                  <a:srgbClr val="0000FF"/>
                </a:solidFill>
                <a:latin typeface="Arial"/>
                <a:cs typeface="Arial"/>
              </a:rPr>
              <a:t>WHERE </a:t>
            </a:r>
            <a:r>
              <a:rPr sz="1100" spc="-5" dirty="0">
                <a:solidFill>
                  <a:srgbClr val="0000FF"/>
                </a:solidFill>
                <a:latin typeface="Arial"/>
                <a:cs typeface="Arial"/>
              </a:rPr>
              <a:t>price </a:t>
            </a:r>
            <a:r>
              <a:rPr sz="1100" spc="-10" dirty="0">
                <a:solidFill>
                  <a:srgbClr val="0000FF"/>
                </a:solidFill>
                <a:latin typeface="Arial"/>
                <a:cs typeface="Arial"/>
              </a:rPr>
              <a:t>&lt;=</a:t>
            </a:r>
            <a:r>
              <a:rPr sz="1100" spc="35" dirty="0">
                <a:solidFill>
                  <a:srgbClr val="0000FF"/>
                </a:solidFill>
                <a:latin typeface="Arial"/>
                <a:cs typeface="Arial"/>
              </a:rPr>
              <a:t> </a:t>
            </a:r>
            <a:r>
              <a:rPr sz="1100" spc="-5" dirty="0">
                <a:solidFill>
                  <a:srgbClr val="0000FF"/>
                </a:solidFill>
                <a:latin typeface="Arial"/>
                <a:cs typeface="Arial"/>
              </a:rPr>
              <a:t>2.00;</a:t>
            </a:r>
            <a:endParaRPr sz="1100" dirty="0">
              <a:latin typeface="Arial"/>
              <a:cs typeface="Arial"/>
            </a:endParaRPr>
          </a:p>
        </p:txBody>
      </p:sp>
    </p:spTree>
    <p:extLst>
      <p:ext uri="{BB962C8B-B14F-4D97-AF65-F5344CB8AC3E}">
        <p14:creationId xmlns:p14="http://schemas.microsoft.com/office/powerpoint/2010/main" val="2914251896"/>
      </p:ext>
    </p:extLst>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latin typeface="Arial"/>
                <a:cs typeface="Arial"/>
                <a:hlinkClick r:id="rId3" action="ppaction://hlinksldjump"/>
              </a:rPr>
              <a:t>SQL</a:t>
            </a:r>
            <a:r>
              <a:rPr sz="400" spc="-10" dirty="0">
                <a:latin typeface="Arial"/>
                <a:cs typeface="Arial"/>
                <a:hlinkClick r:id="rId3" action="ppaction://hlinksldjump"/>
              </a:rPr>
              <a:t> </a:t>
            </a:r>
            <a:r>
              <a:rPr sz="400" spc="-5" dirty="0">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solidFill>
                  <a:srgbClr val="999999"/>
                </a:solidFill>
                <a:latin typeface="Arial"/>
                <a:cs typeface="Arial"/>
                <a:hlinkClick r:id="rId4" action="ppaction://hlinksldjump"/>
              </a:rPr>
              <a:t>SQL</a:t>
            </a:r>
            <a:r>
              <a:rPr sz="400" spc="-10" dirty="0">
                <a:solidFill>
                  <a:srgbClr val="999999"/>
                </a:solidFill>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363980" cy="244475"/>
          </a:xfrm>
          <a:prstGeom prst="rect">
            <a:avLst/>
          </a:prstGeom>
        </p:spPr>
        <p:txBody>
          <a:bodyPr vert="horz" wrap="square" lIns="0" tIns="17145" rIns="0" bIns="0" rtlCol="0">
            <a:spAutoFit/>
          </a:bodyPr>
          <a:lstStyle/>
          <a:p>
            <a:pPr marL="12700">
              <a:lnSpc>
                <a:spcPct val="100000"/>
              </a:lnSpc>
              <a:spcBef>
                <a:spcPts val="135"/>
              </a:spcBef>
            </a:pPr>
            <a:r>
              <a:rPr spc="20" dirty="0"/>
              <a:t>Querying </a:t>
            </a:r>
            <a:r>
              <a:rPr spc="15" dirty="0"/>
              <a:t>a</a:t>
            </a:r>
            <a:r>
              <a:rPr spc="-75" dirty="0"/>
              <a:t> </a:t>
            </a:r>
            <a:r>
              <a:rPr spc="10" dirty="0"/>
              <a:t>View</a:t>
            </a:r>
          </a:p>
        </p:txBody>
      </p:sp>
      <p:sp>
        <p:nvSpPr>
          <p:cNvPr id="24" name="object 24"/>
          <p:cNvSpPr txBox="1"/>
          <p:nvPr/>
        </p:nvSpPr>
        <p:spPr>
          <a:xfrm>
            <a:off x="985672" y="386510"/>
            <a:ext cx="1917064" cy="191770"/>
          </a:xfrm>
          <a:prstGeom prst="rect">
            <a:avLst/>
          </a:prstGeom>
        </p:spPr>
        <p:txBody>
          <a:bodyPr vert="horz" wrap="square" lIns="0" tIns="11430" rIns="0" bIns="0" rtlCol="0">
            <a:spAutoFit/>
          </a:bodyPr>
          <a:lstStyle/>
          <a:p>
            <a:pPr marL="12700">
              <a:lnSpc>
                <a:spcPct val="100000"/>
              </a:lnSpc>
              <a:spcBef>
                <a:spcPts val="90"/>
              </a:spcBef>
            </a:pPr>
            <a:r>
              <a:rPr sz="1100" spc="-10" dirty="0">
                <a:solidFill>
                  <a:srgbClr val="0000FF"/>
                </a:solidFill>
                <a:latin typeface="Arial"/>
                <a:cs typeface="Arial"/>
              </a:rPr>
              <a:t>SELECT </a:t>
            </a:r>
            <a:r>
              <a:rPr sz="1100" spc="-5" dirty="0">
                <a:solidFill>
                  <a:srgbClr val="0000FF"/>
                </a:solidFill>
                <a:latin typeface="Arial"/>
                <a:cs typeface="Arial"/>
              </a:rPr>
              <a:t>* </a:t>
            </a:r>
            <a:r>
              <a:rPr sz="1100" spc="-15" dirty="0">
                <a:solidFill>
                  <a:srgbClr val="0000FF"/>
                </a:solidFill>
                <a:latin typeface="Arial"/>
                <a:cs typeface="Arial"/>
              </a:rPr>
              <a:t>FROM</a:t>
            </a:r>
            <a:r>
              <a:rPr sz="1100" spc="-60" dirty="0">
                <a:solidFill>
                  <a:srgbClr val="0000FF"/>
                </a:solidFill>
                <a:latin typeface="Arial"/>
                <a:cs typeface="Arial"/>
              </a:rPr>
              <a:t> </a:t>
            </a:r>
            <a:r>
              <a:rPr sz="1100" spc="-5" dirty="0">
                <a:solidFill>
                  <a:srgbClr val="0000FF"/>
                </a:solidFill>
                <a:latin typeface="Arial"/>
                <a:cs typeface="Arial"/>
              </a:rPr>
              <a:t>cheapBeers;</a:t>
            </a:r>
            <a:endParaRPr sz="1100">
              <a:latin typeface="Arial"/>
              <a:cs typeface="Arial"/>
            </a:endParaRPr>
          </a:p>
        </p:txBody>
      </p:sp>
      <p:graphicFrame>
        <p:nvGraphicFramePr>
          <p:cNvPr id="25" name="object 25"/>
          <p:cNvGraphicFramePr>
            <a:graphicFrameLocks noGrp="1"/>
          </p:cNvGraphicFramePr>
          <p:nvPr/>
        </p:nvGraphicFramePr>
        <p:xfrm>
          <a:off x="800226" y="705561"/>
          <a:ext cx="2282825" cy="723721"/>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1045210">
                  <a:extLst>
                    <a:ext uri="{9D8B030D-6E8A-4147-A177-3AD203B41FA5}">
                      <a16:colId xmlns:a16="http://schemas.microsoft.com/office/drawing/2014/main" val="20001"/>
                    </a:ext>
                  </a:extLst>
                </a:gridCol>
              </a:tblGrid>
              <a:tr h="189788">
                <a:tc>
                  <a:txBody>
                    <a:bodyPr/>
                    <a:lstStyle/>
                    <a:p>
                      <a:pPr marL="75565">
                        <a:lnSpc>
                          <a:spcPts val="1190"/>
                        </a:lnSpc>
                      </a:pPr>
                      <a:r>
                        <a:rPr sz="1100" b="1" spc="-10" dirty="0">
                          <a:latin typeface="Arial"/>
                          <a:cs typeface="Arial"/>
                        </a:rPr>
                        <a:t>pub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beer</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533933">
                <a:tc>
                  <a:txBody>
                    <a:bodyPr/>
                    <a:lstStyle/>
                    <a:p>
                      <a:pPr marL="75565">
                        <a:lnSpc>
                          <a:spcPts val="129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p>
                      <a:pPr marL="75565" marR="67945">
                        <a:lnSpc>
                          <a:spcPct val="102600"/>
                        </a:lnSpc>
                      </a:pPr>
                      <a:r>
                        <a:rPr sz="1100" spc="-5" dirty="0">
                          <a:latin typeface="Arial"/>
                          <a:cs typeface="Arial"/>
                        </a:rPr>
                        <a:t>Horse </a:t>
                      </a:r>
                      <a:r>
                        <a:rPr sz="1100" spc="-10" dirty="0">
                          <a:latin typeface="Arial"/>
                          <a:cs typeface="Arial"/>
                        </a:rPr>
                        <a:t>and</a:t>
                      </a:r>
                      <a:r>
                        <a:rPr sz="1100" spc="-70" dirty="0">
                          <a:latin typeface="Arial"/>
                          <a:cs typeface="Arial"/>
                        </a:rPr>
                        <a:t> </a:t>
                      </a:r>
                      <a:r>
                        <a:rPr sz="1100" spc="-10" dirty="0">
                          <a:latin typeface="Arial"/>
                          <a:cs typeface="Arial"/>
                        </a:rPr>
                        <a:t>Hound  March</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90"/>
                        </a:lnSpc>
                      </a:pPr>
                      <a:r>
                        <a:rPr sz="1100" spc="-10" dirty="0">
                          <a:latin typeface="Arial"/>
                          <a:cs typeface="Arial"/>
                        </a:rPr>
                        <a:t>Bad</a:t>
                      </a:r>
                      <a:r>
                        <a:rPr sz="1100" spc="-90" dirty="0">
                          <a:latin typeface="Arial"/>
                          <a:cs typeface="Arial"/>
                        </a:rPr>
                        <a:t> </a:t>
                      </a:r>
                      <a:r>
                        <a:rPr sz="1100" spc="-5" dirty="0">
                          <a:latin typeface="Arial"/>
                          <a:cs typeface="Arial"/>
                        </a:rPr>
                        <a:t>Habit</a:t>
                      </a:r>
                      <a:endParaRPr sz="1100">
                        <a:latin typeface="Arial"/>
                        <a:cs typeface="Arial"/>
                      </a:endParaRPr>
                    </a:p>
                    <a:p>
                      <a:pPr marL="75565" marR="67945">
                        <a:lnSpc>
                          <a:spcPct val="102600"/>
                        </a:lnSpc>
                      </a:pPr>
                      <a:r>
                        <a:rPr sz="1100" spc="-10" dirty="0">
                          <a:latin typeface="Arial"/>
                          <a:cs typeface="Arial"/>
                        </a:rPr>
                        <a:t>Rampant</a:t>
                      </a:r>
                      <a:r>
                        <a:rPr sz="1100" spc="-60" dirty="0">
                          <a:latin typeface="Arial"/>
                          <a:cs typeface="Arial"/>
                        </a:rPr>
                        <a:t> </a:t>
                      </a:r>
                      <a:r>
                        <a:rPr sz="1100" spc="-10" dirty="0">
                          <a:latin typeface="Arial"/>
                          <a:cs typeface="Arial"/>
                        </a:rPr>
                        <a:t>Ram  Bad</a:t>
                      </a:r>
                      <a:r>
                        <a:rPr sz="1100" spc="-15" dirty="0">
                          <a:latin typeface="Arial"/>
                          <a:cs typeface="Arial"/>
                        </a:rPr>
                        <a:t> </a:t>
                      </a:r>
                      <a:r>
                        <a:rPr sz="1100" spc="-5" dirty="0">
                          <a:latin typeface="Arial"/>
                          <a:cs typeface="Arial"/>
                        </a:rPr>
                        <a:t>Habit</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26" name="object 26"/>
          <p:cNvGrpSpPr/>
          <p:nvPr/>
        </p:nvGrpSpPr>
        <p:grpSpPr>
          <a:xfrm>
            <a:off x="1322666" y="2745143"/>
            <a:ext cx="1242695" cy="554355"/>
            <a:chOff x="1322666" y="2745143"/>
            <a:chExt cx="1242695" cy="554355"/>
          </a:xfrm>
        </p:grpSpPr>
        <p:sp>
          <p:nvSpPr>
            <p:cNvPr id="27" name="object 27"/>
            <p:cNvSpPr/>
            <p:nvPr/>
          </p:nvSpPr>
          <p:spPr>
            <a:xfrm>
              <a:off x="1325206" y="2747683"/>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
          <p:nvSpPr>
            <p:cNvPr id="28" name="object 28"/>
            <p:cNvSpPr/>
            <p:nvPr/>
          </p:nvSpPr>
          <p:spPr>
            <a:xfrm>
              <a:off x="1325206" y="275021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29" name="object 29"/>
            <p:cNvSpPr/>
            <p:nvPr/>
          </p:nvSpPr>
          <p:spPr>
            <a:xfrm>
              <a:off x="2562796" y="2750210"/>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30" name="object 30"/>
            <p:cNvSpPr/>
            <p:nvPr/>
          </p:nvSpPr>
          <p:spPr>
            <a:xfrm>
              <a:off x="1325206" y="2924822"/>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
          <p:nvSpPr>
            <p:cNvPr id="31" name="object 31"/>
            <p:cNvSpPr/>
            <p:nvPr/>
          </p:nvSpPr>
          <p:spPr>
            <a:xfrm>
              <a:off x="1325206" y="2950121"/>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sp>
          <p:nvSpPr>
            <p:cNvPr id="32" name="object 32"/>
            <p:cNvSpPr/>
            <p:nvPr/>
          </p:nvSpPr>
          <p:spPr>
            <a:xfrm>
              <a:off x="1325206" y="2952661"/>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33" name="object 33"/>
            <p:cNvSpPr/>
            <p:nvPr/>
          </p:nvSpPr>
          <p:spPr>
            <a:xfrm>
              <a:off x="2562796" y="2952661"/>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34" name="object 34"/>
            <p:cNvSpPr/>
            <p:nvPr/>
          </p:nvSpPr>
          <p:spPr>
            <a:xfrm>
              <a:off x="1325206" y="3124733"/>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grpSp>
      <p:sp>
        <p:nvSpPr>
          <p:cNvPr id="35" name="object 35"/>
          <p:cNvSpPr txBox="1"/>
          <p:nvPr/>
        </p:nvSpPr>
        <p:spPr>
          <a:xfrm>
            <a:off x="167297" y="1501176"/>
            <a:ext cx="3839210" cy="1784985"/>
          </a:xfrm>
          <a:prstGeom prst="rect">
            <a:avLst/>
          </a:prstGeom>
        </p:spPr>
        <p:txBody>
          <a:bodyPr vert="horz" wrap="square" lIns="0" tIns="6985" rIns="0" bIns="0" rtlCol="0">
            <a:spAutoFit/>
          </a:bodyPr>
          <a:lstStyle/>
          <a:p>
            <a:pPr marL="12700" marR="1035050">
              <a:lnSpc>
                <a:spcPct val="102600"/>
              </a:lnSpc>
              <a:spcBef>
                <a:spcPts val="55"/>
              </a:spcBef>
            </a:pPr>
            <a:r>
              <a:rPr sz="1100" spc="-5" dirty="0">
                <a:latin typeface="Arial"/>
                <a:cs typeface="Arial"/>
              </a:rPr>
              <a:t>Find </a:t>
            </a:r>
            <a:r>
              <a:rPr sz="1100" spc="-10" dirty="0">
                <a:latin typeface="Arial"/>
                <a:cs typeface="Arial"/>
              </a:rPr>
              <a:t>pubs </a:t>
            </a:r>
            <a:r>
              <a:rPr sz="1100" spc="-5" dirty="0">
                <a:latin typeface="Arial"/>
                <a:cs typeface="Arial"/>
              </a:rPr>
              <a:t>selling </a:t>
            </a:r>
            <a:r>
              <a:rPr sz="1100" spc="-10" dirty="0">
                <a:latin typeface="Arial"/>
                <a:cs typeface="Arial"/>
              </a:rPr>
              <a:t>Bad </a:t>
            </a:r>
            <a:r>
              <a:rPr sz="1100" spc="-5" dirty="0">
                <a:latin typeface="Arial"/>
                <a:cs typeface="Arial"/>
              </a:rPr>
              <a:t>Habit </a:t>
            </a:r>
            <a:r>
              <a:rPr sz="1100" spc="-20" dirty="0">
                <a:latin typeface="Arial"/>
                <a:cs typeface="Arial"/>
              </a:rPr>
              <a:t>for </a:t>
            </a:r>
            <a:r>
              <a:rPr sz="1100" spc="-5" dirty="0">
                <a:latin typeface="Arial"/>
                <a:cs typeface="Arial"/>
              </a:rPr>
              <a:t>2.00 or less in  Bloomsbury:</a:t>
            </a:r>
            <a:endParaRPr sz="1100">
              <a:latin typeface="Arial"/>
              <a:cs typeface="Arial"/>
            </a:endParaRPr>
          </a:p>
          <a:p>
            <a:pPr>
              <a:lnSpc>
                <a:spcPct val="100000"/>
              </a:lnSpc>
            </a:pPr>
            <a:endParaRPr sz="1650">
              <a:latin typeface="Arial"/>
              <a:cs typeface="Arial"/>
            </a:endParaRPr>
          </a:p>
          <a:p>
            <a:pPr marL="88265">
              <a:lnSpc>
                <a:spcPct val="100000"/>
              </a:lnSpc>
            </a:pPr>
            <a:r>
              <a:rPr sz="1100" spc="-10" dirty="0">
                <a:solidFill>
                  <a:srgbClr val="0000FF"/>
                </a:solidFill>
                <a:latin typeface="Arial"/>
                <a:cs typeface="Arial"/>
              </a:rPr>
              <a:t>SELECT pub </a:t>
            </a:r>
            <a:r>
              <a:rPr sz="1100" spc="-15" dirty="0">
                <a:solidFill>
                  <a:srgbClr val="0000FF"/>
                </a:solidFill>
                <a:latin typeface="Arial"/>
                <a:cs typeface="Arial"/>
              </a:rPr>
              <a:t>FROM </a:t>
            </a:r>
            <a:r>
              <a:rPr sz="1100" spc="-10" dirty="0">
                <a:solidFill>
                  <a:srgbClr val="0000FF"/>
                </a:solidFill>
                <a:latin typeface="Arial"/>
                <a:cs typeface="Arial"/>
              </a:rPr>
              <a:t>cheapBeers,</a:t>
            </a:r>
            <a:r>
              <a:rPr sz="1100" spc="15" dirty="0">
                <a:solidFill>
                  <a:srgbClr val="0000FF"/>
                </a:solidFill>
                <a:latin typeface="Arial"/>
                <a:cs typeface="Arial"/>
              </a:rPr>
              <a:t> </a:t>
            </a:r>
            <a:r>
              <a:rPr sz="1100" spc="-10" dirty="0">
                <a:solidFill>
                  <a:srgbClr val="0000FF"/>
                </a:solidFill>
                <a:latin typeface="Arial"/>
                <a:cs typeface="Arial"/>
              </a:rPr>
              <a:t>Pubs</a:t>
            </a:r>
            <a:endParaRPr sz="1100">
              <a:latin typeface="Arial"/>
              <a:cs typeface="Arial"/>
            </a:endParaRPr>
          </a:p>
          <a:p>
            <a:pPr marL="88265" marR="5080">
              <a:lnSpc>
                <a:spcPct val="102600"/>
              </a:lnSpc>
            </a:pPr>
            <a:r>
              <a:rPr sz="1100" spc="-10" dirty="0">
                <a:solidFill>
                  <a:srgbClr val="0000FF"/>
                </a:solidFill>
                <a:latin typeface="Arial"/>
                <a:cs typeface="Arial"/>
              </a:rPr>
              <a:t>WHERE </a:t>
            </a:r>
            <a:r>
              <a:rPr sz="1100" spc="-5" dirty="0">
                <a:solidFill>
                  <a:srgbClr val="0000FF"/>
                </a:solidFill>
                <a:latin typeface="Arial"/>
                <a:cs typeface="Arial"/>
              </a:rPr>
              <a:t>beer=’Bad Habit’ </a:t>
            </a:r>
            <a:r>
              <a:rPr sz="1100" spc="-10" dirty="0">
                <a:solidFill>
                  <a:srgbClr val="0000FF"/>
                </a:solidFill>
                <a:latin typeface="Arial"/>
                <a:cs typeface="Arial"/>
              </a:rPr>
              <a:t>AND cheapBeers.pub=Pubs.name  AND </a:t>
            </a:r>
            <a:r>
              <a:rPr sz="1100" spc="-5" dirty="0">
                <a:solidFill>
                  <a:srgbClr val="0000FF"/>
                </a:solidFill>
                <a:latin typeface="Arial"/>
                <a:cs typeface="Arial"/>
              </a:rPr>
              <a:t>Pubs.location=’Bloomsbury’;</a:t>
            </a:r>
            <a:endParaRPr sz="1100">
              <a:latin typeface="Arial"/>
              <a:cs typeface="Arial"/>
            </a:endParaRPr>
          </a:p>
          <a:p>
            <a:pPr marL="1233805">
              <a:lnSpc>
                <a:spcPct val="100000"/>
              </a:lnSpc>
              <a:spcBef>
                <a:spcPts val="990"/>
              </a:spcBef>
            </a:pPr>
            <a:r>
              <a:rPr sz="1100" b="1" spc="-10" dirty="0">
                <a:latin typeface="Arial"/>
                <a:cs typeface="Arial"/>
              </a:rPr>
              <a:t>pub</a:t>
            </a:r>
            <a:endParaRPr sz="1100">
              <a:latin typeface="Arial"/>
              <a:cs typeface="Arial"/>
            </a:endParaRPr>
          </a:p>
          <a:p>
            <a:pPr marL="1233805" marR="1511300">
              <a:lnSpc>
                <a:spcPct val="102600"/>
              </a:lnSpc>
              <a:spcBef>
                <a:spcPts val="240"/>
              </a:spcBef>
            </a:pPr>
            <a:r>
              <a:rPr sz="1100" spc="-5" dirty="0">
                <a:latin typeface="Arial"/>
                <a:cs typeface="Arial"/>
              </a:rPr>
              <a:t>Horse </a:t>
            </a:r>
            <a:r>
              <a:rPr sz="1100" spc="-10" dirty="0">
                <a:latin typeface="Arial"/>
                <a:cs typeface="Arial"/>
              </a:rPr>
              <a:t>and</a:t>
            </a:r>
            <a:r>
              <a:rPr sz="1100" spc="-70" dirty="0">
                <a:latin typeface="Arial"/>
                <a:cs typeface="Arial"/>
              </a:rPr>
              <a:t> </a:t>
            </a:r>
            <a:r>
              <a:rPr sz="1100" spc="-10" dirty="0">
                <a:latin typeface="Arial"/>
                <a:cs typeface="Arial"/>
              </a:rPr>
              <a:t>Hound  March</a:t>
            </a:r>
            <a:r>
              <a:rPr sz="1100" spc="-15" dirty="0">
                <a:latin typeface="Arial"/>
                <a:cs typeface="Arial"/>
              </a:rPr>
              <a:t> </a:t>
            </a:r>
            <a:r>
              <a:rPr sz="1100" spc="-10" dirty="0">
                <a:latin typeface="Arial"/>
                <a:cs typeface="Arial"/>
              </a:rPr>
              <a:t>Hare</a:t>
            </a:r>
            <a:endParaRPr sz="1100">
              <a:latin typeface="Arial"/>
              <a:cs typeface="Arial"/>
            </a:endParaRPr>
          </a:p>
        </p:txBody>
      </p:sp>
      <p:grpSp>
        <p:nvGrpSpPr>
          <p:cNvPr id="36" name="object 36"/>
          <p:cNvGrpSpPr/>
          <p:nvPr/>
        </p:nvGrpSpPr>
        <p:grpSpPr>
          <a:xfrm>
            <a:off x="1325206" y="3124733"/>
            <a:ext cx="1240155" cy="177165"/>
            <a:chOff x="1325206" y="3124733"/>
            <a:chExt cx="1240155" cy="177165"/>
          </a:xfrm>
        </p:grpSpPr>
        <p:sp>
          <p:nvSpPr>
            <p:cNvPr id="37" name="object 37"/>
            <p:cNvSpPr/>
            <p:nvPr/>
          </p:nvSpPr>
          <p:spPr>
            <a:xfrm>
              <a:off x="2562796" y="3124733"/>
              <a:ext cx="0" cy="172085"/>
            </a:xfrm>
            <a:custGeom>
              <a:avLst/>
              <a:gdLst/>
              <a:ahLst/>
              <a:cxnLst/>
              <a:rect l="l" t="t" r="r" b="b"/>
              <a:pathLst>
                <a:path h="172085">
                  <a:moveTo>
                    <a:pt x="0" y="172072"/>
                  </a:moveTo>
                  <a:lnTo>
                    <a:pt x="0" y="0"/>
                  </a:lnTo>
                </a:path>
              </a:pathLst>
            </a:custGeom>
            <a:ln w="5054">
              <a:solidFill>
                <a:srgbClr val="000000"/>
              </a:solidFill>
            </a:ln>
          </p:spPr>
          <p:txBody>
            <a:bodyPr wrap="square" lIns="0" tIns="0" rIns="0" bIns="0" rtlCol="0"/>
            <a:lstStyle/>
            <a:p>
              <a:endParaRPr/>
            </a:p>
          </p:txBody>
        </p:sp>
        <p:sp>
          <p:nvSpPr>
            <p:cNvPr id="38" name="object 38"/>
            <p:cNvSpPr/>
            <p:nvPr/>
          </p:nvSpPr>
          <p:spPr>
            <a:xfrm>
              <a:off x="1325206" y="3299333"/>
              <a:ext cx="1237615" cy="0"/>
            </a:xfrm>
            <a:custGeom>
              <a:avLst/>
              <a:gdLst/>
              <a:ahLst/>
              <a:cxnLst/>
              <a:rect l="l" t="t" r="r" b="b"/>
              <a:pathLst>
                <a:path w="1237614">
                  <a:moveTo>
                    <a:pt x="0" y="0"/>
                  </a:moveTo>
                  <a:lnTo>
                    <a:pt x="1237602" y="0"/>
                  </a:lnTo>
                </a:path>
              </a:pathLst>
            </a:custGeom>
            <a:ln w="5054">
              <a:solidFill>
                <a:srgbClr val="000000"/>
              </a:solidFill>
            </a:ln>
          </p:spPr>
          <p:txBody>
            <a:bodyPr wrap="square" lIns="0" tIns="0" rIns="0" bIns="0" rtlCol="0"/>
            <a:lstStyle/>
            <a:p>
              <a:endParaRPr/>
            </a:p>
          </p:txBody>
        </p:sp>
      </p:grpSp>
    </p:spTree>
    <p:extLst>
      <p:ext uri="{BB962C8B-B14F-4D97-AF65-F5344CB8AC3E}">
        <p14:creationId xmlns:p14="http://schemas.microsoft.com/office/powerpoint/2010/main" val="96163266"/>
      </p:ext>
    </p:extLst>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latin typeface="Arial"/>
                <a:cs typeface="Arial"/>
                <a:hlinkClick r:id="rId3" action="ppaction://hlinksldjump"/>
              </a:rPr>
              <a:t>SQL</a:t>
            </a:r>
            <a:r>
              <a:rPr sz="400" spc="-10" dirty="0">
                <a:latin typeface="Arial"/>
                <a:cs typeface="Arial"/>
                <a:hlinkClick r:id="rId3" action="ppaction://hlinksldjump"/>
              </a:rPr>
              <a:t> </a:t>
            </a:r>
            <a:r>
              <a:rPr sz="400" spc="-5" dirty="0">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solidFill>
                  <a:srgbClr val="999999"/>
                </a:solidFill>
                <a:latin typeface="Arial"/>
                <a:cs typeface="Arial"/>
                <a:hlinkClick r:id="rId4" action="ppaction://hlinksldjump"/>
              </a:rPr>
              <a:t>SQL</a:t>
            </a:r>
            <a:r>
              <a:rPr sz="400" spc="-10" dirty="0">
                <a:solidFill>
                  <a:srgbClr val="999999"/>
                </a:solidFill>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824355" cy="244475"/>
          </a:xfrm>
          <a:prstGeom prst="rect">
            <a:avLst/>
          </a:prstGeom>
        </p:spPr>
        <p:txBody>
          <a:bodyPr vert="horz" wrap="square" lIns="0" tIns="17145" rIns="0" bIns="0" rtlCol="0">
            <a:spAutoFit/>
          </a:bodyPr>
          <a:lstStyle/>
          <a:p>
            <a:pPr marL="12700">
              <a:lnSpc>
                <a:spcPct val="100000"/>
              </a:lnSpc>
              <a:spcBef>
                <a:spcPts val="135"/>
              </a:spcBef>
            </a:pPr>
            <a:r>
              <a:rPr spc="15" dirty="0"/>
              <a:t>Defining Another</a:t>
            </a:r>
            <a:r>
              <a:rPr spc="-75" dirty="0"/>
              <a:t> </a:t>
            </a:r>
            <a:r>
              <a:rPr spc="10" dirty="0"/>
              <a:t>View</a:t>
            </a:r>
          </a:p>
        </p:txBody>
      </p:sp>
      <p:sp>
        <p:nvSpPr>
          <p:cNvPr id="24" name="object 24"/>
          <p:cNvSpPr txBox="1"/>
          <p:nvPr/>
        </p:nvSpPr>
        <p:spPr>
          <a:xfrm>
            <a:off x="167297" y="507097"/>
            <a:ext cx="3479800" cy="363855"/>
          </a:xfrm>
          <a:prstGeom prst="rect">
            <a:avLst/>
          </a:prstGeom>
        </p:spPr>
        <p:txBody>
          <a:bodyPr vert="horz" wrap="square" lIns="0" tIns="6985" rIns="0" bIns="0" rtlCol="0">
            <a:spAutoFit/>
          </a:bodyPr>
          <a:lstStyle/>
          <a:p>
            <a:pPr marL="12700" marR="5080">
              <a:lnSpc>
                <a:spcPct val="102600"/>
              </a:lnSpc>
              <a:spcBef>
                <a:spcPts val="55"/>
              </a:spcBef>
            </a:pPr>
            <a:r>
              <a:rPr sz="1100" spc="-5" dirty="0">
                <a:latin typeface="Arial"/>
                <a:cs typeface="Arial"/>
              </a:rPr>
              <a:t>Define </a:t>
            </a:r>
            <a:r>
              <a:rPr sz="1100" spc="-10" dirty="0">
                <a:latin typeface="Arial"/>
                <a:cs typeface="Arial"/>
              </a:rPr>
              <a:t>a </a:t>
            </a:r>
            <a:r>
              <a:rPr sz="1100" spc="-15" dirty="0">
                <a:latin typeface="Arial"/>
                <a:cs typeface="Arial"/>
              </a:rPr>
              <a:t>view </a:t>
            </a:r>
            <a:r>
              <a:rPr sz="1100" spc="-5" dirty="0">
                <a:latin typeface="Arial"/>
                <a:cs typeface="Arial"/>
              </a:rPr>
              <a:t>relating </a:t>
            </a:r>
            <a:r>
              <a:rPr sz="1100" spc="-10" dirty="0">
                <a:latin typeface="Arial"/>
                <a:cs typeface="Arial"/>
              </a:rPr>
              <a:t>drinkers and pubs </a:t>
            </a:r>
            <a:r>
              <a:rPr sz="1100" spc="-5" dirty="0">
                <a:latin typeface="Arial"/>
                <a:cs typeface="Arial"/>
              </a:rPr>
              <a:t>that are located  in the </a:t>
            </a:r>
            <a:r>
              <a:rPr sz="1100" spc="-10" dirty="0">
                <a:latin typeface="Arial"/>
                <a:cs typeface="Arial"/>
              </a:rPr>
              <a:t>same </a:t>
            </a:r>
            <a:r>
              <a:rPr sz="1100" spc="-5" dirty="0">
                <a:latin typeface="Arial"/>
                <a:cs typeface="Arial"/>
              </a:rPr>
              <a:t>area:</a:t>
            </a:r>
            <a:endParaRPr sz="1100">
              <a:latin typeface="Arial"/>
              <a:cs typeface="Arial"/>
            </a:endParaRPr>
          </a:p>
        </p:txBody>
      </p:sp>
      <p:sp>
        <p:nvSpPr>
          <p:cNvPr id="25" name="object 25"/>
          <p:cNvSpPr txBox="1"/>
          <p:nvPr/>
        </p:nvSpPr>
        <p:spPr>
          <a:xfrm>
            <a:off x="182841" y="1416353"/>
            <a:ext cx="379730"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Pubs:</a:t>
            </a:r>
            <a:endParaRPr sz="1100">
              <a:latin typeface="Arial"/>
              <a:cs typeface="Arial"/>
            </a:endParaRPr>
          </a:p>
        </p:txBody>
      </p:sp>
      <p:graphicFrame>
        <p:nvGraphicFramePr>
          <p:cNvPr id="26" name="object 26"/>
          <p:cNvGraphicFramePr>
            <a:graphicFrameLocks noGrp="1"/>
          </p:cNvGraphicFramePr>
          <p:nvPr/>
        </p:nvGraphicFramePr>
        <p:xfrm>
          <a:off x="594918" y="996492"/>
          <a:ext cx="1589405" cy="1067876"/>
        </p:xfrm>
        <a:graphic>
          <a:graphicData uri="http://schemas.openxmlformats.org/drawingml/2006/table">
            <a:tbl>
              <a:tblPr firstRow="1" bandRow="1">
                <a:tableStyleId>{2D5ABB26-0587-4C30-8999-92F81FD0307C}</a:tableStyleId>
              </a:tblPr>
              <a:tblGrid>
                <a:gridCol w="1237615">
                  <a:extLst>
                    <a:ext uri="{9D8B030D-6E8A-4147-A177-3AD203B41FA5}">
                      <a16:colId xmlns:a16="http://schemas.microsoft.com/office/drawing/2014/main" val="20000"/>
                    </a:ext>
                  </a:extLst>
                </a:gridCol>
                <a:gridCol w="351790">
                  <a:extLst>
                    <a:ext uri="{9D8B030D-6E8A-4147-A177-3AD203B41FA5}">
                      <a16:colId xmlns:a16="http://schemas.microsoft.com/office/drawing/2014/main" val="20001"/>
                    </a:ext>
                  </a:extLst>
                </a:gridCol>
              </a:tblGrid>
              <a:tr h="189788">
                <a:tc>
                  <a:txBody>
                    <a:bodyPr/>
                    <a:lstStyle/>
                    <a:p>
                      <a:pPr marL="75565">
                        <a:lnSpc>
                          <a:spcPts val="1190"/>
                        </a:lnSpc>
                      </a:pPr>
                      <a:r>
                        <a:rPr sz="1100" b="1" spc="-10" dirty="0">
                          <a:latin typeface="Arial"/>
                          <a:cs typeface="Arial"/>
                        </a:rPr>
                        <a:t>name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7">
                <a:tc>
                  <a:txBody>
                    <a:bodyPr/>
                    <a:lstStyle/>
                    <a:p>
                      <a:pPr marL="75565">
                        <a:lnSpc>
                          <a:spcPts val="1280"/>
                        </a:lnSpc>
                      </a:pPr>
                      <a:r>
                        <a:rPr sz="1100" spc="-5" dirty="0">
                          <a:latin typeface="Arial"/>
                          <a:cs typeface="Arial"/>
                        </a:rPr>
                        <a:t>Horse </a:t>
                      </a:r>
                      <a:r>
                        <a:rPr sz="1100" spc="-10" dirty="0">
                          <a:latin typeface="Arial"/>
                          <a:cs typeface="Arial"/>
                        </a:rPr>
                        <a:t>and</a:t>
                      </a:r>
                      <a:r>
                        <a:rPr sz="1100" spc="-40" dirty="0">
                          <a:latin typeface="Arial"/>
                          <a:cs typeface="Arial"/>
                        </a:rPr>
                        <a:t> </a:t>
                      </a:r>
                      <a:r>
                        <a:rPr sz="1100" spc="-10" dirty="0">
                          <a:latin typeface="Arial"/>
                          <a:cs typeface="Arial"/>
                        </a:rPr>
                        <a:t>Hound</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dirty="0">
                          <a:latin typeface="Arial"/>
                          <a:cs typeface="Arial"/>
                        </a:rPr>
                        <a:t>B</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10" dirty="0">
                          <a:latin typeface="Arial"/>
                          <a:cs typeface="Arial"/>
                        </a:rPr>
                        <a:t>Hound and</a:t>
                      </a:r>
                      <a:r>
                        <a:rPr sz="1100" spc="-15" dirty="0">
                          <a:latin typeface="Arial"/>
                          <a:cs typeface="Arial"/>
                        </a:rPr>
                        <a:t> </a:t>
                      </a:r>
                      <a:r>
                        <a:rPr sz="1100" spc="-10" dirty="0">
                          <a:latin typeface="Arial"/>
                          <a:cs typeface="Arial"/>
                        </a:rPr>
                        <a:t>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I</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8">
                <a:tc>
                  <a:txBody>
                    <a:bodyPr/>
                    <a:lstStyle/>
                    <a:p>
                      <a:pPr marL="75565">
                        <a:lnSpc>
                          <a:spcPts val="1255"/>
                        </a:lnSpc>
                      </a:pPr>
                      <a:r>
                        <a:rPr sz="1100" spc="-10" dirty="0">
                          <a:latin typeface="Arial"/>
                          <a:cs typeface="Arial"/>
                        </a:rPr>
                        <a:t>March Hare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B</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8">
                <a:tc>
                  <a:txBody>
                    <a:bodyPr/>
                    <a:lstStyle/>
                    <a:p>
                      <a:pPr marL="75565">
                        <a:lnSpc>
                          <a:spcPts val="1255"/>
                        </a:lnSpc>
                      </a:pPr>
                      <a:r>
                        <a:rPr sz="1100" spc="-10" dirty="0">
                          <a:latin typeface="Arial"/>
                          <a:cs typeface="Arial"/>
                        </a:rPr>
                        <a:t>Black</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I</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5" dirty="0">
                          <a:latin typeface="Arial"/>
                          <a:cs typeface="Arial"/>
                        </a:rPr>
                        <a:t>White</a:t>
                      </a:r>
                      <a:r>
                        <a:rPr sz="1100" spc="-15" dirty="0">
                          <a:latin typeface="Arial"/>
                          <a:cs typeface="Arial"/>
                        </a:rPr>
                        <a:t> </a:t>
                      </a:r>
                      <a:r>
                        <a:rPr sz="1100" spc="-5" dirty="0">
                          <a:latin typeface="Arial"/>
                          <a:cs typeface="Arial"/>
                        </a:rPr>
                        <a:t>Horse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dirty="0">
                          <a:latin typeface="Arial"/>
                          <a:cs typeface="Arial"/>
                        </a:rPr>
                        <a:t>B</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27" name="object 27"/>
          <p:cNvSpPr txBox="1"/>
          <p:nvPr/>
        </p:nvSpPr>
        <p:spPr>
          <a:xfrm>
            <a:off x="2212886" y="1416353"/>
            <a:ext cx="579120"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Arial"/>
                <a:cs typeface="Arial"/>
              </a:rPr>
              <a:t>Drinkers:</a:t>
            </a:r>
            <a:endParaRPr sz="1100">
              <a:latin typeface="Arial"/>
              <a:cs typeface="Arial"/>
            </a:endParaRPr>
          </a:p>
        </p:txBody>
      </p:sp>
      <p:graphicFrame>
        <p:nvGraphicFramePr>
          <p:cNvPr id="28" name="object 28"/>
          <p:cNvGraphicFramePr>
            <a:graphicFrameLocks noGrp="1"/>
          </p:cNvGraphicFramePr>
          <p:nvPr/>
        </p:nvGraphicFramePr>
        <p:xfrm>
          <a:off x="2824200" y="996492"/>
          <a:ext cx="865505" cy="1067876"/>
        </p:xfrm>
        <a:graphic>
          <a:graphicData uri="http://schemas.openxmlformats.org/drawingml/2006/table">
            <a:tbl>
              <a:tblPr firstRow="1" bandRow="1">
                <a:tableStyleId>{2D5ABB26-0587-4C30-8999-92F81FD0307C}</a:tableStyleId>
              </a:tblPr>
              <a:tblGrid>
                <a:gridCol w="513715">
                  <a:extLst>
                    <a:ext uri="{9D8B030D-6E8A-4147-A177-3AD203B41FA5}">
                      <a16:colId xmlns:a16="http://schemas.microsoft.com/office/drawing/2014/main" val="20000"/>
                    </a:ext>
                  </a:extLst>
                </a:gridCol>
                <a:gridCol w="351790">
                  <a:extLst>
                    <a:ext uri="{9D8B030D-6E8A-4147-A177-3AD203B41FA5}">
                      <a16:colId xmlns:a16="http://schemas.microsoft.com/office/drawing/2014/main" val="20001"/>
                    </a:ext>
                  </a:extLst>
                </a:gridCol>
              </a:tblGrid>
              <a:tr h="189788">
                <a:tc>
                  <a:txBody>
                    <a:bodyPr/>
                    <a:lstStyle/>
                    <a:p>
                      <a:pPr marL="75565">
                        <a:lnSpc>
                          <a:spcPts val="1190"/>
                        </a:lnSpc>
                      </a:pPr>
                      <a:r>
                        <a:rPr sz="1100" b="1" spc="-10" dirty="0">
                          <a:latin typeface="Arial"/>
                          <a:cs typeface="Arial"/>
                        </a:rPr>
                        <a:t>name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5" dirty="0">
                          <a:latin typeface="Arial"/>
                          <a:cs typeface="Arial"/>
                        </a:rPr>
                        <a:t>loc</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5397">
                <a:tc>
                  <a:txBody>
                    <a:bodyPr/>
                    <a:lstStyle/>
                    <a:p>
                      <a:pPr marL="75565">
                        <a:lnSpc>
                          <a:spcPts val="1280"/>
                        </a:lnSpc>
                      </a:pPr>
                      <a:r>
                        <a:rPr sz="1100" spc="-5" dirty="0">
                          <a:latin typeface="Arial"/>
                          <a:cs typeface="Arial"/>
                        </a:rPr>
                        <a:t>Alice</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marL="75565">
                        <a:lnSpc>
                          <a:spcPts val="1280"/>
                        </a:lnSpc>
                      </a:pPr>
                      <a:r>
                        <a:rPr sz="1100" dirty="0">
                          <a:latin typeface="Arial"/>
                          <a:cs typeface="Arial"/>
                        </a:rPr>
                        <a:t>I</a:t>
                      </a:r>
                      <a:endParaRPr sz="11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172072">
                <a:tc>
                  <a:txBody>
                    <a:bodyPr/>
                    <a:lstStyle/>
                    <a:p>
                      <a:pPr marL="75565">
                        <a:lnSpc>
                          <a:spcPts val="1255"/>
                        </a:lnSpc>
                      </a:pPr>
                      <a:r>
                        <a:rPr sz="1100" spc="-10" dirty="0">
                          <a:latin typeface="Arial"/>
                          <a:cs typeface="Arial"/>
                        </a:rPr>
                        <a:t>Bob</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B</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72078">
                <a:tc>
                  <a:txBody>
                    <a:bodyPr/>
                    <a:lstStyle/>
                    <a:p>
                      <a:pPr marL="75565">
                        <a:lnSpc>
                          <a:spcPts val="1255"/>
                        </a:lnSpc>
                      </a:pPr>
                      <a:r>
                        <a:rPr sz="1100" spc="-5" dirty="0">
                          <a:latin typeface="Arial"/>
                          <a:cs typeface="Arial"/>
                        </a:rPr>
                        <a:t>Carol</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I</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72078">
                <a:tc>
                  <a:txBody>
                    <a:bodyPr/>
                    <a:lstStyle/>
                    <a:p>
                      <a:pPr marL="75565">
                        <a:lnSpc>
                          <a:spcPts val="1255"/>
                        </a:lnSpc>
                      </a:pPr>
                      <a:r>
                        <a:rPr sz="1100" spc="-20" dirty="0">
                          <a:latin typeface="Arial"/>
                          <a:cs typeface="Arial"/>
                        </a:rPr>
                        <a:t>Dave</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5565">
                        <a:lnSpc>
                          <a:spcPts val="1255"/>
                        </a:lnSpc>
                      </a:pPr>
                      <a:r>
                        <a:rPr sz="1100" dirty="0">
                          <a:latin typeface="Arial"/>
                          <a:cs typeface="Arial"/>
                        </a:rPr>
                        <a:t>B</a:t>
                      </a:r>
                      <a:endParaRPr sz="11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86463">
                <a:tc>
                  <a:txBody>
                    <a:bodyPr/>
                    <a:lstStyle/>
                    <a:p>
                      <a:pPr marL="75565">
                        <a:lnSpc>
                          <a:spcPts val="1260"/>
                        </a:lnSpc>
                      </a:pPr>
                      <a:r>
                        <a:rPr sz="1100" spc="-20" dirty="0">
                          <a:latin typeface="Arial"/>
                          <a:cs typeface="Arial"/>
                        </a:rPr>
                        <a:t>Eve</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5565">
                        <a:lnSpc>
                          <a:spcPts val="1260"/>
                        </a:lnSpc>
                      </a:pPr>
                      <a:r>
                        <a:rPr sz="1100" dirty="0">
                          <a:latin typeface="Arial"/>
                          <a:cs typeface="Arial"/>
                        </a:rPr>
                        <a:t>S</a:t>
                      </a:r>
                      <a:endParaRPr sz="11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29" name="object 29"/>
          <p:cNvSpPr txBox="1"/>
          <p:nvPr/>
        </p:nvSpPr>
        <p:spPr>
          <a:xfrm>
            <a:off x="167297" y="2190469"/>
            <a:ext cx="2936240" cy="1031875"/>
          </a:xfrm>
          <a:prstGeom prst="rect">
            <a:avLst/>
          </a:prstGeom>
        </p:spPr>
        <p:txBody>
          <a:bodyPr vert="horz" wrap="square" lIns="0" tIns="6985" rIns="0" bIns="0" rtlCol="0">
            <a:spAutoFit/>
          </a:bodyPr>
          <a:lstStyle/>
          <a:p>
            <a:pPr marL="473709" marR="204470" indent="-461645">
              <a:lnSpc>
                <a:spcPct val="102600"/>
              </a:lnSpc>
              <a:spcBef>
                <a:spcPts val="55"/>
              </a:spcBef>
            </a:pPr>
            <a:r>
              <a:rPr sz="1100" spc="-30" dirty="0">
                <a:solidFill>
                  <a:srgbClr val="0000FF"/>
                </a:solidFill>
                <a:latin typeface="Arial"/>
                <a:cs typeface="Arial"/>
              </a:rPr>
              <a:t>CREATE </a:t>
            </a:r>
            <a:r>
              <a:rPr sz="1100" spc="-10" dirty="0">
                <a:solidFill>
                  <a:srgbClr val="0000FF"/>
                </a:solidFill>
                <a:latin typeface="Arial"/>
                <a:cs typeface="Arial"/>
              </a:rPr>
              <a:t>VIEW coLocated(drinker,pub) AS  SELECT Drinkers.name, Pubs.name  </a:t>
            </a:r>
            <a:r>
              <a:rPr sz="1100" spc="-15" dirty="0">
                <a:solidFill>
                  <a:srgbClr val="0000FF"/>
                </a:solidFill>
                <a:latin typeface="Arial"/>
                <a:cs typeface="Arial"/>
              </a:rPr>
              <a:t>FROM </a:t>
            </a:r>
            <a:r>
              <a:rPr sz="1100" spc="-10" dirty="0">
                <a:solidFill>
                  <a:srgbClr val="0000FF"/>
                </a:solidFill>
                <a:latin typeface="Arial"/>
                <a:cs typeface="Arial"/>
              </a:rPr>
              <a:t>Pubs,</a:t>
            </a:r>
            <a:r>
              <a:rPr sz="1100" dirty="0">
                <a:solidFill>
                  <a:srgbClr val="0000FF"/>
                </a:solidFill>
                <a:latin typeface="Arial"/>
                <a:cs typeface="Arial"/>
              </a:rPr>
              <a:t> </a:t>
            </a:r>
            <a:r>
              <a:rPr sz="1100" spc="-10" dirty="0">
                <a:solidFill>
                  <a:srgbClr val="0000FF"/>
                </a:solidFill>
                <a:latin typeface="Arial"/>
                <a:cs typeface="Arial"/>
              </a:rPr>
              <a:t>Drinkers</a:t>
            </a:r>
            <a:endParaRPr sz="1100">
              <a:latin typeface="Arial"/>
              <a:cs typeface="Arial"/>
            </a:endParaRPr>
          </a:p>
          <a:p>
            <a:pPr marR="47625" algn="ctr">
              <a:lnSpc>
                <a:spcPct val="100000"/>
              </a:lnSpc>
              <a:spcBef>
                <a:spcPts val="35"/>
              </a:spcBef>
            </a:pPr>
            <a:r>
              <a:rPr sz="1100" spc="-10" dirty="0">
                <a:solidFill>
                  <a:srgbClr val="0000FF"/>
                </a:solidFill>
                <a:latin typeface="Arial"/>
                <a:cs typeface="Arial"/>
              </a:rPr>
              <a:t>WHERE Pubs.loc=Drinkers.loc;</a:t>
            </a:r>
            <a:endParaRPr sz="1100">
              <a:latin typeface="Arial"/>
              <a:cs typeface="Arial"/>
            </a:endParaRPr>
          </a:p>
          <a:p>
            <a:pPr>
              <a:lnSpc>
                <a:spcPct val="100000"/>
              </a:lnSpc>
              <a:spcBef>
                <a:spcPts val="20"/>
              </a:spcBef>
            </a:pPr>
            <a:endParaRPr sz="1050">
              <a:latin typeface="Arial"/>
              <a:cs typeface="Arial"/>
            </a:endParaRPr>
          </a:p>
          <a:p>
            <a:pPr algn="ctr">
              <a:lnSpc>
                <a:spcPct val="100000"/>
              </a:lnSpc>
              <a:spcBef>
                <a:spcPts val="5"/>
              </a:spcBef>
            </a:pPr>
            <a:r>
              <a:rPr sz="1100" spc="-5" dirty="0">
                <a:latin typeface="Arial"/>
                <a:cs typeface="Arial"/>
              </a:rPr>
              <a:t>Note that the </a:t>
            </a:r>
            <a:r>
              <a:rPr sz="1100" spc="-15" dirty="0">
                <a:latin typeface="Arial"/>
                <a:cs typeface="Arial"/>
              </a:rPr>
              <a:t>view </a:t>
            </a:r>
            <a:r>
              <a:rPr sz="1100" spc="-5" dirty="0">
                <a:latin typeface="Arial"/>
                <a:cs typeface="Arial"/>
              </a:rPr>
              <a:t>defines </a:t>
            </a:r>
            <a:r>
              <a:rPr sz="1100" spc="-15" dirty="0">
                <a:latin typeface="Arial"/>
                <a:cs typeface="Arial"/>
              </a:rPr>
              <a:t>new </a:t>
            </a:r>
            <a:r>
              <a:rPr sz="1100" spc="-5" dirty="0">
                <a:latin typeface="Arial"/>
                <a:cs typeface="Arial"/>
              </a:rPr>
              <a:t>attribute</a:t>
            </a:r>
            <a:r>
              <a:rPr sz="1100" spc="-40" dirty="0">
                <a:latin typeface="Arial"/>
                <a:cs typeface="Arial"/>
              </a:rPr>
              <a:t> </a:t>
            </a:r>
            <a:r>
              <a:rPr sz="1100" spc="-10" dirty="0">
                <a:latin typeface="Arial"/>
                <a:cs typeface="Arial"/>
              </a:rPr>
              <a:t>names.</a:t>
            </a:r>
            <a:endParaRPr sz="1100">
              <a:latin typeface="Arial"/>
              <a:cs typeface="Arial"/>
            </a:endParaRPr>
          </a:p>
        </p:txBody>
      </p:sp>
    </p:spTree>
    <p:extLst>
      <p:ext uri="{BB962C8B-B14F-4D97-AF65-F5344CB8AC3E}">
        <p14:creationId xmlns:p14="http://schemas.microsoft.com/office/powerpoint/2010/main" val="3315063401"/>
      </p:ext>
    </p:extLst>
  </p:cSld>
  <p:clrMapOvr>
    <a:masterClrMapping/>
  </p:clrMapOvr>
  <p:transition>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latin typeface="Arial"/>
                <a:cs typeface="Arial"/>
                <a:hlinkClick r:id="rId3" action="ppaction://hlinksldjump"/>
              </a:rPr>
              <a:t>SQL</a:t>
            </a:r>
            <a:r>
              <a:rPr sz="400" spc="-10" dirty="0">
                <a:latin typeface="Arial"/>
                <a:cs typeface="Arial"/>
                <a:hlinkClick r:id="rId3" action="ppaction://hlinksldjump"/>
              </a:rPr>
              <a:t> </a:t>
            </a:r>
            <a:r>
              <a:rPr sz="400" spc="-5" dirty="0">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solidFill>
                  <a:srgbClr val="999999"/>
                </a:solidFill>
                <a:latin typeface="Arial"/>
                <a:cs typeface="Arial"/>
                <a:hlinkClick r:id="rId4" action="ppaction://hlinksldjump"/>
              </a:rPr>
              <a:t>SQL</a:t>
            </a:r>
            <a:r>
              <a:rPr sz="400" spc="-10" dirty="0">
                <a:solidFill>
                  <a:srgbClr val="999999"/>
                </a:solidFill>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154555" cy="232756"/>
          </a:xfrm>
          <a:prstGeom prst="rect">
            <a:avLst/>
          </a:prstGeom>
        </p:spPr>
        <p:txBody>
          <a:bodyPr vert="horz" wrap="square" lIns="0" tIns="17145" rIns="0" bIns="0" rtlCol="0">
            <a:spAutoFit/>
          </a:bodyPr>
          <a:lstStyle/>
          <a:p>
            <a:pPr marL="12700">
              <a:lnSpc>
                <a:spcPct val="100000"/>
              </a:lnSpc>
              <a:spcBef>
                <a:spcPts val="135"/>
              </a:spcBef>
            </a:pPr>
            <a:r>
              <a:rPr spc="10" dirty="0"/>
              <a:t>Updatable views</a:t>
            </a:r>
            <a:endParaRPr spc="15" dirty="0"/>
          </a:p>
        </p:txBody>
      </p:sp>
      <p:sp>
        <p:nvSpPr>
          <p:cNvPr id="24" name="object 24"/>
          <p:cNvSpPr txBox="1"/>
          <p:nvPr/>
        </p:nvSpPr>
        <p:spPr>
          <a:xfrm>
            <a:off x="141897" y="878241"/>
            <a:ext cx="3604260" cy="1720214"/>
          </a:xfrm>
          <a:prstGeom prst="rect">
            <a:avLst/>
          </a:prstGeom>
        </p:spPr>
        <p:txBody>
          <a:bodyPr vert="horz" wrap="square" lIns="0" tIns="6985" rIns="0" bIns="0" rtlCol="0">
            <a:spAutoFit/>
          </a:bodyPr>
          <a:lstStyle/>
          <a:p>
            <a:pPr marL="38100" marR="107314">
              <a:lnSpc>
                <a:spcPct val="102600"/>
              </a:lnSpc>
              <a:spcBef>
                <a:spcPts val="55"/>
              </a:spcBef>
            </a:pPr>
            <a:r>
              <a:rPr sz="1100" spc="-10" dirty="0">
                <a:latin typeface="Arial"/>
                <a:cs typeface="Arial"/>
              </a:rPr>
              <a:t>An SQL </a:t>
            </a:r>
            <a:r>
              <a:rPr sz="1100" spc="-15" dirty="0">
                <a:latin typeface="Arial"/>
                <a:cs typeface="Arial"/>
              </a:rPr>
              <a:t>view </a:t>
            </a:r>
            <a:r>
              <a:rPr sz="1100" spc="-5" dirty="0">
                <a:latin typeface="Arial"/>
                <a:cs typeface="Arial"/>
              </a:rPr>
              <a:t>is said to </a:t>
            </a:r>
            <a:r>
              <a:rPr sz="1100" spc="-10" dirty="0">
                <a:latin typeface="Arial"/>
                <a:cs typeface="Arial"/>
              </a:rPr>
              <a:t>be </a:t>
            </a:r>
            <a:r>
              <a:rPr sz="1100" i="1" spc="-10" dirty="0">
                <a:latin typeface="Arial"/>
                <a:cs typeface="Arial"/>
              </a:rPr>
              <a:t>updatable </a:t>
            </a:r>
            <a:r>
              <a:rPr sz="1100" spc="-5" dirty="0">
                <a:latin typeface="Arial"/>
                <a:cs typeface="Arial"/>
              </a:rPr>
              <a:t>(inserts, updates or  deletes can </a:t>
            </a:r>
            <a:r>
              <a:rPr sz="1100" spc="-10" dirty="0">
                <a:latin typeface="Arial"/>
                <a:cs typeface="Arial"/>
              </a:rPr>
              <a:t>be </a:t>
            </a:r>
            <a:r>
              <a:rPr sz="1100" spc="-5" dirty="0">
                <a:latin typeface="Arial"/>
                <a:cs typeface="Arial"/>
              </a:rPr>
              <a:t>applied) if the </a:t>
            </a:r>
            <a:r>
              <a:rPr sz="1100" dirty="0">
                <a:latin typeface="Arial"/>
                <a:cs typeface="Arial"/>
              </a:rPr>
              <a:t>query </a:t>
            </a:r>
            <a:r>
              <a:rPr sz="1100" spc="-5" dirty="0">
                <a:latin typeface="Arial"/>
                <a:cs typeface="Arial"/>
              </a:rPr>
              <a:t>defining the </a:t>
            </a:r>
            <a:r>
              <a:rPr sz="1100" spc="-15" dirty="0">
                <a:latin typeface="Arial"/>
                <a:cs typeface="Arial"/>
              </a:rPr>
              <a:t>view  </a:t>
            </a:r>
            <a:r>
              <a:rPr sz="1100" spc="-5" dirty="0">
                <a:latin typeface="Arial"/>
                <a:cs typeface="Arial"/>
              </a:rPr>
              <a:t>satisfies the</a:t>
            </a:r>
            <a:r>
              <a:rPr sz="1100" spc="-10" dirty="0">
                <a:latin typeface="Arial"/>
                <a:cs typeface="Arial"/>
              </a:rPr>
              <a:t> following:</a:t>
            </a:r>
            <a:endParaRPr sz="1100">
              <a:latin typeface="Arial"/>
              <a:cs typeface="Arial"/>
            </a:endParaRPr>
          </a:p>
          <a:p>
            <a:pPr marL="314960" indent="-148590">
              <a:lnSpc>
                <a:spcPct val="100000"/>
              </a:lnSpc>
              <a:spcBef>
                <a:spcPts val="335"/>
              </a:spcBef>
              <a:buClr>
                <a:srgbClr val="3333B2"/>
              </a:buClr>
              <a:buSzPct val="72727"/>
              <a:buFont typeface="Lucida Sans Unicode"/>
              <a:buChar char="►"/>
              <a:tabLst>
                <a:tab pos="315595" algn="l"/>
              </a:tabLst>
            </a:pPr>
            <a:r>
              <a:rPr sz="1100" spc="-10" dirty="0">
                <a:latin typeface="Arial"/>
                <a:cs typeface="Arial"/>
              </a:rPr>
              <a:t>The </a:t>
            </a:r>
            <a:r>
              <a:rPr sz="1100" spc="-5" dirty="0">
                <a:solidFill>
                  <a:srgbClr val="0000FF"/>
                </a:solidFill>
                <a:latin typeface="Arial"/>
                <a:cs typeface="Arial"/>
              </a:rPr>
              <a:t>from </a:t>
            </a:r>
            <a:r>
              <a:rPr sz="1100" spc="-5" dirty="0">
                <a:latin typeface="Arial"/>
                <a:cs typeface="Arial"/>
              </a:rPr>
              <a:t>clause has only </a:t>
            </a:r>
            <a:r>
              <a:rPr sz="1100" spc="-10" dirty="0">
                <a:latin typeface="Arial"/>
                <a:cs typeface="Arial"/>
              </a:rPr>
              <a:t>one </a:t>
            </a:r>
            <a:r>
              <a:rPr sz="1100" spc="-5" dirty="0">
                <a:latin typeface="Arial"/>
                <a:cs typeface="Arial"/>
              </a:rPr>
              <a:t>database</a:t>
            </a:r>
            <a:r>
              <a:rPr sz="1100" spc="-20" dirty="0">
                <a:latin typeface="Arial"/>
                <a:cs typeface="Arial"/>
              </a:rPr>
              <a:t> </a:t>
            </a:r>
            <a:r>
              <a:rPr sz="1100" spc="-5" dirty="0">
                <a:latin typeface="Arial"/>
                <a:cs typeface="Arial"/>
              </a:rPr>
              <a:t>relation.</a:t>
            </a:r>
            <a:endParaRPr sz="1100">
              <a:latin typeface="Arial"/>
              <a:cs typeface="Arial"/>
            </a:endParaRPr>
          </a:p>
          <a:p>
            <a:pPr marL="314960" marR="64135" indent="-148590">
              <a:lnSpc>
                <a:spcPct val="102600"/>
              </a:lnSpc>
              <a:spcBef>
                <a:spcPts val="300"/>
              </a:spcBef>
              <a:buClr>
                <a:srgbClr val="3333B2"/>
              </a:buClr>
              <a:buSzPct val="72727"/>
              <a:buFont typeface="Lucida Sans Unicode"/>
              <a:buChar char="►"/>
              <a:tabLst>
                <a:tab pos="315595" algn="l"/>
              </a:tabLst>
            </a:pPr>
            <a:r>
              <a:rPr sz="1100" spc="-10" dirty="0">
                <a:latin typeface="Arial"/>
                <a:cs typeface="Arial"/>
              </a:rPr>
              <a:t>The </a:t>
            </a:r>
            <a:r>
              <a:rPr sz="1100" spc="-5" dirty="0">
                <a:solidFill>
                  <a:srgbClr val="0000FF"/>
                </a:solidFill>
                <a:latin typeface="Arial"/>
                <a:cs typeface="Arial"/>
              </a:rPr>
              <a:t>select </a:t>
            </a:r>
            <a:r>
              <a:rPr sz="1100" spc="-5" dirty="0">
                <a:latin typeface="Arial"/>
                <a:cs typeface="Arial"/>
              </a:rPr>
              <a:t>clause contains only attribute </a:t>
            </a:r>
            <a:r>
              <a:rPr sz="1100" spc="-10" dirty="0">
                <a:latin typeface="Arial"/>
                <a:cs typeface="Arial"/>
              </a:rPr>
              <a:t>names </a:t>
            </a:r>
            <a:r>
              <a:rPr sz="1100" spc="-5" dirty="0">
                <a:latin typeface="Arial"/>
                <a:cs typeface="Arial"/>
              </a:rPr>
              <a:t>of  the relation (no </a:t>
            </a:r>
            <a:r>
              <a:rPr sz="1100" spc="-10" dirty="0">
                <a:latin typeface="Arial"/>
                <a:cs typeface="Arial"/>
              </a:rPr>
              <a:t>expressions, aggregates, </a:t>
            </a:r>
            <a:r>
              <a:rPr sz="1100" spc="-5" dirty="0">
                <a:latin typeface="Arial"/>
                <a:cs typeface="Arial"/>
              </a:rPr>
              <a:t>or</a:t>
            </a:r>
            <a:r>
              <a:rPr sz="1100" spc="-25" dirty="0">
                <a:latin typeface="Arial"/>
                <a:cs typeface="Arial"/>
              </a:rPr>
              <a:t> </a:t>
            </a:r>
            <a:r>
              <a:rPr sz="1100" spc="-5" dirty="0">
                <a:solidFill>
                  <a:srgbClr val="0000FF"/>
                </a:solidFill>
                <a:latin typeface="Arial"/>
                <a:cs typeface="Arial"/>
              </a:rPr>
              <a:t>distinct</a:t>
            </a:r>
            <a:r>
              <a:rPr sz="1100" spc="-5" dirty="0">
                <a:latin typeface="Arial"/>
                <a:cs typeface="Arial"/>
              </a:rPr>
              <a:t>).</a:t>
            </a:r>
            <a:endParaRPr sz="1100">
              <a:latin typeface="Arial"/>
              <a:cs typeface="Arial"/>
            </a:endParaRPr>
          </a:p>
          <a:p>
            <a:pPr marL="314960" marR="30480" indent="-148590">
              <a:lnSpc>
                <a:spcPct val="102600"/>
              </a:lnSpc>
              <a:spcBef>
                <a:spcPts val="300"/>
              </a:spcBef>
              <a:buClr>
                <a:srgbClr val="3333B2"/>
              </a:buClr>
              <a:buSzPct val="72727"/>
              <a:buFont typeface="Lucida Sans Unicode"/>
              <a:buChar char="►"/>
              <a:tabLst>
                <a:tab pos="315595" algn="l"/>
              </a:tabLst>
            </a:pPr>
            <a:r>
              <a:rPr sz="1100" spc="-15" dirty="0">
                <a:latin typeface="Arial"/>
                <a:cs typeface="Arial"/>
              </a:rPr>
              <a:t>Any </a:t>
            </a:r>
            <a:r>
              <a:rPr sz="1100" spc="-5" dirty="0">
                <a:latin typeface="Arial"/>
                <a:cs typeface="Arial"/>
              </a:rPr>
              <a:t>attribute not listed in the </a:t>
            </a:r>
            <a:r>
              <a:rPr sz="1100" spc="-5" dirty="0">
                <a:solidFill>
                  <a:srgbClr val="0000FF"/>
                </a:solidFill>
                <a:latin typeface="Arial"/>
                <a:cs typeface="Arial"/>
              </a:rPr>
              <a:t>select </a:t>
            </a:r>
            <a:r>
              <a:rPr sz="1100" spc="-5" dirty="0">
                <a:latin typeface="Arial"/>
                <a:cs typeface="Arial"/>
              </a:rPr>
              <a:t>clause can </a:t>
            </a:r>
            <a:r>
              <a:rPr sz="1100" spc="-10" dirty="0">
                <a:latin typeface="Arial"/>
                <a:cs typeface="Arial"/>
              </a:rPr>
              <a:t>be</a:t>
            </a:r>
            <a:r>
              <a:rPr sz="1100" spc="-150" dirty="0">
                <a:latin typeface="Arial"/>
                <a:cs typeface="Arial"/>
              </a:rPr>
              <a:t> </a:t>
            </a:r>
            <a:r>
              <a:rPr sz="1100" spc="-5" dirty="0">
                <a:latin typeface="Arial"/>
                <a:cs typeface="Arial"/>
              </a:rPr>
              <a:t>set  to</a:t>
            </a:r>
            <a:r>
              <a:rPr sz="1100" spc="-10" dirty="0">
                <a:latin typeface="Arial"/>
                <a:cs typeface="Arial"/>
              </a:rPr>
              <a:t> </a:t>
            </a:r>
            <a:r>
              <a:rPr sz="1100" spc="-10" dirty="0">
                <a:solidFill>
                  <a:srgbClr val="0000FF"/>
                </a:solidFill>
                <a:latin typeface="Arial"/>
                <a:cs typeface="Arial"/>
              </a:rPr>
              <a:t>null</a:t>
            </a:r>
            <a:r>
              <a:rPr sz="1100" spc="-10" dirty="0">
                <a:latin typeface="Arial"/>
                <a:cs typeface="Arial"/>
              </a:rPr>
              <a:t>.</a:t>
            </a:r>
            <a:endParaRPr sz="1100">
              <a:latin typeface="Arial"/>
              <a:cs typeface="Arial"/>
            </a:endParaRPr>
          </a:p>
          <a:p>
            <a:pPr marL="314960" indent="-148590">
              <a:lnSpc>
                <a:spcPct val="100000"/>
              </a:lnSpc>
              <a:spcBef>
                <a:spcPts val="330"/>
              </a:spcBef>
              <a:buClr>
                <a:srgbClr val="3333B2"/>
              </a:buClr>
              <a:buSzPct val="72727"/>
              <a:buFont typeface="Lucida Sans Unicode"/>
              <a:buChar char="►"/>
              <a:tabLst>
                <a:tab pos="315595" algn="l"/>
              </a:tabLst>
            </a:pPr>
            <a:r>
              <a:rPr sz="1100" spc="-5" dirty="0">
                <a:latin typeface="Arial"/>
                <a:cs typeface="Arial"/>
              </a:rPr>
              <a:t>There is </a:t>
            </a:r>
            <a:r>
              <a:rPr sz="1100" spc="-10" dirty="0">
                <a:latin typeface="Arial"/>
                <a:cs typeface="Arial"/>
              </a:rPr>
              <a:t>no </a:t>
            </a:r>
            <a:r>
              <a:rPr sz="1100" spc="-10" dirty="0">
                <a:solidFill>
                  <a:srgbClr val="0000FF"/>
                </a:solidFill>
                <a:latin typeface="Arial"/>
                <a:cs typeface="Arial"/>
              </a:rPr>
              <a:t>group </a:t>
            </a:r>
            <a:r>
              <a:rPr sz="1100" spc="-20" dirty="0">
                <a:solidFill>
                  <a:srgbClr val="0000FF"/>
                </a:solidFill>
                <a:latin typeface="Arial"/>
                <a:cs typeface="Arial"/>
              </a:rPr>
              <a:t>by </a:t>
            </a:r>
            <a:r>
              <a:rPr sz="1100" spc="-5" dirty="0">
                <a:latin typeface="Arial"/>
                <a:cs typeface="Arial"/>
              </a:rPr>
              <a:t>or </a:t>
            </a:r>
            <a:r>
              <a:rPr sz="1100" spc="-10" dirty="0">
                <a:solidFill>
                  <a:srgbClr val="0000FF"/>
                </a:solidFill>
                <a:latin typeface="Arial"/>
                <a:cs typeface="Arial"/>
              </a:rPr>
              <a:t>having</a:t>
            </a:r>
            <a:r>
              <a:rPr sz="1100" spc="10" dirty="0">
                <a:solidFill>
                  <a:srgbClr val="0000FF"/>
                </a:solidFill>
                <a:latin typeface="Arial"/>
                <a:cs typeface="Arial"/>
              </a:rPr>
              <a:t> </a:t>
            </a:r>
            <a:r>
              <a:rPr sz="1100" spc="-10" dirty="0">
                <a:latin typeface="Arial"/>
                <a:cs typeface="Arial"/>
              </a:rPr>
              <a:t>clause.</a:t>
            </a:r>
            <a:endParaRPr sz="1100">
              <a:latin typeface="Arial"/>
              <a:cs typeface="Arial"/>
            </a:endParaRPr>
          </a:p>
        </p:txBody>
      </p:sp>
    </p:spTree>
    <p:extLst>
      <p:ext uri="{BB962C8B-B14F-4D97-AF65-F5344CB8AC3E}">
        <p14:creationId xmlns:p14="http://schemas.microsoft.com/office/powerpoint/2010/main" val="957220700"/>
      </p:ext>
    </p:extLst>
  </p:cSld>
  <p:clrMapOvr>
    <a:masterClrMapping/>
  </p:clrMapOvr>
  <p:transition>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latin typeface="Arial"/>
                <a:cs typeface="Arial"/>
                <a:hlinkClick r:id="rId4" action="ppaction://hlinksldjump"/>
              </a:rPr>
              <a:t>SQL</a:t>
            </a:r>
            <a:r>
              <a:rPr sz="400" spc="-10" dirty="0">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459865" cy="244475"/>
          </a:xfrm>
          <a:prstGeom prst="rect">
            <a:avLst/>
          </a:prstGeom>
        </p:spPr>
        <p:txBody>
          <a:bodyPr vert="horz" wrap="square" lIns="0" tIns="17145" rIns="0" bIns="0" rtlCol="0">
            <a:spAutoFit/>
          </a:bodyPr>
          <a:lstStyle/>
          <a:p>
            <a:pPr marL="12700">
              <a:lnSpc>
                <a:spcPct val="100000"/>
              </a:lnSpc>
              <a:spcBef>
                <a:spcPts val="135"/>
              </a:spcBef>
            </a:pPr>
            <a:r>
              <a:rPr spc="20" dirty="0"/>
              <a:t>SQL</a:t>
            </a:r>
            <a:r>
              <a:rPr spc="-65" dirty="0"/>
              <a:t> </a:t>
            </a:r>
            <a:r>
              <a:rPr dirty="0"/>
              <a:t>Transactions</a:t>
            </a:r>
          </a:p>
        </p:txBody>
      </p:sp>
      <p:sp>
        <p:nvSpPr>
          <p:cNvPr id="24" name="object 24"/>
          <p:cNvSpPr txBox="1"/>
          <p:nvPr/>
        </p:nvSpPr>
        <p:spPr>
          <a:xfrm>
            <a:off x="270992" y="883081"/>
            <a:ext cx="3433445" cy="1745614"/>
          </a:xfrm>
          <a:prstGeom prst="rect">
            <a:avLst/>
          </a:prstGeom>
        </p:spPr>
        <p:txBody>
          <a:bodyPr vert="horz" wrap="square" lIns="0" tIns="36195" rIns="0" bIns="0" rtlCol="0">
            <a:spAutoFit/>
          </a:bodyPr>
          <a:lstStyle/>
          <a:p>
            <a:pPr marL="186055" indent="-148590">
              <a:lnSpc>
                <a:spcPct val="100000"/>
              </a:lnSpc>
              <a:spcBef>
                <a:spcPts val="285"/>
              </a:spcBef>
              <a:buClr>
                <a:srgbClr val="3333B2"/>
              </a:buClr>
              <a:buSzPct val="72727"/>
              <a:buFont typeface="Lucida Sans Unicode"/>
              <a:buChar char="►"/>
              <a:tabLst>
                <a:tab pos="186690" algn="l"/>
              </a:tabLst>
            </a:pPr>
            <a:r>
              <a:rPr sz="1100" spc="-5" dirty="0">
                <a:latin typeface="Arial"/>
                <a:cs typeface="Arial"/>
              </a:rPr>
              <a:t>Assumptions </a:t>
            </a:r>
            <a:r>
              <a:rPr sz="1100" spc="-10" dirty="0">
                <a:latin typeface="Arial"/>
                <a:cs typeface="Arial"/>
              </a:rPr>
              <a:t>up </a:t>
            </a:r>
            <a:r>
              <a:rPr sz="1100" spc="-5" dirty="0">
                <a:latin typeface="Arial"/>
                <a:cs typeface="Arial"/>
              </a:rPr>
              <a:t>to </a:t>
            </a:r>
            <a:r>
              <a:rPr sz="1100" spc="-15" dirty="0">
                <a:latin typeface="Arial"/>
                <a:cs typeface="Arial"/>
              </a:rPr>
              <a:t>now</a:t>
            </a:r>
            <a:r>
              <a:rPr sz="1100" spc="-10" dirty="0">
                <a:latin typeface="Arial"/>
                <a:cs typeface="Arial"/>
              </a:rPr>
              <a:t> </a:t>
            </a:r>
            <a:r>
              <a:rPr sz="1100" spc="-5" dirty="0">
                <a:latin typeface="Arial"/>
                <a:cs typeface="Arial"/>
              </a:rPr>
              <a:t>include</a:t>
            </a:r>
            <a:endParaRPr sz="1100">
              <a:latin typeface="Arial"/>
              <a:cs typeface="Arial"/>
            </a:endParaRPr>
          </a:p>
          <a:p>
            <a:pPr marL="462915" marR="365125" indent="-137160">
              <a:lnSpc>
                <a:spcPct val="100000"/>
              </a:lnSpc>
              <a:spcBef>
                <a:spcPts val="175"/>
              </a:spcBef>
            </a:pPr>
            <a:r>
              <a:rPr sz="900" spc="494" baseline="13888" dirty="0">
                <a:solidFill>
                  <a:srgbClr val="3333B2"/>
                </a:solidFill>
                <a:latin typeface="Arial"/>
                <a:cs typeface="Arial"/>
              </a:rPr>
              <a:t>) </a:t>
            </a:r>
            <a:r>
              <a:rPr sz="1000" spc="-5" dirty="0">
                <a:latin typeface="Arial"/>
                <a:cs typeface="Arial"/>
              </a:rPr>
              <a:t>only one user at a time queries or modifies the  database</a:t>
            </a:r>
            <a:endParaRPr sz="1000">
              <a:latin typeface="Arial"/>
              <a:cs typeface="Arial"/>
            </a:endParaRPr>
          </a:p>
          <a:p>
            <a:pPr marL="462915" marR="203835" indent="-137160">
              <a:lnSpc>
                <a:spcPts val="1200"/>
              </a:lnSpc>
              <a:spcBef>
                <a:spcPts val="35"/>
              </a:spcBef>
            </a:pPr>
            <a:r>
              <a:rPr sz="900" spc="494" baseline="13888" dirty="0">
                <a:solidFill>
                  <a:srgbClr val="3333B2"/>
                </a:solidFill>
                <a:latin typeface="Arial"/>
                <a:cs typeface="Arial"/>
              </a:rPr>
              <a:t>) </a:t>
            </a:r>
            <a:r>
              <a:rPr sz="1000" spc="-5" dirty="0">
                <a:latin typeface="Arial"/>
                <a:cs typeface="Arial"/>
              </a:rPr>
              <a:t>only single queries or updates are performed at a  time</a:t>
            </a:r>
            <a:endParaRPr sz="1000">
              <a:latin typeface="Arial"/>
              <a:cs typeface="Arial"/>
            </a:endParaRPr>
          </a:p>
          <a:p>
            <a:pPr marL="325755">
              <a:lnSpc>
                <a:spcPts val="1150"/>
              </a:lnSpc>
            </a:pPr>
            <a:r>
              <a:rPr sz="900" spc="494" baseline="13888" dirty="0">
                <a:solidFill>
                  <a:srgbClr val="3333B2"/>
                </a:solidFill>
                <a:latin typeface="Arial"/>
                <a:cs typeface="Arial"/>
              </a:rPr>
              <a:t>) </a:t>
            </a:r>
            <a:r>
              <a:rPr sz="1000" spc="-5" dirty="0">
                <a:latin typeface="Arial"/>
                <a:cs typeface="Arial"/>
              </a:rPr>
              <a:t>there are no hardware or software </a:t>
            </a:r>
            <a:r>
              <a:rPr sz="1000" spc="-10" dirty="0">
                <a:latin typeface="Arial"/>
                <a:cs typeface="Arial"/>
              </a:rPr>
              <a:t>failures </a:t>
            </a:r>
            <a:r>
              <a:rPr sz="1000" spc="-5" dirty="0">
                <a:latin typeface="Arial"/>
                <a:cs typeface="Arial"/>
              </a:rPr>
              <a:t>that</a:t>
            </a:r>
            <a:r>
              <a:rPr sz="1000" spc="70" dirty="0">
                <a:latin typeface="Arial"/>
                <a:cs typeface="Arial"/>
              </a:rPr>
              <a:t> </a:t>
            </a:r>
            <a:r>
              <a:rPr sz="1000" spc="-5" dirty="0">
                <a:latin typeface="Arial"/>
                <a:cs typeface="Arial"/>
              </a:rPr>
              <a:t>might</a:t>
            </a:r>
            <a:endParaRPr sz="1000">
              <a:latin typeface="Arial"/>
              <a:cs typeface="Arial"/>
            </a:endParaRPr>
          </a:p>
          <a:p>
            <a:pPr marL="462915">
              <a:lnSpc>
                <a:spcPts val="1200"/>
              </a:lnSpc>
            </a:pPr>
            <a:r>
              <a:rPr sz="1000" spc="-15" dirty="0">
                <a:latin typeface="Arial"/>
                <a:cs typeface="Arial"/>
              </a:rPr>
              <a:t>leave </a:t>
            </a:r>
            <a:r>
              <a:rPr sz="1000" spc="-5" dirty="0">
                <a:latin typeface="Arial"/>
                <a:cs typeface="Arial"/>
              </a:rPr>
              <a:t>the database in an inconsistent</a:t>
            </a:r>
            <a:r>
              <a:rPr sz="1000" spc="25" dirty="0">
                <a:latin typeface="Arial"/>
                <a:cs typeface="Arial"/>
              </a:rPr>
              <a:t> </a:t>
            </a:r>
            <a:r>
              <a:rPr sz="1000" spc="-5" dirty="0">
                <a:latin typeface="Arial"/>
                <a:cs typeface="Arial"/>
              </a:rPr>
              <a:t>state</a:t>
            </a:r>
            <a:endParaRPr sz="1000">
              <a:latin typeface="Arial"/>
              <a:cs typeface="Arial"/>
            </a:endParaRPr>
          </a:p>
          <a:p>
            <a:pPr marL="186055" indent="-148590">
              <a:lnSpc>
                <a:spcPct val="100000"/>
              </a:lnSpc>
              <a:spcBef>
                <a:spcPts val="350"/>
              </a:spcBef>
              <a:buClr>
                <a:srgbClr val="3333B2"/>
              </a:buClr>
              <a:buSzPct val="72727"/>
              <a:buFont typeface="Lucida Sans Unicode"/>
              <a:buChar char="►"/>
              <a:tabLst>
                <a:tab pos="186690" algn="l"/>
              </a:tabLst>
            </a:pPr>
            <a:r>
              <a:rPr sz="1100" spc="-5" dirty="0">
                <a:latin typeface="Arial"/>
                <a:cs typeface="Arial"/>
              </a:rPr>
              <a:t>in </a:t>
            </a:r>
            <a:r>
              <a:rPr sz="1100" spc="-20" dirty="0">
                <a:latin typeface="Arial"/>
                <a:cs typeface="Arial"/>
              </a:rPr>
              <a:t>reality, </a:t>
            </a:r>
            <a:r>
              <a:rPr sz="1100" spc="-10" dirty="0">
                <a:latin typeface="Arial"/>
                <a:cs typeface="Arial"/>
              </a:rPr>
              <a:t>none </a:t>
            </a:r>
            <a:r>
              <a:rPr sz="1100" spc="-5" dirty="0">
                <a:latin typeface="Arial"/>
                <a:cs typeface="Arial"/>
              </a:rPr>
              <a:t>of this is usually the</a:t>
            </a:r>
            <a:r>
              <a:rPr sz="1100" spc="-25" dirty="0">
                <a:latin typeface="Arial"/>
                <a:cs typeface="Arial"/>
              </a:rPr>
              <a:t> </a:t>
            </a:r>
            <a:r>
              <a:rPr sz="1100" spc="-5" dirty="0">
                <a:latin typeface="Arial"/>
                <a:cs typeface="Arial"/>
              </a:rPr>
              <a:t>case</a:t>
            </a:r>
            <a:endParaRPr sz="1100">
              <a:latin typeface="Arial"/>
              <a:cs typeface="Arial"/>
            </a:endParaRPr>
          </a:p>
          <a:p>
            <a:pPr marL="186055" marR="234315" indent="-148590">
              <a:lnSpc>
                <a:spcPct val="102699"/>
              </a:lnSpc>
              <a:spcBef>
                <a:spcPts val="300"/>
              </a:spcBef>
              <a:buClr>
                <a:srgbClr val="3333B2"/>
              </a:buClr>
              <a:buSzPct val="72727"/>
              <a:buFont typeface="Lucida Sans Unicode"/>
              <a:buChar char="►"/>
              <a:tabLst>
                <a:tab pos="186690" algn="l"/>
              </a:tabLst>
            </a:pPr>
            <a:r>
              <a:rPr sz="1100" spc="-15" dirty="0">
                <a:latin typeface="Arial"/>
                <a:cs typeface="Arial"/>
              </a:rPr>
              <a:t>we </a:t>
            </a:r>
            <a:r>
              <a:rPr sz="1100" spc="-10" dirty="0">
                <a:latin typeface="Arial"/>
                <a:cs typeface="Arial"/>
              </a:rPr>
              <a:t>need </a:t>
            </a:r>
            <a:r>
              <a:rPr sz="1100" spc="-5" dirty="0">
                <a:latin typeface="Arial"/>
                <a:cs typeface="Arial"/>
              </a:rPr>
              <a:t>to </a:t>
            </a:r>
            <a:r>
              <a:rPr sz="1100" spc="-10" dirty="0">
                <a:latin typeface="Arial"/>
                <a:cs typeface="Arial"/>
              </a:rPr>
              <a:t>be </a:t>
            </a:r>
            <a:r>
              <a:rPr sz="1100" spc="-15" dirty="0">
                <a:latin typeface="Arial"/>
                <a:cs typeface="Arial"/>
              </a:rPr>
              <a:t>able </a:t>
            </a:r>
            <a:r>
              <a:rPr sz="1100" spc="-5" dirty="0">
                <a:latin typeface="Arial"/>
                <a:cs typeface="Arial"/>
              </a:rPr>
              <a:t>to </a:t>
            </a:r>
            <a:r>
              <a:rPr sz="1100" spc="-10" dirty="0">
                <a:latin typeface="Arial"/>
                <a:cs typeface="Arial"/>
              </a:rPr>
              <a:t>group </a:t>
            </a:r>
            <a:r>
              <a:rPr sz="1100" spc="-5" dirty="0">
                <a:latin typeface="Arial"/>
                <a:cs typeface="Arial"/>
              </a:rPr>
              <a:t>database </a:t>
            </a:r>
            <a:r>
              <a:rPr sz="1100" spc="-10" dirty="0">
                <a:latin typeface="Arial"/>
                <a:cs typeface="Arial"/>
              </a:rPr>
              <a:t>operations  </a:t>
            </a:r>
            <a:r>
              <a:rPr sz="1100" spc="-5" dirty="0">
                <a:latin typeface="Arial"/>
                <a:cs typeface="Arial"/>
              </a:rPr>
              <a:t>into</a:t>
            </a:r>
            <a:r>
              <a:rPr sz="1100" spc="-10" dirty="0">
                <a:latin typeface="Arial"/>
                <a:cs typeface="Arial"/>
              </a:rPr>
              <a:t> </a:t>
            </a:r>
            <a:r>
              <a:rPr sz="1100" i="1" spc="-10" dirty="0">
                <a:latin typeface="Arial"/>
                <a:cs typeface="Arial"/>
              </a:rPr>
              <a:t>transactions</a:t>
            </a:r>
            <a:endParaRPr sz="1100">
              <a:latin typeface="Arial"/>
              <a:cs typeface="Arial"/>
            </a:endParaRPr>
          </a:p>
        </p:txBody>
      </p:sp>
    </p:spTree>
    <p:extLst>
      <p:ext uri="{BB962C8B-B14F-4D97-AF65-F5344CB8AC3E}">
        <p14:creationId xmlns:p14="http://schemas.microsoft.com/office/powerpoint/2010/main" val="649030090"/>
      </p:ext>
    </p:extLst>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latin typeface="Arial"/>
                <a:cs typeface="Arial"/>
                <a:hlinkClick r:id="rId4" action="ppaction://hlinksldjump"/>
              </a:rPr>
              <a:t>SQL</a:t>
            </a:r>
            <a:r>
              <a:rPr sz="400" spc="-10" dirty="0">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459865" cy="244475"/>
          </a:xfrm>
          <a:prstGeom prst="rect">
            <a:avLst/>
          </a:prstGeom>
        </p:spPr>
        <p:txBody>
          <a:bodyPr vert="horz" wrap="square" lIns="0" tIns="17145" rIns="0" bIns="0" rtlCol="0">
            <a:spAutoFit/>
          </a:bodyPr>
          <a:lstStyle/>
          <a:p>
            <a:pPr marL="12700">
              <a:lnSpc>
                <a:spcPct val="100000"/>
              </a:lnSpc>
              <a:spcBef>
                <a:spcPts val="135"/>
              </a:spcBef>
            </a:pPr>
            <a:r>
              <a:rPr spc="20" dirty="0"/>
              <a:t>SQL</a:t>
            </a:r>
            <a:r>
              <a:rPr spc="-65" dirty="0"/>
              <a:t> </a:t>
            </a:r>
            <a:r>
              <a:rPr dirty="0"/>
              <a:t>Transactions</a:t>
            </a:r>
          </a:p>
        </p:txBody>
      </p:sp>
      <p:sp>
        <p:nvSpPr>
          <p:cNvPr id="24" name="object 24"/>
          <p:cNvSpPr txBox="1"/>
          <p:nvPr/>
        </p:nvSpPr>
        <p:spPr>
          <a:xfrm>
            <a:off x="270992" y="839786"/>
            <a:ext cx="3442970" cy="1892300"/>
          </a:xfrm>
          <a:prstGeom prst="rect">
            <a:avLst/>
          </a:prstGeom>
        </p:spPr>
        <p:txBody>
          <a:bodyPr vert="horz" wrap="square" lIns="0" tIns="6985" rIns="0" bIns="0" rtlCol="0">
            <a:spAutoFit/>
          </a:bodyPr>
          <a:lstStyle/>
          <a:p>
            <a:pPr marL="186055" marR="120650" indent="-148590">
              <a:lnSpc>
                <a:spcPct val="102600"/>
              </a:lnSpc>
              <a:spcBef>
                <a:spcPts val="55"/>
              </a:spcBef>
              <a:buClr>
                <a:srgbClr val="3333B2"/>
              </a:buClr>
              <a:buSzPct val="72727"/>
              <a:buFont typeface="Lucida Sans Unicode"/>
              <a:buChar char="►"/>
              <a:tabLst>
                <a:tab pos="186690" algn="l"/>
              </a:tabLst>
            </a:pPr>
            <a:r>
              <a:rPr sz="1100" spc="-10" dirty="0">
                <a:latin typeface="Arial"/>
                <a:cs typeface="Arial"/>
              </a:rPr>
              <a:t>When </a:t>
            </a:r>
            <a:r>
              <a:rPr sz="1100" spc="-5" dirty="0">
                <a:latin typeface="Arial"/>
                <a:cs typeface="Arial"/>
              </a:rPr>
              <a:t>using </a:t>
            </a:r>
            <a:r>
              <a:rPr sz="1100" spc="-10" dirty="0">
                <a:latin typeface="Arial"/>
                <a:cs typeface="Arial"/>
              </a:rPr>
              <a:t>a </a:t>
            </a:r>
            <a:r>
              <a:rPr sz="1100" spc="-5" dirty="0">
                <a:latin typeface="Arial"/>
                <a:cs typeface="Arial"/>
              </a:rPr>
              <a:t>generic </a:t>
            </a:r>
            <a:r>
              <a:rPr sz="1100" spc="-10" dirty="0">
                <a:latin typeface="Arial"/>
                <a:cs typeface="Arial"/>
              </a:rPr>
              <a:t>SQL interface (e.g., MySQL  Workbench), each </a:t>
            </a:r>
            <a:r>
              <a:rPr sz="1100" spc="-5" dirty="0">
                <a:latin typeface="Arial"/>
                <a:cs typeface="Arial"/>
              </a:rPr>
              <a:t>statement is its </a:t>
            </a:r>
            <a:r>
              <a:rPr sz="1100" spc="-15" dirty="0">
                <a:latin typeface="Arial"/>
                <a:cs typeface="Arial"/>
              </a:rPr>
              <a:t>own</a:t>
            </a:r>
            <a:r>
              <a:rPr sz="1100" spc="40" dirty="0">
                <a:latin typeface="Arial"/>
                <a:cs typeface="Arial"/>
              </a:rPr>
              <a:t> </a:t>
            </a:r>
            <a:r>
              <a:rPr sz="1100" spc="-10" dirty="0">
                <a:latin typeface="Arial"/>
                <a:cs typeface="Arial"/>
              </a:rPr>
              <a:t>transaction.</a:t>
            </a:r>
            <a:endParaRPr sz="1100">
              <a:latin typeface="Arial"/>
              <a:cs typeface="Arial"/>
            </a:endParaRPr>
          </a:p>
          <a:p>
            <a:pPr marL="186055" marR="33020" indent="-148590">
              <a:lnSpc>
                <a:spcPct val="102600"/>
              </a:lnSpc>
              <a:spcBef>
                <a:spcPts val="300"/>
              </a:spcBef>
              <a:buClr>
                <a:srgbClr val="3333B2"/>
              </a:buClr>
              <a:buSzPct val="72727"/>
              <a:buFont typeface="Lucida Sans Unicode"/>
              <a:buChar char="►"/>
              <a:tabLst>
                <a:tab pos="186690" algn="l"/>
              </a:tabLst>
            </a:pPr>
            <a:r>
              <a:rPr sz="1100" spc="-25" dirty="0">
                <a:latin typeface="Arial"/>
                <a:cs typeface="Arial"/>
              </a:rPr>
              <a:t>However, </a:t>
            </a:r>
            <a:r>
              <a:rPr sz="1100" spc="-5" dirty="0">
                <a:latin typeface="Arial"/>
                <a:cs typeface="Arial"/>
              </a:rPr>
              <a:t>in </a:t>
            </a:r>
            <a:r>
              <a:rPr sz="1100" spc="-15" dirty="0">
                <a:latin typeface="Arial"/>
                <a:cs typeface="Arial"/>
              </a:rPr>
              <a:t>programs, we </a:t>
            </a:r>
            <a:r>
              <a:rPr sz="1100" spc="-5" dirty="0">
                <a:latin typeface="Arial"/>
                <a:cs typeface="Arial"/>
              </a:rPr>
              <a:t>can </a:t>
            </a:r>
            <a:r>
              <a:rPr sz="1100" spc="-10" dirty="0">
                <a:latin typeface="Arial"/>
                <a:cs typeface="Arial"/>
              </a:rPr>
              <a:t>group </a:t>
            </a:r>
            <a:r>
              <a:rPr sz="1100" spc="-5" dirty="0">
                <a:latin typeface="Arial"/>
                <a:cs typeface="Arial"/>
              </a:rPr>
              <a:t>statements into  </a:t>
            </a:r>
            <a:r>
              <a:rPr sz="1100" spc="-10" dirty="0">
                <a:latin typeface="Arial"/>
                <a:cs typeface="Arial"/>
              </a:rPr>
              <a:t>a transaction.</a:t>
            </a:r>
            <a:endParaRPr sz="1100">
              <a:latin typeface="Arial"/>
              <a:cs typeface="Arial"/>
            </a:endParaRPr>
          </a:p>
          <a:p>
            <a:pPr marL="186055" marR="577215" indent="-148590">
              <a:lnSpc>
                <a:spcPct val="102600"/>
              </a:lnSpc>
              <a:spcBef>
                <a:spcPts val="300"/>
              </a:spcBef>
              <a:buClr>
                <a:srgbClr val="3333B2"/>
              </a:buClr>
              <a:buSzPct val="72727"/>
              <a:buFont typeface="Lucida Sans Unicode"/>
              <a:buChar char="►"/>
              <a:tabLst>
                <a:tab pos="186690" algn="l"/>
              </a:tabLst>
            </a:pPr>
            <a:r>
              <a:rPr sz="1100" spc="-40" dirty="0">
                <a:solidFill>
                  <a:srgbClr val="0000FF"/>
                </a:solidFill>
                <a:latin typeface="Arial"/>
                <a:cs typeface="Arial"/>
              </a:rPr>
              <a:t>START </a:t>
            </a:r>
            <a:r>
              <a:rPr sz="1100" spc="-10" dirty="0">
                <a:solidFill>
                  <a:srgbClr val="0000FF"/>
                </a:solidFill>
                <a:latin typeface="Arial"/>
                <a:cs typeface="Arial"/>
              </a:rPr>
              <a:t>TRANSACTION </a:t>
            </a:r>
            <a:r>
              <a:rPr sz="1100" spc="-5" dirty="0">
                <a:latin typeface="Arial"/>
                <a:cs typeface="Arial"/>
              </a:rPr>
              <a:t>is </a:t>
            </a:r>
            <a:r>
              <a:rPr sz="1100" spc="-10" dirty="0">
                <a:latin typeface="Arial"/>
                <a:cs typeface="Arial"/>
              </a:rPr>
              <a:t>used </a:t>
            </a:r>
            <a:r>
              <a:rPr sz="1100" spc="-5" dirty="0">
                <a:latin typeface="Arial"/>
                <a:cs typeface="Arial"/>
              </a:rPr>
              <a:t>to mark the  beginning of </a:t>
            </a:r>
            <a:r>
              <a:rPr sz="1100" spc="-10" dirty="0">
                <a:latin typeface="Arial"/>
                <a:cs typeface="Arial"/>
              </a:rPr>
              <a:t>a transaction.</a:t>
            </a:r>
            <a:endParaRPr sz="1100">
              <a:latin typeface="Arial"/>
              <a:cs typeface="Arial"/>
            </a:endParaRPr>
          </a:p>
          <a:p>
            <a:pPr marL="186055" marR="30480" indent="-148590">
              <a:lnSpc>
                <a:spcPct val="102699"/>
              </a:lnSpc>
              <a:spcBef>
                <a:spcPts val="295"/>
              </a:spcBef>
              <a:buClr>
                <a:srgbClr val="3333B2"/>
              </a:buClr>
              <a:buSzPct val="72727"/>
              <a:buFont typeface="Lucida Sans Unicode"/>
              <a:buChar char="►"/>
              <a:tabLst>
                <a:tab pos="186690" algn="l"/>
              </a:tabLst>
            </a:pPr>
            <a:r>
              <a:rPr sz="1100" spc="-10" dirty="0">
                <a:solidFill>
                  <a:srgbClr val="0000FF"/>
                </a:solidFill>
                <a:latin typeface="Arial"/>
                <a:cs typeface="Arial"/>
              </a:rPr>
              <a:t>COMMIT </a:t>
            </a:r>
            <a:r>
              <a:rPr sz="1100" spc="-5" dirty="0">
                <a:latin typeface="Arial"/>
                <a:cs typeface="Arial"/>
              </a:rPr>
              <a:t>causes the </a:t>
            </a:r>
            <a:r>
              <a:rPr sz="1100" spc="-10" dirty="0">
                <a:latin typeface="Arial"/>
                <a:cs typeface="Arial"/>
              </a:rPr>
              <a:t>transaction </a:t>
            </a:r>
            <a:r>
              <a:rPr sz="1100" spc="-5" dirty="0">
                <a:latin typeface="Arial"/>
                <a:cs typeface="Arial"/>
              </a:rPr>
              <a:t>to </a:t>
            </a:r>
            <a:r>
              <a:rPr sz="1100" spc="-10" dirty="0">
                <a:latin typeface="Arial"/>
                <a:cs typeface="Arial"/>
              </a:rPr>
              <a:t>end </a:t>
            </a:r>
            <a:r>
              <a:rPr sz="1100" spc="-15" dirty="0">
                <a:latin typeface="Arial"/>
                <a:cs typeface="Arial"/>
              </a:rPr>
              <a:t>successfully.  </a:t>
            </a:r>
            <a:r>
              <a:rPr sz="1100" spc="-5" dirty="0">
                <a:latin typeface="Arial"/>
                <a:cs typeface="Arial"/>
              </a:rPr>
              <a:t>All changes to the database are </a:t>
            </a:r>
            <a:r>
              <a:rPr sz="1100" spc="-10" dirty="0">
                <a:latin typeface="Arial"/>
                <a:cs typeface="Arial"/>
              </a:rPr>
              <a:t>made</a:t>
            </a:r>
            <a:r>
              <a:rPr sz="1100" spc="-35" dirty="0">
                <a:latin typeface="Arial"/>
                <a:cs typeface="Arial"/>
              </a:rPr>
              <a:t> </a:t>
            </a:r>
            <a:r>
              <a:rPr sz="1100" spc="-5" dirty="0">
                <a:latin typeface="Arial"/>
                <a:cs typeface="Arial"/>
              </a:rPr>
              <a:t>permanent.</a:t>
            </a:r>
            <a:endParaRPr sz="1100">
              <a:latin typeface="Arial"/>
              <a:cs typeface="Arial"/>
            </a:endParaRPr>
          </a:p>
          <a:p>
            <a:pPr marL="186055" marR="408940" indent="-148590">
              <a:lnSpc>
                <a:spcPct val="102600"/>
              </a:lnSpc>
              <a:spcBef>
                <a:spcPts val="300"/>
              </a:spcBef>
              <a:buClr>
                <a:srgbClr val="3333B2"/>
              </a:buClr>
              <a:buSzPct val="72727"/>
              <a:buFont typeface="Lucida Sans Unicode"/>
              <a:buChar char="►"/>
              <a:tabLst>
                <a:tab pos="186690" algn="l"/>
              </a:tabLst>
            </a:pPr>
            <a:r>
              <a:rPr sz="1100" spc="-15" dirty="0">
                <a:solidFill>
                  <a:srgbClr val="0000FF"/>
                </a:solidFill>
                <a:latin typeface="Arial"/>
                <a:cs typeface="Arial"/>
              </a:rPr>
              <a:t>ROLLBACK </a:t>
            </a:r>
            <a:r>
              <a:rPr sz="1100" spc="-5" dirty="0">
                <a:latin typeface="Arial"/>
                <a:cs typeface="Arial"/>
              </a:rPr>
              <a:t>cause the </a:t>
            </a:r>
            <a:r>
              <a:rPr sz="1100" spc="-10" dirty="0">
                <a:latin typeface="Arial"/>
                <a:cs typeface="Arial"/>
              </a:rPr>
              <a:t>transaction </a:t>
            </a:r>
            <a:r>
              <a:rPr sz="1100" spc="-5" dirty="0">
                <a:latin typeface="Arial"/>
                <a:cs typeface="Arial"/>
              </a:rPr>
              <a:t>to </a:t>
            </a:r>
            <a:r>
              <a:rPr sz="1100" i="1" dirty="0">
                <a:latin typeface="Arial"/>
                <a:cs typeface="Arial"/>
              </a:rPr>
              <a:t>abort</a:t>
            </a:r>
            <a:r>
              <a:rPr sz="1100" dirty="0">
                <a:latin typeface="Arial"/>
                <a:cs typeface="Arial"/>
              </a:rPr>
              <a:t>. </a:t>
            </a:r>
            <a:r>
              <a:rPr sz="1100" spc="-5" dirty="0">
                <a:latin typeface="Arial"/>
                <a:cs typeface="Arial"/>
              </a:rPr>
              <a:t>All  </a:t>
            </a:r>
            <a:r>
              <a:rPr sz="1100" spc="-10" dirty="0">
                <a:latin typeface="Arial"/>
                <a:cs typeface="Arial"/>
              </a:rPr>
              <a:t>changes </a:t>
            </a:r>
            <a:r>
              <a:rPr sz="1100" spc="-5" dirty="0">
                <a:latin typeface="Arial"/>
                <a:cs typeface="Arial"/>
              </a:rPr>
              <a:t>to the database are</a:t>
            </a:r>
            <a:r>
              <a:rPr sz="1100" spc="-15" dirty="0">
                <a:latin typeface="Arial"/>
                <a:cs typeface="Arial"/>
              </a:rPr>
              <a:t> </a:t>
            </a:r>
            <a:r>
              <a:rPr sz="1100" spc="-10" dirty="0">
                <a:latin typeface="Arial"/>
                <a:cs typeface="Arial"/>
              </a:rPr>
              <a:t>undone.</a:t>
            </a:r>
            <a:endParaRPr sz="1100">
              <a:latin typeface="Arial"/>
              <a:cs typeface="Arial"/>
            </a:endParaRPr>
          </a:p>
        </p:txBody>
      </p:sp>
    </p:spTree>
    <p:extLst>
      <p:ext uri="{BB962C8B-B14F-4D97-AF65-F5344CB8AC3E}">
        <p14:creationId xmlns:p14="http://schemas.microsoft.com/office/powerpoint/2010/main" val="1581148912"/>
      </p:ext>
    </p:extLst>
  </p:cSld>
  <p:clrMapOvr>
    <a:masterClrMapping/>
  </p:clrMapOvr>
  <p:transition>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latin typeface="Arial"/>
                <a:cs typeface="Arial"/>
                <a:hlinkClick r:id="rId4" action="ppaction://hlinksldjump"/>
              </a:rPr>
              <a:t>SQL</a:t>
            </a:r>
            <a:r>
              <a:rPr sz="400" spc="-10" dirty="0">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821814" cy="244475"/>
          </a:xfrm>
          <a:prstGeom prst="rect">
            <a:avLst/>
          </a:prstGeom>
        </p:spPr>
        <p:txBody>
          <a:bodyPr vert="horz" wrap="square" lIns="0" tIns="17145" rIns="0" bIns="0" rtlCol="0">
            <a:spAutoFit/>
          </a:bodyPr>
          <a:lstStyle/>
          <a:p>
            <a:pPr marL="12700">
              <a:lnSpc>
                <a:spcPct val="100000"/>
              </a:lnSpc>
              <a:spcBef>
                <a:spcPts val="135"/>
              </a:spcBef>
            </a:pPr>
            <a:r>
              <a:rPr spc="-5" dirty="0"/>
              <a:t>Transaction</a:t>
            </a:r>
            <a:r>
              <a:rPr spc="-35" dirty="0"/>
              <a:t> </a:t>
            </a:r>
            <a:r>
              <a:rPr spc="20" dirty="0"/>
              <a:t>properties</a:t>
            </a:r>
          </a:p>
        </p:txBody>
      </p:sp>
      <p:sp>
        <p:nvSpPr>
          <p:cNvPr id="24" name="object 24"/>
          <p:cNvSpPr txBox="1"/>
          <p:nvPr/>
        </p:nvSpPr>
        <p:spPr>
          <a:xfrm>
            <a:off x="141897" y="835137"/>
            <a:ext cx="3452495" cy="1764030"/>
          </a:xfrm>
          <a:prstGeom prst="rect">
            <a:avLst/>
          </a:prstGeom>
        </p:spPr>
        <p:txBody>
          <a:bodyPr vert="horz" wrap="square" lIns="0" tIns="55244" rIns="0" bIns="0" rtlCol="0">
            <a:spAutoFit/>
          </a:bodyPr>
          <a:lstStyle/>
          <a:p>
            <a:pPr marL="38100">
              <a:lnSpc>
                <a:spcPct val="100000"/>
              </a:lnSpc>
              <a:spcBef>
                <a:spcPts val="434"/>
              </a:spcBef>
            </a:pPr>
            <a:r>
              <a:rPr sz="1100" spc="-20" dirty="0">
                <a:latin typeface="Arial"/>
                <a:cs typeface="Arial"/>
              </a:rPr>
              <a:t>Transactions </a:t>
            </a:r>
            <a:r>
              <a:rPr sz="1100" spc="-5" dirty="0">
                <a:latin typeface="Arial"/>
                <a:cs typeface="Arial"/>
              </a:rPr>
              <a:t>are designed to </a:t>
            </a:r>
            <a:r>
              <a:rPr sz="1100" spc="-10" dirty="0">
                <a:latin typeface="Arial"/>
                <a:cs typeface="Arial"/>
              </a:rPr>
              <a:t>meet </a:t>
            </a:r>
            <a:r>
              <a:rPr sz="1100" spc="-5" dirty="0">
                <a:latin typeface="Arial"/>
                <a:cs typeface="Arial"/>
              </a:rPr>
              <a:t>the </a:t>
            </a:r>
            <a:r>
              <a:rPr sz="1100" spc="-15" dirty="0">
                <a:latin typeface="Arial"/>
                <a:cs typeface="Arial"/>
              </a:rPr>
              <a:t>“ACID”</a:t>
            </a:r>
            <a:r>
              <a:rPr sz="1100" spc="15" dirty="0">
                <a:latin typeface="Arial"/>
                <a:cs typeface="Arial"/>
              </a:rPr>
              <a:t> </a:t>
            </a:r>
            <a:r>
              <a:rPr sz="1100" spc="-5" dirty="0">
                <a:latin typeface="Arial"/>
                <a:cs typeface="Arial"/>
              </a:rPr>
              <a:t>test:</a:t>
            </a:r>
            <a:endParaRPr sz="1100">
              <a:latin typeface="Arial"/>
              <a:cs typeface="Arial"/>
            </a:endParaRPr>
          </a:p>
          <a:p>
            <a:pPr marL="314960" marR="30480" indent="-148590">
              <a:lnSpc>
                <a:spcPct val="102600"/>
              </a:lnSpc>
              <a:spcBef>
                <a:spcPts val="300"/>
              </a:spcBef>
              <a:buClr>
                <a:srgbClr val="3333B2"/>
              </a:buClr>
              <a:buSzPct val="72727"/>
              <a:buFont typeface="Lucida Sans Unicode"/>
              <a:buChar char="►"/>
              <a:tabLst>
                <a:tab pos="315595" algn="l"/>
              </a:tabLst>
            </a:pPr>
            <a:r>
              <a:rPr sz="1100" spc="-5" dirty="0">
                <a:latin typeface="Arial"/>
                <a:cs typeface="Arial"/>
              </a:rPr>
              <a:t>“A” stands </a:t>
            </a:r>
            <a:r>
              <a:rPr sz="1100" spc="-20" dirty="0">
                <a:latin typeface="Arial"/>
                <a:cs typeface="Arial"/>
              </a:rPr>
              <a:t>for </a:t>
            </a:r>
            <a:r>
              <a:rPr sz="1100" spc="-5" dirty="0">
                <a:latin typeface="Arial"/>
                <a:cs typeface="Arial"/>
              </a:rPr>
              <a:t>“atomicity” </a:t>
            </a:r>
            <a:r>
              <a:rPr sz="1100" spc="-10" dirty="0">
                <a:latin typeface="Arial"/>
                <a:cs typeface="Arial"/>
              </a:rPr>
              <a:t>— transactions </a:t>
            </a:r>
            <a:r>
              <a:rPr sz="1100" spc="-5" dirty="0">
                <a:latin typeface="Arial"/>
                <a:cs typeface="Arial"/>
              </a:rPr>
              <a:t>should  </a:t>
            </a:r>
            <a:r>
              <a:rPr sz="1100" spc="-15" dirty="0">
                <a:latin typeface="Arial"/>
                <a:cs typeface="Arial"/>
              </a:rPr>
              <a:t>execute </a:t>
            </a:r>
            <a:r>
              <a:rPr sz="1100" spc="-5" dirty="0">
                <a:latin typeface="Arial"/>
                <a:cs typeface="Arial"/>
              </a:rPr>
              <a:t>completely or appear not to </a:t>
            </a:r>
            <a:r>
              <a:rPr sz="1100" spc="-20" dirty="0">
                <a:latin typeface="Arial"/>
                <a:cs typeface="Arial"/>
              </a:rPr>
              <a:t>have </a:t>
            </a:r>
            <a:r>
              <a:rPr sz="1100" dirty="0">
                <a:latin typeface="Arial"/>
                <a:cs typeface="Arial"/>
              </a:rPr>
              <a:t>run </a:t>
            </a:r>
            <a:r>
              <a:rPr sz="1100" spc="-5" dirty="0">
                <a:latin typeface="Arial"/>
                <a:cs typeface="Arial"/>
              </a:rPr>
              <a:t>at</a:t>
            </a:r>
            <a:r>
              <a:rPr sz="1100" spc="-55" dirty="0">
                <a:latin typeface="Arial"/>
                <a:cs typeface="Arial"/>
              </a:rPr>
              <a:t> </a:t>
            </a:r>
            <a:r>
              <a:rPr sz="1100" spc="-5" dirty="0">
                <a:latin typeface="Arial"/>
                <a:cs typeface="Arial"/>
              </a:rPr>
              <a:t>all</a:t>
            </a:r>
            <a:endParaRPr sz="1100">
              <a:latin typeface="Arial"/>
              <a:cs typeface="Arial"/>
            </a:endParaRPr>
          </a:p>
          <a:p>
            <a:pPr marL="314960" marR="323850" indent="-148590">
              <a:lnSpc>
                <a:spcPct val="102600"/>
              </a:lnSpc>
              <a:spcBef>
                <a:spcPts val="300"/>
              </a:spcBef>
              <a:buClr>
                <a:srgbClr val="3333B2"/>
              </a:buClr>
              <a:buSzPct val="72727"/>
              <a:buFont typeface="Lucida Sans Unicode"/>
              <a:buChar char="►"/>
              <a:tabLst>
                <a:tab pos="315595" algn="l"/>
              </a:tabLst>
            </a:pPr>
            <a:r>
              <a:rPr sz="1100" spc="-5" dirty="0">
                <a:latin typeface="Arial"/>
                <a:cs typeface="Arial"/>
              </a:rPr>
              <a:t>“C” stands </a:t>
            </a:r>
            <a:r>
              <a:rPr sz="1100" spc="-20" dirty="0">
                <a:latin typeface="Arial"/>
                <a:cs typeface="Arial"/>
              </a:rPr>
              <a:t>for </a:t>
            </a:r>
            <a:r>
              <a:rPr sz="1100" spc="-5" dirty="0">
                <a:latin typeface="Arial"/>
                <a:cs typeface="Arial"/>
              </a:rPr>
              <a:t>“consistency” </a:t>
            </a:r>
            <a:r>
              <a:rPr sz="1100" spc="-10" dirty="0">
                <a:latin typeface="Arial"/>
                <a:cs typeface="Arial"/>
              </a:rPr>
              <a:t>— </a:t>
            </a:r>
            <a:r>
              <a:rPr sz="1100" spc="-5" dirty="0">
                <a:latin typeface="Arial"/>
                <a:cs typeface="Arial"/>
              </a:rPr>
              <a:t>the </a:t>
            </a:r>
            <a:r>
              <a:rPr sz="1100" spc="-10" dirty="0">
                <a:latin typeface="Arial"/>
                <a:cs typeface="Arial"/>
              </a:rPr>
              <a:t>constraints  </a:t>
            </a:r>
            <a:r>
              <a:rPr sz="1100" spc="-5" dirty="0">
                <a:latin typeface="Arial"/>
                <a:cs typeface="Arial"/>
              </a:rPr>
              <a:t>specified in the database </a:t>
            </a:r>
            <a:r>
              <a:rPr sz="1100" spc="-10" dirty="0">
                <a:latin typeface="Arial"/>
                <a:cs typeface="Arial"/>
              </a:rPr>
              <a:t>must be</a:t>
            </a:r>
            <a:r>
              <a:rPr sz="1100" spc="-50" dirty="0">
                <a:latin typeface="Arial"/>
                <a:cs typeface="Arial"/>
              </a:rPr>
              <a:t> </a:t>
            </a:r>
            <a:r>
              <a:rPr sz="1100" spc="-5" dirty="0">
                <a:latin typeface="Arial"/>
                <a:cs typeface="Arial"/>
              </a:rPr>
              <a:t>preserved</a:t>
            </a:r>
            <a:endParaRPr sz="1100">
              <a:latin typeface="Arial"/>
              <a:cs typeface="Arial"/>
            </a:endParaRPr>
          </a:p>
          <a:p>
            <a:pPr marL="314960" indent="-148590">
              <a:lnSpc>
                <a:spcPct val="100000"/>
              </a:lnSpc>
              <a:spcBef>
                <a:spcPts val="330"/>
              </a:spcBef>
              <a:buClr>
                <a:srgbClr val="3333B2"/>
              </a:buClr>
              <a:buSzPct val="72727"/>
              <a:buFont typeface="Lucida Sans Unicode"/>
              <a:buChar char="►"/>
              <a:tabLst>
                <a:tab pos="315595" algn="l"/>
              </a:tabLst>
            </a:pPr>
            <a:r>
              <a:rPr sz="1100" spc="-5" dirty="0">
                <a:latin typeface="Arial"/>
                <a:cs typeface="Arial"/>
              </a:rPr>
              <a:t>“I” stands </a:t>
            </a:r>
            <a:r>
              <a:rPr sz="1100" spc="-20" dirty="0">
                <a:latin typeface="Arial"/>
                <a:cs typeface="Arial"/>
              </a:rPr>
              <a:t>for </a:t>
            </a:r>
            <a:r>
              <a:rPr sz="1100" spc="-5" dirty="0">
                <a:latin typeface="Arial"/>
                <a:cs typeface="Arial"/>
              </a:rPr>
              <a:t>“isolation” </a:t>
            </a:r>
            <a:r>
              <a:rPr sz="1100" spc="-10" dirty="0">
                <a:latin typeface="Arial"/>
                <a:cs typeface="Arial"/>
              </a:rPr>
              <a:t>— each transaction</a:t>
            </a:r>
            <a:r>
              <a:rPr sz="1100" spc="25" dirty="0">
                <a:latin typeface="Arial"/>
                <a:cs typeface="Arial"/>
              </a:rPr>
              <a:t> </a:t>
            </a:r>
            <a:r>
              <a:rPr sz="1100" spc="-5" dirty="0">
                <a:latin typeface="Arial"/>
                <a:cs typeface="Arial"/>
              </a:rPr>
              <a:t>should</a:t>
            </a:r>
            <a:endParaRPr sz="1100">
              <a:latin typeface="Arial"/>
              <a:cs typeface="Arial"/>
            </a:endParaRPr>
          </a:p>
          <a:p>
            <a:pPr marL="314960">
              <a:lnSpc>
                <a:spcPct val="100000"/>
              </a:lnSpc>
              <a:spcBef>
                <a:spcPts val="35"/>
              </a:spcBef>
            </a:pPr>
            <a:r>
              <a:rPr sz="1100" i="1" spc="-5" dirty="0">
                <a:latin typeface="Arial"/>
                <a:cs typeface="Arial"/>
              </a:rPr>
              <a:t>appear </a:t>
            </a:r>
            <a:r>
              <a:rPr sz="1100" spc="-5" dirty="0">
                <a:latin typeface="Arial"/>
                <a:cs typeface="Arial"/>
              </a:rPr>
              <a:t>to </a:t>
            </a:r>
            <a:r>
              <a:rPr sz="1100" spc="-15" dirty="0">
                <a:latin typeface="Arial"/>
                <a:cs typeface="Arial"/>
              </a:rPr>
              <a:t>execute </a:t>
            </a:r>
            <a:r>
              <a:rPr sz="1100" spc="-5" dirty="0">
                <a:latin typeface="Arial"/>
                <a:cs typeface="Arial"/>
              </a:rPr>
              <a:t>as if there are </a:t>
            </a:r>
            <a:r>
              <a:rPr sz="1100" spc="-10" dirty="0">
                <a:latin typeface="Arial"/>
                <a:cs typeface="Arial"/>
              </a:rPr>
              <a:t>no</a:t>
            </a:r>
            <a:r>
              <a:rPr sz="1100" spc="-200" dirty="0">
                <a:latin typeface="Arial"/>
                <a:cs typeface="Arial"/>
              </a:rPr>
              <a:t> </a:t>
            </a:r>
            <a:r>
              <a:rPr sz="1100" spc="-5" dirty="0">
                <a:latin typeface="Arial"/>
                <a:cs typeface="Arial"/>
              </a:rPr>
              <a:t>others</a:t>
            </a:r>
            <a:endParaRPr sz="1100">
              <a:latin typeface="Arial"/>
              <a:cs typeface="Arial"/>
            </a:endParaRPr>
          </a:p>
          <a:p>
            <a:pPr marL="314960" marR="264160" indent="-148590">
              <a:lnSpc>
                <a:spcPct val="102699"/>
              </a:lnSpc>
              <a:spcBef>
                <a:spcPts val="300"/>
              </a:spcBef>
              <a:buClr>
                <a:srgbClr val="3333B2"/>
              </a:buClr>
              <a:buSzPct val="72727"/>
              <a:buFont typeface="Lucida Sans Unicode"/>
              <a:buChar char="►"/>
              <a:tabLst>
                <a:tab pos="315595" algn="l"/>
              </a:tabLst>
            </a:pPr>
            <a:r>
              <a:rPr sz="1100" spc="-5" dirty="0">
                <a:latin typeface="Arial"/>
                <a:cs typeface="Arial"/>
              </a:rPr>
              <a:t>“D” stands </a:t>
            </a:r>
            <a:r>
              <a:rPr sz="1100" spc="-20" dirty="0">
                <a:latin typeface="Arial"/>
                <a:cs typeface="Arial"/>
              </a:rPr>
              <a:t>for </a:t>
            </a:r>
            <a:r>
              <a:rPr sz="1100" spc="-5" dirty="0">
                <a:latin typeface="Arial"/>
                <a:cs typeface="Arial"/>
              </a:rPr>
              <a:t>“durability” </a:t>
            </a:r>
            <a:r>
              <a:rPr sz="1100" spc="-10" dirty="0">
                <a:latin typeface="Arial"/>
                <a:cs typeface="Arial"/>
              </a:rPr>
              <a:t>— once a transaction  completes, </a:t>
            </a:r>
            <a:r>
              <a:rPr sz="1100" spc="-5" dirty="0">
                <a:latin typeface="Arial"/>
                <a:cs typeface="Arial"/>
              </a:rPr>
              <a:t>it </a:t>
            </a:r>
            <a:r>
              <a:rPr sz="1100" spc="-10" dirty="0">
                <a:latin typeface="Arial"/>
                <a:cs typeface="Arial"/>
              </a:rPr>
              <a:t>effect </a:t>
            </a:r>
            <a:r>
              <a:rPr sz="1100" spc="-5" dirty="0">
                <a:latin typeface="Arial"/>
                <a:cs typeface="Arial"/>
              </a:rPr>
              <a:t>should </a:t>
            </a:r>
            <a:r>
              <a:rPr sz="1100" spc="-20" dirty="0">
                <a:latin typeface="Arial"/>
                <a:cs typeface="Arial"/>
              </a:rPr>
              <a:t>never </a:t>
            </a:r>
            <a:r>
              <a:rPr sz="1100" spc="-10" dirty="0">
                <a:latin typeface="Arial"/>
                <a:cs typeface="Arial"/>
              </a:rPr>
              <a:t>be</a:t>
            </a:r>
            <a:r>
              <a:rPr sz="1100" spc="10" dirty="0">
                <a:latin typeface="Arial"/>
                <a:cs typeface="Arial"/>
              </a:rPr>
              <a:t> </a:t>
            </a:r>
            <a:r>
              <a:rPr sz="1100" spc="-5" dirty="0">
                <a:latin typeface="Arial"/>
                <a:cs typeface="Arial"/>
              </a:rPr>
              <a:t>lost</a:t>
            </a:r>
            <a:endParaRPr sz="1100">
              <a:latin typeface="Arial"/>
              <a:cs typeface="Arial"/>
            </a:endParaRPr>
          </a:p>
        </p:txBody>
      </p:sp>
    </p:spTree>
    <p:extLst>
      <p:ext uri="{BB962C8B-B14F-4D97-AF65-F5344CB8AC3E}">
        <p14:creationId xmlns:p14="http://schemas.microsoft.com/office/powerpoint/2010/main" val="14170726"/>
      </p:ext>
    </p:extLst>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latin typeface="Arial"/>
                <a:cs typeface="Arial"/>
                <a:hlinkClick r:id="rId4" action="ppaction://hlinksldjump"/>
              </a:rPr>
              <a:t>SQL</a:t>
            </a:r>
            <a:r>
              <a:rPr sz="400" spc="-10" dirty="0">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687830" cy="244475"/>
          </a:xfrm>
          <a:prstGeom prst="rect">
            <a:avLst/>
          </a:prstGeom>
        </p:spPr>
        <p:txBody>
          <a:bodyPr vert="horz" wrap="square" lIns="0" tIns="17145" rIns="0" bIns="0" rtlCol="0">
            <a:spAutoFit/>
          </a:bodyPr>
          <a:lstStyle/>
          <a:p>
            <a:pPr marL="12700">
              <a:lnSpc>
                <a:spcPct val="100000"/>
              </a:lnSpc>
              <a:spcBef>
                <a:spcPts val="135"/>
              </a:spcBef>
            </a:pPr>
            <a:r>
              <a:rPr spc="-5" dirty="0"/>
              <a:t>Transaction</a:t>
            </a:r>
            <a:r>
              <a:rPr spc="-30" dirty="0"/>
              <a:t> </a:t>
            </a:r>
            <a:r>
              <a:rPr spc="10" dirty="0"/>
              <a:t>example</a:t>
            </a:r>
          </a:p>
        </p:txBody>
      </p:sp>
      <p:sp>
        <p:nvSpPr>
          <p:cNvPr id="24" name="object 24"/>
          <p:cNvSpPr txBox="1"/>
          <p:nvPr/>
        </p:nvSpPr>
        <p:spPr>
          <a:xfrm>
            <a:off x="167297" y="352157"/>
            <a:ext cx="3515995" cy="2911475"/>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Consider </a:t>
            </a:r>
            <a:r>
              <a:rPr sz="1100" spc="-10" dirty="0">
                <a:latin typeface="Arial"/>
                <a:cs typeface="Arial"/>
              </a:rPr>
              <a:t>a </a:t>
            </a:r>
            <a:r>
              <a:rPr sz="1100" spc="-5" dirty="0">
                <a:latin typeface="Arial"/>
                <a:cs typeface="Arial"/>
              </a:rPr>
              <a:t>flight booking </a:t>
            </a:r>
            <a:r>
              <a:rPr sz="1100" spc="-10" dirty="0">
                <a:latin typeface="Arial"/>
                <a:cs typeface="Arial"/>
              </a:rPr>
              <a:t>transaction on </a:t>
            </a:r>
            <a:r>
              <a:rPr sz="1100" spc="-5" dirty="0">
                <a:latin typeface="Arial"/>
                <a:cs typeface="Arial"/>
              </a:rPr>
              <a:t>the</a:t>
            </a:r>
            <a:r>
              <a:rPr sz="1100" spc="5" dirty="0">
                <a:latin typeface="Arial"/>
                <a:cs typeface="Arial"/>
              </a:rPr>
              <a:t> </a:t>
            </a:r>
            <a:r>
              <a:rPr sz="1100" spc="-5" dirty="0">
                <a:latin typeface="Arial"/>
                <a:cs typeface="Arial"/>
              </a:rPr>
              <a:t>relation</a:t>
            </a:r>
            <a:endParaRPr sz="1100" dirty="0">
              <a:latin typeface="Arial"/>
              <a:cs typeface="Arial"/>
            </a:endParaRPr>
          </a:p>
          <a:p>
            <a:pPr marL="12700" marR="951865">
              <a:lnSpc>
                <a:spcPct val="180700"/>
              </a:lnSpc>
            </a:pPr>
            <a:r>
              <a:rPr sz="1100" spc="-10" dirty="0">
                <a:solidFill>
                  <a:srgbClr val="0000FF"/>
                </a:solidFill>
                <a:latin typeface="Arial"/>
                <a:cs typeface="Arial"/>
              </a:rPr>
              <a:t>Flights(FltNo, fltDate, </a:t>
            </a:r>
            <a:r>
              <a:rPr sz="1100" spc="-15" dirty="0">
                <a:solidFill>
                  <a:srgbClr val="0000FF"/>
                </a:solidFill>
                <a:latin typeface="Arial"/>
                <a:cs typeface="Arial"/>
              </a:rPr>
              <a:t>seatNo, </a:t>
            </a:r>
            <a:r>
              <a:rPr sz="1100" spc="-5" dirty="0">
                <a:solidFill>
                  <a:srgbClr val="0000FF"/>
                </a:solidFill>
                <a:latin typeface="Arial"/>
                <a:cs typeface="Arial"/>
              </a:rPr>
              <a:t>seatStatus)  </a:t>
            </a:r>
            <a:r>
              <a:rPr sz="1100" spc="-5" dirty="0">
                <a:latin typeface="Arial"/>
                <a:cs typeface="Arial"/>
              </a:rPr>
              <a:t>consisting of the</a:t>
            </a:r>
            <a:r>
              <a:rPr sz="1100" spc="-15" dirty="0">
                <a:latin typeface="Arial"/>
                <a:cs typeface="Arial"/>
              </a:rPr>
              <a:t> </a:t>
            </a:r>
            <a:r>
              <a:rPr sz="1100" dirty="0">
                <a:latin typeface="Arial"/>
                <a:cs typeface="Arial"/>
              </a:rPr>
              <a:t>query</a:t>
            </a:r>
          </a:p>
          <a:p>
            <a:pPr marL="12700" marR="2478405">
              <a:lnSpc>
                <a:spcPct val="102600"/>
              </a:lnSpc>
              <a:spcBef>
                <a:spcPts val="1030"/>
              </a:spcBef>
            </a:pPr>
            <a:r>
              <a:rPr sz="1100" spc="-10" dirty="0">
                <a:solidFill>
                  <a:srgbClr val="0000FF"/>
                </a:solidFill>
                <a:latin typeface="Arial"/>
                <a:cs typeface="Arial"/>
              </a:rPr>
              <a:t>SELECT</a:t>
            </a:r>
            <a:r>
              <a:rPr sz="1100" spc="-80" dirty="0">
                <a:solidFill>
                  <a:srgbClr val="0000FF"/>
                </a:solidFill>
                <a:latin typeface="Arial"/>
                <a:cs typeface="Arial"/>
              </a:rPr>
              <a:t> </a:t>
            </a:r>
            <a:r>
              <a:rPr sz="1100" spc="-5" dirty="0">
                <a:solidFill>
                  <a:srgbClr val="0000FF"/>
                </a:solidFill>
                <a:latin typeface="Arial"/>
                <a:cs typeface="Arial"/>
              </a:rPr>
              <a:t>seatNo  </a:t>
            </a:r>
            <a:r>
              <a:rPr sz="1100" spc="-15" dirty="0">
                <a:solidFill>
                  <a:srgbClr val="0000FF"/>
                </a:solidFill>
                <a:latin typeface="Arial"/>
                <a:cs typeface="Arial"/>
              </a:rPr>
              <a:t>FROM</a:t>
            </a:r>
            <a:r>
              <a:rPr sz="1100" spc="-25" dirty="0">
                <a:solidFill>
                  <a:srgbClr val="0000FF"/>
                </a:solidFill>
                <a:latin typeface="Arial"/>
                <a:cs typeface="Arial"/>
              </a:rPr>
              <a:t> </a:t>
            </a:r>
            <a:r>
              <a:rPr sz="1100" spc="-5" dirty="0">
                <a:solidFill>
                  <a:srgbClr val="0000FF"/>
                </a:solidFill>
                <a:latin typeface="Arial"/>
                <a:cs typeface="Arial"/>
              </a:rPr>
              <a:t>Flights</a:t>
            </a:r>
            <a:endParaRPr sz="1100" dirty="0">
              <a:latin typeface="Arial"/>
              <a:cs typeface="Arial"/>
            </a:endParaRPr>
          </a:p>
          <a:p>
            <a:pPr marL="12700">
              <a:lnSpc>
                <a:spcPct val="100000"/>
              </a:lnSpc>
              <a:spcBef>
                <a:spcPts val="35"/>
              </a:spcBef>
            </a:pPr>
            <a:r>
              <a:rPr sz="1100" spc="-10" dirty="0">
                <a:solidFill>
                  <a:srgbClr val="0000FF"/>
                </a:solidFill>
                <a:latin typeface="Arial"/>
                <a:cs typeface="Arial"/>
              </a:rPr>
              <a:t>WHERE </a:t>
            </a:r>
            <a:r>
              <a:rPr sz="1100" spc="-5" dirty="0">
                <a:solidFill>
                  <a:srgbClr val="0000FF"/>
                </a:solidFill>
                <a:latin typeface="Arial"/>
                <a:cs typeface="Arial"/>
              </a:rPr>
              <a:t>fltNo=123 </a:t>
            </a:r>
            <a:r>
              <a:rPr sz="1100" spc="-10" dirty="0">
                <a:solidFill>
                  <a:srgbClr val="0000FF"/>
                </a:solidFill>
                <a:latin typeface="Arial"/>
                <a:cs typeface="Arial"/>
              </a:rPr>
              <a:t>AND </a:t>
            </a:r>
            <a:r>
              <a:rPr sz="1100" spc="-5" dirty="0">
                <a:solidFill>
                  <a:srgbClr val="0000FF"/>
                </a:solidFill>
                <a:latin typeface="Arial"/>
                <a:cs typeface="Arial"/>
              </a:rPr>
              <a:t>fltDate=’2010-12-25’</a:t>
            </a:r>
            <a:endParaRPr sz="1100" dirty="0">
              <a:latin typeface="Arial"/>
              <a:cs typeface="Arial"/>
            </a:endParaRPr>
          </a:p>
          <a:p>
            <a:pPr marL="473709">
              <a:lnSpc>
                <a:spcPct val="100000"/>
              </a:lnSpc>
              <a:spcBef>
                <a:spcPts val="35"/>
              </a:spcBef>
            </a:pPr>
            <a:r>
              <a:rPr sz="1100" spc="-10" dirty="0">
                <a:solidFill>
                  <a:srgbClr val="0000FF"/>
                </a:solidFill>
                <a:latin typeface="Arial"/>
                <a:cs typeface="Arial"/>
              </a:rPr>
              <a:t>AND seatStatus=’available’;</a:t>
            </a:r>
            <a:endParaRPr sz="1100" dirty="0">
              <a:latin typeface="Arial"/>
              <a:cs typeface="Arial"/>
            </a:endParaRPr>
          </a:p>
          <a:p>
            <a:pPr marL="12700" marR="5080">
              <a:lnSpc>
                <a:spcPct val="102600"/>
              </a:lnSpc>
              <a:spcBef>
                <a:spcPts val="1035"/>
              </a:spcBef>
            </a:pPr>
            <a:r>
              <a:rPr sz="1100" spc="-5" dirty="0">
                <a:latin typeface="Arial"/>
                <a:cs typeface="Arial"/>
              </a:rPr>
              <a:t>which returns </a:t>
            </a:r>
            <a:r>
              <a:rPr sz="1100" spc="-15" dirty="0">
                <a:latin typeface="Arial"/>
                <a:cs typeface="Arial"/>
              </a:rPr>
              <a:t>available </a:t>
            </a:r>
            <a:r>
              <a:rPr sz="1100" spc="-5" dirty="0">
                <a:latin typeface="Arial"/>
                <a:cs typeface="Arial"/>
              </a:rPr>
              <a:t>seats from which the user selects  seat 22A, </a:t>
            </a:r>
            <a:r>
              <a:rPr sz="1100" spc="-10" dirty="0">
                <a:latin typeface="Arial"/>
                <a:cs typeface="Arial"/>
              </a:rPr>
              <a:t>and </a:t>
            </a:r>
            <a:r>
              <a:rPr sz="1100" spc="-5" dirty="0">
                <a:latin typeface="Arial"/>
                <a:cs typeface="Arial"/>
              </a:rPr>
              <a:t>the </a:t>
            </a:r>
            <a:r>
              <a:rPr sz="1100" spc="-15" dirty="0">
                <a:latin typeface="Arial"/>
                <a:cs typeface="Arial"/>
              </a:rPr>
              <a:t>following</a:t>
            </a:r>
            <a:r>
              <a:rPr sz="1100" spc="-5" dirty="0">
                <a:latin typeface="Arial"/>
                <a:cs typeface="Arial"/>
              </a:rPr>
              <a:t> update</a:t>
            </a:r>
            <a:endParaRPr sz="1100" dirty="0">
              <a:latin typeface="Arial"/>
              <a:cs typeface="Arial"/>
            </a:endParaRPr>
          </a:p>
          <a:p>
            <a:pPr marL="12700">
              <a:lnSpc>
                <a:spcPct val="100000"/>
              </a:lnSpc>
              <a:spcBef>
                <a:spcPts val="1065"/>
              </a:spcBef>
            </a:pPr>
            <a:r>
              <a:rPr sz="1100" spc="-40" dirty="0">
                <a:solidFill>
                  <a:srgbClr val="0000FF"/>
                </a:solidFill>
                <a:latin typeface="Arial"/>
                <a:cs typeface="Arial"/>
              </a:rPr>
              <a:t>UPDATE</a:t>
            </a:r>
            <a:r>
              <a:rPr sz="1100" spc="-10" dirty="0">
                <a:solidFill>
                  <a:srgbClr val="0000FF"/>
                </a:solidFill>
                <a:latin typeface="Arial"/>
                <a:cs typeface="Arial"/>
              </a:rPr>
              <a:t> </a:t>
            </a:r>
            <a:r>
              <a:rPr sz="1100" spc="-5" dirty="0">
                <a:solidFill>
                  <a:srgbClr val="0000FF"/>
                </a:solidFill>
                <a:latin typeface="Arial"/>
                <a:cs typeface="Arial"/>
              </a:rPr>
              <a:t>Flights</a:t>
            </a:r>
            <a:endParaRPr sz="1100" dirty="0">
              <a:latin typeface="Arial"/>
              <a:cs typeface="Arial"/>
            </a:endParaRPr>
          </a:p>
          <a:p>
            <a:pPr marL="12700">
              <a:lnSpc>
                <a:spcPct val="100000"/>
              </a:lnSpc>
              <a:spcBef>
                <a:spcPts val="35"/>
              </a:spcBef>
            </a:pPr>
            <a:r>
              <a:rPr sz="1100" spc="-10" dirty="0">
                <a:solidFill>
                  <a:srgbClr val="0000FF"/>
                </a:solidFill>
                <a:latin typeface="Arial"/>
                <a:cs typeface="Arial"/>
              </a:rPr>
              <a:t>SET </a:t>
            </a:r>
            <a:r>
              <a:rPr sz="1100" spc="-5" dirty="0">
                <a:solidFill>
                  <a:srgbClr val="0000FF"/>
                </a:solidFill>
                <a:latin typeface="Arial"/>
                <a:cs typeface="Arial"/>
              </a:rPr>
              <a:t>seatStatus=’occupied’</a:t>
            </a:r>
            <a:endParaRPr sz="1100" dirty="0">
              <a:latin typeface="Arial"/>
              <a:cs typeface="Arial"/>
            </a:endParaRPr>
          </a:p>
          <a:p>
            <a:pPr marL="12700">
              <a:lnSpc>
                <a:spcPct val="100000"/>
              </a:lnSpc>
              <a:spcBef>
                <a:spcPts val="35"/>
              </a:spcBef>
            </a:pPr>
            <a:r>
              <a:rPr sz="1100" spc="-10" dirty="0">
                <a:solidFill>
                  <a:srgbClr val="0000FF"/>
                </a:solidFill>
                <a:latin typeface="Arial"/>
                <a:cs typeface="Arial"/>
              </a:rPr>
              <a:t>WHERE </a:t>
            </a:r>
            <a:r>
              <a:rPr sz="1100" spc="-5" dirty="0">
                <a:solidFill>
                  <a:srgbClr val="0000FF"/>
                </a:solidFill>
                <a:latin typeface="Arial"/>
                <a:cs typeface="Arial"/>
              </a:rPr>
              <a:t>fltNo=123 </a:t>
            </a:r>
            <a:r>
              <a:rPr sz="1100" spc="-10" dirty="0">
                <a:solidFill>
                  <a:srgbClr val="0000FF"/>
                </a:solidFill>
                <a:latin typeface="Arial"/>
                <a:cs typeface="Arial"/>
              </a:rPr>
              <a:t>AND </a:t>
            </a:r>
            <a:r>
              <a:rPr sz="1100" spc="-5" dirty="0">
                <a:solidFill>
                  <a:srgbClr val="0000FF"/>
                </a:solidFill>
                <a:latin typeface="Arial"/>
                <a:cs typeface="Arial"/>
              </a:rPr>
              <a:t>fltDate=’2010-12-25’</a:t>
            </a:r>
            <a:endParaRPr sz="1100" dirty="0">
              <a:latin typeface="Arial"/>
              <a:cs typeface="Arial"/>
            </a:endParaRPr>
          </a:p>
          <a:p>
            <a:pPr marL="473709">
              <a:lnSpc>
                <a:spcPct val="100000"/>
              </a:lnSpc>
              <a:spcBef>
                <a:spcPts val="35"/>
              </a:spcBef>
            </a:pPr>
            <a:r>
              <a:rPr sz="1100" spc="-10" dirty="0">
                <a:solidFill>
                  <a:srgbClr val="0000FF"/>
                </a:solidFill>
                <a:latin typeface="Arial"/>
                <a:cs typeface="Arial"/>
              </a:rPr>
              <a:t>AND </a:t>
            </a:r>
            <a:r>
              <a:rPr sz="1100" spc="-5" dirty="0">
                <a:solidFill>
                  <a:srgbClr val="0000FF"/>
                </a:solidFill>
                <a:latin typeface="Arial"/>
                <a:cs typeface="Arial"/>
              </a:rPr>
              <a:t>seatNo=’22A’;</a:t>
            </a:r>
            <a:endParaRPr sz="1100" dirty="0">
              <a:latin typeface="Arial"/>
              <a:cs typeface="Arial"/>
            </a:endParaRPr>
          </a:p>
        </p:txBody>
      </p:sp>
    </p:spTree>
    <p:extLst>
      <p:ext uri="{BB962C8B-B14F-4D97-AF65-F5344CB8AC3E}">
        <p14:creationId xmlns:p14="http://schemas.microsoft.com/office/powerpoint/2010/main" val="704064218"/>
      </p:ext>
    </p:extLst>
  </p:cSld>
  <p:clrMapOvr>
    <a:masterClrMapping/>
  </p:clrMapOvr>
  <p:transition>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latin typeface="Arial"/>
                <a:cs typeface="Arial"/>
                <a:hlinkClick r:id="rId4" action="ppaction://hlinksldjump"/>
              </a:rPr>
              <a:t>SQL</a:t>
            </a:r>
            <a:r>
              <a:rPr sz="400" spc="-10" dirty="0">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741170" cy="244475"/>
          </a:xfrm>
          <a:prstGeom prst="rect">
            <a:avLst/>
          </a:prstGeom>
        </p:spPr>
        <p:txBody>
          <a:bodyPr vert="horz" wrap="square" lIns="0" tIns="17145" rIns="0" bIns="0" rtlCol="0">
            <a:spAutoFit/>
          </a:bodyPr>
          <a:lstStyle/>
          <a:p>
            <a:pPr marL="12700">
              <a:lnSpc>
                <a:spcPct val="100000"/>
              </a:lnSpc>
              <a:spcBef>
                <a:spcPts val="135"/>
              </a:spcBef>
            </a:pPr>
            <a:r>
              <a:rPr spc="10" dirty="0"/>
              <a:t>Interleaved</a:t>
            </a:r>
            <a:r>
              <a:rPr spc="-55" dirty="0"/>
              <a:t> </a:t>
            </a:r>
            <a:r>
              <a:rPr spc="5" dirty="0"/>
              <a:t>execution</a:t>
            </a:r>
          </a:p>
        </p:txBody>
      </p:sp>
      <p:sp>
        <p:nvSpPr>
          <p:cNvPr id="24" name="object 24"/>
          <p:cNvSpPr txBox="1"/>
          <p:nvPr/>
        </p:nvSpPr>
        <p:spPr>
          <a:xfrm>
            <a:off x="167297" y="771422"/>
            <a:ext cx="3422015" cy="680085"/>
          </a:xfrm>
          <a:prstGeom prst="rect">
            <a:avLst/>
          </a:prstGeom>
        </p:spPr>
        <p:txBody>
          <a:bodyPr vert="horz" wrap="square" lIns="0" tIns="11430" rIns="0" bIns="0" rtlCol="0">
            <a:spAutoFit/>
          </a:bodyPr>
          <a:lstStyle/>
          <a:p>
            <a:pPr marL="12700">
              <a:lnSpc>
                <a:spcPct val="100000"/>
              </a:lnSpc>
              <a:spcBef>
                <a:spcPts val="90"/>
              </a:spcBef>
            </a:pPr>
            <a:r>
              <a:rPr sz="1100" spc="-20" dirty="0">
                <a:latin typeface="Arial"/>
                <a:cs typeface="Arial"/>
              </a:rPr>
              <a:t>Say </a:t>
            </a:r>
            <a:r>
              <a:rPr sz="1100" spc="-10" dirty="0">
                <a:latin typeface="Arial"/>
                <a:cs typeface="Arial"/>
              </a:rPr>
              <a:t>two </a:t>
            </a:r>
            <a:r>
              <a:rPr sz="1100" spc="-5" dirty="0">
                <a:latin typeface="Arial"/>
                <a:cs typeface="Arial"/>
              </a:rPr>
              <a:t>users are doing flight bookings</a:t>
            </a:r>
            <a:r>
              <a:rPr sz="1100" spc="15" dirty="0">
                <a:latin typeface="Arial"/>
                <a:cs typeface="Arial"/>
              </a:rPr>
              <a:t> </a:t>
            </a:r>
            <a:r>
              <a:rPr sz="1100" spc="-10" dirty="0">
                <a:latin typeface="Arial"/>
                <a:cs typeface="Arial"/>
              </a:rPr>
              <a:t>simultaneously:</a:t>
            </a:r>
            <a:endParaRPr sz="1100">
              <a:latin typeface="Arial"/>
              <a:cs typeface="Arial"/>
            </a:endParaRPr>
          </a:p>
          <a:p>
            <a:pPr marL="906144" marR="1544955">
              <a:lnSpc>
                <a:spcPct val="102699"/>
              </a:lnSpc>
              <a:spcBef>
                <a:spcPts val="1130"/>
              </a:spcBef>
            </a:pPr>
            <a:r>
              <a:rPr sz="1100" spc="-5" dirty="0">
                <a:latin typeface="Arial"/>
                <a:cs typeface="Arial"/>
              </a:rPr>
              <a:t>User </a:t>
            </a:r>
            <a:r>
              <a:rPr sz="1100" spc="-10" dirty="0">
                <a:latin typeface="Arial"/>
                <a:cs typeface="Arial"/>
              </a:rPr>
              <a:t>1 </a:t>
            </a:r>
            <a:r>
              <a:rPr sz="1100" spc="-5" dirty="0">
                <a:latin typeface="Arial"/>
                <a:cs typeface="Arial"/>
              </a:rPr>
              <a:t>finds  seat </a:t>
            </a:r>
            <a:r>
              <a:rPr sz="1100" spc="-10" dirty="0">
                <a:latin typeface="Arial"/>
                <a:cs typeface="Arial"/>
              </a:rPr>
              <a:t>22A</a:t>
            </a:r>
            <a:r>
              <a:rPr sz="1100" spc="-90" dirty="0">
                <a:latin typeface="Arial"/>
                <a:cs typeface="Arial"/>
              </a:rPr>
              <a:t> </a:t>
            </a:r>
            <a:r>
              <a:rPr sz="1100" spc="-5" dirty="0">
                <a:latin typeface="Arial"/>
                <a:cs typeface="Arial"/>
              </a:rPr>
              <a:t>empty</a:t>
            </a:r>
            <a:endParaRPr sz="1100">
              <a:latin typeface="Arial"/>
              <a:cs typeface="Arial"/>
            </a:endParaRPr>
          </a:p>
        </p:txBody>
      </p:sp>
      <p:sp>
        <p:nvSpPr>
          <p:cNvPr id="25" name="object 25"/>
          <p:cNvSpPr txBox="1"/>
          <p:nvPr/>
        </p:nvSpPr>
        <p:spPr>
          <a:xfrm>
            <a:off x="647636" y="1431339"/>
            <a:ext cx="287655" cy="191770"/>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time</a:t>
            </a:r>
            <a:endParaRPr sz="1100">
              <a:latin typeface="Arial"/>
              <a:cs typeface="Arial"/>
            </a:endParaRPr>
          </a:p>
        </p:txBody>
      </p:sp>
      <p:sp>
        <p:nvSpPr>
          <p:cNvPr id="26" name="object 26"/>
          <p:cNvSpPr txBox="1"/>
          <p:nvPr/>
        </p:nvSpPr>
        <p:spPr>
          <a:xfrm>
            <a:off x="743851" y="1603411"/>
            <a:ext cx="95250" cy="191770"/>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Arial"/>
                <a:cs typeface="Arial"/>
              </a:rPr>
              <a:t>↓</a:t>
            </a:r>
            <a:endParaRPr sz="1100">
              <a:latin typeface="Arial"/>
              <a:cs typeface="Arial"/>
            </a:endParaRPr>
          </a:p>
        </p:txBody>
      </p:sp>
      <p:sp>
        <p:nvSpPr>
          <p:cNvPr id="27" name="object 27"/>
          <p:cNvSpPr txBox="1"/>
          <p:nvPr/>
        </p:nvSpPr>
        <p:spPr>
          <a:xfrm>
            <a:off x="2213991" y="1431339"/>
            <a:ext cx="988060" cy="363855"/>
          </a:xfrm>
          <a:prstGeom prst="rect">
            <a:avLst/>
          </a:prstGeom>
        </p:spPr>
        <p:txBody>
          <a:bodyPr vert="horz" wrap="square" lIns="0" tIns="6985" rIns="0" bIns="0" rtlCol="0">
            <a:spAutoFit/>
          </a:bodyPr>
          <a:lstStyle/>
          <a:p>
            <a:pPr marL="12700" marR="5080">
              <a:lnSpc>
                <a:spcPct val="102600"/>
              </a:lnSpc>
              <a:spcBef>
                <a:spcPts val="55"/>
              </a:spcBef>
            </a:pPr>
            <a:r>
              <a:rPr sz="1100" spc="-5" dirty="0">
                <a:latin typeface="Arial"/>
                <a:cs typeface="Arial"/>
              </a:rPr>
              <a:t>User </a:t>
            </a:r>
            <a:r>
              <a:rPr sz="1100" spc="-10" dirty="0">
                <a:latin typeface="Arial"/>
                <a:cs typeface="Arial"/>
              </a:rPr>
              <a:t>2 </a:t>
            </a:r>
            <a:r>
              <a:rPr sz="1100" spc="-5" dirty="0">
                <a:latin typeface="Arial"/>
                <a:cs typeface="Arial"/>
              </a:rPr>
              <a:t>finds  seat </a:t>
            </a:r>
            <a:r>
              <a:rPr sz="1100" spc="-10" dirty="0">
                <a:latin typeface="Arial"/>
                <a:cs typeface="Arial"/>
              </a:rPr>
              <a:t>22A</a:t>
            </a:r>
            <a:r>
              <a:rPr sz="1100" spc="-90" dirty="0">
                <a:latin typeface="Arial"/>
                <a:cs typeface="Arial"/>
              </a:rPr>
              <a:t> </a:t>
            </a:r>
            <a:r>
              <a:rPr sz="1100" spc="-5" dirty="0">
                <a:latin typeface="Arial"/>
                <a:cs typeface="Arial"/>
              </a:rPr>
              <a:t>empty</a:t>
            </a:r>
            <a:endParaRPr sz="1100">
              <a:latin typeface="Arial"/>
              <a:cs typeface="Arial"/>
            </a:endParaRPr>
          </a:p>
        </p:txBody>
      </p:sp>
      <p:sp>
        <p:nvSpPr>
          <p:cNvPr id="28" name="object 28"/>
          <p:cNvSpPr txBox="1"/>
          <p:nvPr/>
        </p:nvSpPr>
        <p:spPr>
          <a:xfrm>
            <a:off x="167297" y="1775484"/>
            <a:ext cx="3202305" cy="1022985"/>
          </a:xfrm>
          <a:prstGeom prst="rect">
            <a:avLst/>
          </a:prstGeom>
        </p:spPr>
        <p:txBody>
          <a:bodyPr vert="horz" wrap="square" lIns="0" tIns="6985" rIns="0" bIns="0" rtlCol="0">
            <a:spAutoFit/>
          </a:bodyPr>
          <a:lstStyle/>
          <a:p>
            <a:pPr marL="906144" marR="1286510">
              <a:lnSpc>
                <a:spcPct val="102600"/>
              </a:lnSpc>
              <a:spcBef>
                <a:spcPts val="55"/>
              </a:spcBef>
            </a:pPr>
            <a:r>
              <a:rPr sz="1100" spc="-5" dirty="0">
                <a:latin typeface="Arial"/>
                <a:cs typeface="Arial"/>
              </a:rPr>
              <a:t>User </a:t>
            </a:r>
            <a:r>
              <a:rPr sz="1100" spc="-10" dirty="0">
                <a:latin typeface="Arial"/>
                <a:cs typeface="Arial"/>
              </a:rPr>
              <a:t>1 </a:t>
            </a:r>
            <a:r>
              <a:rPr sz="1100" spc="-5" dirty="0">
                <a:latin typeface="Arial"/>
                <a:cs typeface="Arial"/>
              </a:rPr>
              <a:t>sets</a:t>
            </a:r>
            <a:r>
              <a:rPr sz="1100" spc="-90" dirty="0">
                <a:latin typeface="Arial"/>
                <a:cs typeface="Arial"/>
              </a:rPr>
              <a:t> </a:t>
            </a:r>
            <a:r>
              <a:rPr sz="1100" spc="-5" dirty="0">
                <a:latin typeface="Arial"/>
                <a:cs typeface="Arial"/>
              </a:rPr>
              <a:t>seat  </a:t>
            </a:r>
            <a:r>
              <a:rPr sz="1100" spc="-10" dirty="0">
                <a:latin typeface="Arial"/>
                <a:cs typeface="Arial"/>
              </a:rPr>
              <a:t>22A</a:t>
            </a:r>
            <a:r>
              <a:rPr sz="1100" spc="-25" dirty="0">
                <a:latin typeface="Arial"/>
                <a:cs typeface="Arial"/>
              </a:rPr>
              <a:t> </a:t>
            </a:r>
            <a:r>
              <a:rPr sz="1100" spc="-5" dirty="0">
                <a:latin typeface="Arial"/>
                <a:cs typeface="Arial"/>
              </a:rPr>
              <a:t>occupied</a:t>
            </a:r>
            <a:endParaRPr sz="1100">
              <a:latin typeface="Arial"/>
              <a:cs typeface="Arial"/>
            </a:endParaRPr>
          </a:p>
          <a:p>
            <a:pPr marL="2059305" marR="133350">
              <a:lnSpc>
                <a:spcPct val="102600"/>
              </a:lnSpc>
            </a:pPr>
            <a:r>
              <a:rPr sz="1100" spc="-5" dirty="0">
                <a:latin typeface="Arial"/>
                <a:cs typeface="Arial"/>
              </a:rPr>
              <a:t>User </a:t>
            </a:r>
            <a:r>
              <a:rPr sz="1100" spc="-10" dirty="0">
                <a:latin typeface="Arial"/>
                <a:cs typeface="Arial"/>
              </a:rPr>
              <a:t>2 </a:t>
            </a:r>
            <a:r>
              <a:rPr sz="1100" spc="-5" dirty="0">
                <a:latin typeface="Arial"/>
                <a:cs typeface="Arial"/>
              </a:rPr>
              <a:t>sets</a:t>
            </a:r>
            <a:r>
              <a:rPr sz="1100" spc="-90" dirty="0">
                <a:latin typeface="Arial"/>
                <a:cs typeface="Arial"/>
              </a:rPr>
              <a:t> </a:t>
            </a:r>
            <a:r>
              <a:rPr sz="1100" spc="-5" dirty="0">
                <a:latin typeface="Arial"/>
                <a:cs typeface="Arial"/>
              </a:rPr>
              <a:t>seat  </a:t>
            </a:r>
            <a:r>
              <a:rPr sz="1100" spc="-10" dirty="0">
                <a:latin typeface="Arial"/>
                <a:cs typeface="Arial"/>
              </a:rPr>
              <a:t>22A</a:t>
            </a:r>
            <a:r>
              <a:rPr sz="1100" spc="-25" dirty="0">
                <a:latin typeface="Arial"/>
                <a:cs typeface="Arial"/>
              </a:rPr>
              <a:t> </a:t>
            </a:r>
            <a:r>
              <a:rPr sz="1100" spc="-5" dirty="0">
                <a:latin typeface="Arial"/>
                <a:cs typeface="Arial"/>
              </a:rPr>
              <a:t>occupied</a:t>
            </a:r>
            <a:endParaRPr sz="1100">
              <a:latin typeface="Arial"/>
              <a:cs typeface="Arial"/>
            </a:endParaRPr>
          </a:p>
          <a:p>
            <a:pPr marL="12700">
              <a:lnSpc>
                <a:spcPct val="100000"/>
              </a:lnSpc>
              <a:spcBef>
                <a:spcPts val="1160"/>
              </a:spcBef>
            </a:pPr>
            <a:r>
              <a:rPr sz="1100" spc="-5" dirty="0">
                <a:latin typeface="Arial"/>
                <a:cs typeface="Arial"/>
              </a:rPr>
              <a:t>Both customers </a:t>
            </a:r>
            <a:r>
              <a:rPr sz="1100" spc="-15" dirty="0">
                <a:latin typeface="Arial"/>
                <a:cs typeface="Arial"/>
              </a:rPr>
              <a:t>believe they </a:t>
            </a:r>
            <a:r>
              <a:rPr sz="1100" spc="-20" dirty="0">
                <a:latin typeface="Arial"/>
                <a:cs typeface="Arial"/>
              </a:rPr>
              <a:t>have </a:t>
            </a:r>
            <a:r>
              <a:rPr sz="1100" spc="-10" dirty="0">
                <a:latin typeface="Arial"/>
                <a:cs typeface="Arial"/>
              </a:rPr>
              <a:t>booked </a:t>
            </a:r>
            <a:r>
              <a:rPr sz="1100" spc="-5" dirty="0">
                <a:latin typeface="Arial"/>
                <a:cs typeface="Arial"/>
              </a:rPr>
              <a:t>seat</a:t>
            </a:r>
            <a:r>
              <a:rPr sz="1100" spc="-20" dirty="0">
                <a:latin typeface="Arial"/>
                <a:cs typeface="Arial"/>
              </a:rPr>
              <a:t> </a:t>
            </a:r>
            <a:r>
              <a:rPr sz="1100" spc="-5" dirty="0">
                <a:latin typeface="Arial"/>
                <a:cs typeface="Arial"/>
              </a:rPr>
              <a:t>22A.</a:t>
            </a:r>
            <a:endParaRPr sz="1100">
              <a:latin typeface="Arial"/>
              <a:cs typeface="Arial"/>
            </a:endParaRPr>
          </a:p>
        </p:txBody>
      </p:sp>
    </p:spTree>
    <p:extLst>
      <p:ext uri="{BB962C8B-B14F-4D97-AF65-F5344CB8AC3E}">
        <p14:creationId xmlns:p14="http://schemas.microsoft.com/office/powerpoint/2010/main" val="3778191353"/>
      </p:ext>
    </p:extLst>
  </p:cSld>
  <p:clrMapOvr>
    <a:masterClrMapping/>
  </p:clrMapOvr>
  <p:transition>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latin typeface="Arial"/>
                <a:cs typeface="Arial"/>
                <a:hlinkClick r:id="rId4" action="ppaction://hlinksldjump"/>
              </a:rPr>
              <a:t>SQL</a:t>
            </a:r>
            <a:r>
              <a:rPr sz="400" spc="-10" dirty="0">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091565" cy="244475"/>
          </a:xfrm>
          <a:prstGeom prst="rect">
            <a:avLst/>
          </a:prstGeom>
        </p:spPr>
        <p:txBody>
          <a:bodyPr vert="horz" wrap="square" lIns="0" tIns="17145" rIns="0" bIns="0" rtlCol="0">
            <a:spAutoFit/>
          </a:bodyPr>
          <a:lstStyle/>
          <a:p>
            <a:pPr marL="12700">
              <a:lnSpc>
                <a:spcPct val="100000"/>
              </a:lnSpc>
              <a:spcBef>
                <a:spcPts val="135"/>
              </a:spcBef>
            </a:pPr>
            <a:r>
              <a:rPr spc="10" dirty="0"/>
              <a:t>Serializability</a:t>
            </a:r>
          </a:p>
        </p:txBody>
      </p:sp>
      <p:sp>
        <p:nvSpPr>
          <p:cNvPr id="24" name="object 24"/>
          <p:cNvSpPr txBox="1"/>
          <p:nvPr/>
        </p:nvSpPr>
        <p:spPr>
          <a:xfrm>
            <a:off x="141897" y="766303"/>
            <a:ext cx="3537585" cy="1936114"/>
          </a:xfrm>
          <a:prstGeom prst="rect">
            <a:avLst/>
          </a:prstGeom>
        </p:spPr>
        <p:txBody>
          <a:bodyPr vert="horz" wrap="square" lIns="0" tIns="55244" rIns="0" bIns="0" rtlCol="0">
            <a:spAutoFit/>
          </a:bodyPr>
          <a:lstStyle/>
          <a:p>
            <a:pPr marL="38100">
              <a:lnSpc>
                <a:spcPct val="100000"/>
              </a:lnSpc>
              <a:spcBef>
                <a:spcPts val="434"/>
              </a:spcBef>
            </a:pPr>
            <a:r>
              <a:rPr sz="1100" spc="-10" dirty="0">
                <a:latin typeface="Arial"/>
                <a:cs typeface="Arial"/>
              </a:rPr>
              <a:t>The </a:t>
            </a:r>
            <a:r>
              <a:rPr sz="1100" spc="-5" dirty="0">
                <a:latin typeface="Arial"/>
                <a:cs typeface="Arial"/>
              </a:rPr>
              <a:t>solution to the </a:t>
            </a:r>
            <a:r>
              <a:rPr sz="1100" spc="-20" dirty="0">
                <a:latin typeface="Arial"/>
                <a:cs typeface="Arial"/>
              </a:rPr>
              <a:t>above </a:t>
            </a:r>
            <a:r>
              <a:rPr sz="1100" spc="-10" dirty="0">
                <a:latin typeface="Arial"/>
                <a:cs typeface="Arial"/>
              </a:rPr>
              <a:t>problem </a:t>
            </a:r>
            <a:r>
              <a:rPr sz="1100" spc="-5" dirty="0">
                <a:latin typeface="Arial"/>
                <a:cs typeface="Arial"/>
              </a:rPr>
              <a:t>is as</a:t>
            </a:r>
            <a:r>
              <a:rPr sz="1100" spc="20" dirty="0">
                <a:latin typeface="Arial"/>
                <a:cs typeface="Arial"/>
              </a:rPr>
              <a:t> </a:t>
            </a:r>
            <a:r>
              <a:rPr sz="1100" spc="-15" dirty="0">
                <a:latin typeface="Arial"/>
                <a:cs typeface="Arial"/>
              </a:rPr>
              <a:t>follows:</a:t>
            </a:r>
            <a:endParaRPr sz="1100" dirty="0">
              <a:latin typeface="Arial"/>
              <a:cs typeface="Arial"/>
            </a:endParaRPr>
          </a:p>
          <a:p>
            <a:pPr marL="314960" marR="560070" indent="-148590">
              <a:lnSpc>
                <a:spcPct val="102600"/>
              </a:lnSpc>
              <a:spcBef>
                <a:spcPts val="300"/>
              </a:spcBef>
              <a:buClr>
                <a:srgbClr val="3333B2"/>
              </a:buClr>
              <a:buSzPct val="72727"/>
              <a:buFont typeface="Lucida Sans Unicode"/>
              <a:buChar char="►"/>
              <a:tabLst>
                <a:tab pos="315595" algn="l"/>
              </a:tabLst>
            </a:pPr>
            <a:r>
              <a:rPr sz="1100" spc="-5" dirty="0">
                <a:latin typeface="Arial"/>
                <a:cs typeface="Arial"/>
              </a:rPr>
              <a:t>Database </a:t>
            </a:r>
            <a:r>
              <a:rPr sz="1100" spc="-10" dirty="0">
                <a:latin typeface="Arial"/>
                <a:cs typeface="Arial"/>
              </a:rPr>
              <a:t>operations </a:t>
            </a:r>
            <a:r>
              <a:rPr sz="1100" spc="-5" dirty="0">
                <a:latin typeface="Arial"/>
                <a:cs typeface="Arial"/>
              </a:rPr>
              <a:t>can </a:t>
            </a:r>
            <a:r>
              <a:rPr sz="1100" spc="-10" dirty="0">
                <a:latin typeface="Arial"/>
                <a:cs typeface="Arial"/>
              </a:rPr>
              <a:t>be grouped </a:t>
            </a:r>
            <a:r>
              <a:rPr sz="1100" spc="-5" dirty="0">
                <a:latin typeface="Arial"/>
                <a:cs typeface="Arial"/>
              </a:rPr>
              <a:t>into </a:t>
            </a:r>
            <a:r>
              <a:rPr sz="1100" spc="-10" dirty="0">
                <a:latin typeface="Arial"/>
                <a:cs typeface="Arial"/>
              </a:rPr>
              <a:t>a  transaction</a:t>
            </a:r>
            <a:endParaRPr sz="1100" dirty="0">
              <a:latin typeface="Arial"/>
              <a:cs typeface="Arial"/>
            </a:endParaRPr>
          </a:p>
          <a:p>
            <a:pPr marL="314960" marR="238125" indent="-148590">
              <a:lnSpc>
                <a:spcPct val="102699"/>
              </a:lnSpc>
              <a:spcBef>
                <a:spcPts val="295"/>
              </a:spcBef>
              <a:buClr>
                <a:srgbClr val="3333B2"/>
              </a:buClr>
              <a:buSzPct val="72727"/>
              <a:buFont typeface="Lucida Sans Unicode"/>
              <a:buChar char="►"/>
              <a:tabLst>
                <a:tab pos="315595" algn="l"/>
              </a:tabLst>
            </a:pPr>
            <a:r>
              <a:rPr sz="1100" spc="-10" dirty="0">
                <a:latin typeface="Arial"/>
                <a:cs typeface="Arial"/>
              </a:rPr>
              <a:t>The programmer </a:t>
            </a:r>
            <a:r>
              <a:rPr sz="1100" spc="-5" dirty="0">
                <a:latin typeface="Arial"/>
                <a:cs typeface="Arial"/>
              </a:rPr>
              <a:t>can specify that the </a:t>
            </a:r>
            <a:r>
              <a:rPr sz="1100" spc="-10" dirty="0">
                <a:latin typeface="Arial"/>
                <a:cs typeface="Arial"/>
              </a:rPr>
              <a:t>transaction  must be</a:t>
            </a:r>
            <a:r>
              <a:rPr sz="1100" spc="-5" dirty="0">
                <a:latin typeface="Arial"/>
                <a:cs typeface="Arial"/>
              </a:rPr>
              <a:t> </a:t>
            </a:r>
            <a:r>
              <a:rPr sz="1100" i="1" spc="-5" dirty="0">
                <a:latin typeface="Arial"/>
                <a:cs typeface="Arial"/>
              </a:rPr>
              <a:t>serializable</a:t>
            </a:r>
            <a:endParaRPr sz="1100" dirty="0">
              <a:latin typeface="Arial"/>
              <a:cs typeface="Arial"/>
            </a:endParaRPr>
          </a:p>
          <a:p>
            <a:pPr marL="314960" marR="30480" indent="-148590" algn="just">
              <a:lnSpc>
                <a:spcPct val="102600"/>
              </a:lnSpc>
              <a:spcBef>
                <a:spcPts val="300"/>
              </a:spcBef>
              <a:buClr>
                <a:srgbClr val="3333B2"/>
              </a:buClr>
              <a:buSzPct val="72727"/>
              <a:buFont typeface="Lucida Sans Unicode"/>
              <a:buChar char="►"/>
              <a:tabLst>
                <a:tab pos="315595" algn="l"/>
              </a:tabLst>
            </a:pPr>
            <a:r>
              <a:rPr sz="1100" spc="-5" dirty="0">
                <a:latin typeface="Arial"/>
                <a:cs typeface="Arial"/>
              </a:rPr>
              <a:t>This </a:t>
            </a:r>
            <a:r>
              <a:rPr sz="1100" spc="-10" dirty="0">
                <a:latin typeface="Arial"/>
                <a:cs typeface="Arial"/>
              </a:rPr>
              <a:t>means </a:t>
            </a:r>
            <a:r>
              <a:rPr sz="1100" spc="-5" dirty="0">
                <a:latin typeface="Arial"/>
                <a:cs typeface="Arial"/>
              </a:rPr>
              <a:t>that </a:t>
            </a:r>
            <a:r>
              <a:rPr sz="1100" spc="-10" dirty="0">
                <a:latin typeface="Arial"/>
                <a:cs typeface="Arial"/>
              </a:rPr>
              <a:t>transactions must </a:t>
            </a:r>
            <a:r>
              <a:rPr sz="1100" spc="-15" dirty="0">
                <a:latin typeface="Arial"/>
                <a:cs typeface="Arial"/>
              </a:rPr>
              <a:t>behave </a:t>
            </a:r>
            <a:r>
              <a:rPr sz="1100" spc="-5" dirty="0">
                <a:latin typeface="Arial"/>
                <a:cs typeface="Arial"/>
              </a:rPr>
              <a:t>as if </a:t>
            </a:r>
            <a:r>
              <a:rPr sz="1100" spc="-15" dirty="0">
                <a:latin typeface="Arial"/>
                <a:cs typeface="Arial"/>
              </a:rPr>
              <a:t>they  </a:t>
            </a:r>
            <a:r>
              <a:rPr sz="1100" spc="-10" dirty="0">
                <a:latin typeface="Arial"/>
                <a:cs typeface="Arial"/>
              </a:rPr>
              <a:t>had been </a:t>
            </a:r>
            <a:r>
              <a:rPr sz="1100" dirty="0">
                <a:solidFill>
                  <a:srgbClr val="00B050"/>
                </a:solidFill>
                <a:latin typeface="Arial"/>
                <a:cs typeface="Arial"/>
              </a:rPr>
              <a:t>run </a:t>
            </a:r>
            <a:r>
              <a:rPr sz="1100" i="1" spc="-5" dirty="0">
                <a:solidFill>
                  <a:srgbClr val="00B050"/>
                </a:solidFill>
                <a:latin typeface="Arial"/>
                <a:cs typeface="Arial"/>
              </a:rPr>
              <a:t>serially </a:t>
            </a:r>
            <a:r>
              <a:rPr sz="1100" spc="-10" dirty="0">
                <a:solidFill>
                  <a:srgbClr val="00B050"/>
                </a:solidFill>
                <a:latin typeface="Arial"/>
                <a:cs typeface="Arial"/>
              </a:rPr>
              <a:t>— one </a:t>
            </a:r>
            <a:r>
              <a:rPr sz="1100" spc="-5" dirty="0">
                <a:solidFill>
                  <a:srgbClr val="00B050"/>
                </a:solidFill>
                <a:latin typeface="Arial"/>
                <a:cs typeface="Arial"/>
              </a:rPr>
              <a:t>after the </a:t>
            </a:r>
            <a:r>
              <a:rPr sz="1100" spc="-15" dirty="0">
                <a:solidFill>
                  <a:srgbClr val="00B050"/>
                </a:solidFill>
                <a:latin typeface="Arial"/>
                <a:cs typeface="Arial"/>
              </a:rPr>
              <a:t>other, </a:t>
            </a:r>
            <a:r>
              <a:rPr sz="1100" spc="-5" dirty="0">
                <a:solidFill>
                  <a:srgbClr val="00B050"/>
                </a:solidFill>
                <a:latin typeface="Arial"/>
                <a:cs typeface="Arial"/>
              </a:rPr>
              <a:t>with </a:t>
            </a:r>
            <a:r>
              <a:rPr sz="1100" spc="-10" dirty="0">
                <a:solidFill>
                  <a:srgbClr val="00B050"/>
                </a:solidFill>
                <a:latin typeface="Arial"/>
                <a:cs typeface="Arial"/>
              </a:rPr>
              <a:t>no  overlap</a:t>
            </a:r>
            <a:endParaRPr sz="1100" dirty="0">
              <a:solidFill>
                <a:srgbClr val="00B050"/>
              </a:solidFill>
              <a:latin typeface="Arial"/>
              <a:cs typeface="Arial"/>
            </a:endParaRPr>
          </a:p>
          <a:p>
            <a:pPr marL="314960" marR="73660" indent="-148590" algn="just">
              <a:lnSpc>
                <a:spcPct val="102600"/>
              </a:lnSpc>
              <a:spcBef>
                <a:spcPts val="300"/>
              </a:spcBef>
              <a:buClr>
                <a:srgbClr val="3333B2"/>
              </a:buClr>
              <a:buSzPct val="72727"/>
              <a:buFont typeface="Lucida Sans Unicode"/>
              <a:buChar char="►"/>
              <a:tabLst>
                <a:tab pos="315595" algn="l"/>
              </a:tabLst>
            </a:pPr>
            <a:r>
              <a:rPr sz="1100" spc="-10" dirty="0">
                <a:latin typeface="Arial"/>
                <a:cs typeface="Arial"/>
              </a:rPr>
              <a:t>The two invocations </a:t>
            </a:r>
            <a:r>
              <a:rPr sz="1100" spc="-5" dirty="0">
                <a:latin typeface="Arial"/>
                <a:cs typeface="Arial"/>
              </a:rPr>
              <a:t>of the flight booking </a:t>
            </a:r>
            <a:r>
              <a:rPr sz="1100" spc="-10" dirty="0">
                <a:latin typeface="Arial"/>
                <a:cs typeface="Arial"/>
              </a:rPr>
              <a:t>operations  </a:t>
            </a:r>
            <a:r>
              <a:rPr sz="1100" spc="-5" dirty="0">
                <a:latin typeface="Arial"/>
                <a:cs typeface="Arial"/>
              </a:rPr>
              <a:t>could not </a:t>
            </a:r>
            <a:r>
              <a:rPr sz="1100" spc="-10" dirty="0">
                <a:latin typeface="Arial"/>
                <a:cs typeface="Arial"/>
              </a:rPr>
              <a:t>book </a:t>
            </a:r>
            <a:r>
              <a:rPr sz="1100" spc="-5" dirty="0">
                <a:latin typeface="Arial"/>
                <a:cs typeface="Arial"/>
              </a:rPr>
              <a:t>the </a:t>
            </a:r>
            <a:r>
              <a:rPr sz="1100" spc="-10" dirty="0">
                <a:latin typeface="Arial"/>
                <a:cs typeface="Arial"/>
              </a:rPr>
              <a:t>same </a:t>
            </a:r>
            <a:r>
              <a:rPr sz="1100" spc="-5" dirty="0">
                <a:latin typeface="Arial"/>
                <a:cs typeface="Arial"/>
              </a:rPr>
              <a:t>seat if </a:t>
            </a:r>
            <a:r>
              <a:rPr sz="1100" dirty="0">
                <a:latin typeface="Arial"/>
                <a:cs typeface="Arial"/>
              </a:rPr>
              <a:t>run</a:t>
            </a:r>
            <a:r>
              <a:rPr sz="1100" spc="-5" dirty="0">
                <a:latin typeface="Arial"/>
                <a:cs typeface="Arial"/>
              </a:rPr>
              <a:t> serially</a:t>
            </a:r>
            <a:endParaRPr sz="1100" dirty="0">
              <a:latin typeface="Arial"/>
              <a:cs typeface="Arial"/>
            </a:endParaRPr>
          </a:p>
        </p:txBody>
      </p:sp>
    </p:spTree>
    <p:extLst>
      <p:ext uri="{BB962C8B-B14F-4D97-AF65-F5344CB8AC3E}">
        <p14:creationId xmlns:p14="http://schemas.microsoft.com/office/powerpoint/2010/main" val="2549513485"/>
      </p:ext>
    </p:extLst>
  </p:cSld>
  <p:clrMapOvr>
    <a:masterClrMapping/>
  </p:clrMapOvr>
  <p:transition>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latin typeface="Arial"/>
                <a:cs typeface="Arial"/>
                <a:hlinkClick r:id="rId4" action="ppaction://hlinksldjump"/>
              </a:rPr>
              <a:t>SQL</a:t>
            </a:r>
            <a:r>
              <a:rPr sz="400" spc="-10" dirty="0">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764540" cy="244475"/>
          </a:xfrm>
          <a:prstGeom prst="rect">
            <a:avLst/>
          </a:prstGeom>
        </p:spPr>
        <p:txBody>
          <a:bodyPr vert="horz" wrap="square" lIns="0" tIns="17145" rIns="0" bIns="0" rtlCol="0">
            <a:spAutoFit/>
          </a:bodyPr>
          <a:lstStyle/>
          <a:p>
            <a:pPr marL="12700">
              <a:lnSpc>
                <a:spcPct val="100000"/>
              </a:lnSpc>
              <a:spcBef>
                <a:spcPts val="135"/>
              </a:spcBef>
            </a:pPr>
            <a:r>
              <a:rPr spc="15" dirty="0"/>
              <a:t>Atomicity</a:t>
            </a:r>
          </a:p>
        </p:txBody>
      </p:sp>
      <p:sp>
        <p:nvSpPr>
          <p:cNvPr id="24" name="object 24"/>
          <p:cNvSpPr txBox="1"/>
          <p:nvPr/>
        </p:nvSpPr>
        <p:spPr>
          <a:xfrm>
            <a:off x="167297" y="354062"/>
            <a:ext cx="3407410" cy="3062605"/>
          </a:xfrm>
          <a:prstGeom prst="rect">
            <a:avLst/>
          </a:prstGeom>
        </p:spPr>
        <p:txBody>
          <a:bodyPr vert="horz" wrap="square" lIns="0" tIns="11430" rIns="0" bIns="0" rtlCol="0">
            <a:spAutoFit/>
          </a:bodyPr>
          <a:lstStyle/>
          <a:p>
            <a:pPr marL="12700">
              <a:lnSpc>
                <a:spcPct val="100000"/>
              </a:lnSpc>
              <a:spcBef>
                <a:spcPts val="90"/>
              </a:spcBef>
            </a:pPr>
            <a:r>
              <a:rPr sz="1100" spc="-5" dirty="0">
                <a:latin typeface="Arial"/>
                <a:cs typeface="Arial"/>
              </a:rPr>
              <a:t>Consider banking application </a:t>
            </a:r>
            <a:r>
              <a:rPr sz="1100" spc="-10" dirty="0">
                <a:latin typeface="Arial"/>
                <a:cs typeface="Arial"/>
              </a:rPr>
              <a:t>on</a:t>
            </a:r>
            <a:r>
              <a:rPr sz="1100" spc="-15" dirty="0">
                <a:latin typeface="Arial"/>
                <a:cs typeface="Arial"/>
              </a:rPr>
              <a:t> </a:t>
            </a:r>
            <a:r>
              <a:rPr sz="1100" spc="-5" dirty="0">
                <a:latin typeface="Arial"/>
                <a:cs typeface="Arial"/>
              </a:rPr>
              <a:t>relation</a:t>
            </a:r>
            <a:endParaRPr sz="1100">
              <a:latin typeface="Arial"/>
              <a:cs typeface="Arial"/>
            </a:endParaRPr>
          </a:p>
          <a:p>
            <a:pPr marL="12700">
              <a:lnSpc>
                <a:spcPct val="100000"/>
              </a:lnSpc>
              <a:spcBef>
                <a:spcPts val="1110"/>
              </a:spcBef>
            </a:pPr>
            <a:r>
              <a:rPr sz="1100" spc="-10" dirty="0">
                <a:solidFill>
                  <a:srgbClr val="0000FF"/>
                </a:solidFill>
                <a:latin typeface="Arial"/>
                <a:cs typeface="Arial"/>
              </a:rPr>
              <a:t>Accounts(acctNo, </a:t>
            </a:r>
            <a:r>
              <a:rPr sz="1100" spc="-5" dirty="0">
                <a:solidFill>
                  <a:srgbClr val="0000FF"/>
                </a:solidFill>
                <a:latin typeface="Arial"/>
                <a:cs typeface="Arial"/>
              </a:rPr>
              <a:t>balance)</a:t>
            </a:r>
            <a:endParaRPr sz="1100">
              <a:latin typeface="Arial"/>
              <a:cs typeface="Arial"/>
            </a:endParaRPr>
          </a:p>
          <a:p>
            <a:pPr marL="12700">
              <a:lnSpc>
                <a:spcPct val="100000"/>
              </a:lnSpc>
              <a:spcBef>
                <a:spcPts val="1110"/>
              </a:spcBef>
            </a:pPr>
            <a:r>
              <a:rPr sz="1100" spc="-10" dirty="0">
                <a:latin typeface="Arial"/>
                <a:cs typeface="Arial"/>
              </a:rPr>
              <a:t>transferring £100 </a:t>
            </a:r>
            <a:r>
              <a:rPr sz="1100" spc="-5" dirty="0">
                <a:latin typeface="Arial"/>
                <a:cs typeface="Arial"/>
              </a:rPr>
              <a:t>from account </a:t>
            </a:r>
            <a:r>
              <a:rPr sz="1100" spc="-10" dirty="0">
                <a:latin typeface="Arial"/>
                <a:cs typeface="Arial"/>
              </a:rPr>
              <a:t>123 </a:t>
            </a:r>
            <a:r>
              <a:rPr sz="1100" spc="-5" dirty="0">
                <a:latin typeface="Arial"/>
                <a:cs typeface="Arial"/>
              </a:rPr>
              <a:t>to account</a:t>
            </a:r>
            <a:r>
              <a:rPr sz="1100" dirty="0">
                <a:latin typeface="Arial"/>
                <a:cs typeface="Arial"/>
              </a:rPr>
              <a:t> </a:t>
            </a:r>
            <a:r>
              <a:rPr sz="1100" spc="-5" dirty="0">
                <a:latin typeface="Arial"/>
                <a:cs typeface="Arial"/>
              </a:rPr>
              <a:t>456.</a:t>
            </a:r>
            <a:endParaRPr sz="1100">
              <a:latin typeface="Arial"/>
              <a:cs typeface="Arial"/>
            </a:endParaRPr>
          </a:p>
          <a:p>
            <a:pPr marL="289560" indent="-185420">
              <a:lnSpc>
                <a:spcPct val="100000"/>
              </a:lnSpc>
              <a:spcBef>
                <a:spcPts val="285"/>
              </a:spcBef>
              <a:buClr>
                <a:srgbClr val="3333B2"/>
              </a:buClr>
              <a:buAutoNum type="arabicPeriod"/>
              <a:tabLst>
                <a:tab pos="290195" algn="l"/>
              </a:tabLst>
            </a:pPr>
            <a:r>
              <a:rPr sz="1100" spc="-5" dirty="0">
                <a:latin typeface="Arial"/>
                <a:cs typeface="Arial"/>
              </a:rPr>
              <a:t>Ensure there is at least </a:t>
            </a:r>
            <a:r>
              <a:rPr sz="1100" spc="-10" dirty="0">
                <a:latin typeface="Arial"/>
                <a:cs typeface="Arial"/>
              </a:rPr>
              <a:t>£100 </a:t>
            </a:r>
            <a:r>
              <a:rPr sz="1100" spc="-5" dirty="0">
                <a:latin typeface="Arial"/>
                <a:cs typeface="Arial"/>
              </a:rPr>
              <a:t>in account</a:t>
            </a:r>
            <a:r>
              <a:rPr sz="1100" spc="-30" dirty="0">
                <a:latin typeface="Arial"/>
                <a:cs typeface="Arial"/>
              </a:rPr>
              <a:t> </a:t>
            </a:r>
            <a:r>
              <a:rPr sz="1100" spc="-5" dirty="0">
                <a:latin typeface="Arial"/>
                <a:cs typeface="Arial"/>
              </a:rPr>
              <a:t>123.</a:t>
            </a:r>
            <a:endParaRPr sz="1100">
              <a:latin typeface="Arial"/>
              <a:cs typeface="Arial"/>
            </a:endParaRPr>
          </a:p>
          <a:p>
            <a:pPr marL="289560" marR="1530350" indent="-185420">
              <a:lnSpc>
                <a:spcPts val="1600"/>
              </a:lnSpc>
              <a:spcBef>
                <a:spcPts val="95"/>
              </a:spcBef>
              <a:buClr>
                <a:srgbClr val="3333B2"/>
              </a:buClr>
              <a:buAutoNum type="arabicPeriod"/>
              <a:tabLst>
                <a:tab pos="290195" algn="l"/>
              </a:tabLst>
            </a:pPr>
            <a:r>
              <a:rPr sz="1100" spc="-10" dirty="0">
                <a:latin typeface="Arial"/>
                <a:cs typeface="Arial"/>
              </a:rPr>
              <a:t>Add £100 </a:t>
            </a:r>
            <a:r>
              <a:rPr sz="1100" spc="-5" dirty="0">
                <a:latin typeface="Arial"/>
                <a:cs typeface="Arial"/>
              </a:rPr>
              <a:t>to account</a:t>
            </a:r>
            <a:r>
              <a:rPr sz="1100" spc="-55" dirty="0">
                <a:latin typeface="Arial"/>
                <a:cs typeface="Arial"/>
              </a:rPr>
              <a:t> </a:t>
            </a:r>
            <a:r>
              <a:rPr sz="1100" spc="-5" dirty="0">
                <a:latin typeface="Arial"/>
                <a:cs typeface="Arial"/>
              </a:rPr>
              <a:t>456: </a:t>
            </a:r>
            <a:r>
              <a:rPr sz="1100" spc="-5" dirty="0">
                <a:solidFill>
                  <a:srgbClr val="0000FF"/>
                </a:solidFill>
                <a:latin typeface="Arial"/>
                <a:cs typeface="Arial"/>
              </a:rPr>
              <a:t> </a:t>
            </a:r>
            <a:r>
              <a:rPr sz="1100" spc="-40" dirty="0">
                <a:solidFill>
                  <a:srgbClr val="0000FF"/>
                </a:solidFill>
                <a:latin typeface="Arial"/>
                <a:cs typeface="Arial"/>
              </a:rPr>
              <a:t>UPDATE</a:t>
            </a:r>
            <a:r>
              <a:rPr sz="1100" spc="-15" dirty="0">
                <a:solidFill>
                  <a:srgbClr val="0000FF"/>
                </a:solidFill>
                <a:latin typeface="Arial"/>
                <a:cs typeface="Arial"/>
              </a:rPr>
              <a:t> </a:t>
            </a:r>
            <a:r>
              <a:rPr sz="1100" spc="-5" dirty="0">
                <a:solidFill>
                  <a:srgbClr val="0000FF"/>
                </a:solidFill>
                <a:latin typeface="Arial"/>
                <a:cs typeface="Arial"/>
              </a:rPr>
              <a:t>Accounts</a:t>
            </a:r>
            <a:endParaRPr sz="1100">
              <a:latin typeface="Arial"/>
              <a:cs typeface="Arial"/>
            </a:endParaRPr>
          </a:p>
          <a:p>
            <a:pPr marL="289560">
              <a:lnSpc>
                <a:spcPts val="1260"/>
              </a:lnSpc>
            </a:pPr>
            <a:r>
              <a:rPr sz="1100" spc="-10" dirty="0">
                <a:solidFill>
                  <a:srgbClr val="0000FF"/>
                </a:solidFill>
                <a:latin typeface="Arial"/>
                <a:cs typeface="Arial"/>
              </a:rPr>
              <a:t>SET </a:t>
            </a:r>
            <a:r>
              <a:rPr sz="1100" spc="-5" dirty="0">
                <a:solidFill>
                  <a:srgbClr val="0000FF"/>
                </a:solidFill>
                <a:latin typeface="Arial"/>
                <a:cs typeface="Arial"/>
              </a:rPr>
              <a:t>balance </a:t>
            </a:r>
            <a:r>
              <a:rPr sz="1100" spc="-10" dirty="0">
                <a:solidFill>
                  <a:srgbClr val="0000FF"/>
                </a:solidFill>
                <a:latin typeface="Arial"/>
                <a:cs typeface="Arial"/>
              </a:rPr>
              <a:t>= </a:t>
            </a:r>
            <a:r>
              <a:rPr sz="1100" spc="-5" dirty="0">
                <a:solidFill>
                  <a:srgbClr val="0000FF"/>
                </a:solidFill>
                <a:latin typeface="Arial"/>
                <a:cs typeface="Arial"/>
              </a:rPr>
              <a:t>balance </a:t>
            </a:r>
            <a:r>
              <a:rPr sz="1100" spc="-10" dirty="0">
                <a:solidFill>
                  <a:srgbClr val="0000FF"/>
                </a:solidFill>
                <a:latin typeface="Arial"/>
                <a:cs typeface="Arial"/>
              </a:rPr>
              <a:t>+</a:t>
            </a:r>
            <a:r>
              <a:rPr sz="1100" spc="-5" dirty="0">
                <a:solidFill>
                  <a:srgbClr val="0000FF"/>
                </a:solidFill>
                <a:latin typeface="Arial"/>
                <a:cs typeface="Arial"/>
              </a:rPr>
              <a:t> </a:t>
            </a:r>
            <a:r>
              <a:rPr sz="1100" spc="-10" dirty="0">
                <a:solidFill>
                  <a:srgbClr val="0000FF"/>
                </a:solidFill>
                <a:latin typeface="Arial"/>
                <a:cs typeface="Arial"/>
              </a:rPr>
              <a:t>100</a:t>
            </a:r>
            <a:endParaRPr sz="1100">
              <a:latin typeface="Arial"/>
              <a:cs typeface="Arial"/>
            </a:endParaRPr>
          </a:p>
          <a:p>
            <a:pPr marL="289560">
              <a:lnSpc>
                <a:spcPct val="100000"/>
              </a:lnSpc>
              <a:spcBef>
                <a:spcPts val="35"/>
              </a:spcBef>
            </a:pPr>
            <a:r>
              <a:rPr sz="1100" spc="-10" dirty="0">
                <a:solidFill>
                  <a:srgbClr val="0000FF"/>
                </a:solidFill>
                <a:latin typeface="Arial"/>
                <a:cs typeface="Arial"/>
              </a:rPr>
              <a:t>WHERE </a:t>
            </a:r>
            <a:r>
              <a:rPr sz="1100" spc="-5" dirty="0">
                <a:solidFill>
                  <a:srgbClr val="0000FF"/>
                </a:solidFill>
                <a:latin typeface="Arial"/>
                <a:cs typeface="Arial"/>
              </a:rPr>
              <a:t>acctNo </a:t>
            </a:r>
            <a:r>
              <a:rPr sz="1100" spc="-10" dirty="0">
                <a:solidFill>
                  <a:srgbClr val="0000FF"/>
                </a:solidFill>
                <a:latin typeface="Arial"/>
                <a:cs typeface="Arial"/>
              </a:rPr>
              <a:t>=</a:t>
            </a:r>
            <a:r>
              <a:rPr sz="1100" spc="-5" dirty="0">
                <a:solidFill>
                  <a:srgbClr val="0000FF"/>
                </a:solidFill>
                <a:latin typeface="Arial"/>
                <a:cs typeface="Arial"/>
              </a:rPr>
              <a:t> 456;</a:t>
            </a:r>
            <a:endParaRPr sz="1100">
              <a:latin typeface="Arial"/>
              <a:cs typeface="Arial"/>
            </a:endParaRPr>
          </a:p>
          <a:p>
            <a:pPr marL="289560" marR="1101090" indent="-185420">
              <a:lnSpc>
                <a:spcPct val="121500"/>
              </a:lnSpc>
              <a:buClr>
                <a:srgbClr val="3333B2"/>
              </a:buClr>
              <a:buAutoNum type="arabicPeriod" startAt="3"/>
              <a:tabLst>
                <a:tab pos="290195" algn="l"/>
              </a:tabLst>
            </a:pPr>
            <a:r>
              <a:rPr sz="1100" spc="-10" dirty="0">
                <a:latin typeface="Arial"/>
                <a:cs typeface="Arial"/>
              </a:rPr>
              <a:t>Subtract £100 </a:t>
            </a:r>
            <a:r>
              <a:rPr sz="1100" spc="-5" dirty="0">
                <a:latin typeface="Arial"/>
                <a:cs typeface="Arial"/>
              </a:rPr>
              <a:t>from account</a:t>
            </a:r>
            <a:r>
              <a:rPr sz="1100" spc="-40" dirty="0">
                <a:latin typeface="Arial"/>
                <a:cs typeface="Arial"/>
              </a:rPr>
              <a:t> </a:t>
            </a:r>
            <a:r>
              <a:rPr sz="1100" spc="-5" dirty="0">
                <a:latin typeface="Arial"/>
                <a:cs typeface="Arial"/>
              </a:rPr>
              <a:t>123: </a:t>
            </a:r>
            <a:r>
              <a:rPr sz="1100" spc="-5" dirty="0">
                <a:solidFill>
                  <a:srgbClr val="0000FF"/>
                </a:solidFill>
                <a:latin typeface="Arial"/>
                <a:cs typeface="Arial"/>
              </a:rPr>
              <a:t> </a:t>
            </a:r>
            <a:r>
              <a:rPr sz="1100" spc="-40" dirty="0">
                <a:solidFill>
                  <a:srgbClr val="0000FF"/>
                </a:solidFill>
                <a:latin typeface="Arial"/>
                <a:cs typeface="Arial"/>
              </a:rPr>
              <a:t>UPDATE</a:t>
            </a:r>
            <a:r>
              <a:rPr sz="1100" spc="-10" dirty="0">
                <a:solidFill>
                  <a:srgbClr val="0000FF"/>
                </a:solidFill>
                <a:latin typeface="Arial"/>
                <a:cs typeface="Arial"/>
              </a:rPr>
              <a:t> </a:t>
            </a:r>
            <a:r>
              <a:rPr sz="1100" spc="-5" dirty="0">
                <a:solidFill>
                  <a:srgbClr val="0000FF"/>
                </a:solidFill>
                <a:latin typeface="Arial"/>
                <a:cs typeface="Arial"/>
              </a:rPr>
              <a:t>Accounts</a:t>
            </a:r>
            <a:endParaRPr sz="1100">
              <a:latin typeface="Arial"/>
              <a:cs typeface="Arial"/>
            </a:endParaRPr>
          </a:p>
          <a:p>
            <a:pPr marL="289560" marR="1318895">
              <a:lnSpc>
                <a:spcPct val="102600"/>
              </a:lnSpc>
            </a:pPr>
            <a:r>
              <a:rPr sz="1100" spc="-10" dirty="0">
                <a:solidFill>
                  <a:srgbClr val="0000FF"/>
                </a:solidFill>
                <a:latin typeface="Arial"/>
                <a:cs typeface="Arial"/>
              </a:rPr>
              <a:t>SET </a:t>
            </a:r>
            <a:r>
              <a:rPr sz="1100" spc="-5" dirty="0">
                <a:solidFill>
                  <a:srgbClr val="0000FF"/>
                </a:solidFill>
                <a:latin typeface="Arial"/>
                <a:cs typeface="Arial"/>
              </a:rPr>
              <a:t>balance </a:t>
            </a:r>
            <a:r>
              <a:rPr sz="1100" spc="-10" dirty="0">
                <a:solidFill>
                  <a:srgbClr val="0000FF"/>
                </a:solidFill>
                <a:latin typeface="Arial"/>
                <a:cs typeface="Arial"/>
              </a:rPr>
              <a:t>= </a:t>
            </a:r>
            <a:r>
              <a:rPr sz="1100" spc="-5" dirty="0">
                <a:solidFill>
                  <a:srgbClr val="0000FF"/>
                </a:solidFill>
                <a:latin typeface="Arial"/>
                <a:cs typeface="Arial"/>
              </a:rPr>
              <a:t>balance -</a:t>
            </a:r>
            <a:r>
              <a:rPr sz="1100" spc="-60" dirty="0">
                <a:solidFill>
                  <a:srgbClr val="0000FF"/>
                </a:solidFill>
                <a:latin typeface="Arial"/>
                <a:cs typeface="Arial"/>
              </a:rPr>
              <a:t> </a:t>
            </a:r>
            <a:r>
              <a:rPr sz="1100" spc="-10" dirty="0">
                <a:solidFill>
                  <a:srgbClr val="0000FF"/>
                </a:solidFill>
                <a:latin typeface="Arial"/>
                <a:cs typeface="Arial"/>
              </a:rPr>
              <a:t>100  WHERE </a:t>
            </a:r>
            <a:r>
              <a:rPr sz="1100" spc="-5" dirty="0">
                <a:solidFill>
                  <a:srgbClr val="0000FF"/>
                </a:solidFill>
                <a:latin typeface="Arial"/>
                <a:cs typeface="Arial"/>
              </a:rPr>
              <a:t>acctNo </a:t>
            </a:r>
            <a:r>
              <a:rPr sz="1100" spc="-10" dirty="0">
                <a:solidFill>
                  <a:srgbClr val="0000FF"/>
                </a:solidFill>
                <a:latin typeface="Arial"/>
                <a:cs typeface="Arial"/>
              </a:rPr>
              <a:t>=</a:t>
            </a:r>
            <a:r>
              <a:rPr sz="1100" spc="-20" dirty="0">
                <a:solidFill>
                  <a:srgbClr val="0000FF"/>
                </a:solidFill>
                <a:latin typeface="Arial"/>
                <a:cs typeface="Arial"/>
              </a:rPr>
              <a:t> </a:t>
            </a:r>
            <a:r>
              <a:rPr sz="1100" spc="-5" dirty="0">
                <a:solidFill>
                  <a:srgbClr val="0000FF"/>
                </a:solidFill>
                <a:latin typeface="Arial"/>
                <a:cs typeface="Arial"/>
              </a:rPr>
              <a:t>123;</a:t>
            </a:r>
            <a:endParaRPr sz="1100">
              <a:latin typeface="Arial"/>
              <a:cs typeface="Arial"/>
            </a:endParaRPr>
          </a:p>
          <a:p>
            <a:pPr marL="12700">
              <a:lnSpc>
                <a:spcPct val="100000"/>
              </a:lnSpc>
              <a:spcBef>
                <a:spcPts val="285"/>
              </a:spcBef>
            </a:pPr>
            <a:r>
              <a:rPr sz="1100" spc="-10" dirty="0">
                <a:latin typeface="Arial"/>
                <a:cs typeface="Arial"/>
              </a:rPr>
              <a:t>What </a:t>
            </a:r>
            <a:r>
              <a:rPr sz="1100" spc="-5" dirty="0">
                <a:latin typeface="Arial"/>
                <a:cs typeface="Arial"/>
              </a:rPr>
              <a:t>if there is </a:t>
            </a:r>
            <a:r>
              <a:rPr sz="1100" spc="-10" dirty="0">
                <a:latin typeface="Arial"/>
                <a:cs typeface="Arial"/>
              </a:rPr>
              <a:t>a failure </a:t>
            </a:r>
            <a:r>
              <a:rPr sz="1100" spc="-5" dirty="0">
                <a:latin typeface="Arial"/>
                <a:cs typeface="Arial"/>
              </a:rPr>
              <a:t>after Step</a:t>
            </a:r>
            <a:r>
              <a:rPr sz="1100" dirty="0">
                <a:latin typeface="Arial"/>
                <a:cs typeface="Arial"/>
              </a:rPr>
              <a:t> </a:t>
            </a:r>
            <a:r>
              <a:rPr sz="1100" spc="-5" dirty="0">
                <a:latin typeface="Arial"/>
                <a:cs typeface="Arial"/>
              </a:rPr>
              <a:t>(2)?</a:t>
            </a:r>
            <a:endParaRPr sz="1100">
              <a:latin typeface="Arial"/>
              <a:cs typeface="Arial"/>
            </a:endParaRPr>
          </a:p>
          <a:p>
            <a:pPr marL="12700" marR="5080">
              <a:lnSpc>
                <a:spcPct val="102699"/>
              </a:lnSpc>
            </a:pPr>
            <a:r>
              <a:rPr sz="1100" spc="-25" dirty="0">
                <a:latin typeface="Arial"/>
                <a:cs typeface="Arial"/>
              </a:rPr>
              <a:t>We </a:t>
            </a:r>
            <a:r>
              <a:rPr sz="1100" spc="-10" dirty="0">
                <a:latin typeface="Arial"/>
                <a:cs typeface="Arial"/>
              </a:rPr>
              <a:t>need </a:t>
            </a:r>
            <a:r>
              <a:rPr sz="1100" spc="-5" dirty="0">
                <a:latin typeface="Arial"/>
                <a:cs typeface="Arial"/>
              </a:rPr>
              <a:t>the </a:t>
            </a:r>
            <a:r>
              <a:rPr sz="1100" spc="-10" dirty="0">
                <a:latin typeface="Arial"/>
                <a:cs typeface="Arial"/>
              </a:rPr>
              <a:t>transaction </a:t>
            </a:r>
            <a:r>
              <a:rPr sz="1100" spc="-5" dirty="0">
                <a:latin typeface="Arial"/>
                <a:cs typeface="Arial"/>
              </a:rPr>
              <a:t>to </a:t>
            </a:r>
            <a:r>
              <a:rPr sz="1100" spc="-15" dirty="0">
                <a:latin typeface="Arial"/>
                <a:cs typeface="Arial"/>
              </a:rPr>
              <a:t>execute </a:t>
            </a:r>
            <a:r>
              <a:rPr sz="1100" i="1" spc="-5" dirty="0">
                <a:latin typeface="Arial"/>
                <a:cs typeface="Arial"/>
              </a:rPr>
              <a:t>atomically </a:t>
            </a:r>
            <a:r>
              <a:rPr sz="1100" spc="-10" dirty="0">
                <a:latin typeface="Arial"/>
                <a:cs typeface="Arial"/>
              </a:rPr>
              <a:t>— </a:t>
            </a:r>
            <a:r>
              <a:rPr sz="1100" spc="-5" dirty="0">
                <a:latin typeface="Arial"/>
                <a:cs typeface="Arial"/>
              </a:rPr>
              <a:t>either  all steps are </a:t>
            </a:r>
            <a:r>
              <a:rPr sz="1100" spc="-15" dirty="0">
                <a:latin typeface="Arial"/>
                <a:cs typeface="Arial"/>
              </a:rPr>
              <a:t>executed </a:t>
            </a:r>
            <a:r>
              <a:rPr sz="1100" spc="-5" dirty="0">
                <a:latin typeface="Arial"/>
                <a:cs typeface="Arial"/>
              </a:rPr>
              <a:t>or </a:t>
            </a:r>
            <a:r>
              <a:rPr sz="1100" spc="-10" dirty="0">
                <a:latin typeface="Arial"/>
                <a:cs typeface="Arial"/>
              </a:rPr>
              <a:t>none</a:t>
            </a:r>
            <a:r>
              <a:rPr sz="1100" spc="-5" dirty="0">
                <a:latin typeface="Arial"/>
                <a:cs typeface="Arial"/>
              </a:rPr>
              <a:t> </a:t>
            </a:r>
            <a:r>
              <a:rPr sz="1100" spc="-10" dirty="0">
                <a:latin typeface="Arial"/>
                <a:cs typeface="Arial"/>
              </a:rPr>
              <a:t>are</a:t>
            </a:r>
            <a:r>
              <a:rPr sz="1100" spc="-10" dirty="0">
                <a:latin typeface="Arial"/>
                <a:cs typeface="Arial"/>
                <a:hlinkClick r:id="" action="ppaction://noaction"/>
              </a:rPr>
              <a:t>.</a:t>
            </a:r>
            <a:endParaRPr sz="1100">
              <a:latin typeface="Arial"/>
              <a:cs typeface="Arial"/>
            </a:endParaRPr>
          </a:p>
        </p:txBody>
      </p:sp>
    </p:spTree>
    <p:extLst>
      <p:ext uri="{BB962C8B-B14F-4D97-AF65-F5344CB8AC3E}">
        <p14:creationId xmlns:p14="http://schemas.microsoft.com/office/powerpoint/2010/main" val="1990584807"/>
      </p:ext>
    </p:extLst>
  </p:cSld>
  <p:clrMapOvr>
    <a:masterClrMapping/>
  </p:clrMapOvr>
  <p:transition>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latin typeface="Arial"/>
                <a:cs typeface="Arial"/>
                <a:hlinkClick r:id="rId4" action="ppaction://hlinksldjump"/>
              </a:rPr>
              <a:t>SQL</a:t>
            </a:r>
            <a:r>
              <a:rPr sz="400" spc="-10" dirty="0">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772285" cy="244475"/>
          </a:xfrm>
          <a:prstGeom prst="rect">
            <a:avLst/>
          </a:prstGeom>
        </p:spPr>
        <p:txBody>
          <a:bodyPr vert="horz" wrap="square" lIns="0" tIns="17145" rIns="0" bIns="0" rtlCol="0">
            <a:spAutoFit/>
          </a:bodyPr>
          <a:lstStyle/>
          <a:p>
            <a:pPr marL="12700">
              <a:lnSpc>
                <a:spcPct val="100000"/>
              </a:lnSpc>
              <a:spcBef>
                <a:spcPts val="135"/>
              </a:spcBef>
            </a:pPr>
            <a:r>
              <a:rPr spc="-20" dirty="0"/>
              <a:t>Types </a:t>
            </a:r>
            <a:r>
              <a:rPr spc="10" dirty="0"/>
              <a:t>of</a:t>
            </a:r>
            <a:r>
              <a:rPr spc="-30" dirty="0"/>
              <a:t> </a:t>
            </a:r>
            <a:r>
              <a:rPr dirty="0"/>
              <a:t>Transactions</a:t>
            </a:r>
          </a:p>
        </p:txBody>
      </p:sp>
      <p:sp>
        <p:nvSpPr>
          <p:cNvPr id="24" name="object 24"/>
          <p:cNvSpPr txBox="1"/>
          <p:nvPr/>
        </p:nvSpPr>
        <p:spPr>
          <a:xfrm>
            <a:off x="270992" y="840446"/>
            <a:ext cx="3475354" cy="1892300"/>
          </a:xfrm>
          <a:prstGeom prst="rect">
            <a:avLst/>
          </a:prstGeom>
        </p:spPr>
        <p:txBody>
          <a:bodyPr vert="horz" wrap="square" lIns="0" tIns="6985" rIns="0" bIns="0" rtlCol="0">
            <a:spAutoFit/>
          </a:bodyPr>
          <a:lstStyle/>
          <a:p>
            <a:pPr marL="186055" marR="163830" indent="-148590">
              <a:lnSpc>
                <a:spcPct val="102600"/>
              </a:lnSpc>
              <a:spcBef>
                <a:spcPts val="55"/>
              </a:spcBef>
              <a:buClr>
                <a:srgbClr val="3333B2"/>
              </a:buClr>
              <a:buSzPct val="72727"/>
              <a:buFont typeface="Lucida Sans Unicode"/>
              <a:buChar char="►"/>
              <a:tabLst>
                <a:tab pos="186690" algn="l"/>
              </a:tabLst>
            </a:pPr>
            <a:r>
              <a:rPr sz="1100" spc="-10" dirty="0">
                <a:latin typeface="Arial"/>
                <a:cs typeface="Arial"/>
              </a:rPr>
              <a:t>The transactions </a:t>
            </a:r>
            <a:r>
              <a:rPr sz="1100" spc="-15" dirty="0">
                <a:latin typeface="Arial"/>
                <a:cs typeface="Arial"/>
              </a:rPr>
              <a:t>we </a:t>
            </a:r>
            <a:r>
              <a:rPr sz="1100" spc="-20" dirty="0">
                <a:latin typeface="Arial"/>
                <a:cs typeface="Arial"/>
              </a:rPr>
              <a:t>have </a:t>
            </a:r>
            <a:r>
              <a:rPr sz="1100" spc="-10" dirty="0">
                <a:latin typeface="Arial"/>
                <a:cs typeface="Arial"/>
              </a:rPr>
              <a:t>seen </a:t>
            </a:r>
            <a:r>
              <a:rPr sz="1100" spc="-5" dirty="0">
                <a:latin typeface="Arial"/>
                <a:cs typeface="Arial"/>
              </a:rPr>
              <a:t>both read from </a:t>
            </a:r>
            <a:r>
              <a:rPr sz="1100" spc="-10" dirty="0">
                <a:latin typeface="Arial"/>
                <a:cs typeface="Arial"/>
              </a:rPr>
              <a:t>and  </a:t>
            </a:r>
            <a:r>
              <a:rPr sz="1100" spc="-5" dirty="0">
                <a:latin typeface="Arial"/>
                <a:cs typeface="Arial"/>
              </a:rPr>
              <a:t>write to the</a:t>
            </a:r>
            <a:r>
              <a:rPr sz="1100" spc="-10" dirty="0">
                <a:latin typeface="Arial"/>
                <a:cs typeface="Arial"/>
              </a:rPr>
              <a:t> database.</a:t>
            </a:r>
            <a:endParaRPr sz="1100" dirty="0">
              <a:latin typeface="Arial"/>
              <a:cs typeface="Arial"/>
            </a:endParaRPr>
          </a:p>
          <a:p>
            <a:pPr marL="186055" marR="157480" indent="-148590">
              <a:lnSpc>
                <a:spcPct val="102699"/>
              </a:lnSpc>
              <a:spcBef>
                <a:spcPts val="300"/>
              </a:spcBef>
              <a:buClr>
                <a:srgbClr val="3333B2"/>
              </a:buClr>
              <a:buSzPct val="72727"/>
              <a:buFont typeface="Lucida Sans Unicode"/>
              <a:buChar char="►"/>
              <a:tabLst>
                <a:tab pos="186690" algn="l"/>
              </a:tabLst>
            </a:pPr>
            <a:r>
              <a:rPr sz="1100" spc="-10" dirty="0">
                <a:latin typeface="Arial"/>
                <a:cs typeface="Arial"/>
              </a:rPr>
              <a:t>SQL assumes </a:t>
            </a:r>
            <a:r>
              <a:rPr sz="1100" spc="-5" dirty="0">
                <a:latin typeface="Arial"/>
                <a:cs typeface="Arial"/>
              </a:rPr>
              <a:t>that this is the </a:t>
            </a:r>
            <a:r>
              <a:rPr sz="1100" spc="-10" dirty="0">
                <a:latin typeface="Arial"/>
                <a:cs typeface="Arial"/>
              </a:rPr>
              <a:t>default </a:t>
            </a:r>
            <a:r>
              <a:rPr sz="1100" spc="-5" dirty="0">
                <a:latin typeface="Arial"/>
                <a:cs typeface="Arial"/>
              </a:rPr>
              <a:t>situation: </a:t>
            </a:r>
            <a:r>
              <a:rPr sz="1100" spc="-10" dirty="0">
                <a:solidFill>
                  <a:srgbClr val="0000FF"/>
                </a:solidFill>
                <a:latin typeface="Arial"/>
                <a:cs typeface="Arial"/>
              </a:rPr>
              <a:t>SET  TRANSACTION READ</a:t>
            </a:r>
            <a:r>
              <a:rPr sz="1100" spc="-5" dirty="0">
                <a:solidFill>
                  <a:srgbClr val="0000FF"/>
                </a:solidFill>
                <a:latin typeface="Arial"/>
                <a:cs typeface="Arial"/>
              </a:rPr>
              <a:t> </a:t>
            </a:r>
            <a:r>
              <a:rPr sz="1100" spc="-10" dirty="0">
                <a:solidFill>
                  <a:srgbClr val="0000FF"/>
                </a:solidFill>
                <a:latin typeface="Arial"/>
                <a:cs typeface="Arial"/>
              </a:rPr>
              <a:t>WRITE</a:t>
            </a:r>
            <a:r>
              <a:rPr sz="1100" spc="-10" dirty="0">
                <a:latin typeface="Arial"/>
                <a:cs typeface="Arial"/>
              </a:rPr>
              <a:t>.</a:t>
            </a:r>
            <a:endParaRPr sz="1100" dirty="0">
              <a:latin typeface="Arial"/>
              <a:cs typeface="Arial"/>
            </a:endParaRPr>
          </a:p>
          <a:p>
            <a:pPr marL="186055" marR="240665" indent="-148590">
              <a:lnSpc>
                <a:spcPct val="102600"/>
              </a:lnSpc>
              <a:spcBef>
                <a:spcPts val="300"/>
              </a:spcBef>
              <a:buClr>
                <a:srgbClr val="3333B2"/>
              </a:buClr>
              <a:buSzPct val="72727"/>
              <a:buFont typeface="Lucida Sans Unicode"/>
              <a:buChar char="►"/>
              <a:tabLst>
                <a:tab pos="186690" algn="l"/>
              </a:tabLst>
            </a:pPr>
            <a:r>
              <a:rPr sz="1100" spc="-5" dirty="0">
                <a:latin typeface="Arial"/>
                <a:cs typeface="Arial"/>
              </a:rPr>
              <a:t>But </a:t>
            </a:r>
            <a:r>
              <a:rPr sz="1100" spc="-10" dirty="0">
                <a:latin typeface="Arial"/>
                <a:cs typeface="Arial"/>
              </a:rPr>
              <a:t>transactions </a:t>
            </a:r>
            <a:r>
              <a:rPr sz="1100" spc="-5" dirty="0">
                <a:latin typeface="Arial"/>
                <a:cs typeface="Arial"/>
              </a:rPr>
              <a:t>that only read data cannot cause  permanent </a:t>
            </a:r>
            <a:r>
              <a:rPr sz="1100" dirty="0">
                <a:latin typeface="Arial"/>
                <a:cs typeface="Arial"/>
              </a:rPr>
              <a:t>harm </a:t>
            </a:r>
            <a:r>
              <a:rPr sz="1100" spc="-5" dirty="0">
                <a:latin typeface="Arial"/>
                <a:cs typeface="Arial"/>
              </a:rPr>
              <a:t>to the</a:t>
            </a:r>
            <a:r>
              <a:rPr sz="1100" spc="-15" dirty="0">
                <a:latin typeface="Arial"/>
                <a:cs typeface="Arial"/>
              </a:rPr>
              <a:t> </a:t>
            </a:r>
            <a:r>
              <a:rPr sz="1100" spc="-10" dirty="0">
                <a:latin typeface="Arial"/>
                <a:cs typeface="Arial"/>
              </a:rPr>
              <a:t>database.</a:t>
            </a:r>
            <a:endParaRPr sz="1100" dirty="0">
              <a:latin typeface="Arial"/>
              <a:cs typeface="Arial"/>
            </a:endParaRPr>
          </a:p>
          <a:p>
            <a:pPr marL="186055" marR="274955" indent="-148590">
              <a:lnSpc>
                <a:spcPct val="102600"/>
              </a:lnSpc>
              <a:spcBef>
                <a:spcPts val="295"/>
              </a:spcBef>
              <a:buClr>
                <a:srgbClr val="3333B2"/>
              </a:buClr>
              <a:buSzPct val="72727"/>
              <a:buFont typeface="Lucida Sans Unicode"/>
              <a:buChar char="►"/>
              <a:tabLst>
                <a:tab pos="186690" algn="l"/>
              </a:tabLst>
            </a:pPr>
            <a:r>
              <a:rPr sz="1100" spc="-5" dirty="0">
                <a:latin typeface="Arial"/>
                <a:cs typeface="Arial"/>
              </a:rPr>
              <a:t>This can </a:t>
            </a:r>
            <a:r>
              <a:rPr sz="1100" spc="-10" dirty="0">
                <a:latin typeface="Arial"/>
                <a:cs typeface="Arial"/>
              </a:rPr>
              <a:t>be </a:t>
            </a:r>
            <a:r>
              <a:rPr sz="1100" spc="-5" dirty="0">
                <a:latin typeface="Arial"/>
                <a:cs typeface="Arial"/>
              </a:rPr>
              <a:t>specified using </a:t>
            </a:r>
            <a:r>
              <a:rPr sz="1100" spc="-10" dirty="0">
                <a:solidFill>
                  <a:srgbClr val="0000FF"/>
                </a:solidFill>
                <a:latin typeface="Arial"/>
                <a:cs typeface="Arial"/>
              </a:rPr>
              <a:t>SET</a:t>
            </a:r>
            <a:r>
              <a:rPr sz="1100" spc="-55" dirty="0">
                <a:solidFill>
                  <a:srgbClr val="0000FF"/>
                </a:solidFill>
                <a:latin typeface="Arial"/>
                <a:cs typeface="Arial"/>
              </a:rPr>
              <a:t> </a:t>
            </a:r>
            <a:r>
              <a:rPr sz="1100" spc="-10" dirty="0">
                <a:solidFill>
                  <a:srgbClr val="0000FF"/>
                </a:solidFill>
                <a:latin typeface="Arial"/>
                <a:cs typeface="Arial"/>
              </a:rPr>
              <a:t>TRANSACTION  READ </a:t>
            </a:r>
            <a:r>
              <a:rPr sz="1100" spc="-40" dirty="0">
                <a:solidFill>
                  <a:srgbClr val="0000FF"/>
                </a:solidFill>
                <a:latin typeface="Arial"/>
                <a:cs typeface="Arial"/>
              </a:rPr>
              <a:t>ONLY</a:t>
            </a:r>
            <a:r>
              <a:rPr sz="1100" spc="-40" dirty="0">
                <a:latin typeface="Arial"/>
                <a:cs typeface="Arial"/>
              </a:rPr>
              <a:t>.</a:t>
            </a:r>
            <a:endParaRPr sz="1100" dirty="0">
              <a:latin typeface="Arial"/>
              <a:cs typeface="Arial"/>
            </a:endParaRPr>
          </a:p>
          <a:p>
            <a:pPr marL="186055" marR="30480" indent="-148590">
              <a:lnSpc>
                <a:spcPct val="102600"/>
              </a:lnSpc>
              <a:spcBef>
                <a:spcPts val="300"/>
              </a:spcBef>
              <a:buClr>
                <a:srgbClr val="3333B2"/>
              </a:buClr>
              <a:buSzPct val="72727"/>
              <a:buFont typeface="Lucida Sans Unicode"/>
              <a:buChar char="►"/>
              <a:tabLst>
                <a:tab pos="186690" algn="l"/>
              </a:tabLst>
            </a:pPr>
            <a:r>
              <a:rPr sz="1100" spc="-5" dirty="0">
                <a:latin typeface="Arial"/>
                <a:cs typeface="Arial"/>
              </a:rPr>
              <a:t>Read-only </a:t>
            </a:r>
            <a:r>
              <a:rPr sz="1100" spc="-10" dirty="0">
                <a:latin typeface="Arial"/>
                <a:cs typeface="Arial"/>
              </a:rPr>
              <a:t>transactions </a:t>
            </a:r>
            <a:r>
              <a:rPr sz="1100" spc="-5" dirty="0">
                <a:latin typeface="Arial"/>
                <a:cs typeface="Arial"/>
              </a:rPr>
              <a:t>can </a:t>
            </a:r>
            <a:r>
              <a:rPr sz="1100" spc="-10" dirty="0">
                <a:latin typeface="Arial"/>
                <a:cs typeface="Arial"/>
              </a:rPr>
              <a:t>be </a:t>
            </a:r>
            <a:r>
              <a:rPr sz="1100" spc="-15" dirty="0">
                <a:latin typeface="Arial"/>
                <a:cs typeface="Arial"/>
              </a:rPr>
              <a:t>executed</a:t>
            </a:r>
            <a:r>
              <a:rPr sz="1100" spc="-35" dirty="0">
                <a:latin typeface="Arial"/>
                <a:cs typeface="Arial"/>
              </a:rPr>
              <a:t> </a:t>
            </a:r>
            <a:r>
              <a:rPr sz="1100" spc="-5" dirty="0">
                <a:latin typeface="Arial"/>
                <a:cs typeface="Arial"/>
              </a:rPr>
              <a:t>concurrently  </a:t>
            </a:r>
            <a:r>
              <a:rPr sz="1100" spc="-20" dirty="0">
                <a:latin typeface="Arial"/>
                <a:cs typeface="Arial"/>
              </a:rPr>
              <a:t>by </a:t>
            </a:r>
            <a:r>
              <a:rPr sz="1100" spc="-5" dirty="0">
                <a:latin typeface="Arial"/>
                <a:cs typeface="Arial"/>
              </a:rPr>
              <a:t>the</a:t>
            </a:r>
            <a:r>
              <a:rPr sz="1100" spc="5" dirty="0">
                <a:latin typeface="Arial"/>
                <a:cs typeface="Arial"/>
              </a:rPr>
              <a:t> </a:t>
            </a:r>
            <a:r>
              <a:rPr sz="1100" spc="-5" dirty="0">
                <a:latin typeface="Arial"/>
                <a:cs typeface="Arial"/>
              </a:rPr>
              <a:t>system.</a:t>
            </a:r>
            <a:endParaRPr sz="1100" dirty="0">
              <a:latin typeface="Arial"/>
              <a:cs typeface="Arial"/>
            </a:endParaRPr>
          </a:p>
        </p:txBody>
      </p:sp>
    </p:spTree>
    <p:extLst>
      <p:ext uri="{BB962C8B-B14F-4D97-AF65-F5344CB8AC3E}">
        <p14:creationId xmlns:p14="http://schemas.microsoft.com/office/powerpoint/2010/main" val="3164787091"/>
      </p:ext>
    </p:extLst>
  </p:cSld>
  <p:clrMapOvr>
    <a:masterClrMapping/>
  </p:clrMapOvr>
  <p:transition>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latin typeface="Arial"/>
                <a:cs typeface="Arial"/>
                <a:hlinkClick r:id="rId4" action="ppaction://hlinksldjump"/>
              </a:rPr>
              <a:t>SQL</a:t>
            </a:r>
            <a:r>
              <a:rPr sz="400" spc="-10" dirty="0">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984885" cy="244475"/>
          </a:xfrm>
          <a:prstGeom prst="rect">
            <a:avLst/>
          </a:prstGeom>
        </p:spPr>
        <p:txBody>
          <a:bodyPr vert="horz" wrap="square" lIns="0" tIns="17145" rIns="0" bIns="0" rtlCol="0">
            <a:spAutoFit/>
          </a:bodyPr>
          <a:lstStyle/>
          <a:p>
            <a:pPr marL="12700">
              <a:lnSpc>
                <a:spcPct val="100000"/>
              </a:lnSpc>
              <a:spcBef>
                <a:spcPts val="135"/>
              </a:spcBef>
            </a:pPr>
            <a:r>
              <a:rPr spc="25" dirty="0"/>
              <a:t>Dirty</a:t>
            </a:r>
            <a:r>
              <a:rPr spc="-55" dirty="0"/>
              <a:t> </a:t>
            </a:r>
            <a:r>
              <a:rPr spc="15" dirty="0"/>
              <a:t>Reads</a:t>
            </a:r>
          </a:p>
        </p:txBody>
      </p:sp>
      <p:sp>
        <p:nvSpPr>
          <p:cNvPr id="24" name="object 24"/>
          <p:cNvSpPr txBox="1"/>
          <p:nvPr/>
        </p:nvSpPr>
        <p:spPr>
          <a:xfrm>
            <a:off x="270992" y="920304"/>
            <a:ext cx="3428365" cy="1720214"/>
          </a:xfrm>
          <a:prstGeom prst="rect">
            <a:avLst/>
          </a:prstGeom>
        </p:spPr>
        <p:txBody>
          <a:bodyPr vert="horz" wrap="square" lIns="0" tIns="6985" rIns="0" bIns="0" rtlCol="0">
            <a:spAutoFit/>
          </a:bodyPr>
          <a:lstStyle/>
          <a:p>
            <a:pPr marL="186055" marR="142875" indent="-148590">
              <a:lnSpc>
                <a:spcPct val="102600"/>
              </a:lnSpc>
              <a:spcBef>
                <a:spcPts val="55"/>
              </a:spcBef>
              <a:buClr>
                <a:srgbClr val="3333B2"/>
              </a:buClr>
              <a:buSzPct val="72727"/>
              <a:buFont typeface="Lucida Sans Unicode"/>
              <a:buChar char="►"/>
              <a:tabLst>
                <a:tab pos="186690" algn="l"/>
              </a:tabLst>
            </a:pPr>
            <a:r>
              <a:rPr sz="1100" i="1" dirty="0">
                <a:latin typeface="Arial"/>
                <a:cs typeface="Arial"/>
              </a:rPr>
              <a:t>Dirty </a:t>
            </a:r>
            <a:r>
              <a:rPr sz="1100" i="1" spc="-5" dirty="0">
                <a:latin typeface="Arial"/>
                <a:cs typeface="Arial"/>
              </a:rPr>
              <a:t>data </a:t>
            </a:r>
            <a:r>
              <a:rPr sz="1100" spc="-10" dirty="0">
                <a:latin typeface="Arial"/>
                <a:cs typeface="Arial"/>
              </a:rPr>
              <a:t>means </a:t>
            </a:r>
            <a:r>
              <a:rPr sz="1100" spc="-5" dirty="0">
                <a:latin typeface="Arial"/>
                <a:cs typeface="Arial"/>
              </a:rPr>
              <a:t>data written </a:t>
            </a:r>
            <a:r>
              <a:rPr sz="1100" spc="-20" dirty="0">
                <a:latin typeface="Arial"/>
                <a:cs typeface="Arial"/>
              </a:rPr>
              <a:t>by </a:t>
            </a:r>
            <a:r>
              <a:rPr sz="1100" spc="-10" dirty="0">
                <a:latin typeface="Arial"/>
                <a:cs typeface="Arial"/>
              </a:rPr>
              <a:t>a transaction </a:t>
            </a:r>
            <a:r>
              <a:rPr sz="1100" spc="-5" dirty="0">
                <a:latin typeface="Arial"/>
                <a:cs typeface="Arial"/>
              </a:rPr>
              <a:t>that  has not </a:t>
            </a:r>
            <a:r>
              <a:rPr sz="1100" spc="-15" dirty="0">
                <a:latin typeface="Arial"/>
                <a:cs typeface="Arial"/>
              </a:rPr>
              <a:t>yet </a:t>
            </a:r>
            <a:r>
              <a:rPr sz="1100" spc="-5" dirty="0">
                <a:latin typeface="Arial"/>
                <a:cs typeface="Arial"/>
              </a:rPr>
              <a:t>committed.</a:t>
            </a:r>
            <a:endParaRPr sz="1100" dirty="0">
              <a:latin typeface="Arial"/>
              <a:cs typeface="Arial"/>
            </a:endParaRPr>
          </a:p>
          <a:p>
            <a:pPr marL="186055" marR="30480" indent="-148590">
              <a:lnSpc>
                <a:spcPct val="102699"/>
              </a:lnSpc>
              <a:spcBef>
                <a:spcPts val="300"/>
              </a:spcBef>
              <a:buClr>
                <a:srgbClr val="3333B2"/>
              </a:buClr>
              <a:buSzPct val="72727"/>
              <a:buFont typeface="Lucida Sans Unicode"/>
              <a:buChar char="►"/>
              <a:tabLst>
                <a:tab pos="186690" algn="l"/>
              </a:tabLst>
            </a:pPr>
            <a:r>
              <a:rPr sz="1100" spc="-10" dirty="0">
                <a:latin typeface="Arial"/>
                <a:cs typeface="Arial"/>
              </a:rPr>
              <a:t>A </a:t>
            </a:r>
            <a:r>
              <a:rPr sz="1100" i="1" dirty="0">
                <a:latin typeface="Arial"/>
                <a:cs typeface="Arial"/>
              </a:rPr>
              <a:t>dirty </a:t>
            </a:r>
            <a:r>
              <a:rPr sz="1100" i="1" spc="-5" dirty="0">
                <a:latin typeface="Arial"/>
                <a:cs typeface="Arial"/>
              </a:rPr>
              <a:t>read </a:t>
            </a:r>
            <a:r>
              <a:rPr sz="1100" spc="-5" dirty="0">
                <a:latin typeface="Arial"/>
                <a:cs typeface="Arial"/>
              </a:rPr>
              <a:t>is </a:t>
            </a:r>
            <a:r>
              <a:rPr sz="1100" spc="-10" dirty="0">
                <a:latin typeface="Arial"/>
                <a:cs typeface="Arial"/>
              </a:rPr>
              <a:t>a </a:t>
            </a:r>
            <a:r>
              <a:rPr sz="1100" spc="-5" dirty="0">
                <a:latin typeface="Arial"/>
                <a:cs typeface="Arial"/>
              </a:rPr>
              <a:t>read of </a:t>
            </a:r>
            <a:r>
              <a:rPr sz="1100" dirty="0">
                <a:latin typeface="Arial"/>
                <a:cs typeface="Arial"/>
              </a:rPr>
              <a:t>dirty </a:t>
            </a:r>
            <a:r>
              <a:rPr sz="1100" spc="-5" dirty="0">
                <a:latin typeface="Arial"/>
                <a:cs typeface="Arial"/>
              </a:rPr>
              <a:t>data written </a:t>
            </a:r>
            <a:r>
              <a:rPr sz="1100" spc="-20" dirty="0">
                <a:latin typeface="Arial"/>
                <a:cs typeface="Arial"/>
              </a:rPr>
              <a:t>by </a:t>
            </a:r>
            <a:r>
              <a:rPr sz="1100" spc="-5" dirty="0">
                <a:latin typeface="Arial"/>
                <a:cs typeface="Arial"/>
              </a:rPr>
              <a:t>another  </a:t>
            </a:r>
            <a:r>
              <a:rPr sz="1100" spc="-10" dirty="0">
                <a:latin typeface="Arial"/>
                <a:cs typeface="Arial"/>
              </a:rPr>
              <a:t>transaction.</a:t>
            </a:r>
            <a:endParaRPr sz="1100" dirty="0">
              <a:latin typeface="Arial"/>
              <a:cs typeface="Arial"/>
            </a:endParaRPr>
          </a:p>
          <a:p>
            <a:pPr marL="186055" marR="199390" indent="-148590">
              <a:lnSpc>
                <a:spcPct val="102600"/>
              </a:lnSpc>
              <a:spcBef>
                <a:spcPts val="300"/>
              </a:spcBef>
              <a:buClr>
                <a:srgbClr val="3333B2"/>
              </a:buClr>
              <a:buSzPct val="72727"/>
              <a:buFont typeface="Lucida Sans Unicode"/>
              <a:buChar char="►"/>
              <a:tabLst>
                <a:tab pos="186690" algn="l"/>
              </a:tabLst>
            </a:pPr>
            <a:r>
              <a:rPr sz="1100" spc="-10" dirty="0">
                <a:solidFill>
                  <a:srgbClr val="FF0000"/>
                </a:solidFill>
                <a:latin typeface="Arial"/>
                <a:cs typeface="Arial"/>
              </a:rPr>
              <a:t>The </a:t>
            </a:r>
            <a:r>
              <a:rPr sz="1100" dirty="0">
                <a:solidFill>
                  <a:srgbClr val="FF0000"/>
                </a:solidFill>
                <a:latin typeface="Arial"/>
                <a:cs typeface="Arial"/>
              </a:rPr>
              <a:t>risk </a:t>
            </a:r>
            <a:r>
              <a:rPr sz="1100" spc="-5" dirty="0">
                <a:solidFill>
                  <a:srgbClr val="FF0000"/>
                </a:solidFill>
                <a:latin typeface="Arial"/>
                <a:cs typeface="Arial"/>
              </a:rPr>
              <a:t>is that the </a:t>
            </a:r>
            <a:r>
              <a:rPr sz="1100" spc="-10" dirty="0">
                <a:solidFill>
                  <a:srgbClr val="FF0000"/>
                </a:solidFill>
                <a:latin typeface="Arial"/>
                <a:cs typeface="Arial"/>
              </a:rPr>
              <a:t>transaction </a:t>
            </a:r>
            <a:r>
              <a:rPr sz="1100" spc="-5" dirty="0">
                <a:solidFill>
                  <a:srgbClr val="FF0000"/>
                </a:solidFill>
                <a:latin typeface="Arial"/>
                <a:cs typeface="Arial"/>
              </a:rPr>
              <a:t>that wrote the data  </a:t>
            </a:r>
            <a:r>
              <a:rPr sz="1100" spc="-20" dirty="0">
                <a:solidFill>
                  <a:srgbClr val="FF0000"/>
                </a:solidFill>
                <a:latin typeface="Arial"/>
                <a:cs typeface="Arial"/>
              </a:rPr>
              <a:t>may</a:t>
            </a:r>
            <a:r>
              <a:rPr sz="1100" spc="-10" dirty="0">
                <a:solidFill>
                  <a:srgbClr val="FF0000"/>
                </a:solidFill>
                <a:latin typeface="Arial"/>
                <a:cs typeface="Arial"/>
              </a:rPr>
              <a:t> </a:t>
            </a:r>
            <a:r>
              <a:rPr sz="1100" dirty="0">
                <a:solidFill>
                  <a:srgbClr val="FF0000"/>
                </a:solidFill>
                <a:latin typeface="Arial"/>
                <a:cs typeface="Arial"/>
              </a:rPr>
              <a:t>abort.</a:t>
            </a:r>
          </a:p>
          <a:p>
            <a:pPr marL="186055" indent="-148590">
              <a:lnSpc>
                <a:spcPct val="100000"/>
              </a:lnSpc>
              <a:spcBef>
                <a:spcPts val="330"/>
              </a:spcBef>
              <a:buClr>
                <a:srgbClr val="3333B2"/>
              </a:buClr>
              <a:buSzPct val="72727"/>
              <a:buFont typeface="Lucida Sans Unicode"/>
              <a:buChar char="►"/>
              <a:tabLst>
                <a:tab pos="186690" algn="l"/>
              </a:tabLst>
            </a:pPr>
            <a:r>
              <a:rPr sz="1100" spc="-5" dirty="0">
                <a:latin typeface="Arial"/>
                <a:cs typeface="Arial"/>
              </a:rPr>
              <a:t>This results in non-serializable</a:t>
            </a:r>
            <a:r>
              <a:rPr sz="1100" spc="-15" dirty="0">
                <a:latin typeface="Arial"/>
                <a:cs typeface="Arial"/>
              </a:rPr>
              <a:t> behaviour.</a:t>
            </a:r>
            <a:endParaRPr sz="1100" dirty="0">
              <a:latin typeface="Arial"/>
              <a:cs typeface="Arial"/>
            </a:endParaRPr>
          </a:p>
          <a:p>
            <a:pPr marL="186055" marR="215900" indent="-148590">
              <a:lnSpc>
                <a:spcPct val="102600"/>
              </a:lnSpc>
              <a:spcBef>
                <a:spcPts val="300"/>
              </a:spcBef>
              <a:buClr>
                <a:srgbClr val="3333B2"/>
              </a:buClr>
              <a:buSzPct val="72727"/>
              <a:buFont typeface="Lucida Sans Unicode"/>
              <a:buChar char="►"/>
              <a:tabLst>
                <a:tab pos="186690" algn="l"/>
              </a:tabLst>
            </a:pPr>
            <a:r>
              <a:rPr sz="1100" spc="-5" dirty="0">
                <a:latin typeface="Arial"/>
                <a:cs typeface="Arial"/>
              </a:rPr>
              <a:t>This </a:t>
            </a:r>
            <a:r>
              <a:rPr sz="1100" spc="-20" dirty="0">
                <a:latin typeface="Arial"/>
                <a:cs typeface="Arial"/>
              </a:rPr>
              <a:t>may </a:t>
            </a:r>
            <a:r>
              <a:rPr sz="1100" spc="-5" dirty="0">
                <a:latin typeface="Arial"/>
                <a:cs typeface="Arial"/>
              </a:rPr>
              <a:t>or </a:t>
            </a:r>
            <a:r>
              <a:rPr sz="1100" spc="-20" dirty="0">
                <a:latin typeface="Arial"/>
                <a:cs typeface="Arial"/>
              </a:rPr>
              <a:t>may </a:t>
            </a:r>
            <a:r>
              <a:rPr sz="1100" spc="-5" dirty="0">
                <a:latin typeface="Arial"/>
                <a:cs typeface="Arial"/>
              </a:rPr>
              <a:t>not </a:t>
            </a:r>
            <a:r>
              <a:rPr sz="1100" spc="-10" dirty="0">
                <a:latin typeface="Arial"/>
                <a:cs typeface="Arial"/>
              </a:rPr>
              <a:t>be a problem </a:t>
            </a:r>
            <a:r>
              <a:rPr sz="1100" spc="-20" dirty="0">
                <a:latin typeface="Arial"/>
                <a:cs typeface="Arial"/>
              </a:rPr>
              <a:t>for </a:t>
            </a:r>
            <a:r>
              <a:rPr sz="1100" spc="-5" dirty="0">
                <a:latin typeface="Arial"/>
                <a:cs typeface="Arial"/>
              </a:rPr>
              <a:t>the reading  </a:t>
            </a:r>
            <a:r>
              <a:rPr sz="1100" spc="-10" dirty="0">
                <a:latin typeface="Arial"/>
                <a:cs typeface="Arial"/>
              </a:rPr>
              <a:t>transaction.</a:t>
            </a:r>
            <a:endParaRPr sz="1100" dirty="0">
              <a:latin typeface="Arial"/>
              <a:cs typeface="Arial"/>
            </a:endParaRPr>
          </a:p>
        </p:txBody>
      </p:sp>
    </p:spTree>
    <p:extLst>
      <p:ext uri="{BB962C8B-B14F-4D97-AF65-F5344CB8AC3E}">
        <p14:creationId xmlns:p14="http://schemas.microsoft.com/office/powerpoint/2010/main" val="2747579013"/>
      </p:ext>
    </p:extLst>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371475"/>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a:latin typeface="Arial"/>
              <a:cs typeface="Arial"/>
            </a:endParaRPr>
          </a:p>
          <a:p>
            <a:pPr marL="46990">
              <a:lnSpc>
                <a:spcPct val="100000"/>
              </a:lnSpc>
              <a:spcBef>
                <a:spcPts val="565"/>
              </a:spcBef>
            </a:pPr>
            <a:r>
              <a:rPr sz="600" spc="-10" dirty="0">
                <a:latin typeface="Arial"/>
                <a:cs typeface="Arial"/>
              </a:rPr>
              <a:t>Peter</a:t>
            </a:r>
            <a:r>
              <a:rPr sz="600" spc="-30" dirty="0">
                <a:latin typeface="Arial"/>
                <a:cs typeface="Arial"/>
              </a:rPr>
              <a:t> </a:t>
            </a:r>
            <a:r>
              <a:rPr sz="600" spc="-10" dirty="0">
                <a:latin typeface="Arial"/>
                <a:cs typeface="Arial"/>
              </a:rPr>
              <a:t>Wood</a:t>
            </a:r>
            <a:endParaRPr sz="600">
              <a:latin typeface="Arial"/>
              <a:cs typeface="Arial"/>
            </a:endParaRPr>
          </a:p>
        </p:txBody>
      </p:sp>
      <p:sp>
        <p:nvSpPr>
          <p:cNvPr id="3" name="object 3"/>
          <p:cNvSpPr txBox="1"/>
          <p:nvPr/>
        </p:nvSpPr>
        <p:spPr>
          <a:xfrm>
            <a:off x="3913263" y="517758"/>
            <a:ext cx="602615" cy="417195"/>
          </a:xfrm>
          <a:prstGeom prst="rect">
            <a:avLst/>
          </a:prstGeom>
        </p:spPr>
        <p:txBody>
          <a:bodyPr vert="horz" wrap="square" lIns="0" tIns="52069" rIns="0" bIns="0" rtlCol="0">
            <a:spAutoFit/>
          </a:bodyPr>
          <a:lstStyle/>
          <a:p>
            <a:pPr marL="12700">
              <a:lnSpc>
                <a:spcPct val="100000"/>
              </a:lnSpc>
              <a:spcBef>
                <a:spcPts val="409"/>
              </a:spcBef>
            </a:pPr>
            <a:r>
              <a:rPr sz="600" spc="-5" dirty="0">
                <a:solidFill>
                  <a:srgbClr val="ADADE0"/>
                </a:solidFill>
                <a:latin typeface="Arial"/>
                <a:cs typeface="Arial"/>
                <a:hlinkClick r:id="rId2" action="ppaction://hlinksldjump"/>
              </a:rPr>
              <a:t>SQL</a:t>
            </a:r>
            <a:r>
              <a:rPr sz="600" spc="-15" dirty="0">
                <a:solidFill>
                  <a:srgbClr val="ADADE0"/>
                </a:solidFill>
                <a:latin typeface="Arial"/>
                <a:cs typeface="Arial"/>
                <a:hlinkClick r:id="rId2" action="ppaction://hlinksldjump"/>
              </a:rPr>
              <a:t> </a:t>
            </a:r>
            <a:r>
              <a:rPr sz="600" spc="-5" dirty="0">
                <a:solidFill>
                  <a:srgbClr val="ADADE0"/>
                </a:solidFill>
                <a:latin typeface="Arial"/>
                <a:cs typeface="Arial"/>
                <a:hlinkClick r:id="rId2" action="ppaction://hlinksldjump"/>
              </a:rPr>
              <a:t>Updates</a:t>
            </a:r>
            <a:endParaRPr sz="600">
              <a:latin typeface="Arial"/>
              <a:cs typeface="Arial"/>
            </a:endParaRPr>
          </a:p>
          <a:p>
            <a:pPr marL="37465" marR="5080">
              <a:lnSpc>
                <a:spcPct val="142400"/>
              </a:lnSpc>
            </a:pPr>
            <a:r>
              <a:rPr sz="400" spc="-5" dirty="0">
                <a:solidFill>
                  <a:srgbClr val="999999"/>
                </a:solidFill>
                <a:latin typeface="Arial"/>
                <a:cs typeface="Arial"/>
                <a:hlinkClick r:id="rId2" action="ppaction://hlinksldjump"/>
              </a:rPr>
              <a:t>SQL Update</a:t>
            </a:r>
            <a:r>
              <a:rPr sz="400" spc="-35" dirty="0">
                <a:solidFill>
                  <a:srgbClr val="999999"/>
                </a:solidFill>
                <a:latin typeface="Arial"/>
                <a:cs typeface="Arial"/>
                <a:hlinkClick r:id="rId2" action="ppaction://hlinksldjump"/>
              </a:rPr>
              <a:t> </a:t>
            </a:r>
            <a:r>
              <a:rPr sz="400" spc="-5" dirty="0">
                <a:solidFill>
                  <a:srgbClr val="999999"/>
                </a:solidFill>
                <a:latin typeface="Arial"/>
                <a:cs typeface="Arial"/>
                <a:hlinkClick r:id="rId2" action="ppaction://hlinksldjump"/>
              </a:rPr>
              <a:t>Commands </a:t>
            </a:r>
            <a:r>
              <a:rPr sz="400" spc="-5" dirty="0">
                <a:solidFill>
                  <a:srgbClr val="999999"/>
                </a:solidFill>
                <a:latin typeface="Arial"/>
                <a:cs typeface="Arial"/>
              </a:rPr>
              <a:t> </a:t>
            </a:r>
            <a:r>
              <a:rPr sz="400" spc="-5" dirty="0">
                <a:solidFill>
                  <a:srgbClr val="999999"/>
                </a:solidFill>
                <a:latin typeface="Arial"/>
                <a:cs typeface="Arial"/>
                <a:hlinkClick r:id="rId3" action="ppaction://hlinksldjump"/>
              </a:rPr>
              <a:t>SQL</a:t>
            </a:r>
            <a:r>
              <a:rPr sz="400" spc="-10" dirty="0">
                <a:solidFill>
                  <a:srgbClr val="999999"/>
                </a:solidFill>
                <a:latin typeface="Arial"/>
                <a:cs typeface="Arial"/>
                <a:hlinkClick r:id="rId3" action="ppaction://hlinksldjump"/>
              </a:rPr>
              <a:t> </a:t>
            </a:r>
            <a:r>
              <a:rPr sz="400" spc="-5" dirty="0">
                <a:solidFill>
                  <a:srgbClr val="999999"/>
                </a:solidFill>
                <a:latin typeface="Arial"/>
                <a:cs typeface="Arial"/>
                <a:hlinkClick r:id="rId3" action="ppaction://hlinksldjump"/>
              </a:rPr>
              <a:t>Views</a:t>
            </a:r>
            <a:endParaRPr sz="400">
              <a:latin typeface="Arial"/>
              <a:cs typeface="Arial"/>
            </a:endParaRPr>
          </a:p>
          <a:p>
            <a:pPr marL="37465">
              <a:lnSpc>
                <a:spcPct val="100000"/>
              </a:lnSpc>
              <a:spcBef>
                <a:spcPts val="204"/>
              </a:spcBef>
            </a:pPr>
            <a:r>
              <a:rPr sz="400" spc="-5" dirty="0">
                <a:latin typeface="Arial"/>
                <a:cs typeface="Arial"/>
                <a:hlinkClick r:id="rId4" action="ppaction://hlinksldjump"/>
              </a:rPr>
              <a:t>SQL</a:t>
            </a:r>
            <a:r>
              <a:rPr sz="400" spc="-10" dirty="0">
                <a:latin typeface="Arial"/>
                <a:cs typeface="Arial"/>
                <a:hlinkClick r:id="rId4" action="ppaction://hlinksldjump"/>
              </a:rPr>
              <a:t> Transactions</a:t>
            </a:r>
            <a:endParaRPr sz="4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271270" cy="244475"/>
          </a:xfrm>
          <a:prstGeom prst="rect">
            <a:avLst/>
          </a:prstGeom>
        </p:spPr>
        <p:txBody>
          <a:bodyPr vert="horz" wrap="square" lIns="0" tIns="17145" rIns="0" bIns="0" rtlCol="0">
            <a:spAutoFit/>
          </a:bodyPr>
          <a:lstStyle/>
          <a:p>
            <a:pPr marL="12700">
              <a:lnSpc>
                <a:spcPct val="100000"/>
              </a:lnSpc>
              <a:spcBef>
                <a:spcPts val="135"/>
              </a:spcBef>
            </a:pPr>
            <a:r>
              <a:rPr spc="10" dirty="0"/>
              <a:t>Isolation</a:t>
            </a:r>
            <a:r>
              <a:rPr spc="-35" dirty="0"/>
              <a:t> </a:t>
            </a:r>
            <a:r>
              <a:rPr dirty="0"/>
              <a:t>Levels</a:t>
            </a:r>
          </a:p>
        </p:txBody>
      </p:sp>
      <p:sp>
        <p:nvSpPr>
          <p:cNvPr id="24" name="object 24"/>
          <p:cNvSpPr txBox="1"/>
          <p:nvPr/>
        </p:nvSpPr>
        <p:spPr>
          <a:xfrm>
            <a:off x="123838" y="358036"/>
            <a:ext cx="3595370" cy="2983830"/>
          </a:xfrm>
          <a:prstGeom prst="rect">
            <a:avLst/>
          </a:prstGeom>
        </p:spPr>
        <p:txBody>
          <a:bodyPr vert="horz" wrap="square" lIns="0" tIns="6985" rIns="0" bIns="0" rtlCol="0">
            <a:spAutoFit/>
          </a:bodyPr>
          <a:lstStyle/>
          <a:p>
            <a:pPr marL="38100" marR="614680">
              <a:lnSpc>
                <a:spcPct val="102600"/>
              </a:lnSpc>
              <a:spcBef>
                <a:spcPts val="55"/>
              </a:spcBef>
            </a:pPr>
            <a:r>
              <a:rPr sz="1100" spc="-10" dirty="0">
                <a:latin typeface="Arial"/>
                <a:cs typeface="Arial"/>
              </a:rPr>
              <a:t>SQL provides various </a:t>
            </a:r>
            <a:r>
              <a:rPr sz="1100" i="1" spc="-5" dirty="0">
                <a:latin typeface="Arial"/>
                <a:cs typeface="Arial"/>
              </a:rPr>
              <a:t>isolation </a:t>
            </a:r>
            <a:r>
              <a:rPr sz="1100" i="1" spc="-15" dirty="0">
                <a:latin typeface="Arial"/>
                <a:cs typeface="Arial"/>
              </a:rPr>
              <a:t>levels </a:t>
            </a:r>
            <a:r>
              <a:rPr sz="1100" spc="-5" dirty="0">
                <a:latin typeface="Arial"/>
                <a:cs typeface="Arial"/>
              </a:rPr>
              <a:t>using </a:t>
            </a:r>
            <a:r>
              <a:rPr sz="1100" spc="-10" dirty="0">
                <a:solidFill>
                  <a:srgbClr val="0000FF"/>
                </a:solidFill>
                <a:latin typeface="Arial"/>
                <a:cs typeface="Arial"/>
              </a:rPr>
              <a:t>SET  TRANSACTION </a:t>
            </a:r>
            <a:r>
              <a:rPr sz="1100" spc="-25" dirty="0">
                <a:solidFill>
                  <a:srgbClr val="0000FF"/>
                </a:solidFill>
                <a:latin typeface="Arial"/>
                <a:cs typeface="Arial"/>
              </a:rPr>
              <a:t>ISOLATION </a:t>
            </a:r>
            <a:r>
              <a:rPr sz="1100" spc="-10" dirty="0">
                <a:solidFill>
                  <a:srgbClr val="0000FF"/>
                </a:solidFill>
                <a:latin typeface="Arial"/>
                <a:cs typeface="Arial"/>
              </a:rPr>
              <a:t>LEVEL </a:t>
            </a:r>
            <a:r>
              <a:rPr sz="1100" spc="-5" dirty="0">
                <a:solidFill>
                  <a:srgbClr val="0000FF"/>
                </a:solidFill>
                <a:latin typeface="Arial"/>
                <a:cs typeface="Arial"/>
              </a:rPr>
              <a:t>. .</a:t>
            </a:r>
            <a:r>
              <a:rPr sz="1100" spc="-220" dirty="0">
                <a:solidFill>
                  <a:srgbClr val="0000FF"/>
                </a:solidFill>
                <a:latin typeface="Arial"/>
                <a:cs typeface="Arial"/>
              </a:rPr>
              <a:t> </a:t>
            </a:r>
            <a:r>
              <a:rPr sz="1100" spc="-5" dirty="0">
                <a:solidFill>
                  <a:srgbClr val="0000FF"/>
                </a:solidFill>
                <a:latin typeface="Arial"/>
                <a:cs typeface="Arial"/>
              </a:rPr>
              <a:t>.</a:t>
            </a:r>
            <a:endParaRPr sz="1100" dirty="0">
              <a:latin typeface="Arial"/>
              <a:cs typeface="Arial"/>
            </a:endParaRPr>
          </a:p>
          <a:p>
            <a:pPr marL="314960" indent="-148590">
              <a:lnSpc>
                <a:spcPct val="100000"/>
              </a:lnSpc>
              <a:spcBef>
                <a:spcPts val="635"/>
              </a:spcBef>
              <a:buClr>
                <a:srgbClr val="3333B2"/>
              </a:buClr>
              <a:buSzPct val="72727"/>
              <a:buFont typeface="Lucida Sans Unicode"/>
              <a:buChar char="►"/>
              <a:tabLst>
                <a:tab pos="315595" algn="l"/>
              </a:tabLst>
            </a:pPr>
            <a:r>
              <a:rPr sz="1100" spc="-10" dirty="0">
                <a:solidFill>
                  <a:srgbClr val="0000FF"/>
                </a:solidFill>
                <a:latin typeface="Arial"/>
                <a:cs typeface="Arial"/>
              </a:rPr>
              <a:t>READ UNCOMMITTED</a:t>
            </a:r>
            <a:r>
              <a:rPr sz="1100" spc="-10" dirty="0">
                <a:latin typeface="Arial"/>
                <a:cs typeface="Arial"/>
              </a:rPr>
              <a:t>: allowed </a:t>
            </a:r>
            <a:r>
              <a:rPr sz="1100" spc="-5" dirty="0">
                <a:latin typeface="Arial"/>
                <a:cs typeface="Arial"/>
              </a:rPr>
              <a:t>to read </a:t>
            </a:r>
            <a:r>
              <a:rPr sz="1100" dirty="0">
                <a:latin typeface="Arial"/>
                <a:cs typeface="Arial"/>
              </a:rPr>
              <a:t>dirty</a:t>
            </a:r>
            <a:r>
              <a:rPr sz="1100" spc="5" dirty="0">
                <a:latin typeface="Arial"/>
                <a:cs typeface="Arial"/>
              </a:rPr>
              <a:t> </a:t>
            </a:r>
            <a:r>
              <a:rPr sz="1100" spc="-5" dirty="0">
                <a:latin typeface="Arial"/>
                <a:cs typeface="Arial"/>
              </a:rPr>
              <a:t>data.</a:t>
            </a:r>
            <a:endParaRPr sz="1100" dirty="0">
              <a:latin typeface="Arial"/>
              <a:cs typeface="Arial"/>
            </a:endParaRPr>
          </a:p>
          <a:p>
            <a:pPr marL="314960" marR="30480" indent="-148590">
              <a:lnSpc>
                <a:spcPct val="102600"/>
              </a:lnSpc>
              <a:spcBef>
                <a:spcPts val="295"/>
              </a:spcBef>
              <a:buClr>
                <a:srgbClr val="3333B2"/>
              </a:buClr>
              <a:buSzPct val="72727"/>
              <a:buFont typeface="Lucida Sans Unicode"/>
              <a:buChar char="►"/>
              <a:tabLst>
                <a:tab pos="315595" algn="l"/>
              </a:tabLst>
            </a:pPr>
            <a:r>
              <a:rPr sz="1100" spc="-10" dirty="0">
                <a:solidFill>
                  <a:srgbClr val="0000FF"/>
                </a:solidFill>
                <a:latin typeface="Arial"/>
                <a:cs typeface="Arial"/>
              </a:rPr>
              <a:t>READ COMMITTED</a:t>
            </a:r>
            <a:r>
              <a:rPr sz="1100" spc="-10" dirty="0">
                <a:latin typeface="Arial"/>
                <a:cs typeface="Arial"/>
              </a:rPr>
              <a:t>: </a:t>
            </a:r>
            <a:r>
              <a:rPr sz="1100" spc="-5" dirty="0">
                <a:latin typeface="Arial"/>
                <a:cs typeface="Arial"/>
              </a:rPr>
              <a:t>not </a:t>
            </a:r>
            <a:r>
              <a:rPr sz="1100" spc="-10" dirty="0">
                <a:latin typeface="Arial"/>
                <a:cs typeface="Arial"/>
              </a:rPr>
              <a:t>allowed </a:t>
            </a:r>
            <a:r>
              <a:rPr sz="1100" spc="-5" dirty="0">
                <a:latin typeface="Arial"/>
                <a:cs typeface="Arial"/>
              </a:rPr>
              <a:t>to read </a:t>
            </a:r>
            <a:r>
              <a:rPr sz="1100" dirty="0">
                <a:latin typeface="Arial"/>
                <a:cs typeface="Arial"/>
              </a:rPr>
              <a:t>dirty </a:t>
            </a:r>
            <a:r>
              <a:rPr sz="1100" spc="-5" dirty="0">
                <a:latin typeface="Arial"/>
                <a:cs typeface="Arial"/>
              </a:rPr>
              <a:t>data  </a:t>
            </a:r>
            <a:r>
              <a:rPr lang="en-US" sz="1100" spc="-15" dirty="0">
                <a:latin typeface="Arial"/>
                <a:cs typeface="Arial"/>
              </a:rPr>
              <a:t>(but </a:t>
            </a:r>
            <a:r>
              <a:rPr lang="en-US" sz="1100" spc="-5" dirty="0">
                <a:latin typeface="Arial"/>
                <a:cs typeface="Arial"/>
              </a:rPr>
              <a:t>can still issue the </a:t>
            </a:r>
            <a:r>
              <a:rPr lang="en-US" sz="1100" spc="-10" dirty="0">
                <a:latin typeface="Arial"/>
                <a:cs typeface="Arial"/>
              </a:rPr>
              <a:t>same </a:t>
            </a:r>
            <a:r>
              <a:rPr lang="en-US" sz="1100" dirty="0">
                <a:latin typeface="Arial"/>
                <a:cs typeface="Arial"/>
              </a:rPr>
              <a:t>query </a:t>
            </a:r>
            <a:r>
              <a:rPr lang="en-US" sz="1100" spc="-10" dirty="0">
                <a:latin typeface="Arial"/>
                <a:cs typeface="Arial"/>
              </a:rPr>
              <a:t>a number </a:t>
            </a:r>
            <a:r>
              <a:rPr lang="en-US" sz="1100" spc="-5" dirty="0">
                <a:latin typeface="Arial"/>
                <a:cs typeface="Arial"/>
              </a:rPr>
              <a:t>of times  </a:t>
            </a:r>
            <a:r>
              <a:rPr lang="en-US" sz="1100" spc="-10" dirty="0">
                <a:latin typeface="Arial"/>
                <a:cs typeface="Arial"/>
              </a:rPr>
              <a:t>and </a:t>
            </a:r>
            <a:r>
              <a:rPr lang="en-US" sz="1100" spc="-5" dirty="0">
                <a:latin typeface="Arial"/>
                <a:cs typeface="Arial"/>
              </a:rPr>
              <a:t>get </a:t>
            </a:r>
            <a:r>
              <a:rPr lang="en-US" sz="1100" spc="-10" dirty="0">
                <a:latin typeface="Arial"/>
                <a:cs typeface="Arial"/>
              </a:rPr>
              <a:t>different</a:t>
            </a:r>
            <a:r>
              <a:rPr lang="en-US" sz="1100" spc="-5" dirty="0">
                <a:latin typeface="Arial"/>
                <a:cs typeface="Arial"/>
              </a:rPr>
              <a:t> </a:t>
            </a:r>
            <a:r>
              <a:rPr lang="en-US" sz="1100" spc="-10" dirty="0">
                <a:latin typeface="Arial"/>
                <a:cs typeface="Arial"/>
              </a:rPr>
              <a:t>answers).</a:t>
            </a:r>
            <a:endParaRPr lang="en-US" sz="1100" dirty="0">
              <a:latin typeface="Arial"/>
              <a:cs typeface="Arial"/>
            </a:endParaRPr>
          </a:p>
          <a:p>
            <a:pPr marL="314960" marR="112395" indent="-148590">
              <a:lnSpc>
                <a:spcPct val="102600"/>
              </a:lnSpc>
              <a:spcBef>
                <a:spcPts val="300"/>
              </a:spcBef>
              <a:buClr>
                <a:srgbClr val="3333B2"/>
              </a:buClr>
              <a:buSzPct val="72727"/>
              <a:buFont typeface="Lucida Sans Unicode"/>
              <a:buChar char="►"/>
              <a:tabLst>
                <a:tab pos="315595" algn="l"/>
              </a:tabLst>
            </a:pPr>
            <a:r>
              <a:rPr lang="en-US" sz="1100" spc="-35" dirty="0">
                <a:solidFill>
                  <a:srgbClr val="0000FF"/>
                </a:solidFill>
                <a:latin typeface="Arial"/>
                <a:cs typeface="Arial"/>
              </a:rPr>
              <a:t>REPEATABLE </a:t>
            </a:r>
            <a:r>
              <a:rPr lang="en-US" sz="1100" spc="-10" dirty="0">
                <a:solidFill>
                  <a:srgbClr val="0000FF"/>
                </a:solidFill>
                <a:latin typeface="Arial"/>
                <a:cs typeface="Arial"/>
              </a:rPr>
              <a:t>READ</a:t>
            </a:r>
            <a:r>
              <a:rPr lang="en-US" sz="1100" spc="-10" dirty="0">
                <a:latin typeface="Arial"/>
                <a:cs typeface="Arial"/>
              </a:rPr>
              <a:t>: </a:t>
            </a:r>
            <a:r>
              <a:rPr lang="en-US" sz="1100" spc="-5" dirty="0">
                <a:latin typeface="Arial"/>
                <a:cs typeface="Arial"/>
              </a:rPr>
              <a:t>The Repeatable Read isolation level only sees data committed before the transaction began; it never sees either uncommitted data or changes committed by concurrent transactions during the transaction's execution. However, each query does see the effects of previous updates executed within its own transaction, even though they are not yet committed.</a:t>
            </a:r>
          </a:p>
          <a:p>
            <a:pPr marL="314960" marR="112395" indent="-148590">
              <a:lnSpc>
                <a:spcPct val="102600"/>
              </a:lnSpc>
              <a:spcBef>
                <a:spcPts val="300"/>
              </a:spcBef>
              <a:buClr>
                <a:srgbClr val="3333B2"/>
              </a:buClr>
              <a:buSzPct val="72727"/>
              <a:buFont typeface="Lucida Sans Unicode"/>
              <a:buChar char="►"/>
              <a:tabLst>
                <a:tab pos="315595" algn="l"/>
              </a:tabLst>
            </a:pPr>
            <a:r>
              <a:rPr sz="1100" spc="-10" dirty="0">
                <a:solidFill>
                  <a:srgbClr val="0000FF"/>
                </a:solidFill>
                <a:latin typeface="Arial"/>
                <a:cs typeface="Arial"/>
              </a:rPr>
              <a:t>SERIALIZABLE</a:t>
            </a:r>
            <a:r>
              <a:rPr sz="1100" spc="-10" dirty="0">
                <a:latin typeface="Arial"/>
                <a:cs typeface="Arial"/>
              </a:rPr>
              <a:t>: </a:t>
            </a:r>
            <a:r>
              <a:rPr sz="1100" spc="-5" dirty="0">
                <a:latin typeface="Arial"/>
                <a:cs typeface="Arial"/>
              </a:rPr>
              <a:t>the </a:t>
            </a:r>
            <a:r>
              <a:rPr sz="1100" spc="-10" dirty="0">
                <a:latin typeface="Arial"/>
                <a:cs typeface="Arial"/>
              </a:rPr>
              <a:t>default </a:t>
            </a:r>
            <a:r>
              <a:rPr sz="1100" spc="-5" dirty="0">
                <a:latin typeface="Arial"/>
                <a:cs typeface="Arial"/>
              </a:rPr>
              <a:t>(and</a:t>
            </a:r>
            <a:r>
              <a:rPr sz="1100" dirty="0">
                <a:latin typeface="Arial"/>
                <a:cs typeface="Arial"/>
              </a:rPr>
              <a:t> </a:t>
            </a:r>
            <a:r>
              <a:rPr sz="1100" spc="-5" dirty="0">
                <a:latin typeface="Arial"/>
                <a:cs typeface="Arial"/>
              </a:rPr>
              <a:t>strongest).</a:t>
            </a:r>
            <a:endParaRPr sz="1100" dirty="0">
              <a:latin typeface="Arial"/>
              <a:cs typeface="Arial"/>
            </a:endParaRPr>
          </a:p>
        </p:txBody>
      </p:sp>
    </p:spTree>
    <p:extLst>
      <p:ext uri="{BB962C8B-B14F-4D97-AF65-F5344CB8AC3E}">
        <p14:creationId xmlns:p14="http://schemas.microsoft.com/office/powerpoint/2010/main" val="746390487"/>
      </p:ext>
    </p:extLst>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1635</TotalTime>
  <Words>4874</Words>
  <Application>Microsoft Office PowerPoint</Application>
  <PresentationFormat>Custom</PresentationFormat>
  <Paragraphs>1288</Paragraphs>
  <Slides>60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vt:lpstr>
      <vt:lpstr>Arial Black</vt:lpstr>
      <vt:lpstr>Calibri</vt:lpstr>
      <vt:lpstr>Courier New</vt:lpstr>
      <vt:lpstr>Lucida Sans Unicode</vt:lpstr>
      <vt:lpstr>Times New Roman</vt:lpstr>
      <vt:lpstr>Verdana</vt:lpstr>
      <vt:lpstr>Office Theme</vt:lpstr>
      <vt:lpstr>PowerPoint Presentation</vt:lpstr>
      <vt:lpstr>SQL</vt:lpstr>
      <vt:lpstr>Example Database</vt:lpstr>
      <vt:lpstr>Running Example Tables</vt:lpstr>
      <vt:lpstr>Creating Relation Schemas</vt:lpstr>
      <vt:lpstr>Creating Relation Schemas</vt:lpstr>
      <vt:lpstr>Some Integrity Constraints</vt:lpstr>
      <vt:lpstr>Inserting Data in a Relation</vt:lpstr>
      <vt:lpstr>Changing a Relation Schema</vt:lpstr>
      <vt:lpstr>SQL: Select-From-Where</vt:lpstr>
      <vt:lpstr>Retrieving an entire table</vt:lpstr>
      <vt:lpstr>Projection</vt:lpstr>
      <vt:lpstr>Projection</vt:lpstr>
      <vt:lpstr>Projection</vt:lpstr>
      <vt:lpstr>Projection</vt:lpstr>
      <vt:lpstr>Selection</vt:lpstr>
      <vt:lpstr>Selection</vt:lpstr>
      <vt:lpstr>Selection Condition</vt:lpstr>
      <vt:lpstr>Further reading: PDF (sql_tutorial.pdf)  and practice: </vt:lpstr>
      <vt:lpstr>Retrieving data from multiple tables</vt:lpstr>
      <vt:lpstr>Joining two tables</vt:lpstr>
      <vt:lpstr>Naively computing the join (1)</vt:lpstr>
      <vt:lpstr>Another join of two tables</vt:lpstr>
      <vt:lpstr>Joining more than two tables</vt:lpstr>
      <vt:lpstr>Further readings: join (SQL_Joins.pdf)</vt:lpstr>
      <vt:lpstr>SQL Subqueries</vt:lpstr>
      <vt:lpstr>Union of two tables</vt:lpstr>
      <vt:lpstr>Intersection of two tables</vt:lpstr>
      <vt:lpstr>Using ALL</vt:lpstr>
      <vt:lpstr>Using IN</vt:lpstr>
      <vt:lpstr>Correlated subqueries</vt:lpstr>
      <vt:lpstr>Example of correlated subquery</vt:lpstr>
      <vt:lpstr>Aggregation Operators</vt:lpstr>
      <vt:lpstr>Finding the minimum value</vt:lpstr>
      <vt:lpstr>Counting tuples</vt:lpstr>
      <vt:lpstr>Grouping</vt:lpstr>
      <vt:lpstr>Grouping example</vt:lpstr>
      <vt:lpstr>Selecting Groups</vt:lpstr>
      <vt:lpstr>Ordering the output</vt:lpstr>
      <vt:lpstr>Other Comparison Operators</vt:lpstr>
      <vt:lpstr>String Pattern Matching with LIKE</vt:lpstr>
      <vt:lpstr>SQL Update Commands</vt:lpstr>
      <vt:lpstr>Updates and Constraints</vt:lpstr>
      <vt:lpstr>Foreign Key Constraints</vt:lpstr>
      <vt:lpstr>Other Constraints</vt:lpstr>
      <vt:lpstr>Views</vt:lpstr>
      <vt:lpstr>Defining a View</vt:lpstr>
      <vt:lpstr>Querying a View</vt:lpstr>
      <vt:lpstr>Defining Another View</vt:lpstr>
      <vt:lpstr>Updatable views</vt:lpstr>
      <vt:lpstr>SQL Transactions</vt:lpstr>
      <vt:lpstr>SQL Transactions</vt:lpstr>
      <vt:lpstr>Transaction properties</vt:lpstr>
      <vt:lpstr>Transaction example</vt:lpstr>
      <vt:lpstr>Interleaved execution</vt:lpstr>
      <vt:lpstr>Serializability</vt:lpstr>
      <vt:lpstr>Atomicity</vt:lpstr>
      <vt:lpstr>Types of Transactions</vt:lpstr>
      <vt:lpstr>Dirty Reads</vt:lpstr>
      <vt:lpstr>Isolation Levels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dc:title>
  <dc:creator>Peter Wood</dc:creator>
  <cp:lastModifiedBy>rehan Asmatullah a khan</cp:lastModifiedBy>
  <cp:revision>50</cp:revision>
  <dcterms:created xsi:type="dcterms:W3CDTF">2020-08-23T21:59:37Z</dcterms:created>
  <dcterms:modified xsi:type="dcterms:W3CDTF">2026-09-20T09:21:42Z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2017-01-23T00:00:00Z</vt:filetime>
  </property>
  <property fmtid="{D5CDD505-2E9C-101B-9397-08002B2CF9AE}" pid="3" name="Creator">
    <vt:lpwstr>LaTeX with Beamer class version 3.36</vt:lpwstr>
  </property>
  <property fmtid="{D5CDD505-2E9C-101B-9397-08002B2CF9AE}" pid="4" name="LastSaved">
    <vt:filetime>2020-08-23T00:00:00Z</vt:filetime>
  </property>
</Properties>
</file>