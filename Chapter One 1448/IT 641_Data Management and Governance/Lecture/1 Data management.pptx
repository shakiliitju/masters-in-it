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5" r:id="rId3"/>
    <p:sldId id="280" r:id="rId4"/>
    <p:sldId id="257" r:id="rId5"/>
    <p:sldId id="278" r:id="rId6"/>
    <p:sldId id="279" r:id="rId7"/>
    <p:sldId id="277" r:id="rId8"/>
    <p:sldId id="260" r:id="rId9"/>
    <p:sldId id="261" r:id="rId10"/>
    <p:sldId id="264" r:id="rId11"/>
    <p:sldId id="276" r:id="rId12"/>
    <p:sldId id="265" r:id="rId13"/>
    <p:sldId id="267" r:id="rId14"/>
    <p:sldId id="268" r:id="rId15"/>
    <p:sldId id="269" r:id="rId16"/>
    <p:sldId id="270" r:id="rId17"/>
    <p:sldId id="271" r:id="rId18"/>
    <p:sldId id="272" r:id="rId19"/>
    <p:sldId id="281" r:id="rId20"/>
    <p:sldId id="283" r:id="rId21"/>
    <p:sldId id="282" r:id="rId22"/>
    <p:sldId id="273" r:id="rId23"/>
  </p:sldIdLst>
  <p:sldSz cx="4610100" cy="3460750"/>
  <p:notesSz cx="4610100" cy="34607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50" d="100"/>
          <a:sy n="150" d="100"/>
        </p:scale>
        <p:origin x="2748" y="762"/>
      </p:cViewPr>
      <p:guideLst>
        <p:guide orient="horz" pos="2880"/>
        <p:guide pos="2160"/>
      </p:guideLst>
    </p:cSldViewPr>
  </p:slideViewPr>
  <p:notesTextViewPr>
    <p:cViewPr>
      <p:scale>
        <a:sx n="100" d="100"/>
        <a:sy n="100" d="100"/>
      </p:scale>
      <p:origin x="0" y="0"/>
    </p:cViewPr>
  </p:notesTextViewPr>
  <p:sorterViewPr>
    <p:cViewPr>
      <p:scale>
        <a:sx n="200" d="100"/>
        <a:sy n="200" d="100"/>
      </p:scale>
      <p:origin x="0" y="-70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567434" y="3218497"/>
            <a:ext cx="1475232" cy="1938992"/>
          </a:xfrm>
          <a:prstGeom prst="rect">
            <a:avLst/>
          </a:prstGeom>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a:xfrm>
            <a:off x="1567434" y="3218497"/>
            <a:ext cx="1475232" cy="1938992"/>
          </a:xfrm>
          <a:prstGeom prst="rect">
            <a:avLst/>
          </a:prstGeom>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1567434" y="3218497"/>
            <a:ext cx="1475232" cy="1938992"/>
          </a:xfrm>
          <a:prstGeom prst="rect">
            <a:avLst/>
          </a:prstGeo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type="ftr" sz="quarter" idx="5"/>
          </p:nvPr>
        </p:nvSpPr>
        <p:spPr>
          <a:xfrm>
            <a:off x="1567434" y="3218497"/>
            <a:ext cx="1475232" cy="1938992"/>
          </a:xfrm>
          <a:prstGeom prst="rect">
            <a:avLst/>
          </a:prstGeom>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1567434" y="3218497"/>
            <a:ext cx="1475232" cy="1938992"/>
          </a:xfrm>
          <a:prstGeom prst="rect">
            <a:avLst/>
          </a:prstGeom>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888003" y="0"/>
            <a:ext cx="720000" cy="3456000"/>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95300" y="59814"/>
            <a:ext cx="4419498" cy="244475"/>
          </a:xfrm>
          <a:prstGeom prst="rect">
            <a:avLst/>
          </a:prstGeom>
        </p:spPr>
        <p:txBody>
          <a:bodyPr wrap="square" lIns="0" tIns="0" rIns="0" bIns="0">
            <a:spAutoFit/>
          </a:bodyPr>
          <a:lstStyle>
            <a:lvl1pPr>
              <a:defRPr sz="1400" b="0" i="0">
                <a:solidFill>
                  <a:srgbClr val="3333B2"/>
                </a:solidFill>
                <a:latin typeface="Arial"/>
                <a:cs typeface="Arial"/>
              </a:defRPr>
            </a:lvl1pPr>
          </a:lstStyle>
          <a:p>
            <a:endParaRPr/>
          </a:p>
        </p:txBody>
      </p:sp>
      <p:sp>
        <p:nvSpPr>
          <p:cNvPr id="3" name="Holder 3"/>
          <p:cNvSpPr>
            <a:spLocks noGrp="1"/>
          </p:cNvSpPr>
          <p:nvPr>
            <p:ph type="body" idx="1"/>
          </p:nvPr>
        </p:nvSpPr>
        <p:spPr>
          <a:xfrm>
            <a:off x="241960" y="884133"/>
            <a:ext cx="4126179" cy="1630045"/>
          </a:xfrm>
          <a:prstGeom prst="rect">
            <a:avLst/>
          </a:prstGeom>
        </p:spPr>
        <p:txBody>
          <a:bodyPr wrap="square" lIns="0" tIns="0" rIns="0" bIns="0">
            <a:spAutoFit/>
          </a:bodyPr>
          <a:lstStyle>
            <a:lvl1pPr>
              <a:defRPr b="0" i="0">
                <a:solidFill>
                  <a:schemeClr val="tx1"/>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9/6/2026</a:t>
            </a:fld>
            <a:endParaRPr lang="en-US"/>
          </a:p>
        </p:txBody>
      </p:sp>
      <p:sp>
        <p:nvSpPr>
          <p:cNvPr id="6" name="Holder 6"/>
          <p:cNvSpPr>
            <a:spLocks noGrp="1"/>
          </p:cNvSpPr>
          <p:nvPr>
            <p:ph type="sldNum" sz="quarter" idx="7"/>
          </p:nvPr>
        </p:nvSpPr>
        <p:spPr>
          <a:xfrm>
            <a:off x="3319272" y="3218497"/>
            <a:ext cx="1060323" cy="17303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22.xml"/><Relationship Id="rId1" Type="http://schemas.openxmlformats.org/officeDocument/2006/relationships/slideLayout" Target="../slideLayouts/slideLayout5.xml"/><Relationship Id="rId5" Type="http://schemas.openxmlformats.org/officeDocument/2006/relationships/hyperlink" Target="http://www.dcs.bbk.ac.uk/~ptw/" TargetMode="External"/><Relationship Id="rId4" Type="http://schemas.openxmlformats.org/officeDocument/2006/relationships/hyperlink" Target="mailto:ptw@dcs.bbk.ac.uk"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includehelp.com/dbms/types-of-database-management-system.aspx"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6.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13263" y="78999"/>
            <a:ext cx="579755" cy="427681"/>
          </a:xfrm>
          <a:prstGeom prst="rect">
            <a:avLst/>
          </a:prstGeom>
        </p:spPr>
        <p:txBody>
          <a:bodyPr vert="horz" wrap="square" lIns="0" tIns="17145" rIns="0" bIns="0" rtlCol="0">
            <a:spAutoFit/>
          </a:bodyPr>
          <a:lstStyle/>
          <a:p>
            <a:pPr marL="102235"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a:p>
            <a:pPr>
              <a:lnSpc>
                <a:spcPct val="100000"/>
              </a:lnSpc>
              <a:spcBef>
                <a:spcPts val="10"/>
              </a:spcBef>
            </a:pPr>
            <a:endParaRPr sz="900" dirty="0">
              <a:latin typeface="Arial"/>
              <a:cs typeface="Arial"/>
            </a:endParaRPr>
          </a:p>
          <a:p>
            <a:pPr marL="12700">
              <a:lnSpc>
                <a:spcPct val="100000"/>
              </a:lnSpc>
            </a:pPr>
            <a:r>
              <a:rPr sz="600" spc="-5" dirty="0">
                <a:solidFill>
                  <a:srgbClr val="ADADE0"/>
                </a:solidFill>
                <a:latin typeface="Arial"/>
                <a:cs typeface="Arial"/>
                <a:hlinkClick r:id="rId3" action="ppaction://hlinksldjump"/>
              </a:rPr>
              <a:t>Introduction</a:t>
            </a:r>
            <a:endParaRPr sz="600" dirty="0">
              <a:latin typeface="Arial"/>
              <a:cs typeface="Arial"/>
            </a:endParaRPr>
          </a:p>
        </p:txBody>
      </p:sp>
      <p:sp>
        <p:nvSpPr>
          <p:cNvPr id="3" name="object 3"/>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4" name="object 4"/>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5" name="object 5"/>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6" name="object 6"/>
          <p:cNvGrpSpPr/>
          <p:nvPr/>
        </p:nvGrpSpPr>
        <p:grpSpPr>
          <a:xfrm>
            <a:off x="2555862" y="3358384"/>
            <a:ext cx="203200" cy="55880"/>
            <a:chOff x="2555862" y="3358384"/>
            <a:chExt cx="203200" cy="55880"/>
          </a:xfrm>
        </p:grpSpPr>
        <p:sp>
          <p:nvSpPr>
            <p:cNvPr id="7" name="object 7"/>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8" name="object 8"/>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9" name="object 9"/>
          <p:cNvGrpSpPr/>
          <p:nvPr/>
        </p:nvGrpSpPr>
        <p:grpSpPr>
          <a:xfrm>
            <a:off x="2822981" y="3357119"/>
            <a:ext cx="203200" cy="58419"/>
            <a:chOff x="2822981" y="3357119"/>
            <a:chExt cx="203200" cy="58419"/>
          </a:xfrm>
        </p:grpSpPr>
        <p:sp>
          <p:nvSpPr>
            <p:cNvPr id="10" name="object 10"/>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1" name="object 11"/>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2" name="object 12"/>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3" name="object 13"/>
          <p:cNvGrpSpPr/>
          <p:nvPr/>
        </p:nvGrpSpPr>
        <p:grpSpPr>
          <a:xfrm>
            <a:off x="3090113" y="3357119"/>
            <a:ext cx="203200" cy="58419"/>
            <a:chOff x="3090113" y="3357119"/>
            <a:chExt cx="203200" cy="58419"/>
          </a:xfrm>
        </p:grpSpPr>
        <p:sp>
          <p:nvSpPr>
            <p:cNvPr id="14" name="object 14"/>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5" name="object 15"/>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7" name="object 17"/>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8" name="object 18"/>
          <p:cNvGrpSpPr/>
          <p:nvPr/>
        </p:nvGrpSpPr>
        <p:grpSpPr>
          <a:xfrm>
            <a:off x="3606581" y="3358384"/>
            <a:ext cx="238760" cy="57150"/>
            <a:chOff x="3606581" y="3358384"/>
            <a:chExt cx="238760" cy="57150"/>
          </a:xfrm>
        </p:grpSpPr>
        <p:sp>
          <p:nvSpPr>
            <p:cNvPr id="19" name="object 19"/>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0" name="object 20"/>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1" name="object 21"/>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2" name="object 22"/>
          <p:cNvSpPr txBox="1"/>
          <p:nvPr/>
        </p:nvSpPr>
        <p:spPr>
          <a:xfrm>
            <a:off x="498043" y="663575"/>
            <a:ext cx="3344747" cy="448200"/>
          </a:xfrm>
          <a:prstGeom prst="rect">
            <a:avLst/>
          </a:prstGeom>
        </p:spPr>
        <p:txBody>
          <a:bodyPr vert="horz" wrap="square" lIns="0" tIns="17145" rIns="0" bIns="0" rtlCol="0">
            <a:spAutoFit/>
          </a:bodyPr>
          <a:lstStyle/>
          <a:p>
            <a:pPr marL="12700" algn="ctr">
              <a:lnSpc>
                <a:spcPct val="100000"/>
              </a:lnSpc>
              <a:spcBef>
                <a:spcPts val="135"/>
              </a:spcBef>
            </a:pPr>
            <a:r>
              <a:rPr lang="en-US" sz="1400" dirty="0"/>
              <a:t>Course IT 641: Data Management and Governance </a:t>
            </a:r>
            <a:endParaRPr sz="1400" dirty="0">
              <a:latin typeface="Arial"/>
              <a:cs typeface="Arial"/>
            </a:endParaRPr>
          </a:p>
        </p:txBody>
      </p:sp>
      <p:sp>
        <p:nvSpPr>
          <p:cNvPr id="23" name="object 23"/>
          <p:cNvSpPr txBox="1"/>
          <p:nvPr/>
        </p:nvSpPr>
        <p:spPr>
          <a:xfrm>
            <a:off x="542158" y="2568575"/>
            <a:ext cx="2886710" cy="530273"/>
          </a:xfrm>
          <a:prstGeom prst="rect">
            <a:avLst/>
          </a:prstGeom>
        </p:spPr>
        <p:txBody>
          <a:bodyPr vert="horz" wrap="square" lIns="0" tIns="98425" rIns="0" bIns="0" rtlCol="0">
            <a:spAutoFit/>
          </a:bodyPr>
          <a:lstStyle/>
          <a:p>
            <a:pPr algn="ctr">
              <a:lnSpc>
                <a:spcPct val="100000"/>
              </a:lnSpc>
              <a:spcBef>
                <a:spcPts val="775"/>
              </a:spcBef>
            </a:pPr>
            <a:r>
              <a:rPr lang="en-US" sz="600" b="1" spc="-15" dirty="0">
                <a:latin typeface="Times New Roman" panose="02020603050405020304" pitchFamily="18" charset="0"/>
                <a:cs typeface="Times New Roman" panose="02020603050405020304" pitchFamily="18" charset="0"/>
              </a:rPr>
              <a:t>Copyrights and original material belongs to: Prof. </a:t>
            </a:r>
            <a:r>
              <a:rPr sz="600" b="1" spc="-15" dirty="0">
                <a:latin typeface="Times New Roman" panose="02020603050405020304" pitchFamily="18" charset="0"/>
                <a:cs typeface="Times New Roman" panose="02020603050405020304" pitchFamily="18" charset="0"/>
              </a:rPr>
              <a:t>Peter</a:t>
            </a:r>
            <a:r>
              <a:rPr sz="600" b="1" spc="-10" dirty="0">
                <a:latin typeface="Times New Roman" panose="02020603050405020304" pitchFamily="18" charset="0"/>
                <a:cs typeface="Times New Roman" panose="02020603050405020304" pitchFamily="18" charset="0"/>
              </a:rPr>
              <a:t> </a:t>
            </a:r>
            <a:r>
              <a:rPr sz="600" b="1" spc="-25" dirty="0">
                <a:latin typeface="Times New Roman" panose="02020603050405020304" pitchFamily="18" charset="0"/>
                <a:cs typeface="Times New Roman" panose="02020603050405020304" pitchFamily="18" charset="0"/>
              </a:rPr>
              <a:t>Wood</a:t>
            </a:r>
            <a:endParaRPr sz="600" dirty="0">
              <a:latin typeface="Times New Roman" panose="02020603050405020304" pitchFamily="18" charset="0"/>
              <a:cs typeface="Times New Roman" panose="02020603050405020304" pitchFamily="18" charset="0"/>
            </a:endParaRPr>
          </a:p>
          <a:p>
            <a:pPr algn="ctr">
              <a:lnSpc>
                <a:spcPct val="100000"/>
              </a:lnSpc>
              <a:spcBef>
                <a:spcPts val="615"/>
              </a:spcBef>
            </a:pPr>
            <a:r>
              <a:rPr sz="600" spc="-5" dirty="0">
                <a:latin typeface="Times New Roman" panose="02020603050405020304" pitchFamily="18" charset="0"/>
                <a:cs typeface="Times New Roman" panose="02020603050405020304" pitchFamily="18" charset="0"/>
              </a:rPr>
              <a:t>Email:</a:t>
            </a:r>
            <a:r>
              <a:rPr sz="600" spc="60" dirty="0">
                <a:latin typeface="Times New Roman" panose="02020603050405020304" pitchFamily="18" charset="0"/>
                <a:cs typeface="Times New Roman" panose="02020603050405020304" pitchFamily="18" charset="0"/>
              </a:rPr>
              <a:t> </a:t>
            </a:r>
            <a:r>
              <a:rPr sz="600" spc="-10" dirty="0">
                <a:latin typeface="Times New Roman" panose="02020603050405020304" pitchFamily="18" charset="0"/>
                <a:cs typeface="Times New Roman" panose="02020603050405020304" pitchFamily="18" charset="0"/>
                <a:hlinkClick r:id="rId4"/>
              </a:rPr>
              <a:t>ptw@dcs.bbk.ac.uk</a:t>
            </a:r>
            <a:endParaRPr sz="600" dirty="0">
              <a:latin typeface="Times New Roman" panose="02020603050405020304" pitchFamily="18" charset="0"/>
              <a:cs typeface="Times New Roman" panose="02020603050405020304" pitchFamily="18" charset="0"/>
            </a:endParaRPr>
          </a:p>
          <a:p>
            <a:pPr algn="ctr">
              <a:lnSpc>
                <a:spcPct val="100000"/>
              </a:lnSpc>
              <a:spcBef>
                <a:spcPts val="630"/>
              </a:spcBef>
            </a:pPr>
            <a:r>
              <a:rPr sz="600" spc="-15" dirty="0">
                <a:latin typeface="Times New Roman" panose="02020603050405020304" pitchFamily="18" charset="0"/>
                <a:cs typeface="Times New Roman" panose="02020603050405020304" pitchFamily="18" charset="0"/>
              </a:rPr>
              <a:t>Web:</a:t>
            </a:r>
            <a:r>
              <a:rPr sz="600" spc="90" dirty="0">
                <a:latin typeface="Times New Roman" panose="02020603050405020304" pitchFamily="18" charset="0"/>
                <a:cs typeface="Times New Roman" panose="02020603050405020304" pitchFamily="18" charset="0"/>
              </a:rPr>
              <a:t> </a:t>
            </a:r>
            <a:r>
              <a:rPr sz="600" spc="-10" dirty="0">
                <a:solidFill>
                  <a:srgbClr val="0000FF"/>
                </a:solidFill>
                <a:latin typeface="Times New Roman" panose="02020603050405020304" pitchFamily="18" charset="0"/>
                <a:cs typeface="Times New Roman" panose="02020603050405020304" pitchFamily="18" charset="0"/>
                <a:hlinkClick r:id="rId5"/>
              </a:rPr>
              <a:t>http://www.dcs.bbk.ac.uk/~ptw/</a:t>
            </a:r>
            <a:endParaRPr sz="600" dirty="0">
              <a:latin typeface="Times New Roman" panose="02020603050405020304" pitchFamily="18" charset="0"/>
              <a:cs typeface="Times New Roman" panose="02020603050405020304" pitchFamily="18" charset="0"/>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31F63A-31D1-9805-A73C-2475C379363C}"/>
              </a:ext>
            </a:extLst>
          </p:cNvPr>
          <p:cNvPicPr>
            <a:picLocks noChangeAspect="1"/>
          </p:cNvPicPr>
          <p:nvPr/>
        </p:nvPicPr>
        <p:blipFill>
          <a:blip r:embed="rId2"/>
          <a:stretch>
            <a:fillRect/>
          </a:stretch>
        </p:blipFill>
        <p:spPr>
          <a:xfrm>
            <a:off x="95250" y="1196975"/>
            <a:ext cx="3752850" cy="1015160"/>
          </a:xfrm>
          <a:prstGeom prst="rect">
            <a:avLst/>
          </a:prstGeom>
        </p:spPr>
      </p:pic>
    </p:spTree>
    <p:extLst>
      <p:ext uri="{BB962C8B-B14F-4D97-AF65-F5344CB8AC3E}">
        <p14:creationId xmlns:p14="http://schemas.microsoft.com/office/powerpoint/2010/main" val="3434023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11036FF-0BA7-5CF8-C61D-693D44280EA5}"/>
              </a:ext>
            </a:extLst>
          </p:cNvPr>
          <p:cNvPicPr>
            <a:picLocks noChangeAspect="1"/>
          </p:cNvPicPr>
          <p:nvPr/>
        </p:nvPicPr>
        <p:blipFill>
          <a:blip r:embed="rId2"/>
          <a:stretch>
            <a:fillRect/>
          </a:stretch>
        </p:blipFill>
        <p:spPr>
          <a:xfrm>
            <a:off x="247650" y="458311"/>
            <a:ext cx="3448050" cy="1577818"/>
          </a:xfrm>
          <a:prstGeom prst="rect">
            <a:avLst/>
          </a:prstGeom>
        </p:spPr>
      </p:pic>
      <p:sp>
        <p:nvSpPr>
          <p:cNvPr id="7" name="TextBox 6">
            <a:extLst>
              <a:ext uri="{FF2B5EF4-FFF2-40B4-BE49-F238E27FC236}">
                <a16:creationId xmlns:a16="http://schemas.microsoft.com/office/drawing/2014/main" id="{26E90EFE-FCFA-92F7-C33E-15C40C3E1560}"/>
              </a:ext>
            </a:extLst>
          </p:cNvPr>
          <p:cNvSpPr txBox="1"/>
          <p:nvPr/>
        </p:nvSpPr>
        <p:spPr>
          <a:xfrm>
            <a:off x="419100" y="2301504"/>
            <a:ext cx="3276600" cy="738664"/>
          </a:xfrm>
          <a:prstGeom prst="rect">
            <a:avLst/>
          </a:prstGeom>
          <a:noFill/>
        </p:spPr>
        <p:txBody>
          <a:bodyPr wrap="square">
            <a:spAutoFit/>
          </a:bodyPr>
          <a:lstStyle/>
          <a:p>
            <a:pPr marL="12700" algn="ctr">
              <a:lnSpc>
                <a:spcPct val="100000"/>
              </a:lnSpc>
              <a:spcBef>
                <a:spcPts val="135"/>
              </a:spcBef>
            </a:pPr>
            <a:r>
              <a:rPr lang="en-US" sz="1400" dirty="0"/>
              <a:t>Topics related to data science, big data storage and processing, decision making are also part of the flow of lectures</a:t>
            </a:r>
            <a:endParaRPr lang="en-US" sz="1400" dirty="0">
              <a:latin typeface="Arial"/>
              <a:cs typeface="Arial"/>
            </a:endParaRPr>
          </a:p>
        </p:txBody>
      </p:sp>
    </p:spTree>
    <p:extLst>
      <p:ext uri="{BB962C8B-B14F-4D97-AF65-F5344CB8AC3E}">
        <p14:creationId xmlns:p14="http://schemas.microsoft.com/office/powerpoint/2010/main" val="1572695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3747490" cy="201978"/>
          </a:xfrm>
          <a:prstGeom prst="rect">
            <a:avLst/>
          </a:prstGeom>
        </p:spPr>
        <p:txBody>
          <a:bodyPr vert="horz" wrap="square" lIns="0" tIns="17145" rIns="0" bIns="0" rtlCol="0">
            <a:spAutoFit/>
          </a:bodyPr>
          <a:lstStyle/>
          <a:p>
            <a:pPr marL="12700">
              <a:lnSpc>
                <a:spcPct val="100000"/>
              </a:lnSpc>
              <a:spcBef>
                <a:spcPts val="135"/>
              </a:spcBef>
            </a:pPr>
            <a:r>
              <a:rPr lang="en-US" sz="1200" spc="5" dirty="0"/>
              <a:t>What is data management and data governance?</a:t>
            </a:r>
            <a:endParaRPr sz="1200" spc="20" dirty="0"/>
          </a:p>
        </p:txBody>
      </p:sp>
      <p:sp>
        <p:nvSpPr>
          <p:cNvPr id="24" name="object 24"/>
          <p:cNvSpPr txBox="1"/>
          <p:nvPr/>
        </p:nvSpPr>
        <p:spPr>
          <a:xfrm>
            <a:off x="171450" y="815975"/>
            <a:ext cx="3741813" cy="953465"/>
          </a:xfrm>
          <a:prstGeom prst="rect">
            <a:avLst/>
          </a:prstGeom>
        </p:spPr>
        <p:txBody>
          <a:bodyPr vert="horz" wrap="square" lIns="0" tIns="55244" rIns="0" bIns="0" rtlCol="0">
            <a:spAutoFit/>
          </a:bodyPr>
          <a:lstStyle/>
          <a:p>
            <a:pPr marL="12065">
              <a:lnSpc>
                <a:spcPct val="100000"/>
              </a:lnSpc>
              <a:spcBef>
                <a:spcPts val="434"/>
              </a:spcBef>
              <a:buClr>
                <a:srgbClr val="3333B2"/>
              </a:buClr>
              <a:buSzPct val="90909"/>
              <a:tabLst>
                <a:tab pos="128905" algn="l"/>
              </a:tabLst>
            </a:pPr>
            <a:r>
              <a:rPr lang="en-US" sz="1100" b="0" i="0" dirty="0">
                <a:solidFill>
                  <a:srgbClr val="333333"/>
                </a:solidFill>
                <a:effectLst/>
                <a:latin typeface="Merriweather" panose="020B0604020202020204" pitchFamily="2" charset="0"/>
              </a:rPr>
              <a:t>In the simplest terms, data governance </a:t>
            </a:r>
            <a:r>
              <a:rPr lang="en-US" sz="1100" b="0" i="0" dirty="0">
                <a:solidFill>
                  <a:srgbClr val="FF0000"/>
                </a:solidFill>
                <a:effectLst/>
                <a:latin typeface="Merriweather" panose="020B0604020202020204" pitchFamily="2" charset="0"/>
              </a:rPr>
              <a:t>establishes policies and procedures </a:t>
            </a:r>
            <a:r>
              <a:rPr lang="en-US" sz="1100" b="0" i="0" dirty="0">
                <a:solidFill>
                  <a:srgbClr val="333333"/>
                </a:solidFill>
                <a:effectLst/>
                <a:latin typeface="Merriweather" panose="020B0604020202020204" pitchFamily="2" charset="0"/>
              </a:rPr>
              <a:t>around data, while data management enacts those policies and procedures to compile and use that data for </a:t>
            </a:r>
            <a:r>
              <a:rPr lang="en-US" sz="1100" b="0" i="0" dirty="0">
                <a:solidFill>
                  <a:srgbClr val="FF0000"/>
                </a:solidFill>
                <a:effectLst/>
                <a:latin typeface="Merriweather" panose="020B0604020202020204" pitchFamily="2" charset="0"/>
              </a:rPr>
              <a:t>decision-making</a:t>
            </a:r>
          </a:p>
          <a:p>
            <a:pPr marL="12065">
              <a:lnSpc>
                <a:spcPct val="100000"/>
              </a:lnSpc>
              <a:spcBef>
                <a:spcPts val="434"/>
              </a:spcBef>
              <a:buClr>
                <a:srgbClr val="3333B2"/>
              </a:buClr>
              <a:buSzPct val="90909"/>
              <a:tabLst>
                <a:tab pos="128905" algn="l"/>
              </a:tabLst>
            </a:pPr>
            <a:endParaRPr sz="1100" dirty="0">
              <a:latin typeface="Arial"/>
              <a:cs typeface="Arial"/>
            </a:endParaRP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3747490" cy="201978"/>
          </a:xfrm>
          <a:prstGeom prst="rect">
            <a:avLst/>
          </a:prstGeom>
        </p:spPr>
        <p:txBody>
          <a:bodyPr vert="horz" wrap="square" lIns="0" tIns="17145" rIns="0" bIns="0" rtlCol="0">
            <a:spAutoFit/>
          </a:bodyPr>
          <a:lstStyle/>
          <a:p>
            <a:pPr marL="12700">
              <a:lnSpc>
                <a:spcPct val="100000"/>
              </a:lnSpc>
              <a:spcBef>
                <a:spcPts val="135"/>
              </a:spcBef>
            </a:pPr>
            <a:r>
              <a:rPr lang="en-US" sz="1200" spc="5" dirty="0"/>
              <a:t>What is data management and data governance?</a:t>
            </a:r>
            <a:endParaRPr sz="1200" spc="20" dirty="0"/>
          </a:p>
        </p:txBody>
      </p:sp>
      <p:sp>
        <p:nvSpPr>
          <p:cNvPr id="24" name="object 24"/>
          <p:cNvSpPr txBox="1"/>
          <p:nvPr/>
        </p:nvSpPr>
        <p:spPr>
          <a:xfrm>
            <a:off x="87237" y="599617"/>
            <a:ext cx="3741813" cy="2384626"/>
          </a:xfrm>
          <a:prstGeom prst="rect">
            <a:avLst/>
          </a:prstGeom>
        </p:spPr>
        <p:txBody>
          <a:bodyPr vert="horz" wrap="square" lIns="0" tIns="55244" rIns="0" bIns="0" rtlCol="0">
            <a:spAutoFit/>
          </a:bodyPr>
          <a:lstStyle/>
          <a:p>
            <a:pPr marL="12065">
              <a:lnSpc>
                <a:spcPct val="100000"/>
              </a:lnSpc>
              <a:spcBef>
                <a:spcPts val="434"/>
              </a:spcBef>
              <a:buClr>
                <a:srgbClr val="3333B2"/>
              </a:buClr>
              <a:buSzPct val="90909"/>
              <a:tabLst>
                <a:tab pos="128905" algn="l"/>
              </a:tabLst>
            </a:pPr>
            <a:r>
              <a:rPr lang="en-US" sz="800" b="0" i="0" dirty="0">
                <a:solidFill>
                  <a:srgbClr val="333333"/>
                </a:solidFill>
                <a:effectLst/>
                <a:latin typeface="Merriweather" panose="00000500000000000000" pitchFamily="2" charset="0"/>
              </a:rPr>
              <a:t>Data management is the creation and implementation of architectures, policies, and procedures that manage the full data lifecycle needs of an organization. Common elements of data management are:</a:t>
            </a:r>
            <a:endParaRPr lang="en-US" sz="800" b="0" i="0" dirty="0">
              <a:solidFill>
                <a:srgbClr val="333333"/>
              </a:solidFill>
              <a:effectLst/>
              <a:latin typeface="Times New Roman" panose="02020603050405020304" pitchFamily="18" charset="0"/>
              <a:cs typeface="Times New Roman" panose="02020603050405020304" pitchFamily="18" charset="0"/>
            </a:endParaRPr>
          </a:p>
          <a:p>
            <a:pPr marL="12065">
              <a:lnSpc>
                <a:spcPct val="100000"/>
              </a:lnSpc>
              <a:spcBef>
                <a:spcPts val="434"/>
              </a:spcBef>
              <a:buClr>
                <a:srgbClr val="3333B2"/>
              </a:buClr>
              <a:buSzPct val="90909"/>
              <a:tabLst>
                <a:tab pos="128905" algn="l"/>
              </a:tabLst>
            </a:pPr>
            <a:r>
              <a:rPr lang="en-US" sz="800" b="1" i="0" dirty="0">
                <a:solidFill>
                  <a:srgbClr val="333333"/>
                </a:solidFill>
                <a:effectLst/>
                <a:latin typeface="Times New Roman" panose="02020603050405020304" pitchFamily="18" charset="0"/>
                <a:cs typeface="Times New Roman" panose="02020603050405020304" pitchFamily="18" charset="0"/>
              </a:rPr>
              <a:t>Data preparation: </a:t>
            </a:r>
            <a:r>
              <a:rPr lang="en-US" sz="800" b="0" i="0" dirty="0">
                <a:solidFill>
                  <a:srgbClr val="333333"/>
                </a:solidFill>
                <a:effectLst/>
                <a:latin typeface="Times New Roman" panose="02020603050405020304" pitchFamily="18" charset="0"/>
                <a:cs typeface="Times New Roman" panose="02020603050405020304" pitchFamily="18" charset="0"/>
              </a:rPr>
              <a:t>is the process of cleaning and transforming raw data to allow for accurate analysis. This critical first step sometimes gets missed in the rush for reporting and analysis, and organizations find themselves making bad decisions with bad data.</a:t>
            </a:r>
          </a:p>
          <a:p>
            <a:pPr marL="12065">
              <a:lnSpc>
                <a:spcPct val="100000"/>
              </a:lnSpc>
              <a:spcBef>
                <a:spcPts val="434"/>
              </a:spcBef>
              <a:buClr>
                <a:srgbClr val="3333B2"/>
              </a:buClr>
              <a:buSzPct val="90909"/>
              <a:tabLst>
                <a:tab pos="128905" algn="l"/>
              </a:tabLst>
            </a:pPr>
            <a:r>
              <a:rPr lang="en-US" sz="800" b="1" i="0" dirty="0">
                <a:solidFill>
                  <a:srgbClr val="333333"/>
                </a:solidFill>
                <a:effectLst/>
                <a:latin typeface="Times New Roman" panose="02020603050405020304" pitchFamily="18" charset="0"/>
                <a:cs typeface="Times New Roman" panose="02020603050405020304" pitchFamily="18" charset="0"/>
              </a:rPr>
              <a:t>Data pipelines: </a:t>
            </a:r>
            <a:r>
              <a:rPr lang="en-US" sz="800" b="0" i="0" dirty="0">
                <a:solidFill>
                  <a:srgbClr val="333333"/>
                </a:solidFill>
                <a:effectLst/>
                <a:latin typeface="Times New Roman" panose="02020603050405020304" pitchFamily="18" charset="0"/>
                <a:cs typeface="Times New Roman" panose="02020603050405020304" pitchFamily="18" charset="0"/>
              </a:rPr>
              <a:t>are used to automatically transfer data from one system to another.</a:t>
            </a:r>
          </a:p>
          <a:p>
            <a:pPr marL="12065">
              <a:lnSpc>
                <a:spcPct val="100000"/>
              </a:lnSpc>
              <a:spcBef>
                <a:spcPts val="434"/>
              </a:spcBef>
              <a:buClr>
                <a:srgbClr val="3333B2"/>
              </a:buClr>
              <a:buSzPct val="90909"/>
              <a:tabLst>
                <a:tab pos="128905" algn="l"/>
              </a:tabLst>
            </a:pPr>
            <a:r>
              <a:rPr lang="en-US" sz="800" b="1" i="0" dirty="0">
                <a:solidFill>
                  <a:srgbClr val="333333"/>
                </a:solidFill>
                <a:effectLst/>
                <a:latin typeface="Times New Roman" panose="02020603050405020304" pitchFamily="18" charset="0"/>
                <a:cs typeface="Times New Roman" panose="02020603050405020304" pitchFamily="18" charset="0"/>
              </a:rPr>
              <a:t>Data extract, transform, load (ETL): </a:t>
            </a:r>
            <a:r>
              <a:rPr lang="en-US" sz="800" b="0" i="0" dirty="0">
                <a:solidFill>
                  <a:srgbClr val="333333"/>
                </a:solidFill>
                <a:effectLst/>
                <a:latin typeface="Times New Roman" panose="02020603050405020304" pitchFamily="18" charset="0"/>
                <a:cs typeface="Times New Roman" panose="02020603050405020304" pitchFamily="18" charset="0"/>
              </a:rPr>
              <a:t>means transforming data to load in an organization’s data warehouse. ETLs often are automated processes once they are built and usually require preparation and pipeline work.</a:t>
            </a:r>
          </a:p>
          <a:p>
            <a:pPr marL="12065">
              <a:lnSpc>
                <a:spcPct val="100000"/>
              </a:lnSpc>
              <a:spcBef>
                <a:spcPts val="434"/>
              </a:spcBef>
              <a:buClr>
                <a:srgbClr val="3333B2"/>
              </a:buClr>
              <a:buSzPct val="90909"/>
              <a:tabLst>
                <a:tab pos="128905" algn="l"/>
              </a:tabLst>
            </a:pPr>
            <a:r>
              <a:rPr lang="en-US" sz="800" b="1" i="0" dirty="0">
                <a:solidFill>
                  <a:srgbClr val="333333"/>
                </a:solidFill>
                <a:effectLst/>
                <a:latin typeface="Times New Roman" panose="02020603050405020304" pitchFamily="18" charset="0"/>
                <a:cs typeface="Times New Roman" panose="02020603050405020304" pitchFamily="18" charset="0"/>
              </a:rPr>
              <a:t>Data catalogs: </a:t>
            </a:r>
            <a:r>
              <a:rPr lang="en-US" sz="800" b="0" i="0" dirty="0">
                <a:solidFill>
                  <a:srgbClr val="333333"/>
                </a:solidFill>
                <a:effectLst/>
                <a:latin typeface="Times New Roman" panose="02020603050405020304" pitchFamily="18" charset="0"/>
                <a:cs typeface="Times New Roman" panose="02020603050405020304" pitchFamily="18" charset="0"/>
              </a:rPr>
              <a:t>help create a complete picture of the data by managing metadata and also making data easier to find and track.</a:t>
            </a:r>
          </a:p>
          <a:p>
            <a:pPr marL="12065">
              <a:lnSpc>
                <a:spcPct val="100000"/>
              </a:lnSpc>
              <a:spcBef>
                <a:spcPts val="434"/>
              </a:spcBef>
              <a:buClr>
                <a:srgbClr val="3333B2"/>
              </a:buClr>
              <a:buSzPct val="90909"/>
              <a:tabLst>
                <a:tab pos="128905" algn="l"/>
              </a:tabLst>
            </a:pPr>
            <a:r>
              <a:rPr lang="en-US" sz="800" b="1" i="0" dirty="0">
                <a:solidFill>
                  <a:srgbClr val="333333"/>
                </a:solidFill>
                <a:effectLst/>
                <a:latin typeface="Times New Roman" panose="02020603050405020304" pitchFamily="18" charset="0"/>
                <a:cs typeface="Times New Roman" panose="02020603050405020304" pitchFamily="18" charset="0"/>
              </a:rPr>
              <a:t>Data warehouses: </a:t>
            </a:r>
            <a:r>
              <a:rPr lang="en-US" sz="800" b="0" i="0" dirty="0">
                <a:solidFill>
                  <a:srgbClr val="333333"/>
                </a:solidFill>
                <a:effectLst/>
                <a:latin typeface="Times New Roman" panose="02020603050405020304" pitchFamily="18" charset="0"/>
                <a:cs typeface="Times New Roman" panose="02020603050405020304" pitchFamily="18" charset="0"/>
              </a:rPr>
              <a:t>provide a clear route to data analysis by consolidating all data sources.</a:t>
            </a:r>
          </a:p>
          <a:p>
            <a:pPr marL="12065">
              <a:lnSpc>
                <a:spcPct val="100000"/>
              </a:lnSpc>
              <a:spcBef>
                <a:spcPts val="434"/>
              </a:spcBef>
              <a:buClr>
                <a:srgbClr val="3333B2"/>
              </a:buClr>
              <a:buSzPct val="90909"/>
              <a:tabLst>
                <a:tab pos="128905" algn="l"/>
              </a:tabLst>
            </a:pPr>
            <a:r>
              <a:rPr lang="en-US" sz="800" b="1" i="0" dirty="0">
                <a:solidFill>
                  <a:srgbClr val="333333"/>
                </a:solidFill>
                <a:effectLst/>
                <a:latin typeface="Times New Roman" panose="02020603050405020304" pitchFamily="18" charset="0"/>
                <a:cs typeface="Times New Roman" panose="02020603050405020304" pitchFamily="18" charset="0"/>
              </a:rPr>
              <a:t>Data architecture: </a:t>
            </a:r>
            <a:r>
              <a:rPr lang="en-US" sz="800" b="0" i="0" dirty="0">
                <a:solidFill>
                  <a:srgbClr val="333333"/>
                </a:solidFill>
                <a:effectLst/>
                <a:latin typeface="Times New Roman" panose="02020603050405020304" pitchFamily="18" charset="0"/>
                <a:cs typeface="Times New Roman" panose="02020603050405020304" pitchFamily="18" charset="0"/>
              </a:rPr>
              <a:t>will be the formal structure for managing data flow.</a:t>
            </a:r>
          </a:p>
          <a:p>
            <a:pPr marL="12065">
              <a:lnSpc>
                <a:spcPct val="100000"/>
              </a:lnSpc>
              <a:spcBef>
                <a:spcPts val="434"/>
              </a:spcBef>
              <a:buClr>
                <a:srgbClr val="3333B2"/>
              </a:buClr>
              <a:buSzPct val="90909"/>
              <a:tabLst>
                <a:tab pos="128905" algn="l"/>
              </a:tabLst>
            </a:pPr>
            <a:r>
              <a:rPr lang="en-US" sz="800" b="1" i="0" dirty="0">
                <a:solidFill>
                  <a:srgbClr val="333333"/>
                </a:solidFill>
                <a:effectLst/>
                <a:latin typeface="Times New Roman" panose="02020603050405020304" pitchFamily="18" charset="0"/>
                <a:cs typeface="Times New Roman" panose="02020603050405020304" pitchFamily="18" charset="0"/>
              </a:rPr>
              <a:t>Data security: </a:t>
            </a:r>
            <a:r>
              <a:rPr lang="en-US" sz="800" b="0" i="0" dirty="0">
                <a:solidFill>
                  <a:srgbClr val="333333"/>
                </a:solidFill>
                <a:effectLst/>
                <a:latin typeface="Times New Roman" panose="02020603050405020304" pitchFamily="18" charset="0"/>
                <a:cs typeface="Times New Roman" panose="02020603050405020304" pitchFamily="18" charset="0"/>
              </a:rPr>
              <a:t>consists of the processes put in place to protect your data from unauthorized access or corruption.</a:t>
            </a:r>
            <a:endParaRPr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1743201"/>
      </p:ext>
    </p:extLst>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3747490" cy="201978"/>
          </a:xfrm>
          <a:prstGeom prst="rect">
            <a:avLst/>
          </a:prstGeom>
        </p:spPr>
        <p:txBody>
          <a:bodyPr vert="horz" wrap="square" lIns="0" tIns="17145" rIns="0" bIns="0" rtlCol="0">
            <a:spAutoFit/>
          </a:bodyPr>
          <a:lstStyle/>
          <a:p>
            <a:pPr marL="12700">
              <a:lnSpc>
                <a:spcPct val="100000"/>
              </a:lnSpc>
              <a:spcBef>
                <a:spcPts val="135"/>
              </a:spcBef>
            </a:pPr>
            <a:r>
              <a:rPr lang="en-US" sz="1200" spc="5" dirty="0"/>
              <a:t>What is data management and data governance?</a:t>
            </a:r>
            <a:endParaRPr sz="1200" spc="20" dirty="0"/>
          </a:p>
        </p:txBody>
      </p:sp>
      <p:sp>
        <p:nvSpPr>
          <p:cNvPr id="24" name="object 24"/>
          <p:cNvSpPr txBox="1"/>
          <p:nvPr/>
        </p:nvSpPr>
        <p:spPr>
          <a:xfrm>
            <a:off x="95250" y="599617"/>
            <a:ext cx="3741813" cy="1471556"/>
          </a:xfrm>
          <a:prstGeom prst="rect">
            <a:avLst/>
          </a:prstGeom>
        </p:spPr>
        <p:txBody>
          <a:bodyPr vert="horz" wrap="square" lIns="0" tIns="55244" rIns="0" bIns="0" rtlCol="0">
            <a:spAutoFit/>
          </a:bodyPr>
          <a:lstStyle/>
          <a:p>
            <a:pPr marL="12065">
              <a:lnSpc>
                <a:spcPct val="100000"/>
              </a:lnSpc>
              <a:spcBef>
                <a:spcPts val="434"/>
              </a:spcBef>
              <a:buClr>
                <a:srgbClr val="3333B2"/>
              </a:buClr>
              <a:buSzPct val="90909"/>
              <a:tabLst>
                <a:tab pos="128905" algn="l"/>
              </a:tabLst>
            </a:pPr>
            <a:r>
              <a:rPr lang="en-US" sz="800" b="0" i="0" dirty="0">
                <a:solidFill>
                  <a:srgbClr val="333333"/>
                </a:solidFill>
                <a:effectLst/>
                <a:latin typeface="Merriweather" panose="00000500000000000000" pitchFamily="2" charset="0"/>
              </a:rPr>
              <a:t>Data governance is a key component of data management—the practice of managing how the data that is being managed is processed through the organization. Data governance helps answer questions like:</a:t>
            </a:r>
          </a:p>
          <a:p>
            <a:pPr marL="12065">
              <a:lnSpc>
                <a:spcPct val="100000"/>
              </a:lnSpc>
              <a:spcBef>
                <a:spcPts val="434"/>
              </a:spcBef>
              <a:buClr>
                <a:srgbClr val="3333B2"/>
              </a:buClr>
              <a:buSzPct val="90909"/>
              <a:tabLst>
                <a:tab pos="128905" algn="l"/>
              </a:tabLst>
            </a:pPr>
            <a:endParaRPr lang="en-US" sz="800" b="0" i="0" dirty="0">
              <a:solidFill>
                <a:srgbClr val="333333"/>
              </a:solidFill>
              <a:effectLst/>
              <a:latin typeface="Merriweather" panose="00000500000000000000" pitchFamily="2" charset="0"/>
            </a:endParaRPr>
          </a:p>
          <a:p>
            <a:pPr marL="12065">
              <a:lnSpc>
                <a:spcPct val="100000"/>
              </a:lnSpc>
              <a:spcBef>
                <a:spcPts val="434"/>
              </a:spcBef>
              <a:buClr>
                <a:srgbClr val="3333B2"/>
              </a:buClr>
              <a:buSzPct val="90909"/>
              <a:tabLst>
                <a:tab pos="128905" algn="l"/>
              </a:tabLst>
            </a:pPr>
            <a:r>
              <a:rPr lang="en-US" sz="800" b="0" i="0" dirty="0">
                <a:solidFill>
                  <a:srgbClr val="333333"/>
                </a:solidFill>
                <a:effectLst/>
                <a:latin typeface="Merriweather" panose="00000500000000000000" pitchFamily="2" charset="0"/>
              </a:rPr>
              <a:t>Who has ownership of the data?</a:t>
            </a:r>
          </a:p>
          <a:p>
            <a:pPr marL="12065">
              <a:lnSpc>
                <a:spcPct val="100000"/>
              </a:lnSpc>
              <a:spcBef>
                <a:spcPts val="434"/>
              </a:spcBef>
              <a:buClr>
                <a:srgbClr val="3333B2"/>
              </a:buClr>
              <a:buSzPct val="90909"/>
              <a:tabLst>
                <a:tab pos="128905" algn="l"/>
              </a:tabLst>
            </a:pPr>
            <a:r>
              <a:rPr lang="en-US" sz="800" b="0" i="0" dirty="0">
                <a:solidFill>
                  <a:srgbClr val="333333"/>
                </a:solidFill>
                <a:effectLst/>
                <a:latin typeface="Merriweather" panose="00000500000000000000" pitchFamily="2" charset="0"/>
              </a:rPr>
              <a:t>Who can access what data?</a:t>
            </a:r>
          </a:p>
          <a:p>
            <a:pPr marL="12065">
              <a:lnSpc>
                <a:spcPct val="100000"/>
              </a:lnSpc>
              <a:spcBef>
                <a:spcPts val="434"/>
              </a:spcBef>
              <a:buClr>
                <a:srgbClr val="3333B2"/>
              </a:buClr>
              <a:buSzPct val="90909"/>
              <a:tabLst>
                <a:tab pos="128905" algn="l"/>
              </a:tabLst>
            </a:pPr>
            <a:r>
              <a:rPr lang="en-US" sz="800" b="0" i="0" dirty="0">
                <a:solidFill>
                  <a:srgbClr val="333333"/>
                </a:solidFill>
                <a:effectLst/>
                <a:latin typeface="Merriweather" panose="00000500000000000000" pitchFamily="2" charset="0"/>
              </a:rPr>
              <a:t>What security measures are in place to protect data and privacy?</a:t>
            </a:r>
          </a:p>
          <a:p>
            <a:pPr marL="12065">
              <a:lnSpc>
                <a:spcPct val="100000"/>
              </a:lnSpc>
              <a:spcBef>
                <a:spcPts val="434"/>
              </a:spcBef>
              <a:buClr>
                <a:srgbClr val="3333B2"/>
              </a:buClr>
              <a:buSzPct val="90909"/>
              <a:tabLst>
                <a:tab pos="128905" algn="l"/>
              </a:tabLst>
            </a:pPr>
            <a:r>
              <a:rPr lang="en-US" sz="800" b="0" i="0" dirty="0">
                <a:solidFill>
                  <a:srgbClr val="333333"/>
                </a:solidFill>
                <a:effectLst/>
                <a:latin typeface="Merriweather" panose="00000500000000000000" pitchFamily="2" charset="0"/>
              </a:rPr>
              <a:t>How much of our data is compliant with new regulations?</a:t>
            </a:r>
          </a:p>
          <a:p>
            <a:pPr marL="12065">
              <a:lnSpc>
                <a:spcPct val="100000"/>
              </a:lnSpc>
              <a:spcBef>
                <a:spcPts val="434"/>
              </a:spcBef>
              <a:buClr>
                <a:srgbClr val="3333B2"/>
              </a:buClr>
              <a:buSzPct val="90909"/>
              <a:tabLst>
                <a:tab pos="128905" algn="l"/>
              </a:tabLst>
            </a:pPr>
            <a:r>
              <a:rPr lang="en-US" sz="800" b="0" i="0" dirty="0">
                <a:solidFill>
                  <a:srgbClr val="333333"/>
                </a:solidFill>
                <a:effectLst/>
                <a:latin typeface="Merriweather" panose="00000500000000000000" pitchFamily="2" charset="0"/>
              </a:rPr>
              <a:t>Which data sources are approved to use?</a:t>
            </a:r>
            <a:endParaRPr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1949980"/>
      </p:ext>
    </p:extLst>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3747490" cy="386644"/>
          </a:xfrm>
          <a:prstGeom prst="rect">
            <a:avLst/>
          </a:prstGeom>
        </p:spPr>
        <p:txBody>
          <a:bodyPr vert="horz" wrap="square" lIns="0" tIns="17145" rIns="0" bIns="0" rtlCol="0">
            <a:spAutoFit/>
          </a:bodyPr>
          <a:lstStyle/>
          <a:p>
            <a:pPr marL="12700">
              <a:lnSpc>
                <a:spcPct val="100000"/>
              </a:lnSpc>
              <a:spcBef>
                <a:spcPts val="135"/>
              </a:spcBef>
            </a:pPr>
            <a:r>
              <a:rPr sz="1200" spc="5" dirty="0"/>
              <a:t>Why </a:t>
            </a:r>
            <a:r>
              <a:rPr sz="1200" spc="15" dirty="0"/>
              <a:t>study data</a:t>
            </a:r>
            <a:r>
              <a:rPr sz="1200" spc="-65" dirty="0"/>
              <a:t> </a:t>
            </a:r>
            <a:r>
              <a:rPr sz="1200" spc="20" dirty="0"/>
              <a:t>management?</a:t>
            </a:r>
            <a:br>
              <a:rPr lang="en-US" sz="1200" spc="20" dirty="0"/>
            </a:br>
            <a:r>
              <a:rPr lang="en-US" sz="1200" spc="20" dirty="0"/>
              <a:t>In other words, why study database management?</a:t>
            </a:r>
            <a:endParaRPr sz="1200" spc="20" dirty="0"/>
          </a:p>
        </p:txBody>
      </p:sp>
      <p:sp>
        <p:nvSpPr>
          <p:cNvPr id="24" name="object 24"/>
          <p:cNvSpPr txBox="1"/>
          <p:nvPr/>
        </p:nvSpPr>
        <p:spPr>
          <a:xfrm>
            <a:off x="259575" y="1194471"/>
            <a:ext cx="2994025" cy="828040"/>
          </a:xfrm>
          <a:prstGeom prst="rect">
            <a:avLst/>
          </a:prstGeom>
        </p:spPr>
        <p:txBody>
          <a:bodyPr vert="horz" wrap="square" lIns="0" tIns="55244" rIns="0" bIns="0" rtlCol="0">
            <a:spAutoFit/>
          </a:bodyPr>
          <a:lstStyle/>
          <a:p>
            <a:pPr marL="128270" indent="-116205">
              <a:lnSpc>
                <a:spcPct val="100000"/>
              </a:lnSpc>
              <a:spcBef>
                <a:spcPts val="434"/>
              </a:spcBef>
              <a:buClr>
                <a:srgbClr val="3333B2"/>
              </a:buClr>
              <a:buSzPct val="90909"/>
              <a:buAutoNum type="arabicPeriod"/>
              <a:tabLst>
                <a:tab pos="128905" algn="l"/>
              </a:tabLst>
            </a:pPr>
            <a:r>
              <a:rPr sz="1100" spc="-10" dirty="0">
                <a:latin typeface="Arial"/>
                <a:cs typeface="Arial"/>
              </a:rPr>
              <a:t>The </a:t>
            </a:r>
            <a:r>
              <a:rPr sz="1100" spc="-5" dirty="0">
                <a:latin typeface="Arial"/>
                <a:cs typeface="Arial"/>
              </a:rPr>
              <a:t>database </a:t>
            </a:r>
            <a:r>
              <a:rPr sz="1100" spc="-10" dirty="0">
                <a:latin typeface="Arial"/>
                <a:cs typeface="Arial"/>
              </a:rPr>
              <a:t>market </a:t>
            </a:r>
            <a:r>
              <a:rPr sz="1100" spc="-5" dirty="0">
                <a:latin typeface="Arial"/>
                <a:cs typeface="Arial"/>
              </a:rPr>
              <a:t>is</a:t>
            </a:r>
            <a:r>
              <a:rPr sz="1100" dirty="0">
                <a:latin typeface="Arial"/>
                <a:cs typeface="Arial"/>
              </a:rPr>
              <a:t> </a:t>
            </a:r>
            <a:r>
              <a:rPr sz="1100" spc="-10" dirty="0">
                <a:latin typeface="Arial"/>
                <a:cs typeface="Arial"/>
              </a:rPr>
              <a:t>huge</a:t>
            </a:r>
            <a:endParaRPr sz="1100">
              <a:latin typeface="Arial"/>
              <a:cs typeface="Arial"/>
            </a:endParaRPr>
          </a:p>
          <a:p>
            <a:pPr marL="12700" marR="5715">
              <a:lnSpc>
                <a:spcPct val="125299"/>
              </a:lnSpc>
              <a:buClr>
                <a:srgbClr val="3333B2"/>
              </a:buClr>
              <a:buSzPct val="90909"/>
              <a:buAutoNum type="arabicPeriod"/>
              <a:tabLst>
                <a:tab pos="128905" algn="l"/>
              </a:tabLst>
            </a:pPr>
            <a:r>
              <a:rPr sz="1100" spc="-15" dirty="0">
                <a:latin typeface="Arial"/>
                <a:cs typeface="Arial"/>
              </a:rPr>
              <a:t>There’s </a:t>
            </a:r>
            <a:r>
              <a:rPr sz="1100" spc="-10" dirty="0">
                <a:latin typeface="Arial"/>
                <a:cs typeface="Arial"/>
              </a:rPr>
              <a:t>a </a:t>
            </a:r>
            <a:r>
              <a:rPr sz="1100" spc="-5" dirty="0">
                <a:latin typeface="Arial"/>
                <a:cs typeface="Arial"/>
              </a:rPr>
              <a:t>big </a:t>
            </a:r>
            <a:r>
              <a:rPr sz="1100" spc="-10" dirty="0">
                <a:latin typeface="Arial"/>
                <a:cs typeface="Arial"/>
              </a:rPr>
              <a:t>demand </a:t>
            </a:r>
            <a:r>
              <a:rPr sz="1100" spc="-20" dirty="0">
                <a:latin typeface="Arial"/>
                <a:cs typeface="Arial"/>
              </a:rPr>
              <a:t>for </a:t>
            </a:r>
            <a:r>
              <a:rPr sz="1100" spc="-5" dirty="0">
                <a:latin typeface="Arial"/>
                <a:cs typeface="Arial"/>
              </a:rPr>
              <a:t>database skills </a:t>
            </a:r>
            <a:r>
              <a:rPr sz="1100" spc="-5" dirty="0">
                <a:solidFill>
                  <a:srgbClr val="3333B2"/>
                </a:solidFill>
                <a:latin typeface="Arial"/>
                <a:cs typeface="Arial"/>
              </a:rPr>
              <a:t> 3.</a:t>
            </a:r>
            <a:r>
              <a:rPr sz="1100" spc="-5" dirty="0">
                <a:latin typeface="Arial"/>
                <a:cs typeface="Arial"/>
              </a:rPr>
              <a:t>Managing data is </a:t>
            </a:r>
            <a:r>
              <a:rPr sz="1100" spc="-10" dirty="0">
                <a:latin typeface="Arial"/>
                <a:cs typeface="Arial"/>
              </a:rPr>
              <a:t>a </a:t>
            </a:r>
            <a:r>
              <a:rPr sz="1100" spc="-5" dirty="0">
                <a:latin typeface="Arial"/>
                <a:cs typeface="Arial"/>
              </a:rPr>
              <a:t>fundamental </a:t>
            </a:r>
            <a:r>
              <a:rPr sz="1100" spc="-10" dirty="0">
                <a:latin typeface="Arial"/>
                <a:cs typeface="Arial"/>
              </a:rPr>
              <a:t>need </a:t>
            </a:r>
            <a:r>
              <a:rPr sz="1100" spc="-20" dirty="0">
                <a:latin typeface="Arial"/>
                <a:cs typeface="Arial"/>
              </a:rPr>
              <a:t>for</a:t>
            </a:r>
            <a:r>
              <a:rPr sz="1100" spc="-50" dirty="0">
                <a:latin typeface="Arial"/>
                <a:cs typeface="Arial"/>
              </a:rPr>
              <a:t> </a:t>
            </a:r>
            <a:r>
              <a:rPr sz="1100" spc="-5" dirty="0">
                <a:latin typeface="Arial"/>
                <a:cs typeface="Arial"/>
              </a:rPr>
              <a:t>most</a:t>
            </a:r>
            <a:endParaRPr sz="1100">
              <a:latin typeface="Arial"/>
              <a:cs typeface="Arial"/>
            </a:endParaRPr>
          </a:p>
          <a:p>
            <a:pPr marL="197485">
              <a:lnSpc>
                <a:spcPct val="100000"/>
              </a:lnSpc>
              <a:spcBef>
                <a:spcPts val="35"/>
              </a:spcBef>
            </a:pPr>
            <a:r>
              <a:rPr sz="1100" spc="-5" dirty="0">
                <a:latin typeface="Arial"/>
                <a:cs typeface="Arial"/>
              </a:rPr>
              <a:t>applications</a:t>
            </a:r>
            <a:endParaRPr sz="1100">
              <a:latin typeface="Arial"/>
              <a:cs typeface="Arial"/>
            </a:endParaRPr>
          </a:p>
        </p:txBody>
      </p:sp>
    </p:spTree>
    <p:extLst>
      <p:ext uri="{BB962C8B-B14F-4D97-AF65-F5344CB8AC3E}">
        <p14:creationId xmlns:p14="http://schemas.microsoft.com/office/powerpoint/2010/main" val="2914006948"/>
      </p:ext>
    </p:extLst>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1717039" cy="244475"/>
          </a:xfrm>
          <a:prstGeom prst="rect">
            <a:avLst/>
          </a:prstGeom>
        </p:spPr>
        <p:txBody>
          <a:bodyPr vert="horz" wrap="square" lIns="0" tIns="17145" rIns="0" bIns="0" rtlCol="0">
            <a:spAutoFit/>
          </a:bodyPr>
          <a:lstStyle/>
          <a:p>
            <a:pPr marL="12700">
              <a:lnSpc>
                <a:spcPct val="100000"/>
              </a:lnSpc>
              <a:spcBef>
                <a:spcPts val="135"/>
              </a:spcBef>
            </a:pPr>
            <a:r>
              <a:rPr spc="20" dirty="0"/>
              <a:t>What </a:t>
            </a:r>
            <a:r>
              <a:rPr spc="10" dirty="0"/>
              <a:t>is </a:t>
            </a:r>
            <a:r>
              <a:rPr spc="15" dirty="0"/>
              <a:t>a</a:t>
            </a:r>
            <a:r>
              <a:rPr spc="-70" dirty="0"/>
              <a:t> </a:t>
            </a:r>
            <a:r>
              <a:rPr spc="15" dirty="0"/>
              <a:t>Database?</a:t>
            </a:r>
          </a:p>
        </p:txBody>
      </p:sp>
      <p:sp>
        <p:nvSpPr>
          <p:cNvPr id="24" name="object 24"/>
          <p:cNvSpPr txBox="1"/>
          <p:nvPr/>
        </p:nvSpPr>
        <p:spPr>
          <a:xfrm>
            <a:off x="241960" y="1262631"/>
            <a:ext cx="2981960" cy="655955"/>
          </a:xfrm>
          <a:prstGeom prst="rect">
            <a:avLst/>
          </a:prstGeom>
        </p:spPr>
        <p:txBody>
          <a:bodyPr vert="horz" wrap="square" lIns="0" tIns="55244" rIns="0" bIns="0" rtlCol="0">
            <a:spAutoFit/>
          </a:bodyPr>
          <a:lstStyle/>
          <a:p>
            <a:pPr marL="214629" indent="-177165">
              <a:lnSpc>
                <a:spcPct val="100000"/>
              </a:lnSpc>
              <a:spcBef>
                <a:spcPts val="434"/>
              </a:spcBef>
              <a:buClr>
                <a:srgbClr val="3333B2"/>
              </a:buClr>
              <a:buChar char="►"/>
              <a:tabLst>
                <a:tab pos="215265" algn="l"/>
              </a:tabLst>
            </a:pPr>
            <a:r>
              <a:rPr sz="1100" spc="-10" dirty="0">
                <a:latin typeface="Arial"/>
                <a:cs typeface="Arial"/>
              </a:rPr>
              <a:t>A </a:t>
            </a:r>
            <a:r>
              <a:rPr sz="1100" spc="-5" dirty="0">
                <a:latin typeface="Arial"/>
                <a:cs typeface="Arial"/>
              </a:rPr>
              <a:t>database is </a:t>
            </a:r>
            <a:r>
              <a:rPr sz="1100" spc="-10" dirty="0">
                <a:latin typeface="Arial"/>
                <a:cs typeface="Arial"/>
              </a:rPr>
              <a:t>a </a:t>
            </a:r>
            <a:r>
              <a:rPr sz="1100" spc="-5" dirty="0">
                <a:latin typeface="Arial"/>
                <a:cs typeface="Arial"/>
              </a:rPr>
              <a:t>collection of </a:t>
            </a:r>
            <a:r>
              <a:rPr sz="1100" i="1" spc="-5" dirty="0">
                <a:latin typeface="Arial"/>
                <a:cs typeface="Arial"/>
              </a:rPr>
              <a:t>persistent</a:t>
            </a:r>
            <a:r>
              <a:rPr sz="1100" i="1" spc="55" dirty="0">
                <a:latin typeface="Arial"/>
                <a:cs typeface="Arial"/>
              </a:rPr>
              <a:t> </a:t>
            </a:r>
            <a:r>
              <a:rPr sz="1100" spc="-5" dirty="0">
                <a:latin typeface="Arial"/>
                <a:cs typeface="Arial"/>
              </a:rPr>
              <a:t>data</a:t>
            </a:r>
            <a:endParaRPr sz="1100" dirty="0">
              <a:latin typeface="Arial"/>
              <a:cs typeface="Arial"/>
            </a:endParaRPr>
          </a:p>
          <a:p>
            <a:pPr marL="214629" indent="-177165">
              <a:lnSpc>
                <a:spcPct val="100000"/>
              </a:lnSpc>
              <a:spcBef>
                <a:spcPts val="334"/>
              </a:spcBef>
              <a:buClr>
                <a:srgbClr val="3333B2"/>
              </a:buClr>
              <a:buChar char="►"/>
              <a:tabLst>
                <a:tab pos="215265" algn="l"/>
              </a:tabLst>
            </a:pPr>
            <a:r>
              <a:rPr sz="1100" spc="-10" dirty="0">
                <a:latin typeface="Arial"/>
                <a:cs typeface="Arial"/>
              </a:rPr>
              <a:t>A </a:t>
            </a:r>
            <a:r>
              <a:rPr sz="1100" spc="-5" dirty="0">
                <a:latin typeface="Arial"/>
                <a:cs typeface="Arial"/>
              </a:rPr>
              <a:t>database models </a:t>
            </a:r>
            <a:r>
              <a:rPr sz="1100" spc="5" dirty="0">
                <a:latin typeface="Arial"/>
                <a:cs typeface="Arial"/>
              </a:rPr>
              <a:t>part </a:t>
            </a:r>
            <a:r>
              <a:rPr sz="1100" spc="-5" dirty="0">
                <a:latin typeface="Arial"/>
                <a:cs typeface="Arial"/>
              </a:rPr>
              <a:t>of the real</a:t>
            </a:r>
            <a:r>
              <a:rPr sz="1100" spc="-50" dirty="0">
                <a:latin typeface="Arial"/>
                <a:cs typeface="Arial"/>
              </a:rPr>
              <a:t> </a:t>
            </a:r>
            <a:r>
              <a:rPr sz="1100" spc="-5" dirty="0">
                <a:latin typeface="Arial"/>
                <a:cs typeface="Arial"/>
              </a:rPr>
              <a:t>world</a:t>
            </a:r>
            <a:endParaRPr sz="1100" dirty="0">
              <a:latin typeface="Arial"/>
              <a:cs typeface="Arial"/>
            </a:endParaRPr>
          </a:p>
          <a:p>
            <a:pPr marL="214629" indent="-177165">
              <a:lnSpc>
                <a:spcPct val="100000"/>
              </a:lnSpc>
              <a:spcBef>
                <a:spcPts val="330"/>
              </a:spcBef>
              <a:buClr>
                <a:srgbClr val="3333B2"/>
              </a:buClr>
              <a:buChar char="►"/>
              <a:tabLst>
                <a:tab pos="215265" algn="l"/>
              </a:tabLst>
            </a:pPr>
            <a:r>
              <a:rPr sz="1100" spc="-10" dirty="0">
                <a:latin typeface="Arial"/>
                <a:cs typeface="Arial"/>
              </a:rPr>
              <a:t>A </a:t>
            </a:r>
            <a:r>
              <a:rPr sz="1100" spc="-5" dirty="0">
                <a:latin typeface="Arial"/>
                <a:cs typeface="Arial"/>
              </a:rPr>
              <a:t>database </a:t>
            </a:r>
            <a:r>
              <a:rPr sz="1100" spc="-10" dirty="0">
                <a:latin typeface="Arial"/>
                <a:cs typeface="Arial"/>
              </a:rPr>
              <a:t>is, </a:t>
            </a:r>
            <a:r>
              <a:rPr sz="1100" spc="-5" dirty="0">
                <a:latin typeface="Arial"/>
                <a:cs typeface="Arial"/>
              </a:rPr>
              <a:t>in </a:t>
            </a:r>
            <a:r>
              <a:rPr sz="1100" spc="-10" dirty="0">
                <a:latin typeface="Arial"/>
                <a:cs typeface="Arial"/>
              </a:rPr>
              <a:t>general, a </a:t>
            </a:r>
            <a:r>
              <a:rPr sz="1100" i="1" spc="-5" dirty="0">
                <a:latin typeface="Arial"/>
                <a:cs typeface="Arial"/>
              </a:rPr>
              <a:t>shared</a:t>
            </a:r>
            <a:r>
              <a:rPr sz="1100" i="1" spc="75" dirty="0">
                <a:latin typeface="Arial"/>
                <a:cs typeface="Arial"/>
              </a:rPr>
              <a:t> </a:t>
            </a:r>
            <a:r>
              <a:rPr sz="1100" spc="-5" dirty="0">
                <a:latin typeface="Arial"/>
                <a:cs typeface="Arial"/>
              </a:rPr>
              <a:t>resource</a:t>
            </a:r>
            <a:endParaRPr sz="1100" dirty="0">
              <a:latin typeface="Arial"/>
              <a:cs typeface="Arial"/>
            </a:endParaRP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8214"/>
            <a:ext cx="3387725" cy="471805"/>
          </a:xfrm>
          <a:prstGeom prst="rect">
            <a:avLst/>
          </a:prstGeom>
        </p:spPr>
        <p:txBody>
          <a:bodyPr vert="horz" wrap="square" lIns="0" tIns="2540" rIns="0" bIns="0" rtlCol="0">
            <a:spAutoFit/>
          </a:bodyPr>
          <a:lstStyle/>
          <a:p>
            <a:pPr marL="12700" marR="5080">
              <a:lnSpc>
                <a:spcPct val="106700"/>
              </a:lnSpc>
              <a:spcBef>
                <a:spcPts val="20"/>
              </a:spcBef>
            </a:pPr>
            <a:r>
              <a:rPr spc="20" dirty="0"/>
              <a:t>What </a:t>
            </a:r>
            <a:r>
              <a:rPr spc="10" dirty="0"/>
              <a:t>is </a:t>
            </a:r>
            <a:r>
              <a:rPr spc="15" dirty="0"/>
              <a:t>a Database </a:t>
            </a:r>
            <a:r>
              <a:rPr spc="20" dirty="0"/>
              <a:t>Management</a:t>
            </a:r>
            <a:r>
              <a:rPr spc="-75" dirty="0"/>
              <a:t> </a:t>
            </a:r>
            <a:r>
              <a:rPr spc="15" dirty="0"/>
              <a:t>System  </a:t>
            </a:r>
            <a:r>
              <a:rPr spc="20" dirty="0"/>
              <a:t>(DBMS)?</a:t>
            </a:r>
          </a:p>
        </p:txBody>
      </p:sp>
      <p:sp>
        <p:nvSpPr>
          <p:cNvPr id="24" name="object 24"/>
          <p:cNvSpPr txBox="1"/>
          <p:nvPr/>
        </p:nvSpPr>
        <p:spPr>
          <a:xfrm>
            <a:off x="167297" y="1289925"/>
            <a:ext cx="3553460" cy="956310"/>
          </a:xfrm>
          <a:prstGeom prst="rect">
            <a:avLst/>
          </a:prstGeom>
        </p:spPr>
        <p:txBody>
          <a:bodyPr vert="horz" wrap="square" lIns="0" tIns="6985" rIns="0" bIns="0" rtlCol="0">
            <a:spAutoFit/>
          </a:bodyPr>
          <a:lstStyle/>
          <a:p>
            <a:pPr marL="12700" marR="5080" algn="just">
              <a:lnSpc>
                <a:spcPct val="102600"/>
              </a:lnSpc>
              <a:spcBef>
                <a:spcPts val="55"/>
              </a:spcBef>
            </a:pPr>
            <a:r>
              <a:rPr sz="1100" spc="-10" dirty="0">
                <a:latin typeface="Arial"/>
                <a:cs typeface="Arial"/>
              </a:rPr>
              <a:t>A DBMS </a:t>
            </a:r>
            <a:r>
              <a:rPr sz="1100" spc="-5" dirty="0">
                <a:latin typeface="Arial"/>
                <a:cs typeface="Arial"/>
              </a:rPr>
              <a:t>is specialised </a:t>
            </a:r>
            <a:r>
              <a:rPr sz="1100" spc="-10" dirty="0">
                <a:latin typeface="Arial"/>
                <a:cs typeface="Arial"/>
              </a:rPr>
              <a:t>software </a:t>
            </a:r>
            <a:r>
              <a:rPr sz="1100" spc="-5" dirty="0">
                <a:latin typeface="Arial"/>
                <a:cs typeface="Arial"/>
              </a:rPr>
              <a:t>which is </a:t>
            </a:r>
            <a:r>
              <a:rPr sz="1100" spc="-10" dirty="0">
                <a:latin typeface="Arial"/>
                <a:cs typeface="Arial"/>
              </a:rPr>
              <a:t>responsible </a:t>
            </a:r>
            <a:r>
              <a:rPr sz="1100" spc="-20" dirty="0">
                <a:latin typeface="Arial"/>
                <a:cs typeface="Arial"/>
              </a:rPr>
              <a:t>for  </a:t>
            </a:r>
            <a:r>
              <a:rPr sz="1100" spc="-5" dirty="0">
                <a:latin typeface="Arial"/>
                <a:cs typeface="Arial"/>
              </a:rPr>
              <a:t>efficient </a:t>
            </a:r>
            <a:r>
              <a:rPr sz="1100" spc="-10" dirty="0">
                <a:latin typeface="Arial"/>
                <a:cs typeface="Arial"/>
              </a:rPr>
              <a:t>storage and retrieval </a:t>
            </a:r>
            <a:r>
              <a:rPr sz="1100" spc="-5" dirty="0">
                <a:latin typeface="Arial"/>
                <a:cs typeface="Arial"/>
              </a:rPr>
              <a:t>of large </a:t>
            </a:r>
            <a:r>
              <a:rPr sz="1100" spc="-10" dirty="0">
                <a:latin typeface="Arial"/>
                <a:cs typeface="Arial"/>
              </a:rPr>
              <a:t>amounts </a:t>
            </a:r>
            <a:r>
              <a:rPr sz="1100" spc="-5" dirty="0">
                <a:latin typeface="Arial"/>
                <a:cs typeface="Arial"/>
              </a:rPr>
              <a:t>of data in  </a:t>
            </a:r>
            <a:r>
              <a:rPr sz="1100" spc="-10" dirty="0">
                <a:latin typeface="Arial"/>
                <a:cs typeface="Arial"/>
              </a:rPr>
              <a:t>a database, allowing </a:t>
            </a:r>
            <a:r>
              <a:rPr sz="1100" spc="-5" dirty="0">
                <a:latin typeface="Arial"/>
                <a:cs typeface="Arial"/>
              </a:rPr>
              <a:t>it to persist </a:t>
            </a:r>
            <a:r>
              <a:rPr sz="1100" spc="-20" dirty="0">
                <a:latin typeface="Arial"/>
                <a:cs typeface="Arial"/>
              </a:rPr>
              <a:t>over </a:t>
            </a:r>
            <a:r>
              <a:rPr sz="1100" spc="-5" dirty="0">
                <a:latin typeface="Arial"/>
                <a:cs typeface="Arial"/>
              </a:rPr>
              <a:t>long periods of</a:t>
            </a:r>
            <a:r>
              <a:rPr sz="1100" spc="-165" dirty="0">
                <a:latin typeface="Arial"/>
                <a:cs typeface="Arial"/>
              </a:rPr>
              <a:t> </a:t>
            </a:r>
            <a:r>
              <a:rPr sz="1100" spc="-10" dirty="0">
                <a:latin typeface="Arial"/>
                <a:cs typeface="Arial"/>
              </a:rPr>
              <a:t>time.</a:t>
            </a:r>
            <a:endParaRPr sz="1100">
              <a:latin typeface="Arial"/>
              <a:cs typeface="Arial"/>
            </a:endParaRPr>
          </a:p>
          <a:p>
            <a:pPr marL="12700" marR="164465" algn="just">
              <a:lnSpc>
                <a:spcPct val="102600"/>
              </a:lnSpc>
              <a:spcBef>
                <a:spcPts val="600"/>
              </a:spcBef>
            </a:pPr>
            <a:r>
              <a:rPr sz="1100" spc="-5" dirty="0">
                <a:latin typeface="Arial"/>
                <a:cs typeface="Arial"/>
              </a:rPr>
              <a:t>(A </a:t>
            </a:r>
            <a:r>
              <a:rPr sz="1100" spc="-10" dirty="0">
                <a:latin typeface="Arial"/>
                <a:cs typeface="Arial"/>
              </a:rPr>
              <a:t>DBMS </a:t>
            </a:r>
            <a:r>
              <a:rPr sz="1100" spc="-5" dirty="0">
                <a:latin typeface="Arial"/>
                <a:cs typeface="Arial"/>
              </a:rPr>
              <a:t>is also often </a:t>
            </a:r>
            <a:r>
              <a:rPr sz="1100" spc="-10" dirty="0">
                <a:latin typeface="Arial"/>
                <a:cs typeface="Arial"/>
              </a:rPr>
              <a:t>referred </a:t>
            </a:r>
            <a:r>
              <a:rPr sz="1100" spc="-5" dirty="0">
                <a:latin typeface="Arial"/>
                <a:cs typeface="Arial"/>
              </a:rPr>
              <a:t>to simply as </a:t>
            </a:r>
            <a:r>
              <a:rPr sz="1100" spc="-10" dirty="0">
                <a:latin typeface="Arial"/>
                <a:cs typeface="Arial"/>
              </a:rPr>
              <a:t>a</a:t>
            </a:r>
            <a:r>
              <a:rPr sz="1100" spc="-45" dirty="0">
                <a:latin typeface="Arial"/>
                <a:cs typeface="Arial"/>
              </a:rPr>
              <a:t> </a:t>
            </a:r>
            <a:r>
              <a:rPr sz="1100" i="1" spc="-5" dirty="0">
                <a:latin typeface="Arial"/>
                <a:cs typeface="Arial"/>
              </a:rPr>
              <a:t>database  system</a:t>
            </a:r>
            <a:r>
              <a:rPr sz="1100" spc="-5" dirty="0">
                <a:latin typeface="Arial"/>
                <a:cs typeface="Arial"/>
              </a:rPr>
              <a:t>.)</a:t>
            </a:r>
            <a:endParaRPr sz="1100">
              <a:latin typeface="Arial"/>
              <a:cs typeface="Arial"/>
            </a:endParaRP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2303145" cy="244475"/>
          </a:xfrm>
          <a:prstGeom prst="rect">
            <a:avLst/>
          </a:prstGeom>
        </p:spPr>
        <p:txBody>
          <a:bodyPr vert="horz" wrap="square" lIns="0" tIns="17145" rIns="0" bIns="0" rtlCol="0">
            <a:spAutoFit/>
          </a:bodyPr>
          <a:lstStyle/>
          <a:p>
            <a:pPr marL="12700">
              <a:lnSpc>
                <a:spcPct val="100000"/>
              </a:lnSpc>
              <a:spcBef>
                <a:spcPts val="135"/>
              </a:spcBef>
            </a:pPr>
            <a:r>
              <a:rPr spc="5" dirty="0"/>
              <a:t>Why </a:t>
            </a:r>
            <a:r>
              <a:rPr spc="20" dirty="0"/>
              <a:t>Do </a:t>
            </a:r>
            <a:r>
              <a:rPr dirty="0"/>
              <a:t>We </a:t>
            </a:r>
            <a:r>
              <a:rPr spc="20" dirty="0"/>
              <a:t>Need </a:t>
            </a:r>
            <a:r>
              <a:rPr spc="15" dirty="0"/>
              <a:t>a</a:t>
            </a:r>
            <a:r>
              <a:rPr spc="-75" dirty="0"/>
              <a:t> </a:t>
            </a:r>
            <a:r>
              <a:rPr spc="20" dirty="0"/>
              <a:t>DBMS?</a:t>
            </a:r>
          </a:p>
        </p:txBody>
      </p:sp>
      <p:sp>
        <p:nvSpPr>
          <p:cNvPr id="24" name="object 24"/>
          <p:cNvSpPr txBox="1"/>
          <p:nvPr/>
        </p:nvSpPr>
        <p:spPr>
          <a:xfrm>
            <a:off x="167297" y="553883"/>
            <a:ext cx="3439160" cy="2522855"/>
          </a:xfrm>
          <a:prstGeom prst="rect">
            <a:avLst/>
          </a:prstGeom>
        </p:spPr>
        <p:txBody>
          <a:bodyPr vert="horz" wrap="square" lIns="0" tIns="6985" rIns="0" bIns="0" rtlCol="0">
            <a:spAutoFit/>
          </a:bodyPr>
          <a:lstStyle/>
          <a:p>
            <a:pPr marL="12700" marR="311785">
              <a:lnSpc>
                <a:spcPct val="102699"/>
              </a:lnSpc>
              <a:spcBef>
                <a:spcPts val="55"/>
              </a:spcBef>
            </a:pPr>
            <a:r>
              <a:rPr sz="1100" spc="-10" dirty="0">
                <a:latin typeface="Arial"/>
                <a:cs typeface="Arial"/>
              </a:rPr>
              <a:t>A DBMS </a:t>
            </a:r>
            <a:r>
              <a:rPr sz="1100" spc="-5" dirty="0">
                <a:latin typeface="Arial"/>
                <a:cs typeface="Arial"/>
              </a:rPr>
              <a:t>is </a:t>
            </a:r>
            <a:r>
              <a:rPr sz="1100" spc="-10" dirty="0">
                <a:latin typeface="Arial"/>
                <a:cs typeface="Arial"/>
              </a:rPr>
              <a:t>a software package </a:t>
            </a:r>
            <a:r>
              <a:rPr sz="1100" spc="-5" dirty="0">
                <a:latin typeface="Arial"/>
                <a:cs typeface="Arial"/>
              </a:rPr>
              <a:t>that handles all the  </a:t>
            </a:r>
            <a:r>
              <a:rPr sz="1100" spc="-10" dirty="0">
                <a:latin typeface="Arial"/>
                <a:cs typeface="Arial"/>
              </a:rPr>
              <a:t>interaction </a:t>
            </a:r>
            <a:r>
              <a:rPr sz="1100" spc="-5" dirty="0">
                <a:latin typeface="Arial"/>
                <a:cs typeface="Arial"/>
              </a:rPr>
              <a:t>of applications with the</a:t>
            </a:r>
            <a:r>
              <a:rPr sz="1100" dirty="0">
                <a:latin typeface="Arial"/>
                <a:cs typeface="Arial"/>
              </a:rPr>
              <a:t> </a:t>
            </a:r>
            <a:r>
              <a:rPr sz="1100" spc="-10" dirty="0">
                <a:latin typeface="Arial"/>
                <a:cs typeface="Arial"/>
              </a:rPr>
              <a:t>database.</a:t>
            </a:r>
            <a:endParaRPr sz="1100" dirty="0">
              <a:latin typeface="Arial"/>
              <a:cs typeface="Arial"/>
            </a:endParaRPr>
          </a:p>
          <a:p>
            <a:pPr marL="220979" indent="-116839">
              <a:lnSpc>
                <a:spcPct val="100000"/>
              </a:lnSpc>
              <a:spcBef>
                <a:spcPts val="630"/>
              </a:spcBef>
              <a:buClr>
                <a:srgbClr val="3333B2"/>
              </a:buClr>
              <a:buSzPct val="90909"/>
              <a:buAutoNum type="arabicPeriod"/>
              <a:tabLst>
                <a:tab pos="221615" algn="l"/>
              </a:tabLst>
            </a:pPr>
            <a:r>
              <a:rPr sz="1100" spc="-5" dirty="0">
                <a:latin typeface="Arial"/>
                <a:cs typeface="Arial"/>
              </a:rPr>
              <a:t>It </a:t>
            </a:r>
            <a:r>
              <a:rPr sz="1100" spc="-20" dirty="0">
                <a:latin typeface="Arial"/>
                <a:cs typeface="Arial"/>
              </a:rPr>
              <a:t>saves </a:t>
            </a:r>
            <a:r>
              <a:rPr sz="1100" spc="-10" dirty="0">
                <a:latin typeface="Arial"/>
                <a:cs typeface="Arial"/>
              </a:rPr>
              <a:t>programmer </a:t>
            </a:r>
            <a:r>
              <a:rPr sz="1100" spc="-5" dirty="0">
                <a:latin typeface="Arial"/>
                <a:cs typeface="Arial"/>
              </a:rPr>
              <a:t>time </a:t>
            </a:r>
            <a:r>
              <a:rPr sz="1100" spc="-20" dirty="0">
                <a:latin typeface="Arial"/>
                <a:cs typeface="Arial"/>
              </a:rPr>
              <a:t>by </a:t>
            </a:r>
            <a:r>
              <a:rPr sz="1100" spc="-10" dirty="0">
                <a:latin typeface="Arial"/>
                <a:cs typeface="Arial"/>
              </a:rPr>
              <a:t>providing a</a:t>
            </a:r>
            <a:r>
              <a:rPr sz="1100" spc="40" dirty="0">
                <a:latin typeface="Arial"/>
                <a:cs typeface="Arial"/>
              </a:rPr>
              <a:t> </a:t>
            </a:r>
            <a:r>
              <a:rPr sz="1100" spc="-10" dirty="0">
                <a:latin typeface="Arial"/>
                <a:cs typeface="Arial"/>
              </a:rPr>
              <a:t>declarative</a:t>
            </a:r>
            <a:endParaRPr sz="1100" dirty="0">
              <a:latin typeface="Arial"/>
              <a:cs typeface="Arial"/>
            </a:endParaRPr>
          </a:p>
          <a:p>
            <a:pPr marL="289560">
              <a:lnSpc>
                <a:spcPct val="100000"/>
              </a:lnSpc>
              <a:spcBef>
                <a:spcPts val="35"/>
              </a:spcBef>
            </a:pPr>
            <a:r>
              <a:rPr sz="1100" i="1" dirty="0">
                <a:latin typeface="Arial"/>
                <a:cs typeface="Arial"/>
              </a:rPr>
              <a:t>query </a:t>
            </a:r>
            <a:r>
              <a:rPr sz="1100" i="1" spc="-10" dirty="0">
                <a:latin typeface="Arial"/>
                <a:cs typeface="Arial"/>
              </a:rPr>
              <a:t>language</a:t>
            </a:r>
            <a:r>
              <a:rPr sz="1100" spc="-10" dirty="0">
                <a:latin typeface="Arial"/>
                <a:cs typeface="Arial"/>
              </a:rPr>
              <a:t>, e.g. SQL.</a:t>
            </a:r>
            <a:endParaRPr sz="1100" dirty="0">
              <a:latin typeface="Arial"/>
              <a:cs typeface="Arial"/>
            </a:endParaRPr>
          </a:p>
          <a:p>
            <a:pPr marL="220979" indent="-116839">
              <a:lnSpc>
                <a:spcPct val="100000"/>
              </a:lnSpc>
              <a:spcBef>
                <a:spcPts val="335"/>
              </a:spcBef>
              <a:buClr>
                <a:srgbClr val="3333B2"/>
              </a:buClr>
              <a:buSzPct val="90909"/>
              <a:buAutoNum type="arabicPeriod" startAt="2"/>
              <a:tabLst>
                <a:tab pos="221615" algn="l"/>
              </a:tabLst>
            </a:pPr>
            <a:r>
              <a:rPr sz="1100" spc="-5" dirty="0">
                <a:latin typeface="Arial"/>
                <a:cs typeface="Arial"/>
              </a:rPr>
              <a:t>It </a:t>
            </a:r>
            <a:r>
              <a:rPr sz="1100" spc="-20" dirty="0">
                <a:latin typeface="Arial"/>
                <a:cs typeface="Arial"/>
              </a:rPr>
              <a:t>saves </a:t>
            </a:r>
            <a:r>
              <a:rPr sz="1100" spc="-10" dirty="0">
                <a:latin typeface="Arial"/>
                <a:cs typeface="Arial"/>
              </a:rPr>
              <a:t>programmer </a:t>
            </a:r>
            <a:r>
              <a:rPr sz="1100" spc="-5" dirty="0">
                <a:latin typeface="Arial"/>
                <a:cs typeface="Arial"/>
              </a:rPr>
              <a:t>time </a:t>
            </a:r>
            <a:r>
              <a:rPr sz="1100" spc="-20" dirty="0">
                <a:latin typeface="Arial"/>
                <a:cs typeface="Arial"/>
              </a:rPr>
              <a:t>by </a:t>
            </a:r>
            <a:r>
              <a:rPr sz="1100" spc="-5" dirty="0">
                <a:latin typeface="Arial"/>
                <a:cs typeface="Arial"/>
              </a:rPr>
              <a:t>automatically</a:t>
            </a:r>
            <a:r>
              <a:rPr sz="1100" spc="15" dirty="0">
                <a:latin typeface="Arial"/>
                <a:cs typeface="Arial"/>
              </a:rPr>
              <a:t> </a:t>
            </a:r>
            <a:r>
              <a:rPr sz="1100" spc="-10" dirty="0">
                <a:latin typeface="Arial"/>
                <a:cs typeface="Arial"/>
              </a:rPr>
              <a:t>checking</a:t>
            </a:r>
            <a:endParaRPr sz="1100" dirty="0">
              <a:latin typeface="Arial"/>
              <a:cs typeface="Arial"/>
            </a:endParaRPr>
          </a:p>
          <a:p>
            <a:pPr marL="289560">
              <a:lnSpc>
                <a:spcPct val="100000"/>
              </a:lnSpc>
              <a:spcBef>
                <a:spcPts val="35"/>
              </a:spcBef>
            </a:pPr>
            <a:r>
              <a:rPr sz="1100" i="1" spc="-10" dirty="0">
                <a:latin typeface="Arial"/>
                <a:cs typeface="Arial"/>
              </a:rPr>
              <a:t>constraints</a:t>
            </a:r>
            <a:r>
              <a:rPr sz="1100" spc="-10" dirty="0">
                <a:latin typeface="Arial"/>
                <a:cs typeface="Arial"/>
              </a:rPr>
              <a:t>.</a:t>
            </a:r>
            <a:endParaRPr sz="1100" dirty="0">
              <a:latin typeface="Arial"/>
              <a:cs typeface="Arial"/>
            </a:endParaRPr>
          </a:p>
          <a:p>
            <a:pPr marL="289560" marR="475615" indent="-185420">
              <a:lnSpc>
                <a:spcPct val="102600"/>
              </a:lnSpc>
              <a:spcBef>
                <a:spcPts val="300"/>
              </a:spcBef>
              <a:buClr>
                <a:srgbClr val="3333B2"/>
              </a:buClr>
              <a:buSzPct val="90909"/>
              <a:buAutoNum type="arabicPeriod" startAt="3"/>
              <a:tabLst>
                <a:tab pos="221615" algn="l"/>
              </a:tabLst>
            </a:pPr>
            <a:r>
              <a:rPr sz="1100" spc="-5" dirty="0">
                <a:latin typeface="Arial"/>
                <a:cs typeface="Arial"/>
              </a:rPr>
              <a:t>It </a:t>
            </a:r>
            <a:r>
              <a:rPr sz="1100" spc="-20" dirty="0">
                <a:latin typeface="Arial"/>
                <a:cs typeface="Arial"/>
              </a:rPr>
              <a:t>saves </a:t>
            </a:r>
            <a:r>
              <a:rPr sz="1100" spc="-5" dirty="0">
                <a:latin typeface="Arial"/>
                <a:cs typeface="Arial"/>
              </a:rPr>
              <a:t>maintenance time </a:t>
            </a:r>
            <a:r>
              <a:rPr sz="1100" spc="-20" dirty="0">
                <a:latin typeface="Arial"/>
                <a:cs typeface="Arial"/>
              </a:rPr>
              <a:t>by </a:t>
            </a:r>
            <a:r>
              <a:rPr sz="1100" spc="-5" dirty="0">
                <a:latin typeface="Arial"/>
                <a:cs typeface="Arial"/>
              </a:rPr>
              <a:t>ensuring </a:t>
            </a:r>
            <a:r>
              <a:rPr sz="1100" i="1" spc="-5" dirty="0">
                <a:latin typeface="Arial"/>
                <a:cs typeface="Arial"/>
              </a:rPr>
              <a:t>data  independence</a:t>
            </a:r>
            <a:r>
              <a:rPr sz="1100" spc="-5" dirty="0">
                <a:latin typeface="Arial"/>
                <a:cs typeface="Arial"/>
              </a:rPr>
              <a:t>.</a:t>
            </a:r>
            <a:endParaRPr sz="1100" dirty="0">
              <a:latin typeface="Arial"/>
              <a:cs typeface="Arial"/>
            </a:endParaRPr>
          </a:p>
          <a:p>
            <a:pPr marL="289560" marR="151765" indent="-185420">
              <a:lnSpc>
                <a:spcPct val="102600"/>
              </a:lnSpc>
              <a:spcBef>
                <a:spcPts val="300"/>
              </a:spcBef>
              <a:buClr>
                <a:srgbClr val="3333B2"/>
              </a:buClr>
              <a:buSzPct val="90909"/>
              <a:buAutoNum type="arabicPeriod" startAt="3"/>
              <a:tabLst>
                <a:tab pos="221615" algn="l"/>
              </a:tabLst>
            </a:pPr>
            <a:r>
              <a:rPr sz="1100" spc="-5" dirty="0">
                <a:latin typeface="Arial"/>
                <a:cs typeface="Arial"/>
              </a:rPr>
              <a:t>It </a:t>
            </a:r>
            <a:r>
              <a:rPr sz="1100" spc="-10" dirty="0">
                <a:latin typeface="Arial"/>
                <a:cs typeface="Arial"/>
              </a:rPr>
              <a:t>provides </a:t>
            </a:r>
            <a:r>
              <a:rPr sz="1100" i="1" spc="-5" dirty="0">
                <a:latin typeface="Arial"/>
                <a:cs typeface="Arial"/>
              </a:rPr>
              <a:t>concurrent access </a:t>
            </a:r>
            <a:r>
              <a:rPr sz="1100" spc="-5" dirty="0">
                <a:latin typeface="Arial"/>
                <a:cs typeface="Arial"/>
              </a:rPr>
              <a:t>to the database </a:t>
            </a:r>
            <a:r>
              <a:rPr sz="1100" spc="-20" dirty="0">
                <a:latin typeface="Arial"/>
                <a:cs typeface="Arial"/>
              </a:rPr>
              <a:t>for  </a:t>
            </a:r>
            <a:r>
              <a:rPr sz="1100" spc="-10" dirty="0">
                <a:latin typeface="Arial"/>
                <a:cs typeface="Arial"/>
              </a:rPr>
              <a:t>multiple, simultaneous</a:t>
            </a:r>
            <a:r>
              <a:rPr sz="1100" spc="-5" dirty="0">
                <a:latin typeface="Arial"/>
                <a:cs typeface="Arial"/>
              </a:rPr>
              <a:t> </a:t>
            </a:r>
            <a:r>
              <a:rPr sz="1100" spc="-10" dirty="0">
                <a:latin typeface="Arial"/>
                <a:cs typeface="Arial"/>
              </a:rPr>
              <a:t>users.</a:t>
            </a:r>
            <a:endParaRPr sz="1100" dirty="0">
              <a:latin typeface="Arial"/>
              <a:cs typeface="Arial"/>
            </a:endParaRPr>
          </a:p>
          <a:p>
            <a:pPr marL="220979" indent="-116839">
              <a:lnSpc>
                <a:spcPct val="100000"/>
              </a:lnSpc>
              <a:spcBef>
                <a:spcPts val="334"/>
              </a:spcBef>
              <a:buClr>
                <a:srgbClr val="3333B2"/>
              </a:buClr>
              <a:buSzPct val="90909"/>
              <a:buAutoNum type="arabicPeriod" startAt="3"/>
              <a:tabLst>
                <a:tab pos="221615" algn="l"/>
              </a:tabLst>
            </a:pPr>
            <a:r>
              <a:rPr sz="1100" spc="-5" dirty="0">
                <a:latin typeface="Arial"/>
                <a:cs typeface="Arial"/>
              </a:rPr>
              <a:t>It </a:t>
            </a:r>
            <a:r>
              <a:rPr sz="1100" spc="-10" dirty="0">
                <a:latin typeface="Arial"/>
                <a:cs typeface="Arial"/>
              </a:rPr>
              <a:t>provides </a:t>
            </a:r>
            <a:r>
              <a:rPr sz="1100" spc="-5" dirty="0">
                <a:latin typeface="Arial"/>
                <a:cs typeface="Arial"/>
              </a:rPr>
              <a:t>automatic </a:t>
            </a:r>
            <a:r>
              <a:rPr sz="1100" i="1" spc="-10" dirty="0">
                <a:latin typeface="Arial"/>
                <a:cs typeface="Arial"/>
              </a:rPr>
              <a:t>recovery </a:t>
            </a:r>
            <a:r>
              <a:rPr sz="1100" spc="-5" dirty="0">
                <a:latin typeface="Arial"/>
                <a:cs typeface="Arial"/>
              </a:rPr>
              <a:t>from</a:t>
            </a:r>
            <a:r>
              <a:rPr sz="1100" spc="-55" dirty="0">
                <a:latin typeface="Arial"/>
                <a:cs typeface="Arial"/>
              </a:rPr>
              <a:t> </a:t>
            </a:r>
            <a:r>
              <a:rPr sz="1100" spc="-15" dirty="0">
                <a:latin typeface="Arial"/>
                <a:cs typeface="Arial"/>
              </a:rPr>
              <a:t>failure.</a:t>
            </a:r>
            <a:endParaRPr sz="1100" dirty="0">
              <a:latin typeface="Arial"/>
              <a:cs typeface="Arial"/>
            </a:endParaRPr>
          </a:p>
          <a:p>
            <a:pPr marL="289560" marR="5080" indent="-185420">
              <a:lnSpc>
                <a:spcPct val="102600"/>
              </a:lnSpc>
              <a:spcBef>
                <a:spcPts val="295"/>
              </a:spcBef>
              <a:buClr>
                <a:srgbClr val="3333B2"/>
              </a:buClr>
              <a:buSzPct val="90909"/>
              <a:buAutoNum type="arabicPeriod" startAt="3"/>
              <a:tabLst>
                <a:tab pos="221615" algn="l"/>
              </a:tabLst>
            </a:pPr>
            <a:r>
              <a:rPr sz="1100" spc="-5" dirty="0">
                <a:latin typeface="Arial"/>
                <a:cs typeface="Arial"/>
              </a:rPr>
              <a:t>It </a:t>
            </a:r>
            <a:r>
              <a:rPr sz="1100" spc="-10" dirty="0">
                <a:latin typeface="Arial"/>
                <a:cs typeface="Arial"/>
              </a:rPr>
              <a:t>provides </a:t>
            </a:r>
            <a:r>
              <a:rPr sz="1100" i="1" spc="-5" dirty="0">
                <a:latin typeface="Arial"/>
                <a:cs typeface="Arial"/>
              </a:rPr>
              <a:t>security </a:t>
            </a:r>
            <a:r>
              <a:rPr sz="1100" spc="-5" dirty="0">
                <a:latin typeface="Arial"/>
                <a:cs typeface="Arial"/>
              </a:rPr>
              <a:t>to ensure appropriate access to  data.</a:t>
            </a:r>
            <a:endParaRPr sz="1100" dirty="0">
              <a:latin typeface="Arial"/>
              <a:cs typeface="Arial"/>
            </a:endParaRP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301" y="282575"/>
            <a:ext cx="4419498" cy="646331"/>
          </a:xfrm>
        </p:spPr>
        <p:txBody>
          <a:bodyPr/>
          <a:lstStyle/>
          <a:p>
            <a:r>
              <a:rPr lang="en-US" dirty="0"/>
              <a:t>Exploration Task (10 minutes): </a:t>
            </a:r>
            <a:br>
              <a:rPr lang="en-US" dirty="0"/>
            </a:br>
            <a:br>
              <a:rPr lang="en-US" dirty="0"/>
            </a:br>
            <a:r>
              <a:rPr lang="en-US" dirty="0"/>
              <a:t>Types of DBMS</a:t>
            </a:r>
          </a:p>
        </p:txBody>
      </p:sp>
      <p:sp>
        <p:nvSpPr>
          <p:cNvPr id="3" name="Text Placeholder 2"/>
          <p:cNvSpPr>
            <a:spLocks noGrp="1"/>
          </p:cNvSpPr>
          <p:nvPr>
            <p:ph type="body" idx="1"/>
          </p:nvPr>
        </p:nvSpPr>
        <p:spPr>
          <a:xfrm>
            <a:off x="171451" y="968375"/>
            <a:ext cx="3657600" cy="738664"/>
          </a:xfrm>
        </p:spPr>
        <p:txBody>
          <a:bodyPr/>
          <a:lstStyle/>
          <a:p>
            <a:endParaRPr lang="en-US" sz="1200" dirty="0">
              <a:hlinkClick r:id="rId2"/>
            </a:endParaRPr>
          </a:p>
          <a:p>
            <a:endParaRPr lang="en-US" sz="1200" dirty="0">
              <a:hlinkClick r:id="rId2"/>
            </a:endParaRPr>
          </a:p>
          <a:p>
            <a:r>
              <a:rPr lang="en-US" sz="1200" dirty="0">
                <a:hlinkClick r:id="rId2"/>
              </a:rPr>
              <a:t>https://www.includehelp.com/dbms/types-of-database-management-system.aspx</a:t>
            </a:r>
            <a:endParaRPr lang="en-US" sz="1200" dirty="0"/>
          </a:p>
        </p:txBody>
      </p:sp>
    </p:spTree>
    <p:extLst>
      <p:ext uri="{BB962C8B-B14F-4D97-AF65-F5344CB8AC3E}">
        <p14:creationId xmlns:p14="http://schemas.microsoft.com/office/powerpoint/2010/main" val="735372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2170430" cy="244475"/>
          </a:xfrm>
          <a:prstGeom prst="rect">
            <a:avLst/>
          </a:prstGeom>
        </p:spPr>
        <p:txBody>
          <a:bodyPr vert="horz" wrap="square" lIns="0" tIns="17145" rIns="0" bIns="0" rtlCol="0">
            <a:spAutoFit/>
          </a:bodyPr>
          <a:lstStyle/>
          <a:p>
            <a:pPr marL="12700">
              <a:lnSpc>
                <a:spcPct val="100000"/>
              </a:lnSpc>
              <a:spcBef>
                <a:spcPts val="135"/>
              </a:spcBef>
            </a:pPr>
            <a:r>
              <a:rPr spc="15" dirty="0"/>
              <a:t>Three </a:t>
            </a:r>
            <a:r>
              <a:rPr dirty="0"/>
              <a:t>levels </a:t>
            </a:r>
            <a:r>
              <a:rPr spc="10" dirty="0"/>
              <a:t>of</a:t>
            </a:r>
            <a:r>
              <a:rPr spc="-25" dirty="0"/>
              <a:t> </a:t>
            </a:r>
            <a:r>
              <a:rPr spc="10" dirty="0"/>
              <a:t>Abstraction</a:t>
            </a:r>
          </a:p>
        </p:txBody>
      </p:sp>
      <p:sp>
        <p:nvSpPr>
          <p:cNvPr id="24" name="object 24"/>
          <p:cNvSpPr txBox="1"/>
          <p:nvPr/>
        </p:nvSpPr>
        <p:spPr>
          <a:xfrm>
            <a:off x="167297" y="531328"/>
            <a:ext cx="3380104" cy="363855"/>
          </a:xfrm>
          <a:prstGeom prst="rect">
            <a:avLst/>
          </a:prstGeom>
        </p:spPr>
        <p:txBody>
          <a:bodyPr vert="horz" wrap="square" lIns="0" tIns="6985" rIns="0" bIns="0" rtlCol="0">
            <a:spAutoFit/>
          </a:bodyPr>
          <a:lstStyle/>
          <a:p>
            <a:pPr marL="12700" marR="5080">
              <a:lnSpc>
                <a:spcPct val="102600"/>
              </a:lnSpc>
              <a:spcBef>
                <a:spcPts val="55"/>
              </a:spcBef>
            </a:pPr>
            <a:r>
              <a:rPr sz="1100" spc="-10" dirty="0">
                <a:latin typeface="Arial"/>
                <a:cs typeface="Arial"/>
              </a:rPr>
              <a:t>A DBMS </a:t>
            </a:r>
            <a:r>
              <a:rPr sz="1100" spc="-5" dirty="0">
                <a:latin typeface="Arial"/>
                <a:cs typeface="Arial"/>
              </a:rPr>
              <a:t>hides details from the </a:t>
            </a:r>
            <a:r>
              <a:rPr sz="1100" spc="-10" dirty="0">
                <a:latin typeface="Arial"/>
                <a:cs typeface="Arial"/>
              </a:rPr>
              <a:t>user/programmer </a:t>
            </a:r>
            <a:r>
              <a:rPr sz="1100" spc="-5" dirty="0">
                <a:latin typeface="Arial"/>
                <a:cs typeface="Arial"/>
              </a:rPr>
              <a:t>using  three </a:t>
            </a:r>
            <a:r>
              <a:rPr sz="1100" spc="-15" dirty="0">
                <a:latin typeface="Arial"/>
                <a:cs typeface="Arial"/>
              </a:rPr>
              <a:t>levels </a:t>
            </a:r>
            <a:r>
              <a:rPr sz="1100" spc="-5" dirty="0">
                <a:latin typeface="Arial"/>
                <a:cs typeface="Arial"/>
              </a:rPr>
              <a:t>of</a:t>
            </a:r>
            <a:r>
              <a:rPr sz="1100" dirty="0">
                <a:latin typeface="Arial"/>
                <a:cs typeface="Arial"/>
              </a:rPr>
              <a:t> </a:t>
            </a:r>
            <a:r>
              <a:rPr sz="1100" i="1" spc="-10" dirty="0">
                <a:latin typeface="Arial"/>
                <a:cs typeface="Arial"/>
              </a:rPr>
              <a:t>abstraction</a:t>
            </a:r>
            <a:r>
              <a:rPr sz="1100" spc="-10" dirty="0">
                <a:latin typeface="Arial"/>
                <a:cs typeface="Arial"/>
              </a:rPr>
              <a:t>:</a:t>
            </a:r>
            <a:endParaRPr sz="1100" dirty="0">
              <a:latin typeface="Arial"/>
              <a:cs typeface="Arial"/>
            </a:endParaRPr>
          </a:p>
        </p:txBody>
      </p:sp>
      <p:sp>
        <p:nvSpPr>
          <p:cNvPr id="25" name="object 25"/>
          <p:cNvSpPr txBox="1"/>
          <p:nvPr/>
        </p:nvSpPr>
        <p:spPr>
          <a:xfrm>
            <a:off x="622321" y="1176323"/>
            <a:ext cx="482600" cy="193040"/>
          </a:xfrm>
          <a:prstGeom prst="rect">
            <a:avLst/>
          </a:prstGeom>
          <a:ln w="7591">
            <a:solidFill>
              <a:srgbClr val="000000"/>
            </a:solidFill>
          </a:ln>
        </p:spPr>
        <p:txBody>
          <a:bodyPr vert="horz" wrap="square" lIns="0" tIns="5080" rIns="0" bIns="0" rtlCol="0">
            <a:spAutoFit/>
          </a:bodyPr>
          <a:lstStyle/>
          <a:p>
            <a:pPr marL="45720">
              <a:lnSpc>
                <a:spcPct val="100000"/>
              </a:lnSpc>
              <a:spcBef>
                <a:spcPts val="40"/>
              </a:spcBef>
            </a:pPr>
            <a:r>
              <a:rPr sz="1100" spc="-10" dirty="0">
                <a:latin typeface="Arial"/>
                <a:cs typeface="Arial"/>
              </a:rPr>
              <a:t>view</a:t>
            </a:r>
            <a:r>
              <a:rPr sz="1100" spc="-10" dirty="0">
                <a:solidFill>
                  <a:srgbClr val="0000FF"/>
                </a:solidFill>
                <a:latin typeface="Arial"/>
                <a:cs typeface="Arial"/>
              </a:rPr>
              <a:t>1</a:t>
            </a:r>
            <a:endParaRPr sz="1100">
              <a:latin typeface="Arial"/>
              <a:cs typeface="Arial"/>
            </a:endParaRPr>
          </a:p>
        </p:txBody>
      </p:sp>
      <p:sp>
        <p:nvSpPr>
          <p:cNvPr id="26" name="object 26"/>
          <p:cNvSpPr txBox="1"/>
          <p:nvPr/>
        </p:nvSpPr>
        <p:spPr>
          <a:xfrm>
            <a:off x="1702334" y="1176323"/>
            <a:ext cx="482600" cy="193040"/>
          </a:xfrm>
          <a:prstGeom prst="rect">
            <a:avLst/>
          </a:prstGeom>
          <a:ln w="7591">
            <a:solidFill>
              <a:srgbClr val="000000"/>
            </a:solidFill>
          </a:ln>
        </p:spPr>
        <p:txBody>
          <a:bodyPr vert="horz" wrap="square" lIns="0" tIns="5080" rIns="0" bIns="0" rtlCol="0">
            <a:spAutoFit/>
          </a:bodyPr>
          <a:lstStyle/>
          <a:p>
            <a:pPr marL="45720">
              <a:lnSpc>
                <a:spcPct val="100000"/>
              </a:lnSpc>
              <a:spcBef>
                <a:spcPts val="40"/>
              </a:spcBef>
            </a:pPr>
            <a:r>
              <a:rPr sz="1100" spc="-10" dirty="0">
                <a:latin typeface="Arial"/>
                <a:cs typeface="Arial"/>
              </a:rPr>
              <a:t>view</a:t>
            </a:r>
            <a:r>
              <a:rPr sz="1100" spc="-10" dirty="0">
                <a:solidFill>
                  <a:srgbClr val="0000FF"/>
                </a:solidFill>
                <a:latin typeface="Arial"/>
                <a:cs typeface="Arial"/>
              </a:rPr>
              <a:t>2</a:t>
            </a:r>
            <a:endParaRPr sz="1100">
              <a:latin typeface="Arial"/>
              <a:cs typeface="Arial"/>
            </a:endParaRPr>
          </a:p>
        </p:txBody>
      </p:sp>
      <p:sp>
        <p:nvSpPr>
          <p:cNvPr id="27" name="object 27"/>
          <p:cNvSpPr txBox="1"/>
          <p:nvPr/>
        </p:nvSpPr>
        <p:spPr>
          <a:xfrm>
            <a:off x="2378367" y="1152219"/>
            <a:ext cx="187325" cy="191770"/>
          </a:xfrm>
          <a:prstGeom prst="rect">
            <a:avLst/>
          </a:prstGeom>
        </p:spPr>
        <p:txBody>
          <a:bodyPr vert="horz" wrap="square" lIns="0" tIns="11430" rIns="0" bIns="0" rtlCol="0">
            <a:spAutoFit/>
          </a:bodyPr>
          <a:lstStyle/>
          <a:p>
            <a:pPr marL="12700">
              <a:lnSpc>
                <a:spcPct val="100000"/>
              </a:lnSpc>
              <a:spcBef>
                <a:spcPts val="90"/>
              </a:spcBef>
            </a:pPr>
            <a:r>
              <a:rPr sz="1100" i="1" spc="-5" dirty="0">
                <a:solidFill>
                  <a:srgbClr val="0000FF"/>
                </a:solidFill>
                <a:latin typeface="Arial"/>
                <a:cs typeface="Arial"/>
              </a:rPr>
              <a:t>·</a:t>
            </a:r>
            <a:r>
              <a:rPr sz="1100" i="1" spc="-165" dirty="0">
                <a:solidFill>
                  <a:srgbClr val="0000FF"/>
                </a:solidFill>
                <a:latin typeface="Arial"/>
                <a:cs typeface="Arial"/>
              </a:rPr>
              <a:t> </a:t>
            </a:r>
            <a:r>
              <a:rPr sz="1100" i="1" spc="-5" dirty="0">
                <a:solidFill>
                  <a:srgbClr val="0000FF"/>
                </a:solidFill>
                <a:latin typeface="Arial"/>
                <a:cs typeface="Arial"/>
              </a:rPr>
              <a:t>·</a:t>
            </a:r>
            <a:r>
              <a:rPr sz="1100" i="1" spc="-160" dirty="0">
                <a:solidFill>
                  <a:srgbClr val="0000FF"/>
                </a:solidFill>
                <a:latin typeface="Arial"/>
                <a:cs typeface="Arial"/>
              </a:rPr>
              <a:t> </a:t>
            </a:r>
            <a:r>
              <a:rPr sz="1100" i="1" spc="-5" dirty="0">
                <a:solidFill>
                  <a:srgbClr val="0000FF"/>
                </a:solidFill>
                <a:latin typeface="Arial"/>
                <a:cs typeface="Arial"/>
              </a:rPr>
              <a:t>·</a:t>
            </a:r>
            <a:endParaRPr sz="1100">
              <a:latin typeface="Arial"/>
              <a:cs typeface="Arial"/>
            </a:endParaRPr>
          </a:p>
        </p:txBody>
      </p:sp>
      <p:sp>
        <p:nvSpPr>
          <p:cNvPr id="28" name="object 28"/>
          <p:cNvSpPr txBox="1"/>
          <p:nvPr/>
        </p:nvSpPr>
        <p:spPr>
          <a:xfrm>
            <a:off x="2781211" y="1176323"/>
            <a:ext cx="484505" cy="193040"/>
          </a:xfrm>
          <a:prstGeom prst="rect">
            <a:avLst/>
          </a:prstGeom>
          <a:ln w="7591">
            <a:solidFill>
              <a:srgbClr val="000000"/>
            </a:solidFill>
          </a:ln>
        </p:spPr>
        <p:txBody>
          <a:bodyPr vert="horz" wrap="square" lIns="0" tIns="5080" rIns="0" bIns="0" rtlCol="0">
            <a:spAutoFit/>
          </a:bodyPr>
          <a:lstStyle/>
          <a:p>
            <a:pPr marL="45720">
              <a:lnSpc>
                <a:spcPct val="100000"/>
              </a:lnSpc>
              <a:spcBef>
                <a:spcPts val="40"/>
              </a:spcBef>
            </a:pPr>
            <a:r>
              <a:rPr sz="1100" spc="-15" dirty="0">
                <a:latin typeface="Arial"/>
                <a:cs typeface="Arial"/>
              </a:rPr>
              <a:t>view</a:t>
            </a:r>
            <a:r>
              <a:rPr sz="1100" spc="-40" dirty="0">
                <a:latin typeface="Arial"/>
                <a:cs typeface="Arial"/>
              </a:rPr>
              <a:t> </a:t>
            </a:r>
            <a:r>
              <a:rPr sz="1100" i="1" spc="-10" dirty="0">
                <a:solidFill>
                  <a:srgbClr val="0000FF"/>
                </a:solidFill>
                <a:latin typeface="Arial"/>
                <a:cs typeface="Arial"/>
              </a:rPr>
              <a:t>n</a:t>
            </a:r>
            <a:endParaRPr sz="1100" dirty="0">
              <a:latin typeface="Arial"/>
              <a:cs typeface="Arial"/>
            </a:endParaRPr>
          </a:p>
        </p:txBody>
      </p:sp>
      <p:sp>
        <p:nvSpPr>
          <p:cNvPr id="29" name="object 29"/>
          <p:cNvSpPr txBox="1"/>
          <p:nvPr/>
        </p:nvSpPr>
        <p:spPr>
          <a:xfrm>
            <a:off x="1543076" y="1521714"/>
            <a:ext cx="800735" cy="222250"/>
          </a:xfrm>
          <a:prstGeom prst="rect">
            <a:avLst/>
          </a:prstGeom>
          <a:ln w="7591">
            <a:solidFill>
              <a:srgbClr val="000000"/>
            </a:solidFill>
          </a:ln>
        </p:spPr>
        <p:txBody>
          <a:bodyPr vert="horz" wrap="square" lIns="0" tIns="5080" rIns="0" bIns="0" rtlCol="0">
            <a:spAutoFit/>
          </a:bodyPr>
          <a:lstStyle/>
          <a:p>
            <a:pPr marL="45720">
              <a:lnSpc>
                <a:spcPct val="100000"/>
              </a:lnSpc>
              <a:spcBef>
                <a:spcPts val="40"/>
              </a:spcBef>
            </a:pPr>
            <a:r>
              <a:rPr sz="1100" spc="-5" dirty="0">
                <a:latin typeface="Arial"/>
                <a:cs typeface="Arial"/>
              </a:rPr>
              <a:t>logical</a:t>
            </a:r>
            <a:r>
              <a:rPr sz="1100" spc="-40" dirty="0">
                <a:latin typeface="Arial"/>
                <a:cs typeface="Arial"/>
              </a:rPr>
              <a:t> </a:t>
            </a:r>
            <a:r>
              <a:rPr sz="1100" spc="-20" dirty="0">
                <a:latin typeface="Arial"/>
                <a:cs typeface="Arial"/>
              </a:rPr>
              <a:t>level</a:t>
            </a:r>
            <a:endParaRPr sz="1100" dirty="0">
              <a:latin typeface="Arial"/>
              <a:cs typeface="Arial"/>
            </a:endParaRPr>
          </a:p>
        </p:txBody>
      </p:sp>
      <p:sp>
        <p:nvSpPr>
          <p:cNvPr id="30" name="object 30"/>
          <p:cNvSpPr txBox="1"/>
          <p:nvPr/>
        </p:nvSpPr>
        <p:spPr>
          <a:xfrm>
            <a:off x="1491259" y="1882546"/>
            <a:ext cx="904875" cy="220345"/>
          </a:xfrm>
          <a:prstGeom prst="rect">
            <a:avLst/>
          </a:prstGeom>
          <a:ln w="7591">
            <a:solidFill>
              <a:srgbClr val="000000"/>
            </a:solidFill>
          </a:ln>
        </p:spPr>
        <p:txBody>
          <a:bodyPr vert="horz" wrap="square" lIns="0" tIns="5080" rIns="0" bIns="0" rtlCol="0">
            <a:spAutoFit/>
          </a:bodyPr>
          <a:lstStyle/>
          <a:p>
            <a:pPr marL="45720">
              <a:lnSpc>
                <a:spcPct val="100000"/>
              </a:lnSpc>
              <a:spcBef>
                <a:spcPts val="40"/>
              </a:spcBef>
            </a:pPr>
            <a:r>
              <a:rPr sz="1100" spc="-10" dirty="0">
                <a:latin typeface="Arial"/>
                <a:cs typeface="Arial"/>
              </a:rPr>
              <a:t>physical</a:t>
            </a:r>
            <a:r>
              <a:rPr sz="1100" spc="-40" dirty="0">
                <a:latin typeface="Arial"/>
                <a:cs typeface="Arial"/>
              </a:rPr>
              <a:t> </a:t>
            </a:r>
            <a:r>
              <a:rPr sz="1100" spc="-20" dirty="0">
                <a:latin typeface="Arial"/>
                <a:cs typeface="Arial"/>
              </a:rPr>
              <a:t>level</a:t>
            </a:r>
            <a:endParaRPr sz="1100">
              <a:latin typeface="Arial"/>
              <a:cs typeface="Arial"/>
            </a:endParaRPr>
          </a:p>
        </p:txBody>
      </p:sp>
      <p:sp>
        <p:nvSpPr>
          <p:cNvPr id="31" name="object 31"/>
          <p:cNvSpPr/>
          <p:nvPr/>
        </p:nvSpPr>
        <p:spPr>
          <a:xfrm>
            <a:off x="1108339" y="1354201"/>
            <a:ext cx="491490" cy="163830"/>
          </a:xfrm>
          <a:custGeom>
            <a:avLst/>
            <a:gdLst/>
            <a:ahLst/>
            <a:cxnLst/>
            <a:rect l="l" t="t" r="r" b="b"/>
            <a:pathLst>
              <a:path w="491490" h="163830">
                <a:moveTo>
                  <a:pt x="491087" y="163715"/>
                </a:moveTo>
                <a:lnTo>
                  <a:pt x="0" y="0"/>
                </a:lnTo>
              </a:path>
            </a:pathLst>
          </a:custGeom>
          <a:ln w="7591">
            <a:solidFill>
              <a:srgbClr val="000000"/>
            </a:solidFill>
          </a:ln>
        </p:spPr>
        <p:txBody>
          <a:bodyPr wrap="square" lIns="0" tIns="0" rIns="0" bIns="0" rtlCol="0"/>
          <a:lstStyle/>
          <a:p>
            <a:endParaRPr/>
          </a:p>
        </p:txBody>
      </p:sp>
      <p:sp>
        <p:nvSpPr>
          <p:cNvPr id="32" name="object 32"/>
          <p:cNvSpPr/>
          <p:nvPr/>
        </p:nvSpPr>
        <p:spPr>
          <a:xfrm>
            <a:off x="1943442" y="1372781"/>
            <a:ext cx="0" cy="145415"/>
          </a:xfrm>
          <a:custGeom>
            <a:avLst/>
            <a:gdLst/>
            <a:ahLst/>
            <a:cxnLst/>
            <a:rect l="l" t="t" r="r" b="b"/>
            <a:pathLst>
              <a:path h="145415">
                <a:moveTo>
                  <a:pt x="0" y="145135"/>
                </a:moveTo>
                <a:lnTo>
                  <a:pt x="0" y="0"/>
                </a:lnTo>
              </a:path>
            </a:pathLst>
          </a:custGeom>
          <a:ln w="7591">
            <a:solidFill>
              <a:srgbClr val="000000"/>
            </a:solidFill>
          </a:ln>
        </p:spPr>
        <p:txBody>
          <a:bodyPr wrap="square" lIns="0" tIns="0" rIns="0" bIns="0" rtlCol="0"/>
          <a:lstStyle/>
          <a:p>
            <a:endParaRPr/>
          </a:p>
        </p:txBody>
      </p:sp>
      <p:sp>
        <p:nvSpPr>
          <p:cNvPr id="33" name="object 33"/>
          <p:cNvSpPr/>
          <p:nvPr/>
        </p:nvSpPr>
        <p:spPr>
          <a:xfrm>
            <a:off x="2287574" y="1354582"/>
            <a:ext cx="490220" cy="163830"/>
          </a:xfrm>
          <a:custGeom>
            <a:avLst/>
            <a:gdLst/>
            <a:ahLst/>
            <a:cxnLst/>
            <a:rect l="l" t="t" r="r" b="b"/>
            <a:pathLst>
              <a:path w="490219" h="163830">
                <a:moveTo>
                  <a:pt x="0" y="163334"/>
                </a:moveTo>
                <a:lnTo>
                  <a:pt x="489838" y="0"/>
                </a:lnTo>
              </a:path>
            </a:pathLst>
          </a:custGeom>
          <a:ln w="7591">
            <a:solidFill>
              <a:srgbClr val="000000"/>
            </a:solidFill>
          </a:ln>
        </p:spPr>
        <p:txBody>
          <a:bodyPr wrap="square" lIns="0" tIns="0" rIns="0" bIns="0" rtlCol="0"/>
          <a:lstStyle/>
          <a:p>
            <a:endParaRPr/>
          </a:p>
        </p:txBody>
      </p:sp>
      <p:sp>
        <p:nvSpPr>
          <p:cNvPr id="34" name="object 34"/>
          <p:cNvSpPr/>
          <p:nvPr/>
        </p:nvSpPr>
        <p:spPr>
          <a:xfrm>
            <a:off x="1943442" y="1747405"/>
            <a:ext cx="0" cy="131445"/>
          </a:xfrm>
          <a:custGeom>
            <a:avLst/>
            <a:gdLst/>
            <a:ahLst/>
            <a:cxnLst/>
            <a:rect l="l" t="t" r="r" b="b"/>
            <a:pathLst>
              <a:path h="131444">
                <a:moveTo>
                  <a:pt x="0" y="0"/>
                </a:moveTo>
                <a:lnTo>
                  <a:pt x="0" y="131345"/>
                </a:lnTo>
              </a:path>
            </a:pathLst>
          </a:custGeom>
          <a:ln w="7591">
            <a:solidFill>
              <a:srgbClr val="000000"/>
            </a:solidFill>
          </a:ln>
        </p:spPr>
        <p:txBody>
          <a:bodyPr wrap="square" lIns="0" tIns="0" rIns="0" bIns="0" rtlCol="0"/>
          <a:lstStyle/>
          <a:p>
            <a:endParaRPr/>
          </a:p>
        </p:txBody>
      </p:sp>
      <p:sp>
        <p:nvSpPr>
          <p:cNvPr id="35" name="object 35"/>
          <p:cNvSpPr txBox="1"/>
          <p:nvPr/>
        </p:nvSpPr>
        <p:spPr>
          <a:xfrm>
            <a:off x="241960" y="2311385"/>
            <a:ext cx="2364740" cy="655955"/>
          </a:xfrm>
          <a:prstGeom prst="rect">
            <a:avLst/>
          </a:prstGeom>
        </p:spPr>
        <p:txBody>
          <a:bodyPr vert="horz" wrap="square" lIns="0" tIns="55244" rIns="0" bIns="0" rtlCol="0">
            <a:spAutoFit/>
          </a:bodyPr>
          <a:lstStyle/>
          <a:p>
            <a:pPr marL="214629" indent="-177165">
              <a:lnSpc>
                <a:spcPct val="100000"/>
              </a:lnSpc>
              <a:spcBef>
                <a:spcPts val="434"/>
              </a:spcBef>
              <a:buClr>
                <a:srgbClr val="3333B2"/>
              </a:buClr>
              <a:buFont typeface="Arial"/>
              <a:buChar char="►"/>
              <a:tabLst>
                <a:tab pos="215265" algn="l"/>
              </a:tabLst>
            </a:pPr>
            <a:r>
              <a:rPr sz="1100" i="1" spc="-10" dirty="0">
                <a:latin typeface="Arial"/>
                <a:cs typeface="Arial"/>
              </a:rPr>
              <a:t>physical</a:t>
            </a:r>
            <a:r>
              <a:rPr sz="1100" spc="-10" dirty="0">
                <a:latin typeface="Arial"/>
                <a:cs typeface="Arial"/>
              </a:rPr>
              <a:t>: </a:t>
            </a:r>
            <a:r>
              <a:rPr sz="1100" spc="-15" dirty="0">
                <a:latin typeface="Arial"/>
                <a:cs typeface="Arial"/>
              </a:rPr>
              <a:t>how </a:t>
            </a:r>
            <a:r>
              <a:rPr sz="1100" spc="-5" dirty="0">
                <a:latin typeface="Arial"/>
                <a:cs typeface="Arial"/>
              </a:rPr>
              <a:t>data is</a:t>
            </a:r>
            <a:r>
              <a:rPr sz="1100" spc="60" dirty="0">
                <a:latin typeface="Arial"/>
                <a:cs typeface="Arial"/>
              </a:rPr>
              <a:t> </a:t>
            </a:r>
            <a:r>
              <a:rPr sz="1100" spc="-5" dirty="0">
                <a:latin typeface="Arial"/>
                <a:cs typeface="Arial"/>
              </a:rPr>
              <a:t>stored.</a:t>
            </a:r>
            <a:endParaRPr sz="1100">
              <a:latin typeface="Arial"/>
              <a:cs typeface="Arial"/>
            </a:endParaRPr>
          </a:p>
          <a:p>
            <a:pPr marL="214629" indent="-177165">
              <a:lnSpc>
                <a:spcPct val="100000"/>
              </a:lnSpc>
              <a:spcBef>
                <a:spcPts val="334"/>
              </a:spcBef>
              <a:buClr>
                <a:srgbClr val="3333B2"/>
              </a:buClr>
              <a:buFont typeface="Arial"/>
              <a:buChar char="►"/>
              <a:tabLst>
                <a:tab pos="215265" algn="l"/>
              </a:tabLst>
            </a:pPr>
            <a:r>
              <a:rPr sz="1100" i="1" spc="-5" dirty="0">
                <a:latin typeface="Arial"/>
                <a:cs typeface="Arial"/>
              </a:rPr>
              <a:t>logical</a:t>
            </a:r>
            <a:r>
              <a:rPr sz="1100" spc="-5" dirty="0">
                <a:latin typeface="Arial"/>
                <a:cs typeface="Arial"/>
              </a:rPr>
              <a:t>: </a:t>
            </a:r>
            <a:r>
              <a:rPr sz="1100" spc="-10" dirty="0">
                <a:latin typeface="Arial"/>
                <a:cs typeface="Arial"/>
              </a:rPr>
              <a:t>based on a </a:t>
            </a:r>
            <a:r>
              <a:rPr sz="1100" i="1" spc="-5" dirty="0">
                <a:latin typeface="Arial"/>
                <a:cs typeface="Arial"/>
              </a:rPr>
              <a:t>data</a:t>
            </a:r>
            <a:r>
              <a:rPr sz="1100" i="1" spc="70" dirty="0">
                <a:latin typeface="Arial"/>
                <a:cs typeface="Arial"/>
              </a:rPr>
              <a:t> </a:t>
            </a:r>
            <a:r>
              <a:rPr sz="1100" i="1" spc="-10" dirty="0">
                <a:latin typeface="Arial"/>
                <a:cs typeface="Arial"/>
              </a:rPr>
              <a:t>model</a:t>
            </a:r>
            <a:r>
              <a:rPr sz="1100" spc="-10" dirty="0">
                <a:latin typeface="Arial"/>
                <a:cs typeface="Arial"/>
              </a:rPr>
              <a:t>.</a:t>
            </a:r>
            <a:endParaRPr sz="1100">
              <a:latin typeface="Arial"/>
              <a:cs typeface="Arial"/>
            </a:endParaRPr>
          </a:p>
          <a:p>
            <a:pPr marL="214629" indent="-177165">
              <a:lnSpc>
                <a:spcPct val="100000"/>
              </a:lnSpc>
              <a:spcBef>
                <a:spcPts val="330"/>
              </a:spcBef>
              <a:buClr>
                <a:srgbClr val="3333B2"/>
              </a:buClr>
              <a:buFont typeface="Arial"/>
              <a:buChar char="►"/>
              <a:tabLst>
                <a:tab pos="215265" algn="l"/>
              </a:tabLst>
            </a:pPr>
            <a:r>
              <a:rPr sz="1100" i="1" spc="-10" dirty="0">
                <a:latin typeface="Arial"/>
                <a:cs typeface="Arial"/>
              </a:rPr>
              <a:t>view</a:t>
            </a:r>
            <a:r>
              <a:rPr sz="1100" spc="-10" dirty="0">
                <a:latin typeface="Arial"/>
                <a:cs typeface="Arial"/>
              </a:rPr>
              <a:t>: </a:t>
            </a:r>
            <a:r>
              <a:rPr sz="1100" spc="-5" dirty="0">
                <a:latin typeface="Arial"/>
                <a:cs typeface="Arial"/>
              </a:rPr>
              <a:t>what </a:t>
            </a:r>
            <a:r>
              <a:rPr sz="1100" spc="-10" dirty="0">
                <a:latin typeface="Arial"/>
                <a:cs typeface="Arial"/>
              </a:rPr>
              <a:t>programs </a:t>
            </a:r>
            <a:r>
              <a:rPr sz="1100" spc="-5" dirty="0">
                <a:latin typeface="Arial"/>
                <a:cs typeface="Arial"/>
              </a:rPr>
              <a:t>or users</a:t>
            </a:r>
            <a:r>
              <a:rPr sz="1100" spc="10" dirty="0">
                <a:latin typeface="Arial"/>
                <a:cs typeface="Arial"/>
              </a:rPr>
              <a:t> </a:t>
            </a:r>
            <a:r>
              <a:rPr sz="1100" spc="-10" dirty="0">
                <a:latin typeface="Arial"/>
                <a:cs typeface="Arial"/>
              </a:rPr>
              <a:t>see.</a:t>
            </a:r>
            <a:endParaRPr sz="1100">
              <a:latin typeface="Arial"/>
              <a:cs typeface="Arial"/>
            </a:endParaRP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1970405" cy="244475"/>
          </a:xfrm>
          <a:prstGeom prst="rect">
            <a:avLst/>
          </a:prstGeom>
        </p:spPr>
        <p:txBody>
          <a:bodyPr vert="horz" wrap="square" lIns="0" tIns="17145" rIns="0" bIns="0" rtlCol="0">
            <a:spAutoFit/>
          </a:bodyPr>
          <a:lstStyle/>
          <a:p>
            <a:pPr marL="12700">
              <a:lnSpc>
                <a:spcPct val="100000"/>
              </a:lnSpc>
              <a:spcBef>
                <a:spcPts val="135"/>
              </a:spcBef>
            </a:pPr>
            <a:r>
              <a:rPr spc="15" dirty="0"/>
              <a:t>Instances and</a:t>
            </a:r>
            <a:r>
              <a:rPr spc="-70" dirty="0"/>
              <a:t> </a:t>
            </a:r>
            <a:r>
              <a:rPr spc="20" dirty="0"/>
              <a:t>Schemas</a:t>
            </a:r>
          </a:p>
        </p:txBody>
      </p:sp>
      <p:sp>
        <p:nvSpPr>
          <p:cNvPr id="24" name="object 24"/>
          <p:cNvSpPr txBox="1"/>
          <p:nvPr/>
        </p:nvSpPr>
        <p:spPr>
          <a:xfrm>
            <a:off x="241960" y="614615"/>
            <a:ext cx="3504565" cy="2484755"/>
          </a:xfrm>
          <a:prstGeom prst="rect">
            <a:avLst/>
          </a:prstGeom>
        </p:spPr>
        <p:txBody>
          <a:bodyPr vert="horz" wrap="square" lIns="0" tIns="6985" rIns="0" bIns="0" rtlCol="0">
            <a:spAutoFit/>
          </a:bodyPr>
          <a:lstStyle/>
          <a:p>
            <a:pPr marL="214629" marR="476884" indent="-177165">
              <a:lnSpc>
                <a:spcPct val="102699"/>
              </a:lnSpc>
              <a:spcBef>
                <a:spcPts val="55"/>
              </a:spcBef>
              <a:buClr>
                <a:srgbClr val="3333B2"/>
              </a:buClr>
              <a:buChar char="►"/>
              <a:tabLst>
                <a:tab pos="215265" algn="l"/>
              </a:tabLst>
            </a:pPr>
            <a:r>
              <a:rPr sz="1100" spc="-5" dirty="0">
                <a:latin typeface="Arial"/>
                <a:cs typeface="Arial"/>
              </a:rPr>
              <a:t>Databases </a:t>
            </a:r>
            <a:r>
              <a:rPr sz="1100" spc="-10" dirty="0">
                <a:latin typeface="Arial"/>
                <a:cs typeface="Arial"/>
              </a:rPr>
              <a:t>change </a:t>
            </a:r>
            <a:r>
              <a:rPr sz="1100" spc="-20" dirty="0">
                <a:latin typeface="Arial"/>
                <a:cs typeface="Arial"/>
              </a:rPr>
              <a:t>over </a:t>
            </a:r>
            <a:r>
              <a:rPr sz="1100" spc="-5" dirty="0">
                <a:latin typeface="Arial"/>
                <a:cs typeface="Arial"/>
              </a:rPr>
              <a:t>time as </a:t>
            </a:r>
            <a:r>
              <a:rPr sz="1100" spc="-10" dirty="0">
                <a:latin typeface="Arial"/>
                <a:cs typeface="Arial"/>
              </a:rPr>
              <a:t>information </a:t>
            </a:r>
            <a:r>
              <a:rPr sz="1100" spc="-5" dirty="0">
                <a:latin typeface="Arial"/>
                <a:cs typeface="Arial"/>
              </a:rPr>
              <a:t>is  </a:t>
            </a:r>
            <a:r>
              <a:rPr sz="1100" dirty="0">
                <a:latin typeface="Arial"/>
                <a:cs typeface="Arial"/>
              </a:rPr>
              <a:t>inserted </a:t>
            </a:r>
            <a:r>
              <a:rPr sz="1100" spc="-10" dirty="0">
                <a:latin typeface="Arial"/>
                <a:cs typeface="Arial"/>
              </a:rPr>
              <a:t>and</a:t>
            </a:r>
            <a:r>
              <a:rPr sz="1100" spc="-15" dirty="0">
                <a:latin typeface="Arial"/>
                <a:cs typeface="Arial"/>
              </a:rPr>
              <a:t> </a:t>
            </a:r>
            <a:r>
              <a:rPr sz="1100" spc="-5" dirty="0">
                <a:latin typeface="Arial"/>
                <a:cs typeface="Arial"/>
              </a:rPr>
              <a:t>deleted.</a:t>
            </a:r>
            <a:endParaRPr sz="1100" dirty="0">
              <a:latin typeface="Arial"/>
              <a:cs typeface="Arial"/>
            </a:endParaRPr>
          </a:p>
          <a:p>
            <a:pPr marL="214629" marR="30480" indent="-177165">
              <a:lnSpc>
                <a:spcPct val="102600"/>
              </a:lnSpc>
              <a:spcBef>
                <a:spcPts val="300"/>
              </a:spcBef>
              <a:buClr>
                <a:srgbClr val="3333B2"/>
              </a:buClr>
              <a:buChar char="►"/>
              <a:tabLst>
                <a:tab pos="215265" algn="l"/>
              </a:tabLst>
            </a:pPr>
            <a:r>
              <a:rPr sz="1100" spc="-10" dirty="0">
                <a:latin typeface="Arial"/>
                <a:cs typeface="Arial"/>
              </a:rPr>
              <a:t>The </a:t>
            </a:r>
            <a:r>
              <a:rPr sz="1100" spc="-5" dirty="0">
                <a:latin typeface="Arial"/>
                <a:cs typeface="Arial"/>
              </a:rPr>
              <a:t>collection of data stored in </a:t>
            </a:r>
            <a:r>
              <a:rPr sz="1100" spc="-10" dirty="0">
                <a:latin typeface="Arial"/>
                <a:cs typeface="Arial"/>
              </a:rPr>
              <a:t>a </a:t>
            </a:r>
            <a:r>
              <a:rPr sz="1100" spc="-5" dirty="0">
                <a:latin typeface="Arial"/>
                <a:cs typeface="Arial"/>
              </a:rPr>
              <a:t>database at </a:t>
            </a:r>
            <a:r>
              <a:rPr sz="1100" spc="-15" dirty="0">
                <a:latin typeface="Arial"/>
                <a:cs typeface="Arial"/>
              </a:rPr>
              <a:t>any  </a:t>
            </a:r>
            <a:r>
              <a:rPr sz="1100" spc="-10" dirty="0">
                <a:latin typeface="Arial"/>
                <a:cs typeface="Arial"/>
              </a:rPr>
              <a:t>moment </a:t>
            </a:r>
            <a:r>
              <a:rPr sz="1100" spc="-5" dirty="0">
                <a:latin typeface="Arial"/>
                <a:cs typeface="Arial"/>
              </a:rPr>
              <a:t>in time is called </a:t>
            </a:r>
            <a:r>
              <a:rPr sz="1100" spc="-10" dirty="0">
                <a:latin typeface="Arial"/>
                <a:cs typeface="Arial"/>
              </a:rPr>
              <a:t>an </a:t>
            </a:r>
            <a:r>
              <a:rPr sz="1100" i="1" spc="-5" dirty="0">
                <a:latin typeface="Arial"/>
                <a:cs typeface="Arial"/>
              </a:rPr>
              <a:t>instance </a:t>
            </a:r>
            <a:r>
              <a:rPr sz="1100" spc="-5" dirty="0">
                <a:latin typeface="Arial"/>
                <a:cs typeface="Arial"/>
              </a:rPr>
              <a:t>of the</a:t>
            </a:r>
            <a:r>
              <a:rPr sz="1100" spc="-95" dirty="0">
                <a:latin typeface="Arial"/>
                <a:cs typeface="Arial"/>
              </a:rPr>
              <a:t> </a:t>
            </a:r>
            <a:r>
              <a:rPr sz="1100" spc="-10" dirty="0">
                <a:latin typeface="Arial"/>
                <a:cs typeface="Arial"/>
              </a:rPr>
              <a:t>database.</a:t>
            </a:r>
            <a:endParaRPr sz="1100" dirty="0">
              <a:latin typeface="Arial"/>
              <a:cs typeface="Arial"/>
            </a:endParaRPr>
          </a:p>
          <a:p>
            <a:pPr marL="214629" marR="392430" indent="-177165">
              <a:lnSpc>
                <a:spcPct val="102600"/>
              </a:lnSpc>
              <a:spcBef>
                <a:spcPts val="300"/>
              </a:spcBef>
              <a:buClr>
                <a:srgbClr val="3333B2"/>
              </a:buClr>
              <a:buChar char="►"/>
              <a:tabLst>
                <a:tab pos="215265" algn="l"/>
              </a:tabLst>
            </a:pPr>
            <a:r>
              <a:rPr sz="1100" spc="-10" dirty="0">
                <a:latin typeface="Arial"/>
                <a:cs typeface="Arial"/>
              </a:rPr>
              <a:t>The </a:t>
            </a:r>
            <a:r>
              <a:rPr sz="1100" spc="-15" dirty="0">
                <a:latin typeface="Arial"/>
                <a:cs typeface="Arial"/>
              </a:rPr>
              <a:t>overall </a:t>
            </a:r>
            <a:r>
              <a:rPr sz="1100" spc="-5" dirty="0">
                <a:latin typeface="Arial"/>
                <a:cs typeface="Arial"/>
              </a:rPr>
              <a:t>design of the database is called the  database</a:t>
            </a:r>
            <a:r>
              <a:rPr sz="1100" spc="-10" dirty="0">
                <a:latin typeface="Arial"/>
                <a:cs typeface="Arial"/>
              </a:rPr>
              <a:t> </a:t>
            </a:r>
            <a:r>
              <a:rPr sz="1100" i="1" spc="-5" dirty="0">
                <a:latin typeface="Arial"/>
                <a:cs typeface="Arial"/>
              </a:rPr>
              <a:t>schema</a:t>
            </a:r>
            <a:r>
              <a:rPr sz="1100" spc="-5" dirty="0">
                <a:latin typeface="Arial"/>
                <a:cs typeface="Arial"/>
              </a:rPr>
              <a:t>.</a:t>
            </a:r>
            <a:endParaRPr sz="1100" dirty="0">
              <a:latin typeface="Arial"/>
              <a:cs typeface="Arial"/>
            </a:endParaRPr>
          </a:p>
          <a:p>
            <a:pPr marL="214629" indent="-177165">
              <a:lnSpc>
                <a:spcPct val="100000"/>
              </a:lnSpc>
              <a:spcBef>
                <a:spcPts val="330"/>
              </a:spcBef>
              <a:buClr>
                <a:srgbClr val="3333B2"/>
              </a:buClr>
              <a:buChar char="►"/>
              <a:tabLst>
                <a:tab pos="215265" algn="l"/>
              </a:tabLst>
            </a:pPr>
            <a:r>
              <a:rPr sz="1100" spc="-10" dirty="0">
                <a:latin typeface="Arial"/>
                <a:cs typeface="Arial"/>
              </a:rPr>
              <a:t>Schemas change</a:t>
            </a:r>
            <a:r>
              <a:rPr sz="1100" spc="-5" dirty="0">
                <a:latin typeface="Arial"/>
                <a:cs typeface="Arial"/>
              </a:rPr>
              <a:t> </a:t>
            </a:r>
            <a:r>
              <a:rPr sz="1100" spc="-15" dirty="0">
                <a:latin typeface="Arial"/>
                <a:cs typeface="Arial"/>
              </a:rPr>
              <a:t>infrequently.</a:t>
            </a:r>
            <a:endParaRPr sz="1100" dirty="0">
              <a:latin typeface="Arial"/>
              <a:cs typeface="Arial"/>
            </a:endParaRPr>
          </a:p>
          <a:p>
            <a:pPr marL="214629" marR="549275" indent="-177165">
              <a:lnSpc>
                <a:spcPct val="102600"/>
              </a:lnSpc>
              <a:spcBef>
                <a:spcPts val="300"/>
              </a:spcBef>
              <a:buClr>
                <a:srgbClr val="3333B2"/>
              </a:buClr>
              <a:buChar char="►"/>
              <a:tabLst>
                <a:tab pos="215265" algn="l"/>
              </a:tabLst>
            </a:pPr>
            <a:r>
              <a:rPr sz="1100" spc="-10" dirty="0">
                <a:latin typeface="Arial"/>
                <a:cs typeface="Arial"/>
              </a:rPr>
              <a:t>Physical schemas </a:t>
            </a:r>
            <a:r>
              <a:rPr sz="1100" spc="-5" dirty="0">
                <a:latin typeface="Arial"/>
                <a:cs typeface="Arial"/>
              </a:rPr>
              <a:t>describe databases at the  </a:t>
            </a:r>
            <a:r>
              <a:rPr sz="1100" spc="-10" dirty="0">
                <a:latin typeface="Arial"/>
                <a:cs typeface="Arial"/>
              </a:rPr>
              <a:t>physical </a:t>
            </a:r>
            <a:r>
              <a:rPr sz="1100" spc="-15" dirty="0">
                <a:latin typeface="Arial"/>
                <a:cs typeface="Arial"/>
              </a:rPr>
              <a:t>level.</a:t>
            </a:r>
            <a:endParaRPr sz="1100" dirty="0">
              <a:latin typeface="Arial"/>
              <a:cs typeface="Arial"/>
            </a:endParaRPr>
          </a:p>
          <a:p>
            <a:pPr marL="214629" marR="191135" indent="-177165">
              <a:lnSpc>
                <a:spcPct val="102600"/>
              </a:lnSpc>
              <a:spcBef>
                <a:spcPts val="300"/>
              </a:spcBef>
              <a:buClr>
                <a:srgbClr val="3333B2"/>
              </a:buClr>
              <a:buChar char="►"/>
              <a:tabLst>
                <a:tab pos="215265" algn="l"/>
              </a:tabLst>
            </a:pPr>
            <a:r>
              <a:rPr sz="1100" spc="-5" dirty="0">
                <a:latin typeface="Arial"/>
                <a:cs typeface="Arial"/>
              </a:rPr>
              <a:t>Logical </a:t>
            </a:r>
            <a:r>
              <a:rPr sz="1100" spc="-10" dirty="0">
                <a:latin typeface="Arial"/>
                <a:cs typeface="Arial"/>
              </a:rPr>
              <a:t>schemas </a:t>
            </a:r>
            <a:r>
              <a:rPr sz="1100" spc="-5" dirty="0">
                <a:latin typeface="Arial"/>
                <a:cs typeface="Arial"/>
              </a:rPr>
              <a:t>describe databases at the logical  </a:t>
            </a:r>
            <a:r>
              <a:rPr sz="1100" spc="-15" dirty="0">
                <a:latin typeface="Arial"/>
                <a:cs typeface="Arial"/>
              </a:rPr>
              <a:t>level.</a:t>
            </a:r>
            <a:endParaRPr sz="1100" dirty="0">
              <a:latin typeface="Arial"/>
              <a:cs typeface="Arial"/>
            </a:endParaRPr>
          </a:p>
          <a:p>
            <a:pPr marL="214629" indent="-177165">
              <a:lnSpc>
                <a:spcPct val="100000"/>
              </a:lnSpc>
              <a:spcBef>
                <a:spcPts val="335"/>
              </a:spcBef>
              <a:buClr>
                <a:srgbClr val="3333B2"/>
              </a:buClr>
              <a:buChar char="►"/>
              <a:tabLst>
                <a:tab pos="215265" algn="l"/>
              </a:tabLst>
            </a:pPr>
            <a:r>
              <a:rPr sz="1100" spc="-10" dirty="0">
                <a:latin typeface="Arial"/>
                <a:cs typeface="Arial"/>
              </a:rPr>
              <a:t>Schemas </a:t>
            </a:r>
            <a:r>
              <a:rPr sz="1100" spc="-5" dirty="0">
                <a:latin typeface="Arial"/>
                <a:cs typeface="Arial"/>
              </a:rPr>
              <a:t>at the </a:t>
            </a:r>
            <a:r>
              <a:rPr sz="1100" spc="-15" dirty="0">
                <a:latin typeface="Arial"/>
                <a:cs typeface="Arial"/>
              </a:rPr>
              <a:t>view </a:t>
            </a:r>
            <a:r>
              <a:rPr sz="1100" spc="-20" dirty="0">
                <a:latin typeface="Arial"/>
                <a:cs typeface="Arial"/>
              </a:rPr>
              <a:t>level </a:t>
            </a:r>
            <a:r>
              <a:rPr sz="1100" spc="-5" dirty="0">
                <a:latin typeface="Arial"/>
                <a:cs typeface="Arial"/>
              </a:rPr>
              <a:t>are sometimes</a:t>
            </a:r>
            <a:r>
              <a:rPr sz="1100" spc="10" dirty="0">
                <a:latin typeface="Arial"/>
                <a:cs typeface="Arial"/>
              </a:rPr>
              <a:t> </a:t>
            </a:r>
            <a:r>
              <a:rPr sz="1100" spc="-5" dirty="0">
                <a:latin typeface="Arial"/>
                <a:cs typeface="Arial"/>
              </a:rPr>
              <a:t>called</a:t>
            </a:r>
            <a:endParaRPr sz="1100" dirty="0">
              <a:latin typeface="Arial"/>
              <a:cs typeface="Arial"/>
            </a:endParaRPr>
          </a:p>
          <a:p>
            <a:pPr marL="214629">
              <a:lnSpc>
                <a:spcPct val="100000"/>
              </a:lnSpc>
              <a:spcBef>
                <a:spcPts val="35"/>
              </a:spcBef>
            </a:pPr>
            <a:r>
              <a:rPr sz="1100" i="1" spc="-5" dirty="0">
                <a:latin typeface="Arial"/>
                <a:cs typeface="Arial"/>
              </a:rPr>
              <a:t>subschemas</a:t>
            </a:r>
            <a:r>
              <a:rPr sz="1100" spc="-5" dirty="0">
                <a:latin typeface="Arial"/>
                <a:cs typeface="Arial"/>
              </a:rPr>
              <a:t>.</a:t>
            </a:r>
            <a:endParaRPr sz="1100" dirty="0">
              <a:latin typeface="Arial"/>
              <a:cs typeface="Arial"/>
            </a:endParaRPr>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1775460" cy="244475"/>
          </a:xfrm>
          <a:prstGeom prst="rect">
            <a:avLst/>
          </a:prstGeom>
        </p:spPr>
        <p:txBody>
          <a:bodyPr vert="horz" wrap="square" lIns="0" tIns="17145" rIns="0" bIns="0" rtlCol="0">
            <a:spAutoFit/>
          </a:bodyPr>
          <a:lstStyle/>
          <a:p>
            <a:pPr marL="12700">
              <a:lnSpc>
                <a:spcPct val="100000"/>
              </a:lnSpc>
              <a:spcBef>
                <a:spcPts val="135"/>
              </a:spcBef>
            </a:pPr>
            <a:r>
              <a:rPr spc="-20" dirty="0"/>
              <a:t>Types </a:t>
            </a:r>
            <a:r>
              <a:rPr spc="10" dirty="0"/>
              <a:t>of </a:t>
            </a:r>
            <a:r>
              <a:rPr spc="20" dirty="0"/>
              <a:t>DBMS</a:t>
            </a:r>
            <a:r>
              <a:rPr spc="-15" dirty="0"/>
              <a:t> </a:t>
            </a:r>
            <a:r>
              <a:rPr spc="15" dirty="0"/>
              <a:t>users</a:t>
            </a:r>
          </a:p>
        </p:txBody>
      </p:sp>
      <p:sp>
        <p:nvSpPr>
          <p:cNvPr id="24" name="object 24"/>
          <p:cNvSpPr txBox="1"/>
          <p:nvPr/>
        </p:nvSpPr>
        <p:spPr>
          <a:xfrm>
            <a:off x="241960" y="1124976"/>
            <a:ext cx="3161030" cy="1000125"/>
          </a:xfrm>
          <a:prstGeom prst="rect">
            <a:avLst/>
          </a:prstGeom>
        </p:spPr>
        <p:txBody>
          <a:bodyPr vert="horz" wrap="square" lIns="0" tIns="55244" rIns="0" bIns="0" rtlCol="0">
            <a:spAutoFit/>
          </a:bodyPr>
          <a:lstStyle/>
          <a:p>
            <a:pPr marL="214629" indent="-177165">
              <a:lnSpc>
                <a:spcPct val="100000"/>
              </a:lnSpc>
              <a:spcBef>
                <a:spcPts val="434"/>
              </a:spcBef>
              <a:buClr>
                <a:srgbClr val="3333B2"/>
              </a:buClr>
              <a:buChar char="►"/>
              <a:tabLst>
                <a:tab pos="215265" algn="l"/>
              </a:tabLst>
            </a:pPr>
            <a:r>
              <a:rPr sz="1100" spc="-10" dirty="0">
                <a:latin typeface="Arial"/>
                <a:cs typeface="Arial"/>
              </a:rPr>
              <a:t>End </a:t>
            </a:r>
            <a:r>
              <a:rPr sz="1100" spc="-5" dirty="0">
                <a:latin typeface="Arial"/>
                <a:cs typeface="Arial"/>
              </a:rPr>
              <a:t>users - simply use the</a:t>
            </a:r>
            <a:r>
              <a:rPr sz="1100" spc="-15" dirty="0">
                <a:latin typeface="Arial"/>
                <a:cs typeface="Arial"/>
              </a:rPr>
              <a:t> </a:t>
            </a:r>
            <a:r>
              <a:rPr sz="1100" spc="-10" dirty="0">
                <a:latin typeface="Arial"/>
                <a:cs typeface="Arial"/>
              </a:rPr>
              <a:t>database.</a:t>
            </a:r>
            <a:endParaRPr sz="1100">
              <a:latin typeface="Arial"/>
              <a:cs typeface="Arial"/>
            </a:endParaRPr>
          </a:p>
          <a:p>
            <a:pPr marL="214629" marR="30480" indent="-177165">
              <a:lnSpc>
                <a:spcPct val="102600"/>
              </a:lnSpc>
              <a:spcBef>
                <a:spcPts val="300"/>
              </a:spcBef>
              <a:buClr>
                <a:srgbClr val="3333B2"/>
              </a:buClr>
              <a:buChar char="►"/>
              <a:tabLst>
                <a:tab pos="215265" algn="l"/>
              </a:tabLst>
            </a:pPr>
            <a:r>
              <a:rPr sz="1100" spc="-5" dirty="0">
                <a:latin typeface="Arial"/>
                <a:cs typeface="Arial"/>
              </a:rPr>
              <a:t>Application </a:t>
            </a:r>
            <a:r>
              <a:rPr sz="1100" spc="-10" dirty="0">
                <a:latin typeface="Arial"/>
                <a:cs typeface="Arial"/>
              </a:rPr>
              <a:t>programmers </a:t>
            </a:r>
            <a:r>
              <a:rPr sz="1100" spc="-5" dirty="0">
                <a:latin typeface="Arial"/>
                <a:cs typeface="Arial"/>
              </a:rPr>
              <a:t>- </a:t>
            </a:r>
            <a:r>
              <a:rPr sz="1100" spc="-15" dirty="0">
                <a:latin typeface="Arial"/>
                <a:cs typeface="Arial"/>
              </a:rPr>
              <a:t>develop</a:t>
            </a:r>
            <a:r>
              <a:rPr sz="1100" spc="-45" dirty="0">
                <a:latin typeface="Arial"/>
                <a:cs typeface="Arial"/>
              </a:rPr>
              <a:t> </a:t>
            </a:r>
            <a:r>
              <a:rPr sz="1100" spc="-5" dirty="0">
                <a:latin typeface="Arial"/>
                <a:cs typeface="Arial"/>
              </a:rPr>
              <a:t>applications  using the</a:t>
            </a:r>
            <a:r>
              <a:rPr sz="1100" spc="-10" dirty="0">
                <a:latin typeface="Arial"/>
                <a:cs typeface="Arial"/>
              </a:rPr>
              <a:t> database.</a:t>
            </a:r>
            <a:endParaRPr sz="1100">
              <a:latin typeface="Arial"/>
              <a:cs typeface="Arial"/>
            </a:endParaRPr>
          </a:p>
          <a:p>
            <a:pPr marL="214629" marR="66675" indent="-177165">
              <a:lnSpc>
                <a:spcPct val="102600"/>
              </a:lnSpc>
              <a:spcBef>
                <a:spcPts val="300"/>
              </a:spcBef>
              <a:buClr>
                <a:srgbClr val="3333B2"/>
              </a:buClr>
              <a:buChar char="►"/>
              <a:tabLst>
                <a:tab pos="215265" algn="l"/>
              </a:tabLst>
            </a:pPr>
            <a:r>
              <a:rPr sz="1100" spc="-5" dirty="0">
                <a:latin typeface="Arial"/>
                <a:cs typeface="Arial"/>
              </a:rPr>
              <a:t>Database </a:t>
            </a:r>
            <a:r>
              <a:rPr sz="1100" spc="-10" dirty="0">
                <a:latin typeface="Arial"/>
                <a:cs typeface="Arial"/>
              </a:rPr>
              <a:t>administrator </a:t>
            </a:r>
            <a:r>
              <a:rPr sz="1100" spc="-5" dirty="0">
                <a:latin typeface="Arial"/>
                <a:cs typeface="Arial"/>
              </a:rPr>
              <a:t>(DBA) - </a:t>
            </a:r>
            <a:r>
              <a:rPr sz="1100" spc="-10" dirty="0">
                <a:latin typeface="Arial"/>
                <a:cs typeface="Arial"/>
              </a:rPr>
              <a:t>responsible </a:t>
            </a:r>
            <a:r>
              <a:rPr sz="1100" spc="-20" dirty="0">
                <a:latin typeface="Arial"/>
                <a:cs typeface="Arial"/>
              </a:rPr>
              <a:t>for  </a:t>
            </a:r>
            <a:r>
              <a:rPr sz="1100" spc="-5" dirty="0">
                <a:latin typeface="Arial"/>
                <a:cs typeface="Arial"/>
              </a:rPr>
              <a:t>database design </a:t>
            </a:r>
            <a:r>
              <a:rPr sz="1100" spc="-10" dirty="0">
                <a:latin typeface="Arial"/>
                <a:cs typeface="Arial"/>
              </a:rPr>
              <a:t>and</a:t>
            </a:r>
            <a:r>
              <a:rPr sz="1100" spc="-15" dirty="0">
                <a:latin typeface="Arial"/>
                <a:cs typeface="Arial"/>
              </a:rPr>
              <a:t> </a:t>
            </a:r>
            <a:r>
              <a:rPr sz="1100" spc="-10" dirty="0">
                <a:latin typeface="Arial"/>
                <a:cs typeface="Arial"/>
              </a:rPr>
              <a:t>performance.</a:t>
            </a:r>
            <a:endParaRPr sz="1100">
              <a:latin typeface="Arial"/>
              <a:cs typeface="Arial"/>
            </a:endParaRPr>
          </a:p>
        </p:txBody>
      </p:sp>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1376680" cy="244475"/>
          </a:xfrm>
          <a:prstGeom prst="rect">
            <a:avLst/>
          </a:prstGeom>
        </p:spPr>
        <p:txBody>
          <a:bodyPr vert="horz" wrap="square" lIns="0" tIns="17145" rIns="0" bIns="0" rtlCol="0">
            <a:spAutoFit/>
          </a:bodyPr>
          <a:lstStyle/>
          <a:p>
            <a:pPr marL="12700">
              <a:lnSpc>
                <a:spcPct val="100000"/>
              </a:lnSpc>
              <a:spcBef>
                <a:spcPts val="135"/>
              </a:spcBef>
            </a:pPr>
            <a:r>
              <a:rPr spc="20" dirty="0"/>
              <a:t>DBMS</a:t>
            </a:r>
            <a:r>
              <a:rPr spc="-45" dirty="0"/>
              <a:t> </a:t>
            </a:r>
            <a:r>
              <a:rPr spc="10" dirty="0"/>
              <a:t>examples</a:t>
            </a:r>
          </a:p>
        </p:txBody>
      </p:sp>
      <p:sp>
        <p:nvSpPr>
          <p:cNvPr id="24" name="object 24"/>
          <p:cNvSpPr txBox="1"/>
          <p:nvPr/>
        </p:nvSpPr>
        <p:spPr>
          <a:xfrm>
            <a:off x="267360" y="332992"/>
            <a:ext cx="1851025" cy="191770"/>
          </a:xfrm>
          <a:prstGeom prst="rect">
            <a:avLst/>
          </a:prstGeom>
        </p:spPr>
        <p:txBody>
          <a:bodyPr vert="horz" wrap="square" lIns="0" tIns="11430" rIns="0" bIns="0" rtlCol="0">
            <a:spAutoFit/>
          </a:bodyPr>
          <a:lstStyle/>
          <a:p>
            <a:pPr marL="189230" indent="-177165">
              <a:lnSpc>
                <a:spcPct val="100000"/>
              </a:lnSpc>
              <a:spcBef>
                <a:spcPts val="90"/>
              </a:spcBef>
              <a:buClr>
                <a:srgbClr val="3333B2"/>
              </a:buClr>
              <a:buChar char="►"/>
              <a:tabLst>
                <a:tab pos="189865" algn="l"/>
              </a:tabLst>
            </a:pPr>
            <a:r>
              <a:rPr sz="1100" spc="-10" dirty="0">
                <a:latin typeface="Arial"/>
                <a:cs typeface="Arial"/>
              </a:rPr>
              <a:t>Some </a:t>
            </a:r>
            <a:r>
              <a:rPr sz="1100" spc="-5" dirty="0">
                <a:latin typeface="Arial"/>
                <a:cs typeface="Arial"/>
              </a:rPr>
              <a:t>of the major</a:t>
            </a:r>
            <a:r>
              <a:rPr sz="1100" spc="-50" dirty="0">
                <a:latin typeface="Arial"/>
                <a:cs typeface="Arial"/>
              </a:rPr>
              <a:t> </a:t>
            </a:r>
            <a:r>
              <a:rPr sz="1100" spc="-15" dirty="0">
                <a:latin typeface="Arial"/>
                <a:cs typeface="Arial"/>
              </a:rPr>
              <a:t>players:</a:t>
            </a:r>
            <a:endParaRPr sz="1100">
              <a:latin typeface="Arial"/>
              <a:cs typeface="Arial"/>
            </a:endParaRPr>
          </a:p>
        </p:txBody>
      </p:sp>
      <p:sp>
        <p:nvSpPr>
          <p:cNvPr id="25" name="object 25"/>
          <p:cNvSpPr/>
          <p:nvPr/>
        </p:nvSpPr>
        <p:spPr>
          <a:xfrm>
            <a:off x="289826" y="633069"/>
            <a:ext cx="3352800" cy="2139949"/>
          </a:xfrm>
          <a:prstGeom prst="rect">
            <a:avLst/>
          </a:prstGeom>
          <a:blipFill>
            <a:blip r:embed="rId4" cstate="print"/>
            <a:stretch>
              <a:fillRect/>
            </a:stretch>
          </a:blipFill>
        </p:spPr>
        <p:txBody>
          <a:bodyPr wrap="square" lIns="0" tIns="0" rIns="0" bIns="0" rtlCol="0"/>
          <a:lstStyle/>
          <a:p>
            <a:endParaRPr/>
          </a:p>
        </p:txBody>
      </p:sp>
      <p:sp>
        <p:nvSpPr>
          <p:cNvPr id="26" name="object 26"/>
          <p:cNvSpPr txBox="1"/>
          <p:nvPr/>
        </p:nvSpPr>
        <p:spPr>
          <a:xfrm>
            <a:off x="267360" y="3001466"/>
            <a:ext cx="3347720" cy="363855"/>
          </a:xfrm>
          <a:prstGeom prst="rect">
            <a:avLst/>
          </a:prstGeom>
        </p:spPr>
        <p:txBody>
          <a:bodyPr vert="horz" wrap="square" lIns="0" tIns="6985" rIns="0" bIns="0" rtlCol="0">
            <a:spAutoFit/>
          </a:bodyPr>
          <a:lstStyle/>
          <a:p>
            <a:pPr marL="189230" marR="5080" indent="-177165">
              <a:lnSpc>
                <a:spcPct val="102600"/>
              </a:lnSpc>
              <a:spcBef>
                <a:spcPts val="55"/>
              </a:spcBef>
              <a:buClr>
                <a:srgbClr val="3333B2"/>
              </a:buClr>
              <a:buChar char="►"/>
              <a:tabLst>
                <a:tab pos="189865" algn="l"/>
              </a:tabLst>
            </a:pPr>
            <a:r>
              <a:rPr sz="1100" spc="-5" dirty="0">
                <a:latin typeface="Arial"/>
                <a:cs typeface="Arial"/>
              </a:rPr>
              <a:t>also </a:t>
            </a:r>
            <a:r>
              <a:rPr sz="1100" spc="-10" dirty="0">
                <a:latin typeface="Arial"/>
                <a:cs typeface="Arial"/>
              </a:rPr>
              <a:t>various </a:t>
            </a:r>
            <a:r>
              <a:rPr sz="1100" spc="-35" dirty="0">
                <a:latin typeface="Arial"/>
                <a:cs typeface="Arial"/>
              </a:rPr>
              <a:t>“NoSQL” </a:t>
            </a:r>
            <a:r>
              <a:rPr sz="1100" spc="-10" dirty="0">
                <a:latin typeface="Arial"/>
                <a:cs typeface="Arial"/>
              </a:rPr>
              <a:t>systems, </a:t>
            </a:r>
            <a:r>
              <a:rPr sz="1100" spc="-5" dirty="0">
                <a:latin typeface="Arial"/>
                <a:cs typeface="Arial"/>
              </a:rPr>
              <a:t>such as </a:t>
            </a:r>
            <a:r>
              <a:rPr sz="1100" spc="-10" dirty="0">
                <a:latin typeface="Arial"/>
                <a:cs typeface="Arial"/>
              </a:rPr>
              <a:t>Cassandra,  CouchDB, MongoDB, </a:t>
            </a:r>
            <a:r>
              <a:rPr sz="1100" spc="-5" dirty="0">
                <a:latin typeface="Arial"/>
                <a:cs typeface="Arial"/>
              </a:rPr>
              <a:t>Neo4j, . .</a:t>
            </a:r>
            <a:r>
              <a:rPr sz="1100" spc="-245" dirty="0">
                <a:latin typeface="Arial"/>
                <a:cs typeface="Arial"/>
              </a:rPr>
              <a:t> </a:t>
            </a:r>
            <a:r>
              <a:rPr sz="1100" spc="-5" dirty="0">
                <a:latin typeface="Arial"/>
                <a:cs typeface="Arial"/>
              </a:rPr>
              <a:t>.</a:t>
            </a:r>
            <a:endParaRPr sz="1100">
              <a:latin typeface="Arial"/>
              <a:cs typeface="Arial"/>
            </a:endParaRPr>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957580" cy="244475"/>
          </a:xfrm>
          <a:prstGeom prst="rect">
            <a:avLst/>
          </a:prstGeom>
        </p:spPr>
        <p:txBody>
          <a:bodyPr vert="horz" wrap="square" lIns="0" tIns="17145" rIns="0" bIns="0" rtlCol="0">
            <a:spAutoFit/>
          </a:bodyPr>
          <a:lstStyle/>
          <a:p>
            <a:pPr marL="12700">
              <a:lnSpc>
                <a:spcPct val="100000"/>
              </a:lnSpc>
              <a:spcBef>
                <a:spcPts val="135"/>
              </a:spcBef>
            </a:pPr>
            <a:r>
              <a:rPr spc="15" dirty="0"/>
              <a:t>Data</a:t>
            </a:r>
            <a:r>
              <a:rPr spc="-50" dirty="0"/>
              <a:t> </a:t>
            </a:r>
            <a:r>
              <a:rPr spc="15" dirty="0"/>
              <a:t>Model</a:t>
            </a:r>
          </a:p>
        </p:txBody>
      </p:sp>
      <p:sp>
        <p:nvSpPr>
          <p:cNvPr id="24" name="object 24"/>
          <p:cNvSpPr txBox="1"/>
          <p:nvPr/>
        </p:nvSpPr>
        <p:spPr>
          <a:xfrm>
            <a:off x="167297" y="1148916"/>
            <a:ext cx="2970530" cy="866140"/>
          </a:xfrm>
          <a:prstGeom prst="rect">
            <a:avLst/>
          </a:prstGeom>
        </p:spPr>
        <p:txBody>
          <a:bodyPr vert="horz" wrap="square" lIns="0" tIns="12700" rIns="0" bIns="0" rtlCol="0">
            <a:spAutoFit/>
          </a:bodyPr>
          <a:lstStyle/>
          <a:p>
            <a:pPr marL="104775" marR="242570" indent="-92710">
              <a:lnSpc>
                <a:spcPct val="125299"/>
              </a:lnSpc>
              <a:spcBef>
                <a:spcPts val="100"/>
              </a:spcBef>
            </a:pPr>
            <a:r>
              <a:rPr sz="1100" spc="-10" dirty="0">
                <a:latin typeface="Arial"/>
                <a:cs typeface="Arial"/>
              </a:rPr>
              <a:t>A </a:t>
            </a:r>
            <a:r>
              <a:rPr sz="1100" i="1" spc="-5" dirty="0">
                <a:latin typeface="Arial"/>
                <a:cs typeface="Arial"/>
              </a:rPr>
              <a:t>data </a:t>
            </a:r>
            <a:r>
              <a:rPr sz="1100" i="1" spc="-10" dirty="0">
                <a:latin typeface="Arial"/>
                <a:cs typeface="Arial"/>
              </a:rPr>
              <a:t>model </a:t>
            </a:r>
            <a:r>
              <a:rPr sz="1100" spc="-5" dirty="0">
                <a:latin typeface="Arial"/>
                <a:cs typeface="Arial"/>
              </a:rPr>
              <a:t>consists of three components:  </a:t>
            </a:r>
            <a:r>
              <a:rPr sz="1100" spc="-5" dirty="0">
                <a:solidFill>
                  <a:srgbClr val="3333B2"/>
                </a:solidFill>
                <a:latin typeface="Arial"/>
                <a:cs typeface="Arial"/>
              </a:rPr>
              <a:t>1.</a:t>
            </a:r>
            <a:r>
              <a:rPr sz="1100" spc="-5" dirty="0">
                <a:latin typeface="Arial"/>
                <a:cs typeface="Arial"/>
              </a:rPr>
              <a:t>Structural</a:t>
            </a:r>
            <a:r>
              <a:rPr sz="1100" spc="-10" dirty="0">
                <a:latin typeface="Arial"/>
                <a:cs typeface="Arial"/>
              </a:rPr>
              <a:t> </a:t>
            </a:r>
            <a:r>
              <a:rPr sz="1100" dirty="0">
                <a:latin typeface="Arial"/>
                <a:cs typeface="Arial"/>
              </a:rPr>
              <a:t>part.</a:t>
            </a:r>
            <a:endParaRPr sz="1100">
              <a:latin typeface="Arial"/>
              <a:cs typeface="Arial"/>
            </a:endParaRPr>
          </a:p>
          <a:p>
            <a:pPr marL="220979" indent="-116839">
              <a:lnSpc>
                <a:spcPct val="100000"/>
              </a:lnSpc>
              <a:spcBef>
                <a:spcPts val="335"/>
              </a:spcBef>
              <a:buClr>
                <a:srgbClr val="3333B2"/>
              </a:buClr>
              <a:buSzPct val="90909"/>
              <a:buAutoNum type="arabicPeriod" startAt="2"/>
              <a:tabLst>
                <a:tab pos="221615" algn="l"/>
              </a:tabLst>
            </a:pPr>
            <a:r>
              <a:rPr sz="1100" spc="-5" dirty="0">
                <a:latin typeface="Arial"/>
                <a:cs typeface="Arial"/>
              </a:rPr>
              <a:t>Integrity</a:t>
            </a:r>
            <a:r>
              <a:rPr sz="1100" spc="-10" dirty="0">
                <a:latin typeface="Arial"/>
                <a:cs typeface="Arial"/>
              </a:rPr>
              <a:t> </a:t>
            </a:r>
            <a:r>
              <a:rPr sz="1100" dirty="0">
                <a:latin typeface="Arial"/>
                <a:cs typeface="Arial"/>
              </a:rPr>
              <a:t>part.</a:t>
            </a:r>
            <a:endParaRPr sz="1100">
              <a:latin typeface="Arial"/>
              <a:cs typeface="Arial"/>
            </a:endParaRPr>
          </a:p>
          <a:p>
            <a:pPr marL="220979" indent="-116839">
              <a:lnSpc>
                <a:spcPct val="100000"/>
              </a:lnSpc>
              <a:spcBef>
                <a:spcPts val="334"/>
              </a:spcBef>
              <a:buClr>
                <a:srgbClr val="3333B2"/>
              </a:buClr>
              <a:buSzPct val="90909"/>
              <a:buAutoNum type="arabicPeriod" startAt="2"/>
              <a:tabLst>
                <a:tab pos="221615" algn="l"/>
              </a:tabLst>
            </a:pPr>
            <a:r>
              <a:rPr sz="1100" spc="-10" dirty="0">
                <a:latin typeface="Arial"/>
                <a:cs typeface="Arial"/>
              </a:rPr>
              <a:t>Manipulative </a:t>
            </a:r>
            <a:r>
              <a:rPr sz="1100" spc="5" dirty="0">
                <a:latin typeface="Arial"/>
                <a:cs typeface="Arial"/>
              </a:rPr>
              <a:t>part </a:t>
            </a:r>
            <a:r>
              <a:rPr sz="1100" spc="-5" dirty="0">
                <a:latin typeface="Arial"/>
                <a:cs typeface="Arial"/>
              </a:rPr>
              <a:t>- </a:t>
            </a:r>
            <a:r>
              <a:rPr sz="1100" spc="-10" dirty="0">
                <a:latin typeface="Arial"/>
                <a:cs typeface="Arial"/>
              </a:rPr>
              <a:t>declarative </a:t>
            </a:r>
            <a:r>
              <a:rPr sz="1100" spc="-5" dirty="0">
                <a:latin typeface="Arial"/>
                <a:cs typeface="Arial"/>
              </a:rPr>
              <a:t>or</a:t>
            </a:r>
            <a:r>
              <a:rPr sz="1100" spc="5" dirty="0">
                <a:latin typeface="Arial"/>
                <a:cs typeface="Arial"/>
              </a:rPr>
              <a:t> </a:t>
            </a:r>
            <a:r>
              <a:rPr sz="1100" spc="-10" dirty="0">
                <a:latin typeface="Arial"/>
                <a:cs typeface="Arial"/>
              </a:rPr>
              <a:t>procedural.</a:t>
            </a:r>
            <a:endParaRPr sz="1100">
              <a:latin typeface="Arial"/>
              <a:cs typeface="Arial"/>
            </a:endParaRP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2182495" cy="244475"/>
          </a:xfrm>
          <a:prstGeom prst="rect">
            <a:avLst/>
          </a:prstGeom>
        </p:spPr>
        <p:txBody>
          <a:bodyPr vert="horz" wrap="square" lIns="0" tIns="17145" rIns="0" bIns="0" rtlCol="0">
            <a:spAutoFit/>
          </a:bodyPr>
          <a:lstStyle/>
          <a:p>
            <a:pPr marL="12700">
              <a:lnSpc>
                <a:spcPct val="100000"/>
              </a:lnSpc>
              <a:spcBef>
                <a:spcPts val="135"/>
              </a:spcBef>
            </a:pPr>
            <a:r>
              <a:rPr spc="15" dirty="0"/>
              <a:t>The Relational Data</a:t>
            </a:r>
            <a:r>
              <a:rPr spc="-65" dirty="0"/>
              <a:t> </a:t>
            </a:r>
            <a:r>
              <a:rPr spc="15" dirty="0"/>
              <a:t>Model</a:t>
            </a:r>
          </a:p>
        </p:txBody>
      </p:sp>
      <p:sp>
        <p:nvSpPr>
          <p:cNvPr id="24" name="object 24"/>
          <p:cNvSpPr txBox="1"/>
          <p:nvPr/>
        </p:nvSpPr>
        <p:spPr>
          <a:xfrm>
            <a:off x="259575" y="1124976"/>
            <a:ext cx="3037205" cy="1000125"/>
          </a:xfrm>
          <a:prstGeom prst="rect">
            <a:avLst/>
          </a:prstGeom>
        </p:spPr>
        <p:txBody>
          <a:bodyPr vert="horz" wrap="square" lIns="0" tIns="55244" rIns="0" bIns="0" rtlCol="0">
            <a:spAutoFit/>
          </a:bodyPr>
          <a:lstStyle/>
          <a:p>
            <a:pPr marL="128270" indent="-116205">
              <a:lnSpc>
                <a:spcPct val="100000"/>
              </a:lnSpc>
              <a:spcBef>
                <a:spcPts val="434"/>
              </a:spcBef>
              <a:buClr>
                <a:srgbClr val="3333B2"/>
              </a:buClr>
              <a:buSzPct val="90909"/>
              <a:buAutoNum type="arabicPeriod"/>
              <a:tabLst>
                <a:tab pos="128905" algn="l"/>
              </a:tabLst>
            </a:pPr>
            <a:r>
              <a:rPr sz="1100" spc="-5" dirty="0">
                <a:latin typeface="Arial"/>
                <a:cs typeface="Arial"/>
              </a:rPr>
              <a:t>Structural </a:t>
            </a:r>
            <a:r>
              <a:rPr sz="1100" spc="5" dirty="0">
                <a:latin typeface="Arial"/>
                <a:cs typeface="Arial"/>
              </a:rPr>
              <a:t>part </a:t>
            </a:r>
            <a:r>
              <a:rPr sz="1100" spc="-5" dirty="0">
                <a:latin typeface="Arial"/>
                <a:cs typeface="Arial"/>
              </a:rPr>
              <a:t>-</a:t>
            </a:r>
            <a:r>
              <a:rPr sz="1100" spc="-20" dirty="0">
                <a:latin typeface="Arial"/>
                <a:cs typeface="Arial"/>
              </a:rPr>
              <a:t> </a:t>
            </a:r>
            <a:r>
              <a:rPr sz="1100" spc="-10" dirty="0">
                <a:latin typeface="Arial"/>
                <a:cs typeface="Arial"/>
              </a:rPr>
              <a:t>relations.</a:t>
            </a:r>
            <a:endParaRPr sz="1100">
              <a:latin typeface="Arial"/>
              <a:cs typeface="Arial"/>
            </a:endParaRPr>
          </a:p>
          <a:p>
            <a:pPr marL="128905" marR="466090" indent="-128905">
              <a:lnSpc>
                <a:spcPct val="102600"/>
              </a:lnSpc>
              <a:spcBef>
                <a:spcPts val="300"/>
              </a:spcBef>
              <a:buClr>
                <a:srgbClr val="3333B2"/>
              </a:buClr>
              <a:buSzPct val="90909"/>
              <a:buAutoNum type="arabicPeriod"/>
              <a:tabLst>
                <a:tab pos="128905" algn="l"/>
              </a:tabLst>
            </a:pPr>
            <a:r>
              <a:rPr sz="1100" spc="-5" dirty="0">
                <a:latin typeface="Arial"/>
                <a:cs typeface="Arial"/>
              </a:rPr>
              <a:t>Integrity </a:t>
            </a:r>
            <a:r>
              <a:rPr sz="1100" spc="5" dirty="0">
                <a:latin typeface="Arial"/>
                <a:cs typeface="Arial"/>
              </a:rPr>
              <a:t>part </a:t>
            </a:r>
            <a:r>
              <a:rPr sz="1100" spc="-5" dirty="0">
                <a:latin typeface="Arial"/>
                <a:cs typeface="Arial"/>
              </a:rPr>
              <a:t>- </a:t>
            </a:r>
            <a:r>
              <a:rPr sz="1100" spc="-20" dirty="0">
                <a:latin typeface="Arial"/>
                <a:cs typeface="Arial"/>
              </a:rPr>
              <a:t>keys </a:t>
            </a:r>
            <a:r>
              <a:rPr sz="1100" spc="-5" dirty="0">
                <a:latin typeface="Arial"/>
                <a:cs typeface="Arial"/>
              </a:rPr>
              <a:t>(entity integrity) </a:t>
            </a:r>
            <a:r>
              <a:rPr sz="1100" spc="-10" dirty="0">
                <a:latin typeface="Arial"/>
                <a:cs typeface="Arial"/>
              </a:rPr>
              <a:t>and  foreign </a:t>
            </a:r>
            <a:r>
              <a:rPr sz="1100" spc="-20" dirty="0">
                <a:latin typeface="Arial"/>
                <a:cs typeface="Arial"/>
              </a:rPr>
              <a:t>keys </a:t>
            </a:r>
            <a:r>
              <a:rPr sz="1100" spc="-10" dirty="0">
                <a:latin typeface="Arial"/>
                <a:cs typeface="Arial"/>
              </a:rPr>
              <a:t>(referential</a:t>
            </a:r>
            <a:r>
              <a:rPr sz="1100" spc="5" dirty="0">
                <a:latin typeface="Arial"/>
                <a:cs typeface="Arial"/>
              </a:rPr>
              <a:t> </a:t>
            </a:r>
            <a:r>
              <a:rPr sz="1100" spc="-5" dirty="0">
                <a:latin typeface="Arial"/>
                <a:cs typeface="Arial"/>
              </a:rPr>
              <a:t>integrity).</a:t>
            </a:r>
            <a:endParaRPr sz="1100">
              <a:latin typeface="Arial"/>
              <a:cs typeface="Arial"/>
            </a:endParaRPr>
          </a:p>
          <a:p>
            <a:pPr marL="128905" marR="5080" indent="-128905">
              <a:lnSpc>
                <a:spcPct val="102600"/>
              </a:lnSpc>
              <a:spcBef>
                <a:spcPts val="300"/>
              </a:spcBef>
              <a:buClr>
                <a:srgbClr val="3333B2"/>
              </a:buClr>
              <a:buSzPct val="90909"/>
              <a:buAutoNum type="arabicPeriod"/>
              <a:tabLst>
                <a:tab pos="128905" algn="l"/>
              </a:tabLst>
            </a:pPr>
            <a:r>
              <a:rPr sz="1100" spc="-10" dirty="0">
                <a:latin typeface="Arial"/>
                <a:cs typeface="Arial"/>
              </a:rPr>
              <a:t>Manipulative </a:t>
            </a:r>
            <a:r>
              <a:rPr sz="1100" spc="5" dirty="0">
                <a:latin typeface="Arial"/>
                <a:cs typeface="Arial"/>
              </a:rPr>
              <a:t>part </a:t>
            </a:r>
            <a:r>
              <a:rPr sz="1100" spc="-5" dirty="0">
                <a:latin typeface="Arial"/>
                <a:cs typeface="Arial"/>
              </a:rPr>
              <a:t>- Structured </a:t>
            </a:r>
            <a:r>
              <a:rPr sz="1100" dirty="0">
                <a:latin typeface="Arial"/>
                <a:cs typeface="Arial"/>
              </a:rPr>
              <a:t>Query </a:t>
            </a:r>
            <a:r>
              <a:rPr sz="1100" spc="-10" dirty="0">
                <a:latin typeface="Arial"/>
                <a:cs typeface="Arial"/>
              </a:rPr>
              <a:t>Language  </a:t>
            </a:r>
            <a:r>
              <a:rPr sz="1100" spc="-5" dirty="0">
                <a:latin typeface="Arial"/>
                <a:cs typeface="Arial"/>
              </a:rPr>
              <a:t>(SQL) or the relational</a:t>
            </a:r>
            <a:r>
              <a:rPr sz="1100" spc="-15" dirty="0">
                <a:latin typeface="Arial"/>
                <a:cs typeface="Arial"/>
              </a:rPr>
              <a:t> </a:t>
            </a:r>
            <a:r>
              <a:rPr sz="1100" spc="-10" dirty="0">
                <a:latin typeface="Arial"/>
                <a:cs typeface="Arial"/>
              </a:rPr>
              <a:t>algebra.</a:t>
            </a:r>
            <a:endParaRPr sz="1100">
              <a:latin typeface="Arial"/>
              <a:cs typeface="Arial"/>
            </a:endParaRP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1554480" cy="244475"/>
          </a:xfrm>
          <a:prstGeom prst="rect">
            <a:avLst/>
          </a:prstGeom>
        </p:spPr>
        <p:txBody>
          <a:bodyPr vert="horz" wrap="square" lIns="0" tIns="17145" rIns="0" bIns="0" rtlCol="0">
            <a:spAutoFit/>
          </a:bodyPr>
          <a:lstStyle/>
          <a:p>
            <a:pPr marL="12700">
              <a:lnSpc>
                <a:spcPct val="100000"/>
              </a:lnSpc>
              <a:spcBef>
                <a:spcPts val="135"/>
              </a:spcBef>
            </a:pPr>
            <a:r>
              <a:rPr spc="15" dirty="0"/>
              <a:t>Other Data</a:t>
            </a:r>
            <a:r>
              <a:rPr spc="-55" dirty="0"/>
              <a:t> </a:t>
            </a:r>
            <a:r>
              <a:rPr spc="15" dirty="0"/>
              <a:t>Models</a:t>
            </a:r>
          </a:p>
        </p:txBody>
      </p:sp>
      <p:sp>
        <p:nvSpPr>
          <p:cNvPr id="24" name="object 24"/>
          <p:cNvSpPr txBox="1"/>
          <p:nvPr/>
        </p:nvSpPr>
        <p:spPr>
          <a:xfrm>
            <a:off x="241960" y="884133"/>
            <a:ext cx="3458845" cy="1630045"/>
          </a:xfrm>
          <a:prstGeom prst="rect">
            <a:avLst/>
          </a:prstGeom>
        </p:spPr>
        <p:txBody>
          <a:bodyPr vert="horz" wrap="square" lIns="0" tIns="55244" rIns="0" bIns="0" rtlCol="0">
            <a:spAutoFit/>
          </a:bodyPr>
          <a:lstStyle/>
          <a:p>
            <a:pPr marL="214629" indent="-177165">
              <a:lnSpc>
                <a:spcPct val="100000"/>
              </a:lnSpc>
              <a:spcBef>
                <a:spcPts val="434"/>
              </a:spcBef>
              <a:buClr>
                <a:srgbClr val="3333B2"/>
              </a:buClr>
              <a:buChar char="►"/>
              <a:tabLst>
                <a:tab pos="215265" algn="l"/>
              </a:tabLst>
            </a:pPr>
            <a:r>
              <a:rPr lang="en-US" sz="1100" spc="-5" dirty="0">
                <a:latin typeface="Arial"/>
                <a:cs typeface="Arial"/>
              </a:rPr>
              <a:t>E</a:t>
            </a:r>
            <a:r>
              <a:rPr sz="1100" spc="-5" dirty="0">
                <a:latin typeface="Arial"/>
                <a:cs typeface="Arial"/>
              </a:rPr>
              <a:t>ntity-relationship </a:t>
            </a:r>
            <a:r>
              <a:rPr sz="1100" spc="-10" dirty="0">
                <a:latin typeface="Arial"/>
                <a:cs typeface="Arial"/>
              </a:rPr>
              <a:t>model</a:t>
            </a:r>
            <a:endParaRPr sz="1100" dirty="0">
              <a:latin typeface="Arial"/>
              <a:cs typeface="Arial"/>
            </a:endParaRPr>
          </a:p>
          <a:p>
            <a:pPr marL="214629" indent="-177165">
              <a:lnSpc>
                <a:spcPct val="100000"/>
              </a:lnSpc>
              <a:spcBef>
                <a:spcPts val="334"/>
              </a:spcBef>
              <a:buClr>
                <a:srgbClr val="3333B2"/>
              </a:buClr>
              <a:buChar char="►"/>
              <a:tabLst>
                <a:tab pos="215265" algn="l"/>
              </a:tabLst>
            </a:pPr>
            <a:r>
              <a:rPr lang="en-US" sz="1100" spc="-10" dirty="0">
                <a:latin typeface="Arial"/>
                <a:cs typeface="Arial"/>
              </a:rPr>
              <a:t>H</a:t>
            </a:r>
            <a:r>
              <a:rPr sz="1100" spc="-10" dirty="0">
                <a:latin typeface="Arial"/>
                <a:cs typeface="Arial"/>
              </a:rPr>
              <a:t>ierarchical </a:t>
            </a:r>
            <a:r>
              <a:rPr sz="1100" spc="-5" dirty="0">
                <a:latin typeface="Arial"/>
                <a:cs typeface="Arial"/>
              </a:rPr>
              <a:t>data </a:t>
            </a:r>
            <a:r>
              <a:rPr sz="1100" spc="-10" dirty="0">
                <a:latin typeface="Arial"/>
                <a:cs typeface="Arial"/>
              </a:rPr>
              <a:t>model </a:t>
            </a:r>
            <a:r>
              <a:rPr sz="1100" spc="-5" dirty="0">
                <a:latin typeface="Arial"/>
                <a:cs typeface="Arial"/>
              </a:rPr>
              <a:t>- from </a:t>
            </a:r>
            <a:r>
              <a:rPr sz="1100" spc="-10" dirty="0">
                <a:latin typeface="Arial"/>
                <a:cs typeface="Arial"/>
              </a:rPr>
              <a:t>1960s and</a:t>
            </a:r>
            <a:r>
              <a:rPr sz="1100" spc="30" dirty="0">
                <a:latin typeface="Arial"/>
                <a:cs typeface="Arial"/>
              </a:rPr>
              <a:t> </a:t>
            </a:r>
            <a:r>
              <a:rPr sz="1100" spc="-10" dirty="0">
                <a:latin typeface="Arial"/>
                <a:cs typeface="Arial"/>
              </a:rPr>
              <a:t>1970s</a:t>
            </a:r>
            <a:endParaRPr sz="1100" dirty="0">
              <a:latin typeface="Arial"/>
              <a:cs typeface="Arial"/>
            </a:endParaRPr>
          </a:p>
          <a:p>
            <a:pPr marL="214629" marR="152400" indent="-177165">
              <a:lnSpc>
                <a:spcPct val="102600"/>
              </a:lnSpc>
              <a:spcBef>
                <a:spcPts val="295"/>
              </a:spcBef>
              <a:buClr>
                <a:srgbClr val="3333B2"/>
              </a:buClr>
              <a:buChar char="►"/>
              <a:tabLst>
                <a:tab pos="215265" algn="l"/>
              </a:tabLst>
            </a:pPr>
            <a:r>
              <a:rPr lang="en-US" sz="1100" spc="-5" dirty="0">
                <a:latin typeface="Arial"/>
                <a:cs typeface="Arial"/>
              </a:rPr>
              <a:t>N</a:t>
            </a:r>
            <a:r>
              <a:rPr sz="1100" spc="-5" dirty="0">
                <a:latin typeface="Arial"/>
                <a:cs typeface="Arial"/>
              </a:rPr>
              <a:t>etwork </a:t>
            </a:r>
            <a:r>
              <a:rPr sz="1100" spc="-15" dirty="0">
                <a:latin typeface="Arial"/>
                <a:cs typeface="Arial"/>
              </a:rPr>
              <a:t>(CODASYL) </a:t>
            </a:r>
            <a:r>
              <a:rPr sz="1100" spc="-5" dirty="0">
                <a:latin typeface="Arial"/>
                <a:cs typeface="Arial"/>
              </a:rPr>
              <a:t>data </a:t>
            </a:r>
            <a:r>
              <a:rPr sz="1100" spc="-10" dirty="0">
                <a:latin typeface="Arial"/>
                <a:cs typeface="Arial"/>
              </a:rPr>
              <a:t>model </a:t>
            </a:r>
            <a:r>
              <a:rPr sz="1100" spc="-5" dirty="0">
                <a:latin typeface="Arial"/>
                <a:cs typeface="Arial"/>
              </a:rPr>
              <a:t>- from </a:t>
            </a:r>
            <a:r>
              <a:rPr sz="1100" spc="-10" dirty="0">
                <a:latin typeface="Arial"/>
                <a:cs typeface="Arial"/>
              </a:rPr>
              <a:t>1960s and  1970s</a:t>
            </a:r>
            <a:endParaRPr sz="1100" dirty="0">
              <a:latin typeface="Arial"/>
              <a:cs typeface="Arial"/>
            </a:endParaRPr>
          </a:p>
          <a:p>
            <a:pPr marL="214629" indent="-177165">
              <a:lnSpc>
                <a:spcPct val="100000"/>
              </a:lnSpc>
              <a:spcBef>
                <a:spcPts val="335"/>
              </a:spcBef>
              <a:buClr>
                <a:srgbClr val="3333B2"/>
              </a:buClr>
              <a:buChar char="►"/>
              <a:tabLst>
                <a:tab pos="215265" algn="l"/>
              </a:tabLst>
            </a:pPr>
            <a:r>
              <a:rPr lang="en-US" sz="1100" spc="-5" dirty="0">
                <a:latin typeface="Arial"/>
                <a:cs typeface="Arial"/>
              </a:rPr>
              <a:t>O</a:t>
            </a:r>
            <a:r>
              <a:rPr sz="1100" spc="-5" dirty="0">
                <a:latin typeface="Arial"/>
                <a:cs typeface="Arial"/>
              </a:rPr>
              <a:t>bject-oriented data </a:t>
            </a:r>
            <a:r>
              <a:rPr sz="1100" spc="-10" dirty="0">
                <a:latin typeface="Arial"/>
                <a:cs typeface="Arial"/>
              </a:rPr>
              <a:t>model </a:t>
            </a:r>
            <a:r>
              <a:rPr sz="1100" spc="-5" dirty="0">
                <a:latin typeface="Arial"/>
                <a:cs typeface="Arial"/>
              </a:rPr>
              <a:t>- from </a:t>
            </a:r>
            <a:r>
              <a:rPr sz="1100" spc="-10" dirty="0">
                <a:latin typeface="Arial"/>
                <a:cs typeface="Arial"/>
              </a:rPr>
              <a:t>1980s and</a:t>
            </a:r>
            <a:r>
              <a:rPr sz="1100" spc="25" dirty="0">
                <a:latin typeface="Arial"/>
                <a:cs typeface="Arial"/>
              </a:rPr>
              <a:t> </a:t>
            </a:r>
            <a:r>
              <a:rPr sz="1100" spc="-10" dirty="0">
                <a:latin typeface="Arial"/>
                <a:cs typeface="Arial"/>
              </a:rPr>
              <a:t>1990s</a:t>
            </a:r>
            <a:endParaRPr sz="1100" dirty="0">
              <a:latin typeface="Arial"/>
              <a:cs typeface="Arial"/>
            </a:endParaRPr>
          </a:p>
          <a:p>
            <a:pPr marL="214629" indent="-177165">
              <a:lnSpc>
                <a:spcPct val="100000"/>
              </a:lnSpc>
              <a:spcBef>
                <a:spcPts val="335"/>
              </a:spcBef>
              <a:buClr>
                <a:srgbClr val="3333B2"/>
              </a:buClr>
              <a:buChar char="►"/>
              <a:tabLst>
                <a:tab pos="215265" algn="l"/>
              </a:tabLst>
            </a:pPr>
            <a:r>
              <a:rPr lang="en-US" sz="1100" spc="-5" dirty="0">
                <a:latin typeface="Arial"/>
                <a:cs typeface="Arial"/>
              </a:rPr>
              <a:t>S</a:t>
            </a:r>
            <a:r>
              <a:rPr sz="1100" spc="-5" dirty="0">
                <a:latin typeface="Arial"/>
                <a:cs typeface="Arial"/>
              </a:rPr>
              <a:t>emi-structured data </a:t>
            </a:r>
            <a:r>
              <a:rPr sz="1100" spc="-10" dirty="0">
                <a:latin typeface="Arial"/>
                <a:cs typeface="Arial"/>
              </a:rPr>
              <a:t>model (e.g. XML) </a:t>
            </a:r>
            <a:r>
              <a:rPr sz="1100" spc="-5" dirty="0">
                <a:latin typeface="Arial"/>
                <a:cs typeface="Arial"/>
              </a:rPr>
              <a:t>- from</a:t>
            </a:r>
            <a:r>
              <a:rPr sz="1100" spc="20" dirty="0">
                <a:latin typeface="Arial"/>
                <a:cs typeface="Arial"/>
              </a:rPr>
              <a:t> </a:t>
            </a:r>
            <a:r>
              <a:rPr sz="1100" spc="-10" dirty="0">
                <a:latin typeface="Arial"/>
                <a:cs typeface="Arial"/>
              </a:rPr>
              <a:t>1990s</a:t>
            </a:r>
            <a:endParaRPr sz="1100" dirty="0">
              <a:latin typeface="Arial"/>
              <a:cs typeface="Arial"/>
            </a:endParaRPr>
          </a:p>
          <a:p>
            <a:pPr marL="214629" indent="-177165">
              <a:lnSpc>
                <a:spcPct val="100000"/>
              </a:lnSpc>
              <a:spcBef>
                <a:spcPts val="335"/>
              </a:spcBef>
              <a:buClr>
                <a:srgbClr val="3333B2"/>
              </a:buClr>
              <a:buChar char="►"/>
              <a:tabLst>
                <a:tab pos="215265" algn="l"/>
              </a:tabLst>
            </a:pPr>
            <a:r>
              <a:rPr lang="en-US" sz="1100" spc="-10">
                <a:latin typeface="Arial"/>
                <a:cs typeface="Arial"/>
              </a:rPr>
              <a:t>D</a:t>
            </a:r>
            <a:r>
              <a:rPr sz="1100" spc="-10">
                <a:latin typeface="Arial"/>
                <a:cs typeface="Arial"/>
              </a:rPr>
              <a:t>ocument </a:t>
            </a:r>
            <a:r>
              <a:rPr sz="1100" spc="-5" dirty="0">
                <a:latin typeface="Arial"/>
                <a:cs typeface="Arial"/>
              </a:rPr>
              <a:t>or </a:t>
            </a:r>
            <a:r>
              <a:rPr sz="1100" spc="-15" dirty="0">
                <a:latin typeface="Arial"/>
                <a:cs typeface="Arial"/>
              </a:rPr>
              <a:t>key-value </a:t>
            </a:r>
            <a:r>
              <a:rPr sz="1100" spc="-5" dirty="0">
                <a:latin typeface="Arial"/>
                <a:cs typeface="Arial"/>
              </a:rPr>
              <a:t>models </a:t>
            </a:r>
            <a:r>
              <a:rPr sz="1100" spc="-15" dirty="0">
                <a:latin typeface="Arial"/>
                <a:cs typeface="Arial"/>
              </a:rPr>
              <a:t>(for </a:t>
            </a:r>
            <a:r>
              <a:rPr sz="1100" spc="-10" dirty="0">
                <a:latin typeface="Arial"/>
                <a:cs typeface="Arial"/>
              </a:rPr>
              <a:t>NoSQL</a:t>
            </a:r>
            <a:r>
              <a:rPr sz="1100" spc="10" dirty="0">
                <a:latin typeface="Arial"/>
                <a:cs typeface="Arial"/>
              </a:rPr>
              <a:t> </a:t>
            </a:r>
            <a:r>
              <a:rPr sz="1100" spc="-5" dirty="0">
                <a:latin typeface="Arial"/>
                <a:cs typeface="Arial"/>
              </a:rPr>
              <a:t>systems)</a:t>
            </a:r>
            <a:endParaRPr sz="1100" dirty="0">
              <a:latin typeface="Arial"/>
              <a:cs typeface="Arial"/>
            </a:endParaRPr>
          </a:p>
          <a:p>
            <a:pPr marL="214629">
              <a:lnSpc>
                <a:spcPct val="100000"/>
              </a:lnSpc>
              <a:spcBef>
                <a:spcPts val="35"/>
              </a:spcBef>
            </a:pPr>
            <a:r>
              <a:rPr sz="1100" spc="-5" dirty="0">
                <a:latin typeface="Arial"/>
                <a:cs typeface="Arial"/>
              </a:rPr>
              <a:t>- from</a:t>
            </a:r>
            <a:r>
              <a:rPr sz="1100" spc="-10" dirty="0">
                <a:latin typeface="Arial"/>
                <a:cs typeface="Arial"/>
              </a:rPr>
              <a:t> 2000s</a:t>
            </a:r>
            <a:endParaRPr sz="1100" dirty="0">
              <a:latin typeface="Arial"/>
              <a:cs typeface="Arial"/>
            </a:endParaRPr>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5DD8F-994E-180D-CEB1-B0551E023E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15DDA0-0390-3F67-657B-26F81E465DD2}"/>
              </a:ext>
            </a:extLst>
          </p:cNvPr>
          <p:cNvSpPr>
            <a:spLocks noGrp="1"/>
          </p:cNvSpPr>
          <p:nvPr>
            <p:ph type="title"/>
          </p:nvPr>
        </p:nvSpPr>
        <p:spPr>
          <a:xfrm>
            <a:off x="171450" y="282575"/>
            <a:ext cx="4419498" cy="1077218"/>
          </a:xfrm>
        </p:spPr>
        <p:txBody>
          <a:bodyPr/>
          <a:lstStyle/>
          <a:p>
            <a:r>
              <a:rPr lang="en-US" dirty="0"/>
              <a:t>What is Big data:</a:t>
            </a:r>
            <a:br>
              <a:rPr lang="en-US" dirty="0"/>
            </a:br>
            <a:br>
              <a:rPr lang="en-US" dirty="0"/>
            </a:br>
            <a:r>
              <a:rPr lang="en-US" dirty="0"/>
              <a:t>Exploration Task (10 minutes):</a:t>
            </a:r>
            <a:br>
              <a:rPr lang="en-US" dirty="0"/>
            </a:br>
            <a:br>
              <a:rPr lang="en-US" dirty="0"/>
            </a:br>
            <a:endParaRPr lang="en-US" dirty="0"/>
          </a:p>
        </p:txBody>
      </p:sp>
    </p:spTree>
    <p:extLst>
      <p:ext uri="{BB962C8B-B14F-4D97-AF65-F5344CB8AC3E}">
        <p14:creationId xmlns:p14="http://schemas.microsoft.com/office/powerpoint/2010/main" val="17022836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8E77B-14CF-CE60-8947-DA61CEFFCD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8B24DB-C5EF-B9C2-063E-CAA802D506AC}"/>
              </a:ext>
            </a:extLst>
          </p:cNvPr>
          <p:cNvSpPr>
            <a:spLocks noGrp="1"/>
          </p:cNvSpPr>
          <p:nvPr>
            <p:ph type="title"/>
          </p:nvPr>
        </p:nvSpPr>
        <p:spPr>
          <a:xfrm>
            <a:off x="171450" y="282575"/>
            <a:ext cx="4419498" cy="861774"/>
          </a:xfrm>
        </p:spPr>
        <p:txBody>
          <a:bodyPr/>
          <a:lstStyle/>
          <a:p>
            <a:br>
              <a:rPr lang="en-US" dirty="0"/>
            </a:br>
            <a:r>
              <a:rPr lang="en-US" dirty="0"/>
              <a:t>Exploration Task (10 minutes): </a:t>
            </a:r>
            <a:br>
              <a:rPr lang="en-US" dirty="0"/>
            </a:br>
            <a:br>
              <a:rPr lang="en-US" dirty="0"/>
            </a:br>
            <a:r>
              <a:rPr lang="en-US" dirty="0"/>
              <a:t>Big data storage tools/databases</a:t>
            </a:r>
          </a:p>
        </p:txBody>
      </p:sp>
    </p:spTree>
    <p:extLst>
      <p:ext uri="{BB962C8B-B14F-4D97-AF65-F5344CB8AC3E}">
        <p14:creationId xmlns:p14="http://schemas.microsoft.com/office/powerpoint/2010/main" val="4160772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BB5D3-BACC-758C-7C3E-28FA4EA389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00DAC3-2751-F61A-CBA0-681DFD0DC23B}"/>
              </a:ext>
            </a:extLst>
          </p:cNvPr>
          <p:cNvSpPr>
            <a:spLocks noGrp="1"/>
          </p:cNvSpPr>
          <p:nvPr>
            <p:ph type="title"/>
          </p:nvPr>
        </p:nvSpPr>
        <p:spPr>
          <a:xfrm>
            <a:off x="171450" y="282575"/>
            <a:ext cx="4419498" cy="646331"/>
          </a:xfrm>
        </p:spPr>
        <p:txBody>
          <a:bodyPr/>
          <a:lstStyle/>
          <a:p>
            <a:r>
              <a:rPr lang="en-US" dirty="0"/>
              <a:t>Exploration Task (10 minutes): </a:t>
            </a:r>
            <a:br>
              <a:rPr lang="en-US" dirty="0"/>
            </a:br>
            <a:br>
              <a:rPr lang="en-US" dirty="0"/>
            </a:br>
            <a:r>
              <a:rPr lang="en-US" dirty="0"/>
              <a:t>Big data processing tools</a:t>
            </a:r>
          </a:p>
        </p:txBody>
      </p:sp>
    </p:spTree>
    <p:extLst>
      <p:ext uri="{BB962C8B-B14F-4D97-AF65-F5344CB8AC3E}">
        <p14:creationId xmlns:p14="http://schemas.microsoft.com/office/powerpoint/2010/main" val="8362901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810895" cy="244475"/>
          </a:xfrm>
          <a:prstGeom prst="rect">
            <a:avLst/>
          </a:prstGeom>
        </p:spPr>
        <p:txBody>
          <a:bodyPr vert="horz" wrap="square" lIns="0" tIns="17145" rIns="0" bIns="0" rtlCol="0">
            <a:spAutoFit/>
          </a:bodyPr>
          <a:lstStyle/>
          <a:p>
            <a:pPr marL="12700">
              <a:lnSpc>
                <a:spcPct val="100000"/>
              </a:lnSpc>
              <a:spcBef>
                <a:spcPts val="135"/>
              </a:spcBef>
            </a:pPr>
            <a:r>
              <a:rPr spc="20" dirty="0"/>
              <a:t>Summa</a:t>
            </a:r>
            <a:r>
              <a:rPr spc="50" dirty="0"/>
              <a:t>r</a:t>
            </a:r>
            <a:r>
              <a:rPr spc="15" dirty="0"/>
              <a:t>y</a:t>
            </a:r>
          </a:p>
        </p:txBody>
      </p:sp>
      <p:sp>
        <p:nvSpPr>
          <p:cNvPr id="24" name="object 24"/>
          <p:cNvSpPr txBox="1"/>
          <p:nvPr/>
        </p:nvSpPr>
        <p:spPr>
          <a:xfrm>
            <a:off x="254660" y="314754"/>
            <a:ext cx="3402965" cy="3055620"/>
          </a:xfrm>
          <a:prstGeom prst="rect">
            <a:avLst/>
          </a:prstGeom>
        </p:spPr>
        <p:txBody>
          <a:bodyPr vert="horz" wrap="square" lIns="0" tIns="51435" rIns="0" bIns="0" rtlCol="0">
            <a:spAutoFit/>
          </a:bodyPr>
          <a:lstStyle/>
          <a:p>
            <a:pPr marL="201930" indent="-177165">
              <a:lnSpc>
                <a:spcPct val="100000"/>
              </a:lnSpc>
              <a:spcBef>
                <a:spcPts val="405"/>
              </a:spcBef>
              <a:buClr>
                <a:srgbClr val="3333B2"/>
              </a:buClr>
              <a:buChar char="►"/>
              <a:tabLst>
                <a:tab pos="202565" algn="l"/>
              </a:tabLst>
            </a:pPr>
            <a:r>
              <a:rPr sz="1100" spc="-5" dirty="0">
                <a:latin typeface="Arial"/>
                <a:cs typeface="Arial"/>
              </a:rPr>
              <a:t>Databases are crucial to most</a:t>
            </a:r>
            <a:r>
              <a:rPr sz="1100" spc="-10" dirty="0">
                <a:latin typeface="Arial"/>
                <a:cs typeface="Arial"/>
              </a:rPr>
              <a:t> organisations.</a:t>
            </a:r>
            <a:endParaRPr sz="1100">
              <a:latin typeface="Arial"/>
              <a:cs typeface="Arial"/>
            </a:endParaRPr>
          </a:p>
          <a:p>
            <a:pPr marL="201930" marR="57785" indent="-177165">
              <a:lnSpc>
                <a:spcPct val="102600"/>
              </a:lnSpc>
              <a:spcBef>
                <a:spcPts val="270"/>
              </a:spcBef>
              <a:buClr>
                <a:srgbClr val="3333B2"/>
              </a:buClr>
              <a:buChar char="►"/>
              <a:tabLst>
                <a:tab pos="202565" algn="l"/>
              </a:tabLst>
            </a:pPr>
            <a:r>
              <a:rPr sz="1100" spc="-10" dirty="0">
                <a:latin typeface="Arial"/>
                <a:cs typeface="Arial"/>
              </a:rPr>
              <a:t>A DBMS </a:t>
            </a:r>
            <a:r>
              <a:rPr sz="1100" spc="-5" dirty="0">
                <a:latin typeface="Arial"/>
                <a:cs typeface="Arial"/>
              </a:rPr>
              <a:t>is </a:t>
            </a:r>
            <a:r>
              <a:rPr sz="1100" spc="-10" dirty="0">
                <a:latin typeface="Arial"/>
                <a:cs typeface="Arial"/>
              </a:rPr>
              <a:t>a </a:t>
            </a:r>
            <a:r>
              <a:rPr sz="1100" spc="-5" dirty="0">
                <a:latin typeface="Arial"/>
                <a:cs typeface="Arial"/>
              </a:rPr>
              <a:t>sophisticated piece of </a:t>
            </a:r>
            <a:r>
              <a:rPr sz="1100" spc="-10" dirty="0">
                <a:latin typeface="Arial"/>
                <a:cs typeface="Arial"/>
              </a:rPr>
              <a:t>software </a:t>
            </a:r>
            <a:r>
              <a:rPr sz="1100" spc="-5" dirty="0">
                <a:latin typeface="Arial"/>
                <a:cs typeface="Arial"/>
              </a:rPr>
              <a:t>that  </a:t>
            </a:r>
            <a:r>
              <a:rPr sz="1100" spc="-10" dirty="0">
                <a:latin typeface="Arial"/>
                <a:cs typeface="Arial"/>
              </a:rPr>
              <a:t>provides </a:t>
            </a:r>
            <a:r>
              <a:rPr sz="1100" spc="-5" dirty="0">
                <a:latin typeface="Arial"/>
                <a:cs typeface="Arial"/>
              </a:rPr>
              <a:t>the </a:t>
            </a:r>
            <a:r>
              <a:rPr sz="1100" spc="-10" dirty="0">
                <a:latin typeface="Arial"/>
                <a:cs typeface="Arial"/>
              </a:rPr>
              <a:t>interface between </a:t>
            </a:r>
            <a:r>
              <a:rPr sz="1100" spc="-5" dirty="0">
                <a:latin typeface="Arial"/>
                <a:cs typeface="Arial"/>
              </a:rPr>
              <a:t>database users </a:t>
            </a:r>
            <a:r>
              <a:rPr sz="1100" spc="-10" dirty="0">
                <a:latin typeface="Arial"/>
                <a:cs typeface="Arial"/>
              </a:rPr>
              <a:t>and  </a:t>
            </a:r>
            <a:r>
              <a:rPr sz="1100" spc="-5" dirty="0">
                <a:latin typeface="Arial"/>
                <a:cs typeface="Arial"/>
              </a:rPr>
              <a:t>the database</a:t>
            </a:r>
            <a:r>
              <a:rPr sz="1100" spc="-10" dirty="0">
                <a:latin typeface="Arial"/>
                <a:cs typeface="Arial"/>
              </a:rPr>
              <a:t> itself.</a:t>
            </a:r>
            <a:endParaRPr sz="1100">
              <a:latin typeface="Arial"/>
              <a:cs typeface="Arial"/>
            </a:endParaRPr>
          </a:p>
          <a:p>
            <a:pPr marL="201930" marR="170180" indent="-177165">
              <a:lnSpc>
                <a:spcPct val="102600"/>
              </a:lnSpc>
              <a:spcBef>
                <a:spcPts val="270"/>
              </a:spcBef>
              <a:buClr>
                <a:srgbClr val="3333B2"/>
              </a:buClr>
              <a:buChar char="►"/>
              <a:tabLst>
                <a:tab pos="202565" algn="l"/>
              </a:tabLst>
            </a:pPr>
            <a:r>
              <a:rPr sz="1100" spc="-10" dirty="0">
                <a:latin typeface="Arial"/>
                <a:cs typeface="Arial"/>
              </a:rPr>
              <a:t>A DBMS </a:t>
            </a:r>
            <a:r>
              <a:rPr sz="1100" spc="-5" dirty="0">
                <a:latin typeface="Arial"/>
                <a:cs typeface="Arial"/>
              </a:rPr>
              <a:t>has three </a:t>
            </a:r>
            <a:r>
              <a:rPr sz="1100" spc="-15" dirty="0">
                <a:latin typeface="Arial"/>
                <a:cs typeface="Arial"/>
              </a:rPr>
              <a:t>levels </a:t>
            </a:r>
            <a:r>
              <a:rPr sz="1100" spc="-5" dirty="0">
                <a:latin typeface="Arial"/>
                <a:cs typeface="Arial"/>
              </a:rPr>
              <a:t>of </a:t>
            </a:r>
            <a:r>
              <a:rPr sz="1100" spc="-10" dirty="0">
                <a:latin typeface="Arial"/>
                <a:cs typeface="Arial"/>
              </a:rPr>
              <a:t>abstraction: physical,  </a:t>
            </a:r>
            <a:r>
              <a:rPr sz="1100" spc="-5" dirty="0">
                <a:latin typeface="Arial"/>
                <a:cs typeface="Arial"/>
              </a:rPr>
              <a:t>logical </a:t>
            </a:r>
            <a:r>
              <a:rPr sz="1100" spc="-10" dirty="0">
                <a:latin typeface="Arial"/>
                <a:cs typeface="Arial"/>
              </a:rPr>
              <a:t>and </a:t>
            </a:r>
            <a:r>
              <a:rPr sz="1100" spc="-25" dirty="0">
                <a:latin typeface="Arial"/>
                <a:cs typeface="Arial"/>
              </a:rPr>
              <a:t>view.</a:t>
            </a:r>
            <a:endParaRPr sz="1100">
              <a:latin typeface="Arial"/>
              <a:cs typeface="Arial"/>
            </a:endParaRPr>
          </a:p>
          <a:p>
            <a:pPr marL="201930" marR="296545" indent="-177165">
              <a:lnSpc>
                <a:spcPct val="102600"/>
              </a:lnSpc>
              <a:spcBef>
                <a:spcPts val="275"/>
              </a:spcBef>
              <a:buClr>
                <a:srgbClr val="3333B2"/>
              </a:buClr>
              <a:buChar char="►"/>
              <a:tabLst>
                <a:tab pos="202565" algn="l"/>
              </a:tabLst>
            </a:pPr>
            <a:r>
              <a:rPr sz="1100" spc="-5" dirty="0">
                <a:latin typeface="Arial"/>
                <a:cs typeface="Arial"/>
              </a:rPr>
              <a:t>Data independence </a:t>
            </a:r>
            <a:r>
              <a:rPr sz="1100" spc="-10" dirty="0">
                <a:latin typeface="Arial"/>
                <a:cs typeface="Arial"/>
              </a:rPr>
              <a:t>means </a:t>
            </a:r>
            <a:r>
              <a:rPr sz="1100" spc="-5" dirty="0">
                <a:latin typeface="Arial"/>
                <a:cs typeface="Arial"/>
              </a:rPr>
              <a:t>that changing data  representation at </a:t>
            </a:r>
            <a:r>
              <a:rPr sz="1100" spc="-10" dirty="0">
                <a:latin typeface="Arial"/>
                <a:cs typeface="Arial"/>
              </a:rPr>
              <a:t>a </a:t>
            </a:r>
            <a:r>
              <a:rPr sz="1100" spc="-15" dirty="0">
                <a:latin typeface="Arial"/>
                <a:cs typeface="Arial"/>
              </a:rPr>
              <a:t>lower </a:t>
            </a:r>
            <a:r>
              <a:rPr sz="1100" spc="-20" dirty="0">
                <a:latin typeface="Arial"/>
                <a:cs typeface="Arial"/>
              </a:rPr>
              <a:t>level </a:t>
            </a:r>
            <a:r>
              <a:rPr sz="1100" spc="-10" dirty="0">
                <a:latin typeface="Arial"/>
                <a:cs typeface="Arial"/>
              </a:rPr>
              <a:t>does </a:t>
            </a:r>
            <a:r>
              <a:rPr sz="1100" spc="-5" dirty="0">
                <a:latin typeface="Arial"/>
                <a:cs typeface="Arial"/>
              </a:rPr>
              <a:t>not </a:t>
            </a:r>
            <a:r>
              <a:rPr sz="1100" spc="-10" dirty="0">
                <a:latin typeface="Arial"/>
                <a:cs typeface="Arial"/>
              </a:rPr>
              <a:t>affect a  </a:t>
            </a:r>
            <a:r>
              <a:rPr sz="1100" spc="-5" dirty="0">
                <a:latin typeface="Arial"/>
                <a:cs typeface="Arial"/>
              </a:rPr>
              <a:t>higher</a:t>
            </a:r>
            <a:r>
              <a:rPr sz="1100" spc="-10" dirty="0">
                <a:latin typeface="Arial"/>
                <a:cs typeface="Arial"/>
              </a:rPr>
              <a:t> </a:t>
            </a:r>
            <a:r>
              <a:rPr sz="1100" spc="-15" dirty="0">
                <a:latin typeface="Arial"/>
                <a:cs typeface="Arial"/>
              </a:rPr>
              <a:t>level.</a:t>
            </a:r>
            <a:endParaRPr sz="1100">
              <a:latin typeface="Arial"/>
              <a:cs typeface="Arial"/>
            </a:endParaRPr>
          </a:p>
          <a:p>
            <a:pPr marL="201930" marR="673100" indent="-177165">
              <a:lnSpc>
                <a:spcPct val="102600"/>
              </a:lnSpc>
              <a:spcBef>
                <a:spcPts val="270"/>
              </a:spcBef>
              <a:buClr>
                <a:srgbClr val="3333B2"/>
              </a:buClr>
              <a:buChar char="►"/>
              <a:tabLst>
                <a:tab pos="202565" algn="l"/>
              </a:tabLst>
            </a:pPr>
            <a:r>
              <a:rPr sz="1100" spc="-10" dirty="0">
                <a:latin typeface="Arial"/>
                <a:cs typeface="Arial"/>
              </a:rPr>
              <a:t>A </a:t>
            </a:r>
            <a:r>
              <a:rPr sz="1100" spc="-5" dirty="0">
                <a:latin typeface="Arial"/>
                <a:cs typeface="Arial"/>
              </a:rPr>
              <a:t>data </a:t>
            </a:r>
            <a:r>
              <a:rPr sz="1100" spc="-10" dirty="0">
                <a:latin typeface="Arial"/>
                <a:cs typeface="Arial"/>
              </a:rPr>
              <a:t>model </a:t>
            </a:r>
            <a:r>
              <a:rPr sz="1100" spc="-5" dirty="0">
                <a:latin typeface="Arial"/>
                <a:cs typeface="Arial"/>
              </a:rPr>
              <a:t>has structural, integrity </a:t>
            </a:r>
            <a:r>
              <a:rPr sz="1100" spc="-10" dirty="0">
                <a:latin typeface="Arial"/>
                <a:cs typeface="Arial"/>
              </a:rPr>
              <a:t>and  manipulative </a:t>
            </a:r>
            <a:r>
              <a:rPr sz="1100" spc="-5" dirty="0">
                <a:latin typeface="Arial"/>
                <a:cs typeface="Arial"/>
              </a:rPr>
              <a:t>parts.</a:t>
            </a:r>
            <a:endParaRPr sz="1100">
              <a:latin typeface="Arial"/>
              <a:cs typeface="Arial"/>
            </a:endParaRPr>
          </a:p>
          <a:p>
            <a:pPr marL="201930" indent="-177165">
              <a:lnSpc>
                <a:spcPct val="100000"/>
              </a:lnSpc>
              <a:spcBef>
                <a:spcPts val="145"/>
              </a:spcBef>
              <a:buClr>
                <a:srgbClr val="3333B2"/>
              </a:buClr>
              <a:buChar char="►"/>
              <a:tabLst>
                <a:tab pos="202565" algn="l"/>
              </a:tabLst>
            </a:pPr>
            <a:r>
              <a:rPr sz="1100" spc="-5" dirty="0">
                <a:latin typeface="Arial"/>
                <a:cs typeface="Arial"/>
              </a:rPr>
              <a:t>It is </a:t>
            </a:r>
            <a:r>
              <a:rPr sz="1100" dirty="0">
                <a:latin typeface="Arial"/>
                <a:cs typeface="Arial"/>
              </a:rPr>
              <a:t>important </a:t>
            </a:r>
            <a:r>
              <a:rPr sz="1100" spc="-5" dirty="0">
                <a:latin typeface="Arial"/>
                <a:cs typeface="Arial"/>
              </a:rPr>
              <a:t>to understand</a:t>
            </a:r>
            <a:r>
              <a:rPr sz="1100" spc="-25" dirty="0">
                <a:latin typeface="Arial"/>
                <a:cs typeface="Arial"/>
              </a:rPr>
              <a:t> </a:t>
            </a:r>
            <a:r>
              <a:rPr sz="1100" spc="-15" dirty="0">
                <a:latin typeface="Arial"/>
                <a:cs typeface="Arial"/>
              </a:rPr>
              <a:t>how</a:t>
            </a:r>
            <a:endParaRPr sz="1100">
              <a:latin typeface="Arial"/>
              <a:cs typeface="Arial"/>
            </a:endParaRPr>
          </a:p>
          <a:p>
            <a:pPr marL="479425" marR="48895" lvl="1" indent="-175260">
              <a:lnSpc>
                <a:spcPct val="100000"/>
              </a:lnSpc>
              <a:spcBef>
                <a:spcPts val="155"/>
              </a:spcBef>
              <a:buClr>
                <a:srgbClr val="3333B2"/>
              </a:buClr>
              <a:buSzPct val="90000"/>
              <a:buAutoNum type="arabicPeriod"/>
              <a:tabLst>
                <a:tab pos="411480" algn="l"/>
              </a:tabLst>
            </a:pPr>
            <a:r>
              <a:rPr sz="1000" spc="-5" dirty="0">
                <a:latin typeface="Arial"/>
                <a:cs typeface="Arial"/>
              </a:rPr>
              <a:t>to access and update information in a database, </a:t>
            </a:r>
            <a:r>
              <a:rPr sz="1000" spc="-10" dirty="0">
                <a:latin typeface="Arial"/>
                <a:cs typeface="Arial"/>
              </a:rPr>
              <a:t>e.g.  </a:t>
            </a:r>
            <a:r>
              <a:rPr sz="1000" spc="-5" dirty="0">
                <a:latin typeface="Arial"/>
                <a:cs typeface="Arial"/>
              </a:rPr>
              <a:t>using</a:t>
            </a:r>
            <a:r>
              <a:rPr sz="1000" spc="-10" dirty="0">
                <a:latin typeface="Arial"/>
                <a:cs typeface="Arial"/>
              </a:rPr>
              <a:t> </a:t>
            </a:r>
            <a:r>
              <a:rPr sz="1000" spc="-5" dirty="0">
                <a:latin typeface="Arial"/>
                <a:cs typeface="Arial"/>
              </a:rPr>
              <a:t>SQL</a:t>
            </a:r>
            <a:endParaRPr sz="1000">
              <a:latin typeface="Arial"/>
              <a:cs typeface="Arial"/>
            </a:endParaRPr>
          </a:p>
          <a:p>
            <a:pPr marL="410845" lvl="1" indent="-107314">
              <a:lnSpc>
                <a:spcPts val="1190"/>
              </a:lnSpc>
              <a:buClr>
                <a:srgbClr val="3333B2"/>
              </a:buClr>
              <a:buSzPct val="90000"/>
              <a:buAutoNum type="arabicPeriod"/>
              <a:tabLst>
                <a:tab pos="411480" algn="l"/>
              </a:tabLst>
            </a:pPr>
            <a:r>
              <a:rPr sz="1000" spc="-5" dirty="0">
                <a:latin typeface="Arial"/>
                <a:cs typeface="Arial"/>
              </a:rPr>
              <a:t>to design a database based on real-world</a:t>
            </a:r>
            <a:r>
              <a:rPr sz="1000" spc="10" dirty="0">
                <a:latin typeface="Arial"/>
                <a:cs typeface="Arial"/>
              </a:rPr>
              <a:t> </a:t>
            </a:r>
            <a:r>
              <a:rPr sz="1000" spc="-5" dirty="0">
                <a:latin typeface="Arial"/>
                <a:cs typeface="Arial"/>
              </a:rPr>
              <a:t>constraints</a:t>
            </a:r>
            <a:endParaRPr sz="1000">
              <a:latin typeface="Arial"/>
              <a:cs typeface="Arial"/>
            </a:endParaRPr>
          </a:p>
          <a:p>
            <a:pPr marL="479425" marR="82550" lvl="1" indent="-175260">
              <a:lnSpc>
                <a:spcPts val="1200"/>
              </a:lnSpc>
              <a:spcBef>
                <a:spcPts val="35"/>
              </a:spcBef>
              <a:buClr>
                <a:srgbClr val="3333B2"/>
              </a:buClr>
              <a:buSzPct val="90000"/>
              <a:buAutoNum type="arabicPeriod"/>
              <a:tabLst>
                <a:tab pos="410845" algn="l"/>
              </a:tabLst>
            </a:pPr>
            <a:r>
              <a:rPr sz="1000" spc="-5" dirty="0">
                <a:latin typeface="Arial"/>
                <a:cs typeface="Arial"/>
              </a:rPr>
              <a:t>a DBMS provides efficient and concurrent access to  data</a:t>
            </a:r>
            <a:endParaRPr sz="1000">
              <a:latin typeface="Arial"/>
              <a:cs typeface="Arial"/>
            </a:endParaRPr>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5756</TotalTime>
  <Words>1157</Words>
  <Application>Microsoft Office PowerPoint</Application>
  <PresentationFormat>Custom</PresentationFormat>
  <Paragraphs>138</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Merriweather</vt:lpstr>
      <vt:lpstr>Times New Roman</vt:lpstr>
      <vt:lpstr>Office Theme</vt:lpstr>
      <vt:lpstr>PowerPoint Presentation</vt:lpstr>
      <vt:lpstr>PowerPoint Presentation</vt:lpstr>
      <vt:lpstr>PowerPoint Presentation</vt:lpstr>
      <vt:lpstr>What is data management and data governance?</vt:lpstr>
      <vt:lpstr>What is data management and data governance?</vt:lpstr>
      <vt:lpstr>What is data management and data governance?</vt:lpstr>
      <vt:lpstr>Why study data management? In other words, why study database management?</vt:lpstr>
      <vt:lpstr>What is a Database?</vt:lpstr>
      <vt:lpstr>What is a Database Management System  (DBMS)?</vt:lpstr>
      <vt:lpstr>Why Do We Need a DBMS?</vt:lpstr>
      <vt:lpstr>Exploration Task (10 minutes):   Types of DBMS</vt:lpstr>
      <vt:lpstr>Three levels of Abstraction</vt:lpstr>
      <vt:lpstr>Instances and Schemas</vt:lpstr>
      <vt:lpstr>Types of DBMS users</vt:lpstr>
      <vt:lpstr>DBMS examples</vt:lpstr>
      <vt:lpstr>Data Model</vt:lpstr>
      <vt:lpstr>The Relational Data Model</vt:lpstr>
      <vt:lpstr>Other Data Models</vt:lpstr>
      <vt:lpstr>What is Big data:  Exploration Task (10 minutes):  </vt:lpstr>
      <vt:lpstr> Exploration Task (10 minutes):   Big data storage tools/databases</vt:lpstr>
      <vt:lpstr>Exploration Task (10 minutes):   Big data processing tools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dc:title>
  <dc:creator>Peter Wood</dc:creator>
  <cp:lastModifiedBy>rehan Asmatullah a khan</cp:lastModifiedBy>
  <cp:revision>29</cp:revision>
  <dcterms:created xsi:type="dcterms:W3CDTF">2020-08-23T21:42:51Z</dcterms:created>
  <dcterms:modified xsi:type="dcterms:W3CDTF">2026-09-06T08:10:45Z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2020-01-13T00:00:00Z</vt:filetime>
  </property>
  <property fmtid="{D5CDD505-2E9C-101B-9397-08002B2CF9AE}" pid="3" name="Creator">
    <vt:lpwstr>LaTeX with Beamer class</vt:lpwstr>
  </property>
  <property fmtid="{D5CDD505-2E9C-101B-9397-08002B2CF9AE}" pid="4" name="LastSaved">
    <vt:filetime>2020-08-23T00:00:00Z</vt:filetime>
  </property>
</Properties>
</file>