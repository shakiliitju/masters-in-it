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1" r:id="rId5"/>
  </p:sldMasterIdLst>
  <p:notesMasterIdLst>
    <p:notesMasterId r:id="rId33"/>
  </p:notesMasterIdLst>
  <p:sldIdLst>
    <p:sldId id="283"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5" r:id="rId30"/>
    <p:sldId id="281"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42E"/>
                </a:solidFill>
                <a:latin typeface="Calibri"/>
              </a:defRPr>
            </a:pPr>
            <a:r>
              <a:rPr lang="en-GB" sz="1200" b="0" i="0" u="none" strike="noStrike">
                <a:solidFill>
                  <a:srgbClr val="14242E"/>
                </a:solidFill>
                <a:latin typeface="Calibri"/>
              </a:rPr>
              <a:t>Star rating by architecture characteristic (1 = weak, 5 = strong)</a:t>
            </a:r>
          </a:p>
        </c:rich>
      </c:tx>
      <c:overlay val="0"/>
    </c:title>
    <c:autoTitleDeleted val="0"/>
    <c:plotArea>
      <c:layout/>
      <c:barChart>
        <c:barDir val="col"/>
        <c:grouping val="clustered"/>
        <c:varyColors val="0"/>
        <c:ser>
          <c:idx val="0"/>
          <c:order val="0"/>
          <c:tx>
            <c:strRef>
              <c:f>Sheet1!$B$1</c:f>
              <c:strCache>
                <c:ptCount val="1"/>
                <c:pt idx="0">
                  <c:v>Microkernel</c:v>
                </c:pt>
              </c:strCache>
            </c:strRef>
          </c:tx>
          <c:spPr>
            <a:solidFill>
              <a:srgbClr val="C77B24"/>
            </a:solidFill>
            <a:effectLst/>
          </c:spPr>
          <c:invertIfNegative val="0"/>
          <c:dLbls>
            <c:numFmt formatCode="#,##0" sourceLinked="0"/>
            <c:spPr>
              <a:noFill/>
              <a:ln>
                <a:noFill/>
              </a:ln>
              <a:effectLst/>
            </c:spPr>
            <c:txPr>
              <a:bodyPr/>
              <a:lstStyle/>
              <a:p>
                <a:pPr>
                  <a:defRPr sz="900" b="0" i="0" u="none" strike="noStrike">
                    <a:solidFill>
                      <a:srgbClr val="1F364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Cost
(5 = cheap)</c:v>
                </c:pt>
                <c:pt idx="1">
                  <c:v>Simplicity</c:v>
                </c:pt>
                <c:pt idx="2">
                  <c:v>Deployability</c:v>
                </c:pt>
                <c:pt idx="3">
                  <c:v>Testability</c:v>
                </c:pt>
                <c:pt idx="4">
                  <c:v>Fault tolerance</c:v>
                </c:pt>
                <c:pt idx="5">
                  <c:v>Scalability</c:v>
                </c:pt>
                <c:pt idx="6">
                  <c:v>Elasticity</c:v>
                </c:pt>
                <c:pt idx="7">
                  <c:v>Performance</c:v>
                </c:pt>
              </c:strCache>
            </c:strRef>
          </c:cat>
          <c:val>
            <c:numRef>
              <c:f>Sheet1!$B$2:$B$9</c:f>
              <c:numCache>
                <c:formatCode>General</c:formatCode>
                <c:ptCount val="8"/>
                <c:pt idx="0">
                  <c:v>5</c:v>
                </c:pt>
                <c:pt idx="1">
                  <c:v>4</c:v>
                </c:pt>
                <c:pt idx="2">
                  <c:v>3</c:v>
                </c:pt>
                <c:pt idx="3">
                  <c:v>3</c:v>
                </c:pt>
                <c:pt idx="4">
                  <c:v>1</c:v>
                </c:pt>
                <c:pt idx="5">
                  <c:v>1</c:v>
                </c:pt>
                <c:pt idx="6">
                  <c:v>1</c:v>
                </c:pt>
                <c:pt idx="7">
                  <c:v>3</c:v>
                </c:pt>
              </c:numCache>
            </c:numRef>
          </c:val>
          <c:extLst>
            <c:ext xmlns:c16="http://schemas.microsoft.com/office/drawing/2014/chart" uri="{C3380CC4-5D6E-409C-BE32-E72D297353CC}">
              <c16:uniqueId val="{00000000-AA89-4F89-8D5F-E8FA4F5F2FE5}"/>
            </c:ext>
          </c:extLst>
        </c:ser>
        <c:ser>
          <c:idx val="1"/>
          <c:order val="1"/>
          <c:tx>
            <c:strRef>
              <c:f>Sheet1!$C$1</c:f>
              <c:strCache>
                <c:ptCount val="1"/>
                <c:pt idx="0">
                  <c:v>Service-Based</c:v>
                </c:pt>
              </c:strCache>
            </c:strRef>
          </c:tx>
          <c:spPr>
            <a:solidFill>
              <a:srgbClr val="16807E"/>
            </a:solidFill>
            <a:effectLst/>
          </c:spPr>
          <c:invertIfNegative val="0"/>
          <c:dLbls>
            <c:numFmt formatCode="#,##0" sourceLinked="0"/>
            <c:spPr>
              <a:noFill/>
              <a:ln>
                <a:noFill/>
              </a:ln>
              <a:effectLst/>
            </c:spPr>
            <c:txPr>
              <a:bodyPr/>
              <a:lstStyle/>
              <a:p>
                <a:pPr>
                  <a:defRPr sz="900" b="0" i="0" u="none" strike="noStrike">
                    <a:solidFill>
                      <a:srgbClr val="1F364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Cost
(5 = cheap)</c:v>
                </c:pt>
                <c:pt idx="1">
                  <c:v>Simplicity</c:v>
                </c:pt>
                <c:pt idx="2">
                  <c:v>Deployability</c:v>
                </c:pt>
                <c:pt idx="3">
                  <c:v>Testability</c:v>
                </c:pt>
                <c:pt idx="4">
                  <c:v>Fault tolerance</c:v>
                </c:pt>
                <c:pt idx="5">
                  <c:v>Scalability</c:v>
                </c:pt>
                <c:pt idx="6">
                  <c:v>Elasticity</c:v>
                </c:pt>
                <c:pt idx="7">
                  <c:v>Performance</c:v>
                </c:pt>
              </c:strCache>
            </c:strRef>
          </c:cat>
          <c:val>
            <c:numRef>
              <c:f>Sheet1!$C$2:$C$9</c:f>
              <c:numCache>
                <c:formatCode>General</c:formatCode>
                <c:ptCount val="8"/>
                <c:pt idx="0">
                  <c:v>4</c:v>
                </c:pt>
                <c:pt idx="1">
                  <c:v>3</c:v>
                </c:pt>
                <c:pt idx="2">
                  <c:v>4</c:v>
                </c:pt>
                <c:pt idx="3">
                  <c:v>4</c:v>
                </c:pt>
                <c:pt idx="4">
                  <c:v>4</c:v>
                </c:pt>
                <c:pt idx="5">
                  <c:v>3</c:v>
                </c:pt>
                <c:pt idx="6">
                  <c:v>2</c:v>
                </c:pt>
                <c:pt idx="7">
                  <c:v>3</c:v>
                </c:pt>
              </c:numCache>
            </c:numRef>
          </c:val>
          <c:extLst>
            <c:ext xmlns:c16="http://schemas.microsoft.com/office/drawing/2014/chart" uri="{C3380CC4-5D6E-409C-BE32-E72D297353CC}">
              <c16:uniqueId val="{00000001-AA89-4F89-8D5F-E8FA4F5F2FE5}"/>
            </c:ext>
          </c:extLst>
        </c:ser>
        <c:ser>
          <c:idx val="2"/>
          <c:order val="2"/>
          <c:tx>
            <c:strRef>
              <c:f>Sheet1!$D$1</c:f>
              <c:strCache>
                <c:ptCount val="1"/>
                <c:pt idx="0">
                  <c:v>Microservices</c:v>
                </c:pt>
              </c:strCache>
            </c:strRef>
          </c:tx>
          <c:spPr>
            <a:solidFill>
              <a:srgbClr val="B23F3A"/>
            </a:solidFill>
            <a:effectLst/>
          </c:spPr>
          <c:invertIfNegative val="0"/>
          <c:dLbls>
            <c:numFmt formatCode="#,##0" sourceLinked="0"/>
            <c:spPr>
              <a:noFill/>
              <a:ln>
                <a:noFill/>
              </a:ln>
              <a:effectLst/>
            </c:spPr>
            <c:txPr>
              <a:bodyPr/>
              <a:lstStyle/>
              <a:p>
                <a:pPr>
                  <a:defRPr sz="900" b="0" i="0" u="none" strike="noStrike">
                    <a:solidFill>
                      <a:srgbClr val="1F364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Cost
(5 = cheap)</c:v>
                </c:pt>
                <c:pt idx="1">
                  <c:v>Simplicity</c:v>
                </c:pt>
                <c:pt idx="2">
                  <c:v>Deployability</c:v>
                </c:pt>
                <c:pt idx="3">
                  <c:v>Testability</c:v>
                </c:pt>
                <c:pt idx="4">
                  <c:v>Fault tolerance</c:v>
                </c:pt>
                <c:pt idx="5">
                  <c:v>Scalability</c:v>
                </c:pt>
                <c:pt idx="6">
                  <c:v>Elasticity</c:v>
                </c:pt>
                <c:pt idx="7">
                  <c:v>Performance</c:v>
                </c:pt>
              </c:strCache>
            </c:strRef>
          </c:cat>
          <c:val>
            <c:numRef>
              <c:f>Sheet1!$D$2:$D$9</c:f>
              <c:numCache>
                <c:formatCode>General</c:formatCode>
                <c:ptCount val="8"/>
                <c:pt idx="0">
                  <c:v>1</c:v>
                </c:pt>
                <c:pt idx="1">
                  <c:v>1</c:v>
                </c:pt>
                <c:pt idx="2">
                  <c:v>4</c:v>
                </c:pt>
                <c:pt idx="3">
                  <c:v>4</c:v>
                </c:pt>
                <c:pt idx="4">
                  <c:v>4</c:v>
                </c:pt>
                <c:pt idx="5">
                  <c:v>5</c:v>
                </c:pt>
                <c:pt idx="6">
                  <c:v>5</c:v>
                </c:pt>
                <c:pt idx="7">
                  <c:v>2</c:v>
                </c:pt>
              </c:numCache>
            </c:numRef>
          </c:val>
          <c:extLst>
            <c:ext xmlns:c16="http://schemas.microsoft.com/office/drawing/2014/chart" uri="{C3380CC4-5D6E-409C-BE32-E72D297353CC}">
              <c16:uniqueId val="{00000002-AA89-4F89-8D5F-E8FA4F5F2FE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F3644"/>
                </a:solidFill>
                <a:latin typeface="Calibri"/>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9525" cap="flat">
              <a:solidFill>
                <a:srgbClr val="E3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2757F"/>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F3644"/>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555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three minutes per architecture block, six minutes on the comparison and decision sections, and we leave ten minutes for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stressing that 'it depends' is not evasion — it is the honest starting point, and the rest of the talk is about what it depends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 scorecard is comparative and relative. A common Q&amp;A question: can a rating be improved by engineering? Yes, but only by paying in another characteristic.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why these three and not, say, layered or event-driven: they sit on one axis, so every difference between them is attributable to granularity rather than to an unrelated design idea.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recycling-assessment example from chapter 13: each electronic device gets its own assessment plug-in. Stress that the win is isolation of volatility, not reuse.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UI to core, core consults registry, core invokes plug-in, core owns the database. The single-quantum point is the one students most often get wrong.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remote plug-in row is the key trade-off discussion: it is the point where microkernel starts borrowing microservices problems without gaining microservices benefits.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five-star cost rating against the one-star scalability rating — that single pair explains the whole style.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a Saudi or regional example: any system where regulations differ by region — Zakat/VAT rule variations, or multi-branch banking products — has the same isomorphism.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Richards calls this the most pragmatic style available. It is under-taught relative to how often it is the right answer.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UI-to-service arrows are the only remote calls on the diagram. That absence of service-to-service arrows is the defining feature.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database partitioning by logical domain within the shared schema as a way to limit the blast radius of schema change.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absence of five-star ratings is the honest selling point: this style is chosen for its balance, not for any single peak.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not to overclaim. Expect a question on whether Amazon abandoned microservices; the answer is no, and the published article is explicit that these are tools chosen per situation.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microservices could not have existed before the DevOps revolution — the style assumes automated provisioning, deployment and monitoring as table stakes.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the API layer is optional and must stay thin; putting orchestration logic there recreates the ESB that microservices was reacting against.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to recover from over-decomposition: merge services back. That is cheaper than building a choreography layer to hide the mistake.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slide pairing in the talk: microkernel is five for cost and one for scalability; microservices is the exact mirror image.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link between the three styles: the industry's most committed microservices adopter moved toward coarser domain boundaries once complexity outpaced the benefit.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Point only at cost, scalability and elasticity, then move 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 the question about the inverted cost bar and state it before anyone asks.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questions to ask a stakeholder, not as a flowchart to execute. The order matters: the monolith-versus-distributed call comes first.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classmates presenting microservices, DDD, API design and event-driven topics — acknowledge the overlap explicitly.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E2D8F-60D3-FC04-4163-508FF9CB7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BD473-B0BE-DEB3-829E-63EF29EF7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3E201-F218-DFF2-BB73-3DFC15621216}"/>
              </a:ext>
            </a:extLst>
          </p:cNvPr>
          <p:cNvSpPr>
            <a:spLocks noGrp="1"/>
          </p:cNvSpPr>
          <p:nvPr>
            <p:ph type="body" idx="1"/>
          </p:nvPr>
        </p:nvSpPr>
        <p:spPr/>
        <p:txBody>
          <a:bodyPr/>
          <a:lstStyle/>
          <a:p>
            <a:r>
              <a:rPr lang="en-US" dirty="0"/>
              <a:t>Close the loop with classmates presenting microservices, DDD, API design and event-driven topics — acknowledge the overlap explicitly.</a:t>
            </a:r>
          </a:p>
        </p:txBody>
      </p:sp>
      <p:sp>
        <p:nvSpPr>
          <p:cNvPr id="4" name="Slide Number Placeholder 3">
            <a:extLst>
              <a:ext uri="{FF2B5EF4-FFF2-40B4-BE49-F238E27FC236}">
                <a16:creationId xmlns:a16="http://schemas.microsoft.com/office/drawing/2014/main" id="{6DD350B1-8BBD-112B-7378-C077C96266B4}"/>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0407508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attribution line matters for the academic-integrity requirement in the assignment brief.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110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2223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3195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7107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49010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27107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00249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8694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02425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6733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95747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9/28/2026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8734726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0714"/>
        </a:solidFill>
        <a:effectLst/>
      </p:bgPr>
    </p:bg>
    <p:spTree>
      <p:nvGrpSpPr>
        <p:cNvPr id="1" name=""/>
        <p:cNvGrpSpPr/>
        <p:nvPr/>
      </p:nvGrpSpPr>
      <p:grpSpPr>
        <a:xfrm>
          <a:off x="0" y="0"/>
          <a:ext cx="0" cy="0"/>
          <a:chOff x="0" y="0"/>
          <a:chExt cx="0" cy="0"/>
        </a:xfrm>
      </p:grpSpPr>
      <p:sp>
        <p:nvSpPr>
          <p:cNvPr id="11" name="Text 0">
            <a:extLst>
              <a:ext uri="{FF2B5EF4-FFF2-40B4-BE49-F238E27FC236}">
                <a16:creationId xmlns:a16="http://schemas.microsoft.com/office/drawing/2014/main" id="{7C2F4DAA-E84E-3145-36D7-17DE2E61E8B6}"/>
              </a:ext>
            </a:extLst>
          </p:cNvPr>
          <p:cNvSpPr txBox="1"/>
          <p:nvPr/>
        </p:nvSpPr>
        <p:spPr>
          <a:xfrm>
            <a:off x="868680" y="1417320"/>
            <a:ext cx="10424160" cy="1737360"/>
          </a:xfrm>
          <a:prstGeom prst="rect">
            <a:avLst/>
          </a:prstGeom>
          <a:noFill/>
          <a:ln/>
        </p:spPr>
        <p:txBody>
          <a:bodyPr wrap="square" lIns="0" tIns="0" rIns="0" bIns="0" rtlCol="0" anchor="ctr"/>
          <a:lstStyle/>
          <a:p>
            <a:pPr marL="0" indent="0" algn="ctr">
              <a:lnSpc>
                <a:spcPts val="4600"/>
              </a:lnSpc>
              <a:buNone/>
            </a:pPr>
            <a:r>
              <a:rPr lang="en-US" sz="4800" b="1" dirty="0">
                <a:solidFill>
                  <a:srgbClr val="FFFFFF"/>
                </a:solidFill>
                <a:latin typeface="Cambria" pitchFamily="34" charset="0"/>
                <a:ea typeface="Cambria" pitchFamily="34" charset="-122"/>
                <a:cs typeface="Cambria" pitchFamily="34" charset="-120"/>
              </a:rPr>
              <a:t>Choosing Between Three</a:t>
            </a:r>
            <a:endParaRPr lang="en-US" sz="4800" dirty="0"/>
          </a:p>
          <a:p>
            <a:pPr marL="0" indent="0" algn="ctr">
              <a:lnSpc>
                <a:spcPts val="4600"/>
              </a:lnSpc>
              <a:buNone/>
            </a:pPr>
            <a:r>
              <a:rPr lang="en-US" sz="4800" b="1" dirty="0">
                <a:solidFill>
                  <a:srgbClr val="FFFFFF"/>
                </a:solidFill>
                <a:latin typeface="Cambria" pitchFamily="34" charset="0"/>
                <a:ea typeface="Cambria" pitchFamily="34" charset="-122"/>
                <a:cs typeface="Cambria" pitchFamily="34" charset="-120"/>
              </a:rPr>
              <a:t>Software Architecture Styles</a:t>
            </a:r>
            <a:endParaRPr lang="en-US" sz="4800" dirty="0"/>
          </a:p>
        </p:txBody>
      </p:sp>
      <p:sp>
        <p:nvSpPr>
          <p:cNvPr id="13" name="Shape 1">
            <a:extLst>
              <a:ext uri="{FF2B5EF4-FFF2-40B4-BE49-F238E27FC236}">
                <a16:creationId xmlns:a16="http://schemas.microsoft.com/office/drawing/2014/main" id="{3A324AEF-A083-C995-9F92-FC459EFB67AC}"/>
              </a:ext>
            </a:extLst>
          </p:cNvPr>
          <p:cNvSpPr/>
          <p:nvPr/>
        </p:nvSpPr>
        <p:spPr>
          <a:xfrm>
            <a:off x="2007669" y="3375419"/>
            <a:ext cx="481263" cy="481263"/>
          </a:xfrm>
          <a:prstGeom prst="ellipse">
            <a:avLst/>
          </a:prstGeom>
          <a:solidFill>
            <a:srgbClr val="C77B24"/>
          </a:solidFill>
          <a:ln/>
        </p:spPr>
        <p:txBody>
          <a:bodyPr/>
          <a:lstStyle/>
          <a:p>
            <a:endParaRPr lang="en-US"/>
          </a:p>
        </p:txBody>
      </p:sp>
      <p:sp>
        <p:nvSpPr>
          <p:cNvPr id="15" name="Text 2">
            <a:extLst>
              <a:ext uri="{FF2B5EF4-FFF2-40B4-BE49-F238E27FC236}">
                <a16:creationId xmlns:a16="http://schemas.microsoft.com/office/drawing/2014/main" id="{918EF544-6E06-A762-1E08-F5CF4B438A30}"/>
              </a:ext>
            </a:extLst>
          </p:cNvPr>
          <p:cNvSpPr txBox="1"/>
          <p:nvPr/>
        </p:nvSpPr>
        <p:spPr>
          <a:xfrm>
            <a:off x="2639407" y="3387611"/>
            <a:ext cx="24688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Microkernel</a:t>
            </a:r>
            <a:endParaRPr lang="en-US" sz="2000" dirty="0"/>
          </a:p>
        </p:txBody>
      </p:sp>
      <p:sp>
        <p:nvSpPr>
          <p:cNvPr id="17" name="Shape 3">
            <a:extLst>
              <a:ext uri="{FF2B5EF4-FFF2-40B4-BE49-F238E27FC236}">
                <a16:creationId xmlns:a16="http://schemas.microsoft.com/office/drawing/2014/main" id="{9480B7DA-686A-05CE-0523-0AC21F676588}"/>
              </a:ext>
            </a:extLst>
          </p:cNvPr>
          <p:cNvSpPr/>
          <p:nvPr/>
        </p:nvSpPr>
        <p:spPr>
          <a:xfrm>
            <a:off x="4796589" y="3375419"/>
            <a:ext cx="481263" cy="481263"/>
          </a:xfrm>
          <a:prstGeom prst="ellipse">
            <a:avLst/>
          </a:prstGeom>
          <a:solidFill>
            <a:srgbClr val="16807E"/>
          </a:solidFill>
          <a:ln/>
        </p:spPr>
        <p:txBody>
          <a:bodyPr/>
          <a:lstStyle/>
          <a:p>
            <a:endParaRPr lang="en-US"/>
          </a:p>
        </p:txBody>
      </p:sp>
      <p:sp>
        <p:nvSpPr>
          <p:cNvPr id="19" name="Text 4">
            <a:extLst>
              <a:ext uri="{FF2B5EF4-FFF2-40B4-BE49-F238E27FC236}">
                <a16:creationId xmlns:a16="http://schemas.microsoft.com/office/drawing/2014/main" id="{3D202E25-6595-6EE4-0BE7-4933A46A3FEA}"/>
              </a:ext>
            </a:extLst>
          </p:cNvPr>
          <p:cNvSpPr txBox="1"/>
          <p:nvPr/>
        </p:nvSpPr>
        <p:spPr>
          <a:xfrm>
            <a:off x="5428327" y="3387611"/>
            <a:ext cx="24688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Service-Based</a:t>
            </a:r>
            <a:endParaRPr lang="en-US" sz="1600" dirty="0"/>
          </a:p>
        </p:txBody>
      </p:sp>
      <p:sp>
        <p:nvSpPr>
          <p:cNvPr id="21" name="Shape 5">
            <a:extLst>
              <a:ext uri="{FF2B5EF4-FFF2-40B4-BE49-F238E27FC236}">
                <a16:creationId xmlns:a16="http://schemas.microsoft.com/office/drawing/2014/main" id="{B4C85AC7-427B-1963-8C02-DA7B8F3C3F39}"/>
              </a:ext>
            </a:extLst>
          </p:cNvPr>
          <p:cNvSpPr/>
          <p:nvPr/>
        </p:nvSpPr>
        <p:spPr>
          <a:xfrm>
            <a:off x="7585509" y="3375419"/>
            <a:ext cx="481263" cy="481263"/>
          </a:xfrm>
          <a:prstGeom prst="ellipse">
            <a:avLst/>
          </a:prstGeom>
          <a:solidFill>
            <a:srgbClr val="B23F3A"/>
          </a:solidFill>
          <a:ln/>
        </p:spPr>
        <p:txBody>
          <a:bodyPr/>
          <a:lstStyle/>
          <a:p>
            <a:endParaRPr lang="en-US"/>
          </a:p>
        </p:txBody>
      </p:sp>
      <p:sp>
        <p:nvSpPr>
          <p:cNvPr id="23" name="Text 6">
            <a:extLst>
              <a:ext uri="{FF2B5EF4-FFF2-40B4-BE49-F238E27FC236}">
                <a16:creationId xmlns:a16="http://schemas.microsoft.com/office/drawing/2014/main" id="{95B3E7CD-FD86-803D-2CF5-A0FD9B5B4DDA}"/>
              </a:ext>
            </a:extLst>
          </p:cNvPr>
          <p:cNvSpPr txBox="1"/>
          <p:nvPr/>
        </p:nvSpPr>
        <p:spPr>
          <a:xfrm>
            <a:off x="8217247" y="3387611"/>
            <a:ext cx="246888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Microservices</a:t>
            </a:r>
            <a:endParaRPr lang="en-US" sz="2000" dirty="0"/>
          </a:p>
        </p:txBody>
      </p:sp>
      <p:sp>
        <p:nvSpPr>
          <p:cNvPr id="25" name="Text 8">
            <a:extLst>
              <a:ext uri="{FF2B5EF4-FFF2-40B4-BE49-F238E27FC236}">
                <a16:creationId xmlns:a16="http://schemas.microsoft.com/office/drawing/2014/main" id="{FA6529B4-A78B-BB83-311C-A0A7CB189982}"/>
              </a:ext>
            </a:extLst>
          </p:cNvPr>
          <p:cNvSpPr txBox="1"/>
          <p:nvPr/>
        </p:nvSpPr>
        <p:spPr>
          <a:xfrm>
            <a:off x="868680" y="4983480"/>
            <a:ext cx="10058400" cy="1005840"/>
          </a:xfrm>
          <a:prstGeom prst="rect">
            <a:avLst/>
          </a:prstGeom>
          <a:noFill/>
          <a:ln/>
        </p:spPr>
        <p:txBody>
          <a:bodyPr wrap="square" lIns="0" tIns="0" rIns="0" bIns="0" rtlCol="0" anchor="ctr"/>
          <a:lstStyle/>
          <a:p>
            <a:pPr marL="0" indent="0">
              <a:lnSpc>
                <a:spcPct val="200000"/>
              </a:lnSpc>
              <a:buNone/>
            </a:pPr>
            <a:r>
              <a:rPr lang="en-US" sz="2400" dirty="0">
                <a:solidFill>
                  <a:srgbClr val="9FB3BD"/>
                </a:solidFill>
                <a:latin typeface="Calibri" pitchFamily="34" charset="0"/>
                <a:ea typeface="Calibri" pitchFamily="34" charset="-122"/>
                <a:cs typeface="Calibri" pitchFamily="34" charset="-120"/>
              </a:rPr>
              <a:t>Presented by </a:t>
            </a:r>
          </a:p>
          <a:p>
            <a:pPr marL="0" indent="0">
              <a:lnSpc>
                <a:spcPts val="1900"/>
              </a:lnSpc>
              <a:buNone/>
            </a:pPr>
            <a:r>
              <a:rPr lang="en-US" sz="2400" b="1" dirty="0">
                <a:solidFill>
                  <a:srgbClr val="9FB3BD"/>
                </a:solidFill>
                <a:latin typeface="Calibri" pitchFamily="34" charset="0"/>
                <a:ea typeface="Calibri" pitchFamily="34" charset="-122"/>
                <a:cs typeface="Calibri" pitchFamily="34" charset="-120"/>
              </a:rPr>
              <a:t>Md. Shakil Hossain</a:t>
            </a:r>
            <a:endParaRPr lang="en-US" sz="2400" b="1" dirty="0"/>
          </a:p>
        </p:txBody>
      </p:sp>
      <p:sp>
        <p:nvSpPr>
          <p:cNvPr id="27" name="Freeform 6">
            <a:extLst>
              <a:ext uri="{FF2B5EF4-FFF2-40B4-BE49-F238E27FC236}">
                <a16:creationId xmlns:a16="http://schemas.microsoft.com/office/drawing/2014/main" id="{9FFA84D2-C0BE-8D03-7A29-D1FC4F97D58E}"/>
              </a:ext>
            </a:extLst>
          </p:cNvPr>
          <p:cNvSpPr/>
          <p:nvPr/>
        </p:nvSpPr>
        <p:spPr>
          <a:xfrm>
            <a:off x="13830891" y="592695"/>
            <a:ext cx="4029963" cy="1191339"/>
          </a:xfrm>
          <a:custGeom>
            <a:avLst/>
            <a:gdLst/>
            <a:ahLst/>
            <a:cxnLst/>
            <a:rect l="l" t="t" r="r" b="b"/>
            <a:pathLst>
              <a:path w="4029963" h="1191339">
                <a:moveTo>
                  <a:pt x="0" y="0"/>
                </a:moveTo>
                <a:lnTo>
                  <a:pt x="4029963" y="0"/>
                </a:lnTo>
                <a:lnTo>
                  <a:pt x="4029963" y="1191339"/>
                </a:lnTo>
                <a:lnTo>
                  <a:pt x="0" y="1191339"/>
                </a:lnTo>
                <a:lnTo>
                  <a:pt x="0" y="0"/>
                </a:lnTo>
                <a:close/>
              </a:path>
            </a:pathLst>
          </a:custGeom>
          <a:blipFill>
            <a:blip r:embed="rId2"/>
            <a:stretch>
              <a:fillRect/>
            </a:stretch>
          </a:blipFill>
        </p:spPr>
        <p:txBody>
          <a:bodyPr/>
          <a:lstStyle/>
          <a:p>
            <a:endParaRPr lang="en-US"/>
          </a:p>
        </p:txBody>
      </p:sp>
      <p:sp>
        <p:nvSpPr>
          <p:cNvPr id="29" name="Freeform 6">
            <a:extLst>
              <a:ext uri="{FF2B5EF4-FFF2-40B4-BE49-F238E27FC236}">
                <a16:creationId xmlns:a16="http://schemas.microsoft.com/office/drawing/2014/main" id="{7CFA62FF-8BBD-3050-76FA-066294D9024B}"/>
              </a:ext>
            </a:extLst>
          </p:cNvPr>
          <p:cNvSpPr/>
          <p:nvPr/>
        </p:nvSpPr>
        <p:spPr>
          <a:xfrm>
            <a:off x="13983291" y="745095"/>
            <a:ext cx="4029963" cy="1191339"/>
          </a:xfrm>
          <a:custGeom>
            <a:avLst/>
            <a:gdLst/>
            <a:ahLst/>
            <a:cxnLst/>
            <a:rect l="l" t="t" r="r" b="b"/>
            <a:pathLst>
              <a:path w="4029963" h="1191339">
                <a:moveTo>
                  <a:pt x="0" y="0"/>
                </a:moveTo>
                <a:lnTo>
                  <a:pt x="4029963" y="0"/>
                </a:lnTo>
                <a:lnTo>
                  <a:pt x="4029963" y="1191339"/>
                </a:lnTo>
                <a:lnTo>
                  <a:pt x="0" y="1191339"/>
                </a:lnTo>
                <a:lnTo>
                  <a:pt x="0" y="0"/>
                </a:lnTo>
                <a:close/>
              </a:path>
            </a:pathLst>
          </a:custGeom>
          <a:blipFill>
            <a:blip r:embed="rId2"/>
            <a:stretch>
              <a:fillRect/>
            </a:stretch>
          </a:blipFill>
        </p:spPr>
        <p:txBody>
          <a:bodyPr/>
          <a:lstStyle/>
          <a:p>
            <a:endParaRPr lang="en-US"/>
          </a:p>
        </p:txBody>
      </p:sp>
      <p:sp>
        <p:nvSpPr>
          <p:cNvPr id="31" name="Freeform 6">
            <a:extLst>
              <a:ext uri="{FF2B5EF4-FFF2-40B4-BE49-F238E27FC236}">
                <a16:creationId xmlns:a16="http://schemas.microsoft.com/office/drawing/2014/main" id="{8566E6EC-FD6A-0F33-C663-C7DAE5642027}"/>
              </a:ext>
            </a:extLst>
          </p:cNvPr>
          <p:cNvSpPr/>
          <p:nvPr/>
        </p:nvSpPr>
        <p:spPr>
          <a:xfrm>
            <a:off x="14135691" y="897495"/>
            <a:ext cx="4029963" cy="1191339"/>
          </a:xfrm>
          <a:custGeom>
            <a:avLst/>
            <a:gdLst/>
            <a:ahLst/>
            <a:cxnLst/>
            <a:rect l="l" t="t" r="r" b="b"/>
            <a:pathLst>
              <a:path w="4029963" h="1191339">
                <a:moveTo>
                  <a:pt x="0" y="0"/>
                </a:moveTo>
                <a:lnTo>
                  <a:pt x="4029963" y="0"/>
                </a:lnTo>
                <a:lnTo>
                  <a:pt x="4029963" y="1191339"/>
                </a:lnTo>
                <a:lnTo>
                  <a:pt x="0" y="1191339"/>
                </a:lnTo>
                <a:lnTo>
                  <a:pt x="0" y="0"/>
                </a:lnTo>
                <a:close/>
              </a:path>
            </a:pathLst>
          </a:custGeom>
          <a:blipFill>
            <a:blip r:embed="rId2"/>
            <a:stretch>
              <a:fillRect/>
            </a:stretch>
          </a:blipFill>
        </p:spPr>
        <p:txBody>
          <a:bodyPr/>
          <a:lstStyle/>
          <a:p>
            <a:endParaRPr lang="en-US"/>
          </a:p>
        </p:txBody>
      </p:sp>
      <p:pic>
        <p:nvPicPr>
          <p:cNvPr id="33" name="Picture 32">
            <a:extLst>
              <a:ext uri="{FF2B5EF4-FFF2-40B4-BE49-F238E27FC236}">
                <a16:creationId xmlns:a16="http://schemas.microsoft.com/office/drawing/2014/main" id="{C5A278D4-C741-145C-DAC1-47DD18CB7648}"/>
              </a:ext>
            </a:extLst>
          </p:cNvPr>
          <p:cNvPicPr>
            <a:picLocks noChangeAspect="1"/>
          </p:cNvPicPr>
          <p:nvPr/>
        </p:nvPicPr>
        <p:blipFill>
          <a:blip r:embed="rId3"/>
          <a:stretch>
            <a:fillRect/>
          </a:stretch>
        </p:blipFill>
        <p:spPr>
          <a:xfrm>
            <a:off x="9226296" y="62380"/>
            <a:ext cx="2818293" cy="835682"/>
          </a:xfrm>
          <a:prstGeom prst="rect">
            <a:avLst/>
          </a:prstGeom>
        </p:spPr>
      </p:pic>
      <p:sp>
        <p:nvSpPr>
          <p:cNvPr id="35" name="TextBox 8">
            <a:extLst>
              <a:ext uri="{FF2B5EF4-FFF2-40B4-BE49-F238E27FC236}">
                <a16:creationId xmlns:a16="http://schemas.microsoft.com/office/drawing/2014/main" id="{0180F1CC-0C0A-B5F7-2CC8-BB90BAFF532E}"/>
              </a:ext>
            </a:extLst>
          </p:cNvPr>
          <p:cNvSpPr txBox="1"/>
          <p:nvPr/>
        </p:nvSpPr>
        <p:spPr>
          <a:xfrm>
            <a:off x="147410" y="130375"/>
            <a:ext cx="5948589" cy="923330"/>
          </a:xfrm>
          <a:prstGeom prst="rect">
            <a:avLst/>
          </a:prstGeom>
        </p:spPr>
        <p:txBody>
          <a:bodyPr wrap="square" lIns="0" tIns="0" rIns="0" bIns="0" rtlCol="0" anchor="t">
            <a:spAutoFit/>
          </a:bodyPr>
          <a:lstStyle/>
          <a:p>
            <a:pPr algn="l"/>
            <a:r>
              <a:rPr lang="en-US" sz="2000" dirty="0">
                <a:solidFill>
                  <a:srgbClr val="1675D5"/>
                </a:solidFill>
                <a:latin typeface="Cambria" panose="02040503050406030204" pitchFamily="18" charset="0"/>
                <a:ea typeface="Cambria" panose="02040503050406030204" pitchFamily="18" charset="0"/>
                <a:cs typeface="Open Sans 2"/>
                <a:sym typeface="Open Sans 2"/>
              </a:rPr>
              <a:t>Master of Science in Information Technology</a:t>
            </a:r>
          </a:p>
          <a:p>
            <a:pPr algn="l"/>
            <a:r>
              <a:rPr lang="en-US" sz="2000" dirty="0">
                <a:solidFill>
                  <a:srgbClr val="1675D5"/>
                </a:solidFill>
                <a:latin typeface="Cambria" panose="02040503050406030204" pitchFamily="18" charset="0"/>
                <a:ea typeface="Cambria" panose="02040503050406030204" pitchFamily="18" charset="0"/>
                <a:cs typeface="Open Sans 2"/>
                <a:sym typeface="Open Sans 2"/>
              </a:rPr>
              <a:t>College of Computer</a:t>
            </a:r>
          </a:p>
          <a:p>
            <a:pPr algn="l"/>
            <a:r>
              <a:rPr lang="en-US" sz="2000" dirty="0">
                <a:solidFill>
                  <a:srgbClr val="1675D5"/>
                </a:solidFill>
                <a:latin typeface="Cambria" panose="02040503050406030204" pitchFamily="18" charset="0"/>
                <a:ea typeface="Cambria" panose="02040503050406030204" pitchFamily="18" charset="0"/>
                <a:cs typeface="Open Sans 2"/>
                <a:sym typeface="Open Sans 2"/>
              </a:rPr>
              <a:t>Qassim University</a:t>
            </a:r>
          </a:p>
        </p:txBody>
      </p:sp>
      <p:sp>
        <p:nvSpPr>
          <p:cNvPr id="37" name="AutoShape 4">
            <a:extLst>
              <a:ext uri="{FF2B5EF4-FFF2-40B4-BE49-F238E27FC236}">
                <a16:creationId xmlns:a16="http://schemas.microsoft.com/office/drawing/2014/main" id="{FAD9F07E-4947-271F-3F94-1A3B6A53D172}"/>
              </a:ext>
            </a:extLst>
          </p:cNvPr>
          <p:cNvSpPr/>
          <p:nvPr/>
        </p:nvSpPr>
        <p:spPr>
          <a:xfrm rot="16200000">
            <a:off x="-929367" y="3374046"/>
            <a:ext cx="3218496" cy="38469"/>
          </a:xfrm>
          <a:prstGeom prst="line">
            <a:avLst/>
          </a:prstGeom>
          <a:ln w="38100" cap="flat">
            <a:solidFill>
              <a:srgbClr val="49B0B6"/>
            </a:solidFill>
            <a:prstDash val="solid"/>
            <a:headEnd type="none" w="sm" len="sm"/>
            <a:tailEnd type="oval" w="lg" len="lg"/>
          </a:ln>
        </p:spPr>
        <p:txBody>
          <a:bodyPr/>
          <a:lstStyle/>
          <a:p>
            <a:endParaRPr lang="en-US"/>
          </a:p>
        </p:txBody>
      </p:sp>
      <p:sp>
        <p:nvSpPr>
          <p:cNvPr id="39" name="AutoShape 5">
            <a:extLst>
              <a:ext uri="{FF2B5EF4-FFF2-40B4-BE49-F238E27FC236}">
                <a16:creationId xmlns:a16="http://schemas.microsoft.com/office/drawing/2014/main" id="{22A0A4B6-C4F8-B8F1-35C1-B28F5FE6623D}"/>
              </a:ext>
            </a:extLst>
          </p:cNvPr>
          <p:cNvSpPr/>
          <p:nvPr/>
        </p:nvSpPr>
        <p:spPr>
          <a:xfrm>
            <a:off x="641597" y="4983480"/>
            <a:ext cx="8584699" cy="0"/>
          </a:xfrm>
          <a:prstGeom prst="line">
            <a:avLst/>
          </a:prstGeom>
          <a:ln w="38100" cap="flat">
            <a:solidFill>
              <a:srgbClr val="49B0B6"/>
            </a:solidFill>
            <a:prstDash val="solid"/>
            <a:headEnd type="none" w="sm" len="sm"/>
            <a:tailEnd type="oval" w="lg" len="lg"/>
          </a:ln>
        </p:spPr>
        <p:txBody>
          <a:body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Outline</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a:t>
            </a:r>
            <a:endParaRPr lang="en-US" sz="1000" dirty="0"/>
          </a:p>
        </p:txBody>
      </p:sp>
      <p:sp>
        <p:nvSpPr>
          <p:cNvPr id="7" name="Shape 5"/>
          <p:cNvSpPr/>
          <p:nvPr/>
        </p:nvSpPr>
        <p:spPr>
          <a:xfrm>
            <a:off x="566928" y="132588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8" name="Shape 6"/>
          <p:cNvSpPr/>
          <p:nvPr/>
        </p:nvSpPr>
        <p:spPr>
          <a:xfrm>
            <a:off x="786384" y="1600200"/>
            <a:ext cx="457200" cy="457200"/>
          </a:xfrm>
          <a:prstGeom prst="ellipse">
            <a:avLst/>
          </a:prstGeom>
          <a:solidFill>
            <a:srgbClr val="14242E"/>
          </a:solidFill>
          <a:ln/>
        </p:spPr>
        <p:txBody>
          <a:bodyPr/>
          <a:lstStyle/>
          <a:p>
            <a:endParaRPr lang="en-US"/>
          </a:p>
        </p:txBody>
      </p:sp>
      <p:sp>
        <p:nvSpPr>
          <p:cNvPr id="9" name="Text 7"/>
          <p:cNvSpPr txBox="1"/>
          <p:nvPr/>
        </p:nvSpPr>
        <p:spPr>
          <a:xfrm>
            <a:off x="786384" y="160020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8"/>
          <p:cNvSpPr txBox="1"/>
          <p:nvPr/>
        </p:nvSpPr>
        <p:spPr>
          <a:xfrm>
            <a:off x="1408176" y="1527048"/>
            <a:ext cx="4297680" cy="320040"/>
          </a:xfrm>
          <a:prstGeom prst="rect">
            <a:avLst/>
          </a:prstGeom>
          <a:noFill/>
          <a:ln/>
        </p:spPr>
        <p:txBody>
          <a:bodyPr wrap="square" lIns="0" tIns="0" rIns="0" bIns="0" rtlCol="0" anchor="ctr"/>
          <a:lstStyle/>
          <a:p>
            <a:pPr marL="0" indent="0">
              <a:buNone/>
            </a:pPr>
            <a:r>
              <a:rPr lang="en-US" sz="2000" b="1" dirty="0">
                <a:solidFill>
                  <a:srgbClr val="14242E"/>
                </a:solidFill>
                <a:latin typeface="Calibri" pitchFamily="34" charset="0"/>
                <a:ea typeface="Calibri" pitchFamily="34" charset="-122"/>
                <a:cs typeface="Calibri" pitchFamily="34" charset="-120"/>
              </a:rPr>
              <a:t>Why the style decision matters</a:t>
            </a:r>
            <a:endParaRPr lang="en-US" sz="2000" dirty="0"/>
          </a:p>
        </p:txBody>
      </p:sp>
      <p:sp>
        <p:nvSpPr>
          <p:cNvPr id="11" name="Text 9"/>
          <p:cNvSpPr txBox="1"/>
          <p:nvPr/>
        </p:nvSpPr>
        <p:spPr>
          <a:xfrm>
            <a:off x="1408176" y="1856232"/>
            <a:ext cx="429768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The hardest decision to reverse</a:t>
            </a:r>
            <a:endParaRPr lang="en-US" sz="1200" dirty="0"/>
          </a:p>
        </p:txBody>
      </p:sp>
      <p:sp>
        <p:nvSpPr>
          <p:cNvPr id="12" name="Shape 10"/>
          <p:cNvSpPr/>
          <p:nvPr/>
        </p:nvSpPr>
        <p:spPr>
          <a:xfrm>
            <a:off x="6236208" y="132588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13" name="Shape 11"/>
          <p:cNvSpPr/>
          <p:nvPr/>
        </p:nvSpPr>
        <p:spPr>
          <a:xfrm>
            <a:off x="6455664" y="1600200"/>
            <a:ext cx="457200" cy="457200"/>
          </a:xfrm>
          <a:prstGeom prst="ellipse">
            <a:avLst/>
          </a:prstGeom>
          <a:solidFill>
            <a:srgbClr val="14242E"/>
          </a:solidFill>
          <a:ln/>
        </p:spPr>
        <p:txBody>
          <a:bodyPr/>
          <a:lstStyle/>
          <a:p>
            <a:endParaRPr lang="en-US"/>
          </a:p>
        </p:txBody>
      </p:sp>
      <p:sp>
        <p:nvSpPr>
          <p:cNvPr id="14" name="Text 12"/>
          <p:cNvSpPr txBox="1"/>
          <p:nvPr/>
        </p:nvSpPr>
        <p:spPr>
          <a:xfrm>
            <a:off x="6455664" y="160020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txBox="1"/>
          <p:nvPr/>
        </p:nvSpPr>
        <p:spPr>
          <a:xfrm>
            <a:off x="7077456" y="1527048"/>
            <a:ext cx="4297680" cy="320040"/>
          </a:xfrm>
          <a:prstGeom prst="rect">
            <a:avLst/>
          </a:prstGeom>
          <a:noFill/>
          <a:ln/>
        </p:spPr>
        <p:txBody>
          <a:bodyPr wrap="square" lIns="0" tIns="0" rIns="0" bIns="0" rtlCol="0" anchor="ctr"/>
          <a:lstStyle/>
          <a:p>
            <a:pPr marL="0" indent="0">
              <a:buNone/>
            </a:pPr>
            <a:r>
              <a:rPr lang="en-US" sz="2000" b="1" dirty="0">
                <a:solidFill>
                  <a:srgbClr val="14242E"/>
                </a:solidFill>
                <a:latin typeface="Calibri" pitchFamily="34" charset="0"/>
                <a:ea typeface="Calibri" pitchFamily="34" charset="-122"/>
                <a:cs typeface="Calibri" pitchFamily="34" charset="-120"/>
              </a:rPr>
              <a:t>The comparison framework</a:t>
            </a:r>
            <a:endParaRPr lang="en-US" sz="2000" dirty="0"/>
          </a:p>
        </p:txBody>
      </p:sp>
      <p:sp>
        <p:nvSpPr>
          <p:cNvPr id="16" name="Text 14"/>
          <p:cNvSpPr txBox="1"/>
          <p:nvPr/>
        </p:nvSpPr>
        <p:spPr>
          <a:xfrm>
            <a:off x="7077456" y="1856232"/>
            <a:ext cx="429768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Quanta, partitioning, 11 characteristics</a:t>
            </a:r>
            <a:endParaRPr lang="en-US" sz="1200" dirty="0"/>
          </a:p>
        </p:txBody>
      </p:sp>
      <p:sp>
        <p:nvSpPr>
          <p:cNvPr id="17" name="Shape 15"/>
          <p:cNvSpPr/>
          <p:nvPr/>
        </p:nvSpPr>
        <p:spPr>
          <a:xfrm>
            <a:off x="566928" y="256032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18" name="Shape 16"/>
          <p:cNvSpPr/>
          <p:nvPr/>
        </p:nvSpPr>
        <p:spPr>
          <a:xfrm>
            <a:off x="786384" y="2834640"/>
            <a:ext cx="457200" cy="457200"/>
          </a:xfrm>
          <a:prstGeom prst="ellipse">
            <a:avLst/>
          </a:prstGeom>
          <a:solidFill>
            <a:srgbClr val="14242E"/>
          </a:solidFill>
          <a:ln/>
        </p:spPr>
        <p:txBody>
          <a:bodyPr/>
          <a:lstStyle/>
          <a:p>
            <a:endParaRPr lang="en-US"/>
          </a:p>
        </p:txBody>
      </p:sp>
      <p:sp>
        <p:nvSpPr>
          <p:cNvPr id="19" name="Text 17"/>
          <p:cNvSpPr txBox="1"/>
          <p:nvPr/>
        </p:nvSpPr>
        <p:spPr>
          <a:xfrm>
            <a:off x="786384" y="283464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8"/>
          <p:cNvSpPr txBox="1"/>
          <p:nvPr/>
        </p:nvSpPr>
        <p:spPr>
          <a:xfrm>
            <a:off x="1408176" y="2761488"/>
            <a:ext cx="4297680" cy="320040"/>
          </a:xfrm>
          <a:prstGeom prst="rect">
            <a:avLst/>
          </a:prstGeom>
          <a:noFill/>
          <a:ln/>
        </p:spPr>
        <p:txBody>
          <a:bodyPr wrap="square" lIns="0" tIns="0" rIns="0" bIns="0" rtlCol="0" anchor="ctr"/>
          <a:lstStyle/>
          <a:p>
            <a:pPr marL="0" indent="0">
              <a:buNone/>
            </a:pPr>
            <a:r>
              <a:rPr lang="en-US" sz="2000" b="1" dirty="0">
                <a:solidFill>
                  <a:srgbClr val="14242E"/>
                </a:solidFill>
                <a:latin typeface="Calibri" pitchFamily="34" charset="0"/>
                <a:ea typeface="Calibri" pitchFamily="34" charset="-122"/>
                <a:cs typeface="Calibri" pitchFamily="34" charset="-120"/>
              </a:rPr>
              <a:t>Microkernel architecture</a:t>
            </a:r>
            <a:endParaRPr lang="en-US" sz="2000" dirty="0"/>
          </a:p>
        </p:txBody>
      </p:sp>
      <p:sp>
        <p:nvSpPr>
          <p:cNvPr id="21" name="Text 19"/>
          <p:cNvSpPr txBox="1"/>
          <p:nvPr/>
        </p:nvSpPr>
        <p:spPr>
          <a:xfrm>
            <a:off x="1408176" y="3090672"/>
            <a:ext cx="429768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Core + plug-ins · Ch. 13</a:t>
            </a:r>
            <a:endParaRPr lang="en-US" sz="1200" dirty="0"/>
          </a:p>
        </p:txBody>
      </p:sp>
      <p:sp>
        <p:nvSpPr>
          <p:cNvPr id="22" name="Shape 20"/>
          <p:cNvSpPr/>
          <p:nvPr/>
        </p:nvSpPr>
        <p:spPr>
          <a:xfrm>
            <a:off x="6236208" y="256032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23" name="Shape 21"/>
          <p:cNvSpPr/>
          <p:nvPr/>
        </p:nvSpPr>
        <p:spPr>
          <a:xfrm>
            <a:off x="6455664" y="2834640"/>
            <a:ext cx="457200" cy="457200"/>
          </a:xfrm>
          <a:prstGeom prst="ellipse">
            <a:avLst/>
          </a:prstGeom>
          <a:solidFill>
            <a:srgbClr val="14242E"/>
          </a:solidFill>
          <a:ln/>
        </p:spPr>
        <p:txBody>
          <a:bodyPr/>
          <a:lstStyle/>
          <a:p>
            <a:endParaRPr lang="en-US"/>
          </a:p>
        </p:txBody>
      </p:sp>
      <p:sp>
        <p:nvSpPr>
          <p:cNvPr id="24" name="Text 22"/>
          <p:cNvSpPr txBox="1"/>
          <p:nvPr/>
        </p:nvSpPr>
        <p:spPr>
          <a:xfrm>
            <a:off x="6455664" y="283464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5" name="Text 23"/>
          <p:cNvSpPr txBox="1"/>
          <p:nvPr/>
        </p:nvSpPr>
        <p:spPr>
          <a:xfrm>
            <a:off x="7077456" y="2761488"/>
            <a:ext cx="4297680" cy="320040"/>
          </a:xfrm>
          <a:prstGeom prst="rect">
            <a:avLst/>
          </a:prstGeom>
          <a:noFill/>
          <a:ln/>
        </p:spPr>
        <p:txBody>
          <a:bodyPr wrap="square" lIns="0" tIns="0" rIns="0" bIns="0" rtlCol="0" anchor="ctr"/>
          <a:lstStyle/>
          <a:p>
            <a:pPr marL="0" indent="0">
              <a:buNone/>
            </a:pPr>
            <a:r>
              <a:rPr lang="en-US" sz="2000" b="1" dirty="0">
                <a:solidFill>
                  <a:srgbClr val="14242E"/>
                </a:solidFill>
                <a:latin typeface="Calibri" pitchFamily="34" charset="0"/>
                <a:ea typeface="Calibri" pitchFamily="34" charset="-122"/>
                <a:cs typeface="Calibri" pitchFamily="34" charset="-120"/>
              </a:rPr>
              <a:t>Service-based architecture</a:t>
            </a:r>
            <a:endParaRPr lang="en-US" sz="2000" dirty="0"/>
          </a:p>
        </p:txBody>
      </p:sp>
      <p:sp>
        <p:nvSpPr>
          <p:cNvPr id="26" name="Text 24"/>
          <p:cNvSpPr txBox="1"/>
          <p:nvPr/>
        </p:nvSpPr>
        <p:spPr>
          <a:xfrm>
            <a:off x="7077456" y="3090672"/>
            <a:ext cx="429768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Coarse-grained domain services · Ch. 14</a:t>
            </a:r>
            <a:endParaRPr lang="en-US" sz="1200" dirty="0"/>
          </a:p>
        </p:txBody>
      </p:sp>
      <p:sp>
        <p:nvSpPr>
          <p:cNvPr id="27" name="Shape 25"/>
          <p:cNvSpPr/>
          <p:nvPr/>
        </p:nvSpPr>
        <p:spPr>
          <a:xfrm>
            <a:off x="566928" y="379476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28" name="Shape 26"/>
          <p:cNvSpPr/>
          <p:nvPr/>
        </p:nvSpPr>
        <p:spPr>
          <a:xfrm>
            <a:off x="786384" y="4069080"/>
            <a:ext cx="457200" cy="457200"/>
          </a:xfrm>
          <a:prstGeom prst="ellipse">
            <a:avLst/>
          </a:prstGeom>
          <a:solidFill>
            <a:srgbClr val="14242E"/>
          </a:solidFill>
          <a:ln/>
        </p:spPr>
        <p:txBody>
          <a:bodyPr/>
          <a:lstStyle/>
          <a:p>
            <a:endParaRPr lang="en-US"/>
          </a:p>
        </p:txBody>
      </p:sp>
      <p:sp>
        <p:nvSpPr>
          <p:cNvPr id="29" name="Text 27"/>
          <p:cNvSpPr txBox="1"/>
          <p:nvPr/>
        </p:nvSpPr>
        <p:spPr>
          <a:xfrm>
            <a:off x="786384" y="406908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30" name="Text 28"/>
          <p:cNvSpPr txBox="1"/>
          <p:nvPr/>
        </p:nvSpPr>
        <p:spPr>
          <a:xfrm>
            <a:off x="1408176" y="3995928"/>
            <a:ext cx="4297680" cy="320040"/>
          </a:xfrm>
          <a:prstGeom prst="rect">
            <a:avLst/>
          </a:prstGeom>
          <a:noFill/>
          <a:ln/>
        </p:spPr>
        <p:txBody>
          <a:bodyPr wrap="square" lIns="0" tIns="0" rIns="0" bIns="0" rtlCol="0" anchor="ctr"/>
          <a:lstStyle/>
          <a:p>
            <a:pPr marL="0" indent="0">
              <a:buNone/>
            </a:pPr>
            <a:r>
              <a:rPr lang="en-US" sz="2000" b="1" dirty="0">
                <a:solidFill>
                  <a:srgbClr val="14242E"/>
                </a:solidFill>
                <a:latin typeface="Calibri" pitchFamily="34" charset="0"/>
                <a:ea typeface="Calibri" pitchFamily="34" charset="-122"/>
                <a:cs typeface="Calibri" pitchFamily="34" charset="-120"/>
              </a:rPr>
              <a:t>Microservices architecture</a:t>
            </a:r>
            <a:endParaRPr lang="en-US" sz="2000" dirty="0"/>
          </a:p>
        </p:txBody>
      </p:sp>
      <p:sp>
        <p:nvSpPr>
          <p:cNvPr id="31" name="Text 29"/>
          <p:cNvSpPr txBox="1"/>
          <p:nvPr/>
        </p:nvSpPr>
        <p:spPr>
          <a:xfrm>
            <a:off x="1408176" y="4325112"/>
            <a:ext cx="429768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Bounded contexts · Ch. 18</a:t>
            </a:r>
            <a:endParaRPr lang="en-US" sz="1200" dirty="0"/>
          </a:p>
        </p:txBody>
      </p:sp>
      <p:sp>
        <p:nvSpPr>
          <p:cNvPr id="32" name="Shape 30"/>
          <p:cNvSpPr/>
          <p:nvPr/>
        </p:nvSpPr>
        <p:spPr>
          <a:xfrm>
            <a:off x="6236208" y="379476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33" name="Shape 31"/>
          <p:cNvSpPr/>
          <p:nvPr/>
        </p:nvSpPr>
        <p:spPr>
          <a:xfrm>
            <a:off x="6455664" y="4069080"/>
            <a:ext cx="457200" cy="457200"/>
          </a:xfrm>
          <a:prstGeom prst="ellipse">
            <a:avLst/>
          </a:prstGeom>
          <a:solidFill>
            <a:srgbClr val="14242E"/>
          </a:solidFill>
          <a:ln/>
        </p:spPr>
        <p:txBody>
          <a:bodyPr/>
          <a:lstStyle/>
          <a:p>
            <a:endParaRPr lang="en-US"/>
          </a:p>
        </p:txBody>
      </p:sp>
      <p:sp>
        <p:nvSpPr>
          <p:cNvPr id="34" name="Text 32"/>
          <p:cNvSpPr txBox="1"/>
          <p:nvPr/>
        </p:nvSpPr>
        <p:spPr>
          <a:xfrm>
            <a:off x="6455664" y="406908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5" name="Text 33"/>
          <p:cNvSpPr txBox="1"/>
          <p:nvPr/>
        </p:nvSpPr>
        <p:spPr>
          <a:xfrm>
            <a:off x="7077456" y="3995928"/>
            <a:ext cx="4297680" cy="320040"/>
          </a:xfrm>
          <a:prstGeom prst="rect">
            <a:avLst/>
          </a:prstGeom>
          <a:noFill/>
          <a:ln/>
        </p:spPr>
        <p:txBody>
          <a:bodyPr wrap="square" lIns="0" tIns="0" rIns="0" bIns="0" rtlCol="0" anchor="ctr"/>
          <a:lstStyle/>
          <a:p>
            <a:pPr marL="0" indent="0">
              <a:buNone/>
            </a:pPr>
            <a:r>
              <a:rPr lang="en-US" sz="2000" b="1" dirty="0">
                <a:solidFill>
                  <a:srgbClr val="14242E"/>
                </a:solidFill>
                <a:latin typeface="Calibri" pitchFamily="34" charset="0"/>
                <a:ea typeface="Calibri" pitchFamily="34" charset="-122"/>
                <a:cs typeface="Calibri" pitchFamily="34" charset="-120"/>
              </a:rPr>
              <a:t>Head-to-head comparison</a:t>
            </a:r>
            <a:endParaRPr lang="en-US" sz="2000" dirty="0"/>
          </a:p>
        </p:txBody>
      </p:sp>
      <p:sp>
        <p:nvSpPr>
          <p:cNvPr id="36" name="Text 34"/>
          <p:cNvSpPr txBox="1"/>
          <p:nvPr/>
        </p:nvSpPr>
        <p:spPr>
          <a:xfrm>
            <a:off x="7077456" y="4325112"/>
            <a:ext cx="429768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Scorecards side by side</a:t>
            </a:r>
            <a:endParaRPr lang="en-US" sz="1200" dirty="0"/>
          </a:p>
        </p:txBody>
      </p:sp>
      <p:sp>
        <p:nvSpPr>
          <p:cNvPr id="37" name="Shape 35"/>
          <p:cNvSpPr/>
          <p:nvPr/>
        </p:nvSpPr>
        <p:spPr>
          <a:xfrm>
            <a:off x="566928" y="502920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38" name="Shape 36"/>
          <p:cNvSpPr/>
          <p:nvPr/>
        </p:nvSpPr>
        <p:spPr>
          <a:xfrm>
            <a:off x="786384" y="5303520"/>
            <a:ext cx="457200" cy="457200"/>
          </a:xfrm>
          <a:prstGeom prst="ellipse">
            <a:avLst/>
          </a:prstGeom>
          <a:solidFill>
            <a:srgbClr val="14242E"/>
          </a:solidFill>
          <a:ln/>
        </p:spPr>
        <p:txBody>
          <a:bodyPr/>
          <a:lstStyle/>
          <a:p>
            <a:endParaRPr lang="en-US"/>
          </a:p>
        </p:txBody>
      </p:sp>
      <p:sp>
        <p:nvSpPr>
          <p:cNvPr id="39" name="Text 37"/>
          <p:cNvSpPr txBox="1"/>
          <p:nvPr/>
        </p:nvSpPr>
        <p:spPr>
          <a:xfrm>
            <a:off x="786384" y="530352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40" name="Text 38"/>
          <p:cNvSpPr txBox="1"/>
          <p:nvPr/>
        </p:nvSpPr>
        <p:spPr>
          <a:xfrm>
            <a:off x="1408176" y="5230368"/>
            <a:ext cx="4297680" cy="320040"/>
          </a:xfrm>
          <a:prstGeom prst="rect">
            <a:avLst/>
          </a:prstGeom>
          <a:noFill/>
          <a:ln/>
        </p:spPr>
        <p:txBody>
          <a:bodyPr wrap="square" lIns="0" tIns="0" rIns="0" bIns="0" rtlCol="0" anchor="ctr"/>
          <a:lstStyle/>
          <a:p>
            <a:pPr marL="0" indent="0">
              <a:buNone/>
            </a:pPr>
            <a:r>
              <a:rPr lang="en-US" sz="2000" b="1" dirty="0">
                <a:solidFill>
                  <a:srgbClr val="14242E"/>
                </a:solidFill>
                <a:latin typeface="Calibri" pitchFamily="34" charset="0"/>
                <a:ea typeface="Calibri" pitchFamily="34" charset="-122"/>
                <a:cs typeface="Calibri" pitchFamily="34" charset="-120"/>
              </a:rPr>
              <a:t>How to choose</a:t>
            </a:r>
            <a:endParaRPr lang="en-US" sz="2000" dirty="0"/>
          </a:p>
        </p:txBody>
      </p:sp>
      <p:sp>
        <p:nvSpPr>
          <p:cNvPr id="41" name="Text 39"/>
          <p:cNvSpPr txBox="1"/>
          <p:nvPr/>
        </p:nvSpPr>
        <p:spPr>
          <a:xfrm>
            <a:off x="1408176" y="5559552"/>
            <a:ext cx="429768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Decision criteria and a decision path</a:t>
            </a:r>
            <a:endParaRPr lang="en-US" sz="1200" dirty="0"/>
          </a:p>
        </p:txBody>
      </p:sp>
      <p:sp>
        <p:nvSpPr>
          <p:cNvPr id="42" name="Shape 40"/>
          <p:cNvSpPr/>
          <p:nvPr/>
        </p:nvSpPr>
        <p:spPr>
          <a:xfrm>
            <a:off x="6236208" y="502920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43" name="Shape 41"/>
          <p:cNvSpPr/>
          <p:nvPr/>
        </p:nvSpPr>
        <p:spPr>
          <a:xfrm>
            <a:off x="6455664" y="5303520"/>
            <a:ext cx="457200" cy="457200"/>
          </a:xfrm>
          <a:prstGeom prst="ellipse">
            <a:avLst/>
          </a:prstGeom>
          <a:solidFill>
            <a:srgbClr val="14242E"/>
          </a:solidFill>
          <a:ln/>
        </p:spPr>
        <p:txBody>
          <a:bodyPr/>
          <a:lstStyle/>
          <a:p>
            <a:endParaRPr lang="en-US"/>
          </a:p>
        </p:txBody>
      </p:sp>
      <p:sp>
        <p:nvSpPr>
          <p:cNvPr id="44" name="Text 42"/>
          <p:cNvSpPr txBox="1"/>
          <p:nvPr/>
        </p:nvSpPr>
        <p:spPr>
          <a:xfrm>
            <a:off x="6455664" y="530352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45" name="Text 43"/>
          <p:cNvSpPr txBox="1"/>
          <p:nvPr/>
        </p:nvSpPr>
        <p:spPr>
          <a:xfrm>
            <a:off x="7077456" y="5230368"/>
            <a:ext cx="4297680" cy="320040"/>
          </a:xfrm>
          <a:prstGeom prst="rect">
            <a:avLst/>
          </a:prstGeom>
          <a:noFill/>
          <a:ln/>
        </p:spPr>
        <p:txBody>
          <a:bodyPr wrap="square" lIns="0" tIns="0" rIns="0" bIns="0" rtlCol="0" anchor="ctr"/>
          <a:lstStyle/>
          <a:p>
            <a:pPr marL="0" indent="0">
              <a:buNone/>
            </a:pPr>
            <a:r>
              <a:rPr lang="en-US" sz="2000" b="1" dirty="0">
                <a:solidFill>
                  <a:srgbClr val="14242E"/>
                </a:solidFill>
                <a:latin typeface="Calibri" pitchFamily="34" charset="0"/>
                <a:ea typeface="Calibri" pitchFamily="34" charset="-122"/>
                <a:cs typeface="Calibri" pitchFamily="34" charset="-120"/>
              </a:rPr>
              <a:t>Evolution, anti-patterns, takeaways</a:t>
            </a:r>
            <a:endParaRPr lang="en-US" sz="2000" dirty="0"/>
          </a:p>
        </p:txBody>
      </p:sp>
      <p:sp>
        <p:nvSpPr>
          <p:cNvPr id="46" name="Text 44"/>
          <p:cNvSpPr txBox="1"/>
          <p:nvPr/>
        </p:nvSpPr>
        <p:spPr>
          <a:xfrm>
            <a:off x="7077456" y="5559552"/>
            <a:ext cx="429768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Plus, Q&amp;A</a:t>
            </a:r>
            <a:endParaRPr lang="en-US" sz="12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Why the style decision matters</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2</a:t>
            </a:r>
            <a:endParaRPr lang="en-US" sz="1000" dirty="0"/>
          </a:p>
        </p:txBody>
      </p:sp>
      <p:sp>
        <p:nvSpPr>
          <p:cNvPr id="7" name="Shape 5"/>
          <p:cNvSpPr/>
          <p:nvPr/>
        </p:nvSpPr>
        <p:spPr>
          <a:xfrm>
            <a:off x="566928" y="1280160"/>
            <a:ext cx="5852160" cy="1828800"/>
          </a:xfrm>
          <a:prstGeom prst="roundRect">
            <a:avLst>
              <a:gd name="adj" fmla="val 3000"/>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8" name="Text 6"/>
          <p:cNvSpPr txBox="1"/>
          <p:nvPr/>
        </p:nvSpPr>
        <p:spPr>
          <a:xfrm>
            <a:off x="868680" y="1600200"/>
            <a:ext cx="5257800" cy="822960"/>
          </a:xfrm>
          <a:prstGeom prst="rect">
            <a:avLst/>
          </a:prstGeom>
          <a:noFill/>
          <a:ln/>
        </p:spPr>
        <p:txBody>
          <a:bodyPr wrap="square" lIns="0" tIns="0" rIns="0" bIns="0" rtlCol="0" anchor="ctr"/>
          <a:lstStyle/>
          <a:p>
            <a:pPr marL="0" indent="0">
              <a:buNone/>
            </a:pPr>
            <a:r>
              <a:rPr lang="en-US" i="1" dirty="0">
                <a:solidFill>
                  <a:srgbClr val="FFFFFF"/>
                </a:solidFill>
                <a:latin typeface="Cambria" pitchFamily="34" charset="0"/>
                <a:ea typeface="Cambria" pitchFamily="34" charset="-122"/>
                <a:cs typeface="Cambria" pitchFamily="34" charset="-120"/>
              </a:rPr>
              <a:t>“Everything in software architecture is a trade-off.”</a:t>
            </a:r>
            <a:endParaRPr lang="en-US" dirty="0"/>
          </a:p>
        </p:txBody>
      </p:sp>
      <p:sp>
        <p:nvSpPr>
          <p:cNvPr id="9" name="Text 7"/>
          <p:cNvSpPr txBox="1"/>
          <p:nvPr/>
        </p:nvSpPr>
        <p:spPr>
          <a:xfrm>
            <a:off x="868680" y="2487168"/>
            <a:ext cx="5257800" cy="274320"/>
          </a:xfrm>
          <a:prstGeom prst="rect">
            <a:avLst/>
          </a:prstGeom>
          <a:noFill/>
          <a:ln/>
        </p:spPr>
        <p:txBody>
          <a:bodyPr wrap="square" lIns="0" tIns="0" rIns="0" bIns="0" rtlCol="0" anchor="ctr"/>
          <a:lstStyle/>
          <a:p>
            <a:pPr marL="0" indent="0">
              <a:buNone/>
            </a:pPr>
            <a:r>
              <a:rPr lang="en-US" sz="1200" dirty="0">
                <a:solidFill>
                  <a:srgbClr val="E3B23C"/>
                </a:solidFill>
                <a:latin typeface="Calibri" pitchFamily="34" charset="0"/>
                <a:ea typeface="Calibri" pitchFamily="34" charset="-122"/>
                <a:cs typeface="Calibri" pitchFamily="34" charset="-120"/>
              </a:rPr>
              <a:t>Richards &amp; Ford — First Law of Software Architecture</a:t>
            </a:r>
            <a:endParaRPr lang="en-US" sz="1200" dirty="0"/>
          </a:p>
        </p:txBody>
      </p:sp>
      <p:sp>
        <p:nvSpPr>
          <p:cNvPr id="10" name="Text 8"/>
          <p:cNvSpPr txBox="1"/>
          <p:nvPr/>
        </p:nvSpPr>
        <p:spPr>
          <a:xfrm>
            <a:off x="6720840" y="1280160"/>
            <a:ext cx="4892040" cy="1920240"/>
          </a:xfrm>
          <a:prstGeom prst="rect">
            <a:avLst/>
          </a:prstGeom>
          <a:noFill/>
          <a:ln/>
        </p:spPr>
        <p:txBody>
          <a:bodyPr wrap="square" lIns="0" tIns="0" rIns="0" bIns="0" rtlCol="0" anchor="t"/>
          <a:lstStyle/>
          <a:p>
            <a:pPr marL="342900" indent="-342900" algn="just">
              <a:spcAft>
                <a:spcPts val="800"/>
              </a:spcAft>
              <a:buSzPct val="100000"/>
              <a:buChar char="•"/>
            </a:pPr>
            <a:r>
              <a:rPr lang="en-US" sz="1350" dirty="0">
                <a:solidFill>
                  <a:srgbClr val="1F3644"/>
                </a:solidFill>
                <a:latin typeface="Calibri" pitchFamily="34" charset="0"/>
                <a:ea typeface="Calibri" pitchFamily="34" charset="-122"/>
                <a:cs typeface="Calibri" pitchFamily="34" charset="-120"/>
              </a:rPr>
              <a:t>The style fixes deployment boundaries, data ownership and team topology it is the decision that is hardest and costliest to reverse.</a:t>
            </a:r>
            <a:endParaRPr lang="en-US" sz="1350" dirty="0"/>
          </a:p>
          <a:p>
            <a:pPr marL="342900" indent="-342900" algn="just">
              <a:spcAft>
                <a:spcPts val="800"/>
              </a:spcAft>
              <a:buSzPct val="100000"/>
              <a:buChar char="•"/>
            </a:pPr>
            <a:r>
              <a:rPr lang="en-US" sz="1350" dirty="0">
                <a:solidFill>
                  <a:srgbClr val="1F3644"/>
                </a:solidFill>
                <a:latin typeface="Calibri" pitchFamily="34" charset="0"/>
                <a:ea typeface="Calibri" pitchFamily="34" charset="-122"/>
                <a:cs typeface="Calibri" pitchFamily="34" charset="-120"/>
              </a:rPr>
              <a:t>Richards and Ford frame the choice as the culmination of trade-off analysis across architecture characteristics, domain, data architecture and organisational factors.</a:t>
            </a:r>
            <a:endParaRPr lang="en-US" sz="1350" dirty="0"/>
          </a:p>
          <a:p>
            <a:pPr marL="342900" indent="-342900" algn="just">
              <a:spcAft>
                <a:spcPts val="800"/>
              </a:spcAft>
              <a:buSzPct val="100000"/>
              <a:buChar char="•"/>
            </a:pPr>
            <a:r>
              <a:rPr lang="en-US" sz="1350" dirty="0">
                <a:solidFill>
                  <a:srgbClr val="1F3644"/>
                </a:solidFill>
                <a:latin typeface="Calibri" pitchFamily="34" charset="0"/>
                <a:ea typeface="Calibri" pitchFamily="34" charset="-122"/>
                <a:cs typeface="Calibri" pitchFamily="34" charset="-120"/>
              </a:rPr>
              <a:t>Preferred styles shift over time: each new style is largely a reaction to the pain points of the previous one, amplified by ecosystem and capability changes.</a:t>
            </a:r>
            <a:endParaRPr lang="en-US" sz="1350" dirty="0"/>
          </a:p>
        </p:txBody>
      </p:sp>
      <p:sp>
        <p:nvSpPr>
          <p:cNvPr id="11" name="Shape 9"/>
          <p:cNvSpPr/>
          <p:nvPr/>
        </p:nvSpPr>
        <p:spPr>
          <a:xfrm>
            <a:off x="566928" y="3429000"/>
            <a:ext cx="3520440" cy="2514600"/>
          </a:xfrm>
          <a:prstGeom prst="roundRect">
            <a:avLst>
              <a:gd name="adj" fmla="val 218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dirty="0"/>
          </a:p>
        </p:txBody>
      </p:sp>
      <p:sp>
        <p:nvSpPr>
          <p:cNvPr id="12" name="Shape 10"/>
          <p:cNvSpPr/>
          <p:nvPr/>
        </p:nvSpPr>
        <p:spPr>
          <a:xfrm>
            <a:off x="822960" y="3721608"/>
            <a:ext cx="292608" cy="292608"/>
          </a:xfrm>
          <a:prstGeom prst="ellipse">
            <a:avLst/>
          </a:prstGeom>
          <a:solidFill>
            <a:srgbClr val="E3B23C"/>
          </a:solidFill>
          <a:ln/>
          <a:effectLst>
            <a:outerShdw blurRad="50800" dist="38100" dir="5400000" algn="t" rotWithShape="0">
              <a:prstClr val="black">
                <a:alpha val="40000"/>
              </a:prstClr>
            </a:outerShdw>
          </a:effectLst>
        </p:spPr>
        <p:txBody>
          <a:bodyPr/>
          <a:lstStyle/>
          <a:p>
            <a:endParaRPr lang="en-US"/>
          </a:p>
        </p:txBody>
      </p:sp>
      <p:sp>
        <p:nvSpPr>
          <p:cNvPr id="13" name="Text 11"/>
          <p:cNvSpPr txBox="1"/>
          <p:nvPr/>
        </p:nvSpPr>
        <p:spPr>
          <a:xfrm>
            <a:off x="822960" y="4133088"/>
            <a:ext cx="3017520" cy="548640"/>
          </a:xfrm>
          <a:prstGeom prst="rect">
            <a:avLst/>
          </a:prstGeom>
          <a:noFill/>
          <a:ln/>
        </p:spPr>
        <p:txBody>
          <a:bodyPr wrap="square" lIns="0" tIns="0" rIns="0" bIns="0" rtlCol="0" anchor="ctr"/>
          <a:lstStyle/>
          <a:p>
            <a:pPr marL="0" indent="0">
              <a:buNone/>
            </a:pPr>
            <a:r>
              <a:rPr lang="en-US" b="1" dirty="0">
                <a:solidFill>
                  <a:srgbClr val="14242E"/>
                </a:solidFill>
                <a:latin typeface="Calibri" pitchFamily="34" charset="0"/>
                <a:ea typeface="Calibri" pitchFamily="34" charset="-122"/>
                <a:cs typeface="Calibri" pitchFamily="34" charset="-120"/>
              </a:rPr>
              <a:t>Structure follows constraints</a:t>
            </a:r>
            <a:endParaRPr lang="en-US" dirty="0"/>
          </a:p>
        </p:txBody>
      </p:sp>
      <p:sp>
        <p:nvSpPr>
          <p:cNvPr id="14" name="Text 12"/>
          <p:cNvSpPr txBox="1"/>
          <p:nvPr/>
        </p:nvSpPr>
        <p:spPr>
          <a:xfrm>
            <a:off x="822960" y="4681728"/>
            <a:ext cx="3017520" cy="1143000"/>
          </a:xfrm>
          <a:prstGeom prst="rect">
            <a:avLst/>
          </a:prstGeom>
          <a:noFill/>
          <a:ln/>
        </p:spPr>
        <p:txBody>
          <a:bodyPr wrap="square" lIns="0" tIns="0" rIns="0" bIns="0" rtlCol="0" anchor="ctr"/>
          <a:lstStyle/>
          <a:p>
            <a:pPr marL="0" indent="0" algn="just">
              <a:buNone/>
            </a:pPr>
            <a:r>
              <a:rPr lang="en-US" sz="1250" dirty="0">
                <a:solidFill>
                  <a:srgbClr val="1F3644"/>
                </a:solidFill>
                <a:latin typeface="Calibri" pitchFamily="34" charset="0"/>
                <a:ea typeface="Calibri" pitchFamily="34" charset="-122"/>
                <a:cs typeface="Calibri" pitchFamily="34" charset="-120"/>
              </a:rPr>
              <a:t>Different parts of a system may need different characteristics that is what forces the monolith-versus-distributed call.</a:t>
            </a:r>
            <a:endParaRPr lang="en-US" sz="1250" dirty="0"/>
          </a:p>
        </p:txBody>
      </p:sp>
      <p:sp>
        <p:nvSpPr>
          <p:cNvPr id="15" name="Shape 13"/>
          <p:cNvSpPr/>
          <p:nvPr/>
        </p:nvSpPr>
        <p:spPr>
          <a:xfrm>
            <a:off x="4334256" y="3429000"/>
            <a:ext cx="3520440" cy="2514600"/>
          </a:xfrm>
          <a:prstGeom prst="roundRect">
            <a:avLst>
              <a:gd name="adj" fmla="val 218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6" name="Shape 14"/>
          <p:cNvSpPr/>
          <p:nvPr/>
        </p:nvSpPr>
        <p:spPr>
          <a:xfrm>
            <a:off x="4590288" y="3721608"/>
            <a:ext cx="292608" cy="292608"/>
          </a:xfrm>
          <a:prstGeom prst="ellipse">
            <a:avLst/>
          </a:prstGeom>
          <a:solidFill>
            <a:srgbClr val="E3B23C"/>
          </a:solidFill>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4590288" y="4133088"/>
            <a:ext cx="3017520" cy="548640"/>
          </a:xfrm>
          <a:prstGeom prst="rect">
            <a:avLst/>
          </a:prstGeom>
          <a:noFill/>
          <a:ln/>
        </p:spPr>
        <p:txBody>
          <a:bodyPr wrap="square" lIns="0" tIns="0" rIns="0" bIns="0" rtlCol="0" anchor="ctr"/>
          <a:lstStyle/>
          <a:p>
            <a:pPr marL="0" indent="0">
              <a:buNone/>
            </a:pPr>
            <a:r>
              <a:rPr lang="en-US" b="1" dirty="0">
                <a:solidFill>
                  <a:srgbClr val="14242E"/>
                </a:solidFill>
                <a:latin typeface="Calibri" pitchFamily="34" charset="0"/>
                <a:ea typeface="Calibri" pitchFamily="34" charset="-122"/>
                <a:cs typeface="Calibri" pitchFamily="34" charset="-120"/>
              </a:rPr>
              <a:t>Power has a price</a:t>
            </a:r>
            <a:endParaRPr lang="en-US" dirty="0"/>
          </a:p>
        </p:txBody>
      </p:sp>
      <p:sp>
        <p:nvSpPr>
          <p:cNvPr id="18" name="Text 16"/>
          <p:cNvSpPr txBox="1"/>
          <p:nvPr/>
        </p:nvSpPr>
        <p:spPr>
          <a:xfrm>
            <a:off x="4590288" y="4681728"/>
            <a:ext cx="3017520" cy="1143000"/>
          </a:xfrm>
          <a:prstGeom prst="rect">
            <a:avLst/>
          </a:prstGeom>
          <a:noFill/>
          <a:ln/>
        </p:spPr>
        <p:txBody>
          <a:bodyPr wrap="square" lIns="0" tIns="0" rIns="0" bIns="0" rtlCol="0" anchor="ctr"/>
          <a:lstStyle/>
          <a:p>
            <a:pPr marL="0" indent="0" algn="just">
              <a:buNone/>
            </a:pPr>
            <a:r>
              <a:rPr lang="en-US" sz="1250" dirty="0">
                <a:solidFill>
                  <a:srgbClr val="1F3644"/>
                </a:solidFill>
                <a:latin typeface="Calibri" pitchFamily="34" charset="0"/>
                <a:ea typeface="Calibri" pitchFamily="34" charset="-122"/>
                <a:cs typeface="Calibri" pitchFamily="34" charset="-120"/>
              </a:rPr>
              <a:t>Richards' image: a Ferrari used only for 50 km/h rush-hour traffic. Capability you never exercise is pure cost.</a:t>
            </a:r>
            <a:endParaRPr lang="en-US" sz="1250" dirty="0"/>
          </a:p>
        </p:txBody>
      </p:sp>
      <p:sp>
        <p:nvSpPr>
          <p:cNvPr id="19" name="Shape 17"/>
          <p:cNvSpPr/>
          <p:nvPr/>
        </p:nvSpPr>
        <p:spPr>
          <a:xfrm>
            <a:off x="8101584" y="3429000"/>
            <a:ext cx="3520440" cy="2514600"/>
          </a:xfrm>
          <a:prstGeom prst="roundRect">
            <a:avLst>
              <a:gd name="adj" fmla="val 218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0" name="Shape 18"/>
          <p:cNvSpPr/>
          <p:nvPr/>
        </p:nvSpPr>
        <p:spPr>
          <a:xfrm>
            <a:off x="8357616" y="3721608"/>
            <a:ext cx="292608" cy="292608"/>
          </a:xfrm>
          <a:prstGeom prst="ellipse">
            <a:avLst/>
          </a:prstGeom>
          <a:solidFill>
            <a:srgbClr val="E3B23C"/>
          </a:solidFill>
          <a:ln/>
          <a:effectLst>
            <a:outerShdw blurRad="50800" dist="38100" dir="5400000" algn="t" rotWithShape="0">
              <a:prstClr val="black">
                <a:alpha val="40000"/>
              </a:prstClr>
            </a:outerShdw>
          </a:effectLst>
        </p:spPr>
        <p:txBody>
          <a:bodyPr/>
          <a:lstStyle/>
          <a:p>
            <a:endParaRPr lang="en-US"/>
          </a:p>
        </p:txBody>
      </p:sp>
      <p:sp>
        <p:nvSpPr>
          <p:cNvPr id="21" name="Text 19"/>
          <p:cNvSpPr txBox="1"/>
          <p:nvPr/>
        </p:nvSpPr>
        <p:spPr>
          <a:xfrm>
            <a:off x="8357616" y="4133088"/>
            <a:ext cx="3017520" cy="548640"/>
          </a:xfrm>
          <a:prstGeom prst="rect">
            <a:avLst/>
          </a:prstGeom>
          <a:noFill/>
          <a:ln/>
        </p:spPr>
        <p:txBody>
          <a:bodyPr wrap="square" lIns="0" tIns="0" rIns="0" bIns="0" rtlCol="0" anchor="ctr"/>
          <a:lstStyle/>
          <a:p>
            <a:pPr marL="0" indent="0">
              <a:buNone/>
            </a:pPr>
            <a:r>
              <a:rPr lang="en-US" b="1" dirty="0">
                <a:solidFill>
                  <a:srgbClr val="14242E"/>
                </a:solidFill>
                <a:latin typeface="Calibri" pitchFamily="34" charset="0"/>
                <a:ea typeface="Calibri" pitchFamily="34" charset="-122"/>
                <a:cs typeface="Calibri" pitchFamily="34" charset="-120"/>
              </a:rPr>
              <a:t>Context beats fashion</a:t>
            </a:r>
            <a:endParaRPr lang="en-US" dirty="0"/>
          </a:p>
        </p:txBody>
      </p:sp>
      <p:sp>
        <p:nvSpPr>
          <p:cNvPr id="22" name="Text 20"/>
          <p:cNvSpPr txBox="1"/>
          <p:nvPr/>
        </p:nvSpPr>
        <p:spPr>
          <a:xfrm>
            <a:off x="8357616" y="4681728"/>
            <a:ext cx="3017520" cy="1143000"/>
          </a:xfrm>
          <a:prstGeom prst="rect">
            <a:avLst/>
          </a:prstGeom>
          <a:noFill/>
          <a:ln/>
        </p:spPr>
        <p:txBody>
          <a:bodyPr wrap="square" lIns="0" tIns="0" rIns="0" bIns="0" rtlCol="0" anchor="ctr"/>
          <a:lstStyle/>
          <a:p>
            <a:pPr marL="0" indent="0" algn="just">
              <a:buNone/>
            </a:pPr>
            <a:r>
              <a:rPr lang="en-US" sz="1250" dirty="0">
                <a:solidFill>
                  <a:srgbClr val="1F3644"/>
                </a:solidFill>
                <a:latin typeface="Calibri" pitchFamily="34" charset="0"/>
                <a:ea typeface="Calibri" pitchFamily="34" charset="-122"/>
                <a:cs typeface="Calibri" pitchFamily="34" charset="-120"/>
              </a:rPr>
              <a:t>There is no ranking of styles, only a fit between a style and one specific problem in one specific organisation.</a:t>
            </a:r>
            <a:endParaRPr lang="en-US" sz="12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How we will compare them</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3</a:t>
            </a:r>
            <a:endParaRPr lang="en-US" sz="1000" dirty="0"/>
          </a:p>
        </p:txBody>
      </p:sp>
      <p:sp>
        <p:nvSpPr>
          <p:cNvPr id="7" name="Text 5"/>
          <p:cNvSpPr txBox="1"/>
          <p:nvPr/>
        </p:nvSpPr>
        <p:spPr>
          <a:xfrm>
            <a:off x="566928" y="1234440"/>
            <a:ext cx="11064240" cy="502920"/>
          </a:xfrm>
          <a:prstGeom prst="rect">
            <a:avLst/>
          </a:prstGeom>
          <a:noFill/>
          <a:ln/>
        </p:spPr>
        <p:txBody>
          <a:bodyPr wrap="square" lIns="0" tIns="0" rIns="0" bIns="0" rtlCol="0" anchor="t"/>
          <a:lstStyle/>
          <a:p>
            <a:pPr marL="0" indent="0" algn="l">
              <a:buNone/>
            </a:pPr>
            <a:r>
              <a:rPr lang="en-US" sz="1400" dirty="0">
                <a:solidFill>
                  <a:srgbClr val="62757F"/>
                </a:solidFill>
                <a:latin typeface="Calibri" pitchFamily="34" charset="0"/>
                <a:ea typeface="Calibri" pitchFamily="34" charset="-122"/>
                <a:cs typeface="Calibri" pitchFamily="34" charset="-120"/>
              </a:rPr>
              <a:t>Every style in Fundamentals of Software Architecture is scored on the same card. Using one card makes the comparison honest — we are not arguing preference, we are reading trade-offs.</a:t>
            </a:r>
            <a:endParaRPr lang="en-US" sz="1400" dirty="0"/>
          </a:p>
        </p:txBody>
      </p:sp>
      <p:sp>
        <p:nvSpPr>
          <p:cNvPr id="8" name="Shape 6"/>
          <p:cNvSpPr/>
          <p:nvPr/>
        </p:nvSpPr>
        <p:spPr>
          <a:xfrm>
            <a:off x="566928" y="1874520"/>
            <a:ext cx="3520440" cy="2331720"/>
          </a:xfrm>
          <a:prstGeom prst="roundRect">
            <a:avLst>
              <a:gd name="adj" fmla="val 2353"/>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Shape 7"/>
          <p:cNvSpPr/>
          <p:nvPr/>
        </p:nvSpPr>
        <p:spPr>
          <a:xfrm>
            <a:off x="822960" y="2121408"/>
            <a:ext cx="420624" cy="420624"/>
          </a:xfrm>
          <a:prstGeom prst="ellipse">
            <a:avLst/>
          </a:prstGeom>
          <a:solidFill>
            <a:srgbClr val="14242E"/>
          </a:solidFill>
          <a:ln/>
        </p:spPr>
        <p:txBody>
          <a:bodyPr/>
          <a:lstStyle/>
          <a:p>
            <a:endParaRPr lang="en-US"/>
          </a:p>
        </p:txBody>
      </p:sp>
      <p:sp>
        <p:nvSpPr>
          <p:cNvPr id="10" name="Text 8"/>
          <p:cNvSpPr txBox="1"/>
          <p:nvPr/>
        </p:nvSpPr>
        <p:spPr>
          <a:xfrm>
            <a:off x="822960" y="2121408"/>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822960" y="2670048"/>
            <a:ext cx="3017520" cy="310896"/>
          </a:xfrm>
          <a:prstGeom prst="rect">
            <a:avLst/>
          </a:prstGeom>
          <a:noFill/>
          <a:ln/>
        </p:spPr>
        <p:txBody>
          <a:bodyPr wrap="square" lIns="0" tIns="0" rIns="0" bIns="0" rtlCol="0" anchor="ctr"/>
          <a:lstStyle/>
          <a:p>
            <a:pPr marL="0" indent="0">
              <a:buNone/>
            </a:pPr>
            <a:r>
              <a:rPr lang="en-US" b="1" dirty="0">
                <a:solidFill>
                  <a:srgbClr val="14242E"/>
                </a:solidFill>
                <a:latin typeface="Calibri" pitchFamily="34" charset="0"/>
                <a:ea typeface="Calibri" pitchFamily="34" charset="-122"/>
                <a:cs typeface="Calibri" pitchFamily="34" charset="-120"/>
              </a:rPr>
              <a:t>Partitioning type</a:t>
            </a:r>
            <a:endParaRPr lang="en-US" dirty="0"/>
          </a:p>
        </p:txBody>
      </p:sp>
      <p:sp>
        <p:nvSpPr>
          <p:cNvPr id="12" name="Text 10"/>
          <p:cNvSpPr txBox="1"/>
          <p:nvPr/>
        </p:nvSpPr>
        <p:spPr>
          <a:xfrm>
            <a:off x="822960" y="3035808"/>
            <a:ext cx="3017520" cy="105156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Technical partitioning groups code by capability (presentation, business, persistence). Domain partitioning groups it by workflow. This decides where a change lands.</a:t>
            </a:r>
            <a:endParaRPr lang="en-US" sz="1200" dirty="0"/>
          </a:p>
        </p:txBody>
      </p:sp>
      <p:sp>
        <p:nvSpPr>
          <p:cNvPr id="13" name="Shape 11"/>
          <p:cNvSpPr/>
          <p:nvPr/>
        </p:nvSpPr>
        <p:spPr>
          <a:xfrm>
            <a:off x="4334256" y="1874520"/>
            <a:ext cx="3520440" cy="2331720"/>
          </a:xfrm>
          <a:prstGeom prst="roundRect">
            <a:avLst>
              <a:gd name="adj" fmla="val 2353"/>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Shape 12"/>
          <p:cNvSpPr/>
          <p:nvPr/>
        </p:nvSpPr>
        <p:spPr>
          <a:xfrm>
            <a:off x="4590288" y="2121408"/>
            <a:ext cx="420624" cy="420624"/>
          </a:xfrm>
          <a:prstGeom prst="ellipse">
            <a:avLst/>
          </a:prstGeom>
          <a:solidFill>
            <a:srgbClr val="14242E"/>
          </a:solidFill>
          <a:ln/>
        </p:spPr>
        <p:txBody>
          <a:bodyPr/>
          <a:lstStyle/>
          <a:p>
            <a:endParaRPr lang="en-US"/>
          </a:p>
        </p:txBody>
      </p:sp>
      <p:sp>
        <p:nvSpPr>
          <p:cNvPr id="15" name="Text 13"/>
          <p:cNvSpPr txBox="1"/>
          <p:nvPr/>
        </p:nvSpPr>
        <p:spPr>
          <a:xfrm>
            <a:off x="4590288" y="2121408"/>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4590288" y="2670048"/>
            <a:ext cx="3017520" cy="310896"/>
          </a:xfrm>
          <a:prstGeom prst="rect">
            <a:avLst/>
          </a:prstGeom>
          <a:noFill/>
          <a:ln/>
        </p:spPr>
        <p:txBody>
          <a:bodyPr wrap="square" lIns="0" tIns="0" rIns="0" bIns="0" rtlCol="0" anchor="ctr"/>
          <a:lstStyle/>
          <a:p>
            <a:pPr marL="0" indent="0">
              <a:buNone/>
            </a:pPr>
            <a:r>
              <a:rPr lang="en-US" b="1" dirty="0">
                <a:solidFill>
                  <a:srgbClr val="14242E"/>
                </a:solidFill>
                <a:latin typeface="Calibri" pitchFamily="34" charset="0"/>
                <a:ea typeface="Calibri" pitchFamily="34" charset="-122"/>
                <a:cs typeface="Calibri" pitchFamily="34" charset="-120"/>
              </a:rPr>
              <a:t>Number of quanta</a:t>
            </a:r>
            <a:endParaRPr lang="en-US" dirty="0"/>
          </a:p>
        </p:txBody>
      </p:sp>
      <p:sp>
        <p:nvSpPr>
          <p:cNvPr id="17" name="Text 15"/>
          <p:cNvSpPr txBox="1"/>
          <p:nvPr/>
        </p:nvSpPr>
        <p:spPr>
          <a:xfrm>
            <a:off x="4590288" y="3035808"/>
            <a:ext cx="3017520" cy="105156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An architecture quantum is an independently deployable unit with high functional cohesion, including its data. One quantum = one set of characteristics for the whole system.</a:t>
            </a:r>
            <a:endParaRPr lang="en-US" sz="1200" dirty="0"/>
          </a:p>
        </p:txBody>
      </p:sp>
      <p:sp>
        <p:nvSpPr>
          <p:cNvPr id="18" name="Shape 16"/>
          <p:cNvSpPr/>
          <p:nvPr/>
        </p:nvSpPr>
        <p:spPr>
          <a:xfrm>
            <a:off x="8101584" y="1874520"/>
            <a:ext cx="3520440" cy="2331720"/>
          </a:xfrm>
          <a:prstGeom prst="roundRect">
            <a:avLst>
              <a:gd name="adj" fmla="val 2353"/>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9" name="Shape 17"/>
          <p:cNvSpPr/>
          <p:nvPr/>
        </p:nvSpPr>
        <p:spPr>
          <a:xfrm>
            <a:off x="8357616" y="2121408"/>
            <a:ext cx="420624" cy="420624"/>
          </a:xfrm>
          <a:prstGeom prst="ellipse">
            <a:avLst/>
          </a:prstGeom>
          <a:solidFill>
            <a:srgbClr val="14242E"/>
          </a:solidFill>
          <a:ln/>
        </p:spPr>
        <p:txBody>
          <a:bodyPr/>
          <a:lstStyle/>
          <a:p>
            <a:endParaRPr lang="en-US"/>
          </a:p>
        </p:txBody>
      </p:sp>
      <p:sp>
        <p:nvSpPr>
          <p:cNvPr id="20" name="Text 18"/>
          <p:cNvSpPr txBox="1"/>
          <p:nvPr/>
        </p:nvSpPr>
        <p:spPr>
          <a:xfrm>
            <a:off x="8357616" y="2121408"/>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357616" y="2670048"/>
            <a:ext cx="3017520" cy="310896"/>
          </a:xfrm>
          <a:prstGeom prst="rect">
            <a:avLst/>
          </a:prstGeom>
          <a:noFill/>
          <a:ln/>
        </p:spPr>
        <p:txBody>
          <a:bodyPr wrap="square" lIns="0" tIns="0" rIns="0" bIns="0" rtlCol="0" anchor="ctr"/>
          <a:lstStyle/>
          <a:p>
            <a:pPr marL="0" indent="0">
              <a:buNone/>
            </a:pPr>
            <a:r>
              <a:rPr lang="en-US" b="1" dirty="0">
                <a:solidFill>
                  <a:srgbClr val="14242E"/>
                </a:solidFill>
                <a:latin typeface="Calibri" pitchFamily="34" charset="0"/>
                <a:ea typeface="Calibri" pitchFamily="34" charset="-122"/>
                <a:cs typeface="Calibri" pitchFamily="34" charset="-120"/>
              </a:rPr>
              <a:t>Eleven characteristics</a:t>
            </a:r>
            <a:endParaRPr lang="en-US" dirty="0"/>
          </a:p>
        </p:txBody>
      </p:sp>
      <p:sp>
        <p:nvSpPr>
          <p:cNvPr id="22" name="Text 20"/>
          <p:cNvSpPr txBox="1"/>
          <p:nvPr/>
        </p:nvSpPr>
        <p:spPr>
          <a:xfrm>
            <a:off x="8357616" y="3035808"/>
            <a:ext cx="3017520" cy="105156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Deployability · elasticity · evolutionary · fault tolerance · modularity · overall cost · performance · reliability · scalability · simplicity · testability.</a:t>
            </a:r>
            <a:endParaRPr lang="en-US" sz="1200" dirty="0"/>
          </a:p>
        </p:txBody>
      </p:sp>
      <p:sp>
        <p:nvSpPr>
          <p:cNvPr id="23" name="Shape 21"/>
          <p:cNvSpPr/>
          <p:nvPr/>
        </p:nvSpPr>
        <p:spPr>
          <a:xfrm>
            <a:off x="566928" y="4480560"/>
            <a:ext cx="11064240" cy="1463040"/>
          </a:xfrm>
          <a:prstGeom prst="roundRect">
            <a:avLst>
              <a:gd name="adj" fmla="val 3750"/>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24" name="Text 22"/>
          <p:cNvSpPr txBox="1"/>
          <p:nvPr/>
        </p:nvSpPr>
        <p:spPr>
          <a:xfrm>
            <a:off x="868680" y="4681728"/>
            <a:ext cx="5029200" cy="320040"/>
          </a:xfrm>
          <a:prstGeom prst="rect">
            <a:avLst/>
          </a:prstGeom>
          <a:noFill/>
          <a:ln/>
        </p:spPr>
        <p:txBody>
          <a:bodyPr wrap="square" lIns="0" tIns="0" rIns="0" bIns="0" rtlCol="0" anchor="ctr"/>
          <a:lstStyle/>
          <a:p>
            <a:pPr marL="0" indent="0">
              <a:buNone/>
            </a:pPr>
            <a:r>
              <a:rPr lang="en-US" sz="1500" b="1" dirty="0">
                <a:solidFill>
                  <a:srgbClr val="E3B23C"/>
                </a:solidFill>
                <a:latin typeface="Calibri" pitchFamily="34" charset="0"/>
                <a:ea typeface="Calibri" pitchFamily="34" charset="-122"/>
                <a:cs typeface="Calibri" pitchFamily="34" charset="-120"/>
              </a:rPr>
              <a:t>Reading the stars correctly</a:t>
            </a:r>
            <a:endParaRPr lang="en-US" sz="1500" dirty="0"/>
          </a:p>
        </p:txBody>
      </p:sp>
      <p:sp>
        <p:nvSpPr>
          <p:cNvPr id="25" name="Text 23"/>
          <p:cNvSpPr txBox="1"/>
          <p:nvPr/>
        </p:nvSpPr>
        <p:spPr>
          <a:xfrm>
            <a:off x="868680" y="5029200"/>
            <a:ext cx="10469880" cy="777240"/>
          </a:xfrm>
          <a:prstGeom prst="rect">
            <a:avLst/>
          </a:prstGeom>
          <a:noFill/>
          <a:ln/>
        </p:spPr>
        <p:txBody>
          <a:bodyPr wrap="square" lIns="0" tIns="0" rIns="0" bIns="0" rtlCol="0" anchor="ctr"/>
          <a:lstStyle/>
          <a:p>
            <a:pPr marL="0" indent="0">
              <a:buNone/>
            </a:pPr>
            <a:r>
              <a:rPr lang="en-US" sz="1300" dirty="0">
                <a:solidFill>
                  <a:srgbClr val="C9D6DC"/>
                </a:solidFill>
                <a:latin typeface="Calibri" pitchFamily="34" charset="0"/>
                <a:ea typeface="Calibri" pitchFamily="34" charset="-122"/>
                <a:cs typeface="Calibri" pitchFamily="34" charset="-120"/>
              </a:rPr>
              <a:t>One star means the characteristic is poorly supported; five means it is a defining strength. The ratings describe tendencies of a style, not measurements of any system — a well-engineered service-based system can outperform a badly built microservices one. They are a starting point for a conversation, not a verdict.</a:t>
            </a:r>
            <a:endParaRPr lang="en-US" sz="13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Why these three styles</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4</a:t>
            </a:r>
            <a:endParaRPr lang="en-US" sz="1000" dirty="0"/>
          </a:p>
        </p:txBody>
      </p:sp>
      <p:sp>
        <p:nvSpPr>
          <p:cNvPr id="7" name="Text 5"/>
          <p:cNvSpPr txBox="1"/>
          <p:nvPr/>
        </p:nvSpPr>
        <p:spPr>
          <a:xfrm>
            <a:off x="566928" y="1207008"/>
            <a:ext cx="11064240" cy="457200"/>
          </a:xfrm>
          <a:prstGeom prst="rect">
            <a:avLst/>
          </a:prstGeom>
          <a:noFill/>
          <a:ln/>
        </p:spPr>
        <p:txBody>
          <a:bodyPr wrap="square" lIns="0" tIns="0" rIns="0" bIns="0" rtlCol="0" anchor="t"/>
          <a:lstStyle/>
          <a:p>
            <a:pPr marL="0" indent="0" algn="l">
              <a:buNone/>
            </a:pPr>
            <a:r>
              <a:rPr lang="en-US" sz="1400" dirty="0">
                <a:solidFill>
                  <a:srgbClr val="62757F"/>
                </a:solidFill>
                <a:latin typeface="Calibri" pitchFamily="34" charset="0"/>
                <a:ea typeface="Calibri" pitchFamily="34" charset="-122"/>
                <a:cs typeface="Calibri" pitchFamily="34" charset="-120"/>
              </a:rPr>
              <a:t>The three form a deliberate progression in service granularity and deployment independence. Comparing them shows what each increment of decoupling buys — and what it costs.</a:t>
            </a:r>
            <a:endParaRPr lang="en-US" sz="1400" dirty="0"/>
          </a:p>
        </p:txBody>
      </p:sp>
      <p:sp>
        <p:nvSpPr>
          <p:cNvPr id="8" name="Shape 6"/>
          <p:cNvSpPr/>
          <p:nvPr/>
        </p:nvSpPr>
        <p:spPr>
          <a:xfrm>
            <a:off x="822960" y="5076363"/>
            <a:ext cx="10241280" cy="32004"/>
          </a:xfrm>
          <a:prstGeom prst="rect">
            <a:avLst/>
          </a:prstGeom>
          <a:solidFill>
            <a:srgbClr val="E3EAEE"/>
          </a:solidFill>
          <a:ln/>
          <a:effectLst>
            <a:outerShdw blurRad="50800" dist="38100" dir="5400000" algn="t" rotWithShape="0">
              <a:prstClr val="black">
                <a:alpha val="40000"/>
              </a:prstClr>
            </a:outerShdw>
          </a:effectLst>
        </p:spPr>
        <p:txBody>
          <a:bodyPr/>
          <a:lstStyle/>
          <a:p>
            <a:endParaRPr lang="en-US"/>
          </a:p>
        </p:txBody>
      </p:sp>
      <p:sp>
        <p:nvSpPr>
          <p:cNvPr id="9" name="Shape 7"/>
          <p:cNvSpPr/>
          <p:nvPr/>
        </p:nvSpPr>
        <p:spPr>
          <a:xfrm rot="5400000">
            <a:off x="11018520" y="4948347"/>
            <a:ext cx="274320" cy="274320"/>
          </a:xfrm>
          <a:prstGeom prst="triangle">
            <a:avLst/>
          </a:prstGeom>
          <a:solidFill>
            <a:srgbClr val="E3EAEE"/>
          </a:solidFill>
          <a:ln/>
          <a:effectLst>
            <a:outerShdw blurRad="50800" dist="38100" dir="5400000" algn="t" rotWithShape="0">
              <a:prstClr val="black">
                <a:alpha val="40000"/>
              </a:prstClr>
            </a:outerShdw>
          </a:effectLst>
        </p:spPr>
        <p:txBody>
          <a:bodyPr/>
          <a:lstStyle/>
          <a:p>
            <a:endParaRPr lang="en-US"/>
          </a:p>
        </p:txBody>
      </p:sp>
      <p:sp>
        <p:nvSpPr>
          <p:cNvPr id="10" name="Shape 8"/>
          <p:cNvSpPr/>
          <p:nvPr/>
        </p:nvSpPr>
        <p:spPr>
          <a:xfrm>
            <a:off x="566928" y="1783080"/>
            <a:ext cx="3520440" cy="3017520"/>
          </a:xfrm>
          <a:prstGeom prst="roundRect">
            <a:avLst>
              <a:gd name="adj" fmla="val 181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1" name="Shape 9"/>
          <p:cNvSpPr/>
          <p:nvPr/>
        </p:nvSpPr>
        <p:spPr>
          <a:xfrm>
            <a:off x="822960" y="2011680"/>
            <a:ext cx="310896" cy="310896"/>
          </a:xfrm>
          <a:prstGeom prst="ellipse">
            <a:avLst/>
          </a:prstGeom>
          <a:solidFill>
            <a:srgbClr val="C77B24"/>
          </a:solidFill>
          <a:ln/>
          <a:effectLst>
            <a:outerShdw blurRad="50800" dist="38100" dir="5400000" algn="t" rotWithShape="0">
              <a:prstClr val="black">
                <a:alpha val="40000"/>
              </a:prstClr>
            </a:outerShdw>
          </a:effectLst>
        </p:spPr>
        <p:txBody>
          <a:bodyPr/>
          <a:lstStyle/>
          <a:p>
            <a:endParaRPr lang="en-US"/>
          </a:p>
        </p:txBody>
      </p:sp>
      <p:sp>
        <p:nvSpPr>
          <p:cNvPr id="12" name="Text 10"/>
          <p:cNvSpPr txBox="1"/>
          <p:nvPr/>
        </p:nvSpPr>
        <p:spPr>
          <a:xfrm>
            <a:off x="1225296" y="2029968"/>
            <a:ext cx="2651760" cy="274320"/>
          </a:xfrm>
          <a:prstGeom prst="rect">
            <a:avLst/>
          </a:prstGeom>
          <a:noFill/>
          <a:ln/>
        </p:spPr>
        <p:txBody>
          <a:bodyPr wrap="square" lIns="0" tIns="0" rIns="0" bIns="0" rtlCol="0" anchor="ctr"/>
          <a:lstStyle/>
          <a:p>
            <a:pPr marL="0" indent="0">
              <a:buNone/>
            </a:pPr>
            <a:r>
              <a:rPr lang="en-US" sz="1100" b="1" dirty="0">
                <a:solidFill>
                  <a:srgbClr val="C77B24"/>
                </a:solidFill>
                <a:latin typeface="Calibri" pitchFamily="34" charset="0"/>
                <a:ea typeface="Calibri" pitchFamily="34" charset="-122"/>
                <a:cs typeface="Calibri" pitchFamily="34" charset="-120"/>
              </a:rPr>
              <a:t>Chapter 13</a:t>
            </a:r>
            <a:endParaRPr lang="en-US" sz="1100" dirty="0"/>
          </a:p>
        </p:txBody>
      </p:sp>
      <p:sp>
        <p:nvSpPr>
          <p:cNvPr id="13" name="Text 11"/>
          <p:cNvSpPr txBox="1"/>
          <p:nvPr/>
        </p:nvSpPr>
        <p:spPr>
          <a:xfrm>
            <a:off x="822960" y="2432304"/>
            <a:ext cx="3017520" cy="384048"/>
          </a:xfrm>
          <a:prstGeom prst="rect">
            <a:avLst/>
          </a:prstGeom>
          <a:noFill/>
          <a:ln/>
        </p:spPr>
        <p:txBody>
          <a:bodyPr wrap="square" lIns="0" tIns="0" rIns="0" bIns="0" rtlCol="0" anchor="ctr"/>
          <a:lstStyle/>
          <a:p>
            <a:pPr marL="0" indent="0">
              <a:buNone/>
            </a:pPr>
            <a:r>
              <a:rPr lang="en-US" sz="2400" b="1" dirty="0">
                <a:solidFill>
                  <a:srgbClr val="14242E"/>
                </a:solidFill>
                <a:latin typeface="Cambria" pitchFamily="34" charset="0"/>
                <a:ea typeface="Cambria" pitchFamily="34" charset="-122"/>
                <a:cs typeface="Cambria" pitchFamily="34" charset="-120"/>
              </a:rPr>
              <a:t>Microkernel</a:t>
            </a:r>
            <a:endParaRPr lang="en-US" sz="2400" dirty="0"/>
          </a:p>
        </p:txBody>
      </p:sp>
      <p:sp>
        <p:nvSpPr>
          <p:cNvPr id="14" name="Text 12"/>
          <p:cNvSpPr txBox="1"/>
          <p:nvPr/>
        </p:nvSpPr>
        <p:spPr>
          <a:xfrm>
            <a:off x="822960" y="2871216"/>
            <a:ext cx="3017520" cy="868680"/>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Monolithic core plus independent plug-ins</a:t>
            </a:r>
            <a:endParaRPr lang="en-US" sz="1250" dirty="0"/>
          </a:p>
        </p:txBody>
      </p:sp>
      <p:sp>
        <p:nvSpPr>
          <p:cNvPr id="15" name="Text 13"/>
          <p:cNvSpPr txBox="1"/>
          <p:nvPr/>
        </p:nvSpPr>
        <p:spPr>
          <a:xfrm>
            <a:off x="822960" y="3767328"/>
            <a:ext cx="3017520" cy="274320"/>
          </a:xfrm>
          <a:prstGeom prst="rect">
            <a:avLst/>
          </a:prstGeom>
          <a:noFill/>
          <a:ln/>
        </p:spPr>
        <p:txBody>
          <a:bodyPr wrap="square" lIns="0" tIns="0" rIns="0" bIns="0" rtlCol="0" anchor="ctr"/>
          <a:lstStyle/>
          <a:p>
            <a:pPr marL="0" indent="0">
              <a:buNone/>
            </a:pPr>
            <a:r>
              <a:rPr lang="en-US" sz="1200" b="1" dirty="0">
                <a:solidFill>
                  <a:srgbClr val="62757F"/>
                </a:solidFill>
                <a:latin typeface="Calibri" pitchFamily="34" charset="0"/>
                <a:ea typeface="Calibri" pitchFamily="34" charset="-122"/>
                <a:cs typeface="Calibri" pitchFamily="34" charset="-120"/>
              </a:rPr>
              <a:t>1 quantum</a:t>
            </a:r>
            <a:endParaRPr lang="en-US" sz="1200" dirty="0"/>
          </a:p>
        </p:txBody>
      </p:sp>
      <p:sp>
        <p:nvSpPr>
          <p:cNvPr id="16" name="Text 14"/>
          <p:cNvSpPr txBox="1"/>
          <p:nvPr/>
        </p:nvSpPr>
        <p:spPr>
          <a:xfrm>
            <a:off x="822960" y="4096512"/>
            <a:ext cx="3017520" cy="548640"/>
          </a:xfrm>
          <a:prstGeom prst="rect">
            <a:avLst/>
          </a:prstGeom>
          <a:noFill/>
          <a:ln/>
        </p:spPr>
        <p:txBody>
          <a:bodyPr wrap="square" lIns="0" tIns="0" rIns="0" bIns="0" rtlCol="0" anchor="ctr"/>
          <a:lstStyle/>
          <a:p>
            <a:pPr marL="0" indent="0">
              <a:buNone/>
            </a:pPr>
            <a:r>
              <a:rPr lang="en-US" sz="1250" i="1" dirty="0">
                <a:solidFill>
                  <a:srgbClr val="C77B24"/>
                </a:solidFill>
                <a:latin typeface="Calibri" pitchFamily="34" charset="0"/>
                <a:ea typeface="Calibri" pitchFamily="34" charset="-122"/>
                <a:cs typeface="Calibri" pitchFamily="34" charset="-120"/>
              </a:rPr>
              <a:t>Extensibility without distribution</a:t>
            </a:r>
            <a:endParaRPr lang="en-US" sz="1250" dirty="0"/>
          </a:p>
        </p:txBody>
      </p:sp>
      <p:sp>
        <p:nvSpPr>
          <p:cNvPr id="17" name="Shape 15"/>
          <p:cNvSpPr/>
          <p:nvPr/>
        </p:nvSpPr>
        <p:spPr>
          <a:xfrm>
            <a:off x="2139696" y="4957491"/>
            <a:ext cx="237744" cy="237744"/>
          </a:xfrm>
          <a:prstGeom prst="ellipse">
            <a:avLst/>
          </a:prstGeom>
          <a:solidFill>
            <a:srgbClr val="C77B24"/>
          </a:solidFill>
          <a:ln/>
          <a:effectLst>
            <a:outerShdw blurRad="50800" dist="38100" dir="5400000" algn="t" rotWithShape="0">
              <a:prstClr val="black">
                <a:alpha val="40000"/>
              </a:prstClr>
            </a:outerShdw>
          </a:effectLst>
        </p:spPr>
        <p:txBody>
          <a:bodyPr/>
          <a:lstStyle/>
          <a:p>
            <a:endParaRPr lang="en-US"/>
          </a:p>
        </p:txBody>
      </p:sp>
      <p:sp>
        <p:nvSpPr>
          <p:cNvPr id="18" name="Shape 16"/>
          <p:cNvSpPr/>
          <p:nvPr/>
        </p:nvSpPr>
        <p:spPr>
          <a:xfrm>
            <a:off x="4334256" y="1783080"/>
            <a:ext cx="3520440" cy="3017520"/>
          </a:xfrm>
          <a:prstGeom prst="roundRect">
            <a:avLst>
              <a:gd name="adj" fmla="val 181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9" name="Shape 17"/>
          <p:cNvSpPr/>
          <p:nvPr/>
        </p:nvSpPr>
        <p:spPr>
          <a:xfrm>
            <a:off x="4590288" y="2011680"/>
            <a:ext cx="310896" cy="310896"/>
          </a:xfrm>
          <a:prstGeom prst="ellipse">
            <a:avLst/>
          </a:prstGeom>
          <a:solidFill>
            <a:srgbClr val="16807E"/>
          </a:solidFill>
          <a:ln/>
          <a:effectLst>
            <a:outerShdw blurRad="50800" dist="38100" dir="5400000" algn="t" rotWithShape="0">
              <a:prstClr val="black">
                <a:alpha val="40000"/>
              </a:prstClr>
            </a:outerShdw>
          </a:effectLst>
        </p:spPr>
        <p:txBody>
          <a:bodyPr/>
          <a:lstStyle/>
          <a:p>
            <a:endParaRPr lang="en-US"/>
          </a:p>
        </p:txBody>
      </p:sp>
      <p:sp>
        <p:nvSpPr>
          <p:cNvPr id="20" name="Text 18"/>
          <p:cNvSpPr txBox="1"/>
          <p:nvPr/>
        </p:nvSpPr>
        <p:spPr>
          <a:xfrm>
            <a:off x="4992624" y="2029968"/>
            <a:ext cx="2651760" cy="274320"/>
          </a:xfrm>
          <a:prstGeom prst="rect">
            <a:avLst/>
          </a:prstGeom>
          <a:noFill/>
          <a:ln/>
        </p:spPr>
        <p:txBody>
          <a:bodyPr wrap="square" lIns="0" tIns="0" rIns="0" bIns="0" rtlCol="0" anchor="ctr"/>
          <a:lstStyle/>
          <a:p>
            <a:pPr marL="0" indent="0">
              <a:buNone/>
            </a:pPr>
            <a:r>
              <a:rPr lang="en-US" sz="1100" b="1" dirty="0">
                <a:solidFill>
                  <a:srgbClr val="16807E"/>
                </a:solidFill>
                <a:latin typeface="Calibri" pitchFamily="34" charset="0"/>
                <a:ea typeface="Calibri" pitchFamily="34" charset="-122"/>
                <a:cs typeface="Calibri" pitchFamily="34" charset="-120"/>
              </a:rPr>
              <a:t>Chapter 14</a:t>
            </a:r>
            <a:endParaRPr lang="en-US" sz="1100" dirty="0"/>
          </a:p>
        </p:txBody>
      </p:sp>
      <p:sp>
        <p:nvSpPr>
          <p:cNvPr id="21" name="Text 19"/>
          <p:cNvSpPr txBox="1"/>
          <p:nvPr/>
        </p:nvSpPr>
        <p:spPr>
          <a:xfrm>
            <a:off x="4590288" y="2432304"/>
            <a:ext cx="3017520" cy="384048"/>
          </a:xfrm>
          <a:prstGeom prst="rect">
            <a:avLst/>
          </a:prstGeom>
          <a:noFill/>
          <a:ln/>
        </p:spPr>
        <p:txBody>
          <a:bodyPr wrap="square" lIns="0" tIns="0" rIns="0" bIns="0" rtlCol="0" anchor="ctr"/>
          <a:lstStyle/>
          <a:p>
            <a:pPr marL="0" indent="0">
              <a:buNone/>
            </a:pPr>
            <a:r>
              <a:rPr lang="en-US" sz="2400" b="1" dirty="0">
                <a:solidFill>
                  <a:srgbClr val="14242E"/>
                </a:solidFill>
                <a:latin typeface="Cambria" pitchFamily="34" charset="0"/>
                <a:ea typeface="Cambria" pitchFamily="34" charset="-122"/>
                <a:cs typeface="Cambria" pitchFamily="34" charset="-120"/>
              </a:rPr>
              <a:t>Service-Based</a:t>
            </a:r>
            <a:endParaRPr lang="en-US" sz="2400" dirty="0"/>
          </a:p>
        </p:txBody>
      </p:sp>
      <p:sp>
        <p:nvSpPr>
          <p:cNvPr id="22" name="Text 20"/>
          <p:cNvSpPr txBox="1"/>
          <p:nvPr/>
        </p:nvSpPr>
        <p:spPr>
          <a:xfrm>
            <a:off x="4590288" y="2871216"/>
            <a:ext cx="3017520" cy="868680"/>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4–12 coarse-grained domain services, usually one database</a:t>
            </a:r>
            <a:endParaRPr lang="en-US" sz="1250" dirty="0"/>
          </a:p>
        </p:txBody>
      </p:sp>
      <p:sp>
        <p:nvSpPr>
          <p:cNvPr id="23" name="Text 21"/>
          <p:cNvSpPr txBox="1"/>
          <p:nvPr/>
        </p:nvSpPr>
        <p:spPr>
          <a:xfrm>
            <a:off x="4590288" y="3767328"/>
            <a:ext cx="3017520" cy="274320"/>
          </a:xfrm>
          <a:prstGeom prst="rect">
            <a:avLst/>
          </a:prstGeom>
          <a:noFill/>
          <a:ln/>
        </p:spPr>
        <p:txBody>
          <a:bodyPr wrap="square" lIns="0" tIns="0" rIns="0" bIns="0" rtlCol="0" anchor="ctr"/>
          <a:lstStyle/>
          <a:p>
            <a:pPr marL="0" indent="0">
              <a:buNone/>
            </a:pPr>
            <a:r>
              <a:rPr lang="en-US" sz="1200" b="1" dirty="0">
                <a:solidFill>
                  <a:srgbClr val="62757F"/>
                </a:solidFill>
                <a:latin typeface="Calibri" pitchFamily="34" charset="0"/>
                <a:ea typeface="Calibri" pitchFamily="34" charset="-122"/>
                <a:cs typeface="Calibri" pitchFamily="34" charset="-120"/>
              </a:rPr>
              <a:t>1 to many quanta</a:t>
            </a:r>
            <a:endParaRPr lang="en-US" sz="1200" dirty="0"/>
          </a:p>
        </p:txBody>
      </p:sp>
      <p:sp>
        <p:nvSpPr>
          <p:cNvPr id="24" name="Text 22"/>
          <p:cNvSpPr txBox="1"/>
          <p:nvPr/>
        </p:nvSpPr>
        <p:spPr>
          <a:xfrm>
            <a:off x="4590288" y="4096512"/>
            <a:ext cx="3017520" cy="548640"/>
          </a:xfrm>
          <a:prstGeom prst="rect">
            <a:avLst/>
          </a:prstGeom>
          <a:noFill/>
          <a:ln/>
        </p:spPr>
        <p:txBody>
          <a:bodyPr wrap="square" lIns="0" tIns="0" rIns="0" bIns="0" rtlCol="0" anchor="ctr"/>
          <a:lstStyle/>
          <a:p>
            <a:pPr marL="0" indent="0">
              <a:buNone/>
            </a:pPr>
            <a:r>
              <a:rPr lang="en-US" sz="1250" i="1" dirty="0">
                <a:solidFill>
                  <a:srgbClr val="16807E"/>
                </a:solidFill>
                <a:latin typeface="Calibri" pitchFamily="34" charset="0"/>
                <a:ea typeface="Calibri" pitchFamily="34" charset="-122"/>
                <a:cs typeface="Calibri" pitchFamily="34" charset="-120"/>
              </a:rPr>
              <a:t>Modularity at modest cost</a:t>
            </a:r>
            <a:endParaRPr lang="en-US" sz="1250" dirty="0"/>
          </a:p>
        </p:txBody>
      </p:sp>
      <p:sp>
        <p:nvSpPr>
          <p:cNvPr id="25" name="Shape 23"/>
          <p:cNvSpPr/>
          <p:nvPr/>
        </p:nvSpPr>
        <p:spPr>
          <a:xfrm>
            <a:off x="5907024" y="4957491"/>
            <a:ext cx="237744" cy="237744"/>
          </a:xfrm>
          <a:prstGeom prst="ellipse">
            <a:avLst/>
          </a:prstGeom>
          <a:solidFill>
            <a:srgbClr val="16807E"/>
          </a:solidFill>
          <a:ln/>
          <a:effectLst>
            <a:outerShdw blurRad="50800" dist="38100" dir="5400000" algn="t" rotWithShape="0">
              <a:prstClr val="black">
                <a:alpha val="40000"/>
              </a:prstClr>
            </a:outerShdw>
          </a:effectLst>
        </p:spPr>
        <p:txBody>
          <a:bodyPr/>
          <a:lstStyle/>
          <a:p>
            <a:endParaRPr lang="en-US"/>
          </a:p>
        </p:txBody>
      </p:sp>
      <p:sp>
        <p:nvSpPr>
          <p:cNvPr id="26" name="Shape 24"/>
          <p:cNvSpPr/>
          <p:nvPr/>
        </p:nvSpPr>
        <p:spPr>
          <a:xfrm>
            <a:off x="8101584" y="1783080"/>
            <a:ext cx="3520440" cy="3017520"/>
          </a:xfrm>
          <a:prstGeom prst="roundRect">
            <a:avLst>
              <a:gd name="adj" fmla="val 181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7" name="Shape 25"/>
          <p:cNvSpPr/>
          <p:nvPr/>
        </p:nvSpPr>
        <p:spPr>
          <a:xfrm>
            <a:off x="8357616" y="2011680"/>
            <a:ext cx="310896" cy="310896"/>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28" name="Text 26"/>
          <p:cNvSpPr txBox="1"/>
          <p:nvPr/>
        </p:nvSpPr>
        <p:spPr>
          <a:xfrm>
            <a:off x="8759952" y="2029968"/>
            <a:ext cx="2651760" cy="274320"/>
          </a:xfrm>
          <a:prstGeom prst="rect">
            <a:avLst/>
          </a:prstGeom>
          <a:noFill/>
          <a:ln/>
        </p:spPr>
        <p:txBody>
          <a:bodyPr wrap="square" lIns="0" tIns="0" rIns="0" bIns="0" rtlCol="0" anchor="ctr"/>
          <a:lstStyle/>
          <a:p>
            <a:pPr marL="0" indent="0">
              <a:buNone/>
            </a:pPr>
            <a:r>
              <a:rPr lang="en-US" sz="1100" b="1" dirty="0">
                <a:solidFill>
                  <a:srgbClr val="B23F3A"/>
                </a:solidFill>
                <a:latin typeface="Calibri" pitchFamily="34" charset="0"/>
                <a:ea typeface="Calibri" pitchFamily="34" charset="-122"/>
                <a:cs typeface="Calibri" pitchFamily="34" charset="-120"/>
              </a:rPr>
              <a:t>Chapter 18</a:t>
            </a:r>
            <a:endParaRPr lang="en-US" sz="1100" dirty="0"/>
          </a:p>
        </p:txBody>
      </p:sp>
      <p:sp>
        <p:nvSpPr>
          <p:cNvPr id="29" name="Text 27"/>
          <p:cNvSpPr txBox="1"/>
          <p:nvPr/>
        </p:nvSpPr>
        <p:spPr>
          <a:xfrm>
            <a:off x="8357616" y="2432304"/>
            <a:ext cx="3017520" cy="384048"/>
          </a:xfrm>
          <a:prstGeom prst="rect">
            <a:avLst/>
          </a:prstGeom>
          <a:noFill/>
          <a:ln/>
        </p:spPr>
        <p:txBody>
          <a:bodyPr wrap="square" lIns="0" tIns="0" rIns="0" bIns="0" rtlCol="0" anchor="ctr"/>
          <a:lstStyle/>
          <a:p>
            <a:pPr marL="0" indent="0">
              <a:buNone/>
            </a:pPr>
            <a:r>
              <a:rPr lang="en-US" sz="2400" b="1" dirty="0">
                <a:solidFill>
                  <a:srgbClr val="14242E"/>
                </a:solidFill>
                <a:latin typeface="Cambria" pitchFamily="34" charset="0"/>
                <a:ea typeface="Cambria" pitchFamily="34" charset="-122"/>
                <a:cs typeface="Cambria" pitchFamily="34" charset="-120"/>
              </a:rPr>
              <a:t>Microservices</a:t>
            </a:r>
            <a:endParaRPr lang="en-US" sz="2400" dirty="0"/>
          </a:p>
        </p:txBody>
      </p:sp>
      <p:sp>
        <p:nvSpPr>
          <p:cNvPr id="30" name="Text 28"/>
          <p:cNvSpPr txBox="1"/>
          <p:nvPr/>
        </p:nvSpPr>
        <p:spPr>
          <a:xfrm>
            <a:off x="8357616" y="2871216"/>
            <a:ext cx="3017520" cy="868680"/>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Fine-grained bounded contexts, each owning its data</a:t>
            </a:r>
            <a:endParaRPr lang="en-US" sz="1250" dirty="0"/>
          </a:p>
        </p:txBody>
      </p:sp>
      <p:sp>
        <p:nvSpPr>
          <p:cNvPr id="31" name="Text 29"/>
          <p:cNvSpPr txBox="1"/>
          <p:nvPr/>
        </p:nvSpPr>
        <p:spPr>
          <a:xfrm>
            <a:off x="8357616" y="3767328"/>
            <a:ext cx="3017520" cy="274320"/>
          </a:xfrm>
          <a:prstGeom prst="rect">
            <a:avLst/>
          </a:prstGeom>
          <a:noFill/>
          <a:ln/>
        </p:spPr>
        <p:txBody>
          <a:bodyPr wrap="square" lIns="0" tIns="0" rIns="0" bIns="0" rtlCol="0" anchor="ctr"/>
          <a:lstStyle/>
          <a:p>
            <a:pPr marL="0" indent="0">
              <a:buNone/>
            </a:pPr>
            <a:r>
              <a:rPr lang="en-US" sz="1200" b="1" dirty="0">
                <a:solidFill>
                  <a:srgbClr val="62757F"/>
                </a:solidFill>
                <a:latin typeface="Calibri" pitchFamily="34" charset="0"/>
                <a:ea typeface="Calibri" pitchFamily="34" charset="-122"/>
                <a:cs typeface="Calibri" pitchFamily="34" charset="-120"/>
              </a:rPr>
              <a:t>Many quanta</a:t>
            </a:r>
            <a:endParaRPr lang="en-US" sz="1200" dirty="0"/>
          </a:p>
        </p:txBody>
      </p:sp>
      <p:sp>
        <p:nvSpPr>
          <p:cNvPr id="32" name="Text 30"/>
          <p:cNvSpPr txBox="1"/>
          <p:nvPr/>
        </p:nvSpPr>
        <p:spPr>
          <a:xfrm>
            <a:off x="8357616" y="4096512"/>
            <a:ext cx="3017520" cy="548640"/>
          </a:xfrm>
          <a:prstGeom prst="rect">
            <a:avLst/>
          </a:prstGeom>
          <a:noFill/>
          <a:ln/>
        </p:spPr>
        <p:txBody>
          <a:bodyPr wrap="square" lIns="0" tIns="0" rIns="0" bIns="0" rtlCol="0" anchor="ctr"/>
          <a:lstStyle/>
          <a:p>
            <a:pPr marL="0" indent="0">
              <a:buNone/>
            </a:pPr>
            <a:r>
              <a:rPr lang="en-US" sz="1250" i="1" dirty="0">
                <a:solidFill>
                  <a:srgbClr val="B23F3A"/>
                </a:solidFill>
                <a:latin typeface="Calibri" pitchFamily="34" charset="0"/>
                <a:ea typeface="Calibri" pitchFamily="34" charset="-122"/>
                <a:cs typeface="Calibri" pitchFamily="34" charset="-120"/>
              </a:rPr>
              <a:t>Maximum decoupling and scale</a:t>
            </a:r>
            <a:endParaRPr lang="en-US" sz="1250" dirty="0"/>
          </a:p>
        </p:txBody>
      </p:sp>
      <p:sp>
        <p:nvSpPr>
          <p:cNvPr id="33" name="Shape 31"/>
          <p:cNvSpPr/>
          <p:nvPr/>
        </p:nvSpPr>
        <p:spPr>
          <a:xfrm>
            <a:off x="9674352" y="4957491"/>
            <a:ext cx="237744" cy="237744"/>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34" name="Text 32"/>
          <p:cNvSpPr txBox="1"/>
          <p:nvPr/>
        </p:nvSpPr>
        <p:spPr>
          <a:xfrm>
            <a:off x="8229600" y="5257800"/>
            <a:ext cx="3108960" cy="292608"/>
          </a:xfrm>
          <a:prstGeom prst="rect">
            <a:avLst/>
          </a:prstGeom>
          <a:noFill/>
          <a:ln/>
        </p:spPr>
        <p:txBody>
          <a:bodyPr wrap="square" lIns="0" tIns="0" rIns="0" bIns="0" rtlCol="0" anchor="ctr"/>
          <a:lstStyle/>
          <a:p>
            <a:pPr marL="0" indent="0" algn="r">
              <a:buNone/>
            </a:pPr>
            <a:r>
              <a:rPr lang="en-US" sz="1200" b="1" dirty="0">
                <a:solidFill>
                  <a:srgbClr val="14242E"/>
                </a:solidFill>
                <a:latin typeface="Calibri" pitchFamily="34" charset="0"/>
                <a:ea typeface="Calibri" pitchFamily="34" charset="-122"/>
                <a:cs typeface="Calibri" pitchFamily="34" charset="-120"/>
              </a:rPr>
              <a:t>coarse  →  fine</a:t>
            </a:r>
            <a:endParaRPr lang="en-US" sz="1200" dirty="0"/>
          </a:p>
        </p:txBody>
      </p:sp>
      <p:sp>
        <p:nvSpPr>
          <p:cNvPr id="35" name="Text 33"/>
          <p:cNvSpPr txBox="1"/>
          <p:nvPr/>
        </p:nvSpPr>
        <p:spPr>
          <a:xfrm>
            <a:off x="822960" y="5257800"/>
            <a:ext cx="731520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Granularity</a:t>
            </a:r>
            <a:endParaRPr lang="en-US" sz="1200" dirty="0"/>
          </a:p>
        </p:txBody>
      </p:sp>
      <p:sp>
        <p:nvSpPr>
          <p:cNvPr id="36" name="Text 34"/>
          <p:cNvSpPr txBox="1"/>
          <p:nvPr/>
        </p:nvSpPr>
        <p:spPr>
          <a:xfrm>
            <a:off x="8229600" y="5623560"/>
            <a:ext cx="3108960" cy="292608"/>
          </a:xfrm>
          <a:prstGeom prst="rect">
            <a:avLst/>
          </a:prstGeom>
          <a:noFill/>
          <a:ln/>
        </p:spPr>
        <p:txBody>
          <a:bodyPr wrap="square" lIns="0" tIns="0" rIns="0" bIns="0" rtlCol="0" anchor="ctr"/>
          <a:lstStyle/>
          <a:p>
            <a:pPr marL="0" indent="0" algn="r">
              <a:buNone/>
            </a:pPr>
            <a:r>
              <a:rPr lang="en-US" sz="1200" b="1" dirty="0">
                <a:solidFill>
                  <a:srgbClr val="14242E"/>
                </a:solidFill>
                <a:latin typeface="Calibri" pitchFamily="34" charset="0"/>
                <a:ea typeface="Calibri" pitchFamily="34" charset="-122"/>
                <a:cs typeface="Calibri" pitchFamily="34" charset="-120"/>
              </a:rPr>
              <a:t>low  →  high</a:t>
            </a:r>
            <a:endParaRPr lang="en-US" sz="1200" dirty="0"/>
          </a:p>
        </p:txBody>
      </p:sp>
      <p:sp>
        <p:nvSpPr>
          <p:cNvPr id="37" name="Text 35"/>
          <p:cNvSpPr txBox="1"/>
          <p:nvPr/>
        </p:nvSpPr>
        <p:spPr>
          <a:xfrm>
            <a:off x="822960" y="5623560"/>
            <a:ext cx="731520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Deployment independence</a:t>
            </a:r>
            <a:endParaRPr lang="en-US" sz="1200" dirty="0"/>
          </a:p>
        </p:txBody>
      </p:sp>
      <p:sp>
        <p:nvSpPr>
          <p:cNvPr id="38" name="Text 36"/>
          <p:cNvSpPr txBox="1"/>
          <p:nvPr/>
        </p:nvSpPr>
        <p:spPr>
          <a:xfrm>
            <a:off x="8229600" y="5989320"/>
            <a:ext cx="3108960" cy="292608"/>
          </a:xfrm>
          <a:prstGeom prst="rect">
            <a:avLst/>
          </a:prstGeom>
          <a:noFill/>
          <a:ln/>
        </p:spPr>
        <p:txBody>
          <a:bodyPr wrap="square" lIns="0" tIns="0" rIns="0" bIns="0" rtlCol="0" anchor="ctr"/>
          <a:lstStyle/>
          <a:p>
            <a:pPr marL="0" indent="0" algn="r">
              <a:buNone/>
            </a:pPr>
            <a:r>
              <a:rPr lang="en-US" sz="1200" b="1" dirty="0">
                <a:solidFill>
                  <a:srgbClr val="14242E"/>
                </a:solidFill>
                <a:latin typeface="Calibri" pitchFamily="34" charset="0"/>
                <a:ea typeface="Calibri" pitchFamily="34" charset="-122"/>
                <a:cs typeface="Calibri" pitchFamily="34" charset="-120"/>
              </a:rPr>
              <a:t>low  →  high</a:t>
            </a:r>
            <a:endParaRPr lang="en-US" sz="1200" dirty="0"/>
          </a:p>
        </p:txBody>
      </p:sp>
      <p:sp>
        <p:nvSpPr>
          <p:cNvPr id="39" name="Text 37"/>
          <p:cNvSpPr txBox="1"/>
          <p:nvPr/>
        </p:nvSpPr>
        <p:spPr>
          <a:xfrm>
            <a:off x="822960" y="5989320"/>
            <a:ext cx="7315200" cy="292608"/>
          </a:xfrm>
          <a:prstGeom prst="rect">
            <a:avLst/>
          </a:prstGeom>
          <a:noFill/>
          <a:ln/>
        </p:spPr>
        <p:txBody>
          <a:bodyPr wrap="square" lIns="0" tIns="0" rIns="0" bIns="0" rtlCol="0" anchor="ctr"/>
          <a:lstStyle/>
          <a:p>
            <a:pPr marL="0" indent="0">
              <a:buNone/>
            </a:pPr>
            <a:r>
              <a:rPr lang="en-US" sz="1200" dirty="0">
                <a:solidFill>
                  <a:srgbClr val="62757F"/>
                </a:solidFill>
                <a:latin typeface="Calibri" pitchFamily="34" charset="0"/>
                <a:ea typeface="Calibri" pitchFamily="34" charset="-122"/>
                <a:cs typeface="Calibri" pitchFamily="34" charset="-120"/>
              </a:rPr>
              <a:t>Cost &amp; operational complexity</a:t>
            </a:r>
            <a:endParaRPr lang="en-US" sz="12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Microkernel: core system plus plug-ins</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66928" y="1261872"/>
            <a:ext cx="5715000" cy="1234440"/>
          </a:xfrm>
          <a:prstGeom prst="roundRect">
            <a:avLst>
              <a:gd name="adj" fmla="val 4444"/>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426464"/>
            <a:ext cx="5120640" cy="274320"/>
          </a:xfrm>
          <a:prstGeom prst="rect">
            <a:avLst/>
          </a:prstGeom>
          <a:noFill/>
          <a:ln/>
        </p:spPr>
        <p:txBody>
          <a:bodyPr wrap="square" lIns="0" tIns="0" rIns="0" bIns="0" rtlCol="0" anchor="ctr"/>
          <a:lstStyle/>
          <a:p>
            <a:pPr marL="0" indent="0">
              <a:buNone/>
            </a:pPr>
            <a:r>
              <a:rPr lang="en-US" sz="1150" b="1" dirty="0">
                <a:solidFill>
                  <a:srgbClr val="C77B24"/>
                </a:solidFill>
                <a:latin typeface="Calibri" pitchFamily="34" charset="0"/>
                <a:ea typeface="Calibri" pitchFamily="34" charset="-122"/>
                <a:cs typeface="Calibri" pitchFamily="34" charset="-120"/>
              </a:rPr>
              <a:t>Also known as the plug-in architecture</a:t>
            </a:r>
            <a:endParaRPr lang="en-US" sz="1150" dirty="0"/>
          </a:p>
        </p:txBody>
      </p:sp>
      <p:sp>
        <p:nvSpPr>
          <p:cNvPr id="9" name="Text 7"/>
          <p:cNvSpPr txBox="1"/>
          <p:nvPr/>
        </p:nvSpPr>
        <p:spPr>
          <a:xfrm>
            <a:off x="868680" y="1737360"/>
            <a:ext cx="5120640" cy="685800"/>
          </a:xfrm>
          <a:prstGeom prst="rect">
            <a:avLst/>
          </a:prstGeom>
          <a:noFill/>
          <a:ln/>
        </p:spPr>
        <p:txBody>
          <a:bodyPr wrap="square" lIns="0" tIns="0" rIns="0" bIns="0" rtlCol="0" anchor="ctr"/>
          <a:lstStyle/>
          <a:p>
            <a:pPr marL="0" indent="0">
              <a:buNone/>
            </a:pPr>
            <a:r>
              <a:rPr lang="en-US" sz="1350" dirty="0">
                <a:solidFill>
                  <a:srgbClr val="1F3644"/>
                </a:solidFill>
                <a:latin typeface="Calibri" pitchFamily="34" charset="0"/>
                <a:ea typeface="Calibri" pitchFamily="34" charset="-122"/>
                <a:cs typeface="Calibri" pitchFamily="34" charset="-120"/>
              </a:rPr>
              <a:t>A minimal core holds the general processing flow; everything volatile, customer-specific or optional lives in independent, self-contained plug-in components.</a:t>
            </a:r>
            <a:endParaRPr lang="en-US" sz="1350" dirty="0"/>
          </a:p>
        </p:txBody>
      </p:sp>
      <p:sp>
        <p:nvSpPr>
          <p:cNvPr id="10" name="Text 8"/>
          <p:cNvSpPr txBox="1"/>
          <p:nvPr/>
        </p:nvSpPr>
        <p:spPr>
          <a:xfrm>
            <a:off x="579120" y="2697480"/>
            <a:ext cx="5715000" cy="3200400"/>
          </a:xfrm>
          <a:prstGeom prst="rect">
            <a:avLst/>
          </a:prstGeom>
          <a:noFill/>
          <a:ln/>
        </p:spPr>
        <p:txBody>
          <a:bodyPr wrap="square" lIns="0" tIns="0" rIns="0" bIns="0" rtlCol="0" anchor="t"/>
          <a:lstStyle/>
          <a:p>
            <a:pPr marL="342900" indent="-342900" algn="l">
              <a:spcAft>
                <a:spcPts val="800"/>
              </a:spcAft>
              <a:buSzPct val="100000"/>
              <a:buChar char="•"/>
            </a:pPr>
            <a:r>
              <a:rPr lang="en-US" sz="1350" dirty="0">
                <a:solidFill>
                  <a:srgbClr val="1F3644"/>
                </a:solidFill>
                <a:latin typeface="Calibri" pitchFamily="34" charset="0"/>
                <a:ea typeface="Calibri" pitchFamily="34" charset="-122"/>
                <a:cs typeface="Calibri" pitchFamily="34" charset="-120"/>
              </a:rPr>
              <a:t>The core system contains the minimum functionality required to make the application run — the happy path, not the exceptions.</a:t>
            </a:r>
            <a:endParaRPr lang="en-US" sz="1350" dirty="0"/>
          </a:p>
          <a:p>
            <a:pPr marL="342900" indent="-342900" algn="l">
              <a:spcAft>
                <a:spcPts val="800"/>
              </a:spcAft>
              <a:buSzPct val="100000"/>
              <a:buChar char="•"/>
            </a:pPr>
            <a:r>
              <a:rPr lang="en-US" sz="1350" dirty="0">
                <a:solidFill>
                  <a:srgbClr val="1F3644"/>
                </a:solidFill>
                <a:latin typeface="Calibri" pitchFamily="34" charset="0"/>
                <a:ea typeface="Calibri" pitchFamily="34" charset="-122"/>
                <a:cs typeface="Calibri" pitchFamily="34" charset="-120"/>
              </a:rPr>
              <a:t>Plug-ins isolate volatility: per-client rules, per-jurisdiction regulations, per-device logic, optional features.</a:t>
            </a:r>
            <a:endParaRPr lang="en-US" sz="1350" dirty="0"/>
          </a:p>
          <a:p>
            <a:pPr marL="342900" indent="-342900" algn="l">
              <a:spcAft>
                <a:spcPts val="800"/>
              </a:spcAft>
              <a:buSzPct val="100000"/>
              <a:buChar char="•"/>
            </a:pPr>
            <a:r>
              <a:rPr lang="en-US" sz="1350" dirty="0">
                <a:solidFill>
                  <a:srgbClr val="1F3644"/>
                </a:solidFill>
                <a:latin typeface="Calibri" pitchFamily="34" charset="0"/>
                <a:ea typeface="Calibri" pitchFamily="34" charset="-122"/>
                <a:cs typeface="Calibri" pitchFamily="34" charset="-120"/>
              </a:rPr>
              <a:t>The core may itself be layered or a modular monolith; the whole thing is normally a single monolithic deployment sharing one database.</a:t>
            </a:r>
            <a:endParaRPr lang="en-US" sz="1350" dirty="0"/>
          </a:p>
          <a:p>
            <a:pPr marL="342900" indent="-342900" algn="l">
              <a:spcAft>
                <a:spcPts val="800"/>
              </a:spcAft>
              <a:buSzPct val="100000"/>
              <a:buChar char="•"/>
            </a:pPr>
            <a:r>
              <a:rPr lang="en-US" sz="1350" dirty="0">
                <a:solidFill>
                  <a:srgbClr val="1F3644"/>
                </a:solidFill>
                <a:latin typeface="Calibri" pitchFamily="34" charset="0"/>
                <a:ea typeface="Calibri" pitchFamily="34" charset="-122"/>
                <a:cs typeface="Calibri" pitchFamily="34" charset="-120"/>
              </a:rPr>
              <a:t>The only style in the book that can be both domain partitioned and technically partitioned.</a:t>
            </a:r>
            <a:endParaRPr lang="en-US" sz="1350" dirty="0"/>
          </a:p>
        </p:txBody>
      </p:sp>
      <p:sp>
        <p:nvSpPr>
          <p:cNvPr id="11" name="Shape 9"/>
          <p:cNvSpPr/>
          <p:nvPr/>
        </p:nvSpPr>
        <p:spPr>
          <a:xfrm>
            <a:off x="6583680" y="1261872"/>
            <a:ext cx="5029200" cy="4663440"/>
          </a:xfrm>
          <a:prstGeom prst="roundRect">
            <a:avLst>
              <a:gd name="adj" fmla="val 117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2" name="Text 10"/>
          <p:cNvSpPr txBox="1"/>
          <p:nvPr/>
        </p:nvSpPr>
        <p:spPr>
          <a:xfrm>
            <a:off x="6858000" y="1463040"/>
            <a:ext cx="4480560" cy="292608"/>
          </a:xfrm>
          <a:prstGeom prst="rect">
            <a:avLst/>
          </a:prstGeom>
          <a:noFill/>
          <a:ln/>
        </p:spPr>
        <p:txBody>
          <a:bodyPr wrap="square" lIns="0" tIns="0" rIns="0" bIns="0" rtlCol="0" anchor="ctr"/>
          <a:lstStyle/>
          <a:p>
            <a:pPr marL="0" indent="0">
              <a:buNone/>
            </a:pPr>
            <a:r>
              <a:rPr lang="en-US" sz="1500" b="1" dirty="0">
                <a:solidFill>
                  <a:srgbClr val="14242E"/>
                </a:solidFill>
                <a:latin typeface="Calibri" pitchFamily="34" charset="0"/>
                <a:ea typeface="Calibri" pitchFamily="34" charset="-122"/>
                <a:cs typeface="Calibri" pitchFamily="34" charset="-120"/>
              </a:rPr>
              <a:t>What it replaces</a:t>
            </a:r>
            <a:endParaRPr lang="en-US" sz="1500" dirty="0"/>
          </a:p>
        </p:txBody>
      </p:sp>
      <p:sp>
        <p:nvSpPr>
          <p:cNvPr id="13" name="Text 11"/>
          <p:cNvSpPr txBox="1"/>
          <p:nvPr/>
        </p:nvSpPr>
        <p:spPr>
          <a:xfrm>
            <a:off x="6858000" y="1810512"/>
            <a:ext cx="4480560" cy="548640"/>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Without plug-ins, every variation becomes another branch inside the core, and cyclomatic complexity grows without bound:</a:t>
            </a:r>
            <a:endParaRPr lang="en-US" sz="1250" dirty="0"/>
          </a:p>
        </p:txBody>
      </p:sp>
      <p:sp>
        <p:nvSpPr>
          <p:cNvPr id="14" name="Shape 12"/>
          <p:cNvSpPr/>
          <p:nvPr/>
        </p:nvSpPr>
        <p:spPr>
          <a:xfrm>
            <a:off x="6858000" y="2395728"/>
            <a:ext cx="4480560" cy="960120"/>
          </a:xfrm>
          <a:prstGeom prst="roundRect">
            <a:avLst>
              <a:gd name="adj" fmla="val 4762"/>
            </a:avLst>
          </a:prstGeom>
          <a:solidFill>
            <a:srgbClr val="DFE7EB"/>
          </a:solidFill>
          <a:ln w="6350">
            <a:solidFill>
              <a:srgbClr val="DFE7EB"/>
            </a:solidFill>
            <a:prstDash val="solid"/>
          </a:ln>
          <a:effectLst>
            <a:outerShdw blurRad="50800" dist="38100" dir="5400000" algn="t" rotWithShape="0">
              <a:prstClr val="black">
                <a:alpha val="40000"/>
              </a:prstClr>
            </a:outerShdw>
          </a:effectLst>
        </p:spPr>
        <p:txBody>
          <a:bodyPr/>
          <a:lstStyle/>
          <a:p>
            <a:endParaRPr lang="en-US"/>
          </a:p>
        </p:txBody>
      </p:sp>
      <p:sp>
        <p:nvSpPr>
          <p:cNvPr id="15" name="Text 13"/>
          <p:cNvSpPr txBox="1"/>
          <p:nvPr/>
        </p:nvSpPr>
        <p:spPr>
          <a:xfrm>
            <a:off x="7040880" y="2514600"/>
            <a:ext cx="4206240" cy="777240"/>
          </a:xfrm>
          <a:prstGeom prst="rect">
            <a:avLst/>
          </a:prstGeom>
          <a:noFill/>
          <a:ln/>
        </p:spPr>
        <p:txBody>
          <a:bodyPr wrap="square" lIns="0" tIns="0" rIns="0" bIns="0" rtlCol="0" anchor="ctr"/>
          <a:lstStyle/>
          <a:p>
            <a:pPr marL="0" indent="0">
              <a:buNone/>
            </a:pPr>
            <a:r>
              <a:rPr lang="en-US" sz="1100" dirty="0">
                <a:solidFill>
                  <a:srgbClr val="14242E"/>
                </a:solidFill>
                <a:latin typeface="Courier New" pitchFamily="34" charset="0"/>
                <a:ea typeface="Courier New" pitchFamily="34" charset="-122"/>
                <a:cs typeface="Courier New" pitchFamily="34" charset="-120"/>
              </a:rPr>
              <a:t>if (deviceID == "iPhone6s") { ... }</a:t>
            </a:r>
            <a:endParaRPr lang="en-US" sz="1100" dirty="0"/>
          </a:p>
          <a:p>
            <a:pPr marL="0" indent="0">
              <a:buNone/>
            </a:pPr>
            <a:r>
              <a:rPr lang="en-US" sz="1100" dirty="0">
                <a:solidFill>
                  <a:srgbClr val="14242E"/>
                </a:solidFill>
                <a:latin typeface="Courier New" pitchFamily="34" charset="0"/>
                <a:ea typeface="Courier New" pitchFamily="34" charset="-122"/>
                <a:cs typeface="Courier New" pitchFamily="34" charset="-120"/>
              </a:rPr>
              <a:t>else if (deviceID == "Galaxy5") { ... }</a:t>
            </a:r>
            <a:endParaRPr lang="en-US" sz="1100" dirty="0"/>
          </a:p>
          <a:p>
            <a:pPr marL="0" indent="0">
              <a:buNone/>
            </a:pPr>
            <a:r>
              <a:rPr lang="en-US" sz="1100" dirty="0">
                <a:solidFill>
                  <a:srgbClr val="14242E"/>
                </a:solidFill>
                <a:latin typeface="Courier New" pitchFamily="34" charset="0"/>
                <a:ea typeface="Courier New" pitchFamily="34" charset="-122"/>
                <a:cs typeface="Courier New" pitchFamily="34" charset="-120"/>
              </a:rPr>
              <a:t>else if ( ... )   // forever</a:t>
            </a:r>
            <a:endParaRPr lang="en-US" sz="1100" dirty="0"/>
          </a:p>
        </p:txBody>
      </p:sp>
      <p:sp>
        <p:nvSpPr>
          <p:cNvPr id="16" name="Text 14"/>
          <p:cNvSpPr txBox="1"/>
          <p:nvPr/>
        </p:nvSpPr>
        <p:spPr>
          <a:xfrm>
            <a:off x="6858000" y="3493008"/>
            <a:ext cx="4480560" cy="548640"/>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With a registry and plug-ins, adding a variation means adding a component and one registry entry — the core never changes:</a:t>
            </a:r>
            <a:endParaRPr lang="en-US" sz="1250" dirty="0"/>
          </a:p>
        </p:txBody>
      </p:sp>
      <p:sp>
        <p:nvSpPr>
          <p:cNvPr id="17" name="Shape 15"/>
          <p:cNvSpPr/>
          <p:nvPr/>
        </p:nvSpPr>
        <p:spPr>
          <a:xfrm>
            <a:off x="6858000" y="4078224"/>
            <a:ext cx="4480560" cy="1371600"/>
          </a:xfrm>
          <a:prstGeom prst="roundRect">
            <a:avLst>
              <a:gd name="adj" fmla="val 3333"/>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18" name="Text 16"/>
          <p:cNvSpPr txBox="1"/>
          <p:nvPr/>
        </p:nvSpPr>
        <p:spPr>
          <a:xfrm>
            <a:off x="7040880" y="4206240"/>
            <a:ext cx="4206240" cy="1188720"/>
          </a:xfrm>
          <a:prstGeom prst="rect">
            <a:avLst/>
          </a:prstGeom>
          <a:noFill/>
          <a:ln/>
        </p:spPr>
        <p:txBody>
          <a:bodyPr wrap="square" lIns="0" tIns="0" rIns="0" bIns="0" rtlCol="0" anchor="ctr"/>
          <a:lstStyle/>
          <a:p>
            <a:pPr marL="0" indent="0">
              <a:buNone/>
            </a:pPr>
            <a:r>
              <a:rPr lang="en-US" sz="1100" dirty="0">
                <a:solidFill>
                  <a:srgbClr val="9FE3C8"/>
                </a:solidFill>
                <a:latin typeface="Courier New" pitchFamily="34" charset="0"/>
                <a:ea typeface="Courier New" pitchFamily="34" charset="-122"/>
                <a:cs typeface="Courier New" pitchFamily="34" charset="-120"/>
              </a:rPr>
              <a:t>String plugin =</a:t>
            </a:r>
            <a:endParaRPr lang="en-US" sz="1100" dirty="0"/>
          </a:p>
          <a:p>
            <a:pPr marL="0" indent="0">
              <a:buNone/>
            </a:pPr>
            <a:r>
              <a:rPr lang="en-US" sz="1100" dirty="0">
                <a:solidFill>
                  <a:srgbClr val="9FE3C8"/>
                </a:solidFill>
                <a:latin typeface="Courier New" pitchFamily="34" charset="0"/>
                <a:ea typeface="Courier New" pitchFamily="34" charset="-122"/>
                <a:cs typeface="Courier New" pitchFamily="34" charset="-120"/>
              </a:rPr>
              <a:t>    registry.get(deviceID);</a:t>
            </a:r>
            <a:endParaRPr lang="en-US" sz="1100" dirty="0"/>
          </a:p>
          <a:p>
            <a:pPr marL="0" indent="0">
              <a:buNone/>
            </a:pPr>
            <a:r>
              <a:rPr lang="en-US" sz="1100" dirty="0">
                <a:solidFill>
                  <a:srgbClr val="9FE3C8"/>
                </a:solidFill>
                <a:latin typeface="Courier New" pitchFamily="34" charset="0"/>
                <a:ea typeface="Courier New" pitchFamily="34" charset="-122"/>
                <a:cs typeface="Courier New" pitchFamily="34" charset="-120"/>
              </a:rPr>
              <a:t>DevicePlugin p = load(plugin);</a:t>
            </a:r>
            <a:endParaRPr lang="en-US" sz="1100" dirty="0"/>
          </a:p>
          <a:p>
            <a:pPr marL="0" indent="0">
              <a:buNone/>
            </a:pPr>
            <a:r>
              <a:rPr lang="en-US" sz="1100" dirty="0">
                <a:solidFill>
                  <a:srgbClr val="9FE3C8"/>
                </a:solidFill>
                <a:latin typeface="Courier New" pitchFamily="34" charset="0"/>
                <a:ea typeface="Courier New" pitchFamily="34" charset="-122"/>
                <a:cs typeface="Courier New" pitchFamily="34" charset="-120"/>
              </a:rPr>
              <a:t>p.assess();</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Microkernel topology</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3977640" y="1234440"/>
            <a:ext cx="4206240" cy="566928"/>
          </a:xfrm>
          <a:prstGeom prst="roundRect">
            <a:avLst>
              <a:gd name="adj" fmla="val 8065"/>
            </a:avLst>
          </a:prstGeom>
          <a:solidFill>
            <a:srgbClr val="E3EAEE"/>
          </a:solidFill>
          <a:ln w="12700">
            <a:solidFill>
              <a:srgbClr val="C6D2D8"/>
            </a:solidFill>
            <a:prstDash val="solid"/>
          </a:ln>
        </p:spPr>
        <p:txBody>
          <a:bodyPr/>
          <a:lstStyle/>
          <a:p>
            <a:endParaRPr lang="en-US"/>
          </a:p>
        </p:txBody>
      </p:sp>
      <p:sp>
        <p:nvSpPr>
          <p:cNvPr id="8" name="Text 6"/>
          <p:cNvSpPr txBox="1"/>
          <p:nvPr/>
        </p:nvSpPr>
        <p:spPr>
          <a:xfrm>
            <a:off x="3977640" y="1234440"/>
            <a:ext cx="4206240" cy="566928"/>
          </a:xfrm>
          <a:prstGeom prst="rect">
            <a:avLst/>
          </a:prstGeom>
          <a:noFill/>
          <a:ln/>
        </p:spPr>
        <p:txBody>
          <a:bodyPr wrap="square" lIns="0" tIns="0" rIns="0" bIns="0" rtlCol="0" anchor="ctr"/>
          <a:lstStyle/>
          <a:p>
            <a:pPr marL="0" indent="0" algn="ctr">
              <a:buNone/>
            </a:pPr>
            <a:r>
              <a:rPr lang="en-US" sz="1150" b="1" dirty="0">
                <a:solidFill>
                  <a:srgbClr val="14242E"/>
                </a:solidFill>
                <a:latin typeface="Calibri" pitchFamily="34" charset="0"/>
                <a:ea typeface="Calibri" pitchFamily="34" charset="-122"/>
                <a:cs typeface="Calibri" pitchFamily="34" charset="-120"/>
              </a:rPr>
              <a:t>User interface  (embedded, separate, or itself a microkernel)</a:t>
            </a:r>
            <a:endParaRPr lang="en-US" sz="1150" dirty="0"/>
          </a:p>
        </p:txBody>
      </p:sp>
      <p:sp>
        <p:nvSpPr>
          <p:cNvPr id="9" name="Shape 7"/>
          <p:cNvSpPr/>
          <p:nvPr/>
        </p:nvSpPr>
        <p:spPr>
          <a:xfrm>
            <a:off x="6080760" y="1801368"/>
            <a:ext cx="0" cy="384048"/>
          </a:xfrm>
          <a:prstGeom prst="line">
            <a:avLst/>
          </a:prstGeom>
          <a:noFill/>
          <a:ln w="15875">
            <a:solidFill>
              <a:srgbClr val="62757F"/>
            </a:solidFill>
            <a:prstDash val="solid"/>
            <a:tailEnd type="triangle"/>
          </a:ln>
        </p:spPr>
        <p:txBody>
          <a:bodyPr/>
          <a:lstStyle/>
          <a:p>
            <a:endParaRPr lang="en-US"/>
          </a:p>
        </p:txBody>
      </p:sp>
      <p:sp>
        <p:nvSpPr>
          <p:cNvPr id="10" name="Shape 8"/>
          <p:cNvSpPr/>
          <p:nvPr/>
        </p:nvSpPr>
        <p:spPr>
          <a:xfrm>
            <a:off x="3703320" y="2194560"/>
            <a:ext cx="4754880" cy="1417320"/>
          </a:xfrm>
          <a:prstGeom prst="roundRect">
            <a:avLst>
              <a:gd name="adj" fmla="val 3871"/>
            </a:avLst>
          </a:prstGeom>
          <a:solidFill>
            <a:srgbClr val="14242E"/>
          </a:solidFill>
          <a:ln w="1270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11" name="Text 9"/>
          <p:cNvSpPr txBox="1"/>
          <p:nvPr/>
        </p:nvSpPr>
        <p:spPr>
          <a:xfrm>
            <a:off x="3703320" y="2359152"/>
            <a:ext cx="4754880" cy="292608"/>
          </a:xfrm>
          <a:prstGeom prst="rect">
            <a:avLst/>
          </a:prstGeom>
          <a:noFill/>
          <a:ln/>
        </p:spPr>
        <p:txBody>
          <a:bodyPr wrap="square" lIns="0" tIns="0" rIns="0" bIns="0" rtlCol="0" anchor="ctr"/>
          <a:lstStyle/>
          <a:p>
            <a:pPr marL="0" indent="0" algn="ctr">
              <a:buNone/>
            </a:pPr>
            <a:r>
              <a:rPr lang="en-US" sz="1300" b="1" kern="0" spc="200" dirty="0">
                <a:solidFill>
                  <a:srgbClr val="E3B23C"/>
                </a:solidFill>
                <a:latin typeface="Calibri" pitchFamily="34" charset="0"/>
                <a:ea typeface="Calibri" pitchFamily="34" charset="-122"/>
                <a:cs typeface="Calibri" pitchFamily="34" charset="-120"/>
              </a:rPr>
              <a:t>CORE SYSTEM</a:t>
            </a:r>
            <a:endParaRPr lang="en-US" sz="1300" dirty="0"/>
          </a:p>
        </p:txBody>
      </p:sp>
      <p:sp>
        <p:nvSpPr>
          <p:cNvPr id="12" name="Text 10"/>
          <p:cNvSpPr txBox="1"/>
          <p:nvPr/>
        </p:nvSpPr>
        <p:spPr>
          <a:xfrm>
            <a:off x="3840480" y="2688336"/>
            <a:ext cx="4480560" cy="548640"/>
          </a:xfrm>
          <a:prstGeom prst="rect">
            <a:avLst/>
          </a:prstGeom>
          <a:noFill/>
          <a:ln/>
        </p:spPr>
        <p:txBody>
          <a:bodyPr wrap="square" lIns="0" tIns="0" rIns="0" bIns="0" rtlCol="0" anchor="ctr"/>
          <a:lstStyle/>
          <a:p>
            <a:pPr marL="0" indent="0" algn="ctr">
              <a:buNone/>
            </a:pPr>
            <a:r>
              <a:rPr lang="en-US" sz="1150" dirty="0">
                <a:solidFill>
                  <a:srgbClr val="C9D6DC"/>
                </a:solidFill>
                <a:latin typeface="Calibri" pitchFamily="34" charset="0"/>
                <a:ea typeface="Calibri" pitchFamily="34" charset="-122"/>
                <a:cs typeface="Calibri" pitchFamily="34" charset="-120"/>
              </a:rPr>
              <a:t>Minimal general business logic · orchestrates the flow</a:t>
            </a:r>
            <a:endParaRPr lang="en-US" sz="1150" dirty="0"/>
          </a:p>
          <a:p>
            <a:pPr marL="0" indent="0" algn="ctr">
              <a:buNone/>
            </a:pPr>
            <a:r>
              <a:rPr lang="en-US" sz="1150" dirty="0">
                <a:solidFill>
                  <a:srgbClr val="C9D6DC"/>
                </a:solidFill>
                <a:latin typeface="Calibri" pitchFamily="34" charset="0"/>
                <a:ea typeface="Calibri" pitchFamily="34" charset="-122"/>
                <a:cs typeface="Calibri" pitchFamily="34" charset="-120"/>
              </a:rPr>
              <a:t>May be layered or a modular monolith internally</a:t>
            </a:r>
            <a:endParaRPr lang="en-US" sz="1150" dirty="0"/>
          </a:p>
        </p:txBody>
      </p:sp>
      <p:sp>
        <p:nvSpPr>
          <p:cNvPr id="13" name="Shape 11"/>
          <p:cNvSpPr/>
          <p:nvPr/>
        </p:nvSpPr>
        <p:spPr>
          <a:xfrm>
            <a:off x="4800600" y="3218688"/>
            <a:ext cx="2560320" cy="301752"/>
          </a:xfrm>
          <a:prstGeom prst="roundRect">
            <a:avLst>
              <a:gd name="adj" fmla="val 12121"/>
            </a:avLst>
          </a:prstGeom>
          <a:solidFill>
            <a:srgbClr val="1F3644"/>
          </a:solidFill>
          <a:ln w="12700">
            <a:solidFill>
              <a:srgbClr val="C77B24"/>
            </a:solidFill>
            <a:prstDash val="solid"/>
          </a:ln>
        </p:spPr>
        <p:txBody>
          <a:bodyPr/>
          <a:lstStyle/>
          <a:p>
            <a:endParaRPr lang="en-US"/>
          </a:p>
        </p:txBody>
      </p:sp>
      <p:sp>
        <p:nvSpPr>
          <p:cNvPr id="14" name="Text 12"/>
          <p:cNvSpPr txBox="1"/>
          <p:nvPr/>
        </p:nvSpPr>
        <p:spPr>
          <a:xfrm>
            <a:off x="4800600" y="3218688"/>
            <a:ext cx="2560320"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Plug-in registry</a:t>
            </a:r>
            <a:endParaRPr lang="en-US" sz="1100" dirty="0"/>
          </a:p>
        </p:txBody>
      </p:sp>
      <p:sp>
        <p:nvSpPr>
          <p:cNvPr id="15" name="Shape 13"/>
          <p:cNvSpPr/>
          <p:nvPr/>
        </p:nvSpPr>
        <p:spPr>
          <a:xfrm>
            <a:off x="9144000" y="2395728"/>
            <a:ext cx="2377440" cy="1005840"/>
          </a:xfrm>
          <a:prstGeom prst="roundRect">
            <a:avLst>
              <a:gd name="adj" fmla="val 5455"/>
            </a:avLst>
          </a:prstGeom>
          <a:solidFill>
            <a:srgbClr val="F0F4F6"/>
          </a:solidFill>
          <a:ln w="12700">
            <a:solidFill>
              <a:srgbClr val="C6D2D8"/>
            </a:solidFill>
            <a:prstDash val="solid"/>
          </a:ln>
        </p:spPr>
        <p:txBody>
          <a:bodyPr/>
          <a:lstStyle/>
          <a:p>
            <a:endParaRPr lang="en-US"/>
          </a:p>
        </p:txBody>
      </p:sp>
      <p:sp>
        <p:nvSpPr>
          <p:cNvPr id="16" name="Text 14"/>
          <p:cNvSpPr txBox="1"/>
          <p:nvPr/>
        </p:nvSpPr>
        <p:spPr>
          <a:xfrm>
            <a:off x="9144000" y="2395728"/>
            <a:ext cx="2377440" cy="100584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Shared database</a:t>
            </a:r>
            <a:endParaRPr lang="en-US" sz="1200" dirty="0"/>
          </a:p>
          <a:p>
            <a:pPr marL="0" indent="0" algn="ctr">
              <a:buNone/>
            </a:pPr>
            <a:r>
              <a:rPr lang="en-US" sz="1200" b="1" dirty="0">
                <a:solidFill>
                  <a:srgbClr val="14242E"/>
                </a:solidFill>
                <a:latin typeface="Calibri" pitchFamily="34" charset="0"/>
                <a:ea typeface="Calibri" pitchFamily="34" charset="-122"/>
                <a:cs typeface="Calibri" pitchFamily="34" charset="-120"/>
              </a:rPr>
              <a:t>(core only)</a:t>
            </a:r>
            <a:endParaRPr lang="en-US" sz="1200" dirty="0"/>
          </a:p>
        </p:txBody>
      </p:sp>
      <p:sp>
        <p:nvSpPr>
          <p:cNvPr id="17" name="Shape 15"/>
          <p:cNvSpPr/>
          <p:nvPr/>
        </p:nvSpPr>
        <p:spPr>
          <a:xfrm>
            <a:off x="8458200" y="2898648"/>
            <a:ext cx="640080" cy="0"/>
          </a:xfrm>
          <a:prstGeom prst="line">
            <a:avLst/>
          </a:prstGeom>
          <a:noFill/>
          <a:ln w="15875">
            <a:solidFill>
              <a:srgbClr val="62757F"/>
            </a:solidFill>
            <a:prstDash val="solid"/>
            <a:tailEnd type="triangle"/>
          </a:ln>
        </p:spPr>
        <p:txBody>
          <a:bodyPr/>
          <a:lstStyle/>
          <a:p>
            <a:endParaRPr lang="en-US"/>
          </a:p>
        </p:txBody>
      </p:sp>
      <p:sp>
        <p:nvSpPr>
          <p:cNvPr id="18" name="Shape 16"/>
          <p:cNvSpPr/>
          <p:nvPr/>
        </p:nvSpPr>
        <p:spPr>
          <a:xfrm>
            <a:off x="6080760" y="3611880"/>
            <a:ext cx="0" cy="685800"/>
          </a:xfrm>
          <a:prstGeom prst="line">
            <a:avLst/>
          </a:prstGeom>
          <a:noFill/>
          <a:ln w="15875">
            <a:solidFill>
              <a:srgbClr val="C77B24"/>
            </a:solidFill>
            <a:prstDash val="solid"/>
            <a:tailEnd type="triangle"/>
          </a:ln>
        </p:spPr>
        <p:txBody>
          <a:bodyPr/>
          <a:lstStyle/>
          <a:p>
            <a:endParaRPr lang="en-US"/>
          </a:p>
        </p:txBody>
      </p:sp>
      <p:sp>
        <p:nvSpPr>
          <p:cNvPr id="19" name="Shape 17"/>
          <p:cNvSpPr/>
          <p:nvPr/>
        </p:nvSpPr>
        <p:spPr>
          <a:xfrm>
            <a:off x="1051560"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20" name="Text 18"/>
          <p:cNvSpPr txBox="1"/>
          <p:nvPr/>
        </p:nvSpPr>
        <p:spPr>
          <a:xfrm>
            <a:off x="1051560" y="4315968"/>
            <a:ext cx="1737360" cy="713232"/>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Plug-in A</a:t>
            </a:r>
            <a:endParaRPr lang="en-US" sz="1200" dirty="0"/>
          </a:p>
        </p:txBody>
      </p:sp>
      <p:sp>
        <p:nvSpPr>
          <p:cNvPr id="21" name="Shape 19"/>
          <p:cNvSpPr/>
          <p:nvPr/>
        </p:nvSpPr>
        <p:spPr>
          <a:xfrm>
            <a:off x="6080760" y="3611880"/>
            <a:ext cx="0" cy="685800"/>
          </a:xfrm>
          <a:prstGeom prst="line">
            <a:avLst/>
          </a:prstGeom>
          <a:noFill/>
          <a:ln w="15875">
            <a:solidFill>
              <a:srgbClr val="C77B24"/>
            </a:solidFill>
            <a:prstDash val="solid"/>
            <a:tailEnd type="triangle"/>
          </a:ln>
        </p:spPr>
        <p:txBody>
          <a:bodyPr/>
          <a:lstStyle/>
          <a:p>
            <a:endParaRPr lang="en-US"/>
          </a:p>
        </p:txBody>
      </p:sp>
      <p:sp>
        <p:nvSpPr>
          <p:cNvPr id="22" name="Shape 20"/>
          <p:cNvSpPr/>
          <p:nvPr/>
        </p:nvSpPr>
        <p:spPr>
          <a:xfrm>
            <a:off x="3136392"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23" name="Text 21"/>
          <p:cNvSpPr txBox="1"/>
          <p:nvPr/>
        </p:nvSpPr>
        <p:spPr>
          <a:xfrm>
            <a:off x="3136392" y="4315968"/>
            <a:ext cx="1737360" cy="713232"/>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Plug-in B</a:t>
            </a:r>
            <a:endParaRPr lang="en-US" sz="1200" dirty="0"/>
          </a:p>
        </p:txBody>
      </p:sp>
      <p:sp>
        <p:nvSpPr>
          <p:cNvPr id="24" name="Shape 22"/>
          <p:cNvSpPr/>
          <p:nvPr/>
        </p:nvSpPr>
        <p:spPr>
          <a:xfrm>
            <a:off x="6080760" y="3611880"/>
            <a:ext cx="9144" cy="685800"/>
          </a:xfrm>
          <a:prstGeom prst="line">
            <a:avLst/>
          </a:prstGeom>
          <a:noFill/>
          <a:ln w="15875">
            <a:solidFill>
              <a:srgbClr val="C77B24"/>
            </a:solidFill>
            <a:prstDash val="solid"/>
            <a:tailEnd type="triangle"/>
          </a:ln>
        </p:spPr>
        <p:txBody>
          <a:bodyPr/>
          <a:lstStyle/>
          <a:p>
            <a:endParaRPr lang="en-US"/>
          </a:p>
        </p:txBody>
      </p:sp>
      <p:sp>
        <p:nvSpPr>
          <p:cNvPr id="25" name="Shape 23"/>
          <p:cNvSpPr/>
          <p:nvPr/>
        </p:nvSpPr>
        <p:spPr>
          <a:xfrm>
            <a:off x="5221224"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26" name="Text 24"/>
          <p:cNvSpPr txBox="1"/>
          <p:nvPr/>
        </p:nvSpPr>
        <p:spPr>
          <a:xfrm>
            <a:off x="5221224" y="4315968"/>
            <a:ext cx="1737360" cy="713232"/>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Plug-in C</a:t>
            </a:r>
            <a:endParaRPr lang="en-US" sz="1200" dirty="0"/>
          </a:p>
        </p:txBody>
      </p:sp>
      <p:sp>
        <p:nvSpPr>
          <p:cNvPr id="27" name="Shape 25"/>
          <p:cNvSpPr/>
          <p:nvPr/>
        </p:nvSpPr>
        <p:spPr>
          <a:xfrm>
            <a:off x="6080760" y="3611880"/>
            <a:ext cx="2093976" cy="685800"/>
          </a:xfrm>
          <a:prstGeom prst="line">
            <a:avLst/>
          </a:prstGeom>
          <a:noFill/>
          <a:ln w="15875">
            <a:solidFill>
              <a:srgbClr val="C77B24"/>
            </a:solidFill>
            <a:prstDash val="solid"/>
            <a:tailEnd type="triangle"/>
          </a:ln>
        </p:spPr>
        <p:txBody>
          <a:bodyPr/>
          <a:lstStyle/>
          <a:p>
            <a:endParaRPr lang="en-US"/>
          </a:p>
        </p:txBody>
      </p:sp>
      <p:sp>
        <p:nvSpPr>
          <p:cNvPr id="28" name="Shape 26"/>
          <p:cNvSpPr/>
          <p:nvPr/>
        </p:nvSpPr>
        <p:spPr>
          <a:xfrm>
            <a:off x="7306056"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29" name="Text 27"/>
          <p:cNvSpPr txBox="1"/>
          <p:nvPr/>
        </p:nvSpPr>
        <p:spPr>
          <a:xfrm>
            <a:off x="7306056" y="4315968"/>
            <a:ext cx="1737360" cy="713232"/>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Plug-in D</a:t>
            </a:r>
            <a:endParaRPr lang="en-US" sz="1200" dirty="0"/>
          </a:p>
        </p:txBody>
      </p:sp>
      <p:sp>
        <p:nvSpPr>
          <p:cNvPr id="30" name="Shape 28"/>
          <p:cNvSpPr/>
          <p:nvPr/>
        </p:nvSpPr>
        <p:spPr>
          <a:xfrm>
            <a:off x="6080760" y="3611880"/>
            <a:ext cx="4178808" cy="685800"/>
          </a:xfrm>
          <a:prstGeom prst="line">
            <a:avLst/>
          </a:prstGeom>
          <a:noFill/>
          <a:ln w="15875">
            <a:solidFill>
              <a:srgbClr val="C77B24"/>
            </a:solidFill>
            <a:prstDash val="solid"/>
            <a:tailEnd type="triangle"/>
          </a:ln>
        </p:spPr>
        <p:txBody>
          <a:bodyPr/>
          <a:lstStyle/>
          <a:p>
            <a:endParaRPr lang="en-US"/>
          </a:p>
        </p:txBody>
      </p:sp>
      <p:sp>
        <p:nvSpPr>
          <p:cNvPr id="31" name="Shape 29"/>
          <p:cNvSpPr/>
          <p:nvPr/>
        </p:nvSpPr>
        <p:spPr>
          <a:xfrm>
            <a:off x="9390888"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32" name="Text 30"/>
          <p:cNvSpPr txBox="1"/>
          <p:nvPr/>
        </p:nvSpPr>
        <p:spPr>
          <a:xfrm>
            <a:off x="9390888" y="4315968"/>
            <a:ext cx="1737360" cy="713232"/>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Plug-in E</a:t>
            </a:r>
            <a:endParaRPr lang="en-US" sz="1200" dirty="0"/>
          </a:p>
        </p:txBody>
      </p:sp>
      <p:sp>
        <p:nvSpPr>
          <p:cNvPr id="33" name="Shape 31"/>
          <p:cNvSpPr/>
          <p:nvPr/>
        </p:nvSpPr>
        <p:spPr>
          <a:xfrm>
            <a:off x="8595360" y="5175504"/>
            <a:ext cx="1737360" cy="457200"/>
          </a:xfrm>
          <a:prstGeom prst="roundRect">
            <a:avLst>
              <a:gd name="adj" fmla="val 10000"/>
            </a:avLst>
          </a:prstGeom>
          <a:solidFill>
            <a:srgbClr val="FFFFFF"/>
          </a:solidFill>
          <a:ln w="12700">
            <a:solidFill>
              <a:srgbClr val="C77B24"/>
            </a:solidFill>
            <a:prstDash val="dash"/>
          </a:ln>
        </p:spPr>
        <p:txBody>
          <a:bodyPr/>
          <a:lstStyle/>
          <a:p>
            <a:endParaRPr lang="en-US"/>
          </a:p>
        </p:txBody>
      </p:sp>
      <p:sp>
        <p:nvSpPr>
          <p:cNvPr id="34" name="Text 32"/>
          <p:cNvSpPr txBox="1"/>
          <p:nvPr/>
        </p:nvSpPr>
        <p:spPr>
          <a:xfrm>
            <a:off x="8595360" y="5175504"/>
            <a:ext cx="1737360" cy="457200"/>
          </a:xfrm>
          <a:prstGeom prst="rect">
            <a:avLst/>
          </a:prstGeom>
          <a:noFill/>
          <a:ln/>
        </p:spPr>
        <p:txBody>
          <a:bodyPr wrap="square" lIns="0" tIns="0" rIns="0" bIns="0" rtlCol="0" anchor="ctr"/>
          <a:lstStyle/>
          <a:p>
            <a:pPr marL="0" indent="0" algn="ctr">
              <a:buNone/>
            </a:pPr>
            <a:r>
              <a:rPr lang="en-US" sz="1050" dirty="0">
                <a:solidFill>
                  <a:srgbClr val="C77B24"/>
                </a:solidFill>
                <a:latin typeface="Calibri" pitchFamily="34" charset="0"/>
                <a:ea typeface="Calibri" pitchFamily="34" charset="-122"/>
                <a:cs typeface="Calibri" pitchFamily="34" charset="-120"/>
              </a:rPr>
              <a:t>Own data store</a:t>
            </a:r>
            <a:endParaRPr lang="en-US" sz="1050" dirty="0"/>
          </a:p>
        </p:txBody>
      </p:sp>
      <p:sp>
        <p:nvSpPr>
          <p:cNvPr id="35" name="Shape 33"/>
          <p:cNvSpPr/>
          <p:nvPr/>
        </p:nvSpPr>
        <p:spPr>
          <a:xfrm>
            <a:off x="9464040" y="5029200"/>
            <a:ext cx="0" cy="146304"/>
          </a:xfrm>
          <a:prstGeom prst="line">
            <a:avLst/>
          </a:prstGeom>
          <a:noFill/>
          <a:ln w="12700">
            <a:solidFill>
              <a:srgbClr val="C77B24"/>
            </a:solidFill>
            <a:prstDash val="dash"/>
          </a:ln>
        </p:spPr>
        <p:txBody>
          <a:bodyPr/>
          <a:lstStyle/>
          <a:p>
            <a:endParaRPr lang="en-US"/>
          </a:p>
        </p:txBody>
      </p:sp>
      <p:sp>
        <p:nvSpPr>
          <p:cNvPr id="36" name="Text 34"/>
          <p:cNvSpPr txBox="1"/>
          <p:nvPr/>
        </p:nvSpPr>
        <p:spPr>
          <a:xfrm>
            <a:off x="777240" y="5760720"/>
            <a:ext cx="10607040" cy="548640"/>
          </a:xfrm>
          <a:prstGeom prst="rect">
            <a:avLst/>
          </a:prstGeom>
          <a:noFill/>
          <a:ln/>
        </p:spPr>
        <p:txBody>
          <a:bodyPr wrap="square" lIns="0" tIns="0" rIns="0" bIns="0" rtlCol="0" anchor="t"/>
          <a:lstStyle/>
          <a:p>
            <a:pPr marL="0" indent="0" algn="l">
              <a:buNone/>
            </a:pPr>
            <a:r>
              <a:rPr lang="en-US" sz="1250" dirty="0">
                <a:solidFill>
                  <a:srgbClr val="62757F"/>
                </a:solidFill>
                <a:latin typeface="Calibri" pitchFamily="34" charset="0"/>
                <a:ea typeface="Calibri" pitchFamily="34" charset="-122"/>
                <a:cs typeface="Calibri" pitchFamily="34" charset="-120"/>
              </a:rPr>
              <a:t>Every request enters through the core, so the whole application remains a single architecture quantum — even when plug-ins are reached remotely over REST or messaging. Plug-ins are point-to-point by default, mutually independent, and either compile-based or hot-swappable at runtime (OSGi, Jigsaw, Prism).</a:t>
            </a:r>
            <a:endParaRPr lang="en-US" sz="1250" dirty="0"/>
          </a:p>
        </p:txBody>
      </p:sp>
      <p:sp>
        <p:nvSpPr>
          <p:cNvPr id="4" name="Shape 25">
            <a:extLst>
              <a:ext uri="{FF2B5EF4-FFF2-40B4-BE49-F238E27FC236}">
                <a16:creationId xmlns:a16="http://schemas.microsoft.com/office/drawing/2014/main" id="{4826E084-097F-EA5B-94C2-5D81AD3C0DD9}"/>
              </a:ext>
            </a:extLst>
          </p:cNvPr>
          <p:cNvSpPr/>
          <p:nvPr/>
        </p:nvSpPr>
        <p:spPr>
          <a:xfrm flipH="1">
            <a:off x="3995928" y="3621024"/>
            <a:ext cx="2075687" cy="667512"/>
          </a:xfrm>
          <a:prstGeom prst="line">
            <a:avLst/>
          </a:prstGeom>
          <a:noFill/>
          <a:ln w="15875">
            <a:solidFill>
              <a:srgbClr val="C77B24"/>
            </a:solidFill>
            <a:prstDash val="solid"/>
            <a:tailEnd type="triangle"/>
          </a:ln>
        </p:spPr>
        <p:txBody>
          <a:bodyPr/>
          <a:lstStyle/>
          <a:p>
            <a:endParaRPr lang="en-US"/>
          </a:p>
        </p:txBody>
      </p:sp>
      <p:sp>
        <p:nvSpPr>
          <p:cNvPr id="37" name="Shape 28">
            <a:extLst>
              <a:ext uri="{FF2B5EF4-FFF2-40B4-BE49-F238E27FC236}">
                <a16:creationId xmlns:a16="http://schemas.microsoft.com/office/drawing/2014/main" id="{456B85AB-CFA5-F3CC-8412-64BF55BCC6F7}"/>
              </a:ext>
            </a:extLst>
          </p:cNvPr>
          <p:cNvSpPr/>
          <p:nvPr/>
        </p:nvSpPr>
        <p:spPr>
          <a:xfrm flipH="1">
            <a:off x="1950720" y="3621024"/>
            <a:ext cx="4120895" cy="667512"/>
          </a:xfrm>
          <a:prstGeom prst="line">
            <a:avLst/>
          </a:prstGeom>
          <a:noFill/>
          <a:ln w="15875">
            <a:solidFill>
              <a:srgbClr val="C77B24"/>
            </a:solidFill>
            <a:prstDash val="solid"/>
            <a:tailEnd type="triangle"/>
          </a:ln>
        </p:spPr>
        <p:txBody>
          <a:body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Microkernel mechanics: registry, contracts, coupling</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7</a:t>
            </a:r>
            <a:endParaRPr lang="en-US" sz="1000" dirty="0"/>
          </a:p>
        </p:txBody>
      </p:sp>
      <p:sp>
        <p:nvSpPr>
          <p:cNvPr id="7" name="Shape 5"/>
          <p:cNvSpPr/>
          <p:nvPr/>
        </p:nvSpPr>
        <p:spPr>
          <a:xfrm>
            <a:off x="566928" y="1234440"/>
            <a:ext cx="11064240" cy="914400"/>
          </a:xfrm>
          <a:prstGeom prst="roundRect">
            <a:avLst>
              <a:gd name="adj" fmla="val 6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362456"/>
            <a:ext cx="2103120" cy="658368"/>
          </a:xfrm>
          <a:prstGeom prst="rect">
            <a:avLst/>
          </a:prstGeom>
          <a:noFill/>
          <a:ln/>
        </p:spPr>
        <p:txBody>
          <a:bodyPr wrap="square" lIns="0" tIns="0" rIns="0" bIns="0" rtlCol="0" anchor="ctr"/>
          <a:lstStyle/>
          <a:p>
            <a:pPr marL="0" indent="0">
              <a:buNone/>
            </a:pPr>
            <a:r>
              <a:rPr lang="en-US" b="1" dirty="0">
                <a:solidFill>
                  <a:srgbClr val="C77B24"/>
                </a:solidFill>
                <a:latin typeface="Calibri" pitchFamily="34" charset="0"/>
                <a:ea typeface="Calibri" pitchFamily="34" charset="-122"/>
                <a:cs typeface="Calibri" pitchFamily="34" charset="-120"/>
              </a:rPr>
              <a:t>Registry</a:t>
            </a:r>
            <a:endParaRPr lang="en-US" dirty="0"/>
          </a:p>
        </p:txBody>
      </p:sp>
      <p:sp>
        <p:nvSpPr>
          <p:cNvPr id="9" name="Text 7"/>
          <p:cNvSpPr txBox="1"/>
          <p:nvPr/>
        </p:nvSpPr>
        <p:spPr>
          <a:xfrm>
            <a:off x="3063240" y="1362456"/>
            <a:ext cx="8275320" cy="658368"/>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Tells the core which plug-ins exist and how to reach them: name, data contract, protocol details. It can be a HashMap inside the core or an external discovery tool such as ZooKeeper or Consul.</a:t>
            </a:r>
            <a:endParaRPr lang="en-US" sz="1250" dirty="0"/>
          </a:p>
        </p:txBody>
      </p:sp>
      <p:sp>
        <p:nvSpPr>
          <p:cNvPr id="10" name="Shape 8"/>
          <p:cNvSpPr/>
          <p:nvPr/>
        </p:nvSpPr>
        <p:spPr>
          <a:xfrm>
            <a:off x="566928" y="2221992"/>
            <a:ext cx="11064240" cy="914400"/>
          </a:xfrm>
          <a:prstGeom prst="roundRect">
            <a:avLst>
              <a:gd name="adj" fmla="val 6000"/>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868680" y="2350008"/>
            <a:ext cx="2103120" cy="658368"/>
          </a:xfrm>
          <a:prstGeom prst="rect">
            <a:avLst/>
          </a:prstGeom>
          <a:noFill/>
          <a:ln/>
        </p:spPr>
        <p:txBody>
          <a:bodyPr wrap="square" lIns="0" tIns="0" rIns="0" bIns="0" rtlCol="0" anchor="ctr"/>
          <a:lstStyle/>
          <a:p>
            <a:pPr marL="0" indent="0">
              <a:buNone/>
            </a:pPr>
            <a:r>
              <a:rPr lang="en-US" b="1" dirty="0">
                <a:solidFill>
                  <a:srgbClr val="C77B24"/>
                </a:solidFill>
                <a:latin typeface="Calibri" pitchFamily="34" charset="0"/>
                <a:ea typeface="Calibri" pitchFamily="34" charset="-122"/>
                <a:cs typeface="Calibri" pitchFamily="34" charset="-120"/>
              </a:rPr>
              <a:t>Contracts</a:t>
            </a:r>
            <a:endParaRPr lang="en-US" dirty="0"/>
          </a:p>
        </p:txBody>
      </p:sp>
      <p:sp>
        <p:nvSpPr>
          <p:cNvPr id="12" name="Text 10"/>
          <p:cNvSpPr txBox="1"/>
          <p:nvPr/>
        </p:nvSpPr>
        <p:spPr>
          <a:xfrm>
            <a:off x="3063240" y="2350008"/>
            <a:ext cx="8275320" cy="658368"/>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Usually, one standard contract per plug-in domain covering behaviour, input and output. Third-party plug-ins get an adapter, so the core needs no special-case code. Implemented as interfaces, XML or JSON.</a:t>
            </a:r>
            <a:endParaRPr lang="en-US" sz="1250" dirty="0"/>
          </a:p>
        </p:txBody>
      </p:sp>
      <p:sp>
        <p:nvSpPr>
          <p:cNvPr id="13" name="Shape 11"/>
          <p:cNvSpPr/>
          <p:nvPr/>
        </p:nvSpPr>
        <p:spPr>
          <a:xfrm>
            <a:off x="566928" y="3209544"/>
            <a:ext cx="11064240" cy="914400"/>
          </a:xfrm>
          <a:prstGeom prst="roundRect">
            <a:avLst>
              <a:gd name="adj" fmla="val 6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68680" y="3337560"/>
            <a:ext cx="2103120" cy="658368"/>
          </a:xfrm>
          <a:prstGeom prst="rect">
            <a:avLst/>
          </a:prstGeom>
          <a:noFill/>
          <a:ln/>
        </p:spPr>
        <p:txBody>
          <a:bodyPr wrap="square" lIns="0" tIns="0" rIns="0" bIns="0" rtlCol="0" anchor="ctr"/>
          <a:lstStyle/>
          <a:p>
            <a:pPr marL="0" indent="0">
              <a:buNone/>
            </a:pPr>
            <a:r>
              <a:rPr lang="en-US" b="1" dirty="0">
                <a:solidFill>
                  <a:srgbClr val="C77B24"/>
                </a:solidFill>
                <a:latin typeface="Calibri" pitchFamily="34" charset="0"/>
                <a:ea typeface="Calibri" pitchFamily="34" charset="-122"/>
                <a:cs typeface="Calibri" pitchFamily="34" charset="-120"/>
              </a:rPr>
              <a:t>Binding time</a:t>
            </a:r>
            <a:endParaRPr lang="en-US" dirty="0"/>
          </a:p>
        </p:txBody>
      </p:sp>
      <p:sp>
        <p:nvSpPr>
          <p:cNvPr id="15" name="Text 13"/>
          <p:cNvSpPr txBox="1"/>
          <p:nvPr/>
        </p:nvSpPr>
        <p:spPr>
          <a:xfrm>
            <a:off x="3063240" y="3337560"/>
            <a:ext cx="8275320" cy="658368"/>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Compile-based plug-ins are simpler but force a full redeployment. Runtime plug-ins can be added or removed without redeploying the core the basis of every extension marketplace.</a:t>
            </a:r>
            <a:endParaRPr lang="en-US" sz="1250" dirty="0"/>
          </a:p>
        </p:txBody>
      </p:sp>
      <p:sp>
        <p:nvSpPr>
          <p:cNvPr id="16" name="Shape 14"/>
          <p:cNvSpPr/>
          <p:nvPr/>
        </p:nvSpPr>
        <p:spPr>
          <a:xfrm>
            <a:off x="566928" y="4197096"/>
            <a:ext cx="11064240" cy="914400"/>
          </a:xfrm>
          <a:prstGeom prst="roundRect">
            <a:avLst>
              <a:gd name="adj" fmla="val 6000"/>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868680" y="4325112"/>
            <a:ext cx="2103120" cy="658368"/>
          </a:xfrm>
          <a:prstGeom prst="rect">
            <a:avLst/>
          </a:prstGeom>
          <a:noFill/>
          <a:ln/>
        </p:spPr>
        <p:txBody>
          <a:bodyPr wrap="square" lIns="0" tIns="0" rIns="0" bIns="0" rtlCol="0" anchor="ctr"/>
          <a:lstStyle/>
          <a:p>
            <a:pPr marL="0" indent="0">
              <a:buNone/>
            </a:pPr>
            <a:r>
              <a:rPr lang="en-US" b="1" dirty="0">
                <a:solidFill>
                  <a:srgbClr val="C77B24"/>
                </a:solidFill>
                <a:latin typeface="Calibri" pitchFamily="34" charset="0"/>
                <a:ea typeface="Calibri" pitchFamily="34" charset="-122"/>
                <a:cs typeface="Calibri" pitchFamily="34" charset="-120"/>
              </a:rPr>
              <a:t>Data access</a:t>
            </a:r>
            <a:endParaRPr lang="en-US" dirty="0"/>
          </a:p>
        </p:txBody>
      </p:sp>
      <p:sp>
        <p:nvSpPr>
          <p:cNvPr id="18" name="Text 16"/>
          <p:cNvSpPr txBox="1"/>
          <p:nvPr/>
        </p:nvSpPr>
        <p:spPr>
          <a:xfrm>
            <a:off x="3063240" y="4325112"/>
            <a:ext cx="8275320" cy="658368"/>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Plug-ins normally do not touch the central database; the core passes data in. That keeps schema changes inside the core. A plug-in may own a private store or embedded rules engine.</a:t>
            </a:r>
            <a:endParaRPr lang="en-US" sz="1250" dirty="0"/>
          </a:p>
        </p:txBody>
      </p:sp>
      <p:sp>
        <p:nvSpPr>
          <p:cNvPr id="19" name="Shape 17"/>
          <p:cNvSpPr/>
          <p:nvPr/>
        </p:nvSpPr>
        <p:spPr>
          <a:xfrm>
            <a:off x="566928" y="5184648"/>
            <a:ext cx="11064240" cy="914400"/>
          </a:xfrm>
          <a:prstGeom prst="roundRect">
            <a:avLst>
              <a:gd name="adj" fmla="val 6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0" name="Text 18"/>
          <p:cNvSpPr txBox="1"/>
          <p:nvPr/>
        </p:nvSpPr>
        <p:spPr>
          <a:xfrm>
            <a:off x="868680" y="5312664"/>
            <a:ext cx="2103120" cy="658368"/>
          </a:xfrm>
          <a:prstGeom prst="rect">
            <a:avLst/>
          </a:prstGeom>
          <a:noFill/>
          <a:ln/>
        </p:spPr>
        <p:txBody>
          <a:bodyPr wrap="square" lIns="0" tIns="0" rIns="0" bIns="0" rtlCol="0" anchor="ctr"/>
          <a:lstStyle/>
          <a:p>
            <a:pPr marL="0" indent="0">
              <a:buNone/>
            </a:pPr>
            <a:r>
              <a:rPr lang="en-US" b="1" dirty="0">
                <a:solidFill>
                  <a:srgbClr val="C77B24"/>
                </a:solidFill>
                <a:latin typeface="Calibri" pitchFamily="34" charset="0"/>
                <a:ea typeface="Calibri" pitchFamily="34" charset="-122"/>
                <a:cs typeface="Calibri" pitchFamily="34" charset="-120"/>
              </a:rPr>
              <a:t>Remote plug-ins</a:t>
            </a:r>
            <a:endParaRPr lang="en-US" dirty="0"/>
          </a:p>
        </p:txBody>
      </p:sp>
      <p:sp>
        <p:nvSpPr>
          <p:cNvPr id="21" name="Text 19"/>
          <p:cNvSpPr txBox="1"/>
          <p:nvPr/>
        </p:nvSpPr>
        <p:spPr>
          <a:xfrm>
            <a:off x="3063240" y="5312664"/>
            <a:ext cx="8275320" cy="658368"/>
          </a:xfrm>
          <a:prstGeom prst="rect">
            <a:avLst/>
          </a:prstGeom>
          <a:noFill/>
          <a:ln/>
        </p:spPr>
        <p:txBody>
          <a:bodyPr wrap="square" lIns="0" tIns="0" rIns="0" bIns="0" rtlCol="0" anchor="ctr"/>
          <a:lstStyle/>
          <a:p>
            <a:pPr marL="0" indent="0">
              <a:buNone/>
            </a:pPr>
            <a:r>
              <a:rPr lang="en-US" sz="1250" dirty="0">
                <a:solidFill>
                  <a:srgbClr val="1F3644"/>
                </a:solidFill>
                <a:latin typeface="Calibri" pitchFamily="34" charset="0"/>
                <a:ea typeface="Calibri" pitchFamily="34" charset="-122"/>
                <a:cs typeface="Calibri" pitchFamily="34" charset="-120"/>
              </a:rPr>
              <a:t>Reaching plug-ins over REST or messaging buys decoupling, throughput and asynchrony but turns a monolith into a distributed system and makes an unreachable plug-in a failed request.</a:t>
            </a:r>
            <a:endParaRPr lang="en-US" sz="12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Microkernel: trade-offs</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658368" y="1207008"/>
            <a:ext cx="5074920" cy="713232"/>
          </a:xfrm>
          <a:prstGeom prst="roundRect">
            <a:avLst>
              <a:gd name="adj" fmla="val 769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86968" y="1298448"/>
            <a:ext cx="2194560" cy="237744"/>
          </a:xfrm>
          <a:prstGeom prst="rect">
            <a:avLst/>
          </a:prstGeom>
          <a:noFill/>
          <a:ln/>
        </p:spPr>
        <p:txBody>
          <a:bodyPr wrap="square" lIns="0" tIns="0" rIns="0" bIns="0" rtlCol="0" anchor="ctr"/>
          <a:lstStyle/>
          <a:p>
            <a:pPr marL="0" indent="0">
              <a:buNone/>
            </a:pPr>
            <a:r>
              <a:rPr lang="en-US" sz="1000" dirty="0">
                <a:solidFill>
                  <a:srgbClr val="62757F"/>
                </a:solidFill>
                <a:latin typeface="Calibri" pitchFamily="34" charset="0"/>
                <a:ea typeface="Calibri" pitchFamily="34" charset="-122"/>
                <a:cs typeface="Calibri" pitchFamily="34" charset="-120"/>
              </a:rPr>
              <a:t>Partitioning</a:t>
            </a:r>
            <a:endParaRPr lang="en-US" sz="1000" dirty="0"/>
          </a:p>
        </p:txBody>
      </p:sp>
      <p:sp>
        <p:nvSpPr>
          <p:cNvPr id="9" name="Text 7"/>
          <p:cNvSpPr txBox="1"/>
          <p:nvPr/>
        </p:nvSpPr>
        <p:spPr>
          <a:xfrm>
            <a:off x="886968" y="1536192"/>
            <a:ext cx="2286000" cy="274320"/>
          </a:xfrm>
          <a:prstGeom prst="rect">
            <a:avLst/>
          </a:prstGeom>
          <a:noFill/>
          <a:ln/>
        </p:spPr>
        <p:txBody>
          <a:bodyPr wrap="square" lIns="0" tIns="0" rIns="0" bIns="0" rtlCol="0" anchor="ctr"/>
          <a:lstStyle/>
          <a:p>
            <a:pPr marL="0" indent="0">
              <a:buNone/>
            </a:pPr>
            <a:r>
              <a:rPr lang="en-US" sz="1300" b="1" dirty="0">
                <a:solidFill>
                  <a:srgbClr val="14242E"/>
                </a:solidFill>
                <a:latin typeface="Calibri" pitchFamily="34" charset="0"/>
                <a:ea typeface="Calibri" pitchFamily="34" charset="-122"/>
                <a:cs typeface="Calibri" pitchFamily="34" charset="-120"/>
              </a:rPr>
              <a:t>Domain AND technical</a:t>
            </a:r>
            <a:endParaRPr lang="en-US" sz="1300" dirty="0"/>
          </a:p>
        </p:txBody>
      </p:sp>
      <p:sp>
        <p:nvSpPr>
          <p:cNvPr id="10" name="Text 8"/>
          <p:cNvSpPr txBox="1"/>
          <p:nvPr/>
        </p:nvSpPr>
        <p:spPr>
          <a:xfrm>
            <a:off x="3401568" y="1298448"/>
            <a:ext cx="2194560" cy="237744"/>
          </a:xfrm>
          <a:prstGeom prst="rect">
            <a:avLst/>
          </a:prstGeom>
          <a:noFill/>
          <a:ln/>
        </p:spPr>
        <p:txBody>
          <a:bodyPr wrap="square" lIns="0" tIns="0" rIns="0" bIns="0" rtlCol="0" anchor="ctr"/>
          <a:lstStyle/>
          <a:p>
            <a:pPr marL="0" indent="0">
              <a:buNone/>
            </a:pPr>
            <a:r>
              <a:rPr lang="en-US" sz="1000" dirty="0">
                <a:solidFill>
                  <a:srgbClr val="62757F"/>
                </a:solidFill>
                <a:latin typeface="Calibri" pitchFamily="34" charset="0"/>
                <a:ea typeface="Calibri" pitchFamily="34" charset="-122"/>
                <a:cs typeface="Calibri" pitchFamily="34" charset="-120"/>
              </a:rPr>
              <a:t>Architecture quanta</a:t>
            </a:r>
            <a:endParaRPr lang="en-US" sz="1000" dirty="0"/>
          </a:p>
        </p:txBody>
      </p:sp>
      <p:sp>
        <p:nvSpPr>
          <p:cNvPr id="11" name="Text 9"/>
          <p:cNvSpPr txBox="1"/>
          <p:nvPr/>
        </p:nvSpPr>
        <p:spPr>
          <a:xfrm>
            <a:off x="3401568" y="1536192"/>
            <a:ext cx="2286000" cy="274320"/>
          </a:xfrm>
          <a:prstGeom prst="rect">
            <a:avLst/>
          </a:prstGeom>
          <a:noFill/>
          <a:ln/>
        </p:spPr>
        <p:txBody>
          <a:bodyPr wrap="square" lIns="0" tIns="0" rIns="0" bIns="0" rtlCol="0" anchor="ctr"/>
          <a:lstStyle/>
          <a:p>
            <a:pPr marL="0" indent="0">
              <a:buNone/>
            </a:pPr>
            <a:r>
              <a:rPr lang="en-US" sz="1300" b="1" dirty="0">
                <a:solidFill>
                  <a:srgbClr val="14242E"/>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704088" y="208483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Deployability</a:t>
            </a:r>
            <a:endParaRPr lang="en-US" sz="1300" dirty="0"/>
          </a:p>
        </p:txBody>
      </p:sp>
      <p:sp>
        <p:nvSpPr>
          <p:cNvPr id="13" name="Shape 11"/>
          <p:cNvSpPr/>
          <p:nvPr/>
        </p:nvSpPr>
        <p:spPr>
          <a:xfrm>
            <a:off x="3035808" y="2144268"/>
            <a:ext cx="132588" cy="132588"/>
          </a:xfrm>
          <a:prstGeom prst="ellipse">
            <a:avLst/>
          </a:prstGeom>
          <a:solidFill>
            <a:srgbClr val="C77B24"/>
          </a:solidFill>
          <a:ln/>
        </p:spPr>
        <p:txBody>
          <a:bodyPr/>
          <a:lstStyle/>
          <a:p>
            <a:endParaRPr lang="en-US"/>
          </a:p>
        </p:txBody>
      </p:sp>
      <p:sp>
        <p:nvSpPr>
          <p:cNvPr id="14" name="Shape 12"/>
          <p:cNvSpPr/>
          <p:nvPr/>
        </p:nvSpPr>
        <p:spPr>
          <a:xfrm>
            <a:off x="3218688" y="2144268"/>
            <a:ext cx="132588" cy="132588"/>
          </a:xfrm>
          <a:prstGeom prst="ellipse">
            <a:avLst/>
          </a:prstGeom>
          <a:solidFill>
            <a:srgbClr val="C77B24"/>
          </a:solidFill>
          <a:ln/>
        </p:spPr>
        <p:txBody>
          <a:bodyPr/>
          <a:lstStyle/>
          <a:p>
            <a:endParaRPr lang="en-US"/>
          </a:p>
        </p:txBody>
      </p:sp>
      <p:sp>
        <p:nvSpPr>
          <p:cNvPr id="15" name="Shape 13"/>
          <p:cNvSpPr/>
          <p:nvPr/>
        </p:nvSpPr>
        <p:spPr>
          <a:xfrm>
            <a:off x="3401568" y="2144268"/>
            <a:ext cx="132588" cy="132588"/>
          </a:xfrm>
          <a:prstGeom prst="ellipse">
            <a:avLst/>
          </a:prstGeom>
          <a:solidFill>
            <a:srgbClr val="C77B24"/>
          </a:solidFill>
          <a:ln/>
        </p:spPr>
        <p:txBody>
          <a:bodyPr/>
          <a:lstStyle/>
          <a:p>
            <a:endParaRPr lang="en-US"/>
          </a:p>
        </p:txBody>
      </p:sp>
      <p:sp>
        <p:nvSpPr>
          <p:cNvPr id="16" name="Shape 14"/>
          <p:cNvSpPr/>
          <p:nvPr/>
        </p:nvSpPr>
        <p:spPr>
          <a:xfrm>
            <a:off x="3584448" y="2144268"/>
            <a:ext cx="132588" cy="132588"/>
          </a:xfrm>
          <a:prstGeom prst="ellipse">
            <a:avLst/>
          </a:prstGeom>
          <a:solidFill>
            <a:srgbClr val="D2DBDF"/>
          </a:solidFill>
          <a:ln/>
        </p:spPr>
        <p:txBody>
          <a:bodyPr/>
          <a:lstStyle/>
          <a:p>
            <a:endParaRPr lang="en-US"/>
          </a:p>
        </p:txBody>
      </p:sp>
      <p:sp>
        <p:nvSpPr>
          <p:cNvPr id="17" name="Shape 15"/>
          <p:cNvSpPr/>
          <p:nvPr/>
        </p:nvSpPr>
        <p:spPr>
          <a:xfrm>
            <a:off x="3767328" y="2144268"/>
            <a:ext cx="132588" cy="132588"/>
          </a:xfrm>
          <a:prstGeom prst="ellipse">
            <a:avLst/>
          </a:prstGeom>
          <a:solidFill>
            <a:srgbClr val="D2DBDF"/>
          </a:solidFill>
          <a:ln/>
        </p:spPr>
        <p:txBody>
          <a:bodyPr/>
          <a:lstStyle/>
          <a:p>
            <a:endParaRPr lang="en-US"/>
          </a:p>
        </p:txBody>
      </p:sp>
      <p:sp>
        <p:nvSpPr>
          <p:cNvPr id="18" name="Text 16"/>
          <p:cNvSpPr txBox="1"/>
          <p:nvPr/>
        </p:nvSpPr>
        <p:spPr>
          <a:xfrm>
            <a:off x="4087368" y="208483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19" name="Text 17"/>
          <p:cNvSpPr txBox="1"/>
          <p:nvPr/>
        </p:nvSpPr>
        <p:spPr>
          <a:xfrm>
            <a:off x="704088" y="2436876"/>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Elasticity</a:t>
            </a:r>
            <a:endParaRPr lang="en-US" sz="1300" dirty="0"/>
          </a:p>
        </p:txBody>
      </p:sp>
      <p:sp>
        <p:nvSpPr>
          <p:cNvPr id="20" name="Shape 18"/>
          <p:cNvSpPr/>
          <p:nvPr/>
        </p:nvSpPr>
        <p:spPr>
          <a:xfrm>
            <a:off x="3035808" y="2496312"/>
            <a:ext cx="132588" cy="132588"/>
          </a:xfrm>
          <a:prstGeom prst="ellipse">
            <a:avLst/>
          </a:prstGeom>
          <a:solidFill>
            <a:srgbClr val="C77B24"/>
          </a:solidFill>
          <a:ln/>
        </p:spPr>
        <p:txBody>
          <a:bodyPr/>
          <a:lstStyle/>
          <a:p>
            <a:endParaRPr lang="en-US"/>
          </a:p>
        </p:txBody>
      </p:sp>
      <p:sp>
        <p:nvSpPr>
          <p:cNvPr id="21" name="Shape 19"/>
          <p:cNvSpPr/>
          <p:nvPr/>
        </p:nvSpPr>
        <p:spPr>
          <a:xfrm>
            <a:off x="3218688" y="2496312"/>
            <a:ext cx="132588" cy="132588"/>
          </a:xfrm>
          <a:prstGeom prst="ellipse">
            <a:avLst/>
          </a:prstGeom>
          <a:solidFill>
            <a:srgbClr val="D2DBDF"/>
          </a:solidFill>
          <a:ln/>
        </p:spPr>
        <p:txBody>
          <a:bodyPr/>
          <a:lstStyle/>
          <a:p>
            <a:endParaRPr lang="en-US"/>
          </a:p>
        </p:txBody>
      </p:sp>
      <p:sp>
        <p:nvSpPr>
          <p:cNvPr id="22" name="Shape 20"/>
          <p:cNvSpPr/>
          <p:nvPr/>
        </p:nvSpPr>
        <p:spPr>
          <a:xfrm>
            <a:off x="3401568" y="2496312"/>
            <a:ext cx="132588" cy="132588"/>
          </a:xfrm>
          <a:prstGeom prst="ellipse">
            <a:avLst/>
          </a:prstGeom>
          <a:solidFill>
            <a:srgbClr val="D2DBDF"/>
          </a:solidFill>
          <a:ln/>
        </p:spPr>
        <p:txBody>
          <a:bodyPr/>
          <a:lstStyle/>
          <a:p>
            <a:endParaRPr lang="en-US"/>
          </a:p>
        </p:txBody>
      </p:sp>
      <p:sp>
        <p:nvSpPr>
          <p:cNvPr id="23" name="Shape 21"/>
          <p:cNvSpPr/>
          <p:nvPr/>
        </p:nvSpPr>
        <p:spPr>
          <a:xfrm>
            <a:off x="3584448" y="2496312"/>
            <a:ext cx="132588" cy="132588"/>
          </a:xfrm>
          <a:prstGeom prst="ellipse">
            <a:avLst/>
          </a:prstGeom>
          <a:solidFill>
            <a:srgbClr val="D2DBDF"/>
          </a:solidFill>
          <a:ln/>
        </p:spPr>
        <p:txBody>
          <a:bodyPr/>
          <a:lstStyle/>
          <a:p>
            <a:endParaRPr lang="en-US"/>
          </a:p>
        </p:txBody>
      </p:sp>
      <p:sp>
        <p:nvSpPr>
          <p:cNvPr id="24" name="Shape 22"/>
          <p:cNvSpPr/>
          <p:nvPr/>
        </p:nvSpPr>
        <p:spPr>
          <a:xfrm>
            <a:off x="3767328" y="2496312"/>
            <a:ext cx="132588" cy="132588"/>
          </a:xfrm>
          <a:prstGeom prst="ellipse">
            <a:avLst/>
          </a:prstGeom>
          <a:solidFill>
            <a:srgbClr val="D2DBDF"/>
          </a:solidFill>
          <a:ln/>
        </p:spPr>
        <p:txBody>
          <a:bodyPr/>
          <a:lstStyle/>
          <a:p>
            <a:endParaRPr lang="en-US"/>
          </a:p>
        </p:txBody>
      </p:sp>
      <p:sp>
        <p:nvSpPr>
          <p:cNvPr id="25" name="Text 23"/>
          <p:cNvSpPr txBox="1"/>
          <p:nvPr/>
        </p:nvSpPr>
        <p:spPr>
          <a:xfrm>
            <a:off x="4087368" y="2436876"/>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1/5</a:t>
            </a:r>
            <a:endParaRPr lang="en-US" sz="1100" dirty="0"/>
          </a:p>
        </p:txBody>
      </p:sp>
      <p:sp>
        <p:nvSpPr>
          <p:cNvPr id="26" name="Text 24"/>
          <p:cNvSpPr txBox="1"/>
          <p:nvPr/>
        </p:nvSpPr>
        <p:spPr>
          <a:xfrm>
            <a:off x="704088" y="2788920"/>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Evolutionary</a:t>
            </a:r>
            <a:endParaRPr lang="en-US" sz="1300" dirty="0"/>
          </a:p>
        </p:txBody>
      </p:sp>
      <p:sp>
        <p:nvSpPr>
          <p:cNvPr id="27" name="Shape 25"/>
          <p:cNvSpPr/>
          <p:nvPr/>
        </p:nvSpPr>
        <p:spPr>
          <a:xfrm>
            <a:off x="3035808" y="2848356"/>
            <a:ext cx="132588" cy="132588"/>
          </a:xfrm>
          <a:prstGeom prst="ellipse">
            <a:avLst/>
          </a:prstGeom>
          <a:solidFill>
            <a:srgbClr val="C77B24"/>
          </a:solidFill>
          <a:ln/>
        </p:spPr>
        <p:txBody>
          <a:bodyPr/>
          <a:lstStyle/>
          <a:p>
            <a:endParaRPr lang="en-US"/>
          </a:p>
        </p:txBody>
      </p:sp>
      <p:sp>
        <p:nvSpPr>
          <p:cNvPr id="28" name="Shape 26"/>
          <p:cNvSpPr/>
          <p:nvPr/>
        </p:nvSpPr>
        <p:spPr>
          <a:xfrm>
            <a:off x="3218688" y="2848356"/>
            <a:ext cx="132588" cy="132588"/>
          </a:xfrm>
          <a:prstGeom prst="ellipse">
            <a:avLst/>
          </a:prstGeom>
          <a:solidFill>
            <a:srgbClr val="C77B24"/>
          </a:solidFill>
          <a:ln/>
        </p:spPr>
        <p:txBody>
          <a:bodyPr/>
          <a:lstStyle/>
          <a:p>
            <a:endParaRPr lang="en-US"/>
          </a:p>
        </p:txBody>
      </p:sp>
      <p:sp>
        <p:nvSpPr>
          <p:cNvPr id="29" name="Shape 27"/>
          <p:cNvSpPr/>
          <p:nvPr/>
        </p:nvSpPr>
        <p:spPr>
          <a:xfrm>
            <a:off x="3401568" y="2848356"/>
            <a:ext cx="132588" cy="132588"/>
          </a:xfrm>
          <a:prstGeom prst="ellipse">
            <a:avLst/>
          </a:prstGeom>
          <a:solidFill>
            <a:srgbClr val="C77B24"/>
          </a:solidFill>
          <a:ln/>
        </p:spPr>
        <p:txBody>
          <a:bodyPr/>
          <a:lstStyle/>
          <a:p>
            <a:endParaRPr lang="en-US"/>
          </a:p>
        </p:txBody>
      </p:sp>
      <p:sp>
        <p:nvSpPr>
          <p:cNvPr id="30" name="Shape 28"/>
          <p:cNvSpPr/>
          <p:nvPr/>
        </p:nvSpPr>
        <p:spPr>
          <a:xfrm>
            <a:off x="3584448" y="2848356"/>
            <a:ext cx="132588" cy="132588"/>
          </a:xfrm>
          <a:prstGeom prst="ellipse">
            <a:avLst/>
          </a:prstGeom>
          <a:solidFill>
            <a:srgbClr val="D2DBDF"/>
          </a:solidFill>
          <a:ln/>
        </p:spPr>
        <p:txBody>
          <a:bodyPr/>
          <a:lstStyle/>
          <a:p>
            <a:endParaRPr lang="en-US"/>
          </a:p>
        </p:txBody>
      </p:sp>
      <p:sp>
        <p:nvSpPr>
          <p:cNvPr id="31" name="Shape 29"/>
          <p:cNvSpPr/>
          <p:nvPr/>
        </p:nvSpPr>
        <p:spPr>
          <a:xfrm>
            <a:off x="3767328" y="2848356"/>
            <a:ext cx="132588" cy="132588"/>
          </a:xfrm>
          <a:prstGeom prst="ellipse">
            <a:avLst/>
          </a:prstGeom>
          <a:solidFill>
            <a:srgbClr val="D2DBDF"/>
          </a:solidFill>
          <a:ln/>
        </p:spPr>
        <p:txBody>
          <a:bodyPr/>
          <a:lstStyle/>
          <a:p>
            <a:endParaRPr lang="en-US"/>
          </a:p>
        </p:txBody>
      </p:sp>
      <p:sp>
        <p:nvSpPr>
          <p:cNvPr id="32" name="Text 30"/>
          <p:cNvSpPr txBox="1"/>
          <p:nvPr/>
        </p:nvSpPr>
        <p:spPr>
          <a:xfrm>
            <a:off x="4087368" y="2788920"/>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33" name="Text 31"/>
          <p:cNvSpPr txBox="1"/>
          <p:nvPr/>
        </p:nvSpPr>
        <p:spPr>
          <a:xfrm>
            <a:off x="704088" y="3140964"/>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Fault tolerance</a:t>
            </a:r>
            <a:endParaRPr lang="en-US" sz="1300" dirty="0"/>
          </a:p>
        </p:txBody>
      </p:sp>
      <p:sp>
        <p:nvSpPr>
          <p:cNvPr id="34" name="Shape 32"/>
          <p:cNvSpPr/>
          <p:nvPr/>
        </p:nvSpPr>
        <p:spPr>
          <a:xfrm>
            <a:off x="3035808" y="3200400"/>
            <a:ext cx="132588" cy="132588"/>
          </a:xfrm>
          <a:prstGeom prst="ellipse">
            <a:avLst/>
          </a:prstGeom>
          <a:solidFill>
            <a:srgbClr val="C77B24"/>
          </a:solidFill>
          <a:ln/>
        </p:spPr>
        <p:txBody>
          <a:bodyPr/>
          <a:lstStyle/>
          <a:p>
            <a:endParaRPr lang="en-US"/>
          </a:p>
        </p:txBody>
      </p:sp>
      <p:sp>
        <p:nvSpPr>
          <p:cNvPr id="35" name="Shape 33"/>
          <p:cNvSpPr/>
          <p:nvPr/>
        </p:nvSpPr>
        <p:spPr>
          <a:xfrm>
            <a:off x="3218688" y="3200400"/>
            <a:ext cx="132588" cy="132588"/>
          </a:xfrm>
          <a:prstGeom prst="ellipse">
            <a:avLst/>
          </a:prstGeom>
          <a:solidFill>
            <a:srgbClr val="D2DBDF"/>
          </a:solidFill>
          <a:ln/>
        </p:spPr>
        <p:txBody>
          <a:bodyPr/>
          <a:lstStyle/>
          <a:p>
            <a:endParaRPr lang="en-US"/>
          </a:p>
        </p:txBody>
      </p:sp>
      <p:sp>
        <p:nvSpPr>
          <p:cNvPr id="36" name="Shape 34"/>
          <p:cNvSpPr/>
          <p:nvPr/>
        </p:nvSpPr>
        <p:spPr>
          <a:xfrm>
            <a:off x="3401568" y="3200400"/>
            <a:ext cx="132588" cy="132588"/>
          </a:xfrm>
          <a:prstGeom prst="ellipse">
            <a:avLst/>
          </a:prstGeom>
          <a:solidFill>
            <a:srgbClr val="D2DBDF"/>
          </a:solidFill>
          <a:ln/>
        </p:spPr>
        <p:txBody>
          <a:bodyPr/>
          <a:lstStyle/>
          <a:p>
            <a:endParaRPr lang="en-US"/>
          </a:p>
        </p:txBody>
      </p:sp>
      <p:sp>
        <p:nvSpPr>
          <p:cNvPr id="37" name="Shape 35"/>
          <p:cNvSpPr/>
          <p:nvPr/>
        </p:nvSpPr>
        <p:spPr>
          <a:xfrm>
            <a:off x="3584448" y="3200400"/>
            <a:ext cx="132588" cy="132588"/>
          </a:xfrm>
          <a:prstGeom prst="ellipse">
            <a:avLst/>
          </a:prstGeom>
          <a:solidFill>
            <a:srgbClr val="D2DBDF"/>
          </a:solidFill>
          <a:ln/>
        </p:spPr>
        <p:txBody>
          <a:bodyPr/>
          <a:lstStyle/>
          <a:p>
            <a:endParaRPr lang="en-US"/>
          </a:p>
        </p:txBody>
      </p:sp>
      <p:sp>
        <p:nvSpPr>
          <p:cNvPr id="38" name="Shape 36"/>
          <p:cNvSpPr/>
          <p:nvPr/>
        </p:nvSpPr>
        <p:spPr>
          <a:xfrm>
            <a:off x="3767328" y="3200400"/>
            <a:ext cx="132588" cy="132588"/>
          </a:xfrm>
          <a:prstGeom prst="ellipse">
            <a:avLst/>
          </a:prstGeom>
          <a:solidFill>
            <a:srgbClr val="D2DBDF"/>
          </a:solidFill>
          <a:ln/>
        </p:spPr>
        <p:txBody>
          <a:bodyPr/>
          <a:lstStyle/>
          <a:p>
            <a:endParaRPr lang="en-US"/>
          </a:p>
        </p:txBody>
      </p:sp>
      <p:sp>
        <p:nvSpPr>
          <p:cNvPr id="39" name="Text 37"/>
          <p:cNvSpPr txBox="1"/>
          <p:nvPr/>
        </p:nvSpPr>
        <p:spPr>
          <a:xfrm>
            <a:off x="4087368" y="3140964"/>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1/5</a:t>
            </a:r>
            <a:endParaRPr lang="en-US" sz="1100" dirty="0"/>
          </a:p>
        </p:txBody>
      </p:sp>
      <p:sp>
        <p:nvSpPr>
          <p:cNvPr id="40" name="Text 38"/>
          <p:cNvSpPr txBox="1"/>
          <p:nvPr/>
        </p:nvSpPr>
        <p:spPr>
          <a:xfrm>
            <a:off x="704088" y="3493008"/>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Modularity</a:t>
            </a:r>
            <a:endParaRPr lang="en-US" sz="1300" dirty="0"/>
          </a:p>
        </p:txBody>
      </p:sp>
      <p:sp>
        <p:nvSpPr>
          <p:cNvPr id="41" name="Shape 39"/>
          <p:cNvSpPr/>
          <p:nvPr/>
        </p:nvSpPr>
        <p:spPr>
          <a:xfrm>
            <a:off x="3035808" y="3552444"/>
            <a:ext cx="132588" cy="132588"/>
          </a:xfrm>
          <a:prstGeom prst="ellipse">
            <a:avLst/>
          </a:prstGeom>
          <a:solidFill>
            <a:srgbClr val="C77B24"/>
          </a:solidFill>
          <a:ln/>
        </p:spPr>
        <p:txBody>
          <a:bodyPr/>
          <a:lstStyle/>
          <a:p>
            <a:endParaRPr lang="en-US"/>
          </a:p>
        </p:txBody>
      </p:sp>
      <p:sp>
        <p:nvSpPr>
          <p:cNvPr id="42" name="Shape 40"/>
          <p:cNvSpPr/>
          <p:nvPr/>
        </p:nvSpPr>
        <p:spPr>
          <a:xfrm>
            <a:off x="3218688" y="3552444"/>
            <a:ext cx="132588" cy="132588"/>
          </a:xfrm>
          <a:prstGeom prst="ellipse">
            <a:avLst/>
          </a:prstGeom>
          <a:solidFill>
            <a:srgbClr val="C77B24"/>
          </a:solidFill>
          <a:ln/>
        </p:spPr>
        <p:txBody>
          <a:bodyPr/>
          <a:lstStyle/>
          <a:p>
            <a:endParaRPr lang="en-US"/>
          </a:p>
        </p:txBody>
      </p:sp>
      <p:sp>
        <p:nvSpPr>
          <p:cNvPr id="43" name="Shape 41"/>
          <p:cNvSpPr/>
          <p:nvPr/>
        </p:nvSpPr>
        <p:spPr>
          <a:xfrm>
            <a:off x="3401568" y="3552444"/>
            <a:ext cx="132588" cy="132588"/>
          </a:xfrm>
          <a:prstGeom prst="ellipse">
            <a:avLst/>
          </a:prstGeom>
          <a:solidFill>
            <a:srgbClr val="C77B24"/>
          </a:solidFill>
          <a:ln/>
        </p:spPr>
        <p:txBody>
          <a:bodyPr/>
          <a:lstStyle/>
          <a:p>
            <a:endParaRPr lang="en-US"/>
          </a:p>
        </p:txBody>
      </p:sp>
      <p:sp>
        <p:nvSpPr>
          <p:cNvPr id="44" name="Shape 42"/>
          <p:cNvSpPr/>
          <p:nvPr/>
        </p:nvSpPr>
        <p:spPr>
          <a:xfrm>
            <a:off x="3584448" y="3552444"/>
            <a:ext cx="132588" cy="132588"/>
          </a:xfrm>
          <a:prstGeom prst="ellipse">
            <a:avLst/>
          </a:prstGeom>
          <a:solidFill>
            <a:srgbClr val="D2DBDF"/>
          </a:solidFill>
          <a:ln/>
        </p:spPr>
        <p:txBody>
          <a:bodyPr/>
          <a:lstStyle/>
          <a:p>
            <a:endParaRPr lang="en-US"/>
          </a:p>
        </p:txBody>
      </p:sp>
      <p:sp>
        <p:nvSpPr>
          <p:cNvPr id="45" name="Shape 43"/>
          <p:cNvSpPr/>
          <p:nvPr/>
        </p:nvSpPr>
        <p:spPr>
          <a:xfrm>
            <a:off x="3767328" y="3552444"/>
            <a:ext cx="132588" cy="132588"/>
          </a:xfrm>
          <a:prstGeom prst="ellipse">
            <a:avLst/>
          </a:prstGeom>
          <a:solidFill>
            <a:srgbClr val="D2DBDF"/>
          </a:solidFill>
          <a:ln/>
        </p:spPr>
        <p:txBody>
          <a:bodyPr/>
          <a:lstStyle/>
          <a:p>
            <a:endParaRPr lang="en-US"/>
          </a:p>
        </p:txBody>
      </p:sp>
      <p:sp>
        <p:nvSpPr>
          <p:cNvPr id="46" name="Text 44"/>
          <p:cNvSpPr txBox="1"/>
          <p:nvPr/>
        </p:nvSpPr>
        <p:spPr>
          <a:xfrm>
            <a:off x="4087368" y="3493008"/>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47" name="Text 45"/>
          <p:cNvSpPr txBox="1"/>
          <p:nvPr/>
        </p:nvSpPr>
        <p:spPr>
          <a:xfrm>
            <a:off x="704088" y="384505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Overall cost</a:t>
            </a:r>
            <a:endParaRPr lang="en-US" sz="1300" dirty="0"/>
          </a:p>
        </p:txBody>
      </p:sp>
      <p:sp>
        <p:nvSpPr>
          <p:cNvPr id="48" name="Shape 46"/>
          <p:cNvSpPr/>
          <p:nvPr/>
        </p:nvSpPr>
        <p:spPr>
          <a:xfrm>
            <a:off x="3035808" y="3904488"/>
            <a:ext cx="132588" cy="132588"/>
          </a:xfrm>
          <a:prstGeom prst="ellipse">
            <a:avLst/>
          </a:prstGeom>
          <a:solidFill>
            <a:srgbClr val="C77B24"/>
          </a:solidFill>
          <a:ln/>
        </p:spPr>
        <p:txBody>
          <a:bodyPr/>
          <a:lstStyle/>
          <a:p>
            <a:endParaRPr lang="en-US"/>
          </a:p>
        </p:txBody>
      </p:sp>
      <p:sp>
        <p:nvSpPr>
          <p:cNvPr id="49" name="Shape 47"/>
          <p:cNvSpPr/>
          <p:nvPr/>
        </p:nvSpPr>
        <p:spPr>
          <a:xfrm>
            <a:off x="3218688" y="3904488"/>
            <a:ext cx="132588" cy="132588"/>
          </a:xfrm>
          <a:prstGeom prst="ellipse">
            <a:avLst/>
          </a:prstGeom>
          <a:solidFill>
            <a:srgbClr val="C77B24"/>
          </a:solidFill>
          <a:ln/>
        </p:spPr>
        <p:txBody>
          <a:bodyPr/>
          <a:lstStyle/>
          <a:p>
            <a:endParaRPr lang="en-US"/>
          </a:p>
        </p:txBody>
      </p:sp>
      <p:sp>
        <p:nvSpPr>
          <p:cNvPr id="50" name="Shape 48"/>
          <p:cNvSpPr/>
          <p:nvPr/>
        </p:nvSpPr>
        <p:spPr>
          <a:xfrm>
            <a:off x="3401568" y="3904488"/>
            <a:ext cx="132588" cy="132588"/>
          </a:xfrm>
          <a:prstGeom prst="ellipse">
            <a:avLst/>
          </a:prstGeom>
          <a:solidFill>
            <a:srgbClr val="C77B24"/>
          </a:solidFill>
          <a:ln/>
        </p:spPr>
        <p:txBody>
          <a:bodyPr/>
          <a:lstStyle/>
          <a:p>
            <a:endParaRPr lang="en-US"/>
          </a:p>
        </p:txBody>
      </p:sp>
      <p:sp>
        <p:nvSpPr>
          <p:cNvPr id="51" name="Shape 49"/>
          <p:cNvSpPr/>
          <p:nvPr/>
        </p:nvSpPr>
        <p:spPr>
          <a:xfrm>
            <a:off x="3584448" y="3904488"/>
            <a:ext cx="132588" cy="132588"/>
          </a:xfrm>
          <a:prstGeom prst="ellipse">
            <a:avLst/>
          </a:prstGeom>
          <a:solidFill>
            <a:srgbClr val="C77B24"/>
          </a:solidFill>
          <a:ln/>
        </p:spPr>
        <p:txBody>
          <a:bodyPr/>
          <a:lstStyle/>
          <a:p>
            <a:endParaRPr lang="en-US"/>
          </a:p>
        </p:txBody>
      </p:sp>
      <p:sp>
        <p:nvSpPr>
          <p:cNvPr id="52" name="Shape 50"/>
          <p:cNvSpPr/>
          <p:nvPr/>
        </p:nvSpPr>
        <p:spPr>
          <a:xfrm>
            <a:off x="3767328" y="3904488"/>
            <a:ext cx="132588" cy="132588"/>
          </a:xfrm>
          <a:prstGeom prst="ellipse">
            <a:avLst/>
          </a:prstGeom>
          <a:solidFill>
            <a:srgbClr val="C77B24"/>
          </a:solidFill>
          <a:ln/>
        </p:spPr>
        <p:txBody>
          <a:bodyPr/>
          <a:lstStyle/>
          <a:p>
            <a:endParaRPr lang="en-US"/>
          </a:p>
        </p:txBody>
      </p:sp>
      <p:sp>
        <p:nvSpPr>
          <p:cNvPr id="53" name="Text 51"/>
          <p:cNvSpPr txBox="1"/>
          <p:nvPr/>
        </p:nvSpPr>
        <p:spPr>
          <a:xfrm>
            <a:off x="4087368" y="384505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5/5</a:t>
            </a:r>
            <a:endParaRPr lang="en-US" sz="1100" dirty="0"/>
          </a:p>
        </p:txBody>
      </p:sp>
      <p:sp>
        <p:nvSpPr>
          <p:cNvPr id="54" name="Text 52"/>
          <p:cNvSpPr txBox="1"/>
          <p:nvPr/>
        </p:nvSpPr>
        <p:spPr>
          <a:xfrm>
            <a:off x="704088" y="4197096"/>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Performance</a:t>
            </a:r>
            <a:endParaRPr lang="en-US" sz="1300" dirty="0"/>
          </a:p>
        </p:txBody>
      </p:sp>
      <p:sp>
        <p:nvSpPr>
          <p:cNvPr id="55" name="Shape 53"/>
          <p:cNvSpPr/>
          <p:nvPr/>
        </p:nvSpPr>
        <p:spPr>
          <a:xfrm>
            <a:off x="3035808" y="4256532"/>
            <a:ext cx="132588" cy="132588"/>
          </a:xfrm>
          <a:prstGeom prst="ellipse">
            <a:avLst/>
          </a:prstGeom>
          <a:solidFill>
            <a:srgbClr val="C77B24"/>
          </a:solidFill>
          <a:ln/>
        </p:spPr>
        <p:txBody>
          <a:bodyPr/>
          <a:lstStyle/>
          <a:p>
            <a:endParaRPr lang="en-US"/>
          </a:p>
        </p:txBody>
      </p:sp>
      <p:sp>
        <p:nvSpPr>
          <p:cNvPr id="56" name="Shape 54"/>
          <p:cNvSpPr/>
          <p:nvPr/>
        </p:nvSpPr>
        <p:spPr>
          <a:xfrm>
            <a:off x="3218688" y="4256532"/>
            <a:ext cx="132588" cy="132588"/>
          </a:xfrm>
          <a:prstGeom prst="ellipse">
            <a:avLst/>
          </a:prstGeom>
          <a:solidFill>
            <a:srgbClr val="C77B24"/>
          </a:solidFill>
          <a:ln/>
        </p:spPr>
        <p:txBody>
          <a:bodyPr/>
          <a:lstStyle/>
          <a:p>
            <a:endParaRPr lang="en-US"/>
          </a:p>
        </p:txBody>
      </p:sp>
      <p:sp>
        <p:nvSpPr>
          <p:cNvPr id="57" name="Shape 55"/>
          <p:cNvSpPr/>
          <p:nvPr/>
        </p:nvSpPr>
        <p:spPr>
          <a:xfrm>
            <a:off x="3401568" y="4256532"/>
            <a:ext cx="132588" cy="132588"/>
          </a:xfrm>
          <a:prstGeom prst="ellipse">
            <a:avLst/>
          </a:prstGeom>
          <a:solidFill>
            <a:srgbClr val="C77B24"/>
          </a:solidFill>
          <a:ln/>
        </p:spPr>
        <p:txBody>
          <a:bodyPr/>
          <a:lstStyle/>
          <a:p>
            <a:endParaRPr lang="en-US"/>
          </a:p>
        </p:txBody>
      </p:sp>
      <p:sp>
        <p:nvSpPr>
          <p:cNvPr id="58" name="Shape 56"/>
          <p:cNvSpPr/>
          <p:nvPr/>
        </p:nvSpPr>
        <p:spPr>
          <a:xfrm>
            <a:off x="3584448" y="4256532"/>
            <a:ext cx="132588" cy="132588"/>
          </a:xfrm>
          <a:prstGeom prst="ellipse">
            <a:avLst/>
          </a:prstGeom>
          <a:solidFill>
            <a:srgbClr val="D2DBDF"/>
          </a:solidFill>
          <a:ln/>
        </p:spPr>
        <p:txBody>
          <a:bodyPr/>
          <a:lstStyle/>
          <a:p>
            <a:endParaRPr lang="en-US"/>
          </a:p>
        </p:txBody>
      </p:sp>
      <p:sp>
        <p:nvSpPr>
          <p:cNvPr id="59" name="Shape 57"/>
          <p:cNvSpPr/>
          <p:nvPr/>
        </p:nvSpPr>
        <p:spPr>
          <a:xfrm>
            <a:off x="3767328" y="4256532"/>
            <a:ext cx="132588" cy="132588"/>
          </a:xfrm>
          <a:prstGeom prst="ellipse">
            <a:avLst/>
          </a:prstGeom>
          <a:solidFill>
            <a:srgbClr val="D2DBDF"/>
          </a:solidFill>
          <a:ln/>
        </p:spPr>
        <p:txBody>
          <a:bodyPr/>
          <a:lstStyle/>
          <a:p>
            <a:endParaRPr lang="en-US"/>
          </a:p>
        </p:txBody>
      </p:sp>
      <p:sp>
        <p:nvSpPr>
          <p:cNvPr id="60" name="Text 58"/>
          <p:cNvSpPr txBox="1"/>
          <p:nvPr/>
        </p:nvSpPr>
        <p:spPr>
          <a:xfrm>
            <a:off x="4087368" y="4197096"/>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61" name="Text 59"/>
          <p:cNvSpPr txBox="1"/>
          <p:nvPr/>
        </p:nvSpPr>
        <p:spPr>
          <a:xfrm>
            <a:off x="704088" y="4549140"/>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Reliability</a:t>
            </a:r>
            <a:endParaRPr lang="en-US" sz="1300" dirty="0"/>
          </a:p>
        </p:txBody>
      </p:sp>
      <p:sp>
        <p:nvSpPr>
          <p:cNvPr id="62" name="Shape 60"/>
          <p:cNvSpPr/>
          <p:nvPr/>
        </p:nvSpPr>
        <p:spPr>
          <a:xfrm>
            <a:off x="3035808" y="4608576"/>
            <a:ext cx="132588" cy="132588"/>
          </a:xfrm>
          <a:prstGeom prst="ellipse">
            <a:avLst/>
          </a:prstGeom>
          <a:solidFill>
            <a:srgbClr val="C77B24"/>
          </a:solidFill>
          <a:ln/>
        </p:spPr>
        <p:txBody>
          <a:bodyPr/>
          <a:lstStyle/>
          <a:p>
            <a:endParaRPr lang="en-US"/>
          </a:p>
        </p:txBody>
      </p:sp>
      <p:sp>
        <p:nvSpPr>
          <p:cNvPr id="63" name="Shape 61"/>
          <p:cNvSpPr/>
          <p:nvPr/>
        </p:nvSpPr>
        <p:spPr>
          <a:xfrm>
            <a:off x="3218688" y="4608576"/>
            <a:ext cx="132588" cy="132588"/>
          </a:xfrm>
          <a:prstGeom prst="ellipse">
            <a:avLst/>
          </a:prstGeom>
          <a:solidFill>
            <a:srgbClr val="C77B24"/>
          </a:solidFill>
          <a:ln/>
        </p:spPr>
        <p:txBody>
          <a:bodyPr/>
          <a:lstStyle/>
          <a:p>
            <a:endParaRPr lang="en-US"/>
          </a:p>
        </p:txBody>
      </p:sp>
      <p:sp>
        <p:nvSpPr>
          <p:cNvPr id="64" name="Shape 62"/>
          <p:cNvSpPr/>
          <p:nvPr/>
        </p:nvSpPr>
        <p:spPr>
          <a:xfrm>
            <a:off x="3401568" y="4608576"/>
            <a:ext cx="132588" cy="132588"/>
          </a:xfrm>
          <a:prstGeom prst="ellipse">
            <a:avLst/>
          </a:prstGeom>
          <a:solidFill>
            <a:srgbClr val="C77B24"/>
          </a:solidFill>
          <a:ln/>
        </p:spPr>
        <p:txBody>
          <a:bodyPr/>
          <a:lstStyle/>
          <a:p>
            <a:endParaRPr lang="en-US"/>
          </a:p>
        </p:txBody>
      </p:sp>
      <p:sp>
        <p:nvSpPr>
          <p:cNvPr id="65" name="Shape 63"/>
          <p:cNvSpPr/>
          <p:nvPr/>
        </p:nvSpPr>
        <p:spPr>
          <a:xfrm>
            <a:off x="3584448" y="4608576"/>
            <a:ext cx="132588" cy="132588"/>
          </a:xfrm>
          <a:prstGeom prst="ellipse">
            <a:avLst/>
          </a:prstGeom>
          <a:solidFill>
            <a:srgbClr val="D2DBDF"/>
          </a:solidFill>
          <a:ln/>
        </p:spPr>
        <p:txBody>
          <a:bodyPr/>
          <a:lstStyle/>
          <a:p>
            <a:endParaRPr lang="en-US"/>
          </a:p>
        </p:txBody>
      </p:sp>
      <p:sp>
        <p:nvSpPr>
          <p:cNvPr id="66" name="Shape 64"/>
          <p:cNvSpPr/>
          <p:nvPr/>
        </p:nvSpPr>
        <p:spPr>
          <a:xfrm>
            <a:off x="3767328" y="4608576"/>
            <a:ext cx="132588" cy="132588"/>
          </a:xfrm>
          <a:prstGeom prst="ellipse">
            <a:avLst/>
          </a:prstGeom>
          <a:solidFill>
            <a:srgbClr val="D2DBDF"/>
          </a:solidFill>
          <a:ln/>
        </p:spPr>
        <p:txBody>
          <a:bodyPr/>
          <a:lstStyle/>
          <a:p>
            <a:endParaRPr lang="en-US"/>
          </a:p>
        </p:txBody>
      </p:sp>
      <p:sp>
        <p:nvSpPr>
          <p:cNvPr id="67" name="Text 65"/>
          <p:cNvSpPr txBox="1"/>
          <p:nvPr/>
        </p:nvSpPr>
        <p:spPr>
          <a:xfrm>
            <a:off x="4087368" y="4549140"/>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68" name="Text 66"/>
          <p:cNvSpPr txBox="1"/>
          <p:nvPr/>
        </p:nvSpPr>
        <p:spPr>
          <a:xfrm>
            <a:off x="704088" y="4901184"/>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Scalability</a:t>
            </a:r>
            <a:endParaRPr lang="en-US" sz="1300" dirty="0"/>
          </a:p>
        </p:txBody>
      </p:sp>
      <p:sp>
        <p:nvSpPr>
          <p:cNvPr id="69" name="Shape 67"/>
          <p:cNvSpPr/>
          <p:nvPr/>
        </p:nvSpPr>
        <p:spPr>
          <a:xfrm>
            <a:off x="3035808" y="4960620"/>
            <a:ext cx="132588" cy="132588"/>
          </a:xfrm>
          <a:prstGeom prst="ellipse">
            <a:avLst/>
          </a:prstGeom>
          <a:solidFill>
            <a:srgbClr val="C77B24"/>
          </a:solidFill>
          <a:ln/>
        </p:spPr>
        <p:txBody>
          <a:bodyPr/>
          <a:lstStyle/>
          <a:p>
            <a:endParaRPr lang="en-US"/>
          </a:p>
        </p:txBody>
      </p:sp>
      <p:sp>
        <p:nvSpPr>
          <p:cNvPr id="70" name="Shape 68"/>
          <p:cNvSpPr/>
          <p:nvPr/>
        </p:nvSpPr>
        <p:spPr>
          <a:xfrm>
            <a:off x="3218688" y="4960620"/>
            <a:ext cx="132588" cy="132588"/>
          </a:xfrm>
          <a:prstGeom prst="ellipse">
            <a:avLst/>
          </a:prstGeom>
          <a:solidFill>
            <a:srgbClr val="D2DBDF"/>
          </a:solidFill>
          <a:ln/>
        </p:spPr>
        <p:txBody>
          <a:bodyPr/>
          <a:lstStyle/>
          <a:p>
            <a:endParaRPr lang="en-US"/>
          </a:p>
        </p:txBody>
      </p:sp>
      <p:sp>
        <p:nvSpPr>
          <p:cNvPr id="71" name="Shape 69"/>
          <p:cNvSpPr/>
          <p:nvPr/>
        </p:nvSpPr>
        <p:spPr>
          <a:xfrm>
            <a:off x="3401568" y="4960620"/>
            <a:ext cx="132588" cy="132588"/>
          </a:xfrm>
          <a:prstGeom prst="ellipse">
            <a:avLst/>
          </a:prstGeom>
          <a:solidFill>
            <a:srgbClr val="D2DBDF"/>
          </a:solidFill>
          <a:ln/>
        </p:spPr>
        <p:txBody>
          <a:bodyPr/>
          <a:lstStyle/>
          <a:p>
            <a:endParaRPr lang="en-US"/>
          </a:p>
        </p:txBody>
      </p:sp>
      <p:sp>
        <p:nvSpPr>
          <p:cNvPr id="72" name="Shape 70"/>
          <p:cNvSpPr/>
          <p:nvPr/>
        </p:nvSpPr>
        <p:spPr>
          <a:xfrm>
            <a:off x="3584448" y="4960620"/>
            <a:ext cx="132588" cy="132588"/>
          </a:xfrm>
          <a:prstGeom prst="ellipse">
            <a:avLst/>
          </a:prstGeom>
          <a:solidFill>
            <a:srgbClr val="D2DBDF"/>
          </a:solidFill>
          <a:ln/>
        </p:spPr>
        <p:txBody>
          <a:bodyPr/>
          <a:lstStyle/>
          <a:p>
            <a:endParaRPr lang="en-US"/>
          </a:p>
        </p:txBody>
      </p:sp>
      <p:sp>
        <p:nvSpPr>
          <p:cNvPr id="73" name="Shape 71"/>
          <p:cNvSpPr/>
          <p:nvPr/>
        </p:nvSpPr>
        <p:spPr>
          <a:xfrm>
            <a:off x="3767328" y="4960620"/>
            <a:ext cx="132588" cy="132588"/>
          </a:xfrm>
          <a:prstGeom prst="ellipse">
            <a:avLst/>
          </a:prstGeom>
          <a:solidFill>
            <a:srgbClr val="D2DBDF"/>
          </a:solidFill>
          <a:ln/>
        </p:spPr>
        <p:txBody>
          <a:bodyPr/>
          <a:lstStyle/>
          <a:p>
            <a:endParaRPr lang="en-US"/>
          </a:p>
        </p:txBody>
      </p:sp>
      <p:sp>
        <p:nvSpPr>
          <p:cNvPr id="74" name="Text 72"/>
          <p:cNvSpPr txBox="1"/>
          <p:nvPr/>
        </p:nvSpPr>
        <p:spPr>
          <a:xfrm>
            <a:off x="4087368" y="4901184"/>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1/5</a:t>
            </a:r>
            <a:endParaRPr lang="en-US" sz="1100" dirty="0"/>
          </a:p>
        </p:txBody>
      </p:sp>
      <p:sp>
        <p:nvSpPr>
          <p:cNvPr id="75" name="Text 73"/>
          <p:cNvSpPr txBox="1"/>
          <p:nvPr/>
        </p:nvSpPr>
        <p:spPr>
          <a:xfrm>
            <a:off x="704088" y="5253228"/>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Simplicity</a:t>
            </a:r>
            <a:endParaRPr lang="en-US" sz="1300" dirty="0"/>
          </a:p>
        </p:txBody>
      </p:sp>
      <p:sp>
        <p:nvSpPr>
          <p:cNvPr id="76" name="Shape 74"/>
          <p:cNvSpPr/>
          <p:nvPr/>
        </p:nvSpPr>
        <p:spPr>
          <a:xfrm>
            <a:off x="3035808" y="5312664"/>
            <a:ext cx="132588" cy="132588"/>
          </a:xfrm>
          <a:prstGeom prst="ellipse">
            <a:avLst/>
          </a:prstGeom>
          <a:solidFill>
            <a:srgbClr val="C77B24"/>
          </a:solidFill>
          <a:ln/>
        </p:spPr>
        <p:txBody>
          <a:bodyPr/>
          <a:lstStyle/>
          <a:p>
            <a:endParaRPr lang="en-US"/>
          </a:p>
        </p:txBody>
      </p:sp>
      <p:sp>
        <p:nvSpPr>
          <p:cNvPr id="77" name="Shape 75"/>
          <p:cNvSpPr/>
          <p:nvPr/>
        </p:nvSpPr>
        <p:spPr>
          <a:xfrm>
            <a:off x="3218688" y="5312664"/>
            <a:ext cx="132588" cy="132588"/>
          </a:xfrm>
          <a:prstGeom prst="ellipse">
            <a:avLst/>
          </a:prstGeom>
          <a:solidFill>
            <a:srgbClr val="C77B24"/>
          </a:solidFill>
          <a:ln/>
        </p:spPr>
        <p:txBody>
          <a:bodyPr/>
          <a:lstStyle/>
          <a:p>
            <a:endParaRPr lang="en-US"/>
          </a:p>
        </p:txBody>
      </p:sp>
      <p:sp>
        <p:nvSpPr>
          <p:cNvPr id="78" name="Shape 76"/>
          <p:cNvSpPr/>
          <p:nvPr/>
        </p:nvSpPr>
        <p:spPr>
          <a:xfrm>
            <a:off x="3401568" y="5312664"/>
            <a:ext cx="132588" cy="132588"/>
          </a:xfrm>
          <a:prstGeom prst="ellipse">
            <a:avLst/>
          </a:prstGeom>
          <a:solidFill>
            <a:srgbClr val="C77B24"/>
          </a:solidFill>
          <a:ln/>
        </p:spPr>
        <p:txBody>
          <a:bodyPr/>
          <a:lstStyle/>
          <a:p>
            <a:endParaRPr lang="en-US"/>
          </a:p>
        </p:txBody>
      </p:sp>
      <p:sp>
        <p:nvSpPr>
          <p:cNvPr id="79" name="Shape 77"/>
          <p:cNvSpPr/>
          <p:nvPr/>
        </p:nvSpPr>
        <p:spPr>
          <a:xfrm>
            <a:off x="3584448" y="5312664"/>
            <a:ext cx="132588" cy="132588"/>
          </a:xfrm>
          <a:prstGeom prst="ellipse">
            <a:avLst/>
          </a:prstGeom>
          <a:solidFill>
            <a:srgbClr val="C77B24"/>
          </a:solidFill>
          <a:ln/>
        </p:spPr>
        <p:txBody>
          <a:bodyPr/>
          <a:lstStyle/>
          <a:p>
            <a:endParaRPr lang="en-US"/>
          </a:p>
        </p:txBody>
      </p:sp>
      <p:sp>
        <p:nvSpPr>
          <p:cNvPr id="80" name="Shape 78"/>
          <p:cNvSpPr/>
          <p:nvPr/>
        </p:nvSpPr>
        <p:spPr>
          <a:xfrm>
            <a:off x="3767328" y="5312664"/>
            <a:ext cx="132588" cy="132588"/>
          </a:xfrm>
          <a:prstGeom prst="ellipse">
            <a:avLst/>
          </a:prstGeom>
          <a:solidFill>
            <a:srgbClr val="D2DBDF"/>
          </a:solidFill>
          <a:ln/>
        </p:spPr>
        <p:txBody>
          <a:bodyPr/>
          <a:lstStyle/>
          <a:p>
            <a:endParaRPr lang="en-US"/>
          </a:p>
        </p:txBody>
      </p:sp>
      <p:sp>
        <p:nvSpPr>
          <p:cNvPr id="81" name="Text 79"/>
          <p:cNvSpPr txBox="1"/>
          <p:nvPr/>
        </p:nvSpPr>
        <p:spPr>
          <a:xfrm>
            <a:off x="4087368" y="5253228"/>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82" name="Text 80"/>
          <p:cNvSpPr txBox="1"/>
          <p:nvPr/>
        </p:nvSpPr>
        <p:spPr>
          <a:xfrm>
            <a:off x="704088" y="560527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Testability</a:t>
            </a:r>
            <a:endParaRPr lang="en-US" sz="1300" dirty="0"/>
          </a:p>
        </p:txBody>
      </p:sp>
      <p:sp>
        <p:nvSpPr>
          <p:cNvPr id="83" name="Shape 81"/>
          <p:cNvSpPr/>
          <p:nvPr/>
        </p:nvSpPr>
        <p:spPr>
          <a:xfrm>
            <a:off x="3035808" y="5664708"/>
            <a:ext cx="132588" cy="132588"/>
          </a:xfrm>
          <a:prstGeom prst="ellipse">
            <a:avLst/>
          </a:prstGeom>
          <a:solidFill>
            <a:srgbClr val="C77B24"/>
          </a:solidFill>
          <a:ln/>
        </p:spPr>
        <p:txBody>
          <a:bodyPr/>
          <a:lstStyle/>
          <a:p>
            <a:endParaRPr lang="en-US"/>
          </a:p>
        </p:txBody>
      </p:sp>
      <p:sp>
        <p:nvSpPr>
          <p:cNvPr id="84" name="Shape 82"/>
          <p:cNvSpPr/>
          <p:nvPr/>
        </p:nvSpPr>
        <p:spPr>
          <a:xfrm>
            <a:off x="3218688" y="5664708"/>
            <a:ext cx="132588" cy="132588"/>
          </a:xfrm>
          <a:prstGeom prst="ellipse">
            <a:avLst/>
          </a:prstGeom>
          <a:solidFill>
            <a:srgbClr val="C77B24"/>
          </a:solidFill>
          <a:ln/>
        </p:spPr>
        <p:txBody>
          <a:bodyPr/>
          <a:lstStyle/>
          <a:p>
            <a:endParaRPr lang="en-US"/>
          </a:p>
        </p:txBody>
      </p:sp>
      <p:sp>
        <p:nvSpPr>
          <p:cNvPr id="85" name="Shape 83"/>
          <p:cNvSpPr/>
          <p:nvPr/>
        </p:nvSpPr>
        <p:spPr>
          <a:xfrm>
            <a:off x="3401568" y="5664708"/>
            <a:ext cx="132588" cy="132588"/>
          </a:xfrm>
          <a:prstGeom prst="ellipse">
            <a:avLst/>
          </a:prstGeom>
          <a:solidFill>
            <a:srgbClr val="C77B24"/>
          </a:solidFill>
          <a:ln/>
        </p:spPr>
        <p:txBody>
          <a:bodyPr/>
          <a:lstStyle/>
          <a:p>
            <a:endParaRPr lang="en-US"/>
          </a:p>
        </p:txBody>
      </p:sp>
      <p:sp>
        <p:nvSpPr>
          <p:cNvPr id="86" name="Shape 84"/>
          <p:cNvSpPr/>
          <p:nvPr/>
        </p:nvSpPr>
        <p:spPr>
          <a:xfrm>
            <a:off x="3584448" y="5664708"/>
            <a:ext cx="132588" cy="132588"/>
          </a:xfrm>
          <a:prstGeom prst="ellipse">
            <a:avLst/>
          </a:prstGeom>
          <a:solidFill>
            <a:srgbClr val="D2DBDF"/>
          </a:solidFill>
          <a:ln/>
        </p:spPr>
        <p:txBody>
          <a:bodyPr/>
          <a:lstStyle/>
          <a:p>
            <a:endParaRPr lang="en-US"/>
          </a:p>
        </p:txBody>
      </p:sp>
      <p:sp>
        <p:nvSpPr>
          <p:cNvPr id="87" name="Shape 85"/>
          <p:cNvSpPr/>
          <p:nvPr/>
        </p:nvSpPr>
        <p:spPr>
          <a:xfrm>
            <a:off x="3767328" y="5664708"/>
            <a:ext cx="132588" cy="132588"/>
          </a:xfrm>
          <a:prstGeom prst="ellipse">
            <a:avLst/>
          </a:prstGeom>
          <a:solidFill>
            <a:srgbClr val="D2DBDF"/>
          </a:solidFill>
          <a:ln/>
        </p:spPr>
        <p:txBody>
          <a:bodyPr/>
          <a:lstStyle/>
          <a:p>
            <a:endParaRPr lang="en-US"/>
          </a:p>
        </p:txBody>
      </p:sp>
      <p:sp>
        <p:nvSpPr>
          <p:cNvPr id="88" name="Text 86"/>
          <p:cNvSpPr txBox="1"/>
          <p:nvPr/>
        </p:nvSpPr>
        <p:spPr>
          <a:xfrm>
            <a:off x="4087368" y="560527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89" name="Shape 87"/>
          <p:cNvSpPr/>
          <p:nvPr/>
        </p:nvSpPr>
        <p:spPr>
          <a:xfrm>
            <a:off x="6172200" y="1207008"/>
            <a:ext cx="5440680" cy="2194560"/>
          </a:xfrm>
          <a:prstGeom prst="roundRect">
            <a:avLst>
              <a:gd name="adj" fmla="val 2500"/>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90" name="Text 88"/>
          <p:cNvSpPr txBox="1"/>
          <p:nvPr/>
        </p:nvSpPr>
        <p:spPr>
          <a:xfrm>
            <a:off x="6446520" y="1389888"/>
            <a:ext cx="4892040" cy="310896"/>
          </a:xfrm>
          <a:prstGeom prst="rect">
            <a:avLst/>
          </a:prstGeom>
          <a:noFill/>
          <a:ln/>
        </p:spPr>
        <p:txBody>
          <a:bodyPr wrap="square" lIns="0" tIns="0" rIns="0" bIns="0" rtlCol="0" anchor="ctr"/>
          <a:lstStyle/>
          <a:p>
            <a:pPr marL="0" indent="0">
              <a:buNone/>
            </a:pPr>
            <a:r>
              <a:rPr lang="en-US" sz="1550" b="1" dirty="0">
                <a:solidFill>
                  <a:srgbClr val="C77B24"/>
                </a:solidFill>
                <a:latin typeface="Calibri" pitchFamily="34" charset="0"/>
                <a:ea typeface="Calibri" pitchFamily="34" charset="-122"/>
                <a:cs typeface="Calibri" pitchFamily="34" charset="-120"/>
              </a:rPr>
              <a:t>Strengths</a:t>
            </a:r>
            <a:endParaRPr lang="en-US" sz="1550" dirty="0"/>
          </a:p>
        </p:txBody>
      </p:sp>
      <p:sp>
        <p:nvSpPr>
          <p:cNvPr id="91" name="Text 89"/>
          <p:cNvSpPr txBox="1"/>
          <p:nvPr/>
        </p:nvSpPr>
        <p:spPr>
          <a:xfrm>
            <a:off x="6446520" y="1737360"/>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Lowest cost of the three and high simplicity: one deployment, one database, no network hops.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Volatility is isolated: a new form, jurisdiction or device is a new component, not a code change.</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Strong fit wherever customisation or per-customer configuration is the core requirement.</a:t>
            </a:r>
            <a:endParaRPr lang="en-US" sz="1200" dirty="0"/>
          </a:p>
        </p:txBody>
      </p:sp>
      <p:sp>
        <p:nvSpPr>
          <p:cNvPr id="92" name="Shape 90"/>
          <p:cNvSpPr/>
          <p:nvPr/>
        </p:nvSpPr>
        <p:spPr>
          <a:xfrm>
            <a:off x="6172200" y="3520440"/>
            <a:ext cx="5440680" cy="2194560"/>
          </a:xfrm>
          <a:prstGeom prst="roundRect">
            <a:avLst>
              <a:gd name="adj" fmla="val 25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3" name="Text 91"/>
          <p:cNvSpPr txBox="1"/>
          <p:nvPr/>
        </p:nvSpPr>
        <p:spPr>
          <a:xfrm>
            <a:off x="6446520" y="3703320"/>
            <a:ext cx="4892040" cy="310896"/>
          </a:xfrm>
          <a:prstGeom prst="rect">
            <a:avLst/>
          </a:prstGeom>
          <a:noFill/>
          <a:ln/>
        </p:spPr>
        <p:txBody>
          <a:bodyPr wrap="square" lIns="0" tIns="0" rIns="0" bIns="0" rtlCol="0" anchor="ctr"/>
          <a:lstStyle/>
          <a:p>
            <a:pPr marL="0" indent="0">
              <a:buNone/>
            </a:pPr>
            <a:r>
              <a:rPr lang="en-US" sz="1550" b="1" dirty="0">
                <a:solidFill>
                  <a:srgbClr val="14242E"/>
                </a:solidFill>
                <a:latin typeface="Calibri" pitchFamily="34" charset="0"/>
                <a:ea typeface="Calibri" pitchFamily="34" charset="-122"/>
                <a:cs typeface="Calibri" pitchFamily="34" charset="-120"/>
              </a:rPr>
              <a:t>Limitations</a:t>
            </a:r>
            <a:endParaRPr lang="en-US" sz="1550" dirty="0"/>
          </a:p>
        </p:txBody>
      </p:sp>
      <p:sp>
        <p:nvSpPr>
          <p:cNvPr id="94" name="Text 92"/>
          <p:cNvSpPr txBox="1"/>
          <p:nvPr/>
        </p:nvSpPr>
        <p:spPr>
          <a:xfrm>
            <a:off x="6446520" y="4050792"/>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Scalability, elasticity and fault tolerance all rate one star — it scales and fails.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Every request funnels through the core: a bottleneck and a single point of failure.</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Plug-in contracts drift; without governance the ecosystem becomes its own maintenance burden.</a:t>
            </a:r>
            <a:endParaRPr lang="en-US" sz="1200" dirty="0"/>
          </a:p>
        </p:txBody>
      </p:sp>
      <p:sp>
        <p:nvSpPr>
          <p:cNvPr id="95" name="Shape 93"/>
          <p:cNvSpPr/>
          <p:nvPr/>
        </p:nvSpPr>
        <p:spPr>
          <a:xfrm>
            <a:off x="6172200" y="5797296"/>
            <a:ext cx="5440680" cy="457200"/>
          </a:xfrm>
          <a:prstGeom prst="roundRect">
            <a:avLst>
              <a:gd name="adj" fmla="val 12000"/>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96" name="Text 94"/>
          <p:cNvSpPr txBox="1"/>
          <p:nvPr/>
        </p:nvSpPr>
        <p:spPr>
          <a:xfrm>
            <a:off x="6355080" y="5797296"/>
            <a:ext cx="5074920" cy="457200"/>
          </a:xfrm>
          <a:prstGeom prst="rect">
            <a:avLst/>
          </a:prstGeom>
          <a:noFill/>
          <a:ln/>
        </p:spPr>
        <p:txBody>
          <a:bodyPr wrap="square" lIns="0" tIns="0" rIns="0" bIns="0" rtlCol="0" anchor="ctr"/>
          <a:lstStyle/>
          <a:p>
            <a:pPr marL="0" indent="0" algn="ctr">
              <a:buNone/>
            </a:pPr>
            <a:r>
              <a:rPr lang="en-US" sz="1250" b="1" i="1" dirty="0">
                <a:solidFill>
                  <a:srgbClr val="E3B23C"/>
                </a:solidFill>
                <a:latin typeface="Calibri" pitchFamily="34" charset="0"/>
                <a:ea typeface="Calibri" pitchFamily="34" charset="-122"/>
                <a:cs typeface="Calibri" pitchFamily="34" charset="-120"/>
              </a:rPr>
              <a:t>Use it when the product must be extended, not when it must scale.</a:t>
            </a:r>
            <a:endParaRPr lang="en-US" sz="12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Case study: Visual Studio Code and the plug-in economy</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9</a:t>
            </a:r>
            <a:endParaRPr lang="en-US" sz="1000" dirty="0"/>
          </a:p>
        </p:txBody>
      </p:sp>
      <p:sp>
        <p:nvSpPr>
          <p:cNvPr id="7" name="Shape 5"/>
          <p:cNvSpPr/>
          <p:nvPr/>
        </p:nvSpPr>
        <p:spPr>
          <a:xfrm>
            <a:off x="566928" y="1234440"/>
            <a:ext cx="6903720" cy="3063240"/>
          </a:xfrm>
          <a:prstGeom prst="roundRect">
            <a:avLst>
              <a:gd name="adj" fmla="val 1791"/>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444752"/>
            <a:ext cx="6309360" cy="365760"/>
          </a:xfrm>
          <a:prstGeom prst="rect">
            <a:avLst/>
          </a:prstGeom>
          <a:noFill/>
          <a:ln/>
        </p:spPr>
        <p:txBody>
          <a:bodyPr wrap="square" lIns="0" tIns="0" rIns="0" bIns="0" rtlCol="0" anchor="ctr"/>
          <a:lstStyle/>
          <a:p>
            <a:pPr marL="0" indent="0">
              <a:buNone/>
            </a:pPr>
            <a:r>
              <a:rPr lang="en-US" sz="2000" b="1" dirty="0">
                <a:solidFill>
                  <a:srgbClr val="14242E"/>
                </a:solidFill>
                <a:latin typeface="Cambria" pitchFamily="34" charset="0"/>
                <a:ea typeface="Cambria" pitchFamily="34" charset="-122"/>
                <a:cs typeface="Cambria" pitchFamily="34" charset="-120"/>
              </a:rPr>
              <a:t>Visual Studio Code</a:t>
            </a:r>
            <a:endParaRPr lang="en-US" sz="2000" dirty="0"/>
          </a:p>
        </p:txBody>
      </p:sp>
      <p:sp>
        <p:nvSpPr>
          <p:cNvPr id="9" name="Text 7"/>
          <p:cNvSpPr txBox="1"/>
          <p:nvPr/>
        </p:nvSpPr>
        <p:spPr>
          <a:xfrm>
            <a:off x="868680" y="1874520"/>
            <a:ext cx="6309360" cy="2286000"/>
          </a:xfrm>
          <a:prstGeom prst="rect">
            <a:avLst/>
          </a:prstGeom>
          <a:noFill/>
          <a:ln/>
        </p:spPr>
        <p:txBody>
          <a:bodyPr wrap="square" lIns="0" tIns="0" rIns="0" bIns="0" rtlCol="0" anchor="t"/>
          <a:lstStyle/>
          <a:p>
            <a:pPr marL="342900" indent="-342900" algn="l">
              <a:spcAft>
                <a:spcPts val="800"/>
              </a:spcAft>
              <a:buSzPct val="100000"/>
              <a:buChar char="•"/>
            </a:pPr>
            <a:r>
              <a:rPr lang="en-US" sz="1250" dirty="0">
                <a:solidFill>
                  <a:srgbClr val="1F3644"/>
                </a:solidFill>
                <a:latin typeface="Calibri" pitchFamily="34" charset="0"/>
                <a:ea typeface="Calibri" pitchFamily="34" charset="-122"/>
                <a:cs typeface="Calibri" pitchFamily="34" charset="-120"/>
              </a:rPr>
              <a:t>The core is a deliberately small text editor plus a workbench. Language support, debuggers, linters, themes and AI assistants are all extensions.</a:t>
            </a:r>
            <a:endParaRPr lang="en-US" sz="1250" dirty="0"/>
          </a:p>
          <a:p>
            <a:pPr marL="342900" indent="-342900" algn="l">
              <a:spcAft>
                <a:spcPts val="800"/>
              </a:spcAft>
              <a:buSzPct val="100000"/>
              <a:buChar char="•"/>
            </a:pPr>
            <a:r>
              <a:rPr lang="en-US" sz="1250" dirty="0">
                <a:solidFill>
                  <a:srgbClr val="1F3644"/>
                </a:solidFill>
                <a:latin typeface="Calibri" pitchFamily="34" charset="0"/>
                <a:ea typeface="Calibri" pitchFamily="34" charset="-122"/>
                <a:cs typeface="Calibri" pitchFamily="34" charset="-120"/>
              </a:rPr>
              <a:t>Extensions declare themselves in a manifest through contribution points and activation events — that manifest is the plug-in registry, and activation events keep unused plug-ins unloaded.</a:t>
            </a:r>
            <a:endParaRPr lang="en-US" sz="1250" dirty="0"/>
          </a:p>
          <a:p>
            <a:pPr marL="342900" indent="-342900" algn="l">
              <a:spcAft>
                <a:spcPts val="800"/>
              </a:spcAft>
              <a:buSzPct val="100000"/>
              <a:buChar char="•"/>
            </a:pPr>
            <a:r>
              <a:rPr lang="en-US" sz="1250" dirty="0">
                <a:solidFill>
                  <a:srgbClr val="1F3644"/>
                </a:solidFill>
                <a:latin typeface="Calibri" pitchFamily="34" charset="0"/>
                <a:ea typeface="Calibri" pitchFamily="34" charset="-122"/>
                <a:cs typeface="Calibri" pitchFamily="34" charset="-120"/>
              </a:rPr>
              <a:t>Extensions run in a separate extension host process, so a misbehaving plug-in cannot freeze the editor UI — a direct answer to the style's fault-tolerance weakness.</a:t>
            </a:r>
            <a:endParaRPr lang="en-US" sz="1250" dirty="0"/>
          </a:p>
          <a:p>
            <a:pPr marL="342900" indent="-342900" algn="l">
              <a:spcAft>
                <a:spcPts val="800"/>
              </a:spcAft>
              <a:buSzPct val="100000"/>
              <a:buChar char="•"/>
            </a:pPr>
            <a:r>
              <a:rPr lang="en-US" sz="1250" dirty="0">
                <a:solidFill>
                  <a:srgbClr val="1F3644"/>
                </a:solidFill>
                <a:latin typeface="Calibri" pitchFamily="34" charset="0"/>
                <a:ea typeface="Calibri" pitchFamily="34" charset="-122"/>
                <a:cs typeface="Calibri" pitchFamily="34" charset="-120"/>
              </a:rPr>
              <a:t>The published extension API is the contract. Microsoft can rewrite editor internals without breaking thousands of third-party extensions.</a:t>
            </a:r>
            <a:endParaRPr lang="en-US" sz="1250" dirty="0"/>
          </a:p>
        </p:txBody>
      </p:sp>
      <p:sp>
        <p:nvSpPr>
          <p:cNvPr id="10" name="Shape 8"/>
          <p:cNvSpPr/>
          <p:nvPr/>
        </p:nvSpPr>
        <p:spPr>
          <a:xfrm>
            <a:off x="7726680" y="1234440"/>
            <a:ext cx="3904488" cy="914400"/>
          </a:xfrm>
          <a:prstGeom prst="roundRect">
            <a:avLst>
              <a:gd name="adj" fmla="val 6000"/>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7973568" y="1362456"/>
            <a:ext cx="3429000" cy="274320"/>
          </a:xfrm>
          <a:prstGeom prst="rect">
            <a:avLst/>
          </a:prstGeom>
          <a:noFill/>
          <a:ln/>
        </p:spPr>
        <p:txBody>
          <a:bodyPr wrap="square" lIns="0" tIns="0" rIns="0" bIns="0" rtlCol="0" anchor="ctr"/>
          <a:lstStyle/>
          <a:p>
            <a:pPr marL="0" indent="0">
              <a:buNone/>
            </a:pPr>
            <a:r>
              <a:rPr lang="en-US" sz="1600" b="1" dirty="0">
                <a:solidFill>
                  <a:srgbClr val="C77B24"/>
                </a:solidFill>
                <a:latin typeface="Calibri" pitchFamily="34" charset="0"/>
                <a:ea typeface="Calibri" pitchFamily="34" charset="-122"/>
                <a:cs typeface="Calibri" pitchFamily="34" charset="-120"/>
              </a:rPr>
              <a:t>Eclipse &amp; OSGi</a:t>
            </a:r>
            <a:endParaRPr lang="en-US" sz="1600" dirty="0"/>
          </a:p>
        </p:txBody>
      </p:sp>
      <p:sp>
        <p:nvSpPr>
          <p:cNvPr id="12" name="Text 10"/>
          <p:cNvSpPr txBox="1"/>
          <p:nvPr/>
        </p:nvSpPr>
        <p:spPr>
          <a:xfrm>
            <a:off x="7973568" y="1655064"/>
            <a:ext cx="3429000" cy="41148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the reference implementation of runtime plug-ins</a:t>
            </a:r>
            <a:endParaRPr lang="en-US" sz="1150" dirty="0"/>
          </a:p>
        </p:txBody>
      </p:sp>
      <p:sp>
        <p:nvSpPr>
          <p:cNvPr id="13" name="Shape 11"/>
          <p:cNvSpPr/>
          <p:nvPr/>
        </p:nvSpPr>
        <p:spPr>
          <a:xfrm>
            <a:off x="7726680" y="2295144"/>
            <a:ext cx="3904488" cy="914400"/>
          </a:xfrm>
          <a:prstGeom prst="roundRect">
            <a:avLst>
              <a:gd name="adj" fmla="val 6000"/>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7973568" y="2423160"/>
            <a:ext cx="3429000" cy="274320"/>
          </a:xfrm>
          <a:prstGeom prst="rect">
            <a:avLst/>
          </a:prstGeom>
          <a:noFill/>
          <a:ln/>
        </p:spPr>
        <p:txBody>
          <a:bodyPr wrap="square" lIns="0" tIns="0" rIns="0" bIns="0" rtlCol="0" anchor="ctr"/>
          <a:lstStyle/>
          <a:p>
            <a:pPr marL="0" indent="0">
              <a:buNone/>
            </a:pPr>
            <a:r>
              <a:rPr lang="en-US" sz="1600" b="1" dirty="0">
                <a:solidFill>
                  <a:srgbClr val="C77B24"/>
                </a:solidFill>
                <a:latin typeface="Calibri" pitchFamily="34" charset="0"/>
                <a:ea typeface="Calibri" pitchFamily="34" charset="-122"/>
                <a:cs typeface="Calibri" pitchFamily="34" charset="-120"/>
              </a:rPr>
              <a:t>Jenkins</a:t>
            </a:r>
            <a:endParaRPr lang="en-US" sz="1600" dirty="0"/>
          </a:p>
        </p:txBody>
      </p:sp>
      <p:sp>
        <p:nvSpPr>
          <p:cNvPr id="15" name="Text 13"/>
          <p:cNvSpPr txBox="1"/>
          <p:nvPr/>
        </p:nvSpPr>
        <p:spPr>
          <a:xfrm>
            <a:off x="7973568" y="2715768"/>
            <a:ext cx="3429000" cy="41148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a small automation core surrounded by thousands of plugins</a:t>
            </a:r>
            <a:endParaRPr lang="en-US" sz="1150" dirty="0"/>
          </a:p>
        </p:txBody>
      </p:sp>
      <p:sp>
        <p:nvSpPr>
          <p:cNvPr id="16" name="Shape 14"/>
          <p:cNvSpPr/>
          <p:nvPr/>
        </p:nvSpPr>
        <p:spPr>
          <a:xfrm>
            <a:off x="7726680" y="3355848"/>
            <a:ext cx="3904488" cy="914400"/>
          </a:xfrm>
          <a:prstGeom prst="roundRect">
            <a:avLst>
              <a:gd name="adj" fmla="val 6000"/>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7973568" y="3483864"/>
            <a:ext cx="3429000" cy="274320"/>
          </a:xfrm>
          <a:prstGeom prst="rect">
            <a:avLst/>
          </a:prstGeom>
          <a:noFill/>
          <a:ln/>
        </p:spPr>
        <p:txBody>
          <a:bodyPr wrap="square" lIns="0" tIns="0" rIns="0" bIns="0" rtlCol="0" anchor="ctr"/>
          <a:lstStyle/>
          <a:p>
            <a:pPr marL="0" indent="0">
              <a:buNone/>
            </a:pPr>
            <a:r>
              <a:rPr lang="en-US" sz="1600" b="1" dirty="0">
                <a:solidFill>
                  <a:srgbClr val="C77B24"/>
                </a:solidFill>
                <a:latin typeface="Calibri" pitchFamily="34" charset="0"/>
                <a:ea typeface="Calibri" pitchFamily="34" charset="-122"/>
                <a:cs typeface="Calibri" pitchFamily="34" charset="-120"/>
              </a:rPr>
              <a:t>Chrome &amp; Firefox</a:t>
            </a:r>
            <a:endParaRPr lang="en-US" sz="1600" dirty="0"/>
          </a:p>
        </p:txBody>
      </p:sp>
      <p:sp>
        <p:nvSpPr>
          <p:cNvPr id="18" name="Text 16"/>
          <p:cNvSpPr txBox="1"/>
          <p:nvPr/>
        </p:nvSpPr>
        <p:spPr>
          <a:xfrm>
            <a:off x="7973568" y="3776472"/>
            <a:ext cx="3429000" cy="41148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browser core plus an extension ecosystem</a:t>
            </a:r>
            <a:endParaRPr lang="en-US" sz="1150" dirty="0"/>
          </a:p>
        </p:txBody>
      </p:sp>
      <p:sp>
        <p:nvSpPr>
          <p:cNvPr id="19" name="Shape 17"/>
          <p:cNvSpPr/>
          <p:nvPr/>
        </p:nvSpPr>
        <p:spPr>
          <a:xfrm>
            <a:off x="566928" y="4480560"/>
            <a:ext cx="11064240" cy="1508760"/>
          </a:xfrm>
          <a:prstGeom prst="roundRect">
            <a:avLst>
              <a:gd name="adj" fmla="val 3636"/>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20" name="Text 18"/>
          <p:cNvSpPr txBox="1"/>
          <p:nvPr/>
        </p:nvSpPr>
        <p:spPr>
          <a:xfrm>
            <a:off x="868680" y="4663440"/>
            <a:ext cx="5486400" cy="292608"/>
          </a:xfrm>
          <a:prstGeom prst="rect">
            <a:avLst/>
          </a:prstGeom>
          <a:noFill/>
          <a:ln/>
        </p:spPr>
        <p:txBody>
          <a:bodyPr wrap="square" lIns="0" tIns="0" rIns="0" bIns="0" rtlCol="0" anchor="ctr"/>
          <a:lstStyle/>
          <a:p>
            <a:pPr marL="0" indent="0">
              <a:buNone/>
            </a:pPr>
            <a:r>
              <a:rPr lang="en-US" sz="1450" b="1" dirty="0">
                <a:solidFill>
                  <a:srgbClr val="E3B23C"/>
                </a:solidFill>
                <a:latin typeface="Calibri" pitchFamily="34" charset="0"/>
                <a:ea typeface="Calibri" pitchFamily="34" charset="-122"/>
                <a:cs typeface="Calibri" pitchFamily="34" charset="-120"/>
              </a:rPr>
              <a:t>The same shape in business software</a:t>
            </a:r>
            <a:endParaRPr lang="en-US" sz="1450" dirty="0"/>
          </a:p>
        </p:txBody>
      </p:sp>
      <p:sp>
        <p:nvSpPr>
          <p:cNvPr id="21" name="Text 19"/>
          <p:cNvSpPr txBox="1"/>
          <p:nvPr/>
        </p:nvSpPr>
        <p:spPr>
          <a:xfrm>
            <a:off x="868680" y="4992624"/>
            <a:ext cx="10469880" cy="868680"/>
          </a:xfrm>
          <a:prstGeom prst="rect">
            <a:avLst/>
          </a:prstGeom>
          <a:noFill/>
          <a:ln/>
        </p:spPr>
        <p:txBody>
          <a:bodyPr wrap="square" lIns="0" tIns="0" rIns="0" bIns="0" rtlCol="0" anchor="ctr"/>
          <a:lstStyle/>
          <a:p>
            <a:pPr marL="0" indent="0" algn="just">
              <a:buNone/>
            </a:pPr>
            <a:r>
              <a:rPr lang="en-US" sz="1250" dirty="0">
                <a:solidFill>
                  <a:srgbClr val="C9D6DC"/>
                </a:solidFill>
                <a:latin typeface="Calibri" pitchFamily="34" charset="0"/>
                <a:ea typeface="Calibri" pitchFamily="34" charset="-122"/>
                <a:cs typeface="Calibri" pitchFamily="34" charset="-120"/>
              </a:rPr>
              <a:t>Insurance claims processing: the filing workflow is stable, but the rules differ by jurisdiction. Holding every rule in one engine produces a big ball of mud where one change requires regression-testing everything. Making each jurisdiction a plug-in lets a state's rules be added, changed or withdrawn in isolation. Tax preparation software follows the identical pattern: the summary return is the core, and each supporting form or worksheet is a plug-in that absorbs a change in tax law on its own.</a:t>
            </a:r>
            <a:endParaRPr lang="en-US" sz="12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Service-based: the pragmatic middle ground</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10</a:t>
            </a:r>
            <a:endParaRPr lang="en-US" sz="1000" dirty="0"/>
          </a:p>
        </p:txBody>
      </p:sp>
      <p:sp>
        <p:nvSpPr>
          <p:cNvPr id="7" name="Shape 5"/>
          <p:cNvSpPr/>
          <p:nvPr/>
        </p:nvSpPr>
        <p:spPr>
          <a:xfrm>
            <a:off x="566928" y="1261872"/>
            <a:ext cx="11064240" cy="1051560"/>
          </a:xfrm>
          <a:prstGeom prst="roundRect">
            <a:avLst>
              <a:gd name="adj" fmla="val 5217"/>
            </a:avLst>
          </a:prstGeom>
          <a:solidFill>
            <a:srgbClr val="E6F2F1"/>
          </a:solidFill>
          <a:ln w="6350">
            <a:solidFill>
              <a:srgbClr val="E6F2F1"/>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444752"/>
            <a:ext cx="10469880" cy="320040"/>
          </a:xfrm>
          <a:prstGeom prst="rect">
            <a:avLst/>
          </a:prstGeom>
          <a:noFill/>
          <a:ln/>
        </p:spPr>
        <p:txBody>
          <a:bodyPr wrap="square" lIns="0" tIns="0" rIns="0" bIns="0" rtlCol="0" anchor="ctr"/>
          <a:lstStyle/>
          <a:p>
            <a:pPr marL="0" indent="0">
              <a:buNone/>
            </a:pPr>
            <a:r>
              <a:rPr lang="en-US" sz="1500" b="1" dirty="0">
                <a:solidFill>
                  <a:srgbClr val="16807E"/>
                </a:solidFill>
                <a:latin typeface="Calibri" pitchFamily="34" charset="0"/>
                <a:ea typeface="Calibri" pitchFamily="34" charset="-122"/>
                <a:cs typeface="Calibri" pitchFamily="34" charset="-120"/>
              </a:rPr>
              <a:t>A hybrid of microservices that keeps the modularity and drops most of the bill.</a:t>
            </a:r>
            <a:endParaRPr lang="en-US" sz="1500" dirty="0"/>
          </a:p>
        </p:txBody>
      </p:sp>
      <p:sp>
        <p:nvSpPr>
          <p:cNvPr id="9" name="Text 7"/>
          <p:cNvSpPr txBox="1"/>
          <p:nvPr/>
        </p:nvSpPr>
        <p:spPr>
          <a:xfrm>
            <a:off x="868680" y="1783080"/>
            <a:ext cx="10469880" cy="36576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Distributed macro-layered structure: a separately deployed user interface, remotely accessed coarse-grained domain services, and in the basic form a single shared database.</a:t>
            </a:r>
            <a:endParaRPr lang="en-US" sz="1300" dirty="0"/>
          </a:p>
        </p:txBody>
      </p:sp>
      <p:sp>
        <p:nvSpPr>
          <p:cNvPr id="10" name="Shape 8"/>
          <p:cNvSpPr/>
          <p:nvPr/>
        </p:nvSpPr>
        <p:spPr>
          <a:xfrm>
            <a:off x="566928" y="2542032"/>
            <a:ext cx="2606040" cy="1371600"/>
          </a:xfrm>
          <a:prstGeom prst="roundRect">
            <a:avLst>
              <a:gd name="adj" fmla="val 4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749808" y="2651760"/>
            <a:ext cx="2240280" cy="566928"/>
          </a:xfrm>
          <a:prstGeom prst="rect">
            <a:avLst/>
          </a:prstGeom>
          <a:noFill/>
          <a:ln/>
        </p:spPr>
        <p:txBody>
          <a:bodyPr wrap="square" lIns="0" tIns="0" rIns="0" bIns="0" rtlCol="0" anchor="ctr"/>
          <a:lstStyle/>
          <a:p>
            <a:pPr marL="0" indent="0" algn="ctr">
              <a:buNone/>
            </a:pPr>
            <a:r>
              <a:rPr lang="en-US" sz="3200" b="1" dirty="0">
                <a:solidFill>
                  <a:srgbClr val="16807E"/>
                </a:solidFill>
                <a:latin typeface="Cambria" pitchFamily="34" charset="0"/>
                <a:ea typeface="Cambria" pitchFamily="34" charset="-122"/>
                <a:cs typeface="Cambria" pitchFamily="34" charset="-120"/>
              </a:rPr>
              <a:t>4–12</a:t>
            </a:r>
            <a:endParaRPr lang="en-US" sz="3200" dirty="0"/>
          </a:p>
        </p:txBody>
      </p:sp>
      <p:sp>
        <p:nvSpPr>
          <p:cNvPr id="12" name="Text 10"/>
          <p:cNvSpPr txBox="1"/>
          <p:nvPr/>
        </p:nvSpPr>
        <p:spPr>
          <a:xfrm>
            <a:off x="749808" y="3255264"/>
            <a:ext cx="2240280" cy="566928"/>
          </a:xfrm>
          <a:prstGeom prst="rect">
            <a:avLst/>
          </a:prstGeom>
          <a:noFill/>
          <a:ln/>
        </p:spPr>
        <p:txBody>
          <a:bodyPr wrap="square" lIns="0" tIns="0" rIns="0" bIns="0" rtlCol="0" anchor="ctr"/>
          <a:lstStyle/>
          <a:p>
            <a:pPr marL="0" indent="0" algn="ctr">
              <a:buNone/>
            </a:pPr>
            <a:r>
              <a:rPr lang="en-US" sz="1150" dirty="0">
                <a:solidFill>
                  <a:srgbClr val="1F3644"/>
                </a:solidFill>
                <a:latin typeface="Calibri" pitchFamily="34" charset="0"/>
                <a:ea typeface="Calibri" pitchFamily="34" charset="-122"/>
                <a:cs typeface="Calibri" pitchFamily="34" charset="-120"/>
              </a:rPr>
              <a:t>domain services in a typical application, averaging about seven</a:t>
            </a:r>
            <a:endParaRPr lang="en-US" sz="1150" dirty="0"/>
          </a:p>
        </p:txBody>
      </p:sp>
      <p:sp>
        <p:nvSpPr>
          <p:cNvPr id="13" name="Shape 11"/>
          <p:cNvSpPr/>
          <p:nvPr/>
        </p:nvSpPr>
        <p:spPr>
          <a:xfrm>
            <a:off x="3383280" y="2542032"/>
            <a:ext cx="2606040" cy="1371600"/>
          </a:xfrm>
          <a:prstGeom prst="roundRect">
            <a:avLst>
              <a:gd name="adj" fmla="val 4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3566160" y="2651760"/>
            <a:ext cx="2240280" cy="566928"/>
          </a:xfrm>
          <a:prstGeom prst="rect">
            <a:avLst/>
          </a:prstGeom>
          <a:noFill/>
          <a:ln/>
        </p:spPr>
        <p:txBody>
          <a:bodyPr wrap="square" lIns="0" tIns="0" rIns="0" bIns="0" rtlCol="0" anchor="ctr"/>
          <a:lstStyle/>
          <a:p>
            <a:pPr marL="0" indent="0" algn="ctr">
              <a:buNone/>
            </a:pPr>
            <a:r>
              <a:rPr lang="en-US" sz="3200" b="1" dirty="0">
                <a:solidFill>
                  <a:srgbClr val="16807E"/>
                </a:solidFill>
                <a:latin typeface="Cambria" pitchFamily="34" charset="0"/>
                <a:ea typeface="Cambria" pitchFamily="34" charset="-122"/>
                <a:cs typeface="Cambria" pitchFamily="34" charset="-120"/>
              </a:rPr>
              <a:t>1</a:t>
            </a:r>
            <a:endParaRPr lang="en-US" sz="3200" dirty="0"/>
          </a:p>
        </p:txBody>
      </p:sp>
      <p:sp>
        <p:nvSpPr>
          <p:cNvPr id="15" name="Text 13"/>
          <p:cNvSpPr txBox="1"/>
          <p:nvPr/>
        </p:nvSpPr>
        <p:spPr>
          <a:xfrm>
            <a:off x="3566160" y="3255264"/>
            <a:ext cx="2240280" cy="566928"/>
          </a:xfrm>
          <a:prstGeom prst="rect">
            <a:avLst/>
          </a:prstGeom>
          <a:noFill/>
          <a:ln/>
        </p:spPr>
        <p:txBody>
          <a:bodyPr wrap="square" lIns="0" tIns="0" rIns="0" bIns="0" rtlCol="0" anchor="ctr"/>
          <a:lstStyle/>
          <a:p>
            <a:pPr marL="0" indent="0" algn="ctr">
              <a:buNone/>
            </a:pPr>
            <a:r>
              <a:rPr lang="en-US" sz="1150" dirty="0">
                <a:solidFill>
                  <a:srgbClr val="1F3644"/>
                </a:solidFill>
                <a:latin typeface="Calibri" pitchFamily="34" charset="0"/>
                <a:ea typeface="Calibri" pitchFamily="34" charset="-122"/>
                <a:cs typeface="Calibri" pitchFamily="34" charset="-120"/>
              </a:rPr>
              <a:t>shared database in the basic topology, so SQL joins still work</a:t>
            </a:r>
            <a:endParaRPr lang="en-US" sz="1150" dirty="0"/>
          </a:p>
        </p:txBody>
      </p:sp>
      <p:sp>
        <p:nvSpPr>
          <p:cNvPr id="16" name="Shape 14"/>
          <p:cNvSpPr/>
          <p:nvPr/>
        </p:nvSpPr>
        <p:spPr>
          <a:xfrm>
            <a:off x="6199632" y="2542032"/>
            <a:ext cx="2606040" cy="1371600"/>
          </a:xfrm>
          <a:prstGeom prst="roundRect">
            <a:avLst>
              <a:gd name="adj" fmla="val 4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6382512" y="2651760"/>
            <a:ext cx="2240280" cy="566928"/>
          </a:xfrm>
          <a:prstGeom prst="rect">
            <a:avLst/>
          </a:prstGeom>
          <a:noFill/>
          <a:ln/>
        </p:spPr>
        <p:txBody>
          <a:bodyPr wrap="square" lIns="0" tIns="0" rIns="0" bIns="0" rtlCol="0" anchor="ctr"/>
          <a:lstStyle/>
          <a:p>
            <a:pPr marL="0" indent="0" algn="ctr">
              <a:buNone/>
            </a:pPr>
            <a:r>
              <a:rPr lang="en-US" sz="3200" b="1" dirty="0">
                <a:solidFill>
                  <a:srgbClr val="16807E"/>
                </a:solidFill>
                <a:latin typeface="Cambria" pitchFamily="34" charset="0"/>
                <a:ea typeface="Cambria" pitchFamily="34" charset="-122"/>
                <a:cs typeface="Cambria" pitchFamily="34" charset="-120"/>
              </a:rPr>
              <a:t>0</a:t>
            </a:r>
            <a:endParaRPr lang="en-US" sz="3200" dirty="0"/>
          </a:p>
        </p:txBody>
      </p:sp>
      <p:sp>
        <p:nvSpPr>
          <p:cNvPr id="18" name="Text 16"/>
          <p:cNvSpPr txBox="1"/>
          <p:nvPr/>
        </p:nvSpPr>
        <p:spPr>
          <a:xfrm>
            <a:off x="6382512" y="3255264"/>
            <a:ext cx="2240280" cy="566928"/>
          </a:xfrm>
          <a:prstGeom prst="rect">
            <a:avLst/>
          </a:prstGeom>
          <a:noFill/>
          <a:ln/>
        </p:spPr>
        <p:txBody>
          <a:bodyPr wrap="square" lIns="0" tIns="0" rIns="0" bIns="0" rtlCol="0" anchor="ctr"/>
          <a:lstStyle/>
          <a:p>
            <a:pPr marL="0" indent="0" algn="ctr">
              <a:buNone/>
            </a:pPr>
            <a:r>
              <a:rPr lang="en-US" sz="1150" dirty="0">
                <a:solidFill>
                  <a:srgbClr val="1F3644"/>
                </a:solidFill>
                <a:latin typeface="Calibri" pitchFamily="34" charset="0"/>
                <a:ea typeface="Calibri" pitchFamily="34" charset="-122"/>
                <a:cs typeface="Calibri" pitchFamily="34" charset="-120"/>
              </a:rPr>
              <a:t>interservice calls by design services are self-contained</a:t>
            </a:r>
            <a:endParaRPr lang="en-US" sz="1150" dirty="0"/>
          </a:p>
        </p:txBody>
      </p:sp>
      <p:sp>
        <p:nvSpPr>
          <p:cNvPr id="19" name="Shape 17"/>
          <p:cNvSpPr/>
          <p:nvPr/>
        </p:nvSpPr>
        <p:spPr>
          <a:xfrm>
            <a:off x="9015984" y="2542032"/>
            <a:ext cx="2606040" cy="1371600"/>
          </a:xfrm>
          <a:prstGeom prst="roundRect">
            <a:avLst>
              <a:gd name="adj" fmla="val 4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0" name="Text 18"/>
          <p:cNvSpPr txBox="1"/>
          <p:nvPr/>
        </p:nvSpPr>
        <p:spPr>
          <a:xfrm>
            <a:off x="9198864" y="2651760"/>
            <a:ext cx="2240280" cy="566928"/>
          </a:xfrm>
          <a:prstGeom prst="rect">
            <a:avLst/>
          </a:prstGeom>
          <a:noFill/>
          <a:ln/>
        </p:spPr>
        <p:txBody>
          <a:bodyPr wrap="square" lIns="0" tIns="0" rIns="0" bIns="0" rtlCol="0" anchor="ctr"/>
          <a:lstStyle/>
          <a:p>
            <a:pPr marL="0" indent="0" algn="ctr">
              <a:buNone/>
            </a:pPr>
            <a:r>
              <a:rPr lang="en-US" sz="3200" b="1" dirty="0">
                <a:solidFill>
                  <a:srgbClr val="16807E"/>
                </a:solidFill>
                <a:latin typeface="Cambria" pitchFamily="34" charset="0"/>
                <a:ea typeface="Cambria" pitchFamily="34" charset="-122"/>
                <a:cs typeface="Cambria" pitchFamily="34" charset="-120"/>
              </a:rPr>
              <a:t>ACID</a:t>
            </a:r>
            <a:endParaRPr lang="en-US" sz="3200" dirty="0"/>
          </a:p>
        </p:txBody>
      </p:sp>
      <p:sp>
        <p:nvSpPr>
          <p:cNvPr id="21" name="Text 19"/>
          <p:cNvSpPr txBox="1"/>
          <p:nvPr/>
        </p:nvSpPr>
        <p:spPr>
          <a:xfrm>
            <a:off x="9198864" y="3255264"/>
            <a:ext cx="2240280" cy="566928"/>
          </a:xfrm>
          <a:prstGeom prst="rect">
            <a:avLst/>
          </a:prstGeom>
          <a:noFill/>
          <a:ln/>
        </p:spPr>
        <p:txBody>
          <a:bodyPr wrap="square" lIns="0" tIns="0" rIns="0" bIns="0" rtlCol="0" anchor="ctr"/>
          <a:lstStyle/>
          <a:p>
            <a:pPr marL="0" indent="0" algn="ctr">
              <a:buNone/>
            </a:pPr>
            <a:r>
              <a:rPr lang="en-US" sz="1150" dirty="0">
                <a:solidFill>
                  <a:srgbClr val="1F3644"/>
                </a:solidFill>
                <a:latin typeface="Calibri" pitchFamily="34" charset="0"/>
                <a:ea typeface="Calibri" pitchFamily="34" charset="-122"/>
                <a:cs typeface="Calibri" pitchFamily="34" charset="-120"/>
              </a:rPr>
              <a:t>transactions preserved better than in any other distributed style</a:t>
            </a:r>
            <a:endParaRPr lang="en-US" sz="1150" dirty="0"/>
          </a:p>
        </p:txBody>
      </p:sp>
      <p:sp>
        <p:nvSpPr>
          <p:cNvPr id="22" name="Text 20"/>
          <p:cNvSpPr txBox="1"/>
          <p:nvPr/>
        </p:nvSpPr>
        <p:spPr>
          <a:xfrm>
            <a:off x="566928" y="4160520"/>
            <a:ext cx="5623560" cy="2011680"/>
          </a:xfrm>
          <a:prstGeom prst="rect">
            <a:avLst/>
          </a:prstGeom>
          <a:noFill/>
          <a:ln/>
        </p:spPr>
        <p:txBody>
          <a:bodyPr wrap="square" lIns="0" tIns="0" rIns="0" bIns="0" rtlCol="0" anchor="t"/>
          <a:lstStyle/>
          <a:p>
            <a:pPr marL="342900" indent="-342900" algn="l">
              <a:spcAft>
                <a:spcPts val="800"/>
              </a:spcAft>
              <a:buSzPct val="100000"/>
              <a:buChar char="•"/>
            </a:pPr>
            <a:r>
              <a:rPr lang="en-US" sz="1300" dirty="0">
                <a:solidFill>
                  <a:srgbClr val="1F3644"/>
                </a:solidFill>
                <a:latin typeface="Calibri" pitchFamily="34" charset="0"/>
                <a:ea typeface="Calibri" pitchFamily="34" charset="-122"/>
                <a:cs typeface="Calibri" pitchFamily="34" charset="-120"/>
              </a:rPr>
              <a:t>Services are coarse-grained portions of an application an entire domain such as Quoting, Receiving or Assessment, not a single entity.</a:t>
            </a:r>
            <a:endParaRPr lang="en-US" sz="1300" dirty="0"/>
          </a:p>
          <a:p>
            <a:pPr marL="342900" indent="-342900" algn="l">
              <a:spcAft>
                <a:spcPts val="800"/>
              </a:spcAft>
              <a:buSzPct val="100000"/>
              <a:buChar char="•"/>
            </a:pPr>
            <a:r>
              <a:rPr lang="en-US" sz="1300" dirty="0">
                <a:solidFill>
                  <a:srgbClr val="1F3644"/>
                </a:solidFill>
                <a:latin typeface="Calibri" pitchFamily="34" charset="0"/>
                <a:ea typeface="Calibri" pitchFamily="34" charset="-122"/>
                <a:cs typeface="Calibri" pitchFamily="34" charset="-120"/>
              </a:rPr>
              <a:t>They deploy exactly like a monolith would (WAR, EAR, assembly); containerisation is available but not required.</a:t>
            </a:r>
            <a:endParaRPr lang="en-US" sz="1300" dirty="0"/>
          </a:p>
          <a:p>
            <a:pPr marL="342900" indent="-342900" algn="l">
              <a:spcAft>
                <a:spcPts val="800"/>
              </a:spcAft>
              <a:buSzPct val="100000"/>
              <a:buChar char="•"/>
            </a:pPr>
            <a:r>
              <a:rPr lang="en-US" sz="1300" dirty="0">
                <a:solidFill>
                  <a:srgbClr val="1F3644"/>
                </a:solidFill>
                <a:latin typeface="Calibri" pitchFamily="34" charset="0"/>
                <a:ea typeface="Calibri" pitchFamily="34" charset="-122"/>
                <a:cs typeface="Calibri" pitchFamily="34" charset="-120"/>
              </a:rPr>
              <a:t>The user interface reaches them over REST, messaging, RPC or SOAP directly, or through an optional proxy or gateway.</a:t>
            </a:r>
            <a:endParaRPr lang="en-US" sz="1300" dirty="0"/>
          </a:p>
          <a:p>
            <a:pPr marL="342900" indent="-342900" algn="l">
              <a:spcAft>
                <a:spcPts val="800"/>
              </a:spcAft>
              <a:buSzPct val="100000"/>
              <a:buChar char="•"/>
            </a:pPr>
            <a:r>
              <a:rPr lang="en-US" sz="1300" dirty="0">
                <a:solidFill>
                  <a:srgbClr val="1F3644"/>
                </a:solidFill>
                <a:latin typeface="Calibri" pitchFamily="34" charset="0"/>
                <a:ea typeface="Calibri" pitchFamily="34" charset="-122"/>
                <a:cs typeface="Calibri" pitchFamily="34" charset="-120"/>
              </a:rPr>
              <a:t>Usually a single instance per service; extra instances are added only where throughput or failover demands them.</a:t>
            </a:r>
            <a:endParaRPr lang="en-US" sz="1300" dirty="0"/>
          </a:p>
        </p:txBody>
      </p:sp>
      <p:sp>
        <p:nvSpPr>
          <p:cNvPr id="23" name="Shape 21"/>
          <p:cNvSpPr/>
          <p:nvPr/>
        </p:nvSpPr>
        <p:spPr>
          <a:xfrm>
            <a:off x="6446520" y="4160520"/>
            <a:ext cx="5184648" cy="2011680"/>
          </a:xfrm>
          <a:prstGeom prst="roundRect">
            <a:avLst>
              <a:gd name="adj" fmla="val 2727"/>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24" name="Text 22"/>
          <p:cNvSpPr txBox="1"/>
          <p:nvPr/>
        </p:nvSpPr>
        <p:spPr>
          <a:xfrm>
            <a:off x="6720840" y="4343400"/>
            <a:ext cx="4663440" cy="292608"/>
          </a:xfrm>
          <a:prstGeom prst="rect">
            <a:avLst/>
          </a:prstGeom>
          <a:noFill/>
          <a:ln/>
        </p:spPr>
        <p:txBody>
          <a:bodyPr wrap="square" lIns="0" tIns="0" rIns="0" bIns="0" rtlCol="0" anchor="ctr"/>
          <a:lstStyle/>
          <a:p>
            <a:pPr marL="0" indent="0">
              <a:buNone/>
            </a:pPr>
            <a:r>
              <a:rPr lang="en-US" sz="1450" b="1" dirty="0">
                <a:solidFill>
                  <a:srgbClr val="E3B23C"/>
                </a:solidFill>
                <a:latin typeface="Calibri" pitchFamily="34" charset="0"/>
                <a:ea typeface="Calibri" pitchFamily="34" charset="-122"/>
                <a:cs typeface="Calibri" pitchFamily="34" charset="-120"/>
              </a:rPr>
              <a:t>Why it exists</a:t>
            </a:r>
            <a:endParaRPr lang="en-US" sz="1450" dirty="0"/>
          </a:p>
        </p:txBody>
      </p:sp>
      <p:sp>
        <p:nvSpPr>
          <p:cNvPr id="25" name="Text 23"/>
          <p:cNvSpPr txBox="1"/>
          <p:nvPr/>
        </p:nvSpPr>
        <p:spPr>
          <a:xfrm>
            <a:off x="6720840" y="4681728"/>
            <a:ext cx="4663440" cy="1371600"/>
          </a:xfrm>
          <a:prstGeom prst="rect">
            <a:avLst/>
          </a:prstGeom>
          <a:noFill/>
          <a:ln/>
        </p:spPr>
        <p:txBody>
          <a:bodyPr wrap="square" lIns="0" tIns="0" rIns="0" bIns="0" rtlCol="0" anchor="ctr"/>
          <a:lstStyle/>
          <a:p>
            <a:pPr marL="0" indent="0" algn="just">
              <a:buNone/>
            </a:pPr>
            <a:r>
              <a:rPr lang="en-US" sz="1250" dirty="0">
                <a:solidFill>
                  <a:srgbClr val="C9D6DC"/>
                </a:solidFill>
                <a:latin typeface="Calibri" pitchFamily="34" charset="0"/>
                <a:ea typeface="Calibri" pitchFamily="34" charset="-122"/>
                <a:cs typeface="Calibri" pitchFamily="34" charset="-120"/>
              </a:rPr>
              <a:t>Many organisations want faster, safer deployments and domain ownership but do not need and cannot afford the automation, observability and operational maturity that fine-grained services demand. Service-based architecture gives most of the modularity benefit while avoiding orchestration, choreography and distributed-transaction problems almost entirely.</a:t>
            </a:r>
            <a:endParaRPr lang="en-US" sz="12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Service-based topology</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11</a:t>
            </a:r>
            <a:endParaRPr lang="en-US" sz="1000" dirty="0"/>
          </a:p>
        </p:txBody>
      </p:sp>
      <p:sp>
        <p:nvSpPr>
          <p:cNvPr id="7" name="Shape 5"/>
          <p:cNvSpPr/>
          <p:nvPr/>
        </p:nvSpPr>
        <p:spPr>
          <a:xfrm>
            <a:off x="4023360" y="1234440"/>
            <a:ext cx="4114800" cy="548640"/>
          </a:xfrm>
          <a:prstGeom prst="roundRect">
            <a:avLst>
              <a:gd name="adj" fmla="val 8333"/>
            </a:avLst>
          </a:prstGeom>
          <a:solidFill>
            <a:srgbClr val="E3EAEE"/>
          </a:solidFill>
          <a:ln w="12700">
            <a:solidFill>
              <a:srgbClr val="C6D2D8"/>
            </a:solidFill>
            <a:prstDash val="solid"/>
          </a:ln>
        </p:spPr>
        <p:txBody>
          <a:bodyPr/>
          <a:lstStyle/>
          <a:p>
            <a:endParaRPr lang="en-US"/>
          </a:p>
        </p:txBody>
      </p:sp>
      <p:sp>
        <p:nvSpPr>
          <p:cNvPr id="8" name="Text 6"/>
          <p:cNvSpPr txBox="1"/>
          <p:nvPr/>
        </p:nvSpPr>
        <p:spPr>
          <a:xfrm>
            <a:off x="4023360" y="1234440"/>
            <a:ext cx="4114800" cy="548640"/>
          </a:xfrm>
          <a:prstGeom prst="rect">
            <a:avLst/>
          </a:prstGeom>
          <a:noFill/>
          <a:ln/>
        </p:spPr>
        <p:txBody>
          <a:bodyPr wrap="square" lIns="0" tIns="0" rIns="0" bIns="0" rtlCol="0" anchor="ctr"/>
          <a:lstStyle/>
          <a:p>
            <a:pPr marL="0" indent="0" algn="ctr">
              <a:buNone/>
            </a:pPr>
            <a:r>
              <a:rPr lang="en-US" sz="1300" b="1" dirty="0">
                <a:solidFill>
                  <a:srgbClr val="14242E"/>
                </a:solidFill>
                <a:latin typeface="Calibri" pitchFamily="34" charset="0"/>
                <a:ea typeface="Calibri" pitchFamily="34" charset="-122"/>
                <a:cs typeface="Calibri" pitchFamily="34" charset="-120"/>
              </a:rPr>
              <a:t>User interface</a:t>
            </a:r>
            <a:endParaRPr lang="en-US" sz="1300" dirty="0"/>
          </a:p>
        </p:txBody>
      </p:sp>
      <p:sp>
        <p:nvSpPr>
          <p:cNvPr id="9" name="Shape 7"/>
          <p:cNvSpPr/>
          <p:nvPr/>
        </p:nvSpPr>
        <p:spPr>
          <a:xfrm>
            <a:off x="4023360" y="2057400"/>
            <a:ext cx="4114800" cy="502920"/>
          </a:xfrm>
          <a:prstGeom prst="roundRect">
            <a:avLst>
              <a:gd name="adj" fmla="val 9091"/>
            </a:avLst>
          </a:prstGeom>
          <a:solidFill>
            <a:srgbClr val="FFFFFF"/>
          </a:solidFill>
          <a:ln w="15875">
            <a:solidFill>
              <a:srgbClr val="16807E"/>
            </a:solidFill>
            <a:prstDash val="dash"/>
          </a:ln>
        </p:spPr>
        <p:txBody>
          <a:bodyPr/>
          <a:lstStyle/>
          <a:p>
            <a:endParaRPr lang="en-US"/>
          </a:p>
        </p:txBody>
      </p:sp>
      <p:sp>
        <p:nvSpPr>
          <p:cNvPr id="10" name="Text 8"/>
          <p:cNvSpPr txBox="1"/>
          <p:nvPr/>
        </p:nvSpPr>
        <p:spPr>
          <a:xfrm>
            <a:off x="4023360" y="2057400"/>
            <a:ext cx="4114800" cy="502920"/>
          </a:xfrm>
          <a:prstGeom prst="rect">
            <a:avLst/>
          </a:prstGeom>
          <a:noFill/>
          <a:ln/>
        </p:spPr>
        <p:txBody>
          <a:bodyPr wrap="square" lIns="0" tIns="0" rIns="0" bIns="0" rtlCol="0" anchor="ctr"/>
          <a:lstStyle/>
          <a:p>
            <a:pPr marL="0" indent="0" algn="ctr">
              <a:buNone/>
            </a:pPr>
            <a:r>
              <a:rPr lang="en-US" sz="1050" dirty="0">
                <a:solidFill>
                  <a:srgbClr val="16807E"/>
                </a:solidFill>
                <a:latin typeface="Calibri" pitchFamily="34" charset="0"/>
                <a:ea typeface="Calibri" pitchFamily="34" charset="-122"/>
                <a:cs typeface="Calibri" pitchFamily="34" charset="-120"/>
              </a:rPr>
              <a:t>Optional API layer  ·  proxy / gateway  ·  cross-cutting concerns</a:t>
            </a:r>
            <a:endParaRPr lang="en-US" sz="1050" dirty="0"/>
          </a:p>
        </p:txBody>
      </p:sp>
      <p:sp>
        <p:nvSpPr>
          <p:cNvPr id="11" name="Shape 9"/>
          <p:cNvSpPr/>
          <p:nvPr/>
        </p:nvSpPr>
        <p:spPr>
          <a:xfrm>
            <a:off x="6080760" y="1783080"/>
            <a:ext cx="0" cy="274320"/>
          </a:xfrm>
          <a:prstGeom prst="line">
            <a:avLst/>
          </a:prstGeom>
          <a:noFill/>
          <a:ln w="15875">
            <a:solidFill>
              <a:srgbClr val="62757F"/>
            </a:solidFill>
            <a:prstDash val="solid"/>
            <a:tailEnd type="triangle"/>
          </a:ln>
        </p:spPr>
        <p:txBody>
          <a:bodyPr/>
          <a:lstStyle/>
          <a:p>
            <a:endParaRPr lang="en-US"/>
          </a:p>
        </p:txBody>
      </p:sp>
      <p:sp>
        <p:nvSpPr>
          <p:cNvPr id="12" name="Shape 10"/>
          <p:cNvSpPr/>
          <p:nvPr/>
        </p:nvSpPr>
        <p:spPr>
          <a:xfrm>
            <a:off x="6080760" y="2560320"/>
            <a:ext cx="0" cy="566928"/>
          </a:xfrm>
          <a:prstGeom prst="line">
            <a:avLst/>
          </a:prstGeom>
          <a:noFill/>
          <a:ln w="15875">
            <a:solidFill>
              <a:srgbClr val="16807E"/>
            </a:solidFill>
            <a:prstDash val="solid"/>
            <a:tailEnd type="triangle"/>
          </a:ln>
        </p:spPr>
        <p:txBody>
          <a:bodyPr/>
          <a:lstStyle/>
          <a:p>
            <a:endParaRPr lang="en-US"/>
          </a:p>
        </p:txBody>
      </p:sp>
      <p:sp>
        <p:nvSpPr>
          <p:cNvPr id="13" name="Shape 11"/>
          <p:cNvSpPr/>
          <p:nvPr/>
        </p:nvSpPr>
        <p:spPr>
          <a:xfrm>
            <a:off x="777240"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68680" y="3255264"/>
            <a:ext cx="1737360" cy="27432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Quoting service</a:t>
            </a:r>
            <a:endParaRPr lang="en-US" sz="1200" dirty="0"/>
          </a:p>
        </p:txBody>
      </p:sp>
      <p:sp>
        <p:nvSpPr>
          <p:cNvPr id="15" name="Shape 13"/>
          <p:cNvSpPr/>
          <p:nvPr/>
        </p:nvSpPr>
        <p:spPr>
          <a:xfrm>
            <a:off x="941832"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16" name="Text 14"/>
          <p:cNvSpPr txBox="1"/>
          <p:nvPr/>
        </p:nvSpPr>
        <p:spPr>
          <a:xfrm>
            <a:off x="941832" y="3584448"/>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API facade</a:t>
            </a:r>
            <a:endParaRPr lang="en-US" sz="850" dirty="0"/>
          </a:p>
        </p:txBody>
      </p:sp>
      <p:sp>
        <p:nvSpPr>
          <p:cNvPr id="17" name="Shape 15"/>
          <p:cNvSpPr/>
          <p:nvPr/>
        </p:nvSpPr>
        <p:spPr>
          <a:xfrm>
            <a:off x="941832"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18" name="Text 16"/>
          <p:cNvSpPr txBox="1"/>
          <p:nvPr/>
        </p:nvSpPr>
        <p:spPr>
          <a:xfrm>
            <a:off x="941832" y="3822192"/>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Business layer</a:t>
            </a:r>
            <a:endParaRPr lang="en-US" sz="850" dirty="0"/>
          </a:p>
        </p:txBody>
      </p:sp>
      <p:sp>
        <p:nvSpPr>
          <p:cNvPr id="19" name="Shape 17"/>
          <p:cNvSpPr/>
          <p:nvPr/>
        </p:nvSpPr>
        <p:spPr>
          <a:xfrm>
            <a:off x="941832"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20" name="Text 18"/>
          <p:cNvSpPr txBox="1"/>
          <p:nvPr/>
        </p:nvSpPr>
        <p:spPr>
          <a:xfrm>
            <a:off x="941832" y="4059936"/>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Persistence</a:t>
            </a:r>
            <a:endParaRPr lang="en-US" sz="850" dirty="0"/>
          </a:p>
        </p:txBody>
      </p:sp>
      <p:sp>
        <p:nvSpPr>
          <p:cNvPr id="21" name="Shape 19"/>
          <p:cNvSpPr/>
          <p:nvPr/>
        </p:nvSpPr>
        <p:spPr>
          <a:xfrm>
            <a:off x="1737360" y="4352544"/>
            <a:ext cx="4343400" cy="566928"/>
          </a:xfrm>
          <a:prstGeom prst="line">
            <a:avLst/>
          </a:prstGeom>
          <a:noFill/>
          <a:ln w="12700">
            <a:solidFill>
              <a:srgbClr val="9FB9BD"/>
            </a:solidFill>
            <a:prstDash val="solid"/>
            <a:tailEnd type="triangle"/>
          </a:ln>
        </p:spPr>
        <p:txBody>
          <a:bodyPr/>
          <a:lstStyle/>
          <a:p>
            <a:endParaRPr lang="en-US"/>
          </a:p>
        </p:txBody>
      </p:sp>
      <p:sp>
        <p:nvSpPr>
          <p:cNvPr id="22" name="Shape 20"/>
          <p:cNvSpPr/>
          <p:nvPr/>
        </p:nvSpPr>
        <p:spPr>
          <a:xfrm>
            <a:off x="6080760" y="2560320"/>
            <a:ext cx="0" cy="566928"/>
          </a:xfrm>
          <a:prstGeom prst="line">
            <a:avLst/>
          </a:prstGeom>
          <a:noFill/>
          <a:ln w="15875">
            <a:solidFill>
              <a:srgbClr val="16807E"/>
            </a:solidFill>
            <a:prstDash val="solid"/>
            <a:tailEnd type="triangle"/>
          </a:ln>
        </p:spPr>
        <p:txBody>
          <a:bodyPr/>
          <a:lstStyle/>
          <a:p>
            <a:endParaRPr lang="en-US"/>
          </a:p>
        </p:txBody>
      </p:sp>
      <p:sp>
        <p:nvSpPr>
          <p:cNvPr id="23" name="Shape 21"/>
          <p:cNvSpPr/>
          <p:nvPr/>
        </p:nvSpPr>
        <p:spPr>
          <a:xfrm>
            <a:off x="3008376"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24" name="Text 22"/>
          <p:cNvSpPr txBox="1"/>
          <p:nvPr/>
        </p:nvSpPr>
        <p:spPr>
          <a:xfrm>
            <a:off x="3099816" y="3255264"/>
            <a:ext cx="1737360" cy="27432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Receiving service</a:t>
            </a:r>
            <a:endParaRPr lang="en-US" sz="1200" dirty="0"/>
          </a:p>
        </p:txBody>
      </p:sp>
      <p:sp>
        <p:nvSpPr>
          <p:cNvPr id="25" name="Shape 23"/>
          <p:cNvSpPr/>
          <p:nvPr/>
        </p:nvSpPr>
        <p:spPr>
          <a:xfrm>
            <a:off x="3172968"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26" name="Text 24"/>
          <p:cNvSpPr txBox="1"/>
          <p:nvPr/>
        </p:nvSpPr>
        <p:spPr>
          <a:xfrm>
            <a:off x="3172968" y="3584448"/>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API facade</a:t>
            </a:r>
            <a:endParaRPr lang="en-US" sz="850" dirty="0"/>
          </a:p>
        </p:txBody>
      </p:sp>
      <p:sp>
        <p:nvSpPr>
          <p:cNvPr id="27" name="Shape 25"/>
          <p:cNvSpPr/>
          <p:nvPr/>
        </p:nvSpPr>
        <p:spPr>
          <a:xfrm>
            <a:off x="3172968"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28" name="Text 26"/>
          <p:cNvSpPr txBox="1"/>
          <p:nvPr/>
        </p:nvSpPr>
        <p:spPr>
          <a:xfrm>
            <a:off x="3172968" y="3822192"/>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Business layer</a:t>
            </a:r>
            <a:endParaRPr lang="en-US" sz="850" dirty="0"/>
          </a:p>
        </p:txBody>
      </p:sp>
      <p:sp>
        <p:nvSpPr>
          <p:cNvPr id="29" name="Shape 27"/>
          <p:cNvSpPr/>
          <p:nvPr/>
        </p:nvSpPr>
        <p:spPr>
          <a:xfrm>
            <a:off x="3172968"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30" name="Text 28"/>
          <p:cNvSpPr txBox="1"/>
          <p:nvPr/>
        </p:nvSpPr>
        <p:spPr>
          <a:xfrm>
            <a:off x="3172968" y="4059936"/>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Persistence</a:t>
            </a:r>
            <a:endParaRPr lang="en-US" sz="850" dirty="0"/>
          </a:p>
        </p:txBody>
      </p:sp>
      <p:sp>
        <p:nvSpPr>
          <p:cNvPr id="31" name="Shape 29"/>
          <p:cNvSpPr/>
          <p:nvPr/>
        </p:nvSpPr>
        <p:spPr>
          <a:xfrm>
            <a:off x="3968496" y="4352544"/>
            <a:ext cx="2112264" cy="566928"/>
          </a:xfrm>
          <a:prstGeom prst="line">
            <a:avLst/>
          </a:prstGeom>
          <a:noFill/>
          <a:ln w="12700">
            <a:solidFill>
              <a:srgbClr val="9FB9BD"/>
            </a:solidFill>
            <a:prstDash val="solid"/>
            <a:tailEnd type="triangle"/>
          </a:ln>
        </p:spPr>
        <p:txBody>
          <a:bodyPr/>
          <a:lstStyle/>
          <a:p>
            <a:endParaRPr lang="en-US"/>
          </a:p>
        </p:txBody>
      </p:sp>
      <p:sp>
        <p:nvSpPr>
          <p:cNvPr id="32" name="Shape 30"/>
          <p:cNvSpPr/>
          <p:nvPr/>
        </p:nvSpPr>
        <p:spPr>
          <a:xfrm flipH="1">
            <a:off x="3906269" y="2560320"/>
            <a:ext cx="2174491" cy="566928"/>
          </a:xfrm>
          <a:prstGeom prst="line">
            <a:avLst/>
          </a:prstGeom>
          <a:noFill/>
          <a:ln w="15875">
            <a:solidFill>
              <a:srgbClr val="16807E"/>
            </a:solidFill>
            <a:prstDash val="solid"/>
            <a:tailEnd type="triangle"/>
          </a:ln>
        </p:spPr>
        <p:txBody>
          <a:bodyPr/>
          <a:lstStyle/>
          <a:p>
            <a:endParaRPr lang="en-US"/>
          </a:p>
        </p:txBody>
      </p:sp>
      <p:sp>
        <p:nvSpPr>
          <p:cNvPr id="33" name="Shape 31"/>
          <p:cNvSpPr/>
          <p:nvPr/>
        </p:nvSpPr>
        <p:spPr>
          <a:xfrm>
            <a:off x="5239512"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34" name="Text 32"/>
          <p:cNvSpPr txBox="1"/>
          <p:nvPr/>
        </p:nvSpPr>
        <p:spPr>
          <a:xfrm>
            <a:off x="5330952" y="3255264"/>
            <a:ext cx="1737360" cy="27432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Assessment service</a:t>
            </a:r>
            <a:endParaRPr lang="en-US" sz="1200" dirty="0"/>
          </a:p>
        </p:txBody>
      </p:sp>
      <p:sp>
        <p:nvSpPr>
          <p:cNvPr id="35" name="Shape 33"/>
          <p:cNvSpPr/>
          <p:nvPr/>
        </p:nvSpPr>
        <p:spPr>
          <a:xfrm>
            <a:off x="5404104"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36" name="Text 34"/>
          <p:cNvSpPr txBox="1"/>
          <p:nvPr/>
        </p:nvSpPr>
        <p:spPr>
          <a:xfrm>
            <a:off x="5404104" y="3584448"/>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API facade</a:t>
            </a:r>
            <a:endParaRPr lang="en-US" sz="850" dirty="0"/>
          </a:p>
        </p:txBody>
      </p:sp>
      <p:sp>
        <p:nvSpPr>
          <p:cNvPr id="37" name="Shape 35"/>
          <p:cNvSpPr/>
          <p:nvPr/>
        </p:nvSpPr>
        <p:spPr>
          <a:xfrm>
            <a:off x="5404104"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38" name="Text 36"/>
          <p:cNvSpPr txBox="1"/>
          <p:nvPr/>
        </p:nvSpPr>
        <p:spPr>
          <a:xfrm>
            <a:off x="5404104" y="3822192"/>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Business layer</a:t>
            </a:r>
            <a:endParaRPr lang="en-US" sz="850" dirty="0"/>
          </a:p>
        </p:txBody>
      </p:sp>
      <p:sp>
        <p:nvSpPr>
          <p:cNvPr id="39" name="Shape 37"/>
          <p:cNvSpPr/>
          <p:nvPr/>
        </p:nvSpPr>
        <p:spPr>
          <a:xfrm>
            <a:off x="5404104"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40" name="Text 38"/>
          <p:cNvSpPr txBox="1"/>
          <p:nvPr/>
        </p:nvSpPr>
        <p:spPr>
          <a:xfrm>
            <a:off x="5404104" y="4059936"/>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Persistence</a:t>
            </a:r>
            <a:endParaRPr lang="en-US" sz="850" dirty="0"/>
          </a:p>
        </p:txBody>
      </p:sp>
      <p:sp>
        <p:nvSpPr>
          <p:cNvPr id="41" name="Shape 39"/>
          <p:cNvSpPr/>
          <p:nvPr/>
        </p:nvSpPr>
        <p:spPr>
          <a:xfrm>
            <a:off x="6199632" y="4352544"/>
            <a:ext cx="0" cy="566928"/>
          </a:xfrm>
          <a:prstGeom prst="line">
            <a:avLst/>
          </a:prstGeom>
          <a:noFill/>
          <a:ln w="12700">
            <a:solidFill>
              <a:srgbClr val="9FB9BD"/>
            </a:solidFill>
            <a:prstDash val="solid"/>
            <a:tailEnd type="triangle"/>
          </a:ln>
        </p:spPr>
        <p:txBody>
          <a:bodyPr/>
          <a:lstStyle/>
          <a:p>
            <a:endParaRPr lang="en-US"/>
          </a:p>
        </p:txBody>
      </p:sp>
      <p:sp>
        <p:nvSpPr>
          <p:cNvPr id="42" name="Shape 40"/>
          <p:cNvSpPr/>
          <p:nvPr/>
        </p:nvSpPr>
        <p:spPr>
          <a:xfrm>
            <a:off x="6080760" y="2560320"/>
            <a:ext cx="2350008" cy="566928"/>
          </a:xfrm>
          <a:prstGeom prst="line">
            <a:avLst/>
          </a:prstGeom>
          <a:noFill/>
          <a:ln w="15875">
            <a:solidFill>
              <a:srgbClr val="16807E"/>
            </a:solidFill>
            <a:prstDash val="solid"/>
            <a:tailEnd type="triangle"/>
          </a:ln>
        </p:spPr>
        <p:txBody>
          <a:bodyPr/>
          <a:lstStyle/>
          <a:p>
            <a:endParaRPr lang="en-US"/>
          </a:p>
        </p:txBody>
      </p:sp>
      <p:sp>
        <p:nvSpPr>
          <p:cNvPr id="43" name="Shape 41"/>
          <p:cNvSpPr/>
          <p:nvPr/>
        </p:nvSpPr>
        <p:spPr>
          <a:xfrm>
            <a:off x="7470648"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44" name="Text 42"/>
          <p:cNvSpPr txBox="1"/>
          <p:nvPr/>
        </p:nvSpPr>
        <p:spPr>
          <a:xfrm>
            <a:off x="7562088" y="3255264"/>
            <a:ext cx="1737360" cy="27432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Recycling service</a:t>
            </a:r>
            <a:endParaRPr lang="en-US" sz="1200" dirty="0"/>
          </a:p>
        </p:txBody>
      </p:sp>
      <p:sp>
        <p:nvSpPr>
          <p:cNvPr id="45" name="Shape 43"/>
          <p:cNvSpPr/>
          <p:nvPr/>
        </p:nvSpPr>
        <p:spPr>
          <a:xfrm>
            <a:off x="7635240"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46" name="Text 44"/>
          <p:cNvSpPr txBox="1"/>
          <p:nvPr/>
        </p:nvSpPr>
        <p:spPr>
          <a:xfrm>
            <a:off x="7635240" y="3584448"/>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API facade</a:t>
            </a:r>
            <a:endParaRPr lang="en-US" sz="850" dirty="0"/>
          </a:p>
        </p:txBody>
      </p:sp>
      <p:sp>
        <p:nvSpPr>
          <p:cNvPr id="47" name="Shape 45"/>
          <p:cNvSpPr/>
          <p:nvPr/>
        </p:nvSpPr>
        <p:spPr>
          <a:xfrm>
            <a:off x="7635240"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48" name="Text 46"/>
          <p:cNvSpPr txBox="1"/>
          <p:nvPr/>
        </p:nvSpPr>
        <p:spPr>
          <a:xfrm>
            <a:off x="7635240" y="3822192"/>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Business layer</a:t>
            </a:r>
            <a:endParaRPr lang="en-US" sz="850" dirty="0"/>
          </a:p>
        </p:txBody>
      </p:sp>
      <p:sp>
        <p:nvSpPr>
          <p:cNvPr id="49" name="Shape 47"/>
          <p:cNvSpPr/>
          <p:nvPr/>
        </p:nvSpPr>
        <p:spPr>
          <a:xfrm>
            <a:off x="7635240"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50" name="Text 48"/>
          <p:cNvSpPr txBox="1"/>
          <p:nvPr/>
        </p:nvSpPr>
        <p:spPr>
          <a:xfrm>
            <a:off x="7635240" y="4059936"/>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Persistence</a:t>
            </a:r>
            <a:endParaRPr lang="en-US" sz="850" dirty="0"/>
          </a:p>
        </p:txBody>
      </p:sp>
      <p:sp>
        <p:nvSpPr>
          <p:cNvPr id="51" name="Shape 49"/>
          <p:cNvSpPr/>
          <p:nvPr/>
        </p:nvSpPr>
        <p:spPr>
          <a:xfrm flipH="1">
            <a:off x="6318505" y="4352544"/>
            <a:ext cx="2112263" cy="539496"/>
          </a:xfrm>
          <a:prstGeom prst="line">
            <a:avLst/>
          </a:prstGeom>
          <a:noFill/>
          <a:ln w="12700">
            <a:solidFill>
              <a:srgbClr val="9FB9BD"/>
            </a:solidFill>
            <a:prstDash val="solid"/>
            <a:tailEnd type="triangle"/>
          </a:ln>
        </p:spPr>
        <p:txBody>
          <a:bodyPr/>
          <a:lstStyle/>
          <a:p>
            <a:endParaRPr lang="en-US"/>
          </a:p>
        </p:txBody>
      </p:sp>
      <p:sp>
        <p:nvSpPr>
          <p:cNvPr id="52" name="Shape 50"/>
          <p:cNvSpPr/>
          <p:nvPr/>
        </p:nvSpPr>
        <p:spPr>
          <a:xfrm>
            <a:off x="6080760" y="2560320"/>
            <a:ext cx="4581144" cy="566928"/>
          </a:xfrm>
          <a:prstGeom prst="line">
            <a:avLst/>
          </a:prstGeom>
          <a:noFill/>
          <a:ln w="15875">
            <a:solidFill>
              <a:srgbClr val="16807E"/>
            </a:solidFill>
            <a:prstDash val="solid"/>
            <a:tailEnd type="triangle"/>
          </a:ln>
        </p:spPr>
        <p:txBody>
          <a:bodyPr/>
          <a:lstStyle/>
          <a:p>
            <a:endParaRPr lang="en-US"/>
          </a:p>
        </p:txBody>
      </p:sp>
      <p:sp>
        <p:nvSpPr>
          <p:cNvPr id="53" name="Shape 51"/>
          <p:cNvSpPr/>
          <p:nvPr/>
        </p:nvSpPr>
        <p:spPr>
          <a:xfrm>
            <a:off x="9701784"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54" name="Text 52"/>
          <p:cNvSpPr txBox="1"/>
          <p:nvPr/>
        </p:nvSpPr>
        <p:spPr>
          <a:xfrm>
            <a:off x="9793224" y="3255264"/>
            <a:ext cx="1737360" cy="27432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Accounting service</a:t>
            </a:r>
            <a:endParaRPr lang="en-US" sz="1200" dirty="0"/>
          </a:p>
        </p:txBody>
      </p:sp>
      <p:sp>
        <p:nvSpPr>
          <p:cNvPr id="55" name="Shape 53"/>
          <p:cNvSpPr/>
          <p:nvPr/>
        </p:nvSpPr>
        <p:spPr>
          <a:xfrm>
            <a:off x="9866376"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56" name="Text 54"/>
          <p:cNvSpPr txBox="1"/>
          <p:nvPr/>
        </p:nvSpPr>
        <p:spPr>
          <a:xfrm>
            <a:off x="9866376" y="3584448"/>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API facade</a:t>
            </a:r>
            <a:endParaRPr lang="en-US" sz="850" dirty="0"/>
          </a:p>
        </p:txBody>
      </p:sp>
      <p:sp>
        <p:nvSpPr>
          <p:cNvPr id="57" name="Shape 55"/>
          <p:cNvSpPr/>
          <p:nvPr/>
        </p:nvSpPr>
        <p:spPr>
          <a:xfrm>
            <a:off x="9866376"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58" name="Text 56"/>
          <p:cNvSpPr txBox="1"/>
          <p:nvPr/>
        </p:nvSpPr>
        <p:spPr>
          <a:xfrm>
            <a:off x="9866376" y="3822192"/>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Business layer</a:t>
            </a:r>
            <a:endParaRPr lang="en-US" sz="850" dirty="0"/>
          </a:p>
        </p:txBody>
      </p:sp>
      <p:sp>
        <p:nvSpPr>
          <p:cNvPr id="59" name="Shape 57"/>
          <p:cNvSpPr/>
          <p:nvPr/>
        </p:nvSpPr>
        <p:spPr>
          <a:xfrm>
            <a:off x="9866376"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60" name="Text 58"/>
          <p:cNvSpPr txBox="1"/>
          <p:nvPr/>
        </p:nvSpPr>
        <p:spPr>
          <a:xfrm>
            <a:off x="9866376" y="4059936"/>
            <a:ext cx="1591056" cy="201168"/>
          </a:xfrm>
          <a:prstGeom prst="rect">
            <a:avLst/>
          </a:prstGeom>
          <a:noFill/>
          <a:ln/>
        </p:spPr>
        <p:txBody>
          <a:bodyPr wrap="square" lIns="0" tIns="0" rIns="0" bIns="0" rtlCol="0" anchor="ctr"/>
          <a:lstStyle/>
          <a:p>
            <a:pPr marL="0" indent="0" algn="ctr">
              <a:buNone/>
            </a:pPr>
            <a:r>
              <a:rPr lang="en-US" sz="850" dirty="0">
                <a:solidFill>
                  <a:srgbClr val="62757F"/>
                </a:solidFill>
                <a:latin typeface="Calibri" pitchFamily="34" charset="0"/>
                <a:ea typeface="Calibri" pitchFamily="34" charset="-122"/>
                <a:cs typeface="Calibri" pitchFamily="34" charset="-120"/>
              </a:rPr>
              <a:t>Persistence</a:t>
            </a:r>
            <a:endParaRPr lang="en-US" sz="850" dirty="0"/>
          </a:p>
        </p:txBody>
      </p:sp>
      <p:sp>
        <p:nvSpPr>
          <p:cNvPr id="61" name="Shape 59"/>
          <p:cNvSpPr/>
          <p:nvPr/>
        </p:nvSpPr>
        <p:spPr>
          <a:xfrm flipH="1">
            <a:off x="6318505" y="4352544"/>
            <a:ext cx="4343399" cy="548640"/>
          </a:xfrm>
          <a:prstGeom prst="line">
            <a:avLst/>
          </a:prstGeom>
          <a:noFill/>
          <a:ln w="12700">
            <a:solidFill>
              <a:srgbClr val="9FB9BD"/>
            </a:solidFill>
            <a:prstDash val="solid"/>
            <a:tailEnd type="triangle"/>
          </a:ln>
        </p:spPr>
        <p:txBody>
          <a:bodyPr/>
          <a:lstStyle/>
          <a:p>
            <a:endParaRPr lang="en-US"/>
          </a:p>
        </p:txBody>
      </p:sp>
      <p:sp>
        <p:nvSpPr>
          <p:cNvPr id="62" name="Shape 60"/>
          <p:cNvSpPr/>
          <p:nvPr/>
        </p:nvSpPr>
        <p:spPr>
          <a:xfrm>
            <a:off x="4023360" y="4919472"/>
            <a:ext cx="4114800" cy="658368"/>
          </a:xfrm>
          <a:prstGeom prst="roundRect">
            <a:avLst>
              <a:gd name="adj" fmla="val 6944"/>
            </a:avLst>
          </a:prstGeom>
          <a:solidFill>
            <a:srgbClr val="14242E"/>
          </a:solidFill>
          <a:ln w="12700">
            <a:solidFill>
              <a:srgbClr val="14242E"/>
            </a:solidFill>
            <a:prstDash val="solid"/>
          </a:ln>
        </p:spPr>
        <p:txBody>
          <a:bodyPr/>
          <a:lstStyle/>
          <a:p>
            <a:endParaRPr lang="en-US"/>
          </a:p>
        </p:txBody>
      </p:sp>
      <p:sp>
        <p:nvSpPr>
          <p:cNvPr id="63" name="Text 61"/>
          <p:cNvSpPr txBox="1"/>
          <p:nvPr/>
        </p:nvSpPr>
        <p:spPr>
          <a:xfrm>
            <a:off x="4023360" y="4919472"/>
            <a:ext cx="4114800" cy="658368"/>
          </a:xfrm>
          <a:prstGeom prst="rect">
            <a:avLst/>
          </a:prstGeom>
          <a:noFill/>
          <a:ln/>
        </p:spPr>
        <p:txBody>
          <a:bodyPr wrap="square" lIns="0" tIns="0" rIns="0" bIns="0" rtlCol="0" anchor="ctr"/>
          <a:lstStyle/>
          <a:p>
            <a:pPr marL="0" indent="0" algn="ctr">
              <a:buNone/>
            </a:pPr>
            <a:r>
              <a:rPr lang="en-US" sz="1300" b="1" dirty="0">
                <a:solidFill>
                  <a:srgbClr val="E3B23C"/>
                </a:solidFill>
                <a:latin typeface="Calibri" pitchFamily="34" charset="0"/>
                <a:ea typeface="Calibri" pitchFamily="34" charset="-122"/>
                <a:cs typeface="Calibri" pitchFamily="34" charset="-120"/>
              </a:rPr>
              <a:t>Shared monolithic database</a:t>
            </a:r>
            <a:endParaRPr lang="en-US" sz="1300" dirty="0"/>
          </a:p>
        </p:txBody>
      </p:sp>
      <p:sp>
        <p:nvSpPr>
          <p:cNvPr id="64" name="Text 62"/>
          <p:cNvSpPr txBox="1"/>
          <p:nvPr/>
        </p:nvSpPr>
        <p:spPr>
          <a:xfrm>
            <a:off x="777240" y="5715000"/>
            <a:ext cx="10607040" cy="548640"/>
          </a:xfrm>
          <a:prstGeom prst="rect">
            <a:avLst/>
          </a:prstGeom>
          <a:noFill/>
          <a:ln/>
        </p:spPr>
        <p:txBody>
          <a:bodyPr wrap="square" lIns="0" tIns="0" rIns="0" bIns="0" rtlCol="0" anchor="t"/>
          <a:lstStyle/>
          <a:p>
            <a:pPr marL="0" indent="0" algn="l">
              <a:buNone/>
            </a:pPr>
            <a:r>
              <a:rPr lang="en-US" sz="1250" dirty="0">
                <a:solidFill>
                  <a:srgbClr val="62757F"/>
                </a:solidFill>
                <a:latin typeface="Calibri" pitchFamily="34" charset="0"/>
                <a:ea typeface="Calibri" pitchFamily="34" charset="-122"/>
                <a:cs typeface="Calibri" pitchFamily="34" charset="-120"/>
              </a:rPr>
              <a:t>Coarse services plus one database is what keeps this style cheap: joins, referential integrity and ordinary commit-and-rollback transactions all survive. Because the services do not call each other, the loss of one domain service does not take the others down with it.</a:t>
            </a:r>
            <a:endParaRPr lang="en-US" sz="1250" dirty="0"/>
          </a:p>
        </p:txBody>
      </p:sp>
      <p:sp>
        <p:nvSpPr>
          <p:cNvPr id="4" name="Shape 50">
            <a:extLst>
              <a:ext uri="{FF2B5EF4-FFF2-40B4-BE49-F238E27FC236}">
                <a16:creationId xmlns:a16="http://schemas.microsoft.com/office/drawing/2014/main" id="{2F60DC52-9974-9A69-1D7D-579A0EF4BEEC}"/>
              </a:ext>
            </a:extLst>
          </p:cNvPr>
          <p:cNvSpPr/>
          <p:nvPr/>
        </p:nvSpPr>
        <p:spPr>
          <a:xfrm flipH="1">
            <a:off x="1737360" y="2542032"/>
            <a:ext cx="4373881" cy="576072"/>
          </a:xfrm>
          <a:prstGeom prst="line">
            <a:avLst/>
          </a:prstGeom>
          <a:noFill/>
          <a:ln w="15875">
            <a:solidFill>
              <a:srgbClr val="16807E"/>
            </a:solidFill>
            <a:prstDash val="solid"/>
            <a:tailEnd type="triangle"/>
          </a:ln>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Variants: the most flexible of the three</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12</a:t>
            </a:r>
            <a:endParaRPr lang="en-US" sz="1000" dirty="0"/>
          </a:p>
        </p:txBody>
      </p:sp>
      <p:sp>
        <p:nvSpPr>
          <p:cNvPr id="7" name="Text 5"/>
          <p:cNvSpPr txBox="1"/>
          <p:nvPr/>
        </p:nvSpPr>
        <p:spPr>
          <a:xfrm>
            <a:off x="566928" y="1207008"/>
            <a:ext cx="11064240" cy="411480"/>
          </a:xfrm>
          <a:prstGeom prst="rect">
            <a:avLst/>
          </a:prstGeom>
          <a:noFill/>
          <a:ln/>
        </p:spPr>
        <p:txBody>
          <a:bodyPr wrap="square" lIns="0" tIns="0" rIns="0" bIns="0" rtlCol="0" anchor="t"/>
          <a:lstStyle/>
          <a:p>
            <a:pPr marL="0" indent="0" algn="l">
              <a:buNone/>
            </a:pPr>
            <a:r>
              <a:rPr lang="en-US" sz="1400" dirty="0">
                <a:solidFill>
                  <a:srgbClr val="62757F"/>
                </a:solidFill>
                <a:latin typeface="Calibri" pitchFamily="34" charset="0"/>
                <a:ea typeface="Calibri" pitchFamily="34" charset="-122"/>
                <a:cs typeface="Calibri" pitchFamily="34" charset="-120"/>
              </a:rPr>
              <a:t>Service-based architecture is really a family of topologies. Each dial can be turned independently, which lets an architect buy exactly the decoupling the problem needs.</a:t>
            </a:r>
            <a:endParaRPr lang="en-US" sz="1400" dirty="0"/>
          </a:p>
        </p:txBody>
      </p:sp>
      <p:sp>
        <p:nvSpPr>
          <p:cNvPr id="8" name="Shape 6"/>
          <p:cNvSpPr/>
          <p:nvPr/>
        </p:nvSpPr>
        <p:spPr>
          <a:xfrm>
            <a:off x="566928" y="1755648"/>
            <a:ext cx="3520440" cy="3108960"/>
          </a:xfrm>
          <a:prstGeom prst="roundRect">
            <a:avLst>
              <a:gd name="adj" fmla="val 1765"/>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Text 7"/>
          <p:cNvSpPr txBox="1"/>
          <p:nvPr/>
        </p:nvSpPr>
        <p:spPr>
          <a:xfrm>
            <a:off x="822960" y="1938528"/>
            <a:ext cx="3017520" cy="310896"/>
          </a:xfrm>
          <a:prstGeom prst="rect">
            <a:avLst/>
          </a:prstGeom>
          <a:noFill/>
          <a:ln/>
        </p:spPr>
        <p:txBody>
          <a:bodyPr wrap="square" lIns="0" tIns="0" rIns="0" bIns="0" rtlCol="0" anchor="ctr"/>
          <a:lstStyle/>
          <a:p>
            <a:pPr marL="0" indent="0">
              <a:buNone/>
            </a:pPr>
            <a:r>
              <a:rPr lang="en-US" b="1" dirty="0">
                <a:solidFill>
                  <a:srgbClr val="16807E"/>
                </a:solidFill>
                <a:latin typeface="Calibri" pitchFamily="34" charset="0"/>
                <a:ea typeface="Calibri" pitchFamily="34" charset="-122"/>
                <a:cs typeface="Calibri" pitchFamily="34" charset="-120"/>
              </a:rPr>
              <a:t>User interface</a:t>
            </a:r>
            <a:endParaRPr lang="en-US" dirty="0"/>
          </a:p>
        </p:txBody>
      </p:sp>
      <p:sp>
        <p:nvSpPr>
          <p:cNvPr id="10" name="Shape 8"/>
          <p:cNvSpPr/>
          <p:nvPr/>
        </p:nvSpPr>
        <p:spPr>
          <a:xfrm>
            <a:off x="841248" y="2459896"/>
            <a:ext cx="201168" cy="201168"/>
          </a:xfrm>
          <a:prstGeom prst="ellipse">
            <a:avLst/>
          </a:prstGeom>
          <a:solidFill>
            <a:srgbClr val="16807E"/>
          </a:solidFill>
          <a:ln/>
        </p:spPr>
        <p:txBody>
          <a:bodyPr/>
          <a:lstStyle/>
          <a:p>
            <a:endParaRPr lang="en-US"/>
          </a:p>
        </p:txBody>
      </p:sp>
      <p:sp>
        <p:nvSpPr>
          <p:cNvPr id="11" name="Text 9"/>
          <p:cNvSpPr txBox="1"/>
          <p:nvPr/>
        </p:nvSpPr>
        <p:spPr>
          <a:xfrm>
            <a:off x="1133856" y="2331720"/>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One monolithic UI for all services</a:t>
            </a:r>
            <a:endParaRPr lang="en-US" sz="1200" dirty="0"/>
          </a:p>
        </p:txBody>
      </p:sp>
      <p:sp>
        <p:nvSpPr>
          <p:cNvPr id="12" name="Shape 10"/>
          <p:cNvSpPr/>
          <p:nvPr/>
        </p:nvSpPr>
        <p:spPr>
          <a:xfrm>
            <a:off x="841248" y="3026824"/>
            <a:ext cx="201168" cy="201168"/>
          </a:xfrm>
          <a:prstGeom prst="ellipse">
            <a:avLst/>
          </a:prstGeom>
          <a:solidFill>
            <a:srgbClr val="16807E"/>
          </a:solidFill>
          <a:ln/>
        </p:spPr>
        <p:txBody>
          <a:bodyPr/>
          <a:lstStyle/>
          <a:p>
            <a:endParaRPr lang="en-US"/>
          </a:p>
        </p:txBody>
      </p:sp>
      <p:sp>
        <p:nvSpPr>
          <p:cNvPr id="13" name="Text 11"/>
          <p:cNvSpPr txBox="1"/>
          <p:nvPr/>
        </p:nvSpPr>
        <p:spPr>
          <a:xfrm>
            <a:off x="1133856" y="2898648"/>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UI split by domain</a:t>
            </a:r>
            <a:endParaRPr lang="en-US" sz="1200" dirty="0"/>
          </a:p>
        </p:txBody>
      </p:sp>
      <p:sp>
        <p:nvSpPr>
          <p:cNvPr id="14" name="Shape 12"/>
          <p:cNvSpPr/>
          <p:nvPr/>
        </p:nvSpPr>
        <p:spPr>
          <a:xfrm>
            <a:off x="841248" y="3593752"/>
            <a:ext cx="201168" cy="201168"/>
          </a:xfrm>
          <a:prstGeom prst="ellipse">
            <a:avLst/>
          </a:prstGeom>
          <a:solidFill>
            <a:srgbClr val="16807E"/>
          </a:solidFill>
          <a:ln/>
        </p:spPr>
        <p:txBody>
          <a:bodyPr/>
          <a:lstStyle/>
          <a:p>
            <a:endParaRPr lang="en-US"/>
          </a:p>
        </p:txBody>
      </p:sp>
      <p:sp>
        <p:nvSpPr>
          <p:cNvPr id="15" name="Text 13"/>
          <p:cNvSpPr txBox="1"/>
          <p:nvPr/>
        </p:nvSpPr>
        <p:spPr>
          <a:xfrm>
            <a:off x="1133856" y="3465576"/>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One UI per domain service</a:t>
            </a:r>
            <a:endParaRPr lang="en-US" sz="1200" dirty="0"/>
          </a:p>
        </p:txBody>
      </p:sp>
      <p:sp>
        <p:nvSpPr>
          <p:cNvPr id="16" name="Text 14"/>
          <p:cNvSpPr txBox="1"/>
          <p:nvPr/>
        </p:nvSpPr>
        <p:spPr>
          <a:xfrm>
            <a:off x="822960" y="4169664"/>
            <a:ext cx="3017520" cy="548640"/>
          </a:xfrm>
          <a:prstGeom prst="rect">
            <a:avLst/>
          </a:prstGeom>
          <a:noFill/>
          <a:ln/>
        </p:spPr>
        <p:txBody>
          <a:bodyPr wrap="square" lIns="0" tIns="0" rIns="0" bIns="0" rtlCol="0" anchor="ctr"/>
          <a:lstStyle/>
          <a:p>
            <a:pPr marL="0" indent="0">
              <a:buNone/>
            </a:pPr>
            <a:r>
              <a:rPr lang="en-US" sz="1150" i="1" dirty="0">
                <a:solidFill>
                  <a:srgbClr val="62757F"/>
                </a:solidFill>
                <a:latin typeface="Calibri" pitchFamily="34" charset="0"/>
                <a:ea typeface="Calibri" pitchFamily="34" charset="-122"/>
                <a:cs typeface="Calibri" pitchFamily="34" charset="-120"/>
              </a:rPr>
              <a:t>Splitting the UI is what turns one quantum into several.</a:t>
            </a:r>
            <a:endParaRPr lang="en-US" sz="1150" dirty="0"/>
          </a:p>
        </p:txBody>
      </p:sp>
      <p:sp>
        <p:nvSpPr>
          <p:cNvPr id="17" name="Shape 15"/>
          <p:cNvSpPr/>
          <p:nvPr/>
        </p:nvSpPr>
        <p:spPr>
          <a:xfrm>
            <a:off x="4334256" y="1755648"/>
            <a:ext cx="3520440" cy="3108960"/>
          </a:xfrm>
          <a:prstGeom prst="roundRect">
            <a:avLst>
              <a:gd name="adj" fmla="val 1765"/>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8" name="Text 16"/>
          <p:cNvSpPr txBox="1"/>
          <p:nvPr/>
        </p:nvSpPr>
        <p:spPr>
          <a:xfrm>
            <a:off x="4590288" y="1938528"/>
            <a:ext cx="3017520" cy="310896"/>
          </a:xfrm>
          <a:prstGeom prst="rect">
            <a:avLst/>
          </a:prstGeom>
          <a:noFill/>
          <a:ln/>
        </p:spPr>
        <p:txBody>
          <a:bodyPr wrap="square" lIns="0" tIns="0" rIns="0" bIns="0" rtlCol="0" anchor="ctr"/>
          <a:lstStyle/>
          <a:p>
            <a:pPr marL="0" indent="0">
              <a:buNone/>
            </a:pPr>
            <a:r>
              <a:rPr lang="en-US" b="1" dirty="0">
                <a:solidFill>
                  <a:srgbClr val="16807E"/>
                </a:solidFill>
                <a:latin typeface="Calibri" pitchFamily="34" charset="0"/>
                <a:ea typeface="Calibri" pitchFamily="34" charset="-122"/>
                <a:cs typeface="Calibri" pitchFamily="34" charset="-120"/>
              </a:rPr>
              <a:t>Database</a:t>
            </a:r>
            <a:endParaRPr lang="en-US" dirty="0"/>
          </a:p>
        </p:txBody>
      </p:sp>
      <p:sp>
        <p:nvSpPr>
          <p:cNvPr id="19" name="Shape 17"/>
          <p:cNvSpPr/>
          <p:nvPr/>
        </p:nvSpPr>
        <p:spPr>
          <a:xfrm>
            <a:off x="4608576" y="2459896"/>
            <a:ext cx="201168" cy="201168"/>
          </a:xfrm>
          <a:prstGeom prst="ellipse">
            <a:avLst/>
          </a:prstGeom>
          <a:solidFill>
            <a:srgbClr val="16807E"/>
          </a:solidFill>
          <a:ln/>
        </p:spPr>
        <p:txBody>
          <a:bodyPr/>
          <a:lstStyle/>
          <a:p>
            <a:endParaRPr lang="en-US"/>
          </a:p>
        </p:txBody>
      </p:sp>
      <p:sp>
        <p:nvSpPr>
          <p:cNvPr id="20" name="Text 18"/>
          <p:cNvSpPr txBox="1"/>
          <p:nvPr/>
        </p:nvSpPr>
        <p:spPr>
          <a:xfrm>
            <a:off x="4901184" y="2331720"/>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One shared monolithic database</a:t>
            </a:r>
            <a:endParaRPr lang="en-US" sz="1200" dirty="0"/>
          </a:p>
        </p:txBody>
      </p:sp>
      <p:sp>
        <p:nvSpPr>
          <p:cNvPr id="21" name="Shape 19"/>
          <p:cNvSpPr/>
          <p:nvPr/>
        </p:nvSpPr>
        <p:spPr>
          <a:xfrm>
            <a:off x="4608576" y="3026824"/>
            <a:ext cx="201168" cy="201168"/>
          </a:xfrm>
          <a:prstGeom prst="ellipse">
            <a:avLst/>
          </a:prstGeom>
          <a:solidFill>
            <a:srgbClr val="16807E"/>
          </a:solidFill>
          <a:ln/>
        </p:spPr>
        <p:txBody>
          <a:bodyPr/>
          <a:lstStyle/>
          <a:p>
            <a:endParaRPr lang="en-US"/>
          </a:p>
        </p:txBody>
      </p:sp>
      <p:sp>
        <p:nvSpPr>
          <p:cNvPr id="22" name="Text 20"/>
          <p:cNvSpPr txBox="1"/>
          <p:nvPr/>
        </p:nvSpPr>
        <p:spPr>
          <a:xfrm>
            <a:off x="4901184" y="2898648"/>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Databases grouped by domain</a:t>
            </a:r>
            <a:endParaRPr lang="en-US" sz="1200" dirty="0"/>
          </a:p>
        </p:txBody>
      </p:sp>
      <p:sp>
        <p:nvSpPr>
          <p:cNvPr id="23" name="Shape 21"/>
          <p:cNvSpPr/>
          <p:nvPr/>
        </p:nvSpPr>
        <p:spPr>
          <a:xfrm>
            <a:off x="4608576" y="3593752"/>
            <a:ext cx="201168" cy="201168"/>
          </a:xfrm>
          <a:prstGeom prst="ellipse">
            <a:avLst/>
          </a:prstGeom>
          <a:solidFill>
            <a:srgbClr val="16807E"/>
          </a:solidFill>
          <a:ln/>
        </p:spPr>
        <p:txBody>
          <a:bodyPr/>
          <a:lstStyle/>
          <a:p>
            <a:endParaRPr lang="en-US"/>
          </a:p>
        </p:txBody>
      </p:sp>
      <p:sp>
        <p:nvSpPr>
          <p:cNvPr id="24" name="Text 22"/>
          <p:cNvSpPr txBox="1"/>
          <p:nvPr/>
        </p:nvSpPr>
        <p:spPr>
          <a:xfrm>
            <a:off x="4901184" y="3465576"/>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One database per service</a:t>
            </a:r>
            <a:endParaRPr lang="en-US" sz="1200" dirty="0"/>
          </a:p>
        </p:txBody>
      </p:sp>
      <p:sp>
        <p:nvSpPr>
          <p:cNvPr id="25" name="Text 23"/>
          <p:cNvSpPr txBox="1"/>
          <p:nvPr/>
        </p:nvSpPr>
        <p:spPr>
          <a:xfrm>
            <a:off x="4590288" y="4169664"/>
            <a:ext cx="3017520" cy="548640"/>
          </a:xfrm>
          <a:prstGeom prst="rect">
            <a:avLst/>
          </a:prstGeom>
          <a:noFill/>
          <a:ln/>
        </p:spPr>
        <p:txBody>
          <a:bodyPr wrap="square" lIns="0" tIns="0" rIns="0" bIns="0" rtlCol="0" anchor="ctr"/>
          <a:lstStyle/>
          <a:p>
            <a:pPr marL="0" indent="0">
              <a:buNone/>
            </a:pPr>
            <a:r>
              <a:rPr lang="en-US" sz="1150" i="1" dirty="0">
                <a:solidFill>
                  <a:srgbClr val="62757F"/>
                </a:solidFill>
                <a:latin typeface="Calibri" pitchFamily="34" charset="0"/>
                <a:ea typeface="Calibri" pitchFamily="34" charset="-122"/>
                <a:cs typeface="Calibri" pitchFamily="34" charset="-120"/>
              </a:rPr>
              <a:t>Only split where no other domain needs that data — never duplicate.</a:t>
            </a:r>
            <a:endParaRPr lang="en-US" sz="1150" dirty="0"/>
          </a:p>
        </p:txBody>
      </p:sp>
      <p:sp>
        <p:nvSpPr>
          <p:cNvPr id="26" name="Shape 24"/>
          <p:cNvSpPr/>
          <p:nvPr/>
        </p:nvSpPr>
        <p:spPr>
          <a:xfrm>
            <a:off x="8101584" y="1755648"/>
            <a:ext cx="3520440" cy="3108960"/>
          </a:xfrm>
          <a:prstGeom prst="roundRect">
            <a:avLst>
              <a:gd name="adj" fmla="val 1765"/>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7" name="Text 25"/>
          <p:cNvSpPr txBox="1"/>
          <p:nvPr/>
        </p:nvSpPr>
        <p:spPr>
          <a:xfrm>
            <a:off x="8357616" y="1938528"/>
            <a:ext cx="3017520" cy="310896"/>
          </a:xfrm>
          <a:prstGeom prst="rect">
            <a:avLst/>
          </a:prstGeom>
          <a:noFill/>
          <a:ln/>
        </p:spPr>
        <p:txBody>
          <a:bodyPr wrap="square" lIns="0" tIns="0" rIns="0" bIns="0" rtlCol="0" anchor="ctr"/>
          <a:lstStyle/>
          <a:p>
            <a:pPr marL="0" indent="0">
              <a:buNone/>
            </a:pPr>
            <a:r>
              <a:rPr lang="en-US" b="1" dirty="0">
                <a:solidFill>
                  <a:srgbClr val="16807E"/>
                </a:solidFill>
                <a:latin typeface="Calibri" pitchFamily="34" charset="0"/>
                <a:ea typeface="Calibri" pitchFamily="34" charset="-122"/>
                <a:cs typeface="Calibri" pitchFamily="34" charset="-120"/>
              </a:rPr>
              <a:t>API layer</a:t>
            </a:r>
            <a:endParaRPr lang="en-US" dirty="0"/>
          </a:p>
        </p:txBody>
      </p:sp>
      <p:sp>
        <p:nvSpPr>
          <p:cNvPr id="28" name="Shape 26"/>
          <p:cNvSpPr/>
          <p:nvPr/>
        </p:nvSpPr>
        <p:spPr>
          <a:xfrm>
            <a:off x="8375904" y="2459896"/>
            <a:ext cx="201168" cy="201168"/>
          </a:xfrm>
          <a:prstGeom prst="ellipse">
            <a:avLst/>
          </a:prstGeom>
          <a:solidFill>
            <a:srgbClr val="16807E"/>
          </a:solidFill>
          <a:ln/>
        </p:spPr>
        <p:txBody>
          <a:bodyPr/>
          <a:lstStyle/>
          <a:p>
            <a:endParaRPr lang="en-US"/>
          </a:p>
        </p:txBody>
      </p:sp>
      <p:sp>
        <p:nvSpPr>
          <p:cNvPr id="29" name="Text 27"/>
          <p:cNvSpPr txBox="1"/>
          <p:nvPr/>
        </p:nvSpPr>
        <p:spPr>
          <a:xfrm>
            <a:off x="8668512" y="2331720"/>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UI calls services directly</a:t>
            </a:r>
            <a:endParaRPr lang="en-US" sz="1200" dirty="0"/>
          </a:p>
        </p:txBody>
      </p:sp>
      <p:sp>
        <p:nvSpPr>
          <p:cNvPr id="30" name="Shape 28"/>
          <p:cNvSpPr/>
          <p:nvPr/>
        </p:nvSpPr>
        <p:spPr>
          <a:xfrm>
            <a:off x="8375904" y="3026824"/>
            <a:ext cx="201168" cy="201168"/>
          </a:xfrm>
          <a:prstGeom prst="ellipse">
            <a:avLst/>
          </a:prstGeom>
          <a:solidFill>
            <a:srgbClr val="16807E"/>
          </a:solidFill>
          <a:ln/>
        </p:spPr>
        <p:txBody>
          <a:bodyPr/>
          <a:lstStyle/>
          <a:p>
            <a:endParaRPr lang="en-US"/>
          </a:p>
        </p:txBody>
      </p:sp>
      <p:sp>
        <p:nvSpPr>
          <p:cNvPr id="31" name="Text 29"/>
          <p:cNvSpPr txBox="1"/>
          <p:nvPr/>
        </p:nvSpPr>
        <p:spPr>
          <a:xfrm>
            <a:off x="8668512" y="2898648"/>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Service locator inside the UI</a:t>
            </a:r>
            <a:endParaRPr lang="en-US" sz="1200" dirty="0"/>
          </a:p>
        </p:txBody>
      </p:sp>
      <p:sp>
        <p:nvSpPr>
          <p:cNvPr id="32" name="Shape 30"/>
          <p:cNvSpPr/>
          <p:nvPr/>
        </p:nvSpPr>
        <p:spPr>
          <a:xfrm>
            <a:off x="8375904" y="3593752"/>
            <a:ext cx="201168" cy="201168"/>
          </a:xfrm>
          <a:prstGeom prst="ellipse">
            <a:avLst/>
          </a:prstGeom>
          <a:solidFill>
            <a:srgbClr val="16807E"/>
          </a:solidFill>
          <a:ln/>
        </p:spPr>
        <p:txBody>
          <a:bodyPr/>
          <a:lstStyle/>
          <a:p>
            <a:endParaRPr lang="en-US"/>
          </a:p>
        </p:txBody>
      </p:sp>
      <p:sp>
        <p:nvSpPr>
          <p:cNvPr id="33" name="Text 31"/>
          <p:cNvSpPr txBox="1"/>
          <p:nvPr/>
        </p:nvSpPr>
        <p:spPr>
          <a:xfrm>
            <a:off x="8668512" y="3465576"/>
            <a:ext cx="2724912" cy="4572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Reverse proxy or gateway in front</a:t>
            </a:r>
            <a:endParaRPr lang="en-US" sz="1200" dirty="0"/>
          </a:p>
        </p:txBody>
      </p:sp>
      <p:sp>
        <p:nvSpPr>
          <p:cNvPr id="34" name="Text 32"/>
          <p:cNvSpPr txBox="1"/>
          <p:nvPr/>
        </p:nvSpPr>
        <p:spPr>
          <a:xfrm>
            <a:off x="8357616" y="4169664"/>
            <a:ext cx="3017520" cy="548640"/>
          </a:xfrm>
          <a:prstGeom prst="rect">
            <a:avLst/>
          </a:prstGeom>
          <a:noFill/>
          <a:ln/>
        </p:spPr>
        <p:txBody>
          <a:bodyPr wrap="square" lIns="0" tIns="0" rIns="0" bIns="0" rtlCol="0" anchor="ctr"/>
          <a:lstStyle/>
          <a:p>
            <a:pPr marL="0" indent="0">
              <a:buNone/>
            </a:pPr>
            <a:r>
              <a:rPr lang="en-US" sz="1150" i="1" dirty="0">
                <a:solidFill>
                  <a:srgbClr val="62757F"/>
                </a:solidFill>
                <a:latin typeface="Calibri" pitchFamily="34" charset="0"/>
                <a:ea typeface="Calibri" pitchFamily="34" charset="-122"/>
                <a:cs typeface="Calibri" pitchFamily="34" charset="-120"/>
              </a:rPr>
              <a:t>A gateway consolidates metrics, security, auditing and discovery.</a:t>
            </a:r>
            <a:endParaRPr lang="en-US" sz="1150" dirty="0"/>
          </a:p>
        </p:txBody>
      </p:sp>
      <p:sp>
        <p:nvSpPr>
          <p:cNvPr id="35" name="Shape 33"/>
          <p:cNvSpPr/>
          <p:nvPr/>
        </p:nvSpPr>
        <p:spPr>
          <a:xfrm>
            <a:off x="566928" y="5074920"/>
            <a:ext cx="11064240" cy="914400"/>
          </a:xfrm>
          <a:prstGeom prst="roundRect">
            <a:avLst>
              <a:gd name="adj" fmla="val 6000"/>
            </a:avLst>
          </a:prstGeom>
          <a:solidFill>
            <a:srgbClr val="E6F2F1"/>
          </a:solidFill>
          <a:ln w="6350">
            <a:solidFill>
              <a:srgbClr val="E6F2F1"/>
            </a:solidFill>
            <a:prstDash val="solid"/>
          </a:ln>
          <a:effectLst>
            <a:outerShdw blurRad="50800" dist="38100" dir="5400000" algn="t" rotWithShape="0">
              <a:prstClr val="black">
                <a:alpha val="40000"/>
              </a:prstClr>
            </a:outerShdw>
          </a:effectLst>
        </p:spPr>
        <p:txBody>
          <a:bodyPr/>
          <a:lstStyle/>
          <a:p>
            <a:endParaRPr lang="en-US"/>
          </a:p>
        </p:txBody>
      </p:sp>
      <p:sp>
        <p:nvSpPr>
          <p:cNvPr id="36" name="Text 34"/>
          <p:cNvSpPr txBox="1"/>
          <p:nvPr/>
        </p:nvSpPr>
        <p:spPr>
          <a:xfrm>
            <a:off x="868680" y="5212080"/>
            <a:ext cx="2103120" cy="274320"/>
          </a:xfrm>
          <a:prstGeom prst="rect">
            <a:avLst/>
          </a:prstGeom>
          <a:noFill/>
          <a:ln/>
        </p:spPr>
        <p:txBody>
          <a:bodyPr wrap="square" lIns="0" tIns="0" rIns="0" bIns="0" rtlCol="0" anchor="ctr"/>
          <a:lstStyle/>
          <a:p>
            <a:pPr marL="0" indent="0">
              <a:buNone/>
            </a:pPr>
            <a:r>
              <a:rPr lang="en-US" sz="1400" b="1" dirty="0">
                <a:solidFill>
                  <a:srgbClr val="16807E"/>
                </a:solidFill>
                <a:latin typeface="Calibri" pitchFamily="34" charset="0"/>
                <a:ea typeface="Calibri" pitchFamily="34" charset="-122"/>
                <a:cs typeface="Calibri" pitchFamily="34" charset="-120"/>
              </a:rPr>
              <a:t>Service design</a:t>
            </a:r>
            <a:endParaRPr lang="en-US" sz="1400" dirty="0"/>
          </a:p>
        </p:txBody>
      </p:sp>
      <p:sp>
        <p:nvSpPr>
          <p:cNvPr id="37" name="Text 35"/>
          <p:cNvSpPr txBox="1"/>
          <p:nvPr/>
        </p:nvSpPr>
        <p:spPr>
          <a:xfrm>
            <a:off x="3063240" y="5193792"/>
            <a:ext cx="8275320" cy="658368"/>
          </a:xfrm>
          <a:prstGeom prst="rect">
            <a:avLst/>
          </a:prstGeom>
          <a:noFill/>
          <a:ln/>
        </p:spPr>
        <p:txBody>
          <a:bodyPr wrap="square" lIns="0" tIns="0" rIns="0" bIns="0" rtlCol="0" anchor="ctr"/>
          <a:lstStyle/>
          <a:p>
            <a:pPr marL="0" indent="0" algn="just">
              <a:buNone/>
            </a:pPr>
            <a:r>
              <a:rPr lang="en-US" sz="1250" dirty="0">
                <a:solidFill>
                  <a:srgbClr val="1F3644"/>
                </a:solidFill>
                <a:latin typeface="Calibri" pitchFamily="34" charset="0"/>
                <a:ea typeface="Calibri" pitchFamily="34" charset="-122"/>
                <a:cs typeface="Calibri" pitchFamily="34" charset="-120"/>
              </a:rPr>
              <a:t>Each domain service is internally layered (API facade, business, persistence) or partitioned into sub-domains like a modular monolith. The facade takes on orchestration of a business request for example, a single checkout call that touches several tables inside one transaction boundary.</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Service-based: trade-offs</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658368" y="1207008"/>
            <a:ext cx="5074920" cy="713232"/>
          </a:xfrm>
          <a:prstGeom prst="roundRect">
            <a:avLst>
              <a:gd name="adj" fmla="val 769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86968" y="1298448"/>
            <a:ext cx="2194560" cy="237744"/>
          </a:xfrm>
          <a:prstGeom prst="rect">
            <a:avLst/>
          </a:prstGeom>
          <a:noFill/>
          <a:ln/>
        </p:spPr>
        <p:txBody>
          <a:bodyPr wrap="square" lIns="0" tIns="0" rIns="0" bIns="0" rtlCol="0" anchor="ctr"/>
          <a:lstStyle/>
          <a:p>
            <a:pPr marL="0" indent="0">
              <a:buNone/>
            </a:pPr>
            <a:r>
              <a:rPr lang="en-US" sz="1000" dirty="0">
                <a:solidFill>
                  <a:srgbClr val="62757F"/>
                </a:solidFill>
                <a:latin typeface="Calibri" pitchFamily="34" charset="0"/>
                <a:ea typeface="Calibri" pitchFamily="34" charset="-122"/>
                <a:cs typeface="Calibri" pitchFamily="34" charset="-120"/>
              </a:rPr>
              <a:t>Partitioning</a:t>
            </a:r>
            <a:endParaRPr lang="en-US" sz="1000" dirty="0"/>
          </a:p>
        </p:txBody>
      </p:sp>
      <p:sp>
        <p:nvSpPr>
          <p:cNvPr id="9" name="Text 7"/>
          <p:cNvSpPr txBox="1"/>
          <p:nvPr/>
        </p:nvSpPr>
        <p:spPr>
          <a:xfrm>
            <a:off x="886968" y="1536192"/>
            <a:ext cx="2286000" cy="274320"/>
          </a:xfrm>
          <a:prstGeom prst="rect">
            <a:avLst/>
          </a:prstGeom>
          <a:noFill/>
          <a:ln/>
        </p:spPr>
        <p:txBody>
          <a:bodyPr wrap="square" lIns="0" tIns="0" rIns="0" bIns="0" rtlCol="0" anchor="ctr"/>
          <a:lstStyle/>
          <a:p>
            <a:pPr marL="0" indent="0">
              <a:buNone/>
            </a:pPr>
            <a:r>
              <a:rPr lang="en-US" sz="1300" b="1" dirty="0">
                <a:solidFill>
                  <a:srgbClr val="14242E"/>
                </a:solidFill>
                <a:latin typeface="Calibri" pitchFamily="34" charset="0"/>
                <a:ea typeface="Calibri" pitchFamily="34" charset="-122"/>
                <a:cs typeface="Calibri" pitchFamily="34" charset="-120"/>
              </a:rPr>
              <a:t>Domain</a:t>
            </a:r>
            <a:endParaRPr lang="en-US" sz="1300" dirty="0"/>
          </a:p>
        </p:txBody>
      </p:sp>
      <p:sp>
        <p:nvSpPr>
          <p:cNvPr id="10" name="Text 8"/>
          <p:cNvSpPr txBox="1"/>
          <p:nvPr/>
        </p:nvSpPr>
        <p:spPr>
          <a:xfrm>
            <a:off x="3401568" y="1298448"/>
            <a:ext cx="2194560" cy="237744"/>
          </a:xfrm>
          <a:prstGeom prst="rect">
            <a:avLst/>
          </a:prstGeom>
          <a:noFill/>
          <a:ln/>
        </p:spPr>
        <p:txBody>
          <a:bodyPr wrap="square" lIns="0" tIns="0" rIns="0" bIns="0" rtlCol="0" anchor="ctr"/>
          <a:lstStyle/>
          <a:p>
            <a:pPr marL="0" indent="0">
              <a:buNone/>
            </a:pPr>
            <a:r>
              <a:rPr lang="en-US" sz="1000" dirty="0">
                <a:solidFill>
                  <a:srgbClr val="62757F"/>
                </a:solidFill>
                <a:latin typeface="Calibri" pitchFamily="34" charset="0"/>
                <a:ea typeface="Calibri" pitchFamily="34" charset="-122"/>
                <a:cs typeface="Calibri" pitchFamily="34" charset="-120"/>
              </a:rPr>
              <a:t>Architecture quanta</a:t>
            </a:r>
            <a:endParaRPr lang="en-US" sz="1000" dirty="0"/>
          </a:p>
        </p:txBody>
      </p:sp>
      <p:sp>
        <p:nvSpPr>
          <p:cNvPr id="11" name="Text 9"/>
          <p:cNvSpPr txBox="1"/>
          <p:nvPr/>
        </p:nvSpPr>
        <p:spPr>
          <a:xfrm>
            <a:off x="3401568" y="1536192"/>
            <a:ext cx="2286000" cy="274320"/>
          </a:xfrm>
          <a:prstGeom prst="rect">
            <a:avLst/>
          </a:prstGeom>
          <a:noFill/>
          <a:ln/>
        </p:spPr>
        <p:txBody>
          <a:bodyPr wrap="square" lIns="0" tIns="0" rIns="0" bIns="0" rtlCol="0" anchor="ctr"/>
          <a:lstStyle/>
          <a:p>
            <a:pPr marL="0" indent="0">
              <a:buNone/>
            </a:pPr>
            <a:r>
              <a:rPr lang="en-US" sz="1300" b="1" dirty="0">
                <a:solidFill>
                  <a:srgbClr val="14242E"/>
                </a:solidFill>
                <a:latin typeface="Calibri" pitchFamily="34" charset="0"/>
                <a:ea typeface="Calibri" pitchFamily="34" charset="-122"/>
                <a:cs typeface="Calibri" pitchFamily="34" charset="-120"/>
              </a:rPr>
              <a:t>1 to many</a:t>
            </a:r>
            <a:endParaRPr lang="en-US" sz="1300" dirty="0"/>
          </a:p>
        </p:txBody>
      </p:sp>
      <p:sp>
        <p:nvSpPr>
          <p:cNvPr id="12" name="Text 10"/>
          <p:cNvSpPr txBox="1"/>
          <p:nvPr/>
        </p:nvSpPr>
        <p:spPr>
          <a:xfrm>
            <a:off x="704088" y="208483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Deployability</a:t>
            </a:r>
            <a:endParaRPr lang="en-US" sz="1300" dirty="0"/>
          </a:p>
        </p:txBody>
      </p:sp>
      <p:sp>
        <p:nvSpPr>
          <p:cNvPr id="13" name="Shape 11"/>
          <p:cNvSpPr/>
          <p:nvPr/>
        </p:nvSpPr>
        <p:spPr>
          <a:xfrm>
            <a:off x="3035808" y="2144268"/>
            <a:ext cx="132588" cy="132588"/>
          </a:xfrm>
          <a:prstGeom prst="ellipse">
            <a:avLst/>
          </a:prstGeom>
          <a:solidFill>
            <a:srgbClr val="16807E"/>
          </a:solidFill>
          <a:ln/>
        </p:spPr>
        <p:txBody>
          <a:bodyPr/>
          <a:lstStyle/>
          <a:p>
            <a:endParaRPr lang="en-US"/>
          </a:p>
        </p:txBody>
      </p:sp>
      <p:sp>
        <p:nvSpPr>
          <p:cNvPr id="14" name="Shape 12"/>
          <p:cNvSpPr/>
          <p:nvPr/>
        </p:nvSpPr>
        <p:spPr>
          <a:xfrm>
            <a:off x="3218688" y="2144268"/>
            <a:ext cx="132588" cy="132588"/>
          </a:xfrm>
          <a:prstGeom prst="ellipse">
            <a:avLst/>
          </a:prstGeom>
          <a:solidFill>
            <a:srgbClr val="16807E"/>
          </a:solidFill>
          <a:ln/>
        </p:spPr>
        <p:txBody>
          <a:bodyPr/>
          <a:lstStyle/>
          <a:p>
            <a:endParaRPr lang="en-US"/>
          </a:p>
        </p:txBody>
      </p:sp>
      <p:sp>
        <p:nvSpPr>
          <p:cNvPr id="15" name="Shape 13"/>
          <p:cNvSpPr/>
          <p:nvPr/>
        </p:nvSpPr>
        <p:spPr>
          <a:xfrm>
            <a:off x="3401568" y="2144268"/>
            <a:ext cx="132588" cy="132588"/>
          </a:xfrm>
          <a:prstGeom prst="ellipse">
            <a:avLst/>
          </a:prstGeom>
          <a:solidFill>
            <a:srgbClr val="16807E"/>
          </a:solidFill>
          <a:ln/>
        </p:spPr>
        <p:txBody>
          <a:bodyPr/>
          <a:lstStyle/>
          <a:p>
            <a:endParaRPr lang="en-US"/>
          </a:p>
        </p:txBody>
      </p:sp>
      <p:sp>
        <p:nvSpPr>
          <p:cNvPr id="16" name="Shape 14"/>
          <p:cNvSpPr/>
          <p:nvPr/>
        </p:nvSpPr>
        <p:spPr>
          <a:xfrm>
            <a:off x="3584448" y="2144268"/>
            <a:ext cx="132588" cy="132588"/>
          </a:xfrm>
          <a:prstGeom prst="ellipse">
            <a:avLst/>
          </a:prstGeom>
          <a:solidFill>
            <a:srgbClr val="16807E"/>
          </a:solidFill>
          <a:ln/>
        </p:spPr>
        <p:txBody>
          <a:bodyPr/>
          <a:lstStyle/>
          <a:p>
            <a:endParaRPr lang="en-US"/>
          </a:p>
        </p:txBody>
      </p:sp>
      <p:sp>
        <p:nvSpPr>
          <p:cNvPr id="17" name="Shape 15"/>
          <p:cNvSpPr/>
          <p:nvPr/>
        </p:nvSpPr>
        <p:spPr>
          <a:xfrm>
            <a:off x="3767328" y="2144268"/>
            <a:ext cx="132588" cy="132588"/>
          </a:xfrm>
          <a:prstGeom prst="ellipse">
            <a:avLst/>
          </a:prstGeom>
          <a:solidFill>
            <a:srgbClr val="D2DBDF"/>
          </a:solidFill>
          <a:ln/>
        </p:spPr>
        <p:txBody>
          <a:bodyPr/>
          <a:lstStyle/>
          <a:p>
            <a:endParaRPr lang="en-US"/>
          </a:p>
        </p:txBody>
      </p:sp>
      <p:sp>
        <p:nvSpPr>
          <p:cNvPr id="18" name="Text 16"/>
          <p:cNvSpPr txBox="1"/>
          <p:nvPr/>
        </p:nvSpPr>
        <p:spPr>
          <a:xfrm>
            <a:off x="4087368" y="208483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19" name="Text 17"/>
          <p:cNvSpPr txBox="1"/>
          <p:nvPr/>
        </p:nvSpPr>
        <p:spPr>
          <a:xfrm>
            <a:off x="704088" y="2436876"/>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Elasticity</a:t>
            </a:r>
            <a:endParaRPr lang="en-US" sz="1300" dirty="0"/>
          </a:p>
        </p:txBody>
      </p:sp>
      <p:sp>
        <p:nvSpPr>
          <p:cNvPr id="20" name="Shape 18"/>
          <p:cNvSpPr/>
          <p:nvPr/>
        </p:nvSpPr>
        <p:spPr>
          <a:xfrm>
            <a:off x="3035808" y="2496312"/>
            <a:ext cx="132588" cy="132588"/>
          </a:xfrm>
          <a:prstGeom prst="ellipse">
            <a:avLst/>
          </a:prstGeom>
          <a:solidFill>
            <a:srgbClr val="16807E"/>
          </a:solidFill>
          <a:ln/>
        </p:spPr>
        <p:txBody>
          <a:bodyPr/>
          <a:lstStyle/>
          <a:p>
            <a:endParaRPr lang="en-US"/>
          </a:p>
        </p:txBody>
      </p:sp>
      <p:sp>
        <p:nvSpPr>
          <p:cNvPr id="21" name="Shape 19"/>
          <p:cNvSpPr/>
          <p:nvPr/>
        </p:nvSpPr>
        <p:spPr>
          <a:xfrm>
            <a:off x="3218688" y="2496312"/>
            <a:ext cx="132588" cy="132588"/>
          </a:xfrm>
          <a:prstGeom prst="ellipse">
            <a:avLst/>
          </a:prstGeom>
          <a:solidFill>
            <a:srgbClr val="16807E"/>
          </a:solidFill>
          <a:ln/>
        </p:spPr>
        <p:txBody>
          <a:bodyPr/>
          <a:lstStyle/>
          <a:p>
            <a:endParaRPr lang="en-US"/>
          </a:p>
        </p:txBody>
      </p:sp>
      <p:sp>
        <p:nvSpPr>
          <p:cNvPr id="22" name="Shape 20"/>
          <p:cNvSpPr/>
          <p:nvPr/>
        </p:nvSpPr>
        <p:spPr>
          <a:xfrm>
            <a:off x="3401568" y="2496312"/>
            <a:ext cx="132588" cy="132588"/>
          </a:xfrm>
          <a:prstGeom prst="ellipse">
            <a:avLst/>
          </a:prstGeom>
          <a:solidFill>
            <a:srgbClr val="D2DBDF"/>
          </a:solidFill>
          <a:ln/>
        </p:spPr>
        <p:txBody>
          <a:bodyPr/>
          <a:lstStyle/>
          <a:p>
            <a:endParaRPr lang="en-US"/>
          </a:p>
        </p:txBody>
      </p:sp>
      <p:sp>
        <p:nvSpPr>
          <p:cNvPr id="23" name="Shape 21"/>
          <p:cNvSpPr/>
          <p:nvPr/>
        </p:nvSpPr>
        <p:spPr>
          <a:xfrm>
            <a:off x="3584448" y="2496312"/>
            <a:ext cx="132588" cy="132588"/>
          </a:xfrm>
          <a:prstGeom prst="ellipse">
            <a:avLst/>
          </a:prstGeom>
          <a:solidFill>
            <a:srgbClr val="D2DBDF"/>
          </a:solidFill>
          <a:ln/>
        </p:spPr>
        <p:txBody>
          <a:bodyPr/>
          <a:lstStyle/>
          <a:p>
            <a:endParaRPr lang="en-US"/>
          </a:p>
        </p:txBody>
      </p:sp>
      <p:sp>
        <p:nvSpPr>
          <p:cNvPr id="24" name="Shape 22"/>
          <p:cNvSpPr/>
          <p:nvPr/>
        </p:nvSpPr>
        <p:spPr>
          <a:xfrm>
            <a:off x="3767328" y="2496312"/>
            <a:ext cx="132588" cy="132588"/>
          </a:xfrm>
          <a:prstGeom prst="ellipse">
            <a:avLst/>
          </a:prstGeom>
          <a:solidFill>
            <a:srgbClr val="D2DBDF"/>
          </a:solidFill>
          <a:ln/>
        </p:spPr>
        <p:txBody>
          <a:bodyPr/>
          <a:lstStyle/>
          <a:p>
            <a:endParaRPr lang="en-US"/>
          </a:p>
        </p:txBody>
      </p:sp>
      <p:sp>
        <p:nvSpPr>
          <p:cNvPr id="25" name="Text 23"/>
          <p:cNvSpPr txBox="1"/>
          <p:nvPr/>
        </p:nvSpPr>
        <p:spPr>
          <a:xfrm>
            <a:off x="4087368" y="2436876"/>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2/5</a:t>
            </a:r>
            <a:endParaRPr lang="en-US" sz="1100" dirty="0"/>
          </a:p>
        </p:txBody>
      </p:sp>
      <p:sp>
        <p:nvSpPr>
          <p:cNvPr id="26" name="Text 24"/>
          <p:cNvSpPr txBox="1"/>
          <p:nvPr/>
        </p:nvSpPr>
        <p:spPr>
          <a:xfrm>
            <a:off x="704088" y="2788920"/>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Evolutionary</a:t>
            </a:r>
            <a:endParaRPr lang="en-US" sz="1300" dirty="0"/>
          </a:p>
        </p:txBody>
      </p:sp>
      <p:sp>
        <p:nvSpPr>
          <p:cNvPr id="27" name="Shape 25"/>
          <p:cNvSpPr/>
          <p:nvPr/>
        </p:nvSpPr>
        <p:spPr>
          <a:xfrm>
            <a:off x="3035808" y="2848356"/>
            <a:ext cx="132588" cy="132588"/>
          </a:xfrm>
          <a:prstGeom prst="ellipse">
            <a:avLst/>
          </a:prstGeom>
          <a:solidFill>
            <a:srgbClr val="16807E"/>
          </a:solidFill>
          <a:ln/>
        </p:spPr>
        <p:txBody>
          <a:bodyPr/>
          <a:lstStyle/>
          <a:p>
            <a:endParaRPr lang="en-US"/>
          </a:p>
        </p:txBody>
      </p:sp>
      <p:sp>
        <p:nvSpPr>
          <p:cNvPr id="28" name="Shape 26"/>
          <p:cNvSpPr/>
          <p:nvPr/>
        </p:nvSpPr>
        <p:spPr>
          <a:xfrm>
            <a:off x="3218688" y="2848356"/>
            <a:ext cx="132588" cy="132588"/>
          </a:xfrm>
          <a:prstGeom prst="ellipse">
            <a:avLst/>
          </a:prstGeom>
          <a:solidFill>
            <a:srgbClr val="16807E"/>
          </a:solidFill>
          <a:ln/>
        </p:spPr>
        <p:txBody>
          <a:bodyPr/>
          <a:lstStyle/>
          <a:p>
            <a:endParaRPr lang="en-US"/>
          </a:p>
        </p:txBody>
      </p:sp>
      <p:sp>
        <p:nvSpPr>
          <p:cNvPr id="29" name="Shape 27"/>
          <p:cNvSpPr/>
          <p:nvPr/>
        </p:nvSpPr>
        <p:spPr>
          <a:xfrm>
            <a:off x="3401568" y="2848356"/>
            <a:ext cx="132588" cy="132588"/>
          </a:xfrm>
          <a:prstGeom prst="ellipse">
            <a:avLst/>
          </a:prstGeom>
          <a:solidFill>
            <a:srgbClr val="16807E"/>
          </a:solidFill>
          <a:ln/>
        </p:spPr>
        <p:txBody>
          <a:bodyPr/>
          <a:lstStyle/>
          <a:p>
            <a:endParaRPr lang="en-US"/>
          </a:p>
        </p:txBody>
      </p:sp>
      <p:sp>
        <p:nvSpPr>
          <p:cNvPr id="30" name="Shape 28"/>
          <p:cNvSpPr/>
          <p:nvPr/>
        </p:nvSpPr>
        <p:spPr>
          <a:xfrm>
            <a:off x="3584448" y="2848356"/>
            <a:ext cx="132588" cy="132588"/>
          </a:xfrm>
          <a:prstGeom prst="ellipse">
            <a:avLst/>
          </a:prstGeom>
          <a:solidFill>
            <a:srgbClr val="D2DBDF"/>
          </a:solidFill>
          <a:ln/>
        </p:spPr>
        <p:txBody>
          <a:bodyPr/>
          <a:lstStyle/>
          <a:p>
            <a:endParaRPr lang="en-US"/>
          </a:p>
        </p:txBody>
      </p:sp>
      <p:sp>
        <p:nvSpPr>
          <p:cNvPr id="31" name="Shape 29"/>
          <p:cNvSpPr/>
          <p:nvPr/>
        </p:nvSpPr>
        <p:spPr>
          <a:xfrm>
            <a:off x="3767328" y="2848356"/>
            <a:ext cx="132588" cy="132588"/>
          </a:xfrm>
          <a:prstGeom prst="ellipse">
            <a:avLst/>
          </a:prstGeom>
          <a:solidFill>
            <a:srgbClr val="D2DBDF"/>
          </a:solidFill>
          <a:ln/>
        </p:spPr>
        <p:txBody>
          <a:bodyPr/>
          <a:lstStyle/>
          <a:p>
            <a:endParaRPr lang="en-US"/>
          </a:p>
        </p:txBody>
      </p:sp>
      <p:sp>
        <p:nvSpPr>
          <p:cNvPr id="32" name="Text 30"/>
          <p:cNvSpPr txBox="1"/>
          <p:nvPr/>
        </p:nvSpPr>
        <p:spPr>
          <a:xfrm>
            <a:off x="4087368" y="2788920"/>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33" name="Text 31"/>
          <p:cNvSpPr txBox="1"/>
          <p:nvPr/>
        </p:nvSpPr>
        <p:spPr>
          <a:xfrm>
            <a:off x="704088" y="3140964"/>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Fault tolerance</a:t>
            </a:r>
            <a:endParaRPr lang="en-US" sz="1300" dirty="0"/>
          </a:p>
        </p:txBody>
      </p:sp>
      <p:sp>
        <p:nvSpPr>
          <p:cNvPr id="34" name="Shape 32"/>
          <p:cNvSpPr/>
          <p:nvPr/>
        </p:nvSpPr>
        <p:spPr>
          <a:xfrm>
            <a:off x="3035808" y="3200400"/>
            <a:ext cx="132588" cy="132588"/>
          </a:xfrm>
          <a:prstGeom prst="ellipse">
            <a:avLst/>
          </a:prstGeom>
          <a:solidFill>
            <a:srgbClr val="16807E"/>
          </a:solidFill>
          <a:ln/>
        </p:spPr>
        <p:txBody>
          <a:bodyPr/>
          <a:lstStyle/>
          <a:p>
            <a:endParaRPr lang="en-US"/>
          </a:p>
        </p:txBody>
      </p:sp>
      <p:sp>
        <p:nvSpPr>
          <p:cNvPr id="35" name="Shape 33"/>
          <p:cNvSpPr/>
          <p:nvPr/>
        </p:nvSpPr>
        <p:spPr>
          <a:xfrm>
            <a:off x="3218688" y="3200400"/>
            <a:ext cx="132588" cy="132588"/>
          </a:xfrm>
          <a:prstGeom prst="ellipse">
            <a:avLst/>
          </a:prstGeom>
          <a:solidFill>
            <a:srgbClr val="16807E"/>
          </a:solidFill>
          <a:ln/>
        </p:spPr>
        <p:txBody>
          <a:bodyPr/>
          <a:lstStyle/>
          <a:p>
            <a:endParaRPr lang="en-US"/>
          </a:p>
        </p:txBody>
      </p:sp>
      <p:sp>
        <p:nvSpPr>
          <p:cNvPr id="36" name="Shape 34"/>
          <p:cNvSpPr/>
          <p:nvPr/>
        </p:nvSpPr>
        <p:spPr>
          <a:xfrm>
            <a:off x="3401568" y="3200400"/>
            <a:ext cx="132588" cy="132588"/>
          </a:xfrm>
          <a:prstGeom prst="ellipse">
            <a:avLst/>
          </a:prstGeom>
          <a:solidFill>
            <a:srgbClr val="16807E"/>
          </a:solidFill>
          <a:ln/>
        </p:spPr>
        <p:txBody>
          <a:bodyPr/>
          <a:lstStyle/>
          <a:p>
            <a:endParaRPr lang="en-US"/>
          </a:p>
        </p:txBody>
      </p:sp>
      <p:sp>
        <p:nvSpPr>
          <p:cNvPr id="37" name="Shape 35"/>
          <p:cNvSpPr/>
          <p:nvPr/>
        </p:nvSpPr>
        <p:spPr>
          <a:xfrm>
            <a:off x="3584448" y="3200400"/>
            <a:ext cx="132588" cy="132588"/>
          </a:xfrm>
          <a:prstGeom prst="ellipse">
            <a:avLst/>
          </a:prstGeom>
          <a:solidFill>
            <a:srgbClr val="16807E"/>
          </a:solidFill>
          <a:ln/>
        </p:spPr>
        <p:txBody>
          <a:bodyPr/>
          <a:lstStyle/>
          <a:p>
            <a:endParaRPr lang="en-US"/>
          </a:p>
        </p:txBody>
      </p:sp>
      <p:sp>
        <p:nvSpPr>
          <p:cNvPr id="38" name="Shape 36"/>
          <p:cNvSpPr/>
          <p:nvPr/>
        </p:nvSpPr>
        <p:spPr>
          <a:xfrm>
            <a:off x="3767328" y="3200400"/>
            <a:ext cx="132588" cy="132588"/>
          </a:xfrm>
          <a:prstGeom prst="ellipse">
            <a:avLst/>
          </a:prstGeom>
          <a:solidFill>
            <a:srgbClr val="D2DBDF"/>
          </a:solidFill>
          <a:ln/>
        </p:spPr>
        <p:txBody>
          <a:bodyPr/>
          <a:lstStyle/>
          <a:p>
            <a:endParaRPr lang="en-US"/>
          </a:p>
        </p:txBody>
      </p:sp>
      <p:sp>
        <p:nvSpPr>
          <p:cNvPr id="39" name="Text 37"/>
          <p:cNvSpPr txBox="1"/>
          <p:nvPr/>
        </p:nvSpPr>
        <p:spPr>
          <a:xfrm>
            <a:off x="4087368" y="3140964"/>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40" name="Text 38"/>
          <p:cNvSpPr txBox="1"/>
          <p:nvPr/>
        </p:nvSpPr>
        <p:spPr>
          <a:xfrm>
            <a:off x="704088" y="3493008"/>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Modularity</a:t>
            </a:r>
            <a:endParaRPr lang="en-US" sz="1300" dirty="0"/>
          </a:p>
        </p:txBody>
      </p:sp>
      <p:sp>
        <p:nvSpPr>
          <p:cNvPr id="41" name="Shape 39"/>
          <p:cNvSpPr/>
          <p:nvPr/>
        </p:nvSpPr>
        <p:spPr>
          <a:xfrm>
            <a:off x="3035808" y="3552444"/>
            <a:ext cx="132588" cy="132588"/>
          </a:xfrm>
          <a:prstGeom prst="ellipse">
            <a:avLst/>
          </a:prstGeom>
          <a:solidFill>
            <a:srgbClr val="16807E"/>
          </a:solidFill>
          <a:ln/>
        </p:spPr>
        <p:txBody>
          <a:bodyPr/>
          <a:lstStyle/>
          <a:p>
            <a:endParaRPr lang="en-US"/>
          </a:p>
        </p:txBody>
      </p:sp>
      <p:sp>
        <p:nvSpPr>
          <p:cNvPr id="42" name="Shape 40"/>
          <p:cNvSpPr/>
          <p:nvPr/>
        </p:nvSpPr>
        <p:spPr>
          <a:xfrm>
            <a:off x="3218688" y="3552444"/>
            <a:ext cx="132588" cy="132588"/>
          </a:xfrm>
          <a:prstGeom prst="ellipse">
            <a:avLst/>
          </a:prstGeom>
          <a:solidFill>
            <a:srgbClr val="16807E"/>
          </a:solidFill>
          <a:ln/>
        </p:spPr>
        <p:txBody>
          <a:bodyPr/>
          <a:lstStyle/>
          <a:p>
            <a:endParaRPr lang="en-US"/>
          </a:p>
        </p:txBody>
      </p:sp>
      <p:sp>
        <p:nvSpPr>
          <p:cNvPr id="43" name="Shape 41"/>
          <p:cNvSpPr/>
          <p:nvPr/>
        </p:nvSpPr>
        <p:spPr>
          <a:xfrm>
            <a:off x="3401568" y="3552444"/>
            <a:ext cx="132588" cy="132588"/>
          </a:xfrm>
          <a:prstGeom prst="ellipse">
            <a:avLst/>
          </a:prstGeom>
          <a:solidFill>
            <a:srgbClr val="16807E"/>
          </a:solidFill>
          <a:ln/>
        </p:spPr>
        <p:txBody>
          <a:bodyPr/>
          <a:lstStyle/>
          <a:p>
            <a:endParaRPr lang="en-US"/>
          </a:p>
        </p:txBody>
      </p:sp>
      <p:sp>
        <p:nvSpPr>
          <p:cNvPr id="44" name="Shape 42"/>
          <p:cNvSpPr/>
          <p:nvPr/>
        </p:nvSpPr>
        <p:spPr>
          <a:xfrm>
            <a:off x="3584448" y="3552444"/>
            <a:ext cx="132588" cy="132588"/>
          </a:xfrm>
          <a:prstGeom prst="ellipse">
            <a:avLst/>
          </a:prstGeom>
          <a:solidFill>
            <a:srgbClr val="16807E"/>
          </a:solidFill>
          <a:ln/>
        </p:spPr>
        <p:txBody>
          <a:bodyPr/>
          <a:lstStyle/>
          <a:p>
            <a:endParaRPr lang="en-US"/>
          </a:p>
        </p:txBody>
      </p:sp>
      <p:sp>
        <p:nvSpPr>
          <p:cNvPr id="45" name="Shape 43"/>
          <p:cNvSpPr/>
          <p:nvPr/>
        </p:nvSpPr>
        <p:spPr>
          <a:xfrm>
            <a:off x="3767328" y="3552444"/>
            <a:ext cx="132588" cy="132588"/>
          </a:xfrm>
          <a:prstGeom prst="ellipse">
            <a:avLst/>
          </a:prstGeom>
          <a:solidFill>
            <a:srgbClr val="D2DBDF"/>
          </a:solidFill>
          <a:ln/>
        </p:spPr>
        <p:txBody>
          <a:bodyPr/>
          <a:lstStyle/>
          <a:p>
            <a:endParaRPr lang="en-US"/>
          </a:p>
        </p:txBody>
      </p:sp>
      <p:sp>
        <p:nvSpPr>
          <p:cNvPr id="46" name="Text 44"/>
          <p:cNvSpPr txBox="1"/>
          <p:nvPr/>
        </p:nvSpPr>
        <p:spPr>
          <a:xfrm>
            <a:off x="4087368" y="3493008"/>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47" name="Text 45"/>
          <p:cNvSpPr txBox="1"/>
          <p:nvPr/>
        </p:nvSpPr>
        <p:spPr>
          <a:xfrm>
            <a:off x="704088" y="384505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Overall cost</a:t>
            </a:r>
            <a:endParaRPr lang="en-US" sz="1300" dirty="0"/>
          </a:p>
        </p:txBody>
      </p:sp>
      <p:sp>
        <p:nvSpPr>
          <p:cNvPr id="48" name="Shape 46"/>
          <p:cNvSpPr/>
          <p:nvPr/>
        </p:nvSpPr>
        <p:spPr>
          <a:xfrm>
            <a:off x="3035808" y="3904488"/>
            <a:ext cx="132588" cy="132588"/>
          </a:xfrm>
          <a:prstGeom prst="ellipse">
            <a:avLst/>
          </a:prstGeom>
          <a:solidFill>
            <a:srgbClr val="16807E"/>
          </a:solidFill>
          <a:ln/>
        </p:spPr>
        <p:txBody>
          <a:bodyPr/>
          <a:lstStyle/>
          <a:p>
            <a:endParaRPr lang="en-US"/>
          </a:p>
        </p:txBody>
      </p:sp>
      <p:sp>
        <p:nvSpPr>
          <p:cNvPr id="49" name="Shape 47"/>
          <p:cNvSpPr/>
          <p:nvPr/>
        </p:nvSpPr>
        <p:spPr>
          <a:xfrm>
            <a:off x="3218688" y="3904488"/>
            <a:ext cx="132588" cy="132588"/>
          </a:xfrm>
          <a:prstGeom prst="ellipse">
            <a:avLst/>
          </a:prstGeom>
          <a:solidFill>
            <a:srgbClr val="16807E"/>
          </a:solidFill>
          <a:ln/>
        </p:spPr>
        <p:txBody>
          <a:bodyPr/>
          <a:lstStyle/>
          <a:p>
            <a:endParaRPr lang="en-US"/>
          </a:p>
        </p:txBody>
      </p:sp>
      <p:sp>
        <p:nvSpPr>
          <p:cNvPr id="50" name="Shape 48"/>
          <p:cNvSpPr/>
          <p:nvPr/>
        </p:nvSpPr>
        <p:spPr>
          <a:xfrm>
            <a:off x="3401568" y="3904488"/>
            <a:ext cx="132588" cy="132588"/>
          </a:xfrm>
          <a:prstGeom prst="ellipse">
            <a:avLst/>
          </a:prstGeom>
          <a:solidFill>
            <a:srgbClr val="16807E"/>
          </a:solidFill>
          <a:ln/>
        </p:spPr>
        <p:txBody>
          <a:bodyPr/>
          <a:lstStyle/>
          <a:p>
            <a:endParaRPr lang="en-US"/>
          </a:p>
        </p:txBody>
      </p:sp>
      <p:sp>
        <p:nvSpPr>
          <p:cNvPr id="51" name="Shape 49"/>
          <p:cNvSpPr/>
          <p:nvPr/>
        </p:nvSpPr>
        <p:spPr>
          <a:xfrm>
            <a:off x="3584448" y="3904488"/>
            <a:ext cx="132588" cy="132588"/>
          </a:xfrm>
          <a:prstGeom prst="ellipse">
            <a:avLst/>
          </a:prstGeom>
          <a:solidFill>
            <a:srgbClr val="16807E"/>
          </a:solidFill>
          <a:ln/>
        </p:spPr>
        <p:txBody>
          <a:bodyPr/>
          <a:lstStyle/>
          <a:p>
            <a:endParaRPr lang="en-US"/>
          </a:p>
        </p:txBody>
      </p:sp>
      <p:sp>
        <p:nvSpPr>
          <p:cNvPr id="52" name="Shape 50"/>
          <p:cNvSpPr/>
          <p:nvPr/>
        </p:nvSpPr>
        <p:spPr>
          <a:xfrm>
            <a:off x="3767328" y="3904488"/>
            <a:ext cx="132588" cy="132588"/>
          </a:xfrm>
          <a:prstGeom prst="ellipse">
            <a:avLst/>
          </a:prstGeom>
          <a:solidFill>
            <a:srgbClr val="D2DBDF"/>
          </a:solidFill>
          <a:ln/>
        </p:spPr>
        <p:txBody>
          <a:bodyPr/>
          <a:lstStyle/>
          <a:p>
            <a:endParaRPr lang="en-US"/>
          </a:p>
        </p:txBody>
      </p:sp>
      <p:sp>
        <p:nvSpPr>
          <p:cNvPr id="53" name="Text 51"/>
          <p:cNvSpPr txBox="1"/>
          <p:nvPr/>
        </p:nvSpPr>
        <p:spPr>
          <a:xfrm>
            <a:off x="4087368" y="384505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54" name="Text 52"/>
          <p:cNvSpPr txBox="1"/>
          <p:nvPr/>
        </p:nvSpPr>
        <p:spPr>
          <a:xfrm>
            <a:off x="704088" y="4197096"/>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Performance</a:t>
            </a:r>
            <a:endParaRPr lang="en-US" sz="1300" dirty="0"/>
          </a:p>
        </p:txBody>
      </p:sp>
      <p:sp>
        <p:nvSpPr>
          <p:cNvPr id="55" name="Shape 53"/>
          <p:cNvSpPr/>
          <p:nvPr/>
        </p:nvSpPr>
        <p:spPr>
          <a:xfrm>
            <a:off x="3035808" y="4256532"/>
            <a:ext cx="132588" cy="132588"/>
          </a:xfrm>
          <a:prstGeom prst="ellipse">
            <a:avLst/>
          </a:prstGeom>
          <a:solidFill>
            <a:srgbClr val="16807E"/>
          </a:solidFill>
          <a:ln/>
        </p:spPr>
        <p:txBody>
          <a:bodyPr/>
          <a:lstStyle/>
          <a:p>
            <a:endParaRPr lang="en-US"/>
          </a:p>
        </p:txBody>
      </p:sp>
      <p:sp>
        <p:nvSpPr>
          <p:cNvPr id="56" name="Shape 54"/>
          <p:cNvSpPr/>
          <p:nvPr/>
        </p:nvSpPr>
        <p:spPr>
          <a:xfrm>
            <a:off x="3218688" y="4256532"/>
            <a:ext cx="132588" cy="132588"/>
          </a:xfrm>
          <a:prstGeom prst="ellipse">
            <a:avLst/>
          </a:prstGeom>
          <a:solidFill>
            <a:srgbClr val="16807E"/>
          </a:solidFill>
          <a:ln/>
        </p:spPr>
        <p:txBody>
          <a:bodyPr/>
          <a:lstStyle/>
          <a:p>
            <a:endParaRPr lang="en-US"/>
          </a:p>
        </p:txBody>
      </p:sp>
      <p:sp>
        <p:nvSpPr>
          <p:cNvPr id="57" name="Shape 55"/>
          <p:cNvSpPr/>
          <p:nvPr/>
        </p:nvSpPr>
        <p:spPr>
          <a:xfrm>
            <a:off x="3401568" y="4256532"/>
            <a:ext cx="132588" cy="132588"/>
          </a:xfrm>
          <a:prstGeom prst="ellipse">
            <a:avLst/>
          </a:prstGeom>
          <a:solidFill>
            <a:srgbClr val="16807E"/>
          </a:solidFill>
          <a:ln/>
        </p:spPr>
        <p:txBody>
          <a:bodyPr/>
          <a:lstStyle/>
          <a:p>
            <a:endParaRPr lang="en-US"/>
          </a:p>
        </p:txBody>
      </p:sp>
      <p:sp>
        <p:nvSpPr>
          <p:cNvPr id="58" name="Shape 56"/>
          <p:cNvSpPr/>
          <p:nvPr/>
        </p:nvSpPr>
        <p:spPr>
          <a:xfrm>
            <a:off x="3584448" y="4256532"/>
            <a:ext cx="132588" cy="132588"/>
          </a:xfrm>
          <a:prstGeom prst="ellipse">
            <a:avLst/>
          </a:prstGeom>
          <a:solidFill>
            <a:srgbClr val="D2DBDF"/>
          </a:solidFill>
          <a:ln/>
        </p:spPr>
        <p:txBody>
          <a:bodyPr/>
          <a:lstStyle/>
          <a:p>
            <a:endParaRPr lang="en-US"/>
          </a:p>
        </p:txBody>
      </p:sp>
      <p:sp>
        <p:nvSpPr>
          <p:cNvPr id="59" name="Shape 57"/>
          <p:cNvSpPr/>
          <p:nvPr/>
        </p:nvSpPr>
        <p:spPr>
          <a:xfrm>
            <a:off x="3767328" y="4256532"/>
            <a:ext cx="132588" cy="132588"/>
          </a:xfrm>
          <a:prstGeom prst="ellipse">
            <a:avLst/>
          </a:prstGeom>
          <a:solidFill>
            <a:srgbClr val="D2DBDF"/>
          </a:solidFill>
          <a:ln/>
        </p:spPr>
        <p:txBody>
          <a:bodyPr/>
          <a:lstStyle/>
          <a:p>
            <a:endParaRPr lang="en-US"/>
          </a:p>
        </p:txBody>
      </p:sp>
      <p:sp>
        <p:nvSpPr>
          <p:cNvPr id="60" name="Text 58"/>
          <p:cNvSpPr txBox="1"/>
          <p:nvPr/>
        </p:nvSpPr>
        <p:spPr>
          <a:xfrm>
            <a:off x="4087368" y="4197096"/>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61" name="Text 59"/>
          <p:cNvSpPr txBox="1"/>
          <p:nvPr/>
        </p:nvSpPr>
        <p:spPr>
          <a:xfrm>
            <a:off x="704088" y="4549140"/>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Reliability</a:t>
            </a:r>
            <a:endParaRPr lang="en-US" sz="1300" dirty="0"/>
          </a:p>
        </p:txBody>
      </p:sp>
      <p:sp>
        <p:nvSpPr>
          <p:cNvPr id="62" name="Shape 60"/>
          <p:cNvSpPr/>
          <p:nvPr/>
        </p:nvSpPr>
        <p:spPr>
          <a:xfrm>
            <a:off x="3035808" y="4608576"/>
            <a:ext cx="132588" cy="132588"/>
          </a:xfrm>
          <a:prstGeom prst="ellipse">
            <a:avLst/>
          </a:prstGeom>
          <a:solidFill>
            <a:srgbClr val="16807E"/>
          </a:solidFill>
          <a:ln/>
        </p:spPr>
        <p:txBody>
          <a:bodyPr/>
          <a:lstStyle/>
          <a:p>
            <a:endParaRPr lang="en-US"/>
          </a:p>
        </p:txBody>
      </p:sp>
      <p:sp>
        <p:nvSpPr>
          <p:cNvPr id="63" name="Shape 61"/>
          <p:cNvSpPr/>
          <p:nvPr/>
        </p:nvSpPr>
        <p:spPr>
          <a:xfrm>
            <a:off x="3218688" y="4608576"/>
            <a:ext cx="132588" cy="132588"/>
          </a:xfrm>
          <a:prstGeom prst="ellipse">
            <a:avLst/>
          </a:prstGeom>
          <a:solidFill>
            <a:srgbClr val="16807E"/>
          </a:solidFill>
          <a:ln/>
        </p:spPr>
        <p:txBody>
          <a:bodyPr/>
          <a:lstStyle/>
          <a:p>
            <a:endParaRPr lang="en-US"/>
          </a:p>
        </p:txBody>
      </p:sp>
      <p:sp>
        <p:nvSpPr>
          <p:cNvPr id="64" name="Shape 62"/>
          <p:cNvSpPr/>
          <p:nvPr/>
        </p:nvSpPr>
        <p:spPr>
          <a:xfrm>
            <a:off x="3401568" y="4608576"/>
            <a:ext cx="132588" cy="132588"/>
          </a:xfrm>
          <a:prstGeom prst="ellipse">
            <a:avLst/>
          </a:prstGeom>
          <a:solidFill>
            <a:srgbClr val="16807E"/>
          </a:solidFill>
          <a:ln/>
        </p:spPr>
        <p:txBody>
          <a:bodyPr/>
          <a:lstStyle/>
          <a:p>
            <a:endParaRPr lang="en-US"/>
          </a:p>
        </p:txBody>
      </p:sp>
      <p:sp>
        <p:nvSpPr>
          <p:cNvPr id="65" name="Shape 63"/>
          <p:cNvSpPr/>
          <p:nvPr/>
        </p:nvSpPr>
        <p:spPr>
          <a:xfrm>
            <a:off x="3584448" y="4608576"/>
            <a:ext cx="132588" cy="132588"/>
          </a:xfrm>
          <a:prstGeom prst="ellipse">
            <a:avLst/>
          </a:prstGeom>
          <a:solidFill>
            <a:srgbClr val="16807E"/>
          </a:solidFill>
          <a:ln/>
        </p:spPr>
        <p:txBody>
          <a:bodyPr/>
          <a:lstStyle/>
          <a:p>
            <a:endParaRPr lang="en-US"/>
          </a:p>
        </p:txBody>
      </p:sp>
      <p:sp>
        <p:nvSpPr>
          <p:cNvPr id="66" name="Shape 64"/>
          <p:cNvSpPr/>
          <p:nvPr/>
        </p:nvSpPr>
        <p:spPr>
          <a:xfrm>
            <a:off x="3767328" y="4608576"/>
            <a:ext cx="132588" cy="132588"/>
          </a:xfrm>
          <a:prstGeom prst="ellipse">
            <a:avLst/>
          </a:prstGeom>
          <a:solidFill>
            <a:srgbClr val="D2DBDF"/>
          </a:solidFill>
          <a:ln/>
        </p:spPr>
        <p:txBody>
          <a:bodyPr/>
          <a:lstStyle/>
          <a:p>
            <a:endParaRPr lang="en-US"/>
          </a:p>
        </p:txBody>
      </p:sp>
      <p:sp>
        <p:nvSpPr>
          <p:cNvPr id="67" name="Text 65"/>
          <p:cNvSpPr txBox="1"/>
          <p:nvPr/>
        </p:nvSpPr>
        <p:spPr>
          <a:xfrm>
            <a:off x="4087368" y="4549140"/>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68" name="Text 66"/>
          <p:cNvSpPr txBox="1"/>
          <p:nvPr/>
        </p:nvSpPr>
        <p:spPr>
          <a:xfrm>
            <a:off x="704088" y="4901184"/>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Scalability</a:t>
            </a:r>
            <a:endParaRPr lang="en-US" sz="1300" dirty="0"/>
          </a:p>
        </p:txBody>
      </p:sp>
      <p:sp>
        <p:nvSpPr>
          <p:cNvPr id="69" name="Shape 67"/>
          <p:cNvSpPr/>
          <p:nvPr/>
        </p:nvSpPr>
        <p:spPr>
          <a:xfrm>
            <a:off x="3035808" y="4960620"/>
            <a:ext cx="132588" cy="132588"/>
          </a:xfrm>
          <a:prstGeom prst="ellipse">
            <a:avLst/>
          </a:prstGeom>
          <a:solidFill>
            <a:srgbClr val="16807E"/>
          </a:solidFill>
          <a:ln/>
        </p:spPr>
        <p:txBody>
          <a:bodyPr/>
          <a:lstStyle/>
          <a:p>
            <a:endParaRPr lang="en-US"/>
          </a:p>
        </p:txBody>
      </p:sp>
      <p:sp>
        <p:nvSpPr>
          <p:cNvPr id="70" name="Shape 68"/>
          <p:cNvSpPr/>
          <p:nvPr/>
        </p:nvSpPr>
        <p:spPr>
          <a:xfrm>
            <a:off x="3218688" y="4960620"/>
            <a:ext cx="132588" cy="132588"/>
          </a:xfrm>
          <a:prstGeom prst="ellipse">
            <a:avLst/>
          </a:prstGeom>
          <a:solidFill>
            <a:srgbClr val="16807E"/>
          </a:solidFill>
          <a:ln/>
        </p:spPr>
        <p:txBody>
          <a:bodyPr/>
          <a:lstStyle/>
          <a:p>
            <a:endParaRPr lang="en-US"/>
          </a:p>
        </p:txBody>
      </p:sp>
      <p:sp>
        <p:nvSpPr>
          <p:cNvPr id="71" name="Shape 69"/>
          <p:cNvSpPr/>
          <p:nvPr/>
        </p:nvSpPr>
        <p:spPr>
          <a:xfrm>
            <a:off x="3401568" y="4960620"/>
            <a:ext cx="132588" cy="132588"/>
          </a:xfrm>
          <a:prstGeom prst="ellipse">
            <a:avLst/>
          </a:prstGeom>
          <a:solidFill>
            <a:srgbClr val="16807E"/>
          </a:solidFill>
          <a:ln/>
        </p:spPr>
        <p:txBody>
          <a:bodyPr/>
          <a:lstStyle/>
          <a:p>
            <a:endParaRPr lang="en-US"/>
          </a:p>
        </p:txBody>
      </p:sp>
      <p:sp>
        <p:nvSpPr>
          <p:cNvPr id="72" name="Shape 70"/>
          <p:cNvSpPr/>
          <p:nvPr/>
        </p:nvSpPr>
        <p:spPr>
          <a:xfrm>
            <a:off x="3584448" y="4960620"/>
            <a:ext cx="132588" cy="132588"/>
          </a:xfrm>
          <a:prstGeom prst="ellipse">
            <a:avLst/>
          </a:prstGeom>
          <a:solidFill>
            <a:srgbClr val="D2DBDF"/>
          </a:solidFill>
          <a:ln/>
        </p:spPr>
        <p:txBody>
          <a:bodyPr/>
          <a:lstStyle/>
          <a:p>
            <a:endParaRPr lang="en-US"/>
          </a:p>
        </p:txBody>
      </p:sp>
      <p:sp>
        <p:nvSpPr>
          <p:cNvPr id="73" name="Shape 71"/>
          <p:cNvSpPr/>
          <p:nvPr/>
        </p:nvSpPr>
        <p:spPr>
          <a:xfrm>
            <a:off x="3767328" y="4960620"/>
            <a:ext cx="132588" cy="132588"/>
          </a:xfrm>
          <a:prstGeom prst="ellipse">
            <a:avLst/>
          </a:prstGeom>
          <a:solidFill>
            <a:srgbClr val="D2DBDF"/>
          </a:solidFill>
          <a:ln/>
        </p:spPr>
        <p:txBody>
          <a:bodyPr/>
          <a:lstStyle/>
          <a:p>
            <a:endParaRPr lang="en-US"/>
          </a:p>
        </p:txBody>
      </p:sp>
      <p:sp>
        <p:nvSpPr>
          <p:cNvPr id="74" name="Text 72"/>
          <p:cNvSpPr txBox="1"/>
          <p:nvPr/>
        </p:nvSpPr>
        <p:spPr>
          <a:xfrm>
            <a:off x="4087368" y="4901184"/>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75" name="Text 73"/>
          <p:cNvSpPr txBox="1"/>
          <p:nvPr/>
        </p:nvSpPr>
        <p:spPr>
          <a:xfrm>
            <a:off x="704088" y="5253228"/>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Simplicity</a:t>
            </a:r>
            <a:endParaRPr lang="en-US" sz="1300" dirty="0"/>
          </a:p>
        </p:txBody>
      </p:sp>
      <p:sp>
        <p:nvSpPr>
          <p:cNvPr id="76" name="Shape 74"/>
          <p:cNvSpPr/>
          <p:nvPr/>
        </p:nvSpPr>
        <p:spPr>
          <a:xfrm>
            <a:off x="3035808" y="5312664"/>
            <a:ext cx="132588" cy="132588"/>
          </a:xfrm>
          <a:prstGeom prst="ellipse">
            <a:avLst/>
          </a:prstGeom>
          <a:solidFill>
            <a:srgbClr val="16807E"/>
          </a:solidFill>
          <a:ln/>
        </p:spPr>
        <p:txBody>
          <a:bodyPr/>
          <a:lstStyle/>
          <a:p>
            <a:endParaRPr lang="en-US"/>
          </a:p>
        </p:txBody>
      </p:sp>
      <p:sp>
        <p:nvSpPr>
          <p:cNvPr id="77" name="Shape 75"/>
          <p:cNvSpPr/>
          <p:nvPr/>
        </p:nvSpPr>
        <p:spPr>
          <a:xfrm>
            <a:off x="3218688" y="5312664"/>
            <a:ext cx="132588" cy="132588"/>
          </a:xfrm>
          <a:prstGeom prst="ellipse">
            <a:avLst/>
          </a:prstGeom>
          <a:solidFill>
            <a:srgbClr val="16807E"/>
          </a:solidFill>
          <a:ln/>
        </p:spPr>
        <p:txBody>
          <a:bodyPr/>
          <a:lstStyle/>
          <a:p>
            <a:endParaRPr lang="en-US"/>
          </a:p>
        </p:txBody>
      </p:sp>
      <p:sp>
        <p:nvSpPr>
          <p:cNvPr id="78" name="Shape 76"/>
          <p:cNvSpPr/>
          <p:nvPr/>
        </p:nvSpPr>
        <p:spPr>
          <a:xfrm>
            <a:off x="3401568" y="5312664"/>
            <a:ext cx="132588" cy="132588"/>
          </a:xfrm>
          <a:prstGeom prst="ellipse">
            <a:avLst/>
          </a:prstGeom>
          <a:solidFill>
            <a:srgbClr val="16807E"/>
          </a:solidFill>
          <a:ln/>
        </p:spPr>
        <p:txBody>
          <a:bodyPr/>
          <a:lstStyle/>
          <a:p>
            <a:endParaRPr lang="en-US"/>
          </a:p>
        </p:txBody>
      </p:sp>
      <p:sp>
        <p:nvSpPr>
          <p:cNvPr id="79" name="Shape 77"/>
          <p:cNvSpPr/>
          <p:nvPr/>
        </p:nvSpPr>
        <p:spPr>
          <a:xfrm>
            <a:off x="3584448" y="5312664"/>
            <a:ext cx="132588" cy="132588"/>
          </a:xfrm>
          <a:prstGeom prst="ellipse">
            <a:avLst/>
          </a:prstGeom>
          <a:solidFill>
            <a:srgbClr val="D2DBDF"/>
          </a:solidFill>
          <a:ln/>
        </p:spPr>
        <p:txBody>
          <a:bodyPr/>
          <a:lstStyle/>
          <a:p>
            <a:endParaRPr lang="en-US"/>
          </a:p>
        </p:txBody>
      </p:sp>
      <p:sp>
        <p:nvSpPr>
          <p:cNvPr id="80" name="Shape 78"/>
          <p:cNvSpPr/>
          <p:nvPr/>
        </p:nvSpPr>
        <p:spPr>
          <a:xfrm>
            <a:off x="3767328" y="5312664"/>
            <a:ext cx="132588" cy="132588"/>
          </a:xfrm>
          <a:prstGeom prst="ellipse">
            <a:avLst/>
          </a:prstGeom>
          <a:solidFill>
            <a:srgbClr val="D2DBDF"/>
          </a:solidFill>
          <a:ln/>
        </p:spPr>
        <p:txBody>
          <a:bodyPr/>
          <a:lstStyle/>
          <a:p>
            <a:endParaRPr lang="en-US"/>
          </a:p>
        </p:txBody>
      </p:sp>
      <p:sp>
        <p:nvSpPr>
          <p:cNvPr id="81" name="Text 79"/>
          <p:cNvSpPr txBox="1"/>
          <p:nvPr/>
        </p:nvSpPr>
        <p:spPr>
          <a:xfrm>
            <a:off x="4087368" y="5253228"/>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3/5</a:t>
            </a:r>
            <a:endParaRPr lang="en-US" sz="1100" dirty="0"/>
          </a:p>
        </p:txBody>
      </p:sp>
      <p:sp>
        <p:nvSpPr>
          <p:cNvPr id="82" name="Text 80"/>
          <p:cNvSpPr txBox="1"/>
          <p:nvPr/>
        </p:nvSpPr>
        <p:spPr>
          <a:xfrm>
            <a:off x="704088" y="560527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Testability</a:t>
            </a:r>
            <a:endParaRPr lang="en-US" sz="1300" dirty="0"/>
          </a:p>
        </p:txBody>
      </p:sp>
      <p:sp>
        <p:nvSpPr>
          <p:cNvPr id="83" name="Shape 81"/>
          <p:cNvSpPr/>
          <p:nvPr/>
        </p:nvSpPr>
        <p:spPr>
          <a:xfrm>
            <a:off x="3035808" y="5664708"/>
            <a:ext cx="132588" cy="132588"/>
          </a:xfrm>
          <a:prstGeom prst="ellipse">
            <a:avLst/>
          </a:prstGeom>
          <a:solidFill>
            <a:srgbClr val="16807E"/>
          </a:solidFill>
          <a:ln/>
        </p:spPr>
        <p:txBody>
          <a:bodyPr/>
          <a:lstStyle/>
          <a:p>
            <a:endParaRPr lang="en-US"/>
          </a:p>
        </p:txBody>
      </p:sp>
      <p:sp>
        <p:nvSpPr>
          <p:cNvPr id="84" name="Shape 82"/>
          <p:cNvSpPr/>
          <p:nvPr/>
        </p:nvSpPr>
        <p:spPr>
          <a:xfrm>
            <a:off x="3218688" y="5664708"/>
            <a:ext cx="132588" cy="132588"/>
          </a:xfrm>
          <a:prstGeom prst="ellipse">
            <a:avLst/>
          </a:prstGeom>
          <a:solidFill>
            <a:srgbClr val="16807E"/>
          </a:solidFill>
          <a:ln/>
        </p:spPr>
        <p:txBody>
          <a:bodyPr/>
          <a:lstStyle/>
          <a:p>
            <a:endParaRPr lang="en-US"/>
          </a:p>
        </p:txBody>
      </p:sp>
      <p:sp>
        <p:nvSpPr>
          <p:cNvPr id="85" name="Shape 83"/>
          <p:cNvSpPr/>
          <p:nvPr/>
        </p:nvSpPr>
        <p:spPr>
          <a:xfrm>
            <a:off x="3401568" y="5664708"/>
            <a:ext cx="132588" cy="132588"/>
          </a:xfrm>
          <a:prstGeom prst="ellipse">
            <a:avLst/>
          </a:prstGeom>
          <a:solidFill>
            <a:srgbClr val="16807E"/>
          </a:solidFill>
          <a:ln/>
        </p:spPr>
        <p:txBody>
          <a:bodyPr/>
          <a:lstStyle/>
          <a:p>
            <a:endParaRPr lang="en-US"/>
          </a:p>
        </p:txBody>
      </p:sp>
      <p:sp>
        <p:nvSpPr>
          <p:cNvPr id="86" name="Shape 84"/>
          <p:cNvSpPr/>
          <p:nvPr/>
        </p:nvSpPr>
        <p:spPr>
          <a:xfrm>
            <a:off x="3584448" y="5664708"/>
            <a:ext cx="132588" cy="132588"/>
          </a:xfrm>
          <a:prstGeom prst="ellipse">
            <a:avLst/>
          </a:prstGeom>
          <a:solidFill>
            <a:srgbClr val="16807E"/>
          </a:solidFill>
          <a:ln/>
        </p:spPr>
        <p:txBody>
          <a:bodyPr/>
          <a:lstStyle/>
          <a:p>
            <a:endParaRPr lang="en-US"/>
          </a:p>
        </p:txBody>
      </p:sp>
      <p:sp>
        <p:nvSpPr>
          <p:cNvPr id="87" name="Shape 85"/>
          <p:cNvSpPr/>
          <p:nvPr/>
        </p:nvSpPr>
        <p:spPr>
          <a:xfrm>
            <a:off x="3767328" y="5664708"/>
            <a:ext cx="132588" cy="132588"/>
          </a:xfrm>
          <a:prstGeom prst="ellipse">
            <a:avLst/>
          </a:prstGeom>
          <a:solidFill>
            <a:srgbClr val="D2DBDF"/>
          </a:solidFill>
          <a:ln/>
        </p:spPr>
        <p:txBody>
          <a:bodyPr/>
          <a:lstStyle/>
          <a:p>
            <a:endParaRPr lang="en-US"/>
          </a:p>
        </p:txBody>
      </p:sp>
      <p:sp>
        <p:nvSpPr>
          <p:cNvPr id="88" name="Text 86"/>
          <p:cNvSpPr txBox="1"/>
          <p:nvPr/>
        </p:nvSpPr>
        <p:spPr>
          <a:xfrm>
            <a:off x="4087368" y="560527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89" name="Shape 87"/>
          <p:cNvSpPr/>
          <p:nvPr/>
        </p:nvSpPr>
        <p:spPr>
          <a:xfrm>
            <a:off x="6172200" y="1207008"/>
            <a:ext cx="5440680" cy="2194560"/>
          </a:xfrm>
          <a:prstGeom prst="roundRect">
            <a:avLst>
              <a:gd name="adj" fmla="val 2500"/>
            </a:avLst>
          </a:prstGeom>
          <a:solidFill>
            <a:srgbClr val="E6F2F1"/>
          </a:solidFill>
          <a:ln w="6350">
            <a:solidFill>
              <a:srgbClr val="E6F2F1"/>
            </a:solidFill>
            <a:prstDash val="solid"/>
          </a:ln>
          <a:effectLst>
            <a:outerShdw blurRad="50800" dist="38100" dir="5400000" algn="t" rotWithShape="0">
              <a:prstClr val="black">
                <a:alpha val="40000"/>
              </a:prstClr>
            </a:outerShdw>
          </a:effectLst>
        </p:spPr>
        <p:txBody>
          <a:bodyPr/>
          <a:lstStyle/>
          <a:p>
            <a:endParaRPr lang="en-US"/>
          </a:p>
        </p:txBody>
      </p:sp>
      <p:sp>
        <p:nvSpPr>
          <p:cNvPr id="90" name="Text 88"/>
          <p:cNvSpPr txBox="1"/>
          <p:nvPr/>
        </p:nvSpPr>
        <p:spPr>
          <a:xfrm>
            <a:off x="6446520" y="1389888"/>
            <a:ext cx="4892040" cy="310896"/>
          </a:xfrm>
          <a:prstGeom prst="rect">
            <a:avLst/>
          </a:prstGeom>
          <a:noFill/>
          <a:ln/>
        </p:spPr>
        <p:txBody>
          <a:bodyPr wrap="square" lIns="0" tIns="0" rIns="0" bIns="0" rtlCol="0" anchor="ctr"/>
          <a:lstStyle/>
          <a:p>
            <a:pPr marL="0" indent="0">
              <a:buNone/>
            </a:pPr>
            <a:r>
              <a:rPr lang="en-US" sz="1550" b="1" dirty="0">
                <a:solidFill>
                  <a:srgbClr val="16807E"/>
                </a:solidFill>
                <a:latin typeface="Calibri" pitchFamily="34" charset="0"/>
                <a:ea typeface="Calibri" pitchFamily="34" charset="-122"/>
                <a:cs typeface="Calibri" pitchFamily="34" charset="-120"/>
              </a:rPr>
              <a:t>Strengths</a:t>
            </a:r>
            <a:endParaRPr lang="en-US" sz="1550" dirty="0"/>
          </a:p>
        </p:txBody>
      </p:sp>
      <p:sp>
        <p:nvSpPr>
          <p:cNvPr id="91" name="Text 89"/>
          <p:cNvSpPr txBox="1"/>
          <p:nvPr/>
        </p:nvSpPr>
        <p:spPr>
          <a:xfrm>
            <a:off x="6446520" y="1737360"/>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Four stars across deployability, testability, modularity, fault tolerance, reliability and cost.</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No interservice chatter, so one failed domain does not cascade into the others.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Coarse granularity keeps transactions inside a service, so ordinary ACID commits still apply.</a:t>
            </a:r>
            <a:endParaRPr lang="en-US" sz="1200" dirty="0"/>
          </a:p>
        </p:txBody>
      </p:sp>
      <p:sp>
        <p:nvSpPr>
          <p:cNvPr id="92" name="Shape 90"/>
          <p:cNvSpPr/>
          <p:nvPr/>
        </p:nvSpPr>
        <p:spPr>
          <a:xfrm>
            <a:off x="6172200" y="3520440"/>
            <a:ext cx="5440680" cy="2194560"/>
          </a:xfrm>
          <a:prstGeom prst="roundRect">
            <a:avLst>
              <a:gd name="adj" fmla="val 25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3" name="Text 91"/>
          <p:cNvSpPr txBox="1"/>
          <p:nvPr/>
        </p:nvSpPr>
        <p:spPr>
          <a:xfrm>
            <a:off x="6446520" y="3703320"/>
            <a:ext cx="4892040" cy="310896"/>
          </a:xfrm>
          <a:prstGeom prst="rect">
            <a:avLst/>
          </a:prstGeom>
          <a:noFill/>
          <a:ln/>
        </p:spPr>
        <p:txBody>
          <a:bodyPr wrap="square" lIns="0" tIns="0" rIns="0" bIns="0" rtlCol="0" anchor="ctr"/>
          <a:lstStyle/>
          <a:p>
            <a:pPr marL="0" indent="0">
              <a:buNone/>
            </a:pPr>
            <a:r>
              <a:rPr lang="en-US" sz="1550" b="1" dirty="0">
                <a:solidFill>
                  <a:srgbClr val="14242E"/>
                </a:solidFill>
                <a:latin typeface="Calibri" pitchFamily="34" charset="0"/>
                <a:ea typeface="Calibri" pitchFamily="34" charset="-122"/>
                <a:cs typeface="Calibri" pitchFamily="34" charset="-120"/>
              </a:rPr>
              <a:t>Limitations</a:t>
            </a:r>
            <a:endParaRPr lang="en-US" sz="1550" dirty="0"/>
          </a:p>
        </p:txBody>
      </p:sp>
      <p:sp>
        <p:nvSpPr>
          <p:cNvPr id="94" name="Text 92"/>
          <p:cNvSpPr txBox="1"/>
          <p:nvPr/>
        </p:nvSpPr>
        <p:spPr>
          <a:xfrm>
            <a:off x="6446520" y="4050792"/>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No five-star rating anywhere. If a system truly needs extreme scale, this style will not deliver it.</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Elasticity rates two stars: scaling a coarse service replicates more than is under load.</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The shared database is the coupling point — one schema change can ripple through every service.</a:t>
            </a:r>
            <a:endParaRPr lang="en-US" sz="1200" dirty="0"/>
          </a:p>
        </p:txBody>
      </p:sp>
      <p:sp>
        <p:nvSpPr>
          <p:cNvPr id="95" name="Shape 93"/>
          <p:cNvSpPr/>
          <p:nvPr/>
        </p:nvSpPr>
        <p:spPr>
          <a:xfrm>
            <a:off x="6172200" y="5797296"/>
            <a:ext cx="5440680" cy="457200"/>
          </a:xfrm>
          <a:prstGeom prst="roundRect">
            <a:avLst>
              <a:gd name="adj" fmla="val 12000"/>
            </a:avLst>
          </a:prstGeom>
          <a:solidFill>
            <a:srgbClr val="14242E"/>
          </a:solidFill>
          <a:ln w="6350">
            <a:solidFill>
              <a:srgbClr val="14242E"/>
            </a:solidFill>
            <a:prstDash val="solid"/>
          </a:ln>
          <a:effectLst>
            <a:outerShdw blurRad="50800" dist="38100" dir="5400000" algn="t" rotWithShape="0">
              <a:prstClr val="black">
                <a:alpha val="40000"/>
              </a:prstClr>
            </a:outerShdw>
          </a:effectLst>
        </p:spPr>
        <p:txBody>
          <a:bodyPr/>
          <a:lstStyle/>
          <a:p>
            <a:endParaRPr lang="en-US"/>
          </a:p>
        </p:txBody>
      </p:sp>
      <p:sp>
        <p:nvSpPr>
          <p:cNvPr id="96" name="Text 94"/>
          <p:cNvSpPr txBox="1"/>
          <p:nvPr/>
        </p:nvSpPr>
        <p:spPr>
          <a:xfrm>
            <a:off x="6355080" y="5797296"/>
            <a:ext cx="5074920" cy="457200"/>
          </a:xfrm>
          <a:prstGeom prst="rect">
            <a:avLst/>
          </a:prstGeom>
          <a:noFill/>
          <a:ln/>
        </p:spPr>
        <p:txBody>
          <a:bodyPr wrap="square" lIns="0" tIns="0" rIns="0" bIns="0" rtlCol="0" anchor="ctr"/>
          <a:lstStyle/>
          <a:p>
            <a:pPr marL="0" indent="0" algn="ctr">
              <a:buNone/>
            </a:pPr>
            <a:r>
              <a:rPr lang="en-US" sz="1250" b="1" i="1" dirty="0">
                <a:solidFill>
                  <a:srgbClr val="E3B23C"/>
                </a:solidFill>
                <a:latin typeface="Calibri" pitchFamily="34" charset="0"/>
                <a:ea typeface="Calibri" pitchFamily="34" charset="-122"/>
                <a:cs typeface="Calibri" pitchFamily="34" charset="-120"/>
              </a:rPr>
              <a:t>Most of the benefit of microservices, at a fraction of the complexity.</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Case study: Amazon Prime Video's monitoring service</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14</a:t>
            </a:r>
            <a:endParaRPr lang="en-US" sz="1000" dirty="0"/>
          </a:p>
        </p:txBody>
      </p:sp>
      <p:sp>
        <p:nvSpPr>
          <p:cNvPr id="7" name="Text 5"/>
          <p:cNvSpPr txBox="1"/>
          <p:nvPr/>
        </p:nvSpPr>
        <p:spPr>
          <a:xfrm>
            <a:off x="566928" y="1207008"/>
            <a:ext cx="11064240" cy="411480"/>
          </a:xfrm>
          <a:prstGeom prst="rect">
            <a:avLst/>
          </a:prstGeom>
          <a:noFill/>
          <a:ln/>
        </p:spPr>
        <p:txBody>
          <a:bodyPr wrap="square" lIns="0" tIns="0" rIns="0" bIns="0" rtlCol="0" anchor="t"/>
          <a:lstStyle/>
          <a:p>
            <a:pPr marL="0" indent="0" algn="l">
              <a:buNone/>
            </a:pPr>
            <a:r>
              <a:rPr lang="en-US" sz="1350" dirty="0">
                <a:solidFill>
                  <a:srgbClr val="62757F"/>
                </a:solidFill>
                <a:latin typeface="Calibri" pitchFamily="34" charset="0"/>
                <a:ea typeface="Calibri" pitchFamily="34" charset="-122"/>
                <a:cs typeface="Calibri" pitchFamily="34" charset="-120"/>
              </a:rPr>
              <a:t>In 2023 the Video Quality Analysis team published an unusually frank account of moving a component away from fine-grained distributed services toward a single coarse-grained one.</a:t>
            </a:r>
            <a:endParaRPr lang="en-US" sz="1350" dirty="0"/>
          </a:p>
        </p:txBody>
      </p:sp>
      <p:sp>
        <p:nvSpPr>
          <p:cNvPr id="8" name="Shape 6"/>
          <p:cNvSpPr/>
          <p:nvPr/>
        </p:nvSpPr>
        <p:spPr>
          <a:xfrm>
            <a:off x="566928" y="1737360"/>
            <a:ext cx="5349240" cy="2487168"/>
          </a:xfrm>
          <a:prstGeom prst="roundRect">
            <a:avLst>
              <a:gd name="adj" fmla="val 220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Text 7"/>
          <p:cNvSpPr txBox="1"/>
          <p:nvPr/>
        </p:nvSpPr>
        <p:spPr>
          <a:xfrm>
            <a:off x="841248" y="1901952"/>
            <a:ext cx="4800600" cy="310896"/>
          </a:xfrm>
          <a:prstGeom prst="rect">
            <a:avLst/>
          </a:prstGeom>
          <a:noFill/>
          <a:ln/>
        </p:spPr>
        <p:txBody>
          <a:bodyPr wrap="square" lIns="0" tIns="0" rIns="0" bIns="0" rtlCol="0" anchor="ctr"/>
          <a:lstStyle/>
          <a:p>
            <a:pPr marL="0" indent="0">
              <a:buNone/>
            </a:pPr>
            <a:r>
              <a:rPr lang="en-US" sz="1550" b="1" dirty="0">
                <a:solidFill>
                  <a:srgbClr val="14242E"/>
                </a:solidFill>
                <a:latin typeface="Calibri" pitchFamily="34" charset="0"/>
                <a:ea typeface="Calibri" pitchFamily="34" charset="-122"/>
                <a:cs typeface="Calibri" pitchFamily="34" charset="-120"/>
              </a:rPr>
              <a:t>Before</a:t>
            </a:r>
            <a:endParaRPr lang="en-US" sz="1550" dirty="0"/>
          </a:p>
        </p:txBody>
      </p:sp>
      <p:sp>
        <p:nvSpPr>
          <p:cNvPr id="10" name="Text 8"/>
          <p:cNvSpPr txBox="1"/>
          <p:nvPr/>
        </p:nvSpPr>
        <p:spPr>
          <a:xfrm>
            <a:off x="841248" y="2286000"/>
            <a:ext cx="4800600" cy="2103120"/>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Media conversion, defect detection and orchestration split into separate serverless components.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AWS Step Functions coordinated state transitions; several occurred for every second of every stream.</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Video frames were passed between components through an S3 bucket.</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Result: account limits reached, per-transition charges, and heavy tier-1 storage call costs.</a:t>
            </a:r>
            <a:endParaRPr lang="en-US" sz="1200" dirty="0"/>
          </a:p>
        </p:txBody>
      </p:sp>
      <p:sp>
        <p:nvSpPr>
          <p:cNvPr id="11" name="Shape 9"/>
          <p:cNvSpPr/>
          <p:nvPr/>
        </p:nvSpPr>
        <p:spPr>
          <a:xfrm>
            <a:off x="6281928" y="1737360"/>
            <a:ext cx="5349240" cy="2487168"/>
          </a:xfrm>
          <a:prstGeom prst="roundRect">
            <a:avLst>
              <a:gd name="adj" fmla="val 2206"/>
            </a:avLst>
          </a:prstGeom>
          <a:solidFill>
            <a:srgbClr val="E6F2F1"/>
          </a:solidFill>
          <a:ln w="6350">
            <a:solidFill>
              <a:srgbClr val="E6F2F1"/>
            </a:solidFill>
            <a:prstDash val="solid"/>
          </a:ln>
          <a:effectLst>
            <a:outerShdw blurRad="50800" dist="38100" dir="5400000" algn="t" rotWithShape="0">
              <a:prstClr val="black">
                <a:alpha val="40000"/>
              </a:prstClr>
            </a:outerShdw>
          </a:effectLst>
        </p:spPr>
        <p:txBody>
          <a:bodyPr/>
          <a:lstStyle/>
          <a:p>
            <a:endParaRPr lang="en-US"/>
          </a:p>
        </p:txBody>
      </p:sp>
      <p:sp>
        <p:nvSpPr>
          <p:cNvPr id="12" name="Text 10"/>
          <p:cNvSpPr txBox="1"/>
          <p:nvPr/>
        </p:nvSpPr>
        <p:spPr>
          <a:xfrm>
            <a:off x="6556248" y="1901952"/>
            <a:ext cx="4800600" cy="310896"/>
          </a:xfrm>
          <a:prstGeom prst="rect">
            <a:avLst/>
          </a:prstGeom>
          <a:noFill/>
          <a:ln/>
        </p:spPr>
        <p:txBody>
          <a:bodyPr wrap="square" lIns="0" tIns="0" rIns="0" bIns="0" rtlCol="0" anchor="ctr"/>
          <a:lstStyle/>
          <a:p>
            <a:pPr marL="0" indent="0">
              <a:buNone/>
            </a:pPr>
            <a:r>
              <a:rPr lang="en-US" sz="1550" b="1" dirty="0">
                <a:solidFill>
                  <a:srgbClr val="16807E"/>
                </a:solidFill>
                <a:latin typeface="Calibri" pitchFamily="34" charset="0"/>
                <a:ea typeface="Calibri" pitchFamily="34" charset="-122"/>
                <a:cs typeface="Calibri" pitchFamily="34" charset="-120"/>
              </a:rPr>
              <a:t>After</a:t>
            </a:r>
            <a:endParaRPr lang="en-US" sz="1550" dirty="0"/>
          </a:p>
        </p:txBody>
      </p:sp>
      <p:sp>
        <p:nvSpPr>
          <p:cNvPr id="13" name="Text 11"/>
          <p:cNvSpPr txBox="1"/>
          <p:nvPr/>
        </p:nvSpPr>
        <p:spPr>
          <a:xfrm>
            <a:off x="6556248" y="2286000"/>
            <a:ext cx="4800600" cy="2103120"/>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All components packed into a single process running on EC2 and ECS.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Data hand-offs happen in memory, so the intermediate S3 bucket disappears entirely.</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Orchestration is controlled within the instance; a lightweight layer distributes customer requests.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The whole service is cloned across clusters when one instance is not enough.</a:t>
            </a:r>
            <a:endParaRPr lang="en-US" sz="1200" dirty="0"/>
          </a:p>
        </p:txBody>
      </p:sp>
      <p:sp>
        <p:nvSpPr>
          <p:cNvPr id="14" name="Shape 12"/>
          <p:cNvSpPr/>
          <p:nvPr/>
        </p:nvSpPr>
        <p:spPr>
          <a:xfrm>
            <a:off x="566928" y="4434840"/>
            <a:ext cx="3246120" cy="1463040"/>
          </a:xfrm>
          <a:prstGeom prst="roundRect">
            <a:avLst>
              <a:gd name="adj" fmla="val 3750"/>
            </a:avLst>
          </a:prstGeom>
          <a:solidFill>
            <a:srgbClr val="14242E"/>
          </a:solidFill>
          <a:ln w="12700">
            <a:solidFill>
              <a:srgbClr val="14242E"/>
            </a:solidFill>
            <a:prstDash val="solid"/>
          </a:ln>
          <a:effectLst>
            <a:outerShdw blurRad="50800" dist="38100" dir="5400000" algn="t" rotWithShape="0">
              <a:prstClr val="black">
                <a:alpha val="40000"/>
              </a:prstClr>
            </a:outerShdw>
          </a:effectLst>
        </p:spPr>
        <p:txBody>
          <a:bodyPr/>
          <a:lstStyle/>
          <a:p>
            <a:endParaRPr lang="en-US"/>
          </a:p>
        </p:txBody>
      </p:sp>
      <p:sp>
        <p:nvSpPr>
          <p:cNvPr id="15" name="Text 13"/>
          <p:cNvSpPr txBox="1"/>
          <p:nvPr/>
        </p:nvSpPr>
        <p:spPr>
          <a:xfrm>
            <a:off x="566928" y="4590288"/>
            <a:ext cx="3246120" cy="713232"/>
          </a:xfrm>
          <a:prstGeom prst="rect">
            <a:avLst/>
          </a:prstGeom>
          <a:noFill/>
          <a:ln/>
        </p:spPr>
        <p:txBody>
          <a:bodyPr wrap="square" lIns="0" tIns="0" rIns="0" bIns="0" rtlCol="0" anchor="ctr"/>
          <a:lstStyle/>
          <a:p>
            <a:pPr marL="0" indent="0" algn="ctr">
              <a:buNone/>
            </a:pPr>
            <a:r>
              <a:rPr lang="en-US" sz="4200" b="1" dirty="0">
                <a:solidFill>
                  <a:srgbClr val="E3B23C"/>
                </a:solidFill>
                <a:latin typeface="Cambria" pitchFamily="34" charset="0"/>
                <a:ea typeface="Cambria" pitchFamily="34" charset="-122"/>
                <a:cs typeface="Cambria" pitchFamily="34" charset="-120"/>
              </a:rPr>
              <a:t>90%</a:t>
            </a:r>
            <a:endParaRPr lang="en-US" sz="4200" dirty="0"/>
          </a:p>
        </p:txBody>
      </p:sp>
      <p:sp>
        <p:nvSpPr>
          <p:cNvPr id="16" name="Text 14"/>
          <p:cNvSpPr txBox="1"/>
          <p:nvPr/>
        </p:nvSpPr>
        <p:spPr>
          <a:xfrm>
            <a:off x="658368" y="5349240"/>
            <a:ext cx="3063240" cy="411480"/>
          </a:xfrm>
          <a:prstGeom prst="rect">
            <a:avLst/>
          </a:prstGeom>
          <a:noFill/>
          <a:ln/>
        </p:spPr>
        <p:txBody>
          <a:bodyPr wrap="square" lIns="0" tIns="0" rIns="0" bIns="0" rtlCol="0" anchor="ctr"/>
          <a:lstStyle/>
          <a:p>
            <a:pPr marL="0" indent="0" algn="ctr">
              <a:buNone/>
            </a:pPr>
            <a:r>
              <a:rPr lang="en-US" sz="1150" dirty="0">
                <a:solidFill>
                  <a:srgbClr val="C9D6DC"/>
                </a:solidFill>
                <a:latin typeface="Calibri" pitchFamily="34" charset="0"/>
                <a:ea typeface="Calibri" pitchFamily="34" charset="-122"/>
                <a:cs typeface="Calibri" pitchFamily="34" charset="-120"/>
              </a:rPr>
              <a:t>lower infrastructure cost, with higher scale</a:t>
            </a:r>
            <a:endParaRPr lang="en-US" sz="1150" dirty="0"/>
          </a:p>
        </p:txBody>
      </p:sp>
      <p:sp>
        <p:nvSpPr>
          <p:cNvPr id="17" name="Shape 15"/>
          <p:cNvSpPr/>
          <p:nvPr/>
        </p:nvSpPr>
        <p:spPr>
          <a:xfrm>
            <a:off x="4069080" y="4434840"/>
            <a:ext cx="7562088" cy="1463040"/>
          </a:xfrm>
          <a:prstGeom prst="roundRect">
            <a:avLst>
              <a:gd name="adj" fmla="val 375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8" name="Text 16"/>
          <p:cNvSpPr txBox="1"/>
          <p:nvPr/>
        </p:nvSpPr>
        <p:spPr>
          <a:xfrm>
            <a:off x="4343400" y="4590288"/>
            <a:ext cx="7040880" cy="274320"/>
          </a:xfrm>
          <a:prstGeom prst="rect">
            <a:avLst/>
          </a:prstGeom>
          <a:noFill/>
          <a:ln/>
        </p:spPr>
        <p:txBody>
          <a:bodyPr wrap="square" lIns="0" tIns="0" rIns="0" bIns="0" rtlCol="0" anchor="ctr"/>
          <a:lstStyle/>
          <a:p>
            <a:pPr marL="0" indent="0">
              <a:buNone/>
            </a:pPr>
            <a:r>
              <a:rPr lang="en-US" sz="1400" b="1" dirty="0">
                <a:solidFill>
                  <a:srgbClr val="16807E"/>
                </a:solidFill>
                <a:latin typeface="Calibri" pitchFamily="34" charset="0"/>
                <a:ea typeface="Calibri" pitchFamily="34" charset="-122"/>
                <a:cs typeface="Calibri" pitchFamily="34" charset="-120"/>
              </a:rPr>
              <a:t>What it proves</a:t>
            </a:r>
            <a:endParaRPr lang="en-US" sz="1400" dirty="0"/>
          </a:p>
        </p:txBody>
      </p:sp>
      <p:sp>
        <p:nvSpPr>
          <p:cNvPr id="19" name="Text 17"/>
          <p:cNvSpPr txBox="1"/>
          <p:nvPr/>
        </p:nvSpPr>
        <p:spPr>
          <a:xfrm>
            <a:off x="4343400" y="4919472"/>
            <a:ext cx="7040880" cy="9144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Not that microservices are wrong — one component of one product was re-architected, and the team said as much. It proves that when components are chatty and pass large payloads, the network and the orchestration layer dominate the bill. Coarser boundaries eliminate both. That is precisely the argument for service-based architecture: pick the granularity your workload justifies, then stop.</a:t>
            </a:r>
            <a:endParaRPr lang="en-US" sz="1200" dirty="0"/>
          </a:p>
        </p:txBody>
      </p:sp>
    </p:spTree>
  </p:cSld>
  <p:clrMapOvr>
    <a:masterClrMapping/>
  </p:clrMapOvr>
  <p:transition spd="slow">
    <p:wheel spokes="1"/>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Microservices: decoupling taken to its limit</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66928" y="1261872"/>
            <a:ext cx="11064240" cy="1005840"/>
          </a:xfrm>
          <a:prstGeom prst="roundRect">
            <a:avLst>
              <a:gd name="adj" fmla="val 5455"/>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463040"/>
            <a:ext cx="10469880" cy="640080"/>
          </a:xfrm>
          <a:prstGeom prst="rect">
            <a:avLst/>
          </a:prstGeom>
          <a:noFill/>
          <a:ln/>
        </p:spPr>
        <p:txBody>
          <a:bodyPr wrap="square" lIns="0" tIns="0" rIns="0" bIns="0" rtlCol="0" anchor="ctr"/>
          <a:lstStyle/>
          <a:p>
            <a:pPr marL="0" indent="0">
              <a:buNone/>
            </a:pPr>
            <a:r>
              <a:rPr lang="en-US" sz="1400" dirty="0">
                <a:solidFill>
                  <a:srgbClr val="1F3644"/>
                </a:solidFill>
                <a:latin typeface="Calibri" pitchFamily="34" charset="0"/>
                <a:ea typeface="Calibri" pitchFamily="34" charset="-122"/>
                <a:cs typeface="Calibri" pitchFamily="34" charset="-120"/>
              </a:rPr>
              <a:t>The driving philosophy is the bounded context: each service models one domain or workflow and contains everything it needs to operate code, subcomponents and its own database schema.</a:t>
            </a:r>
            <a:endParaRPr lang="en-US" sz="1400" dirty="0"/>
          </a:p>
        </p:txBody>
      </p:sp>
      <p:sp>
        <p:nvSpPr>
          <p:cNvPr id="9" name="Shape 7"/>
          <p:cNvSpPr/>
          <p:nvPr/>
        </p:nvSpPr>
        <p:spPr>
          <a:xfrm>
            <a:off x="566928" y="2487168"/>
            <a:ext cx="3520440" cy="3474720"/>
          </a:xfrm>
          <a:prstGeom prst="roundRect">
            <a:avLst>
              <a:gd name="adj" fmla="val 1579"/>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0" name="Shape 8"/>
          <p:cNvSpPr/>
          <p:nvPr/>
        </p:nvSpPr>
        <p:spPr>
          <a:xfrm>
            <a:off x="822960" y="2724912"/>
            <a:ext cx="274320" cy="274320"/>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822960" y="3108960"/>
            <a:ext cx="3017520" cy="603504"/>
          </a:xfrm>
          <a:prstGeom prst="rect">
            <a:avLst/>
          </a:prstGeom>
          <a:noFill/>
          <a:ln/>
        </p:spPr>
        <p:txBody>
          <a:bodyPr wrap="square" lIns="0" tIns="0" rIns="0" bIns="0" rtlCol="0" anchor="ctr"/>
          <a:lstStyle/>
          <a:p>
            <a:pPr marL="0" indent="0">
              <a:buNone/>
            </a:pPr>
            <a:r>
              <a:rPr lang="en-US" sz="1500" b="1" dirty="0">
                <a:solidFill>
                  <a:srgbClr val="14242E"/>
                </a:solidFill>
                <a:latin typeface="Calibri" pitchFamily="34" charset="0"/>
                <a:ea typeface="Calibri" pitchFamily="34" charset="-122"/>
                <a:cs typeface="Calibri" pitchFamily="34" charset="-120"/>
              </a:rPr>
              <a:t>Distributed by definition</a:t>
            </a:r>
            <a:endParaRPr lang="en-US" sz="1500" dirty="0"/>
          </a:p>
        </p:txBody>
      </p:sp>
      <p:sp>
        <p:nvSpPr>
          <p:cNvPr id="12" name="Text 10"/>
          <p:cNvSpPr txBox="1"/>
          <p:nvPr/>
        </p:nvSpPr>
        <p:spPr>
          <a:xfrm>
            <a:off x="822960" y="3785616"/>
            <a:ext cx="3017520" cy="2011680"/>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Every service runs in its own process, normally a container.</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Separating processes removes resource contention and isolation problems of shared hosting.</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The price is paid on every call: network latency plus a security check at each endpoint.</a:t>
            </a:r>
            <a:endParaRPr lang="en-US" sz="1200" dirty="0"/>
          </a:p>
        </p:txBody>
      </p:sp>
      <p:sp>
        <p:nvSpPr>
          <p:cNvPr id="13" name="Shape 11"/>
          <p:cNvSpPr/>
          <p:nvPr/>
        </p:nvSpPr>
        <p:spPr>
          <a:xfrm>
            <a:off x="4334256" y="2487168"/>
            <a:ext cx="3520440" cy="3474720"/>
          </a:xfrm>
          <a:prstGeom prst="roundRect">
            <a:avLst>
              <a:gd name="adj" fmla="val 1579"/>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Shape 12"/>
          <p:cNvSpPr/>
          <p:nvPr/>
        </p:nvSpPr>
        <p:spPr>
          <a:xfrm>
            <a:off x="4590288" y="2724912"/>
            <a:ext cx="274320" cy="274320"/>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15" name="Text 13"/>
          <p:cNvSpPr txBox="1"/>
          <p:nvPr/>
        </p:nvSpPr>
        <p:spPr>
          <a:xfrm>
            <a:off x="4590288" y="3108960"/>
            <a:ext cx="3017520" cy="603504"/>
          </a:xfrm>
          <a:prstGeom prst="rect">
            <a:avLst/>
          </a:prstGeom>
          <a:noFill/>
          <a:ln/>
        </p:spPr>
        <p:txBody>
          <a:bodyPr wrap="square" lIns="0" tIns="0" rIns="0" bIns="0" rtlCol="0" anchor="ctr"/>
          <a:lstStyle/>
          <a:p>
            <a:pPr marL="0" indent="0">
              <a:buNone/>
            </a:pPr>
            <a:r>
              <a:rPr lang="en-US" sz="1500" b="1" dirty="0">
                <a:solidFill>
                  <a:srgbClr val="14242E"/>
                </a:solidFill>
                <a:latin typeface="Calibri" pitchFamily="34" charset="0"/>
                <a:ea typeface="Calibri" pitchFamily="34" charset="-122"/>
                <a:cs typeface="Calibri" pitchFamily="34" charset="-120"/>
              </a:rPr>
              <a:t>Domain-partitioned to the extreme</a:t>
            </a:r>
            <a:endParaRPr lang="en-US" sz="1500" dirty="0"/>
          </a:p>
        </p:txBody>
      </p:sp>
      <p:sp>
        <p:nvSpPr>
          <p:cNvPr id="16" name="Text 14"/>
          <p:cNvSpPr txBox="1"/>
          <p:nvPr/>
        </p:nvSpPr>
        <p:spPr>
          <a:xfrm>
            <a:off x="4590288" y="3785616"/>
            <a:ext cx="3017520" cy="2011680"/>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Each service boundary is a domain boundary in many ways the physical embodiment of domain-driven design.</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The architecture has the most distinct quanta of any modern style.</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Prefers duplication to coupling: a shared Address class between services is an anti-pattern, not a saving.</a:t>
            </a:r>
            <a:endParaRPr lang="en-US" sz="1200" dirty="0"/>
          </a:p>
        </p:txBody>
      </p:sp>
      <p:sp>
        <p:nvSpPr>
          <p:cNvPr id="17" name="Shape 15"/>
          <p:cNvSpPr/>
          <p:nvPr/>
        </p:nvSpPr>
        <p:spPr>
          <a:xfrm>
            <a:off x="8101584" y="2487168"/>
            <a:ext cx="3520440" cy="3474720"/>
          </a:xfrm>
          <a:prstGeom prst="roundRect">
            <a:avLst>
              <a:gd name="adj" fmla="val 1579"/>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8" name="Shape 16"/>
          <p:cNvSpPr/>
          <p:nvPr/>
        </p:nvSpPr>
        <p:spPr>
          <a:xfrm>
            <a:off x="8357616" y="2724912"/>
            <a:ext cx="274320" cy="274320"/>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19" name="Text 17"/>
          <p:cNvSpPr txBox="1"/>
          <p:nvPr/>
        </p:nvSpPr>
        <p:spPr>
          <a:xfrm>
            <a:off x="8357616" y="3108960"/>
            <a:ext cx="3017520" cy="603504"/>
          </a:xfrm>
          <a:prstGeom prst="rect">
            <a:avLst/>
          </a:prstGeom>
          <a:noFill/>
          <a:ln/>
        </p:spPr>
        <p:txBody>
          <a:bodyPr wrap="square" lIns="0" tIns="0" rIns="0" bIns="0" rtlCol="0" anchor="ctr"/>
          <a:lstStyle/>
          <a:p>
            <a:pPr marL="0" indent="0">
              <a:buNone/>
            </a:pPr>
            <a:r>
              <a:rPr lang="en-US" sz="1500" b="1" dirty="0">
                <a:solidFill>
                  <a:srgbClr val="14242E"/>
                </a:solidFill>
                <a:latin typeface="Calibri" pitchFamily="34" charset="0"/>
                <a:ea typeface="Calibri" pitchFamily="34" charset="-122"/>
                <a:cs typeface="Calibri" pitchFamily="34" charset="-120"/>
              </a:rPr>
              <a:t>Data isolation</a:t>
            </a:r>
            <a:endParaRPr lang="en-US" sz="1500" dirty="0"/>
          </a:p>
        </p:txBody>
      </p:sp>
      <p:sp>
        <p:nvSpPr>
          <p:cNvPr id="20" name="Text 18"/>
          <p:cNvSpPr txBox="1"/>
          <p:nvPr/>
        </p:nvSpPr>
        <p:spPr>
          <a:xfrm>
            <a:off x="8357616" y="3785616"/>
            <a:ext cx="3017520" cy="2011680"/>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No shared schema, and no database used as an integration point.</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One domain is named source of truth for a fact; others replicate or cache it.</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In exchange, each team picks the storage technology that fits its own workload.</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Microservices topology</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16</a:t>
            </a:r>
            <a:endParaRPr lang="en-US" sz="1000" dirty="0"/>
          </a:p>
        </p:txBody>
      </p:sp>
      <p:sp>
        <p:nvSpPr>
          <p:cNvPr id="7" name="Shape 5"/>
          <p:cNvSpPr/>
          <p:nvPr/>
        </p:nvSpPr>
        <p:spPr>
          <a:xfrm>
            <a:off x="914400" y="1234440"/>
            <a:ext cx="3291840" cy="502920"/>
          </a:xfrm>
          <a:prstGeom prst="roundRect">
            <a:avLst>
              <a:gd name="adj" fmla="val 9091"/>
            </a:avLst>
          </a:prstGeom>
          <a:solidFill>
            <a:srgbClr val="E3EAEE"/>
          </a:solidFill>
          <a:ln w="12700">
            <a:solidFill>
              <a:srgbClr val="C6D2D8"/>
            </a:solidFill>
            <a:prstDash val="solid"/>
          </a:ln>
        </p:spPr>
        <p:txBody>
          <a:bodyPr/>
          <a:lstStyle/>
          <a:p>
            <a:endParaRPr lang="en-US"/>
          </a:p>
        </p:txBody>
      </p:sp>
      <p:sp>
        <p:nvSpPr>
          <p:cNvPr id="8" name="Text 6"/>
          <p:cNvSpPr txBox="1"/>
          <p:nvPr/>
        </p:nvSpPr>
        <p:spPr>
          <a:xfrm>
            <a:off x="914400" y="1234440"/>
            <a:ext cx="3291840" cy="502920"/>
          </a:xfrm>
          <a:prstGeom prst="rect">
            <a:avLst/>
          </a:prstGeom>
          <a:noFill/>
          <a:ln/>
        </p:spPr>
        <p:txBody>
          <a:bodyPr wrap="square" lIns="0" tIns="0" rIns="0" bIns="0" rtlCol="0" anchor="ctr"/>
          <a:lstStyle/>
          <a:p>
            <a:pPr marL="0" indent="0" algn="ctr">
              <a:buNone/>
            </a:pPr>
            <a:r>
              <a:rPr lang="en-US" sz="1150" b="1" dirty="0">
                <a:solidFill>
                  <a:srgbClr val="14242E"/>
                </a:solidFill>
                <a:latin typeface="Calibri" pitchFamily="34" charset="0"/>
                <a:ea typeface="Calibri" pitchFamily="34" charset="-122"/>
                <a:cs typeface="Calibri" pitchFamily="34" charset="-120"/>
              </a:rPr>
              <a:t>User interfaces / micro-frontends</a:t>
            </a:r>
            <a:endParaRPr lang="en-US" sz="1150" dirty="0"/>
          </a:p>
        </p:txBody>
      </p:sp>
      <p:sp>
        <p:nvSpPr>
          <p:cNvPr id="9" name="Shape 7"/>
          <p:cNvSpPr/>
          <p:nvPr/>
        </p:nvSpPr>
        <p:spPr>
          <a:xfrm>
            <a:off x="7955280" y="1234440"/>
            <a:ext cx="3291840" cy="502920"/>
          </a:xfrm>
          <a:prstGeom prst="roundRect">
            <a:avLst>
              <a:gd name="adj" fmla="val 9091"/>
            </a:avLst>
          </a:prstGeom>
          <a:solidFill>
            <a:srgbClr val="E3EAEE"/>
          </a:solidFill>
          <a:ln w="12700">
            <a:solidFill>
              <a:srgbClr val="C6D2D8"/>
            </a:solidFill>
            <a:prstDash val="solid"/>
          </a:ln>
        </p:spPr>
        <p:txBody>
          <a:bodyPr/>
          <a:lstStyle/>
          <a:p>
            <a:endParaRPr lang="en-US"/>
          </a:p>
        </p:txBody>
      </p:sp>
      <p:sp>
        <p:nvSpPr>
          <p:cNvPr id="10" name="Text 8"/>
          <p:cNvSpPr txBox="1"/>
          <p:nvPr/>
        </p:nvSpPr>
        <p:spPr>
          <a:xfrm>
            <a:off x="7955280" y="1234440"/>
            <a:ext cx="3291840" cy="502920"/>
          </a:xfrm>
          <a:prstGeom prst="rect">
            <a:avLst/>
          </a:prstGeom>
          <a:noFill/>
          <a:ln/>
        </p:spPr>
        <p:txBody>
          <a:bodyPr wrap="square" lIns="0" tIns="0" rIns="0" bIns="0" rtlCol="0" anchor="ctr"/>
          <a:lstStyle/>
          <a:p>
            <a:pPr marL="0" indent="0" algn="ctr">
              <a:buNone/>
            </a:pPr>
            <a:r>
              <a:rPr lang="en-US" sz="1150" b="1" dirty="0">
                <a:solidFill>
                  <a:srgbClr val="14242E"/>
                </a:solidFill>
                <a:latin typeface="Calibri" pitchFamily="34" charset="0"/>
                <a:ea typeface="Calibri" pitchFamily="34" charset="-122"/>
                <a:cs typeface="Calibri" pitchFamily="34" charset="-120"/>
              </a:rPr>
              <a:t>External systems</a:t>
            </a:r>
            <a:endParaRPr lang="en-US" sz="1150" dirty="0"/>
          </a:p>
        </p:txBody>
      </p:sp>
      <p:sp>
        <p:nvSpPr>
          <p:cNvPr id="11" name="Shape 9"/>
          <p:cNvSpPr/>
          <p:nvPr/>
        </p:nvSpPr>
        <p:spPr>
          <a:xfrm>
            <a:off x="914400" y="2057400"/>
            <a:ext cx="10332720" cy="502920"/>
          </a:xfrm>
          <a:prstGeom prst="roundRect">
            <a:avLst>
              <a:gd name="adj" fmla="val 9091"/>
            </a:avLst>
          </a:prstGeom>
          <a:solidFill>
            <a:srgbClr val="14242E"/>
          </a:solidFill>
          <a:ln w="12700">
            <a:solidFill>
              <a:srgbClr val="14242E"/>
            </a:solidFill>
            <a:prstDash val="solid"/>
          </a:ln>
        </p:spPr>
        <p:txBody>
          <a:bodyPr/>
          <a:lstStyle/>
          <a:p>
            <a:endParaRPr lang="en-US"/>
          </a:p>
        </p:txBody>
      </p:sp>
      <p:sp>
        <p:nvSpPr>
          <p:cNvPr id="12" name="Text 10"/>
          <p:cNvSpPr txBox="1"/>
          <p:nvPr/>
        </p:nvSpPr>
        <p:spPr>
          <a:xfrm>
            <a:off x="914400" y="2057400"/>
            <a:ext cx="10332720" cy="502920"/>
          </a:xfrm>
          <a:prstGeom prst="rect">
            <a:avLst/>
          </a:prstGeom>
          <a:noFill/>
          <a:ln/>
        </p:spPr>
        <p:txBody>
          <a:bodyPr wrap="square" lIns="0" tIns="0" rIns="0" bIns="0" rtlCol="0" anchor="ctr"/>
          <a:lstStyle/>
          <a:p>
            <a:pPr marL="0" indent="0" algn="ctr">
              <a:buNone/>
            </a:pPr>
            <a:r>
              <a:rPr lang="en-US" sz="1200" b="1" dirty="0">
                <a:solidFill>
                  <a:srgbClr val="E3B23C"/>
                </a:solidFill>
                <a:latin typeface="Calibri" pitchFamily="34" charset="0"/>
                <a:ea typeface="Calibri" pitchFamily="34" charset="-122"/>
                <a:cs typeface="Calibri" pitchFamily="34" charset="-120"/>
              </a:rPr>
              <a:t>API layer  ·  routing and a single-entry point  ·  optional, never a place for business logic</a:t>
            </a:r>
            <a:endParaRPr lang="en-US" sz="1200" dirty="0"/>
          </a:p>
        </p:txBody>
      </p:sp>
      <p:sp>
        <p:nvSpPr>
          <p:cNvPr id="13" name="Shape 11"/>
          <p:cNvSpPr/>
          <p:nvPr/>
        </p:nvSpPr>
        <p:spPr>
          <a:xfrm>
            <a:off x="2560320" y="1737360"/>
            <a:ext cx="0" cy="320040"/>
          </a:xfrm>
          <a:prstGeom prst="line">
            <a:avLst/>
          </a:prstGeom>
          <a:noFill/>
          <a:ln w="15875">
            <a:solidFill>
              <a:srgbClr val="62757F"/>
            </a:solidFill>
            <a:prstDash val="solid"/>
            <a:tailEnd type="triangle"/>
          </a:ln>
        </p:spPr>
        <p:txBody>
          <a:bodyPr/>
          <a:lstStyle/>
          <a:p>
            <a:endParaRPr lang="en-US"/>
          </a:p>
        </p:txBody>
      </p:sp>
      <p:sp>
        <p:nvSpPr>
          <p:cNvPr id="14" name="Shape 12"/>
          <p:cNvSpPr/>
          <p:nvPr/>
        </p:nvSpPr>
        <p:spPr>
          <a:xfrm>
            <a:off x="9601200" y="1737360"/>
            <a:ext cx="0" cy="320040"/>
          </a:xfrm>
          <a:prstGeom prst="line">
            <a:avLst/>
          </a:prstGeom>
          <a:noFill/>
          <a:ln w="15875">
            <a:solidFill>
              <a:srgbClr val="62757F"/>
            </a:solidFill>
            <a:prstDash val="solid"/>
            <a:tailEnd type="triangle"/>
          </a:ln>
        </p:spPr>
        <p:txBody>
          <a:bodyPr/>
          <a:lstStyle/>
          <a:p>
            <a:endParaRPr lang="en-US"/>
          </a:p>
        </p:txBody>
      </p:sp>
      <p:sp>
        <p:nvSpPr>
          <p:cNvPr id="15" name="Shape 13"/>
          <p:cNvSpPr/>
          <p:nvPr/>
        </p:nvSpPr>
        <p:spPr>
          <a:xfrm>
            <a:off x="1764792" y="2560320"/>
            <a:ext cx="0" cy="384048"/>
          </a:xfrm>
          <a:prstGeom prst="line">
            <a:avLst/>
          </a:prstGeom>
          <a:noFill/>
          <a:ln w="15875">
            <a:solidFill>
              <a:srgbClr val="B23F3A"/>
            </a:solidFill>
            <a:prstDash val="solid"/>
            <a:tailEnd type="triangle"/>
          </a:ln>
        </p:spPr>
        <p:txBody>
          <a:bodyPr/>
          <a:lstStyle/>
          <a:p>
            <a:endParaRPr lang="en-US"/>
          </a:p>
        </p:txBody>
      </p:sp>
      <p:sp>
        <p:nvSpPr>
          <p:cNvPr id="16" name="Shape 14"/>
          <p:cNvSpPr/>
          <p:nvPr/>
        </p:nvSpPr>
        <p:spPr>
          <a:xfrm>
            <a:off x="804672"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17" name="Text 15"/>
          <p:cNvSpPr txBox="1"/>
          <p:nvPr/>
        </p:nvSpPr>
        <p:spPr>
          <a:xfrm>
            <a:off x="804672" y="2944368"/>
            <a:ext cx="1920240" cy="274320"/>
          </a:xfrm>
          <a:prstGeom prst="rect">
            <a:avLst/>
          </a:prstGeom>
          <a:noFill/>
          <a:ln/>
        </p:spPr>
        <p:txBody>
          <a:bodyPr wrap="square" lIns="0" tIns="0" rIns="0" bIns="0" rtlCol="0" anchor="ctr"/>
          <a:lstStyle/>
          <a:p>
            <a:pPr marL="0" indent="0" algn="ctr">
              <a:buNone/>
            </a:pPr>
            <a:r>
              <a:rPr lang="en-US" sz="900" dirty="0">
                <a:solidFill>
                  <a:srgbClr val="B23F3A"/>
                </a:solidFill>
                <a:latin typeface="Calibri" pitchFamily="34" charset="0"/>
                <a:ea typeface="Calibri" pitchFamily="34" charset="-122"/>
                <a:cs typeface="Calibri" pitchFamily="34" charset="-120"/>
              </a:rPr>
              <a:t>sidecar</a:t>
            </a:r>
            <a:endParaRPr lang="en-US" sz="900" dirty="0"/>
          </a:p>
        </p:txBody>
      </p:sp>
      <p:sp>
        <p:nvSpPr>
          <p:cNvPr id="18" name="Shape 16"/>
          <p:cNvSpPr/>
          <p:nvPr/>
        </p:nvSpPr>
        <p:spPr>
          <a:xfrm>
            <a:off x="804672"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19" name="Text 17"/>
          <p:cNvSpPr txBox="1"/>
          <p:nvPr/>
        </p:nvSpPr>
        <p:spPr>
          <a:xfrm>
            <a:off x="804672" y="3218688"/>
            <a:ext cx="1920240" cy="77724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Catalog</a:t>
            </a:r>
            <a:endParaRPr lang="en-US" sz="1200" dirty="0"/>
          </a:p>
          <a:p>
            <a:pPr marL="0" indent="0" algn="ctr">
              <a:buNone/>
            </a:pPr>
            <a:r>
              <a:rPr lang="en-US" sz="1200" b="1" dirty="0">
                <a:solidFill>
                  <a:srgbClr val="14242E"/>
                </a:solidFill>
                <a:latin typeface="Calibri" pitchFamily="34" charset="0"/>
                <a:ea typeface="Calibri" pitchFamily="34" charset="-122"/>
                <a:cs typeface="Calibri" pitchFamily="34" charset="-120"/>
              </a:rPr>
              <a:t>service</a:t>
            </a:r>
            <a:endParaRPr lang="en-US" sz="1200" dirty="0"/>
          </a:p>
        </p:txBody>
      </p:sp>
      <p:sp>
        <p:nvSpPr>
          <p:cNvPr id="20" name="Shape 18"/>
          <p:cNvSpPr/>
          <p:nvPr/>
        </p:nvSpPr>
        <p:spPr>
          <a:xfrm>
            <a:off x="1764792" y="3995928"/>
            <a:ext cx="0" cy="274320"/>
          </a:xfrm>
          <a:prstGeom prst="line">
            <a:avLst/>
          </a:prstGeom>
          <a:noFill/>
          <a:ln w="15875">
            <a:solidFill>
              <a:srgbClr val="B23F3A"/>
            </a:solidFill>
            <a:prstDash val="solid"/>
            <a:tailEnd type="triangle"/>
          </a:ln>
        </p:spPr>
        <p:txBody>
          <a:bodyPr/>
          <a:lstStyle/>
          <a:p>
            <a:endParaRPr lang="en-US"/>
          </a:p>
        </p:txBody>
      </p:sp>
      <p:sp>
        <p:nvSpPr>
          <p:cNvPr id="21" name="Shape 19"/>
          <p:cNvSpPr/>
          <p:nvPr/>
        </p:nvSpPr>
        <p:spPr>
          <a:xfrm>
            <a:off x="1078992"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22" name="Text 20"/>
          <p:cNvSpPr txBox="1"/>
          <p:nvPr/>
        </p:nvSpPr>
        <p:spPr>
          <a:xfrm>
            <a:off x="1078992" y="4270248"/>
            <a:ext cx="1371600" cy="457200"/>
          </a:xfrm>
          <a:prstGeom prst="rect">
            <a:avLst/>
          </a:prstGeom>
          <a:noFill/>
          <a:ln/>
        </p:spPr>
        <p:txBody>
          <a:bodyPr wrap="square" lIns="0" tIns="0" rIns="0" bIns="0" rtlCol="0" anchor="ctr"/>
          <a:lstStyle/>
          <a:p>
            <a:pPr marL="0" indent="0" algn="ctr">
              <a:buNone/>
            </a:pPr>
            <a:r>
              <a:rPr lang="en-US" sz="1000" dirty="0">
                <a:solidFill>
                  <a:srgbClr val="B23F3A"/>
                </a:solidFill>
                <a:latin typeface="Calibri" pitchFamily="34" charset="0"/>
                <a:ea typeface="Calibri" pitchFamily="34" charset="-122"/>
                <a:cs typeface="Calibri" pitchFamily="34" charset="-120"/>
              </a:rPr>
              <a:t>own DB</a:t>
            </a:r>
            <a:endParaRPr lang="en-US" sz="1000" dirty="0"/>
          </a:p>
        </p:txBody>
      </p:sp>
      <p:sp>
        <p:nvSpPr>
          <p:cNvPr id="23" name="Shape 21"/>
          <p:cNvSpPr/>
          <p:nvPr/>
        </p:nvSpPr>
        <p:spPr>
          <a:xfrm>
            <a:off x="3977640" y="2560320"/>
            <a:ext cx="0" cy="384048"/>
          </a:xfrm>
          <a:prstGeom prst="line">
            <a:avLst/>
          </a:prstGeom>
          <a:noFill/>
          <a:ln w="15875">
            <a:solidFill>
              <a:srgbClr val="B23F3A"/>
            </a:solidFill>
            <a:prstDash val="solid"/>
            <a:tailEnd type="triangle"/>
          </a:ln>
        </p:spPr>
        <p:txBody>
          <a:bodyPr/>
          <a:lstStyle/>
          <a:p>
            <a:endParaRPr lang="en-US"/>
          </a:p>
        </p:txBody>
      </p:sp>
      <p:sp>
        <p:nvSpPr>
          <p:cNvPr id="24" name="Shape 22"/>
          <p:cNvSpPr/>
          <p:nvPr/>
        </p:nvSpPr>
        <p:spPr>
          <a:xfrm>
            <a:off x="3017520"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25" name="Text 23"/>
          <p:cNvSpPr txBox="1"/>
          <p:nvPr/>
        </p:nvSpPr>
        <p:spPr>
          <a:xfrm>
            <a:off x="3017520" y="2944368"/>
            <a:ext cx="1920240" cy="274320"/>
          </a:xfrm>
          <a:prstGeom prst="rect">
            <a:avLst/>
          </a:prstGeom>
          <a:noFill/>
          <a:ln/>
        </p:spPr>
        <p:txBody>
          <a:bodyPr wrap="square" lIns="0" tIns="0" rIns="0" bIns="0" rtlCol="0" anchor="ctr"/>
          <a:lstStyle/>
          <a:p>
            <a:pPr marL="0" indent="0" algn="ctr">
              <a:buNone/>
            </a:pPr>
            <a:r>
              <a:rPr lang="en-US" sz="900" dirty="0">
                <a:solidFill>
                  <a:srgbClr val="B23F3A"/>
                </a:solidFill>
                <a:latin typeface="Calibri" pitchFamily="34" charset="0"/>
                <a:ea typeface="Calibri" pitchFamily="34" charset="-122"/>
                <a:cs typeface="Calibri" pitchFamily="34" charset="-120"/>
              </a:rPr>
              <a:t>sidecar</a:t>
            </a:r>
            <a:endParaRPr lang="en-US" sz="900" dirty="0"/>
          </a:p>
        </p:txBody>
      </p:sp>
      <p:sp>
        <p:nvSpPr>
          <p:cNvPr id="26" name="Shape 24"/>
          <p:cNvSpPr/>
          <p:nvPr/>
        </p:nvSpPr>
        <p:spPr>
          <a:xfrm>
            <a:off x="3017520"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27" name="Text 25"/>
          <p:cNvSpPr txBox="1"/>
          <p:nvPr/>
        </p:nvSpPr>
        <p:spPr>
          <a:xfrm>
            <a:off x="3017520" y="3218688"/>
            <a:ext cx="1920240" cy="77724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Ordering</a:t>
            </a:r>
            <a:endParaRPr lang="en-US" sz="1200" dirty="0"/>
          </a:p>
          <a:p>
            <a:pPr marL="0" indent="0" algn="ctr">
              <a:buNone/>
            </a:pPr>
            <a:r>
              <a:rPr lang="en-US" sz="1200" b="1" dirty="0">
                <a:solidFill>
                  <a:srgbClr val="14242E"/>
                </a:solidFill>
                <a:latin typeface="Calibri" pitchFamily="34" charset="0"/>
                <a:ea typeface="Calibri" pitchFamily="34" charset="-122"/>
                <a:cs typeface="Calibri" pitchFamily="34" charset="-120"/>
              </a:rPr>
              <a:t>service</a:t>
            </a:r>
            <a:endParaRPr lang="en-US" sz="1200" dirty="0"/>
          </a:p>
        </p:txBody>
      </p:sp>
      <p:sp>
        <p:nvSpPr>
          <p:cNvPr id="28" name="Shape 26"/>
          <p:cNvSpPr/>
          <p:nvPr/>
        </p:nvSpPr>
        <p:spPr>
          <a:xfrm>
            <a:off x="3977640" y="3995928"/>
            <a:ext cx="0" cy="274320"/>
          </a:xfrm>
          <a:prstGeom prst="line">
            <a:avLst/>
          </a:prstGeom>
          <a:noFill/>
          <a:ln w="15875">
            <a:solidFill>
              <a:srgbClr val="B23F3A"/>
            </a:solidFill>
            <a:prstDash val="solid"/>
            <a:tailEnd type="triangle"/>
          </a:ln>
        </p:spPr>
        <p:txBody>
          <a:bodyPr/>
          <a:lstStyle/>
          <a:p>
            <a:endParaRPr lang="en-US"/>
          </a:p>
        </p:txBody>
      </p:sp>
      <p:sp>
        <p:nvSpPr>
          <p:cNvPr id="29" name="Shape 27"/>
          <p:cNvSpPr/>
          <p:nvPr/>
        </p:nvSpPr>
        <p:spPr>
          <a:xfrm>
            <a:off x="3291840"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30" name="Text 28"/>
          <p:cNvSpPr txBox="1"/>
          <p:nvPr/>
        </p:nvSpPr>
        <p:spPr>
          <a:xfrm>
            <a:off x="3291840" y="4270248"/>
            <a:ext cx="1371600" cy="457200"/>
          </a:xfrm>
          <a:prstGeom prst="rect">
            <a:avLst/>
          </a:prstGeom>
          <a:noFill/>
          <a:ln/>
        </p:spPr>
        <p:txBody>
          <a:bodyPr wrap="square" lIns="0" tIns="0" rIns="0" bIns="0" rtlCol="0" anchor="ctr"/>
          <a:lstStyle/>
          <a:p>
            <a:pPr marL="0" indent="0" algn="ctr">
              <a:buNone/>
            </a:pPr>
            <a:r>
              <a:rPr lang="en-US" sz="1000" dirty="0">
                <a:solidFill>
                  <a:srgbClr val="B23F3A"/>
                </a:solidFill>
                <a:latin typeface="Calibri" pitchFamily="34" charset="0"/>
                <a:ea typeface="Calibri" pitchFamily="34" charset="-122"/>
                <a:cs typeface="Calibri" pitchFamily="34" charset="-120"/>
              </a:rPr>
              <a:t>own DB</a:t>
            </a:r>
            <a:endParaRPr lang="en-US" sz="1000" dirty="0"/>
          </a:p>
        </p:txBody>
      </p:sp>
      <p:sp>
        <p:nvSpPr>
          <p:cNvPr id="31" name="Shape 29"/>
          <p:cNvSpPr/>
          <p:nvPr/>
        </p:nvSpPr>
        <p:spPr>
          <a:xfrm>
            <a:off x="6190488" y="2560320"/>
            <a:ext cx="0" cy="384048"/>
          </a:xfrm>
          <a:prstGeom prst="line">
            <a:avLst/>
          </a:prstGeom>
          <a:noFill/>
          <a:ln w="15875">
            <a:solidFill>
              <a:srgbClr val="B23F3A"/>
            </a:solidFill>
            <a:prstDash val="solid"/>
            <a:tailEnd type="triangle"/>
          </a:ln>
        </p:spPr>
        <p:txBody>
          <a:bodyPr/>
          <a:lstStyle/>
          <a:p>
            <a:endParaRPr lang="en-US"/>
          </a:p>
        </p:txBody>
      </p:sp>
      <p:sp>
        <p:nvSpPr>
          <p:cNvPr id="32" name="Shape 30"/>
          <p:cNvSpPr/>
          <p:nvPr/>
        </p:nvSpPr>
        <p:spPr>
          <a:xfrm>
            <a:off x="5230368"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33" name="Text 31"/>
          <p:cNvSpPr txBox="1"/>
          <p:nvPr/>
        </p:nvSpPr>
        <p:spPr>
          <a:xfrm>
            <a:off x="5230368" y="2944368"/>
            <a:ext cx="1920240" cy="274320"/>
          </a:xfrm>
          <a:prstGeom prst="rect">
            <a:avLst/>
          </a:prstGeom>
          <a:noFill/>
          <a:ln/>
        </p:spPr>
        <p:txBody>
          <a:bodyPr wrap="square" lIns="0" tIns="0" rIns="0" bIns="0" rtlCol="0" anchor="ctr"/>
          <a:lstStyle/>
          <a:p>
            <a:pPr marL="0" indent="0" algn="ctr">
              <a:buNone/>
            </a:pPr>
            <a:r>
              <a:rPr lang="en-US" sz="900" dirty="0">
                <a:solidFill>
                  <a:srgbClr val="B23F3A"/>
                </a:solidFill>
                <a:latin typeface="Calibri" pitchFamily="34" charset="0"/>
                <a:ea typeface="Calibri" pitchFamily="34" charset="-122"/>
                <a:cs typeface="Calibri" pitchFamily="34" charset="-120"/>
              </a:rPr>
              <a:t>sidecar</a:t>
            </a:r>
            <a:endParaRPr lang="en-US" sz="900" dirty="0"/>
          </a:p>
        </p:txBody>
      </p:sp>
      <p:sp>
        <p:nvSpPr>
          <p:cNvPr id="34" name="Shape 32"/>
          <p:cNvSpPr/>
          <p:nvPr/>
        </p:nvSpPr>
        <p:spPr>
          <a:xfrm>
            <a:off x="5230368"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35" name="Text 33"/>
          <p:cNvSpPr txBox="1"/>
          <p:nvPr/>
        </p:nvSpPr>
        <p:spPr>
          <a:xfrm>
            <a:off x="5230368" y="3218688"/>
            <a:ext cx="1920240" cy="77724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Payment</a:t>
            </a:r>
            <a:endParaRPr lang="en-US" sz="1200" dirty="0"/>
          </a:p>
          <a:p>
            <a:pPr marL="0" indent="0" algn="ctr">
              <a:buNone/>
            </a:pPr>
            <a:r>
              <a:rPr lang="en-US" sz="1200" b="1" dirty="0">
                <a:solidFill>
                  <a:srgbClr val="14242E"/>
                </a:solidFill>
                <a:latin typeface="Calibri" pitchFamily="34" charset="0"/>
                <a:ea typeface="Calibri" pitchFamily="34" charset="-122"/>
                <a:cs typeface="Calibri" pitchFamily="34" charset="-120"/>
              </a:rPr>
              <a:t>service</a:t>
            </a:r>
            <a:endParaRPr lang="en-US" sz="1200" dirty="0"/>
          </a:p>
        </p:txBody>
      </p:sp>
      <p:sp>
        <p:nvSpPr>
          <p:cNvPr id="36" name="Shape 34"/>
          <p:cNvSpPr/>
          <p:nvPr/>
        </p:nvSpPr>
        <p:spPr>
          <a:xfrm>
            <a:off x="6190488" y="3995928"/>
            <a:ext cx="0" cy="274320"/>
          </a:xfrm>
          <a:prstGeom prst="line">
            <a:avLst/>
          </a:prstGeom>
          <a:noFill/>
          <a:ln w="15875">
            <a:solidFill>
              <a:srgbClr val="B23F3A"/>
            </a:solidFill>
            <a:prstDash val="solid"/>
            <a:tailEnd type="triangle"/>
          </a:ln>
        </p:spPr>
        <p:txBody>
          <a:bodyPr/>
          <a:lstStyle/>
          <a:p>
            <a:endParaRPr lang="en-US"/>
          </a:p>
        </p:txBody>
      </p:sp>
      <p:sp>
        <p:nvSpPr>
          <p:cNvPr id="37" name="Shape 35"/>
          <p:cNvSpPr/>
          <p:nvPr/>
        </p:nvSpPr>
        <p:spPr>
          <a:xfrm>
            <a:off x="5504688"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38" name="Text 36"/>
          <p:cNvSpPr txBox="1"/>
          <p:nvPr/>
        </p:nvSpPr>
        <p:spPr>
          <a:xfrm>
            <a:off x="5504688" y="4270248"/>
            <a:ext cx="1371600" cy="457200"/>
          </a:xfrm>
          <a:prstGeom prst="rect">
            <a:avLst/>
          </a:prstGeom>
          <a:noFill/>
          <a:ln/>
        </p:spPr>
        <p:txBody>
          <a:bodyPr wrap="square" lIns="0" tIns="0" rIns="0" bIns="0" rtlCol="0" anchor="ctr"/>
          <a:lstStyle/>
          <a:p>
            <a:pPr marL="0" indent="0" algn="ctr">
              <a:buNone/>
            </a:pPr>
            <a:r>
              <a:rPr lang="en-US" sz="1000" dirty="0">
                <a:solidFill>
                  <a:srgbClr val="B23F3A"/>
                </a:solidFill>
                <a:latin typeface="Calibri" pitchFamily="34" charset="0"/>
                <a:ea typeface="Calibri" pitchFamily="34" charset="-122"/>
                <a:cs typeface="Calibri" pitchFamily="34" charset="-120"/>
              </a:rPr>
              <a:t>own DB</a:t>
            </a:r>
            <a:endParaRPr lang="en-US" sz="1000" dirty="0"/>
          </a:p>
        </p:txBody>
      </p:sp>
      <p:sp>
        <p:nvSpPr>
          <p:cNvPr id="39" name="Shape 37"/>
          <p:cNvSpPr/>
          <p:nvPr/>
        </p:nvSpPr>
        <p:spPr>
          <a:xfrm>
            <a:off x="8403336" y="2560320"/>
            <a:ext cx="0" cy="384048"/>
          </a:xfrm>
          <a:prstGeom prst="line">
            <a:avLst/>
          </a:prstGeom>
          <a:noFill/>
          <a:ln w="15875">
            <a:solidFill>
              <a:srgbClr val="B23F3A"/>
            </a:solidFill>
            <a:prstDash val="solid"/>
            <a:tailEnd type="triangle"/>
          </a:ln>
        </p:spPr>
        <p:txBody>
          <a:bodyPr/>
          <a:lstStyle/>
          <a:p>
            <a:endParaRPr lang="en-US"/>
          </a:p>
        </p:txBody>
      </p:sp>
      <p:sp>
        <p:nvSpPr>
          <p:cNvPr id="40" name="Shape 38"/>
          <p:cNvSpPr/>
          <p:nvPr/>
        </p:nvSpPr>
        <p:spPr>
          <a:xfrm>
            <a:off x="7443216"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41" name="Text 39"/>
          <p:cNvSpPr txBox="1"/>
          <p:nvPr/>
        </p:nvSpPr>
        <p:spPr>
          <a:xfrm>
            <a:off x="7443216" y="2944368"/>
            <a:ext cx="1920240" cy="274320"/>
          </a:xfrm>
          <a:prstGeom prst="rect">
            <a:avLst/>
          </a:prstGeom>
          <a:noFill/>
          <a:ln/>
        </p:spPr>
        <p:txBody>
          <a:bodyPr wrap="square" lIns="0" tIns="0" rIns="0" bIns="0" rtlCol="0" anchor="ctr"/>
          <a:lstStyle/>
          <a:p>
            <a:pPr marL="0" indent="0" algn="ctr">
              <a:buNone/>
            </a:pPr>
            <a:r>
              <a:rPr lang="en-US" sz="900" dirty="0">
                <a:solidFill>
                  <a:srgbClr val="B23F3A"/>
                </a:solidFill>
                <a:latin typeface="Calibri" pitchFamily="34" charset="0"/>
                <a:ea typeface="Calibri" pitchFamily="34" charset="-122"/>
                <a:cs typeface="Calibri" pitchFamily="34" charset="-120"/>
              </a:rPr>
              <a:t>sidecar</a:t>
            </a:r>
            <a:endParaRPr lang="en-US" sz="900" dirty="0"/>
          </a:p>
        </p:txBody>
      </p:sp>
      <p:sp>
        <p:nvSpPr>
          <p:cNvPr id="42" name="Shape 40"/>
          <p:cNvSpPr/>
          <p:nvPr/>
        </p:nvSpPr>
        <p:spPr>
          <a:xfrm>
            <a:off x="7443216"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43" name="Text 41"/>
          <p:cNvSpPr txBox="1"/>
          <p:nvPr/>
        </p:nvSpPr>
        <p:spPr>
          <a:xfrm>
            <a:off x="7443216" y="3218688"/>
            <a:ext cx="1920240" cy="77724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Shipping</a:t>
            </a:r>
            <a:endParaRPr lang="en-US" sz="1200" dirty="0"/>
          </a:p>
          <a:p>
            <a:pPr marL="0" indent="0" algn="ctr">
              <a:buNone/>
            </a:pPr>
            <a:r>
              <a:rPr lang="en-US" sz="1200" b="1" dirty="0">
                <a:solidFill>
                  <a:srgbClr val="14242E"/>
                </a:solidFill>
                <a:latin typeface="Calibri" pitchFamily="34" charset="0"/>
                <a:ea typeface="Calibri" pitchFamily="34" charset="-122"/>
                <a:cs typeface="Calibri" pitchFamily="34" charset="-120"/>
              </a:rPr>
              <a:t>service</a:t>
            </a:r>
            <a:endParaRPr lang="en-US" sz="1200" dirty="0"/>
          </a:p>
        </p:txBody>
      </p:sp>
      <p:sp>
        <p:nvSpPr>
          <p:cNvPr id="44" name="Shape 42"/>
          <p:cNvSpPr/>
          <p:nvPr/>
        </p:nvSpPr>
        <p:spPr>
          <a:xfrm>
            <a:off x="8403336" y="3995928"/>
            <a:ext cx="0" cy="274320"/>
          </a:xfrm>
          <a:prstGeom prst="line">
            <a:avLst/>
          </a:prstGeom>
          <a:noFill/>
          <a:ln w="15875">
            <a:solidFill>
              <a:srgbClr val="B23F3A"/>
            </a:solidFill>
            <a:prstDash val="solid"/>
            <a:tailEnd type="triangle"/>
          </a:ln>
        </p:spPr>
        <p:txBody>
          <a:bodyPr/>
          <a:lstStyle/>
          <a:p>
            <a:endParaRPr lang="en-US"/>
          </a:p>
        </p:txBody>
      </p:sp>
      <p:sp>
        <p:nvSpPr>
          <p:cNvPr id="45" name="Shape 43"/>
          <p:cNvSpPr/>
          <p:nvPr/>
        </p:nvSpPr>
        <p:spPr>
          <a:xfrm>
            <a:off x="7717536"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46" name="Text 44"/>
          <p:cNvSpPr txBox="1"/>
          <p:nvPr/>
        </p:nvSpPr>
        <p:spPr>
          <a:xfrm>
            <a:off x="7717536" y="4270248"/>
            <a:ext cx="1371600" cy="457200"/>
          </a:xfrm>
          <a:prstGeom prst="rect">
            <a:avLst/>
          </a:prstGeom>
          <a:noFill/>
          <a:ln/>
        </p:spPr>
        <p:txBody>
          <a:bodyPr wrap="square" lIns="0" tIns="0" rIns="0" bIns="0" rtlCol="0" anchor="ctr"/>
          <a:lstStyle/>
          <a:p>
            <a:pPr marL="0" indent="0" algn="ctr">
              <a:buNone/>
            </a:pPr>
            <a:r>
              <a:rPr lang="en-US" sz="1000" dirty="0">
                <a:solidFill>
                  <a:srgbClr val="B23F3A"/>
                </a:solidFill>
                <a:latin typeface="Calibri" pitchFamily="34" charset="0"/>
                <a:ea typeface="Calibri" pitchFamily="34" charset="-122"/>
                <a:cs typeface="Calibri" pitchFamily="34" charset="-120"/>
              </a:rPr>
              <a:t>own DB</a:t>
            </a:r>
            <a:endParaRPr lang="en-US" sz="1000" dirty="0"/>
          </a:p>
        </p:txBody>
      </p:sp>
      <p:sp>
        <p:nvSpPr>
          <p:cNvPr id="47" name="Shape 45"/>
          <p:cNvSpPr/>
          <p:nvPr/>
        </p:nvSpPr>
        <p:spPr>
          <a:xfrm>
            <a:off x="10616184" y="2560320"/>
            <a:ext cx="0" cy="384048"/>
          </a:xfrm>
          <a:prstGeom prst="line">
            <a:avLst/>
          </a:prstGeom>
          <a:noFill/>
          <a:ln w="15875">
            <a:solidFill>
              <a:srgbClr val="B23F3A"/>
            </a:solidFill>
            <a:prstDash val="solid"/>
            <a:tailEnd type="triangle"/>
          </a:ln>
        </p:spPr>
        <p:txBody>
          <a:bodyPr/>
          <a:lstStyle/>
          <a:p>
            <a:endParaRPr lang="en-US"/>
          </a:p>
        </p:txBody>
      </p:sp>
      <p:sp>
        <p:nvSpPr>
          <p:cNvPr id="48" name="Shape 46"/>
          <p:cNvSpPr/>
          <p:nvPr/>
        </p:nvSpPr>
        <p:spPr>
          <a:xfrm>
            <a:off x="9656064"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49" name="Text 47"/>
          <p:cNvSpPr txBox="1"/>
          <p:nvPr/>
        </p:nvSpPr>
        <p:spPr>
          <a:xfrm>
            <a:off x="9656064" y="2944368"/>
            <a:ext cx="1920240" cy="274320"/>
          </a:xfrm>
          <a:prstGeom prst="rect">
            <a:avLst/>
          </a:prstGeom>
          <a:noFill/>
          <a:ln/>
        </p:spPr>
        <p:txBody>
          <a:bodyPr wrap="square" lIns="0" tIns="0" rIns="0" bIns="0" rtlCol="0" anchor="ctr"/>
          <a:lstStyle/>
          <a:p>
            <a:pPr marL="0" indent="0" algn="ctr">
              <a:buNone/>
            </a:pPr>
            <a:r>
              <a:rPr lang="en-US" sz="900" dirty="0">
                <a:solidFill>
                  <a:srgbClr val="B23F3A"/>
                </a:solidFill>
                <a:latin typeface="Calibri" pitchFamily="34" charset="0"/>
                <a:ea typeface="Calibri" pitchFamily="34" charset="-122"/>
                <a:cs typeface="Calibri" pitchFamily="34" charset="-120"/>
              </a:rPr>
              <a:t>sidecar</a:t>
            </a:r>
            <a:endParaRPr lang="en-US" sz="900" dirty="0"/>
          </a:p>
        </p:txBody>
      </p:sp>
      <p:sp>
        <p:nvSpPr>
          <p:cNvPr id="50" name="Shape 48"/>
          <p:cNvSpPr/>
          <p:nvPr/>
        </p:nvSpPr>
        <p:spPr>
          <a:xfrm>
            <a:off x="9656064"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51" name="Text 49"/>
          <p:cNvSpPr txBox="1"/>
          <p:nvPr/>
        </p:nvSpPr>
        <p:spPr>
          <a:xfrm>
            <a:off x="9656064" y="3218688"/>
            <a:ext cx="1920240" cy="777240"/>
          </a:xfrm>
          <a:prstGeom prst="rect">
            <a:avLst/>
          </a:prstGeom>
          <a:noFill/>
          <a:ln/>
        </p:spPr>
        <p:txBody>
          <a:bodyPr wrap="square" lIns="0" tIns="0" rIns="0" bIns="0" rtlCol="0" anchor="ctr"/>
          <a:lstStyle/>
          <a:p>
            <a:pPr marL="0" indent="0" algn="ctr">
              <a:buNone/>
            </a:pPr>
            <a:r>
              <a:rPr lang="en-US" sz="1200" b="1" dirty="0">
                <a:solidFill>
                  <a:srgbClr val="14242E"/>
                </a:solidFill>
                <a:latin typeface="Calibri" pitchFamily="34" charset="0"/>
                <a:ea typeface="Calibri" pitchFamily="34" charset="-122"/>
                <a:cs typeface="Calibri" pitchFamily="34" charset="-120"/>
              </a:rPr>
              <a:t>Notification</a:t>
            </a:r>
            <a:endParaRPr lang="en-US" sz="1200" dirty="0"/>
          </a:p>
          <a:p>
            <a:pPr marL="0" indent="0" algn="ctr">
              <a:buNone/>
            </a:pPr>
            <a:r>
              <a:rPr lang="en-US" sz="1200" b="1" dirty="0">
                <a:solidFill>
                  <a:srgbClr val="14242E"/>
                </a:solidFill>
                <a:latin typeface="Calibri" pitchFamily="34" charset="0"/>
                <a:ea typeface="Calibri" pitchFamily="34" charset="-122"/>
                <a:cs typeface="Calibri" pitchFamily="34" charset="-120"/>
              </a:rPr>
              <a:t>service</a:t>
            </a:r>
            <a:endParaRPr lang="en-US" sz="1200" dirty="0"/>
          </a:p>
        </p:txBody>
      </p:sp>
      <p:sp>
        <p:nvSpPr>
          <p:cNvPr id="52" name="Shape 50"/>
          <p:cNvSpPr/>
          <p:nvPr/>
        </p:nvSpPr>
        <p:spPr>
          <a:xfrm>
            <a:off x="10616184" y="3995928"/>
            <a:ext cx="0" cy="274320"/>
          </a:xfrm>
          <a:prstGeom prst="line">
            <a:avLst/>
          </a:prstGeom>
          <a:noFill/>
          <a:ln w="15875">
            <a:solidFill>
              <a:srgbClr val="B23F3A"/>
            </a:solidFill>
            <a:prstDash val="solid"/>
            <a:tailEnd type="triangle"/>
          </a:ln>
        </p:spPr>
        <p:txBody>
          <a:bodyPr/>
          <a:lstStyle/>
          <a:p>
            <a:endParaRPr lang="en-US"/>
          </a:p>
        </p:txBody>
      </p:sp>
      <p:sp>
        <p:nvSpPr>
          <p:cNvPr id="53" name="Shape 51"/>
          <p:cNvSpPr/>
          <p:nvPr/>
        </p:nvSpPr>
        <p:spPr>
          <a:xfrm>
            <a:off x="9930384"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54" name="Text 52"/>
          <p:cNvSpPr txBox="1"/>
          <p:nvPr/>
        </p:nvSpPr>
        <p:spPr>
          <a:xfrm>
            <a:off x="9930384" y="4270248"/>
            <a:ext cx="1371600" cy="457200"/>
          </a:xfrm>
          <a:prstGeom prst="rect">
            <a:avLst/>
          </a:prstGeom>
          <a:noFill/>
          <a:ln/>
        </p:spPr>
        <p:txBody>
          <a:bodyPr wrap="square" lIns="0" tIns="0" rIns="0" bIns="0" rtlCol="0" anchor="ctr"/>
          <a:lstStyle/>
          <a:p>
            <a:pPr marL="0" indent="0" algn="ctr">
              <a:buNone/>
            </a:pPr>
            <a:r>
              <a:rPr lang="en-US" sz="1000" dirty="0">
                <a:solidFill>
                  <a:srgbClr val="B23F3A"/>
                </a:solidFill>
                <a:latin typeface="Calibri" pitchFamily="34" charset="0"/>
                <a:ea typeface="Calibri" pitchFamily="34" charset="-122"/>
                <a:cs typeface="Calibri" pitchFamily="34" charset="-120"/>
              </a:rPr>
              <a:t>own DB</a:t>
            </a:r>
            <a:endParaRPr lang="en-US" sz="1000" dirty="0"/>
          </a:p>
        </p:txBody>
      </p:sp>
      <p:sp>
        <p:nvSpPr>
          <p:cNvPr id="55" name="Shape 53"/>
          <p:cNvSpPr/>
          <p:nvPr/>
        </p:nvSpPr>
        <p:spPr>
          <a:xfrm>
            <a:off x="914400" y="5029200"/>
            <a:ext cx="10332720" cy="475488"/>
          </a:xfrm>
          <a:prstGeom prst="roundRect">
            <a:avLst>
              <a:gd name="adj" fmla="val 9615"/>
            </a:avLst>
          </a:prstGeom>
          <a:solidFill>
            <a:srgbClr val="F0F4F6"/>
          </a:solidFill>
          <a:ln w="12700">
            <a:solidFill>
              <a:srgbClr val="C6D2D8"/>
            </a:solidFill>
            <a:prstDash val="dash"/>
          </a:ln>
        </p:spPr>
        <p:txBody>
          <a:bodyPr/>
          <a:lstStyle/>
          <a:p>
            <a:endParaRPr lang="en-US"/>
          </a:p>
        </p:txBody>
      </p:sp>
      <p:sp>
        <p:nvSpPr>
          <p:cNvPr id="56" name="Text 54"/>
          <p:cNvSpPr txBox="1"/>
          <p:nvPr/>
        </p:nvSpPr>
        <p:spPr>
          <a:xfrm>
            <a:off x="914400" y="5029200"/>
            <a:ext cx="10332720" cy="475488"/>
          </a:xfrm>
          <a:prstGeom prst="rect">
            <a:avLst/>
          </a:prstGeom>
          <a:noFill/>
          <a:ln/>
        </p:spPr>
        <p:txBody>
          <a:bodyPr wrap="square" lIns="0" tIns="0" rIns="0" bIns="0" rtlCol="0" anchor="ctr"/>
          <a:lstStyle/>
          <a:p>
            <a:pPr marL="0" indent="0" algn="ctr">
              <a:buNone/>
            </a:pPr>
            <a:r>
              <a:rPr lang="en-US" sz="1150" dirty="0">
                <a:solidFill>
                  <a:srgbClr val="1F3644"/>
                </a:solidFill>
                <a:latin typeface="Calibri" pitchFamily="34" charset="0"/>
                <a:ea typeface="Calibri" pitchFamily="34" charset="-122"/>
                <a:cs typeface="Calibri" pitchFamily="34" charset="-120"/>
              </a:rPr>
              <a:t>Service plane  ·  the sidecars together form a service mesh for logging, monitoring, discovery and circuit breaking</a:t>
            </a:r>
            <a:endParaRPr lang="en-US" sz="1150" dirty="0"/>
          </a:p>
        </p:txBody>
      </p:sp>
      <p:sp>
        <p:nvSpPr>
          <p:cNvPr id="57" name="Text 55"/>
          <p:cNvSpPr txBox="1"/>
          <p:nvPr/>
        </p:nvSpPr>
        <p:spPr>
          <a:xfrm>
            <a:off x="804672" y="5669280"/>
            <a:ext cx="10561320" cy="548640"/>
          </a:xfrm>
          <a:prstGeom prst="rect">
            <a:avLst/>
          </a:prstGeom>
          <a:noFill/>
          <a:ln/>
        </p:spPr>
        <p:txBody>
          <a:bodyPr wrap="square" lIns="0" tIns="0" rIns="0" bIns="0" rtlCol="0" anchor="t"/>
          <a:lstStyle/>
          <a:p>
            <a:pPr marL="0" indent="0" algn="l">
              <a:buNone/>
            </a:pPr>
            <a:r>
              <a:rPr lang="en-US" sz="1250" dirty="0">
                <a:solidFill>
                  <a:srgbClr val="62757F"/>
                </a:solidFill>
                <a:latin typeface="Calibri" pitchFamily="34" charset="0"/>
                <a:ea typeface="Calibri" pitchFamily="34" charset="-122"/>
                <a:cs typeface="Calibri" pitchFamily="34" charset="-120"/>
              </a:rPr>
              <a:t>Operational concerns are the one thing microservices do reuse. Rather than a shared library that couples every service to a release schedule, the same capabilities are injected as a sidecar consistent operations without domain coupling.</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Getting granularity and transactions right</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17</a:t>
            </a:r>
            <a:endParaRPr lang="en-US" sz="1000" dirty="0"/>
          </a:p>
        </p:txBody>
      </p:sp>
      <p:sp>
        <p:nvSpPr>
          <p:cNvPr id="7" name="Shape 5"/>
          <p:cNvSpPr/>
          <p:nvPr/>
        </p:nvSpPr>
        <p:spPr>
          <a:xfrm>
            <a:off x="566928" y="1234440"/>
            <a:ext cx="11064240" cy="841248"/>
          </a:xfrm>
          <a:prstGeom prst="roundRect">
            <a:avLst>
              <a:gd name="adj" fmla="val 6522"/>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8" name="Text 6"/>
          <p:cNvSpPr txBox="1"/>
          <p:nvPr/>
        </p:nvSpPr>
        <p:spPr>
          <a:xfrm>
            <a:off x="868680" y="1234440"/>
            <a:ext cx="10469880" cy="841248"/>
          </a:xfrm>
          <a:prstGeom prst="rect">
            <a:avLst/>
          </a:prstGeom>
          <a:noFill/>
          <a:ln/>
        </p:spPr>
        <p:txBody>
          <a:bodyPr wrap="square" lIns="0" tIns="0" rIns="0" bIns="0" rtlCol="0" anchor="ctr"/>
          <a:lstStyle/>
          <a:p>
            <a:pPr marL="0" indent="0">
              <a:buNone/>
            </a:pPr>
            <a:r>
              <a:rPr lang="en-US" sz="1800" i="1" dirty="0">
                <a:solidFill>
                  <a:srgbClr val="E3B23C"/>
                </a:solidFill>
                <a:latin typeface="Cambria" pitchFamily="34" charset="0"/>
                <a:ea typeface="Cambria" pitchFamily="34" charset="-122"/>
                <a:cs typeface="Cambria" pitchFamily="34" charset="-120"/>
              </a:rPr>
              <a:t>“The term microservice is a label, not a description.”  — Martin Fowler</a:t>
            </a:r>
            <a:endParaRPr lang="en-US" sz="1800" dirty="0"/>
          </a:p>
        </p:txBody>
      </p:sp>
      <p:sp>
        <p:nvSpPr>
          <p:cNvPr id="9" name="Text 7"/>
          <p:cNvSpPr txBox="1"/>
          <p:nvPr/>
        </p:nvSpPr>
        <p:spPr>
          <a:xfrm>
            <a:off x="566928" y="2240280"/>
            <a:ext cx="5349240" cy="310896"/>
          </a:xfrm>
          <a:prstGeom prst="rect">
            <a:avLst/>
          </a:prstGeom>
          <a:noFill/>
          <a:ln/>
        </p:spPr>
        <p:txBody>
          <a:bodyPr wrap="square" lIns="0" tIns="0" rIns="0" bIns="0" rtlCol="0" anchor="ctr"/>
          <a:lstStyle/>
          <a:p>
            <a:pPr marL="0" indent="0">
              <a:buNone/>
            </a:pPr>
            <a:r>
              <a:rPr lang="en-US" sz="1550" b="1" dirty="0">
                <a:solidFill>
                  <a:srgbClr val="B23F3A"/>
                </a:solidFill>
                <a:latin typeface="Calibri" pitchFamily="34" charset="0"/>
                <a:ea typeface="Calibri" pitchFamily="34" charset="-122"/>
                <a:cs typeface="Calibri" pitchFamily="34" charset="-120"/>
              </a:rPr>
              <a:t>Three tests for a boundary</a:t>
            </a:r>
            <a:endParaRPr lang="en-US" sz="1550" dirty="0"/>
          </a:p>
        </p:txBody>
      </p:sp>
      <p:sp>
        <p:nvSpPr>
          <p:cNvPr id="10" name="Shape 8"/>
          <p:cNvSpPr/>
          <p:nvPr/>
        </p:nvSpPr>
        <p:spPr>
          <a:xfrm>
            <a:off x="566928" y="2651760"/>
            <a:ext cx="5349240" cy="987552"/>
          </a:xfrm>
          <a:prstGeom prst="roundRect">
            <a:avLst>
              <a:gd name="adj" fmla="val 555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822960" y="2761488"/>
            <a:ext cx="4846320" cy="274320"/>
          </a:xfrm>
          <a:prstGeom prst="rect">
            <a:avLst/>
          </a:prstGeom>
          <a:noFill/>
          <a:ln/>
        </p:spPr>
        <p:txBody>
          <a:bodyPr wrap="square" lIns="0" tIns="0" rIns="0" bIns="0" rtlCol="0" anchor="ctr"/>
          <a:lstStyle/>
          <a:p>
            <a:pPr marL="0" indent="0">
              <a:buNone/>
            </a:pPr>
            <a:r>
              <a:rPr lang="en-US" sz="1350" b="1" dirty="0">
                <a:solidFill>
                  <a:srgbClr val="14242E"/>
                </a:solidFill>
                <a:latin typeface="Calibri" pitchFamily="34" charset="0"/>
                <a:ea typeface="Calibri" pitchFamily="34" charset="-122"/>
                <a:cs typeface="Calibri" pitchFamily="34" charset="-120"/>
              </a:rPr>
              <a:t>Purpose</a:t>
            </a:r>
            <a:endParaRPr lang="en-US" sz="1350" dirty="0"/>
          </a:p>
        </p:txBody>
      </p:sp>
      <p:sp>
        <p:nvSpPr>
          <p:cNvPr id="12" name="Text 10"/>
          <p:cNvSpPr txBox="1"/>
          <p:nvPr/>
        </p:nvSpPr>
        <p:spPr>
          <a:xfrm>
            <a:off x="822960" y="3054096"/>
            <a:ext cx="4846320" cy="54864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Each service should be functionally cohesive and contribute one significant behaviour to the application.</a:t>
            </a:r>
            <a:endParaRPr lang="en-US" sz="1150" dirty="0"/>
          </a:p>
        </p:txBody>
      </p:sp>
      <p:sp>
        <p:nvSpPr>
          <p:cNvPr id="13" name="Shape 11"/>
          <p:cNvSpPr/>
          <p:nvPr/>
        </p:nvSpPr>
        <p:spPr>
          <a:xfrm>
            <a:off x="566928" y="3730752"/>
            <a:ext cx="5349240" cy="987552"/>
          </a:xfrm>
          <a:prstGeom prst="roundRect">
            <a:avLst>
              <a:gd name="adj" fmla="val 555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22960" y="3840480"/>
            <a:ext cx="4846320" cy="274320"/>
          </a:xfrm>
          <a:prstGeom prst="rect">
            <a:avLst/>
          </a:prstGeom>
          <a:noFill/>
          <a:ln/>
        </p:spPr>
        <p:txBody>
          <a:bodyPr wrap="square" lIns="0" tIns="0" rIns="0" bIns="0" rtlCol="0" anchor="ctr"/>
          <a:lstStyle/>
          <a:p>
            <a:pPr marL="0" indent="0">
              <a:buNone/>
            </a:pPr>
            <a:r>
              <a:rPr lang="en-US" sz="1350" b="1" dirty="0">
                <a:solidFill>
                  <a:srgbClr val="14242E"/>
                </a:solidFill>
                <a:latin typeface="Calibri" pitchFamily="34" charset="0"/>
                <a:ea typeface="Calibri" pitchFamily="34" charset="-122"/>
                <a:cs typeface="Calibri" pitchFamily="34" charset="-120"/>
              </a:rPr>
              <a:t>Transactions</a:t>
            </a:r>
            <a:endParaRPr lang="en-US" sz="1350" dirty="0"/>
          </a:p>
        </p:txBody>
      </p:sp>
      <p:sp>
        <p:nvSpPr>
          <p:cNvPr id="15" name="Text 13"/>
          <p:cNvSpPr txBox="1"/>
          <p:nvPr/>
        </p:nvSpPr>
        <p:spPr>
          <a:xfrm>
            <a:off x="822960" y="4133088"/>
            <a:ext cx="4846320" cy="54864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Entities that must change together point at a service boundary. Designing transactions away produces better boundaries than designing them across services.</a:t>
            </a:r>
            <a:endParaRPr lang="en-US" sz="1150" dirty="0"/>
          </a:p>
        </p:txBody>
      </p:sp>
      <p:sp>
        <p:nvSpPr>
          <p:cNvPr id="16" name="Shape 14"/>
          <p:cNvSpPr/>
          <p:nvPr/>
        </p:nvSpPr>
        <p:spPr>
          <a:xfrm>
            <a:off x="566928" y="4809744"/>
            <a:ext cx="5349240" cy="987552"/>
          </a:xfrm>
          <a:prstGeom prst="roundRect">
            <a:avLst>
              <a:gd name="adj" fmla="val 555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822960" y="4919472"/>
            <a:ext cx="4846320" cy="274320"/>
          </a:xfrm>
          <a:prstGeom prst="rect">
            <a:avLst/>
          </a:prstGeom>
          <a:noFill/>
          <a:ln/>
        </p:spPr>
        <p:txBody>
          <a:bodyPr wrap="square" lIns="0" tIns="0" rIns="0" bIns="0" rtlCol="0" anchor="ctr"/>
          <a:lstStyle/>
          <a:p>
            <a:pPr marL="0" indent="0">
              <a:buNone/>
            </a:pPr>
            <a:r>
              <a:rPr lang="en-US" sz="1350" b="1" dirty="0">
                <a:solidFill>
                  <a:srgbClr val="14242E"/>
                </a:solidFill>
                <a:latin typeface="Calibri" pitchFamily="34" charset="0"/>
                <a:ea typeface="Calibri" pitchFamily="34" charset="-122"/>
                <a:cs typeface="Calibri" pitchFamily="34" charset="-120"/>
              </a:rPr>
              <a:t>Choreography</a:t>
            </a:r>
            <a:endParaRPr lang="en-US" sz="1350" dirty="0"/>
          </a:p>
        </p:txBody>
      </p:sp>
      <p:sp>
        <p:nvSpPr>
          <p:cNvPr id="18" name="Text 16"/>
          <p:cNvSpPr txBox="1"/>
          <p:nvPr/>
        </p:nvSpPr>
        <p:spPr>
          <a:xfrm>
            <a:off x="822960" y="5212080"/>
            <a:ext cx="4846320" cy="54864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If a set of services has clean domain isolation but cannot work without constant chatter, bundle them back together.</a:t>
            </a:r>
            <a:endParaRPr lang="en-US" sz="1150" dirty="0"/>
          </a:p>
        </p:txBody>
      </p:sp>
      <p:sp>
        <p:nvSpPr>
          <p:cNvPr id="19" name="Text 17"/>
          <p:cNvSpPr txBox="1"/>
          <p:nvPr/>
        </p:nvSpPr>
        <p:spPr>
          <a:xfrm>
            <a:off x="6281928" y="2240280"/>
            <a:ext cx="5349240" cy="310896"/>
          </a:xfrm>
          <a:prstGeom prst="rect">
            <a:avLst/>
          </a:prstGeom>
          <a:noFill/>
          <a:ln/>
        </p:spPr>
        <p:txBody>
          <a:bodyPr wrap="square" lIns="0" tIns="0" rIns="0" bIns="0" rtlCol="0" anchor="ctr"/>
          <a:lstStyle/>
          <a:p>
            <a:pPr marL="0" indent="0">
              <a:buNone/>
            </a:pPr>
            <a:r>
              <a:rPr lang="en-US" sz="1550" b="1" dirty="0">
                <a:solidFill>
                  <a:srgbClr val="B23F3A"/>
                </a:solidFill>
                <a:latin typeface="Calibri" pitchFamily="34" charset="0"/>
                <a:ea typeface="Calibri" pitchFamily="34" charset="-122"/>
                <a:cs typeface="Calibri" pitchFamily="34" charset="-120"/>
              </a:rPr>
              <a:t>Where teams go wrong</a:t>
            </a:r>
            <a:endParaRPr lang="en-US" sz="1550" dirty="0"/>
          </a:p>
        </p:txBody>
      </p:sp>
      <p:sp>
        <p:nvSpPr>
          <p:cNvPr id="20" name="Shape 18"/>
          <p:cNvSpPr/>
          <p:nvPr/>
        </p:nvSpPr>
        <p:spPr>
          <a:xfrm>
            <a:off x="6281928" y="2651760"/>
            <a:ext cx="5349240" cy="987552"/>
          </a:xfrm>
          <a:prstGeom prst="roundRect">
            <a:avLst>
              <a:gd name="adj" fmla="val 5556"/>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21" name="Text 19"/>
          <p:cNvSpPr txBox="1"/>
          <p:nvPr/>
        </p:nvSpPr>
        <p:spPr>
          <a:xfrm>
            <a:off x="6537960" y="2761488"/>
            <a:ext cx="4846320" cy="274320"/>
          </a:xfrm>
          <a:prstGeom prst="rect">
            <a:avLst/>
          </a:prstGeom>
          <a:noFill/>
          <a:ln/>
        </p:spPr>
        <p:txBody>
          <a:bodyPr wrap="square" lIns="0" tIns="0" rIns="0" bIns="0" rtlCol="0" anchor="ctr"/>
          <a:lstStyle/>
          <a:p>
            <a:pPr marL="0" indent="0">
              <a:buNone/>
            </a:pPr>
            <a:r>
              <a:rPr lang="en-US" sz="1350" b="1" dirty="0">
                <a:solidFill>
                  <a:srgbClr val="14242E"/>
                </a:solidFill>
                <a:latin typeface="Calibri" pitchFamily="34" charset="0"/>
                <a:ea typeface="Calibri" pitchFamily="34" charset="-122"/>
                <a:cs typeface="Calibri" pitchFamily="34" charset="-120"/>
              </a:rPr>
              <a:t>Services too small</a:t>
            </a:r>
            <a:endParaRPr lang="en-US" sz="1350" dirty="0"/>
          </a:p>
        </p:txBody>
      </p:sp>
      <p:sp>
        <p:nvSpPr>
          <p:cNvPr id="22" name="Text 20"/>
          <p:cNvSpPr txBox="1"/>
          <p:nvPr/>
        </p:nvSpPr>
        <p:spPr>
          <a:xfrm>
            <a:off x="6537960" y="3054096"/>
            <a:ext cx="4846320" cy="54864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Treating the prefix as a commandment forces communication links back between services to get useful work done.</a:t>
            </a:r>
            <a:endParaRPr lang="en-US" sz="1150" dirty="0"/>
          </a:p>
        </p:txBody>
      </p:sp>
      <p:sp>
        <p:nvSpPr>
          <p:cNvPr id="23" name="Shape 21"/>
          <p:cNvSpPr/>
          <p:nvPr/>
        </p:nvSpPr>
        <p:spPr>
          <a:xfrm>
            <a:off x="6281928" y="3730752"/>
            <a:ext cx="5349240" cy="987552"/>
          </a:xfrm>
          <a:prstGeom prst="roundRect">
            <a:avLst>
              <a:gd name="adj" fmla="val 5556"/>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24" name="Text 22"/>
          <p:cNvSpPr txBox="1"/>
          <p:nvPr/>
        </p:nvSpPr>
        <p:spPr>
          <a:xfrm>
            <a:off x="6537960" y="3840480"/>
            <a:ext cx="4846320" cy="274320"/>
          </a:xfrm>
          <a:prstGeom prst="rect">
            <a:avLst/>
          </a:prstGeom>
          <a:noFill/>
          <a:ln/>
        </p:spPr>
        <p:txBody>
          <a:bodyPr wrap="square" lIns="0" tIns="0" rIns="0" bIns="0" rtlCol="0" anchor="ctr"/>
          <a:lstStyle/>
          <a:p>
            <a:pPr marL="0" indent="0">
              <a:buNone/>
            </a:pPr>
            <a:r>
              <a:rPr lang="en-US" sz="1350" b="1" dirty="0">
                <a:solidFill>
                  <a:srgbClr val="14242E"/>
                </a:solidFill>
                <a:latin typeface="Calibri" pitchFamily="34" charset="0"/>
                <a:ea typeface="Calibri" pitchFamily="34" charset="-122"/>
                <a:cs typeface="Calibri" pitchFamily="34" charset="-120"/>
              </a:rPr>
              <a:t>The entity trap</a:t>
            </a:r>
            <a:endParaRPr lang="en-US" sz="1350" dirty="0"/>
          </a:p>
        </p:txBody>
      </p:sp>
      <p:sp>
        <p:nvSpPr>
          <p:cNvPr id="25" name="Text 23"/>
          <p:cNvSpPr txBox="1"/>
          <p:nvPr/>
        </p:nvSpPr>
        <p:spPr>
          <a:xfrm>
            <a:off x="6537960" y="4133088"/>
            <a:ext cx="4846320" cy="54864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Modelling one service per database table produces a distributed CRUD layer, not a domain architecture.</a:t>
            </a:r>
            <a:endParaRPr lang="en-US" sz="1150" dirty="0"/>
          </a:p>
        </p:txBody>
      </p:sp>
      <p:sp>
        <p:nvSpPr>
          <p:cNvPr id="26" name="Shape 24"/>
          <p:cNvSpPr/>
          <p:nvPr/>
        </p:nvSpPr>
        <p:spPr>
          <a:xfrm>
            <a:off x="6281928" y="4809744"/>
            <a:ext cx="5349240" cy="987552"/>
          </a:xfrm>
          <a:prstGeom prst="roundRect">
            <a:avLst>
              <a:gd name="adj" fmla="val 5556"/>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27" name="Text 25"/>
          <p:cNvSpPr txBox="1"/>
          <p:nvPr/>
        </p:nvSpPr>
        <p:spPr>
          <a:xfrm>
            <a:off x="6537960" y="4919472"/>
            <a:ext cx="4846320" cy="274320"/>
          </a:xfrm>
          <a:prstGeom prst="rect">
            <a:avLst/>
          </a:prstGeom>
          <a:noFill/>
          <a:ln/>
        </p:spPr>
        <p:txBody>
          <a:bodyPr wrap="square" lIns="0" tIns="0" rIns="0" bIns="0" rtlCol="0" anchor="ctr"/>
          <a:lstStyle/>
          <a:p>
            <a:pPr marL="0" indent="0">
              <a:buNone/>
            </a:pPr>
            <a:r>
              <a:rPr lang="en-US" sz="1350" b="1" dirty="0">
                <a:solidFill>
                  <a:srgbClr val="14242E"/>
                </a:solidFill>
                <a:latin typeface="Calibri" pitchFamily="34" charset="0"/>
                <a:ea typeface="Calibri" pitchFamily="34" charset="-122"/>
                <a:cs typeface="Calibri" pitchFamily="34" charset="-120"/>
              </a:rPr>
              <a:t>Distributed transactions</a:t>
            </a:r>
            <a:endParaRPr lang="en-US" sz="1350" dirty="0"/>
          </a:p>
        </p:txBody>
      </p:sp>
      <p:sp>
        <p:nvSpPr>
          <p:cNvPr id="28" name="Text 26"/>
          <p:cNvSpPr txBox="1"/>
          <p:nvPr/>
        </p:nvSpPr>
        <p:spPr>
          <a:xfrm>
            <a:off x="6537960" y="5212080"/>
            <a:ext cx="4846320" cy="548640"/>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Where a workflow genuinely spans services, use sagas and accept eventual consistency — do not reach for a two-phase commit.</a:t>
            </a:r>
            <a:endParaRPr lang="en-US" sz="1150" dirty="0"/>
          </a:p>
        </p:txBody>
      </p:sp>
      <p:sp>
        <p:nvSpPr>
          <p:cNvPr id="29" name="Text 27"/>
          <p:cNvSpPr txBox="1"/>
          <p:nvPr/>
        </p:nvSpPr>
        <p:spPr>
          <a:xfrm>
            <a:off x="566928" y="5888736"/>
            <a:ext cx="11064240" cy="365760"/>
          </a:xfrm>
          <a:prstGeom prst="rect">
            <a:avLst/>
          </a:prstGeom>
          <a:noFill/>
          <a:ln/>
        </p:spPr>
        <p:txBody>
          <a:bodyPr wrap="square" lIns="0" tIns="0" rIns="0" bIns="0" rtlCol="0" anchor="t"/>
          <a:lstStyle/>
          <a:p>
            <a:pPr marL="0" indent="0" algn="l">
              <a:buNone/>
            </a:pPr>
            <a:r>
              <a:rPr lang="en-US" sz="1250" i="1" dirty="0">
                <a:solidFill>
                  <a:srgbClr val="62757F"/>
                </a:solidFill>
                <a:latin typeface="Calibri" pitchFamily="34" charset="0"/>
                <a:ea typeface="Calibri" pitchFamily="34" charset="-122"/>
                <a:cs typeface="Calibri" pitchFamily="34" charset="-120"/>
              </a:rPr>
              <a:t>Iteration is the only reliable path. Architects rarely find the right granularity, data dependencies and communication style on the first pass.</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Microservices: trade-offs</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18</a:t>
            </a:r>
            <a:endParaRPr lang="en-US" sz="1000" dirty="0"/>
          </a:p>
        </p:txBody>
      </p:sp>
      <p:sp>
        <p:nvSpPr>
          <p:cNvPr id="7" name="Shape 5"/>
          <p:cNvSpPr/>
          <p:nvPr/>
        </p:nvSpPr>
        <p:spPr>
          <a:xfrm>
            <a:off x="658368" y="1207008"/>
            <a:ext cx="5074920" cy="713232"/>
          </a:xfrm>
          <a:prstGeom prst="roundRect">
            <a:avLst>
              <a:gd name="adj" fmla="val 769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86968" y="1298448"/>
            <a:ext cx="2194560" cy="237744"/>
          </a:xfrm>
          <a:prstGeom prst="rect">
            <a:avLst/>
          </a:prstGeom>
          <a:noFill/>
          <a:ln/>
        </p:spPr>
        <p:txBody>
          <a:bodyPr wrap="square" lIns="0" tIns="0" rIns="0" bIns="0" rtlCol="0" anchor="ctr"/>
          <a:lstStyle/>
          <a:p>
            <a:pPr marL="0" indent="0">
              <a:buNone/>
            </a:pPr>
            <a:r>
              <a:rPr lang="en-US" sz="1000" dirty="0">
                <a:solidFill>
                  <a:srgbClr val="62757F"/>
                </a:solidFill>
                <a:latin typeface="Calibri" pitchFamily="34" charset="0"/>
                <a:ea typeface="Calibri" pitchFamily="34" charset="-122"/>
                <a:cs typeface="Calibri" pitchFamily="34" charset="-120"/>
              </a:rPr>
              <a:t>Partitioning</a:t>
            </a:r>
            <a:endParaRPr lang="en-US" sz="1000" dirty="0"/>
          </a:p>
        </p:txBody>
      </p:sp>
      <p:sp>
        <p:nvSpPr>
          <p:cNvPr id="9" name="Text 7"/>
          <p:cNvSpPr txBox="1"/>
          <p:nvPr/>
        </p:nvSpPr>
        <p:spPr>
          <a:xfrm>
            <a:off x="886968" y="1536192"/>
            <a:ext cx="2286000" cy="274320"/>
          </a:xfrm>
          <a:prstGeom prst="rect">
            <a:avLst/>
          </a:prstGeom>
          <a:noFill/>
          <a:ln/>
        </p:spPr>
        <p:txBody>
          <a:bodyPr wrap="square" lIns="0" tIns="0" rIns="0" bIns="0" rtlCol="0" anchor="ctr"/>
          <a:lstStyle/>
          <a:p>
            <a:pPr marL="0" indent="0">
              <a:buNone/>
            </a:pPr>
            <a:r>
              <a:rPr lang="en-US" sz="1300" b="1" dirty="0">
                <a:solidFill>
                  <a:srgbClr val="14242E"/>
                </a:solidFill>
                <a:latin typeface="Calibri" pitchFamily="34" charset="0"/>
                <a:ea typeface="Calibri" pitchFamily="34" charset="-122"/>
                <a:cs typeface="Calibri" pitchFamily="34" charset="-120"/>
              </a:rPr>
              <a:t>Domain</a:t>
            </a:r>
            <a:endParaRPr lang="en-US" sz="1300" dirty="0"/>
          </a:p>
        </p:txBody>
      </p:sp>
      <p:sp>
        <p:nvSpPr>
          <p:cNvPr id="10" name="Text 8"/>
          <p:cNvSpPr txBox="1"/>
          <p:nvPr/>
        </p:nvSpPr>
        <p:spPr>
          <a:xfrm>
            <a:off x="3401568" y="1298448"/>
            <a:ext cx="2194560" cy="237744"/>
          </a:xfrm>
          <a:prstGeom prst="rect">
            <a:avLst/>
          </a:prstGeom>
          <a:noFill/>
          <a:ln/>
        </p:spPr>
        <p:txBody>
          <a:bodyPr wrap="square" lIns="0" tIns="0" rIns="0" bIns="0" rtlCol="0" anchor="ctr"/>
          <a:lstStyle/>
          <a:p>
            <a:pPr marL="0" indent="0">
              <a:buNone/>
            </a:pPr>
            <a:r>
              <a:rPr lang="en-US" sz="1000" dirty="0">
                <a:solidFill>
                  <a:srgbClr val="62757F"/>
                </a:solidFill>
                <a:latin typeface="Calibri" pitchFamily="34" charset="0"/>
                <a:ea typeface="Calibri" pitchFamily="34" charset="-122"/>
                <a:cs typeface="Calibri" pitchFamily="34" charset="-120"/>
              </a:rPr>
              <a:t>Architecture quanta</a:t>
            </a:r>
            <a:endParaRPr lang="en-US" sz="1000" dirty="0"/>
          </a:p>
        </p:txBody>
      </p:sp>
      <p:sp>
        <p:nvSpPr>
          <p:cNvPr id="11" name="Text 9"/>
          <p:cNvSpPr txBox="1"/>
          <p:nvPr/>
        </p:nvSpPr>
        <p:spPr>
          <a:xfrm>
            <a:off x="3401568" y="1536192"/>
            <a:ext cx="2286000" cy="274320"/>
          </a:xfrm>
          <a:prstGeom prst="rect">
            <a:avLst/>
          </a:prstGeom>
          <a:noFill/>
          <a:ln/>
        </p:spPr>
        <p:txBody>
          <a:bodyPr wrap="square" lIns="0" tIns="0" rIns="0" bIns="0" rtlCol="0" anchor="ctr"/>
          <a:lstStyle/>
          <a:p>
            <a:pPr marL="0" indent="0">
              <a:buNone/>
            </a:pPr>
            <a:r>
              <a:rPr lang="en-US" sz="1300" b="1" dirty="0">
                <a:solidFill>
                  <a:srgbClr val="14242E"/>
                </a:solidFill>
                <a:latin typeface="Calibri" pitchFamily="34" charset="0"/>
                <a:ea typeface="Calibri" pitchFamily="34" charset="-122"/>
                <a:cs typeface="Calibri" pitchFamily="34" charset="-120"/>
              </a:rPr>
              <a:t>1 to many (most distinct)</a:t>
            </a:r>
            <a:endParaRPr lang="en-US" sz="1300" dirty="0"/>
          </a:p>
        </p:txBody>
      </p:sp>
      <p:sp>
        <p:nvSpPr>
          <p:cNvPr id="12" name="Text 10"/>
          <p:cNvSpPr txBox="1"/>
          <p:nvPr/>
        </p:nvSpPr>
        <p:spPr>
          <a:xfrm>
            <a:off x="704088" y="208483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Deployability</a:t>
            </a:r>
            <a:endParaRPr lang="en-US" sz="1300" dirty="0"/>
          </a:p>
        </p:txBody>
      </p:sp>
      <p:sp>
        <p:nvSpPr>
          <p:cNvPr id="13" name="Shape 11"/>
          <p:cNvSpPr/>
          <p:nvPr/>
        </p:nvSpPr>
        <p:spPr>
          <a:xfrm>
            <a:off x="3035808" y="2144268"/>
            <a:ext cx="132588" cy="132588"/>
          </a:xfrm>
          <a:prstGeom prst="ellipse">
            <a:avLst/>
          </a:prstGeom>
          <a:solidFill>
            <a:srgbClr val="B23F3A"/>
          </a:solidFill>
          <a:ln/>
        </p:spPr>
        <p:txBody>
          <a:bodyPr/>
          <a:lstStyle/>
          <a:p>
            <a:endParaRPr lang="en-US"/>
          </a:p>
        </p:txBody>
      </p:sp>
      <p:sp>
        <p:nvSpPr>
          <p:cNvPr id="14" name="Shape 12"/>
          <p:cNvSpPr/>
          <p:nvPr/>
        </p:nvSpPr>
        <p:spPr>
          <a:xfrm>
            <a:off x="3218688" y="2144268"/>
            <a:ext cx="132588" cy="132588"/>
          </a:xfrm>
          <a:prstGeom prst="ellipse">
            <a:avLst/>
          </a:prstGeom>
          <a:solidFill>
            <a:srgbClr val="B23F3A"/>
          </a:solidFill>
          <a:ln/>
        </p:spPr>
        <p:txBody>
          <a:bodyPr/>
          <a:lstStyle/>
          <a:p>
            <a:endParaRPr lang="en-US"/>
          </a:p>
        </p:txBody>
      </p:sp>
      <p:sp>
        <p:nvSpPr>
          <p:cNvPr id="15" name="Shape 13"/>
          <p:cNvSpPr/>
          <p:nvPr/>
        </p:nvSpPr>
        <p:spPr>
          <a:xfrm>
            <a:off x="3401568" y="2144268"/>
            <a:ext cx="132588" cy="132588"/>
          </a:xfrm>
          <a:prstGeom prst="ellipse">
            <a:avLst/>
          </a:prstGeom>
          <a:solidFill>
            <a:srgbClr val="B23F3A"/>
          </a:solidFill>
          <a:ln/>
        </p:spPr>
        <p:txBody>
          <a:bodyPr/>
          <a:lstStyle/>
          <a:p>
            <a:endParaRPr lang="en-US"/>
          </a:p>
        </p:txBody>
      </p:sp>
      <p:sp>
        <p:nvSpPr>
          <p:cNvPr id="16" name="Shape 14"/>
          <p:cNvSpPr/>
          <p:nvPr/>
        </p:nvSpPr>
        <p:spPr>
          <a:xfrm>
            <a:off x="3584448" y="2144268"/>
            <a:ext cx="132588" cy="132588"/>
          </a:xfrm>
          <a:prstGeom prst="ellipse">
            <a:avLst/>
          </a:prstGeom>
          <a:solidFill>
            <a:srgbClr val="B23F3A"/>
          </a:solidFill>
          <a:ln/>
        </p:spPr>
        <p:txBody>
          <a:bodyPr/>
          <a:lstStyle/>
          <a:p>
            <a:endParaRPr lang="en-US"/>
          </a:p>
        </p:txBody>
      </p:sp>
      <p:sp>
        <p:nvSpPr>
          <p:cNvPr id="17" name="Shape 15"/>
          <p:cNvSpPr/>
          <p:nvPr/>
        </p:nvSpPr>
        <p:spPr>
          <a:xfrm>
            <a:off x="3767328" y="2144268"/>
            <a:ext cx="132588" cy="132588"/>
          </a:xfrm>
          <a:prstGeom prst="ellipse">
            <a:avLst/>
          </a:prstGeom>
          <a:solidFill>
            <a:srgbClr val="D2DBDF"/>
          </a:solidFill>
          <a:ln/>
        </p:spPr>
        <p:txBody>
          <a:bodyPr/>
          <a:lstStyle/>
          <a:p>
            <a:endParaRPr lang="en-US"/>
          </a:p>
        </p:txBody>
      </p:sp>
      <p:sp>
        <p:nvSpPr>
          <p:cNvPr id="18" name="Text 16"/>
          <p:cNvSpPr txBox="1"/>
          <p:nvPr/>
        </p:nvSpPr>
        <p:spPr>
          <a:xfrm>
            <a:off x="4087368" y="208483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19" name="Text 17"/>
          <p:cNvSpPr txBox="1"/>
          <p:nvPr/>
        </p:nvSpPr>
        <p:spPr>
          <a:xfrm>
            <a:off x="704088" y="2436876"/>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Elasticity</a:t>
            </a:r>
            <a:endParaRPr lang="en-US" sz="1300" dirty="0"/>
          </a:p>
        </p:txBody>
      </p:sp>
      <p:sp>
        <p:nvSpPr>
          <p:cNvPr id="20" name="Shape 18"/>
          <p:cNvSpPr/>
          <p:nvPr/>
        </p:nvSpPr>
        <p:spPr>
          <a:xfrm>
            <a:off x="3035808" y="2496312"/>
            <a:ext cx="132588" cy="132588"/>
          </a:xfrm>
          <a:prstGeom prst="ellipse">
            <a:avLst/>
          </a:prstGeom>
          <a:solidFill>
            <a:srgbClr val="B23F3A"/>
          </a:solidFill>
          <a:ln/>
        </p:spPr>
        <p:txBody>
          <a:bodyPr/>
          <a:lstStyle/>
          <a:p>
            <a:endParaRPr lang="en-US"/>
          </a:p>
        </p:txBody>
      </p:sp>
      <p:sp>
        <p:nvSpPr>
          <p:cNvPr id="21" name="Shape 19"/>
          <p:cNvSpPr/>
          <p:nvPr/>
        </p:nvSpPr>
        <p:spPr>
          <a:xfrm>
            <a:off x="3218688" y="2496312"/>
            <a:ext cx="132588" cy="132588"/>
          </a:xfrm>
          <a:prstGeom prst="ellipse">
            <a:avLst/>
          </a:prstGeom>
          <a:solidFill>
            <a:srgbClr val="B23F3A"/>
          </a:solidFill>
          <a:ln/>
        </p:spPr>
        <p:txBody>
          <a:bodyPr/>
          <a:lstStyle/>
          <a:p>
            <a:endParaRPr lang="en-US"/>
          </a:p>
        </p:txBody>
      </p:sp>
      <p:sp>
        <p:nvSpPr>
          <p:cNvPr id="22" name="Shape 20"/>
          <p:cNvSpPr/>
          <p:nvPr/>
        </p:nvSpPr>
        <p:spPr>
          <a:xfrm>
            <a:off x="3401568" y="2496312"/>
            <a:ext cx="132588" cy="132588"/>
          </a:xfrm>
          <a:prstGeom prst="ellipse">
            <a:avLst/>
          </a:prstGeom>
          <a:solidFill>
            <a:srgbClr val="B23F3A"/>
          </a:solidFill>
          <a:ln/>
        </p:spPr>
        <p:txBody>
          <a:bodyPr/>
          <a:lstStyle/>
          <a:p>
            <a:endParaRPr lang="en-US"/>
          </a:p>
        </p:txBody>
      </p:sp>
      <p:sp>
        <p:nvSpPr>
          <p:cNvPr id="23" name="Shape 21"/>
          <p:cNvSpPr/>
          <p:nvPr/>
        </p:nvSpPr>
        <p:spPr>
          <a:xfrm>
            <a:off x="3584448" y="2496312"/>
            <a:ext cx="132588" cy="132588"/>
          </a:xfrm>
          <a:prstGeom prst="ellipse">
            <a:avLst/>
          </a:prstGeom>
          <a:solidFill>
            <a:srgbClr val="B23F3A"/>
          </a:solidFill>
          <a:ln/>
        </p:spPr>
        <p:txBody>
          <a:bodyPr/>
          <a:lstStyle/>
          <a:p>
            <a:endParaRPr lang="en-US"/>
          </a:p>
        </p:txBody>
      </p:sp>
      <p:sp>
        <p:nvSpPr>
          <p:cNvPr id="24" name="Shape 22"/>
          <p:cNvSpPr/>
          <p:nvPr/>
        </p:nvSpPr>
        <p:spPr>
          <a:xfrm>
            <a:off x="3767328" y="2496312"/>
            <a:ext cx="132588" cy="132588"/>
          </a:xfrm>
          <a:prstGeom prst="ellipse">
            <a:avLst/>
          </a:prstGeom>
          <a:solidFill>
            <a:srgbClr val="B23F3A"/>
          </a:solidFill>
          <a:ln/>
        </p:spPr>
        <p:txBody>
          <a:bodyPr/>
          <a:lstStyle/>
          <a:p>
            <a:endParaRPr lang="en-US"/>
          </a:p>
        </p:txBody>
      </p:sp>
      <p:sp>
        <p:nvSpPr>
          <p:cNvPr id="25" name="Text 23"/>
          <p:cNvSpPr txBox="1"/>
          <p:nvPr/>
        </p:nvSpPr>
        <p:spPr>
          <a:xfrm>
            <a:off x="4087368" y="2436876"/>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5/5</a:t>
            </a:r>
            <a:endParaRPr lang="en-US" sz="1100" dirty="0"/>
          </a:p>
        </p:txBody>
      </p:sp>
      <p:sp>
        <p:nvSpPr>
          <p:cNvPr id="26" name="Text 24"/>
          <p:cNvSpPr txBox="1"/>
          <p:nvPr/>
        </p:nvSpPr>
        <p:spPr>
          <a:xfrm>
            <a:off x="704088" y="2788920"/>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Evolutionary</a:t>
            </a:r>
            <a:endParaRPr lang="en-US" sz="1300" dirty="0"/>
          </a:p>
        </p:txBody>
      </p:sp>
      <p:sp>
        <p:nvSpPr>
          <p:cNvPr id="27" name="Shape 25"/>
          <p:cNvSpPr/>
          <p:nvPr/>
        </p:nvSpPr>
        <p:spPr>
          <a:xfrm>
            <a:off x="3035808" y="2848356"/>
            <a:ext cx="132588" cy="132588"/>
          </a:xfrm>
          <a:prstGeom prst="ellipse">
            <a:avLst/>
          </a:prstGeom>
          <a:solidFill>
            <a:srgbClr val="B23F3A"/>
          </a:solidFill>
          <a:ln/>
        </p:spPr>
        <p:txBody>
          <a:bodyPr/>
          <a:lstStyle/>
          <a:p>
            <a:endParaRPr lang="en-US"/>
          </a:p>
        </p:txBody>
      </p:sp>
      <p:sp>
        <p:nvSpPr>
          <p:cNvPr id="28" name="Shape 26"/>
          <p:cNvSpPr/>
          <p:nvPr/>
        </p:nvSpPr>
        <p:spPr>
          <a:xfrm>
            <a:off x="3218688" y="2848356"/>
            <a:ext cx="132588" cy="132588"/>
          </a:xfrm>
          <a:prstGeom prst="ellipse">
            <a:avLst/>
          </a:prstGeom>
          <a:solidFill>
            <a:srgbClr val="B23F3A"/>
          </a:solidFill>
          <a:ln/>
        </p:spPr>
        <p:txBody>
          <a:bodyPr/>
          <a:lstStyle/>
          <a:p>
            <a:endParaRPr lang="en-US"/>
          </a:p>
        </p:txBody>
      </p:sp>
      <p:sp>
        <p:nvSpPr>
          <p:cNvPr id="29" name="Shape 27"/>
          <p:cNvSpPr/>
          <p:nvPr/>
        </p:nvSpPr>
        <p:spPr>
          <a:xfrm>
            <a:off x="3401568" y="2848356"/>
            <a:ext cx="132588" cy="132588"/>
          </a:xfrm>
          <a:prstGeom prst="ellipse">
            <a:avLst/>
          </a:prstGeom>
          <a:solidFill>
            <a:srgbClr val="B23F3A"/>
          </a:solidFill>
          <a:ln/>
        </p:spPr>
        <p:txBody>
          <a:bodyPr/>
          <a:lstStyle/>
          <a:p>
            <a:endParaRPr lang="en-US"/>
          </a:p>
        </p:txBody>
      </p:sp>
      <p:sp>
        <p:nvSpPr>
          <p:cNvPr id="30" name="Shape 28"/>
          <p:cNvSpPr/>
          <p:nvPr/>
        </p:nvSpPr>
        <p:spPr>
          <a:xfrm>
            <a:off x="3584448" y="2848356"/>
            <a:ext cx="132588" cy="132588"/>
          </a:xfrm>
          <a:prstGeom prst="ellipse">
            <a:avLst/>
          </a:prstGeom>
          <a:solidFill>
            <a:srgbClr val="B23F3A"/>
          </a:solidFill>
          <a:ln/>
        </p:spPr>
        <p:txBody>
          <a:bodyPr/>
          <a:lstStyle/>
          <a:p>
            <a:endParaRPr lang="en-US"/>
          </a:p>
        </p:txBody>
      </p:sp>
      <p:sp>
        <p:nvSpPr>
          <p:cNvPr id="31" name="Shape 29"/>
          <p:cNvSpPr/>
          <p:nvPr/>
        </p:nvSpPr>
        <p:spPr>
          <a:xfrm>
            <a:off x="3767328" y="2848356"/>
            <a:ext cx="132588" cy="132588"/>
          </a:xfrm>
          <a:prstGeom prst="ellipse">
            <a:avLst/>
          </a:prstGeom>
          <a:solidFill>
            <a:srgbClr val="B23F3A"/>
          </a:solidFill>
          <a:ln/>
        </p:spPr>
        <p:txBody>
          <a:bodyPr/>
          <a:lstStyle/>
          <a:p>
            <a:endParaRPr lang="en-US"/>
          </a:p>
        </p:txBody>
      </p:sp>
      <p:sp>
        <p:nvSpPr>
          <p:cNvPr id="32" name="Text 30"/>
          <p:cNvSpPr txBox="1"/>
          <p:nvPr/>
        </p:nvSpPr>
        <p:spPr>
          <a:xfrm>
            <a:off x="4087368" y="2788920"/>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5/5</a:t>
            </a:r>
            <a:endParaRPr lang="en-US" sz="1100" dirty="0"/>
          </a:p>
        </p:txBody>
      </p:sp>
      <p:sp>
        <p:nvSpPr>
          <p:cNvPr id="33" name="Text 31"/>
          <p:cNvSpPr txBox="1"/>
          <p:nvPr/>
        </p:nvSpPr>
        <p:spPr>
          <a:xfrm>
            <a:off x="704088" y="3140964"/>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Fault tolerance</a:t>
            </a:r>
            <a:endParaRPr lang="en-US" sz="1300" dirty="0"/>
          </a:p>
        </p:txBody>
      </p:sp>
      <p:sp>
        <p:nvSpPr>
          <p:cNvPr id="34" name="Shape 32"/>
          <p:cNvSpPr/>
          <p:nvPr/>
        </p:nvSpPr>
        <p:spPr>
          <a:xfrm>
            <a:off x="3035808" y="3200400"/>
            <a:ext cx="132588" cy="132588"/>
          </a:xfrm>
          <a:prstGeom prst="ellipse">
            <a:avLst/>
          </a:prstGeom>
          <a:solidFill>
            <a:srgbClr val="B23F3A"/>
          </a:solidFill>
          <a:ln/>
        </p:spPr>
        <p:txBody>
          <a:bodyPr/>
          <a:lstStyle/>
          <a:p>
            <a:endParaRPr lang="en-US"/>
          </a:p>
        </p:txBody>
      </p:sp>
      <p:sp>
        <p:nvSpPr>
          <p:cNvPr id="35" name="Shape 33"/>
          <p:cNvSpPr/>
          <p:nvPr/>
        </p:nvSpPr>
        <p:spPr>
          <a:xfrm>
            <a:off x="3218688" y="3200400"/>
            <a:ext cx="132588" cy="132588"/>
          </a:xfrm>
          <a:prstGeom prst="ellipse">
            <a:avLst/>
          </a:prstGeom>
          <a:solidFill>
            <a:srgbClr val="B23F3A"/>
          </a:solidFill>
          <a:ln/>
        </p:spPr>
        <p:txBody>
          <a:bodyPr/>
          <a:lstStyle/>
          <a:p>
            <a:endParaRPr lang="en-US"/>
          </a:p>
        </p:txBody>
      </p:sp>
      <p:sp>
        <p:nvSpPr>
          <p:cNvPr id="36" name="Shape 34"/>
          <p:cNvSpPr/>
          <p:nvPr/>
        </p:nvSpPr>
        <p:spPr>
          <a:xfrm>
            <a:off x="3401568" y="3200400"/>
            <a:ext cx="132588" cy="132588"/>
          </a:xfrm>
          <a:prstGeom prst="ellipse">
            <a:avLst/>
          </a:prstGeom>
          <a:solidFill>
            <a:srgbClr val="B23F3A"/>
          </a:solidFill>
          <a:ln/>
        </p:spPr>
        <p:txBody>
          <a:bodyPr/>
          <a:lstStyle/>
          <a:p>
            <a:endParaRPr lang="en-US"/>
          </a:p>
        </p:txBody>
      </p:sp>
      <p:sp>
        <p:nvSpPr>
          <p:cNvPr id="37" name="Shape 35"/>
          <p:cNvSpPr/>
          <p:nvPr/>
        </p:nvSpPr>
        <p:spPr>
          <a:xfrm>
            <a:off x="3584448" y="3200400"/>
            <a:ext cx="132588" cy="132588"/>
          </a:xfrm>
          <a:prstGeom prst="ellipse">
            <a:avLst/>
          </a:prstGeom>
          <a:solidFill>
            <a:srgbClr val="B23F3A"/>
          </a:solidFill>
          <a:ln/>
        </p:spPr>
        <p:txBody>
          <a:bodyPr/>
          <a:lstStyle/>
          <a:p>
            <a:endParaRPr lang="en-US"/>
          </a:p>
        </p:txBody>
      </p:sp>
      <p:sp>
        <p:nvSpPr>
          <p:cNvPr id="38" name="Shape 36"/>
          <p:cNvSpPr/>
          <p:nvPr/>
        </p:nvSpPr>
        <p:spPr>
          <a:xfrm>
            <a:off x="3767328" y="3200400"/>
            <a:ext cx="132588" cy="132588"/>
          </a:xfrm>
          <a:prstGeom prst="ellipse">
            <a:avLst/>
          </a:prstGeom>
          <a:solidFill>
            <a:srgbClr val="D2DBDF"/>
          </a:solidFill>
          <a:ln/>
        </p:spPr>
        <p:txBody>
          <a:bodyPr/>
          <a:lstStyle/>
          <a:p>
            <a:endParaRPr lang="en-US"/>
          </a:p>
        </p:txBody>
      </p:sp>
      <p:sp>
        <p:nvSpPr>
          <p:cNvPr id="39" name="Text 37"/>
          <p:cNvSpPr txBox="1"/>
          <p:nvPr/>
        </p:nvSpPr>
        <p:spPr>
          <a:xfrm>
            <a:off x="4087368" y="3140964"/>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40" name="Text 38"/>
          <p:cNvSpPr txBox="1"/>
          <p:nvPr/>
        </p:nvSpPr>
        <p:spPr>
          <a:xfrm>
            <a:off x="704088" y="3493008"/>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Modularity</a:t>
            </a:r>
            <a:endParaRPr lang="en-US" sz="1300" dirty="0"/>
          </a:p>
        </p:txBody>
      </p:sp>
      <p:sp>
        <p:nvSpPr>
          <p:cNvPr id="41" name="Shape 39"/>
          <p:cNvSpPr/>
          <p:nvPr/>
        </p:nvSpPr>
        <p:spPr>
          <a:xfrm>
            <a:off x="3035808" y="3552444"/>
            <a:ext cx="132588" cy="132588"/>
          </a:xfrm>
          <a:prstGeom prst="ellipse">
            <a:avLst/>
          </a:prstGeom>
          <a:solidFill>
            <a:srgbClr val="B23F3A"/>
          </a:solidFill>
          <a:ln/>
        </p:spPr>
        <p:txBody>
          <a:bodyPr/>
          <a:lstStyle/>
          <a:p>
            <a:endParaRPr lang="en-US"/>
          </a:p>
        </p:txBody>
      </p:sp>
      <p:sp>
        <p:nvSpPr>
          <p:cNvPr id="42" name="Shape 40"/>
          <p:cNvSpPr/>
          <p:nvPr/>
        </p:nvSpPr>
        <p:spPr>
          <a:xfrm>
            <a:off x="3218688" y="3552444"/>
            <a:ext cx="132588" cy="132588"/>
          </a:xfrm>
          <a:prstGeom prst="ellipse">
            <a:avLst/>
          </a:prstGeom>
          <a:solidFill>
            <a:srgbClr val="B23F3A"/>
          </a:solidFill>
          <a:ln/>
        </p:spPr>
        <p:txBody>
          <a:bodyPr/>
          <a:lstStyle/>
          <a:p>
            <a:endParaRPr lang="en-US"/>
          </a:p>
        </p:txBody>
      </p:sp>
      <p:sp>
        <p:nvSpPr>
          <p:cNvPr id="43" name="Shape 41"/>
          <p:cNvSpPr/>
          <p:nvPr/>
        </p:nvSpPr>
        <p:spPr>
          <a:xfrm>
            <a:off x="3401568" y="3552444"/>
            <a:ext cx="132588" cy="132588"/>
          </a:xfrm>
          <a:prstGeom prst="ellipse">
            <a:avLst/>
          </a:prstGeom>
          <a:solidFill>
            <a:srgbClr val="B23F3A"/>
          </a:solidFill>
          <a:ln/>
        </p:spPr>
        <p:txBody>
          <a:bodyPr/>
          <a:lstStyle/>
          <a:p>
            <a:endParaRPr lang="en-US"/>
          </a:p>
        </p:txBody>
      </p:sp>
      <p:sp>
        <p:nvSpPr>
          <p:cNvPr id="44" name="Shape 42"/>
          <p:cNvSpPr/>
          <p:nvPr/>
        </p:nvSpPr>
        <p:spPr>
          <a:xfrm>
            <a:off x="3584448" y="3552444"/>
            <a:ext cx="132588" cy="132588"/>
          </a:xfrm>
          <a:prstGeom prst="ellipse">
            <a:avLst/>
          </a:prstGeom>
          <a:solidFill>
            <a:srgbClr val="B23F3A"/>
          </a:solidFill>
          <a:ln/>
        </p:spPr>
        <p:txBody>
          <a:bodyPr/>
          <a:lstStyle/>
          <a:p>
            <a:endParaRPr lang="en-US"/>
          </a:p>
        </p:txBody>
      </p:sp>
      <p:sp>
        <p:nvSpPr>
          <p:cNvPr id="45" name="Shape 43"/>
          <p:cNvSpPr/>
          <p:nvPr/>
        </p:nvSpPr>
        <p:spPr>
          <a:xfrm>
            <a:off x="3767328" y="3552444"/>
            <a:ext cx="132588" cy="132588"/>
          </a:xfrm>
          <a:prstGeom prst="ellipse">
            <a:avLst/>
          </a:prstGeom>
          <a:solidFill>
            <a:srgbClr val="B23F3A"/>
          </a:solidFill>
          <a:ln/>
        </p:spPr>
        <p:txBody>
          <a:bodyPr/>
          <a:lstStyle/>
          <a:p>
            <a:endParaRPr lang="en-US"/>
          </a:p>
        </p:txBody>
      </p:sp>
      <p:sp>
        <p:nvSpPr>
          <p:cNvPr id="46" name="Text 44"/>
          <p:cNvSpPr txBox="1"/>
          <p:nvPr/>
        </p:nvSpPr>
        <p:spPr>
          <a:xfrm>
            <a:off x="4087368" y="3493008"/>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5/5</a:t>
            </a:r>
            <a:endParaRPr lang="en-US" sz="1100" dirty="0"/>
          </a:p>
        </p:txBody>
      </p:sp>
      <p:sp>
        <p:nvSpPr>
          <p:cNvPr id="47" name="Text 45"/>
          <p:cNvSpPr txBox="1"/>
          <p:nvPr/>
        </p:nvSpPr>
        <p:spPr>
          <a:xfrm>
            <a:off x="704088" y="384505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Overall cost</a:t>
            </a:r>
            <a:endParaRPr lang="en-US" sz="1300" dirty="0"/>
          </a:p>
        </p:txBody>
      </p:sp>
      <p:sp>
        <p:nvSpPr>
          <p:cNvPr id="48" name="Shape 46"/>
          <p:cNvSpPr/>
          <p:nvPr/>
        </p:nvSpPr>
        <p:spPr>
          <a:xfrm>
            <a:off x="3035808" y="3904488"/>
            <a:ext cx="132588" cy="132588"/>
          </a:xfrm>
          <a:prstGeom prst="ellipse">
            <a:avLst/>
          </a:prstGeom>
          <a:solidFill>
            <a:srgbClr val="B23F3A"/>
          </a:solidFill>
          <a:ln/>
        </p:spPr>
        <p:txBody>
          <a:bodyPr/>
          <a:lstStyle/>
          <a:p>
            <a:endParaRPr lang="en-US"/>
          </a:p>
        </p:txBody>
      </p:sp>
      <p:sp>
        <p:nvSpPr>
          <p:cNvPr id="49" name="Shape 47"/>
          <p:cNvSpPr/>
          <p:nvPr/>
        </p:nvSpPr>
        <p:spPr>
          <a:xfrm>
            <a:off x="3218688" y="3904488"/>
            <a:ext cx="132588" cy="132588"/>
          </a:xfrm>
          <a:prstGeom prst="ellipse">
            <a:avLst/>
          </a:prstGeom>
          <a:solidFill>
            <a:srgbClr val="D2DBDF"/>
          </a:solidFill>
          <a:ln/>
        </p:spPr>
        <p:txBody>
          <a:bodyPr/>
          <a:lstStyle/>
          <a:p>
            <a:endParaRPr lang="en-US"/>
          </a:p>
        </p:txBody>
      </p:sp>
      <p:sp>
        <p:nvSpPr>
          <p:cNvPr id="50" name="Shape 48"/>
          <p:cNvSpPr/>
          <p:nvPr/>
        </p:nvSpPr>
        <p:spPr>
          <a:xfrm>
            <a:off x="3401568" y="3904488"/>
            <a:ext cx="132588" cy="132588"/>
          </a:xfrm>
          <a:prstGeom prst="ellipse">
            <a:avLst/>
          </a:prstGeom>
          <a:solidFill>
            <a:srgbClr val="D2DBDF"/>
          </a:solidFill>
          <a:ln/>
        </p:spPr>
        <p:txBody>
          <a:bodyPr/>
          <a:lstStyle/>
          <a:p>
            <a:endParaRPr lang="en-US"/>
          </a:p>
        </p:txBody>
      </p:sp>
      <p:sp>
        <p:nvSpPr>
          <p:cNvPr id="51" name="Shape 49"/>
          <p:cNvSpPr/>
          <p:nvPr/>
        </p:nvSpPr>
        <p:spPr>
          <a:xfrm>
            <a:off x="3584448" y="3904488"/>
            <a:ext cx="132588" cy="132588"/>
          </a:xfrm>
          <a:prstGeom prst="ellipse">
            <a:avLst/>
          </a:prstGeom>
          <a:solidFill>
            <a:srgbClr val="D2DBDF"/>
          </a:solidFill>
          <a:ln/>
        </p:spPr>
        <p:txBody>
          <a:bodyPr/>
          <a:lstStyle/>
          <a:p>
            <a:endParaRPr lang="en-US"/>
          </a:p>
        </p:txBody>
      </p:sp>
      <p:sp>
        <p:nvSpPr>
          <p:cNvPr id="52" name="Shape 50"/>
          <p:cNvSpPr/>
          <p:nvPr/>
        </p:nvSpPr>
        <p:spPr>
          <a:xfrm>
            <a:off x="3767328" y="3904488"/>
            <a:ext cx="132588" cy="132588"/>
          </a:xfrm>
          <a:prstGeom prst="ellipse">
            <a:avLst/>
          </a:prstGeom>
          <a:solidFill>
            <a:srgbClr val="D2DBDF"/>
          </a:solidFill>
          <a:ln/>
        </p:spPr>
        <p:txBody>
          <a:bodyPr/>
          <a:lstStyle/>
          <a:p>
            <a:endParaRPr lang="en-US"/>
          </a:p>
        </p:txBody>
      </p:sp>
      <p:sp>
        <p:nvSpPr>
          <p:cNvPr id="53" name="Text 51"/>
          <p:cNvSpPr txBox="1"/>
          <p:nvPr/>
        </p:nvSpPr>
        <p:spPr>
          <a:xfrm>
            <a:off x="4087368" y="384505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1/5</a:t>
            </a:r>
            <a:endParaRPr lang="en-US" sz="1100" dirty="0"/>
          </a:p>
        </p:txBody>
      </p:sp>
      <p:sp>
        <p:nvSpPr>
          <p:cNvPr id="54" name="Text 52"/>
          <p:cNvSpPr txBox="1"/>
          <p:nvPr/>
        </p:nvSpPr>
        <p:spPr>
          <a:xfrm>
            <a:off x="704088" y="4197096"/>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Performance</a:t>
            </a:r>
            <a:endParaRPr lang="en-US" sz="1300" dirty="0"/>
          </a:p>
        </p:txBody>
      </p:sp>
      <p:sp>
        <p:nvSpPr>
          <p:cNvPr id="55" name="Shape 53"/>
          <p:cNvSpPr/>
          <p:nvPr/>
        </p:nvSpPr>
        <p:spPr>
          <a:xfrm>
            <a:off x="3035808" y="4256532"/>
            <a:ext cx="132588" cy="132588"/>
          </a:xfrm>
          <a:prstGeom prst="ellipse">
            <a:avLst/>
          </a:prstGeom>
          <a:solidFill>
            <a:srgbClr val="B23F3A"/>
          </a:solidFill>
          <a:ln/>
        </p:spPr>
        <p:txBody>
          <a:bodyPr/>
          <a:lstStyle/>
          <a:p>
            <a:endParaRPr lang="en-US"/>
          </a:p>
        </p:txBody>
      </p:sp>
      <p:sp>
        <p:nvSpPr>
          <p:cNvPr id="56" name="Shape 54"/>
          <p:cNvSpPr/>
          <p:nvPr/>
        </p:nvSpPr>
        <p:spPr>
          <a:xfrm>
            <a:off x="3218688" y="4256532"/>
            <a:ext cx="132588" cy="132588"/>
          </a:xfrm>
          <a:prstGeom prst="ellipse">
            <a:avLst/>
          </a:prstGeom>
          <a:solidFill>
            <a:srgbClr val="B23F3A"/>
          </a:solidFill>
          <a:ln/>
        </p:spPr>
        <p:txBody>
          <a:bodyPr/>
          <a:lstStyle/>
          <a:p>
            <a:endParaRPr lang="en-US"/>
          </a:p>
        </p:txBody>
      </p:sp>
      <p:sp>
        <p:nvSpPr>
          <p:cNvPr id="57" name="Shape 55"/>
          <p:cNvSpPr/>
          <p:nvPr/>
        </p:nvSpPr>
        <p:spPr>
          <a:xfrm>
            <a:off x="3401568" y="4256532"/>
            <a:ext cx="132588" cy="132588"/>
          </a:xfrm>
          <a:prstGeom prst="ellipse">
            <a:avLst/>
          </a:prstGeom>
          <a:solidFill>
            <a:srgbClr val="D2DBDF"/>
          </a:solidFill>
          <a:ln/>
        </p:spPr>
        <p:txBody>
          <a:bodyPr/>
          <a:lstStyle/>
          <a:p>
            <a:endParaRPr lang="en-US"/>
          </a:p>
        </p:txBody>
      </p:sp>
      <p:sp>
        <p:nvSpPr>
          <p:cNvPr id="58" name="Shape 56"/>
          <p:cNvSpPr/>
          <p:nvPr/>
        </p:nvSpPr>
        <p:spPr>
          <a:xfrm>
            <a:off x="3584448" y="4256532"/>
            <a:ext cx="132588" cy="132588"/>
          </a:xfrm>
          <a:prstGeom prst="ellipse">
            <a:avLst/>
          </a:prstGeom>
          <a:solidFill>
            <a:srgbClr val="D2DBDF"/>
          </a:solidFill>
          <a:ln/>
        </p:spPr>
        <p:txBody>
          <a:bodyPr/>
          <a:lstStyle/>
          <a:p>
            <a:endParaRPr lang="en-US"/>
          </a:p>
        </p:txBody>
      </p:sp>
      <p:sp>
        <p:nvSpPr>
          <p:cNvPr id="59" name="Shape 57"/>
          <p:cNvSpPr/>
          <p:nvPr/>
        </p:nvSpPr>
        <p:spPr>
          <a:xfrm>
            <a:off x="3767328" y="4256532"/>
            <a:ext cx="132588" cy="132588"/>
          </a:xfrm>
          <a:prstGeom prst="ellipse">
            <a:avLst/>
          </a:prstGeom>
          <a:solidFill>
            <a:srgbClr val="D2DBDF"/>
          </a:solidFill>
          <a:ln/>
        </p:spPr>
        <p:txBody>
          <a:bodyPr/>
          <a:lstStyle/>
          <a:p>
            <a:endParaRPr lang="en-US"/>
          </a:p>
        </p:txBody>
      </p:sp>
      <p:sp>
        <p:nvSpPr>
          <p:cNvPr id="60" name="Text 58"/>
          <p:cNvSpPr txBox="1"/>
          <p:nvPr/>
        </p:nvSpPr>
        <p:spPr>
          <a:xfrm>
            <a:off x="4087368" y="4197096"/>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2/5</a:t>
            </a:r>
            <a:endParaRPr lang="en-US" sz="1100" dirty="0"/>
          </a:p>
        </p:txBody>
      </p:sp>
      <p:sp>
        <p:nvSpPr>
          <p:cNvPr id="61" name="Text 59"/>
          <p:cNvSpPr txBox="1"/>
          <p:nvPr/>
        </p:nvSpPr>
        <p:spPr>
          <a:xfrm>
            <a:off x="704088" y="4549140"/>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Reliability</a:t>
            </a:r>
            <a:endParaRPr lang="en-US" sz="1300" dirty="0"/>
          </a:p>
        </p:txBody>
      </p:sp>
      <p:sp>
        <p:nvSpPr>
          <p:cNvPr id="62" name="Shape 60"/>
          <p:cNvSpPr/>
          <p:nvPr/>
        </p:nvSpPr>
        <p:spPr>
          <a:xfrm>
            <a:off x="3035808" y="4608576"/>
            <a:ext cx="132588" cy="132588"/>
          </a:xfrm>
          <a:prstGeom prst="ellipse">
            <a:avLst/>
          </a:prstGeom>
          <a:solidFill>
            <a:srgbClr val="B23F3A"/>
          </a:solidFill>
          <a:ln/>
        </p:spPr>
        <p:txBody>
          <a:bodyPr/>
          <a:lstStyle/>
          <a:p>
            <a:endParaRPr lang="en-US"/>
          </a:p>
        </p:txBody>
      </p:sp>
      <p:sp>
        <p:nvSpPr>
          <p:cNvPr id="63" name="Shape 61"/>
          <p:cNvSpPr/>
          <p:nvPr/>
        </p:nvSpPr>
        <p:spPr>
          <a:xfrm>
            <a:off x="3218688" y="4608576"/>
            <a:ext cx="132588" cy="132588"/>
          </a:xfrm>
          <a:prstGeom prst="ellipse">
            <a:avLst/>
          </a:prstGeom>
          <a:solidFill>
            <a:srgbClr val="B23F3A"/>
          </a:solidFill>
          <a:ln/>
        </p:spPr>
        <p:txBody>
          <a:bodyPr/>
          <a:lstStyle/>
          <a:p>
            <a:endParaRPr lang="en-US"/>
          </a:p>
        </p:txBody>
      </p:sp>
      <p:sp>
        <p:nvSpPr>
          <p:cNvPr id="64" name="Shape 62"/>
          <p:cNvSpPr/>
          <p:nvPr/>
        </p:nvSpPr>
        <p:spPr>
          <a:xfrm>
            <a:off x="3401568" y="4608576"/>
            <a:ext cx="132588" cy="132588"/>
          </a:xfrm>
          <a:prstGeom prst="ellipse">
            <a:avLst/>
          </a:prstGeom>
          <a:solidFill>
            <a:srgbClr val="B23F3A"/>
          </a:solidFill>
          <a:ln/>
        </p:spPr>
        <p:txBody>
          <a:bodyPr/>
          <a:lstStyle/>
          <a:p>
            <a:endParaRPr lang="en-US"/>
          </a:p>
        </p:txBody>
      </p:sp>
      <p:sp>
        <p:nvSpPr>
          <p:cNvPr id="65" name="Shape 63"/>
          <p:cNvSpPr/>
          <p:nvPr/>
        </p:nvSpPr>
        <p:spPr>
          <a:xfrm>
            <a:off x="3584448" y="4608576"/>
            <a:ext cx="132588" cy="132588"/>
          </a:xfrm>
          <a:prstGeom prst="ellipse">
            <a:avLst/>
          </a:prstGeom>
          <a:solidFill>
            <a:srgbClr val="B23F3A"/>
          </a:solidFill>
          <a:ln/>
        </p:spPr>
        <p:txBody>
          <a:bodyPr/>
          <a:lstStyle/>
          <a:p>
            <a:endParaRPr lang="en-US"/>
          </a:p>
        </p:txBody>
      </p:sp>
      <p:sp>
        <p:nvSpPr>
          <p:cNvPr id="66" name="Shape 64"/>
          <p:cNvSpPr/>
          <p:nvPr/>
        </p:nvSpPr>
        <p:spPr>
          <a:xfrm>
            <a:off x="3767328" y="4608576"/>
            <a:ext cx="132588" cy="132588"/>
          </a:xfrm>
          <a:prstGeom prst="ellipse">
            <a:avLst/>
          </a:prstGeom>
          <a:solidFill>
            <a:srgbClr val="D2DBDF"/>
          </a:solidFill>
          <a:ln/>
        </p:spPr>
        <p:txBody>
          <a:bodyPr/>
          <a:lstStyle/>
          <a:p>
            <a:endParaRPr lang="en-US"/>
          </a:p>
        </p:txBody>
      </p:sp>
      <p:sp>
        <p:nvSpPr>
          <p:cNvPr id="67" name="Text 65"/>
          <p:cNvSpPr txBox="1"/>
          <p:nvPr/>
        </p:nvSpPr>
        <p:spPr>
          <a:xfrm>
            <a:off x="4087368" y="4549140"/>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68" name="Text 66"/>
          <p:cNvSpPr txBox="1"/>
          <p:nvPr/>
        </p:nvSpPr>
        <p:spPr>
          <a:xfrm>
            <a:off x="704088" y="4901184"/>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Scalability</a:t>
            </a:r>
            <a:endParaRPr lang="en-US" sz="1300" dirty="0"/>
          </a:p>
        </p:txBody>
      </p:sp>
      <p:sp>
        <p:nvSpPr>
          <p:cNvPr id="69" name="Shape 67"/>
          <p:cNvSpPr/>
          <p:nvPr/>
        </p:nvSpPr>
        <p:spPr>
          <a:xfrm>
            <a:off x="3035808" y="4960620"/>
            <a:ext cx="132588" cy="132588"/>
          </a:xfrm>
          <a:prstGeom prst="ellipse">
            <a:avLst/>
          </a:prstGeom>
          <a:solidFill>
            <a:srgbClr val="B23F3A"/>
          </a:solidFill>
          <a:ln/>
        </p:spPr>
        <p:txBody>
          <a:bodyPr/>
          <a:lstStyle/>
          <a:p>
            <a:endParaRPr lang="en-US"/>
          </a:p>
        </p:txBody>
      </p:sp>
      <p:sp>
        <p:nvSpPr>
          <p:cNvPr id="70" name="Shape 68"/>
          <p:cNvSpPr/>
          <p:nvPr/>
        </p:nvSpPr>
        <p:spPr>
          <a:xfrm>
            <a:off x="3218688" y="4960620"/>
            <a:ext cx="132588" cy="132588"/>
          </a:xfrm>
          <a:prstGeom prst="ellipse">
            <a:avLst/>
          </a:prstGeom>
          <a:solidFill>
            <a:srgbClr val="B23F3A"/>
          </a:solidFill>
          <a:ln/>
        </p:spPr>
        <p:txBody>
          <a:bodyPr/>
          <a:lstStyle/>
          <a:p>
            <a:endParaRPr lang="en-US"/>
          </a:p>
        </p:txBody>
      </p:sp>
      <p:sp>
        <p:nvSpPr>
          <p:cNvPr id="71" name="Shape 69"/>
          <p:cNvSpPr/>
          <p:nvPr/>
        </p:nvSpPr>
        <p:spPr>
          <a:xfrm>
            <a:off x="3401568" y="4960620"/>
            <a:ext cx="132588" cy="132588"/>
          </a:xfrm>
          <a:prstGeom prst="ellipse">
            <a:avLst/>
          </a:prstGeom>
          <a:solidFill>
            <a:srgbClr val="B23F3A"/>
          </a:solidFill>
          <a:ln/>
        </p:spPr>
        <p:txBody>
          <a:bodyPr/>
          <a:lstStyle/>
          <a:p>
            <a:endParaRPr lang="en-US"/>
          </a:p>
        </p:txBody>
      </p:sp>
      <p:sp>
        <p:nvSpPr>
          <p:cNvPr id="72" name="Shape 70"/>
          <p:cNvSpPr/>
          <p:nvPr/>
        </p:nvSpPr>
        <p:spPr>
          <a:xfrm>
            <a:off x="3584448" y="4960620"/>
            <a:ext cx="132588" cy="132588"/>
          </a:xfrm>
          <a:prstGeom prst="ellipse">
            <a:avLst/>
          </a:prstGeom>
          <a:solidFill>
            <a:srgbClr val="B23F3A"/>
          </a:solidFill>
          <a:ln/>
        </p:spPr>
        <p:txBody>
          <a:bodyPr/>
          <a:lstStyle/>
          <a:p>
            <a:endParaRPr lang="en-US"/>
          </a:p>
        </p:txBody>
      </p:sp>
      <p:sp>
        <p:nvSpPr>
          <p:cNvPr id="73" name="Shape 71"/>
          <p:cNvSpPr/>
          <p:nvPr/>
        </p:nvSpPr>
        <p:spPr>
          <a:xfrm>
            <a:off x="3767328" y="4960620"/>
            <a:ext cx="132588" cy="132588"/>
          </a:xfrm>
          <a:prstGeom prst="ellipse">
            <a:avLst/>
          </a:prstGeom>
          <a:solidFill>
            <a:srgbClr val="B23F3A"/>
          </a:solidFill>
          <a:ln/>
        </p:spPr>
        <p:txBody>
          <a:bodyPr/>
          <a:lstStyle/>
          <a:p>
            <a:endParaRPr lang="en-US"/>
          </a:p>
        </p:txBody>
      </p:sp>
      <p:sp>
        <p:nvSpPr>
          <p:cNvPr id="74" name="Text 72"/>
          <p:cNvSpPr txBox="1"/>
          <p:nvPr/>
        </p:nvSpPr>
        <p:spPr>
          <a:xfrm>
            <a:off x="4087368" y="4901184"/>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5/5</a:t>
            </a:r>
            <a:endParaRPr lang="en-US" sz="1100" dirty="0"/>
          </a:p>
        </p:txBody>
      </p:sp>
      <p:sp>
        <p:nvSpPr>
          <p:cNvPr id="75" name="Text 73"/>
          <p:cNvSpPr txBox="1"/>
          <p:nvPr/>
        </p:nvSpPr>
        <p:spPr>
          <a:xfrm>
            <a:off x="704088" y="5253228"/>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Simplicity</a:t>
            </a:r>
            <a:endParaRPr lang="en-US" sz="1300" dirty="0"/>
          </a:p>
        </p:txBody>
      </p:sp>
      <p:sp>
        <p:nvSpPr>
          <p:cNvPr id="76" name="Shape 74"/>
          <p:cNvSpPr/>
          <p:nvPr/>
        </p:nvSpPr>
        <p:spPr>
          <a:xfrm>
            <a:off x="3035808" y="5312664"/>
            <a:ext cx="132588" cy="132588"/>
          </a:xfrm>
          <a:prstGeom prst="ellipse">
            <a:avLst/>
          </a:prstGeom>
          <a:solidFill>
            <a:srgbClr val="B23F3A"/>
          </a:solidFill>
          <a:ln/>
        </p:spPr>
        <p:txBody>
          <a:bodyPr/>
          <a:lstStyle/>
          <a:p>
            <a:endParaRPr lang="en-US"/>
          </a:p>
        </p:txBody>
      </p:sp>
      <p:sp>
        <p:nvSpPr>
          <p:cNvPr id="77" name="Shape 75"/>
          <p:cNvSpPr/>
          <p:nvPr/>
        </p:nvSpPr>
        <p:spPr>
          <a:xfrm>
            <a:off x="3218688" y="5312664"/>
            <a:ext cx="132588" cy="132588"/>
          </a:xfrm>
          <a:prstGeom prst="ellipse">
            <a:avLst/>
          </a:prstGeom>
          <a:solidFill>
            <a:srgbClr val="D2DBDF"/>
          </a:solidFill>
          <a:ln/>
        </p:spPr>
        <p:txBody>
          <a:bodyPr/>
          <a:lstStyle/>
          <a:p>
            <a:endParaRPr lang="en-US"/>
          </a:p>
        </p:txBody>
      </p:sp>
      <p:sp>
        <p:nvSpPr>
          <p:cNvPr id="78" name="Shape 76"/>
          <p:cNvSpPr/>
          <p:nvPr/>
        </p:nvSpPr>
        <p:spPr>
          <a:xfrm>
            <a:off x="3401568" y="5312664"/>
            <a:ext cx="132588" cy="132588"/>
          </a:xfrm>
          <a:prstGeom prst="ellipse">
            <a:avLst/>
          </a:prstGeom>
          <a:solidFill>
            <a:srgbClr val="D2DBDF"/>
          </a:solidFill>
          <a:ln/>
        </p:spPr>
        <p:txBody>
          <a:bodyPr/>
          <a:lstStyle/>
          <a:p>
            <a:endParaRPr lang="en-US"/>
          </a:p>
        </p:txBody>
      </p:sp>
      <p:sp>
        <p:nvSpPr>
          <p:cNvPr id="79" name="Shape 77"/>
          <p:cNvSpPr/>
          <p:nvPr/>
        </p:nvSpPr>
        <p:spPr>
          <a:xfrm>
            <a:off x="3584448" y="5312664"/>
            <a:ext cx="132588" cy="132588"/>
          </a:xfrm>
          <a:prstGeom prst="ellipse">
            <a:avLst/>
          </a:prstGeom>
          <a:solidFill>
            <a:srgbClr val="D2DBDF"/>
          </a:solidFill>
          <a:ln/>
        </p:spPr>
        <p:txBody>
          <a:bodyPr/>
          <a:lstStyle/>
          <a:p>
            <a:endParaRPr lang="en-US"/>
          </a:p>
        </p:txBody>
      </p:sp>
      <p:sp>
        <p:nvSpPr>
          <p:cNvPr id="80" name="Shape 78"/>
          <p:cNvSpPr/>
          <p:nvPr/>
        </p:nvSpPr>
        <p:spPr>
          <a:xfrm>
            <a:off x="3767328" y="5312664"/>
            <a:ext cx="132588" cy="132588"/>
          </a:xfrm>
          <a:prstGeom prst="ellipse">
            <a:avLst/>
          </a:prstGeom>
          <a:solidFill>
            <a:srgbClr val="D2DBDF"/>
          </a:solidFill>
          <a:ln/>
        </p:spPr>
        <p:txBody>
          <a:bodyPr/>
          <a:lstStyle/>
          <a:p>
            <a:endParaRPr lang="en-US"/>
          </a:p>
        </p:txBody>
      </p:sp>
      <p:sp>
        <p:nvSpPr>
          <p:cNvPr id="81" name="Text 79"/>
          <p:cNvSpPr txBox="1"/>
          <p:nvPr/>
        </p:nvSpPr>
        <p:spPr>
          <a:xfrm>
            <a:off x="4087368" y="5253228"/>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1/5</a:t>
            </a:r>
            <a:endParaRPr lang="en-US" sz="1100" dirty="0"/>
          </a:p>
        </p:txBody>
      </p:sp>
      <p:sp>
        <p:nvSpPr>
          <p:cNvPr id="82" name="Text 80"/>
          <p:cNvSpPr txBox="1"/>
          <p:nvPr/>
        </p:nvSpPr>
        <p:spPr>
          <a:xfrm>
            <a:off x="704088" y="5605272"/>
            <a:ext cx="2194560" cy="274320"/>
          </a:xfrm>
          <a:prstGeom prst="rect">
            <a:avLst/>
          </a:prstGeom>
          <a:noFill/>
          <a:ln/>
        </p:spPr>
        <p:txBody>
          <a:bodyPr wrap="square" lIns="0" tIns="0" rIns="0" bIns="0" rtlCol="0" anchor="ctr"/>
          <a:lstStyle/>
          <a:p>
            <a:pPr marL="0" indent="0">
              <a:buNone/>
            </a:pPr>
            <a:r>
              <a:rPr lang="en-US" sz="1300" dirty="0">
                <a:solidFill>
                  <a:srgbClr val="1F3644"/>
                </a:solidFill>
                <a:latin typeface="Calibri" pitchFamily="34" charset="0"/>
                <a:ea typeface="Calibri" pitchFamily="34" charset="-122"/>
                <a:cs typeface="Calibri" pitchFamily="34" charset="-120"/>
              </a:rPr>
              <a:t>Testability</a:t>
            </a:r>
            <a:endParaRPr lang="en-US" sz="1300" dirty="0"/>
          </a:p>
        </p:txBody>
      </p:sp>
      <p:sp>
        <p:nvSpPr>
          <p:cNvPr id="83" name="Shape 81"/>
          <p:cNvSpPr/>
          <p:nvPr/>
        </p:nvSpPr>
        <p:spPr>
          <a:xfrm>
            <a:off x="3035808" y="5664708"/>
            <a:ext cx="132588" cy="132588"/>
          </a:xfrm>
          <a:prstGeom prst="ellipse">
            <a:avLst/>
          </a:prstGeom>
          <a:solidFill>
            <a:srgbClr val="B23F3A"/>
          </a:solidFill>
          <a:ln/>
        </p:spPr>
        <p:txBody>
          <a:bodyPr/>
          <a:lstStyle/>
          <a:p>
            <a:endParaRPr lang="en-US"/>
          </a:p>
        </p:txBody>
      </p:sp>
      <p:sp>
        <p:nvSpPr>
          <p:cNvPr id="84" name="Shape 82"/>
          <p:cNvSpPr/>
          <p:nvPr/>
        </p:nvSpPr>
        <p:spPr>
          <a:xfrm>
            <a:off x="3218688" y="5664708"/>
            <a:ext cx="132588" cy="132588"/>
          </a:xfrm>
          <a:prstGeom prst="ellipse">
            <a:avLst/>
          </a:prstGeom>
          <a:solidFill>
            <a:srgbClr val="B23F3A"/>
          </a:solidFill>
          <a:ln/>
        </p:spPr>
        <p:txBody>
          <a:bodyPr/>
          <a:lstStyle/>
          <a:p>
            <a:endParaRPr lang="en-US"/>
          </a:p>
        </p:txBody>
      </p:sp>
      <p:sp>
        <p:nvSpPr>
          <p:cNvPr id="85" name="Shape 83"/>
          <p:cNvSpPr/>
          <p:nvPr/>
        </p:nvSpPr>
        <p:spPr>
          <a:xfrm>
            <a:off x="3401568" y="5664708"/>
            <a:ext cx="132588" cy="132588"/>
          </a:xfrm>
          <a:prstGeom prst="ellipse">
            <a:avLst/>
          </a:prstGeom>
          <a:solidFill>
            <a:srgbClr val="B23F3A"/>
          </a:solidFill>
          <a:ln/>
        </p:spPr>
        <p:txBody>
          <a:bodyPr/>
          <a:lstStyle/>
          <a:p>
            <a:endParaRPr lang="en-US"/>
          </a:p>
        </p:txBody>
      </p:sp>
      <p:sp>
        <p:nvSpPr>
          <p:cNvPr id="86" name="Shape 84"/>
          <p:cNvSpPr/>
          <p:nvPr/>
        </p:nvSpPr>
        <p:spPr>
          <a:xfrm>
            <a:off x="3584448" y="5664708"/>
            <a:ext cx="132588" cy="132588"/>
          </a:xfrm>
          <a:prstGeom prst="ellipse">
            <a:avLst/>
          </a:prstGeom>
          <a:solidFill>
            <a:srgbClr val="B23F3A"/>
          </a:solidFill>
          <a:ln/>
        </p:spPr>
        <p:txBody>
          <a:bodyPr/>
          <a:lstStyle/>
          <a:p>
            <a:endParaRPr lang="en-US"/>
          </a:p>
        </p:txBody>
      </p:sp>
      <p:sp>
        <p:nvSpPr>
          <p:cNvPr id="87" name="Shape 85"/>
          <p:cNvSpPr/>
          <p:nvPr/>
        </p:nvSpPr>
        <p:spPr>
          <a:xfrm>
            <a:off x="3767328" y="5664708"/>
            <a:ext cx="132588" cy="132588"/>
          </a:xfrm>
          <a:prstGeom prst="ellipse">
            <a:avLst/>
          </a:prstGeom>
          <a:solidFill>
            <a:srgbClr val="D2DBDF"/>
          </a:solidFill>
          <a:ln/>
        </p:spPr>
        <p:txBody>
          <a:bodyPr/>
          <a:lstStyle/>
          <a:p>
            <a:endParaRPr lang="en-US"/>
          </a:p>
        </p:txBody>
      </p:sp>
      <p:sp>
        <p:nvSpPr>
          <p:cNvPr id="88" name="Text 86"/>
          <p:cNvSpPr txBox="1"/>
          <p:nvPr/>
        </p:nvSpPr>
        <p:spPr>
          <a:xfrm>
            <a:off x="4087368" y="5605272"/>
            <a:ext cx="548640" cy="274320"/>
          </a:xfrm>
          <a:prstGeom prst="rect">
            <a:avLst/>
          </a:prstGeom>
          <a:noFill/>
          <a:ln/>
        </p:spPr>
        <p:txBody>
          <a:bodyPr wrap="square" lIns="0" tIns="0" rIns="0" bIns="0" rtlCol="0" anchor="ctr"/>
          <a:lstStyle/>
          <a:p>
            <a:pPr marL="0" indent="0">
              <a:buNone/>
            </a:pPr>
            <a:r>
              <a:rPr lang="en-US" sz="1100" dirty="0">
                <a:solidFill>
                  <a:srgbClr val="62757F"/>
                </a:solidFill>
                <a:latin typeface="Calibri" pitchFamily="34" charset="0"/>
                <a:ea typeface="Calibri" pitchFamily="34" charset="-122"/>
                <a:cs typeface="Calibri" pitchFamily="34" charset="-120"/>
              </a:rPr>
              <a:t>4/5</a:t>
            </a:r>
            <a:endParaRPr lang="en-US" sz="1100" dirty="0"/>
          </a:p>
        </p:txBody>
      </p:sp>
      <p:sp>
        <p:nvSpPr>
          <p:cNvPr id="89" name="Shape 87"/>
          <p:cNvSpPr/>
          <p:nvPr/>
        </p:nvSpPr>
        <p:spPr>
          <a:xfrm>
            <a:off x="6172200" y="1207008"/>
            <a:ext cx="5440680" cy="2194560"/>
          </a:xfrm>
          <a:prstGeom prst="roundRect">
            <a:avLst>
              <a:gd name="adj" fmla="val 2500"/>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90" name="Text 88"/>
          <p:cNvSpPr txBox="1"/>
          <p:nvPr/>
        </p:nvSpPr>
        <p:spPr>
          <a:xfrm>
            <a:off x="6446520" y="1389888"/>
            <a:ext cx="4892040" cy="310896"/>
          </a:xfrm>
          <a:prstGeom prst="rect">
            <a:avLst/>
          </a:prstGeom>
          <a:noFill/>
          <a:ln/>
        </p:spPr>
        <p:txBody>
          <a:bodyPr wrap="square" lIns="0" tIns="0" rIns="0" bIns="0" rtlCol="0" anchor="ctr"/>
          <a:lstStyle/>
          <a:p>
            <a:pPr marL="0" indent="0">
              <a:buNone/>
            </a:pPr>
            <a:r>
              <a:rPr lang="en-US" sz="1550" b="1" dirty="0">
                <a:solidFill>
                  <a:srgbClr val="B23F3A"/>
                </a:solidFill>
                <a:latin typeface="Calibri" pitchFamily="34" charset="0"/>
                <a:ea typeface="Calibri" pitchFamily="34" charset="-122"/>
                <a:cs typeface="Calibri" pitchFamily="34" charset="-120"/>
              </a:rPr>
              <a:t>Strengths</a:t>
            </a:r>
            <a:endParaRPr lang="en-US" sz="1550" dirty="0"/>
          </a:p>
        </p:txBody>
      </p:sp>
      <p:sp>
        <p:nvSpPr>
          <p:cNvPr id="91" name="Text 89"/>
          <p:cNvSpPr txBox="1"/>
          <p:nvPr/>
        </p:nvSpPr>
        <p:spPr>
          <a:xfrm>
            <a:off x="6446520" y="1737360"/>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Five stars for scalability, elasticity, evolutionary change and modularity the most scalable systems ever built use this style.</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Small, highly decoupled deployment units let the architecture change at the pace the business changes.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Independent single-purpose services with redundancy and discovery give high fault tolerance.</a:t>
            </a:r>
            <a:endParaRPr lang="en-US" sz="1200" dirty="0"/>
          </a:p>
        </p:txBody>
      </p:sp>
      <p:sp>
        <p:nvSpPr>
          <p:cNvPr id="92" name="Shape 90"/>
          <p:cNvSpPr/>
          <p:nvPr/>
        </p:nvSpPr>
        <p:spPr>
          <a:xfrm>
            <a:off x="6172200" y="3520440"/>
            <a:ext cx="5440680" cy="2194560"/>
          </a:xfrm>
          <a:prstGeom prst="roundRect">
            <a:avLst>
              <a:gd name="adj" fmla="val 25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3" name="Text 91"/>
          <p:cNvSpPr txBox="1"/>
          <p:nvPr/>
        </p:nvSpPr>
        <p:spPr>
          <a:xfrm>
            <a:off x="6446520" y="3703320"/>
            <a:ext cx="4892040" cy="310896"/>
          </a:xfrm>
          <a:prstGeom prst="rect">
            <a:avLst/>
          </a:prstGeom>
          <a:noFill/>
          <a:ln/>
        </p:spPr>
        <p:txBody>
          <a:bodyPr wrap="square" lIns="0" tIns="0" rIns="0" bIns="0" rtlCol="0" anchor="ctr"/>
          <a:lstStyle/>
          <a:p>
            <a:pPr marL="0" indent="0">
              <a:buNone/>
            </a:pPr>
            <a:r>
              <a:rPr lang="en-US" sz="1550" b="1" dirty="0">
                <a:solidFill>
                  <a:srgbClr val="14242E"/>
                </a:solidFill>
                <a:latin typeface="Calibri" pitchFamily="34" charset="0"/>
                <a:ea typeface="Calibri" pitchFamily="34" charset="-122"/>
                <a:cs typeface="Calibri" pitchFamily="34" charset="-120"/>
              </a:rPr>
              <a:t>Limitations</a:t>
            </a:r>
            <a:endParaRPr lang="en-US" sz="1550" dirty="0"/>
          </a:p>
        </p:txBody>
      </p:sp>
      <p:sp>
        <p:nvSpPr>
          <p:cNvPr id="94" name="Text 92"/>
          <p:cNvSpPr txBox="1"/>
          <p:nvPr/>
        </p:nvSpPr>
        <p:spPr>
          <a:xfrm>
            <a:off x="6446520" y="4050792"/>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One star for both cost and simplicity the most expensive and complex of the three by far.</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Performance rates two stars: many network calls per request, each with a security check. Caching helps; it does not cure.</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It assumes organisational maturity: automated deployment, observability, end-to-end team ownership.</a:t>
            </a:r>
            <a:endParaRPr lang="en-US" sz="1200" dirty="0"/>
          </a:p>
        </p:txBody>
      </p:sp>
      <p:sp>
        <p:nvSpPr>
          <p:cNvPr id="95" name="Shape 93"/>
          <p:cNvSpPr/>
          <p:nvPr/>
        </p:nvSpPr>
        <p:spPr>
          <a:xfrm>
            <a:off x="6172200" y="5797296"/>
            <a:ext cx="5440680" cy="457200"/>
          </a:xfrm>
          <a:prstGeom prst="roundRect">
            <a:avLst>
              <a:gd name="adj" fmla="val 12000"/>
            </a:avLst>
          </a:prstGeom>
          <a:solidFill>
            <a:srgbClr val="14242E"/>
          </a:solidFill>
          <a:ln w="6350">
            <a:solidFill>
              <a:srgbClr val="14242E"/>
            </a:solidFill>
            <a:prstDash val="solid"/>
          </a:ln>
          <a:effectLst>
            <a:outerShdw blurRad="50800" dist="38100" dir="5400000" algn="t" rotWithShape="0">
              <a:prstClr val="black">
                <a:alpha val="40000"/>
              </a:prstClr>
            </a:outerShdw>
          </a:effectLst>
        </p:spPr>
        <p:txBody>
          <a:bodyPr/>
          <a:lstStyle/>
          <a:p>
            <a:endParaRPr lang="en-US"/>
          </a:p>
        </p:txBody>
      </p:sp>
      <p:sp>
        <p:nvSpPr>
          <p:cNvPr id="96" name="Text 94"/>
          <p:cNvSpPr txBox="1"/>
          <p:nvPr/>
        </p:nvSpPr>
        <p:spPr>
          <a:xfrm>
            <a:off x="6355080" y="5797296"/>
            <a:ext cx="5074920" cy="457200"/>
          </a:xfrm>
          <a:prstGeom prst="rect">
            <a:avLst/>
          </a:prstGeom>
          <a:noFill/>
          <a:ln/>
        </p:spPr>
        <p:txBody>
          <a:bodyPr wrap="square" lIns="0" tIns="0" rIns="0" bIns="0" rtlCol="0" anchor="ctr"/>
          <a:lstStyle/>
          <a:p>
            <a:pPr marL="0" indent="0" algn="ctr">
              <a:buNone/>
            </a:pPr>
            <a:r>
              <a:rPr lang="en-US" sz="1250" b="1" i="1" dirty="0">
                <a:solidFill>
                  <a:srgbClr val="E3B23C"/>
                </a:solidFill>
                <a:latin typeface="Calibri" pitchFamily="34" charset="0"/>
                <a:ea typeface="Calibri" pitchFamily="34" charset="-122"/>
                <a:cs typeface="Calibri" pitchFamily="34" charset="-120"/>
              </a:rPr>
              <a:t>Buy scale and evolvability; pay in cost, simplicity and latency.</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Case study: Netflix and Uber</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19</a:t>
            </a:r>
            <a:endParaRPr lang="en-US" sz="1000" dirty="0"/>
          </a:p>
        </p:txBody>
      </p:sp>
      <p:sp>
        <p:nvSpPr>
          <p:cNvPr id="7" name="Shape 5"/>
          <p:cNvSpPr/>
          <p:nvPr/>
        </p:nvSpPr>
        <p:spPr>
          <a:xfrm>
            <a:off x="566928" y="1234440"/>
            <a:ext cx="5349240" cy="2286000"/>
          </a:xfrm>
          <a:prstGeom prst="roundRect">
            <a:avLst>
              <a:gd name="adj" fmla="val 24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41248" y="1417320"/>
            <a:ext cx="4800600" cy="310896"/>
          </a:xfrm>
          <a:prstGeom prst="rect">
            <a:avLst/>
          </a:prstGeom>
          <a:noFill/>
          <a:ln/>
        </p:spPr>
        <p:txBody>
          <a:bodyPr wrap="square" lIns="0" tIns="0" rIns="0" bIns="0" rtlCol="0" anchor="ctr"/>
          <a:lstStyle/>
          <a:p>
            <a:pPr marL="0" indent="0">
              <a:buNone/>
            </a:pPr>
            <a:r>
              <a:rPr lang="en-US" sz="1500" b="1" dirty="0">
                <a:solidFill>
                  <a:srgbClr val="14242E"/>
                </a:solidFill>
                <a:latin typeface="Calibri" pitchFamily="34" charset="0"/>
                <a:ea typeface="Calibri" pitchFamily="34" charset="-122"/>
                <a:cs typeface="Calibri" pitchFamily="34" charset="-120"/>
              </a:rPr>
              <a:t>Netflix — the style's proving ground</a:t>
            </a:r>
            <a:endParaRPr lang="en-US" sz="1500" dirty="0"/>
          </a:p>
        </p:txBody>
      </p:sp>
      <p:sp>
        <p:nvSpPr>
          <p:cNvPr id="9" name="Text 7"/>
          <p:cNvSpPr txBox="1"/>
          <p:nvPr/>
        </p:nvSpPr>
        <p:spPr>
          <a:xfrm>
            <a:off x="841248" y="1810512"/>
            <a:ext cx="4800600" cy="1600200"/>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Hundreds of independently deployable services behind a single streaming experience, each owned end to end by its team.</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Resilience had to be engineered deliberately: circuit breakers, an edge gateway, service discovery, and chaos testing in production.</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The lesson: the tooling is not optional overhead — it is what makes the style survivable at all.</a:t>
            </a:r>
            <a:endParaRPr lang="en-US" sz="1200" dirty="0"/>
          </a:p>
        </p:txBody>
      </p:sp>
      <p:sp>
        <p:nvSpPr>
          <p:cNvPr id="10" name="Shape 8"/>
          <p:cNvSpPr/>
          <p:nvPr/>
        </p:nvSpPr>
        <p:spPr>
          <a:xfrm>
            <a:off x="6281928" y="1234440"/>
            <a:ext cx="5349240" cy="2286000"/>
          </a:xfrm>
          <a:prstGeom prst="roundRect">
            <a:avLst>
              <a:gd name="adj" fmla="val 2400"/>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6556248" y="1417320"/>
            <a:ext cx="4800600" cy="310896"/>
          </a:xfrm>
          <a:prstGeom prst="rect">
            <a:avLst/>
          </a:prstGeom>
          <a:noFill/>
          <a:ln/>
        </p:spPr>
        <p:txBody>
          <a:bodyPr wrap="square" lIns="0" tIns="0" rIns="0" bIns="0" rtlCol="0" anchor="ctr"/>
          <a:lstStyle/>
          <a:p>
            <a:pPr marL="0" indent="0">
              <a:buNone/>
            </a:pPr>
            <a:r>
              <a:rPr lang="en-US" sz="1500" b="1" dirty="0">
                <a:solidFill>
                  <a:srgbClr val="B23F3A"/>
                </a:solidFill>
                <a:latin typeface="Calibri" pitchFamily="34" charset="0"/>
                <a:ea typeface="Calibri" pitchFamily="34" charset="-122"/>
                <a:cs typeface="Calibri" pitchFamily="34" charset="-120"/>
              </a:rPr>
              <a:t>Uber — when decoupling becomes the problem</a:t>
            </a:r>
            <a:endParaRPr lang="en-US" sz="1500" dirty="0"/>
          </a:p>
        </p:txBody>
      </p:sp>
      <p:sp>
        <p:nvSpPr>
          <p:cNvPr id="12" name="Text 10"/>
          <p:cNvSpPr txBox="1"/>
          <p:nvPr/>
        </p:nvSpPr>
        <p:spPr>
          <a:xfrm>
            <a:off x="6556248" y="1810512"/>
            <a:ext cx="4800600" cy="1600200"/>
          </a:xfrm>
          <a:prstGeom prst="rect">
            <a:avLst/>
          </a:prstGeom>
          <a:noFill/>
          <a:ln/>
        </p:spPr>
        <p:txBody>
          <a:bodyPr wrap="square" lIns="0" tIns="0" rIns="0" bIns="0" rtlCol="0" anchor="t"/>
          <a:lstStyle/>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By 2020 Uber ran roughly 2,200 critical microservices after growing from hundreds to thousands of engineers.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Complexity, not scale, became the pain: one root-cause investigation required working through around 50 services across 12 teams.</a:t>
            </a:r>
            <a:endParaRPr lang="en-US" sz="1200" dirty="0"/>
          </a:p>
          <a:p>
            <a:pPr marL="342900" indent="-342900" algn="l">
              <a:spcAft>
                <a:spcPts val="800"/>
              </a:spcAft>
              <a:buSzPct val="100000"/>
              <a:buChar char="•"/>
            </a:pPr>
            <a:r>
              <a:rPr lang="en-US" sz="1200" dirty="0">
                <a:solidFill>
                  <a:srgbClr val="1F3644"/>
                </a:solidFill>
                <a:latin typeface="Calibri" pitchFamily="34" charset="0"/>
                <a:ea typeface="Calibri" pitchFamily="34" charset="-122"/>
                <a:cs typeface="Calibri" pitchFamily="34" charset="-120"/>
              </a:rPr>
              <a:t>Building a simple feature routinely meant coordinating changes across services owned by different teams.</a:t>
            </a:r>
            <a:endParaRPr lang="en-US" sz="1200" dirty="0"/>
          </a:p>
        </p:txBody>
      </p:sp>
      <p:sp>
        <p:nvSpPr>
          <p:cNvPr id="13" name="Shape 11"/>
          <p:cNvSpPr/>
          <p:nvPr/>
        </p:nvSpPr>
        <p:spPr>
          <a:xfrm>
            <a:off x="566928" y="3675888"/>
            <a:ext cx="11064240" cy="1371600"/>
          </a:xfrm>
          <a:prstGeom prst="roundRect">
            <a:avLst>
              <a:gd name="adj" fmla="val 4000"/>
            </a:avLst>
          </a:prstGeom>
          <a:solidFill>
            <a:srgbClr val="14242E"/>
          </a:solidFill>
          <a:ln w="6350">
            <a:solidFill>
              <a:srgbClr val="14242E"/>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68680" y="3840480"/>
            <a:ext cx="10469880" cy="310896"/>
          </a:xfrm>
          <a:prstGeom prst="rect">
            <a:avLst/>
          </a:prstGeom>
          <a:noFill/>
          <a:ln/>
        </p:spPr>
        <p:txBody>
          <a:bodyPr wrap="square" lIns="0" tIns="0" rIns="0" bIns="0" rtlCol="0" anchor="ctr"/>
          <a:lstStyle/>
          <a:p>
            <a:pPr marL="0" indent="0">
              <a:buNone/>
            </a:pPr>
            <a:r>
              <a:rPr lang="en-US" sz="1450" b="1" dirty="0">
                <a:solidFill>
                  <a:srgbClr val="E3B23C"/>
                </a:solidFill>
                <a:latin typeface="Calibri" pitchFamily="34" charset="0"/>
                <a:ea typeface="Calibri" pitchFamily="34" charset="-122"/>
                <a:cs typeface="Calibri" pitchFamily="34" charset="-120"/>
              </a:rPr>
              <a:t>Uber's answer: Domain-Oriented Microservice Architecture (DOMA)</a:t>
            </a:r>
            <a:endParaRPr lang="en-US" sz="1450" dirty="0"/>
          </a:p>
        </p:txBody>
      </p:sp>
      <p:sp>
        <p:nvSpPr>
          <p:cNvPr id="15" name="Text 13"/>
          <p:cNvSpPr txBox="1"/>
          <p:nvPr/>
        </p:nvSpPr>
        <p:spPr>
          <a:xfrm>
            <a:off x="868680" y="4187952"/>
            <a:ext cx="10469880" cy="777240"/>
          </a:xfrm>
          <a:prstGeom prst="rect">
            <a:avLst/>
          </a:prstGeom>
          <a:noFill/>
          <a:ln/>
        </p:spPr>
        <p:txBody>
          <a:bodyPr wrap="square" lIns="0" tIns="0" rIns="0" bIns="0" rtlCol="0" anchor="ctr"/>
          <a:lstStyle/>
          <a:p>
            <a:pPr marL="0" indent="0">
              <a:buNone/>
            </a:pPr>
            <a:r>
              <a:rPr lang="en-US" sz="1250" dirty="0">
                <a:solidFill>
                  <a:srgbClr val="C9D6DC"/>
                </a:solidFill>
                <a:latin typeface="Calibri" pitchFamily="34" charset="0"/>
                <a:ea typeface="Calibri" pitchFamily="34" charset="-122"/>
                <a:cs typeface="Calibri" pitchFamily="34" charset="-120"/>
              </a:rPr>
              <a:t>Rather than reject microservices, Uber grouped related services into domains, put a gateway in front of each domain so consumers depend on the domain rather than its internals, layered the domains to constrain dependency direction, and defined explicit extension points. The stated goal was to reduce overall system complexity while keeping the flexibility that made microservices worth adopting.</a:t>
            </a:r>
            <a:endParaRPr lang="en-US" sz="1250" dirty="0"/>
          </a:p>
        </p:txBody>
      </p:sp>
      <p:sp>
        <p:nvSpPr>
          <p:cNvPr id="16" name="Shape 14"/>
          <p:cNvSpPr/>
          <p:nvPr/>
        </p:nvSpPr>
        <p:spPr>
          <a:xfrm>
            <a:off x="566928" y="5212080"/>
            <a:ext cx="11064240" cy="777240"/>
          </a:xfrm>
          <a:prstGeom prst="roundRect">
            <a:avLst>
              <a:gd name="adj" fmla="val 7059"/>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868680" y="5212080"/>
            <a:ext cx="10469880" cy="777240"/>
          </a:xfrm>
          <a:prstGeom prst="rect">
            <a:avLst/>
          </a:prstGeom>
          <a:noFill/>
          <a:ln/>
        </p:spPr>
        <p:txBody>
          <a:bodyPr wrap="square" lIns="0" tIns="0" rIns="0" bIns="0" rtlCol="0" anchor="ctr"/>
          <a:lstStyle/>
          <a:p>
            <a:pPr marL="0" indent="0">
              <a:buNone/>
            </a:pPr>
            <a:r>
              <a:rPr lang="en-US" sz="1300" b="1" dirty="0">
                <a:solidFill>
                  <a:srgbClr val="14242E"/>
                </a:solidFill>
                <a:latin typeface="Calibri" pitchFamily="34" charset="0"/>
                <a:ea typeface="Calibri" pitchFamily="34" charset="-122"/>
                <a:cs typeface="Calibri" pitchFamily="34" charset="-120"/>
              </a:rPr>
              <a:t>Notice where DOMA lands: a domain gateway fronting a group of cohesive services is, structurally, a step back toward coarse-grained domain services the service-based idea, rediscovered at scale.</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Head-to-head</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20</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4177258926"/>
              </p:ext>
            </p:extLst>
          </p:nvPr>
        </p:nvGraphicFramePr>
        <p:xfrm>
          <a:off x="566928" y="1207008"/>
          <a:ext cx="8229600" cy="4736592"/>
        </p:xfrm>
        <a:graphic>
          <a:graphicData uri="http://schemas.openxmlformats.org/drawingml/2006/table">
            <a:tbl>
              <a:tblPr/>
              <a:tblGrid>
                <a:gridCol w="30175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383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Architecture characteristic</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4242E"/>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Microkernel</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77B2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Service-Based</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807E"/>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Microservices</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B23F3A"/>
                    </a:solidFill>
                  </a:tcPr>
                </a:tc>
                <a:extLst>
                  <a:ext uri="{0D108BD9-81ED-4DB2-BD59-A6C34878D82A}">
                    <a16:rowId xmlns:a16="http://schemas.microsoft.com/office/drawing/2014/main" val="10000"/>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Partitioning type</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dirty="0">
                          <a:solidFill>
                            <a:srgbClr val="1F3644"/>
                          </a:solidFill>
                          <a:latin typeface="Calibri" pitchFamily="34" charset="0"/>
                          <a:ea typeface="Calibri" pitchFamily="34" charset="-122"/>
                          <a:cs typeface="Calibri" pitchFamily="34" charset="-120"/>
                        </a:rPr>
                        <a:t>Domain and technical</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dirty="0">
                          <a:solidFill>
                            <a:srgbClr val="1F3644"/>
                          </a:solidFill>
                          <a:latin typeface="Calibri" pitchFamily="34" charset="0"/>
                          <a:ea typeface="Calibri" pitchFamily="34" charset="-122"/>
                          <a:cs typeface="Calibri" pitchFamily="34" charset="-120"/>
                        </a:rPr>
                        <a:t>Domain</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dirty="0">
                          <a:solidFill>
                            <a:srgbClr val="1F3644"/>
                          </a:solidFill>
                          <a:latin typeface="Calibri" pitchFamily="34" charset="0"/>
                          <a:ea typeface="Calibri" pitchFamily="34" charset="-122"/>
                          <a:cs typeface="Calibri" pitchFamily="34" charset="-120"/>
                        </a:rPr>
                        <a:t>Domain</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extLst>
                  <a:ext uri="{0D108BD9-81ED-4DB2-BD59-A6C34878D82A}">
                    <a16:rowId xmlns:a16="http://schemas.microsoft.com/office/drawing/2014/main" val="10001"/>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Number of quanta</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dirty="0">
                          <a:solidFill>
                            <a:srgbClr val="1F36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dirty="0">
                          <a:solidFill>
                            <a:srgbClr val="1F3644"/>
                          </a:solidFill>
                          <a:latin typeface="Calibri" pitchFamily="34" charset="0"/>
                          <a:ea typeface="Calibri" pitchFamily="34" charset="-122"/>
                          <a:cs typeface="Calibri" pitchFamily="34" charset="-120"/>
                        </a:rPr>
                        <a:t>1 to many</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dirty="0">
                          <a:solidFill>
                            <a:srgbClr val="1F3644"/>
                          </a:solidFill>
                          <a:latin typeface="Calibri" pitchFamily="34" charset="0"/>
                          <a:ea typeface="Calibri" pitchFamily="34" charset="-122"/>
                          <a:cs typeface="Calibri" pitchFamily="34" charset="-120"/>
                        </a:rPr>
                        <a:t>1 to many (most distinct)</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extLst>
                  <a:ext uri="{0D108BD9-81ED-4DB2-BD59-A6C34878D82A}">
                    <a16:rowId xmlns:a16="http://schemas.microsoft.com/office/drawing/2014/main" val="10002"/>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Deployability</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extLst>
                  <a:ext uri="{0D108BD9-81ED-4DB2-BD59-A6C34878D82A}">
                    <a16:rowId xmlns:a16="http://schemas.microsoft.com/office/drawing/2014/main" val="10003"/>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Elasticity</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2DE"/>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extLst>
                  <a:ext uri="{0D108BD9-81ED-4DB2-BD59-A6C34878D82A}">
                    <a16:rowId xmlns:a16="http://schemas.microsoft.com/office/drawing/2014/main" val="10004"/>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Evolutionary</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extLst>
                  <a:ext uri="{0D108BD9-81ED-4DB2-BD59-A6C34878D82A}">
                    <a16:rowId xmlns:a16="http://schemas.microsoft.com/office/drawing/2014/main" val="10005"/>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Fault tolerance</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extLst>
                  <a:ext uri="{0D108BD9-81ED-4DB2-BD59-A6C34878D82A}">
                    <a16:rowId xmlns:a16="http://schemas.microsoft.com/office/drawing/2014/main" val="10006"/>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Modularity</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extLst>
                  <a:ext uri="{0D108BD9-81ED-4DB2-BD59-A6C34878D82A}">
                    <a16:rowId xmlns:a16="http://schemas.microsoft.com/office/drawing/2014/main" val="10007"/>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Overall cost</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extLst>
                  <a:ext uri="{0D108BD9-81ED-4DB2-BD59-A6C34878D82A}">
                    <a16:rowId xmlns:a16="http://schemas.microsoft.com/office/drawing/2014/main" val="10008"/>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Performance</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2DE"/>
                    </a:solidFill>
                  </a:tcPr>
                </a:tc>
                <a:extLst>
                  <a:ext uri="{0D108BD9-81ED-4DB2-BD59-A6C34878D82A}">
                    <a16:rowId xmlns:a16="http://schemas.microsoft.com/office/drawing/2014/main" val="10009"/>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Reliability</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extLst>
                  <a:ext uri="{0D108BD9-81ED-4DB2-BD59-A6C34878D82A}">
                    <a16:rowId xmlns:a16="http://schemas.microsoft.com/office/drawing/2014/main" val="10010"/>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Scalability</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extLst>
                  <a:ext uri="{0D108BD9-81ED-4DB2-BD59-A6C34878D82A}">
                    <a16:rowId xmlns:a16="http://schemas.microsoft.com/office/drawing/2014/main" val="10011"/>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Simplicity</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extLst>
                  <a:ext uri="{0D108BD9-81ED-4DB2-BD59-A6C34878D82A}">
                    <a16:rowId xmlns:a16="http://schemas.microsoft.com/office/drawing/2014/main" val="10012"/>
                  </a:ext>
                </a:extLst>
              </a:tr>
              <a:tr h="338328">
                <a:tc>
                  <a:txBody>
                    <a:bodyPr/>
                    <a:lstStyle/>
                    <a:p>
                      <a:pPr marL="0" indent="0">
                        <a:buNone/>
                      </a:pPr>
                      <a:r>
                        <a:rPr lang="en-US" sz="1400" b="1" dirty="0">
                          <a:solidFill>
                            <a:srgbClr val="14242E"/>
                          </a:solidFill>
                          <a:latin typeface="Calibri" pitchFamily="34" charset="0"/>
                          <a:ea typeface="Calibri" pitchFamily="34" charset="-122"/>
                          <a:cs typeface="Calibri" pitchFamily="34" charset="-120"/>
                        </a:rPr>
                        <a:t>Testability</a:t>
                      </a:r>
                      <a:endParaRPr lang="en-US" sz="12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dirty="0">
                          <a:solidFill>
                            <a:srgbClr val="1424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extLst>
                  <a:ext uri="{0D108BD9-81ED-4DB2-BD59-A6C34878D82A}">
                    <a16:rowId xmlns:a16="http://schemas.microsoft.com/office/drawing/2014/main" val="10013"/>
                  </a:ext>
                </a:extLst>
              </a:tr>
            </a:tbl>
          </a:graphicData>
        </a:graphic>
      </p:graphicFrame>
      <p:sp>
        <p:nvSpPr>
          <p:cNvPr id="8" name="Shape 5"/>
          <p:cNvSpPr/>
          <p:nvPr/>
        </p:nvSpPr>
        <p:spPr>
          <a:xfrm>
            <a:off x="9034272" y="1207008"/>
            <a:ext cx="2596896" cy="4846320"/>
          </a:xfrm>
          <a:prstGeom prst="roundRect">
            <a:avLst>
              <a:gd name="adj" fmla="val 2113"/>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9" name="Text 6"/>
          <p:cNvSpPr txBox="1"/>
          <p:nvPr/>
        </p:nvSpPr>
        <p:spPr>
          <a:xfrm>
            <a:off x="9253728" y="1417320"/>
            <a:ext cx="2194560" cy="310896"/>
          </a:xfrm>
          <a:prstGeom prst="rect">
            <a:avLst/>
          </a:prstGeom>
          <a:noFill/>
          <a:ln/>
        </p:spPr>
        <p:txBody>
          <a:bodyPr wrap="square" lIns="0" tIns="0" rIns="0" bIns="0" rtlCol="0" anchor="ctr"/>
          <a:lstStyle/>
          <a:p>
            <a:pPr marL="0" indent="0">
              <a:buNone/>
            </a:pPr>
            <a:r>
              <a:rPr lang="en-US" sz="1400" b="1" dirty="0">
                <a:solidFill>
                  <a:srgbClr val="E3B23C"/>
                </a:solidFill>
                <a:latin typeface="Calibri" pitchFamily="34" charset="0"/>
                <a:ea typeface="Calibri" pitchFamily="34" charset="-122"/>
                <a:cs typeface="Calibri" pitchFamily="34" charset="-120"/>
              </a:rPr>
              <a:t>Read the extremes</a:t>
            </a:r>
            <a:endParaRPr lang="en-US" sz="1400" dirty="0"/>
          </a:p>
        </p:txBody>
      </p:sp>
      <p:sp>
        <p:nvSpPr>
          <p:cNvPr id="10" name="Text 7"/>
          <p:cNvSpPr txBox="1"/>
          <p:nvPr/>
        </p:nvSpPr>
        <p:spPr>
          <a:xfrm>
            <a:off x="9253728" y="1828800"/>
            <a:ext cx="2194560" cy="4023360"/>
          </a:xfrm>
          <a:prstGeom prst="rect">
            <a:avLst/>
          </a:prstGeom>
          <a:noFill/>
          <a:ln/>
        </p:spPr>
        <p:txBody>
          <a:bodyPr wrap="square" lIns="0" tIns="0" rIns="0" bIns="0" rtlCol="0" anchor="ctr"/>
          <a:lstStyle/>
          <a:p>
            <a:pPr marL="0" indent="0" algn="just">
              <a:spcAft>
                <a:spcPts val="1000"/>
              </a:spcAft>
              <a:buNone/>
            </a:pPr>
            <a:r>
              <a:rPr lang="en-US" sz="1150" dirty="0">
                <a:solidFill>
                  <a:srgbClr val="C9D6DC"/>
                </a:solidFill>
                <a:latin typeface="Calibri" pitchFamily="34" charset="0"/>
                <a:ea typeface="Calibri" pitchFamily="34" charset="-122"/>
                <a:cs typeface="Calibri" pitchFamily="34" charset="-120"/>
              </a:rPr>
              <a:t>Microkernel and microservices are mirror images: 5 and 1 for cost, 1 and 5 for scalability.</a:t>
            </a:r>
            <a:endParaRPr lang="en-US" sz="1150" dirty="0"/>
          </a:p>
          <a:p>
            <a:pPr marL="0" indent="0" algn="just">
              <a:spcAft>
                <a:spcPts val="1000"/>
              </a:spcAft>
              <a:buNone/>
            </a:pPr>
            <a:r>
              <a:rPr lang="en-US" sz="1150" dirty="0">
                <a:solidFill>
                  <a:srgbClr val="C9D6DC"/>
                </a:solidFill>
                <a:latin typeface="Calibri" pitchFamily="34" charset="0"/>
                <a:ea typeface="Calibri" pitchFamily="34" charset="-122"/>
                <a:cs typeface="Calibri" pitchFamily="34" charset="-120"/>
              </a:rPr>
              <a:t>Service-based has no 1s and no 5s. Its whole argument is the absence of extremes.</a:t>
            </a:r>
            <a:endParaRPr lang="en-US" sz="1150" dirty="0"/>
          </a:p>
          <a:p>
            <a:pPr marL="0" indent="0" algn="just">
              <a:spcAft>
                <a:spcPts val="1000"/>
              </a:spcAft>
              <a:buNone/>
            </a:pPr>
            <a:r>
              <a:rPr lang="en-US" sz="1150" dirty="0">
                <a:solidFill>
                  <a:srgbClr val="C9D6DC"/>
                </a:solidFill>
                <a:latin typeface="Calibri" pitchFamily="34" charset="0"/>
                <a:ea typeface="Calibri" pitchFamily="34" charset="-122"/>
                <a:cs typeface="Calibri" pitchFamily="34" charset="-120"/>
              </a:rPr>
              <a:t>Deployability and testability barely separate the two distributed styles those are not reasons to prefer microservices.</a:t>
            </a:r>
            <a:endParaRPr lang="en-US" sz="1150" dirty="0"/>
          </a:p>
          <a:p>
            <a:pPr marL="0" indent="0" algn="just">
              <a:buNone/>
            </a:pPr>
            <a:r>
              <a:rPr lang="en-US" sz="1150" dirty="0">
                <a:solidFill>
                  <a:srgbClr val="C9D6DC"/>
                </a:solidFill>
                <a:latin typeface="Calibri" pitchFamily="34" charset="0"/>
                <a:ea typeface="Calibri" pitchFamily="34" charset="-122"/>
                <a:cs typeface="Calibri" pitchFamily="34" charset="-120"/>
              </a:rPr>
              <a:t>Elasticity is the single clearest discriminator: 1, 2 and 5. If load is spiky and uneven per domain, that row decides the argument.</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The shape of each trade-off</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21</a:t>
            </a:r>
            <a:endParaRPr lang="en-US" sz="1000" dirty="0"/>
          </a:p>
        </p:txBody>
      </p:sp>
      <p:graphicFrame>
        <p:nvGraphicFramePr>
          <p:cNvPr id="7" name="Chart 0"/>
          <p:cNvGraphicFramePr/>
          <p:nvPr/>
        </p:nvGraphicFramePr>
        <p:xfrm>
          <a:off x="566928" y="1188720"/>
          <a:ext cx="781812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8641080" y="1188720"/>
            <a:ext cx="2990088" cy="1536192"/>
          </a:xfrm>
          <a:prstGeom prst="roundRect">
            <a:avLst>
              <a:gd name="adj" fmla="val 3571"/>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Text 6"/>
          <p:cNvSpPr txBox="1"/>
          <p:nvPr/>
        </p:nvSpPr>
        <p:spPr>
          <a:xfrm>
            <a:off x="8869680" y="1325880"/>
            <a:ext cx="2560320" cy="457200"/>
          </a:xfrm>
          <a:prstGeom prst="rect">
            <a:avLst/>
          </a:prstGeom>
          <a:noFill/>
          <a:ln/>
        </p:spPr>
        <p:txBody>
          <a:bodyPr wrap="square" lIns="0" tIns="0" rIns="0" bIns="0" rtlCol="0" anchor="ctr"/>
          <a:lstStyle/>
          <a:p>
            <a:pPr marL="0" indent="0">
              <a:buNone/>
            </a:pPr>
            <a:r>
              <a:rPr lang="en-US" sz="1600" b="1" dirty="0">
                <a:solidFill>
                  <a:srgbClr val="14242E"/>
                </a:solidFill>
                <a:latin typeface="Calibri" pitchFamily="34" charset="0"/>
                <a:ea typeface="Calibri" pitchFamily="34" charset="-122"/>
                <a:cs typeface="Calibri" pitchFamily="34" charset="-120"/>
              </a:rPr>
              <a:t>Cost is inverted here</a:t>
            </a:r>
            <a:endParaRPr lang="en-US" sz="1600" dirty="0"/>
          </a:p>
        </p:txBody>
      </p:sp>
      <p:sp>
        <p:nvSpPr>
          <p:cNvPr id="10" name="Text 7"/>
          <p:cNvSpPr txBox="1"/>
          <p:nvPr/>
        </p:nvSpPr>
        <p:spPr>
          <a:xfrm>
            <a:off x="8869680" y="1810512"/>
            <a:ext cx="2560320" cy="822960"/>
          </a:xfrm>
          <a:prstGeom prst="rect">
            <a:avLst/>
          </a:prstGeom>
          <a:noFill/>
          <a:ln/>
        </p:spPr>
        <p:txBody>
          <a:bodyPr wrap="square" lIns="0" tIns="0" rIns="0" bIns="0" rtlCol="0" anchor="ctr"/>
          <a:lstStyle/>
          <a:p>
            <a:pPr marL="0" indent="0" algn="just">
              <a:buNone/>
            </a:pPr>
            <a:r>
              <a:rPr lang="en-US" sz="1100" dirty="0">
                <a:solidFill>
                  <a:srgbClr val="1F3644"/>
                </a:solidFill>
                <a:latin typeface="Calibri" pitchFamily="34" charset="0"/>
                <a:ea typeface="Calibri" pitchFamily="34" charset="-122"/>
                <a:cs typeface="Calibri" pitchFamily="34" charset="-120"/>
              </a:rPr>
              <a:t>A high bar means cheap. Microkernel wins outright; microservices is the most expensive architecture in the book.</a:t>
            </a:r>
            <a:endParaRPr lang="en-US" sz="1100" dirty="0"/>
          </a:p>
        </p:txBody>
      </p:sp>
      <p:sp>
        <p:nvSpPr>
          <p:cNvPr id="11" name="Shape 8"/>
          <p:cNvSpPr/>
          <p:nvPr/>
        </p:nvSpPr>
        <p:spPr>
          <a:xfrm>
            <a:off x="8641080" y="2825496"/>
            <a:ext cx="2990088" cy="1536192"/>
          </a:xfrm>
          <a:prstGeom prst="roundRect">
            <a:avLst>
              <a:gd name="adj" fmla="val 3571"/>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2" name="Text 9"/>
          <p:cNvSpPr txBox="1"/>
          <p:nvPr/>
        </p:nvSpPr>
        <p:spPr>
          <a:xfrm>
            <a:off x="8869680" y="2962656"/>
            <a:ext cx="2560320" cy="457200"/>
          </a:xfrm>
          <a:prstGeom prst="rect">
            <a:avLst/>
          </a:prstGeom>
          <a:noFill/>
          <a:ln/>
        </p:spPr>
        <p:txBody>
          <a:bodyPr wrap="square" lIns="0" tIns="0" rIns="0" bIns="0" rtlCol="0" anchor="ctr"/>
          <a:lstStyle/>
          <a:p>
            <a:pPr marL="0" indent="0">
              <a:buNone/>
            </a:pPr>
            <a:r>
              <a:rPr lang="en-US" sz="1600" b="1" dirty="0">
                <a:solidFill>
                  <a:srgbClr val="14242E"/>
                </a:solidFill>
                <a:latin typeface="Calibri" pitchFamily="34" charset="0"/>
                <a:ea typeface="Calibri" pitchFamily="34" charset="-122"/>
                <a:cs typeface="Calibri" pitchFamily="34" charset="-120"/>
              </a:rPr>
              <a:t>The crossover point</a:t>
            </a:r>
            <a:endParaRPr lang="en-US" sz="1600" dirty="0"/>
          </a:p>
        </p:txBody>
      </p:sp>
      <p:sp>
        <p:nvSpPr>
          <p:cNvPr id="13" name="Text 10"/>
          <p:cNvSpPr txBox="1"/>
          <p:nvPr/>
        </p:nvSpPr>
        <p:spPr>
          <a:xfrm>
            <a:off x="8869680" y="3447288"/>
            <a:ext cx="2560320" cy="822960"/>
          </a:xfrm>
          <a:prstGeom prst="rect">
            <a:avLst/>
          </a:prstGeom>
          <a:noFill/>
          <a:ln/>
        </p:spPr>
        <p:txBody>
          <a:bodyPr wrap="square" lIns="0" tIns="0" rIns="0" bIns="0" rtlCol="0" anchor="ctr"/>
          <a:lstStyle/>
          <a:p>
            <a:pPr marL="0" indent="0" algn="just">
              <a:buNone/>
            </a:pPr>
            <a:r>
              <a:rPr lang="en-US" sz="1100" dirty="0">
                <a:solidFill>
                  <a:srgbClr val="1F3644"/>
                </a:solidFill>
                <a:latin typeface="Calibri" pitchFamily="34" charset="0"/>
                <a:ea typeface="Calibri" pitchFamily="34" charset="-122"/>
                <a:cs typeface="Calibri" pitchFamily="34" charset="-120"/>
              </a:rPr>
              <a:t>Service-based tracks microservices closely on deployability, testability and fault tolerance then diverges sharply on elasticity and scalability.</a:t>
            </a:r>
            <a:endParaRPr lang="en-US" sz="1100" dirty="0"/>
          </a:p>
        </p:txBody>
      </p:sp>
      <p:sp>
        <p:nvSpPr>
          <p:cNvPr id="14" name="Shape 11"/>
          <p:cNvSpPr/>
          <p:nvPr/>
        </p:nvSpPr>
        <p:spPr>
          <a:xfrm>
            <a:off x="8641080" y="4462272"/>
            <a:ext cx="2990088" cy="1536192"/>
          </a:xfrm>
          <a:prstGeom prst="roundRect">
            <a:avLst>
              <a:gd name="adj" fmla="val 3571"/>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5" name="Text 12"/>
          <p:cNvSpPr txBox="1"/>
          <p:nvPr/>
        </p:nvSpPr>
        <p:spPr>
          <a:xfrm>
            <a:off x="8869680" y="4599432"/>
            <a:ext cx="2560320" cy="457200"/>
          </a:xfrm>
          <a:prstGeom prst="rect">
            <a:avLst/>
          </a:prstGeom>
          <a:noFill/>
          <a:ln/>
        </p:spPr>
        <p:txBody>
          <a:bodyPr wrap="square" lIns="0" tIns="0" rIns="0" bIns="0" rtlCol="0" anchor="ctr"/>
          <a:lstStyle/>
          <a:p>
            <a:pPr marL="0" indent="0">
              <a:buNone/>
            </a:pPr>
            <a:r>
              <a:rPr lang="en-US" sz="1600" b="1" dirty="0">
                <a:solidFill>
                  <a:srgbClr val="14242E"/>
                </a:solidFill>
                <a:latin typeface="Calibri" pitchFamily="34" charset="0"/>
                <a:ea typeface="Calibri" pitchFamily="34" charset="-122"/>
                <a:cs typeface="Calibri" pitchFamily="34" charset="-120"/>
              </a:rPr>
              <a:t>Performance is not a microservices strength</a:t>
            </a:r>
            <a:endParaRPr lang="en-US" sz="1600" dirty="0"/>
          </a:p>
        </p:txBody>
      </p:sp>
      <p:sp>
        <p:nvSpPr>
          <p:cNvPr id="16" name="Text 13"/>
          <p:cNvSpPr txBox="1"/>
          <p:nvPr/>
        </p:nvSpPr>
        <p:spPr>
          <a:xfrm>
            <a:off x="8869680" y="5084064"/>
            <a:ext cx="2560320" cy="822960"/>
          </a:xfrm>
          <a:prstGeom prst="rect">
            <a:avLst/>
          </a:prstGeom>
          <a:noFill/>
          <a:ln/>
        </p:spPr>
        <p:txBody>
          <a:bodyPr wrap="square" lIns="0" tIns="0" rIns="0" bIns="0" rtlCol="0" anchor="ctr"/>
          <a:lstStyle/>
          <a:p>
            <a:pPr marL="0" indent="0" algn="just">
              <a:buNone/>
            </a:pPr>
            <a:r>
              <a:rPr lang="en-US" sz="1100" dirty="0">
                <a:solidFill>
                  <a:srgbClr val="1F3644"/>
                </a:solidFill>
                <a:latin typeface="Calibri" pitchFamily="34" charset="0"/>
                <a:ea typeface="Calibri" pitchFamily="34" charset="-122"/>
                <a:cs typeface="Calibri" pitchFamily="34" charset="-120"/>
              </a:rPr>
              <a:t>Two stars. Distributed calls and per-endpoint security checks cost more than the style's reputation suggests.</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How to choose</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22</a:t>
            </a:r>
            <a:endParaRPr lang="en-US" sz="1000" dirty="0"/>
          </a:p>
        </p:txBody>
      </p:sp>
      <p:sp>
        <p:nvSpPr>
          <p:cNvPr id="7" name="Text 5"/>
          <p:cNvSpPr txBox="1"/>
          <p:nvPr/>
        </p:nvSpPr>
        <p:spPr>
          <a:xfrm>
            <a:off x="566928" y="1188720"/>
            <a:ext cx="11064240" cy="411480"/>
          </a:xfrm>
          <a:prstGeom prst="rect">
            <a:avLst/>
          </a:prstGeom>
          <a:noFill/>
          <a:ln/>
        </p:spPr>
        <p:txBody>
          <a:bodyPr wrap="square" lIns="0" tIns="0" rIns="0" bIns="0" rtlCol="0" anchor="t"/>
          <a:lstStyle/>
          <a:p>
            <a:pPr marL="0" indent="0" algn="l">
              <a:buNone/>
            </a:pPr>
            <a:r>
              <a:rPr lang="en-US" sz="1350" dirty="0">
                <a:solidFill>
                  <a:srgbClr val="62757F"/>
                </a:solidFill>
                <a:latin typeface="Calibri" pitchFamily="34" charset="0"/>
                <a:ea typeface="Calibri" pitchFamily="34" charset="-122"/>
                <a:cs typeface="Calibri" pitchFamily="34" charset="-120"/>
              </a:rPr>
              <a:t>Richards and Ford give no ranking, only inputs to a decision: the domain, the characteristics that drive structure, the data architecture, organisational factors, and the maturity of the team's process and operations.</a:t>
            </a:r>
            <a:endParaRPr lang="en-US" sz="1350" dirty="0"/>
          </a:p>
        </p:txBody>
      </p:sp>
      <p:sp>
        <p:nvSpPr>
          <p:cNvPr id="8" name="Shape 6"/>
          <p:cNvSpPr/>
          <p:nvPr/>
        </p:nvSpPr>
        <p:spPr>
          <a:xfrm>
            <a:off x="566928" y="1755648"/>
            <a:ext cx="11064240" cy="932688"/>
          </a:xfrm>
          <a:prstGeom prst="roundRect">
            <a:avLst>
              <a:gd name="adj" fmla="val 588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Shape 7"/>
          <p:cNvSpPr/>
          <p:nvPr/>
        </p:nvSpPr>
        <p:spPr>
          <a:xfrm>
            <a:off x="841248" y="2011680"/>
            <a:ext cx="420624" cy="420624"/>
          </a:xfrm>
          <a:prstGeom prst="ellipse">
            <a:avLst/>
          </a:prstGeom>
          <a:solidFill>
            <a:srgbClr val="14242E"/>
          </a:solidFill>
          <a:ln/>
        </p:spPr>
        <p:txBody>
          <a:bodyPr/>
          <a:lstStyle/>
          <a:p>
            <a:endParaRPr lang="en-US"/>
          </a:p>
        </p:txBody>
      </p:sp>
      <p:sp>
        <p:nvSpPr>
          <p:cNvPr id="10" name="Text 8"/>
          <p:cNvSpPr txBox="1"/>
          <p:nvPr/>
        </p:nvSpPr>
        <p:spPr>
          <a:xfrm>
            <a:off x="841248" y="2011680"/>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463040" y="1901952"/>
            <a:ext cx="5577840" cy="685800"/>
          </a:xfrm>
          <a:prstGeom prst="rect">
            <a:avLst/>
          </a:prstGeom>
          <a:noFill/>
          <a:ln/>
        </p:spPr>
        <p:txBody>
          <a:bodyPr wrap="square" lIns="0" tIns="0" rIns="0" bIns="0" rtlCol="0" anchor="ctr"/>
          <a:lstStyle/>
          <a:p>
            <a:pPr marL="0" indent="0">
              <a:buNone/>
            </a:pPr>
            <a:r>
              <a:rPr lang="en-US" sz="1400" b="1" dirty="0">
                <a:solidFill>
                  <a:srgbClr val="14242E"/>
                </a:solidFill>
                <a:latin typeface="Calibri" pitchFamily="34" charset="0"/>
                <a:ea typeface="Calibri" pitchFamily="34" charset="-122"/>
                <a:cs typeface="Calibri" pitchFamily="34" charset="-120"/>
              </a:rPr>
              <a:t>Does the whole system need one set of architecture characteristics?</a:t>
            </a:r>
            <a:endParaRPr lang="en-US" sz="1400" dirty="0"/>
          </a:p>
        </p:txBody>
      </p:sp>
      <p:sp>
        <p:nvSpPr>
          <p:cNvPr id="12" name="Text 10"/>
          <p:cNvSpPr txBox="1"/>
          <p:nvPr/>
        </p:nvSpPr>
        <p:spPr>
          <a:xfrm>
            <a:off x="7223760" y="1901952"/>
            <a:ext cx="4160520" cy="6858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Yes — a monolith is legitimate. No — you are in distributed territory, and the cost follows.</a:t>
            </a:r>
            <a:endParaRPr lang="en-US" sz="1200" dirty="0"/>
          </a:p>
        </p:txBody>
      </p:sp>
      <p:sp>
        <p:nvSpPr>
          <p:cNvPr id="13" name="Shape 11"/>
          <p:cNvSpPr/>
          <p:nvPr/>
        </p:nvSpPr>
        <p:spPr>
          <a:xfrm>
            <a:off x="566928" y="2743200"/>
            <a:ext cx="11064240" cy="932688"/>
          </a:xfrm>
          <a:prstGeom prst="roundRect">
            <a:avLst>
              <a:gd name="adj" fmla="val 5882"/>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14" name="Shape 12"/>
          <p:cNvSpPr/>
          <p:nvPr/>
        </p:nvSpPr>
        <p:spPr>
          <a:xfrm>
            <a:off x="841248" y="2999232"/>
            <a:ext cx="420624" cy="420624"/>
          </a:xfrm>
          <a:prstGeom prst="ellipse">
            <a:avLst/>
          </a:prstGeom>
          <a:solidFill>
            <a:srgbClr val="C77B24"/>
          </a:solidFill>
          <a:ln/>
        </p:spPr>
        <p:txBody>
          <a:bodyPr/>
          <a:lstStyle/>
          <a:p>
            <a:endParaRPr lang="en-US"/>
          </a:p>
        </p:txBody>
      </p:sp>
      <p:sp>
        <p:nvSpPr>
          <p:cNvPr id="15" name="Text 13"/>
          <p:cNvSpPr txBox="1"/>
          <p:nvPr/>
        </p:nvSpPr>
        <p:spPr>
          <a:xfrm>
            <a:off x="841248" y="2999232"/>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1463040" y="2889504"/>
            <a:ext cx="5577840" cy="685800"/>
          </a:xfrm>
          <a:prstGeom prst="rect">
            <a:avLst/>
          </a:prstGeom>
          <a:noFill/>
          <a:ln/>
        </p:spPr>
        <p:txBody>
          <a:bodyPr wrap="square" lIns="0" tIns="0" rIns="0" bIns="0" rtlCol="0" anchor="ctr"/>
          <a:lstStyle/>
          <a:p>
            <a:pPr marL="0" indent="0">
              <a:buNone/>
            </a:pPr>
            <a:r>
              <a:rPr lang="en-US" sz="1400" b="1" dirty="0">
                <a:solidFill>
                  <a:srgbClr val="14242E"/>
                </a:solidFill>
                <a:latin typeface="Calibri" pitchFamily="34" charset="0"/>
                <a:ea typeface="Calibri" pitchFamily="34" charset="-122"/>
                <a:cs typeface="Calibri" pitchFamily="34" charset="-120"/>
              </a:rPr>
              <a:t>Is the dominant requirement customisation or extensibility?</a:t>
            </a:r>
            <a:endParaRPr lang="en-US" sz="1400" dirty="0"/>
          </a:p>
        </p:txBody>
      </p:sp>
      <p:sp>
        <p:nvSpPr>
          <p:cNvPr id="17" name="Text 15"/>
          <p:cNvSpPr txBox="1"/>
          <p:nvPr/>
        </p:nvSpPr>
        <p:spPr>
          <a:xfrm>
            <a:off x="7223760" y="2889504"/>
            <a:ext cx="4160520" cy="6858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A product installed at customer sites, or per-jurisdiction rules, points straight at microkernel.</a:t>
            </a:r>
            <a:endParaRPr lang="en-US" sz="1200" dirty="0"/>
          </a:p>
        </p:txBody>
      </p:sp>
      <p:sp>
        <p:nvSpPr>
          <p:cNvPr id="18" name="Shape 16"/>
          <p:cNvSpPr/>
          <p:nvPr/>
        </p:nvSpPr>
        <p:spPr>
          <a:xfrm>
            <a:off x="566928" y="3730752"/>
            <a:ext cx="11064240" cy="932688"/>
          </a:xfrm>
          <a:prstGeom prst="roundRect">
            <a:avLst>
              <a:gd name="adj" fmla="val 5882"/>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19" name="Shape 17"/>
          <p:cNvSpPr/>
          <p:nvPr/>
        </p:nvSpPr>
        <p:spPr>
          <a:xfrm>
            <a:off x="841248" y="3986784"/>
            <a:ext cx="420624" cy="420624"/>
          </a:xfrm>
          <a:prstGeom prst="ellipse">
            <a:avLst/>
          </a:prstGeom>
          <a:solidFill>
            <a:srgbClr val="16807E"/>
          </a:solidFill>
          <a:ln/>
        </p:spPr>
        <p:txBody>
          <a:bodyPr/>
          <a:lstStyle/>
          <a:p>
            <a:endParaRPr lang="en-US"/>
          </a:p>
        </p:txBody>
      </p:sp>
      <p:sp>
        <p:nvSpPr>
          <p:cNvPr id="20" name="Text 18"/>
          <p:cNvSpPr txBox="1"/>
          <p:nvPr/>
        </p:nvSpPr>
        <p:spPr>
          <a:xfrm>
            <a:off x="841248" y="3986784"/>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1463040" y="3877056"/>
            <a:ext cx="5577840" cy="685800"/>
          </a:xfrm>
          <a:prstGeom prst="rect">
            <a:avLst/>
          </a:prstGeom>
          <a:noFill/>
          <a:ln/>
        </p:spPr>
        <p:txBody>
          <a:bodyPr wrap="square" lIns="0" tIns="0" rIns="0" bIns="0" rtlCol="0" anchor="ctr"/>
          <a:lstStyle/>
          <a:p>
            <a:pPr marL="0" indent="0">
              <a:buNone/>
            </a:pPr>
            <a:r>
              <a:rPr lang="en-US" sz="1400" b="1" dirty="0">
                <a:solidFill>
                  <a:srgbClr val="14242E"/>
                </a:solidFill>
                <a:latin typeface="Calibri" pitchFamily="34" charset="0"/>
                <a:ea typeface="Calibri" pitchFamily="34" charset="-122"/>
                <a:cs typeface="Calibri" pitchFamily="34" charset="-120"/>
              </a:rPr>
              <a:t>Can the domains share one database without fighting over it?</a:t>
            </a:r>
            <a:endParaRPr lang="en-US" sz="1400" dirty="0"/>
          </a:p>
        </p:txBody>
      </p:sp>
      <p:sp>
        <p:nvSpPr>
          <p:cNvPr id="22" name="Text 20"/>
          <p:cNvSpPr txBox="1"/>
          <p:nvPr/>
        </p:nvSpPr>
        <p:spPr>
          <a:xfrm>
            <a:off x="7223760" y="3877056"/>
            <a:ext cx="4160520" cy="6858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If yes, service-based keeps joins, ACID transactions and a much smaller bill.</a:t>
            </a:r>
            <a:endParaRPr lang="en-US" sz="1200" dirty="0"/>
          </a:p>
        </p:txBody>
      </p:sp>
      <p:sp>
        <p:nvSpPr>
          <p:cNvPr id="23" name="Shape 21"/>
          <p:cNvSpPr/>
          <p:nvPr/>
        </p:nvSpPr>
        <p:spPr>
          <a:xfrm>
            <a:off x="566928" y="4718304"/>
            <a:ext cx="11064240" cy="932688"/>
          </a:xfrm>
          <a:prstGeom prst="roundRect">
            <a:avLst>
              <a:gd name="adj" fmla="val 5882"/>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24" name="Shape 22"/>
          <p:cNvSpPr/>
          <p:nvPr/>
        </p:nvSpPr>
        <p:spPr>
          <a:xfrm>
            <a:off x="841248" y="4974336"/>
            <a:ext cx="420624" cy="420624"/>
          </a:xfrm>
          <a:prstGeom prst="ellipse">
            <a:avLst/>
          </a:prstGeom>
          <a:solidFill>
            <a:srgbClr val="B23F3A"/>
          </a:solidFill>
          <a:ln/>
        </p:spPr>
        <p:txBody>
          <a:bodyPr/>
          <a:lstStyle/>
          <a:p>
            <a:endParaRPr lang="en-US"/>
          </a:p>
        </p:txBody>
      </p:sp>
      <p:sp>
        <p:nvSpPr>
          <p:cNvPr id="25" name="Text 23"/>
          <p:cNvSpPr txBox="1"/>
          <p:nvPr/>
        </p:nvSpPr>
        <p:spPr>
          <a:xfrm>
            <a:off x="841248" y="4974336"/>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1463040" y="4864608"/>
            <a:ext cx="5577840" cy="685800"/>
          </a:xfrm>
          <a:prstGeom prst="rect">
            <a:avLst/>
          </a:prstGeom>
          <a:noFill/>
          <a:ln/>
        </p:spPr>
        <p:txBody>
          <a:bodyPr wrap="square" lIns="0" tIns="0" rIns="0" bIns="0" rtlCol="0" anchor="ctr"/>
          <a:lstStyle/>
          <a:p>
            <a:pPr marL="0" indent="0">
              <a:buNone/>
            </a:pPr>
            <a:r>
              <a:rPr lang="en-US" sz="1400" b="1" dirty="0">
                <a:solidFill>
                  <a:srgbClr val="14242E"/>
                </a:solidFill>
                <a:latin typeface="Calibri" pitchFamily="34" charset="0"/>
                <a:ea typeface="Calibri" pitchFamily="34" charset="-122"/>
                <a:cs typeface="Calibri" pitchFamily="34" charset="-120"/>
              </a:rPr>
              <a:t>Do different domains need genuinely different scale and elasticity?</a:t>
            </a:r>
            <a:endParaRPr lang="en-US" sz="1400" dirty="0"/>
          </a:p>
        </p:txBody>
      </p:sp>
      <p:sp>
        <p:nvSpPr>
          <p:cNvPr id="27" name="Text 25"/>
          <p:cNvSpPr txBox="1"/>
          <p:nvPr/>
        </p:nvSpPr>
        <p:spPr>
          <a:xfrm>
            <a:off x="7223760" y="4864608"/>
            <a:ext cx="4160520" cy="685800"/>
          </a:xfrm>
          <a:prstGeom prst="rect">
            <a:avLst/>
          </a:prstGeom>
          <a:noFill/>
          <a:ln/>
        </p:spPr>
        <p:txBody>
          <a:bodyPr wrap="square" lIns="0" tIns="0" rIns="0" bIns="0" rtlCol="0" anchor="ctr"/>
          <a:lstStyle/>
          <a:p>
            <a:pPr marL="0" indent="0">
              <a:buNone/>
            </a:pPr>
            <a:r>
              <a:rPr lang="en-US" sz="1200" dirty="0">
                <a:solidFill>
                  <a:srgbClr val="1F3644"/>
                </a:solidFill>
                <a:latin typeface="Calibri" pitchFamily="34" charset="0"/>
                <a:ea typeface="Calibri" pitchFamily="34" charset="-122"/>
                <a:cs typeface="Calibri" pitchFamily="34" charset="-120"/>
              </a:rPr>
              <a:t>Only then does per-service deployment and data isolation earn its cost. Microservices.</a:t>
            </a:r>
            <a:endParaRPr lang="en-US" sz="1200" dirty="0"/>
          </a:p>
        </p:txBody>
      </p:sp>
      <p:sp>
        <p:nvSpPr>
          <p:cNvPr id="28" name="Shape 26"/>
          <p:cNvSpPr/>
          <p:nvPr/>
        </p:nvSpPr>
        <p:spPr>
          <a:xfrm>
            <a:off x="566928" y="5760720"/>
            <a:ext cx="11064240" cy="502920"/>
          </a:xfrm>
          <a:prstGeom prst="roundRect">
            <a:avLst>
              <a:gd name="adj" fmla="val 10909"/>
            </a:avLst>
          </a:prstGeom>
          <a:solidFill>
            <a:srgbClr val="14242E"/>
          </a:solidFill>
          <a:ln w="6350">
            <a:solidFill>
              <a:srgbClr val="14242E"/>
            </a:solidFill>
            <a:prstDash val="solid"/>
          </a:ln>
        </p:spPr>
        <p:txBody>
          <a:bodyPr/>
          <a:lstStyle/>
          <a:p>
            <a:endParaRPr lang="en-US"/>
          </a:p>
        </p:txBody>
      </p:sp>
      <p:sp>
        <p:nvSpPr>
          <p:cNvPr id="29" name="Text 27"/>
          <p:cNvSpPr txBox="1"/>
          <p:nvPr/>
        </p:nvSpPr>
        <p:spPr>
          <a:xfrm>
            <a:off x="566928" y="5760720"/>
            <a:ext cx="11064240" cy="502920"/>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100" i="1" dirty="0">
                <a:solidFill>
                  <a:srgbClr val="C9D6DC"/>
                </a:solidFill>
                <a:latin typeface="Calibri" pitchFamily="34" charset="0"/>
                <a:ea typeface="Calibri" pitchFamily="34" charset="-122"/>
                <a:cs typeface="Calibri" pitchFamily="34" charset="-120"/>
              </a:rPr>
              <a:t>Domain/architecture isomorphism: highly coupled problems resist highly decoupled architectures. A multi-page form whose every page depends on the last does not want to be microservices.</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Evolution paths, anti-patterns and course context</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23</a:t>
            </a:r>
            <a:endParaRPr lang="en-US" sz="1000" dirty="0"/>
          </a:p>
        </p:txBody>
      </p:sp>
      <p:sp>
        <p:nvSpPr>
          <p:cNvPr id="7" name="Text 5"/>
          <p:cNvSpPr txBox="1"/>
          <p:nvPr/>
        </p:nvSpPr>
        <p:spPr>
          <a:xfrm>
            <a:off x="566928" y="1188720"/>
            <a:ext cx="11064240" cy="310896"/>
          </a:xfrm>
          <a:prstGeom prst="rect">
            <a:avLst/>
          </a:prstGeom>
          <a:noFill/>
          <a:ln/>
        </p:spPr>
        <p:txBody>
          <a:bodyPr wrap="square" lIns="0" tIns="0" rIns="0" bIns="0" rtlCol="0" anchor="ctr"/>
          <a:lstStyle/>
          <a:p>
            <a:pPr marL="0" indent="0">
              <a:buNone/>
            </a:pPr>
            <a:r>
              <a:rPr lang="en-US" sz="1500" b="1" dirty="0">
                <a:solidFill>
                  <a:srgbClr val="14242E"/>
                </a:solidFill>
                <a:latin typeface="Calibri" pitchFamily="34" charset="0"/>
                <a:ea typeface="Calibri" pitchFamily="34" charset="-122"/>
                <a:cs typeface="Calibri" pitchFamily="34" charset="-120"/>
              </a:rPr>
              <a:t>A common — and defensible — migration path</a:t>
            </a:r>
            <a:endParaRPr lang="en-US" sz="1500" dirty="0"/>
          </a:p>
        </p:txBody>
      </p:sp>
      <p:sp>
        <p:nvSpPr>
          <p:cNvPr id="8" name="Shape 6"/>
          <p:cNvSpPr/>
          <p:nvPr/>
        </p:nvSpPr>
        <p:spPr>
          <a:xfrm>
            <a:off x="566928" y="1600200"/>
            <a:ext cx="2468880" cy="566928"/>
          </a:xfrm>
          <a:prstGeom prst="roundRect">
            <a:avLst>
              <a:gd name="adj" fmla="val 8065"/>
            </a:avLst>
          </a:prstGeom>
          <a:solidFill>
            <a:srgbClr val="1F3644"/>
          </a:solidFill>
          <a:ln w="12700">
            <a:solidFill>
              <a:srgbClr val="1F3644"/>
            </a:solidFill>
            <a:prstDash val="solid"/>
          </a:ln>
        </p:spPr>
        <p:txBody>
          <a:bodyPr/>
          <a:lstStyle/>
          <a:p>
            <a:endParaRPr lang="en-US"/>
          </a:p>
        </p:txBody>
      </p:sp>
      <p:sp>
        <p:nvSpPr>
          <p:cNvPr id="9" name="Text 7"/>
          <p:cNvSpPr txBox="1"/>
          <p:nvPr/>
        </p:nvSpPr>
        <p:spPr>
          <a:xfrm>
            <a:off x="566928" y="1600200"/>
            <a:ext cx="2468880" cy="566928"/>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Monolith</a:t>
            </a:r>
            <a:endParaRPr lang="en-US" sz="1300" dirty="0"/>
          </a:p>
        </p:txBody>
      </p:sp>
      <p:sp>
        <p:nvSpPr>
          <p:cNvPr id="10" name="Shape 8"/>
          <p:cNvSpPr/>
          <p:nvPr/>
        </p:nvSpPr>
        <p:spPr>
          <a:xfrm>
            <a:off x="3090672" y="1883664"/>
            <a:ext cx="292608" cy="0"/>
          </a:xfrm>
          <a:prstGeom prst="line">
            <a:avLst/>
          </a:prstGeom>
          <a:noFill/>
          <a:ln w="19050">
            <a:solidFill>
              <a:srgbClr val="62757F"/>
            </a:solidFill>
            <a:prstDash val="solid"/>
            <a:tailEnd type="triangle"/>
          </a:ln>
        </p:spPr>
        <p:txBody>
          <a:bodyPr/>
          <a:lstStyle/>
          <a:p>
            <a:endParaRPr lang="en-US"/>
          </a:p>
        </p:txBody>
      </p:sp>
      <p:sp>
        <p:nvSpPr>
          <p:cNvPr id="11" name="Shape 9"/>
          <p:cNvSpPr/>
          <p:nvPr/>
        </p:nvSpPr>
        <p:spPr>
          <a:xfrm>
            <a:off x="3438144" y="1600200"/>
            <a:ext cx="2468880" cy="566928"/>
          </a:xfrm>
          <a:prstGeom prst="roundRect">
            <a:avLst>
              <a:gd name="adj" fmla="val 8065"/>
            </a:avLst>
          </a:prstGeom>
          <a:solidFill>
            <a:srgbClr val="1F3644"/>
          </a:solidFill>
          <a:ln w="12700">
            <a:solidFill>
              <a:srgbClr val="1F3644"/>
            </a:solidFill>
            <a:prstDash val="solid"/>
          </a:ln>
        </p:spPr>
        <p:txBody>
          <a:bodyPr/>
          <a:lstStyle/>
          <a:p>
            <a:endParaRPr lang="en-US"/>
          </a:p>
        </p:txBody>
      </p:sp>
      <p:sp>
        <p:nvSpPr>
          <p:cNvPr id="12" name="Text 10"/>
          <p:cNvSpPr txBox="1"/>
          <p:nvPr/>
        </p:nvSpPr>
        <p:spPr>
          <a:xfrm>
            <a:off x="3438144" y="1600200"/>
            <a:ext cx="2468880" cy="566928"/>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Modular monolith</a:t>
            </a:r>
            <a:endParaRPr lang="en-US" sz="1300" dirty="0"/>
          </a:p>
        </p:txBody>
      </p:sp>
      <p:sp>
        <p:nvSpPr>
          <p:cNvPr id="13" name="Shape 11"/>
          <p:cNvSpPr/>
          <p:nvPr/>
        </p:nvSpPr>
        <p:spPr>
          <a:xfrm>
            <a:off x="5961888" y="1883664"/>
            <a:ext cx="292608" cy="0"/>
          </a:xfrm>
          <a:prstGeom prst="line">
            <a:avLst/>
          </a:prstGeom>
          <a:noFill/>
          <a:ln w="19050">
            <a:solidFill>
              <a:srgbClr val="62757F"/>
            </a:solidFill>
            <a:prstDash val="solid"/>
            <a:tailEnd type="triangle"/>
          </a:ln>
        </p:spPr>
        <p:txBody>
          <a:bodyPr/>
          <a:lstStyle/>
          <a:p>
            <a:endParaRPr lang="en-US"/>
          </a:p>
        </p:txBody>
      </p:sp>
      <p:sp>
        <p:nvSpPr>
          <p:cNvPr id="14" name="Shape 12"/>
          <p:cNvSpPr/>
          <p:nvPr/>
        </p:nvSpPr>
        <p:spPr>
          <a:xfrm>
            <a:off x="6309360" y="1600200"/>
            <a:ext cx="2468880" cy="566928"/>
          </a:xfrm>
          <a:prstGeom prst="roundRect">
            <a:avLst>
              <a:gd name="adj" fmla="val 8065"/>
            </a:avLst>
          </a:prstGeom>
          <a:solidFill>
            <a:srgbClr val="16807E"/>
          </a:solidFill>
          <a:ln w="12700">
            <a:solidFill>
              <a:srgbClr val="16807E"/>
            </a:solidFill>
            <a:prstDash val="solid"/>
          </a:ln>
        </p:spPr>
        <p:txBody>
          <a:bodyPr/>
          <a:lstStyle/>
          <a:p>
            <a:endParaRPr lang="en-US"/>
          </a:p>
        </p:txBody>
      </p:sp>
      <p:sp>
        <p:nvSpPr>
          <p:cNvPr id="15" name="Text 13"/>
          <p:cNvSpPr txBox="1"/>
          <p:nvPr/>
        </p:nvSpPr>
        <p:spPr>
          <a:xfrm>
            <a:off x="6309360" y="1600200"/>
            <a:ext cx="2468880" cy="566928"/>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Service-based</a:t>
            </a:r>
            <a:endParaRPr lang="en-US" sz="1300" dirty="0"/>
          </a:p>
        </p:txBody>
      </p:sp>
      <p:sp>
        <p:nvSpPr>
          <p:cNvPr id="16" name="Shape 14"/>
          <p:cNvSpPr/>
          <p:nvPr/>
        </p:nvSpPr>
        <p:spPr>
          <a:xfrm>
            <a:off x="8833104" y="1883664"/>
            <a:ext cx="292608" cy="0"/>
          </a:xfrm>
          <a:prstGeom prst="line">
            <a:avLst/>
          </a:prstGeom>
          <a:noFill/>
          <a:ln w="19050">
            <a:solidFill>
              <a:srgbClr val="62757F"/>
            </a:solidFill>
            <a:prstDash val="solid"/>
            <a:tailEnd type="triangle"/>
          </a:ln>
        </p:spPr>
        <p:txBody>
          <a:bodyPr/>
          <a:lstStyle/>
          <a:p>
            <a:endParaRPr lang="en-US"/>
          </a:p>
        </p:txBody>
      </p:sp>
      <p:sp>
        <p:nvSpPr>
          <p:cNvPr id="17" name="Shape 15"/>
          <p:cNvSpPr/>
          <p:nvPr/>
        </p:nvSpPr>
        <p:spPr>
          <a:xfrm>
            <a:off x="9180576" y="1600200"/>
            <a:ext cx="2468880" cy="566928"/>
          </a:xfrm>
          <a:prstGeom prst="roundRect">
            <a:avLst>
              <a:gd name="adj" fmla="val 8065"/>
            </a:avLst>
          </a:prstGeom>
          <a:solidFill>
            <a:srgbClr val="B23F3A"/>
          </a:solidFill>
          <a:ln w="12700">
            <a:solidFill>
              <a:srgbClr val="B23F3A"/>
            </a:solidFill>
            <a:prstDash val="solid"/>
          </a:ln>
        </p:spPr>
        <p:txBody>
          <a:bodyPr/>
          <a:lstStyle/>
          <a:p>
            <a:endParaRPr lang="en-US"/>
          </a:p>
        </p:txBody>
      </p:sp>
      <p:sp>
        <p:nvSpPr>
          <p:cNvPr id="18" name="Text 16"/>
          <p:cNvSpPr txBox="1"/>
          <p:nvPr/>
        </p:nvSpPr>
        <p:spPr>
          <a:xfrm>
            <a:off x="9180576" y="1600200"/>
            <a:ext cx="2468880" cy="566928"/>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Microservices</a:t>
            </a:r>
            <a:endParaRPr lang="en-US" sz="1300" dirty="0"/>
          </a:p>
        </p:txBody>
      </p:sp>
      <p:sp>
        <p:nvSpPr>
          <p:cNvPr id="19" name="Text 17"/>
          <p:cNvSpPr txBox="1"/>
          <p:nvPr/>
        </p:nvSpPr>
        <p:spPr>
          <a:xfrm>
            <a:off x="566928" y="2267712"/>
            <a:ext cx="11064240" cy="384048"/>
          </a:xfrm>
          <a:prstGeom prst="rect">
            <a:avLst/>
          </a:prstGeom>
          <a:noFill/>
          <a:ln/>
        </p:spPr>
        <p:txBody>
          <a:bodyPr wrap="square" lIns="0" tIns="0" rIns="0" bIns="0" rtlCol="0" anchor="t"/>
          <a:lstStyle/>
          <a:p>
            <a:pPr marL="0" indent="0" algn="l">
              <a:buNone/>
            </a:pPr>
            <a:r>
              <a:rPr lang="en-US" sz="1250" i="1" dirty="0">
                <a:solidFill>
                  <a:srgbClr val="62757F"/>
                </a:solidFill>
                <a:latin typeface="Calibri" pitchFamily="34" charset="0"/>
                <a:ea typeface="Calibri" pitchFamily="34" charset="-122"/>
                <a:cs typeface="Calibri" pitchFamily="34" charset="-120"/>
              </a:rPr>
              <a:t>Each arrow should be justified by a requirement, not by momentum. Service-based is a legitimate destination, not merely a waypoint — most organisations that stop there are better served than those that continue.</a:t>
            </a:r>
            <a:endParaRPr lang="en-US" sz="1250" dirty="0"/>
          </a:p>
        </p:txBody>
      </p:sp>
      <p:sp>
        <p:nvSpPr>
          <p:cNvPr id="20" name="Text 18"/>
          <p:cNvSpPr txBox="1"/>
          <p:nvPr/>
        </p:nvSpPr>
        <p:spPr>
          <a:xfrm>
            <a:off x="566928" y="2788920"/>
            <a:ext cx="5349240" cy="310896"/>
          </a:xfrm>
          <a:prstGeom prst="rect">
            <a:avLst/>
          </a:prstGeom>
          <a:noFill/>
          <a:ln/>
        </p:spPr>
        <p:txBody>
          <a:bodyPr wrap="square" lIns="0" tIns="0" rIns="0" bIns="0" rtlCol="0" anchor="ctr"/>
          <a:lstStyle/>
          <a:p>
            <a:pPr marL="0" indent="0">
              <a:buNone/>
            </a:pPr>
            <a:r>
              <a:rPr lang="en-US" sz="1500" b="1" dirty="0">
                <a:solidFill>
                  <a:srgbClr val="B23F3A"/>
                </a:solidFill>
                <a:latin typeface="Calibri" pitchFamily="34" charset="0"/>
                <a:ea typeface="Calibri" pitchFamily="34" charset="-122"/>
                <a:cs typeface="Calibri" pitchFamily="34" charset="-120"/>
              </a:rPr>
              <a:t>Anti-patterns to watch for</a:t>
            </a:r>
            <a:endParaRPr lang="en-US" sz="1500" dirty="0"/>
          </a:p>
        </p:txBody>
      </p:sp>
      <p:sp>
        <p:nvSpPr>
          <p:cNvPr id="21" name="Text 19"/>
          <p:cNvSpPr txBox="1"/>
          <p:nvPr/>
        </p:nvSpPr>
        <p:spPr>
          <a:xfrm>
            <a:off x="566928" y="3200400"/>
            <a:ext cx="5349240" cy="2377440"/>
          </a:xfrm>
          <a:prstGeom prst="rect">
            <a:avLst/>
          </a:prstGeom>
          <a:noFill/>
          <a:ln/>
        </p:spPr>
        <p:txBody>
          <a:bodyPr wrap="square" lIns="0" tIns="0" rIns="0" bIns="0" rtlCol="0" anchor="t"/>
          <a:lstStyle/>
          <a:p>
            <a:pPr marL="342900" indent="-342900" algn="l">
              <a:spcAft>
                <a:spcPts val="800"/>
              </a:spcAft>
              <a:buSzPct val="100000"/>
              <a:buChar char="•"/>
            </a:pPr>
            <a:r>
              <a:rPr lang="en-US" sz="1250" dirty="0">
                <a:solidFill>
                  <a:srgbClr val="1F3644"/>
                </a:solidFill>
                <a:latin typeface="Calibri" pitchFamily="34" charset="0"/>
                <a:ea typeface="Calibri" pitchFamily="34" charset="-122"/>
                <a:cs typeface="Calibri" pitchFamily="34" charset="-120"/>
              </a:rPr>
              <a:t>Distributed monolith — services that must be deployed together. All the cost of distribution, none of the independence.</a:t>
            </a:r>
            <a:endParaRPr lang="en-US" sz="1250" dirty="0"/>
          </a:p>
          <a:p>
            <a:pPr marL="342900" indent="-342900" algn="l">
              <a:spcAft>
                <a:spcPts val="800"/>
              </a:spcAft>
              <a:buSzPct val="100000"/>
              <a:buChar char="•"/>
            </a:pPr>
            <a:r>
              <a:rPr lang="en-US" sz="1250" dirty="0">
                <a:solidFill>
                  <a:srgbClr val="1F3644"/>
                </a:solidFill>
                <a:latin typeface="Calibri" pitchFamily="34" charset="0"/>
                <a:ea typeface="Calibri" pitchFamily="34" charset="-122"/>
                <a:cs typeface="Calibri" pitchFamily="34" charset="-120"/>
              </a:rPr>
              <a:t>The entity trap — one service per database table.</a:t>
            </a:r>
            <a:endParaRPr lang="en-US" sz="1250" dirty="0"/>
          </a:p>
          <a:p>
            <a:pPr marL="342900" indent="-342900" algn="l">
              <a:spcAft>
                <a:spcPts val="800"/>
              </a:spcAft>
              <a:buSzPct val="100000"/>
              <a:buChar char="•"/>
            </a:pPr>
            <a:r>
              <a:rPr lang="en-US" sz="1250" dirty="0">
                <a:solidFill>
                  <a:srgbClr val="1F3644"/>
                </a:solidFill>
                <a:latin typeface="Calibri" pitchFamily="34" charset="0"/>
                <a:ea typeface="Calibri" pitchFamily="34" charset="-122"/>
                <a:cs typeface="Calibri" pitchFamily="34" charset="-120"/>
              </a:rPr>
              <a:t>Architecture by implication — starting to code without naming the style, then discovering it by accident.</a:t>
            </a:r>
            <a:endParaRPr lang="en-US" sz="1250" dirty="0"/>
          </a:p>
          <a:p>
            <a:pPr marL="342900" indent="-342900" algn="l">
              <a:spcAft>
                <a:spcPts val="800"/>
              </a:spcAft>
              <a:buSzPct val="100000"/>
              <a:buChar char="•"/>
            </a:pPr>
            <a:r>
              <a:rPr lang="en-US" sz="1250" dirty="0">
                <a:solidFill>
                  <a:srgbClr val="1F3644"/>
                </a:solidFill>
                <a:latin typeface="Calibri" pitchFamily="34" charset="0"/>
                <a:ea typeface="Calibri" pitchFamily="34" charset="-122"/>
                <a:cs typeface="Calibri" pitchFamily="34" charset="-120"/>
              </a:rPr>
              <a:t>Groundhog Day — re-arguing the same decision because nobody recorded why it was made.</a:t>
            </a:r>
            <a:endParaRPr lang="en-US" sz="1250" dirty="0"/>
          </a:p>
        </p:txBody>
      </p:sp>
      <p:sp>
        <p:nvSpPr>
          <p:cNvPr id="22" name="Text 20"/>
          <p:cNvSpPr txBox="1"/>
          <p:nvPr/>
        </p:nvSpPr>
        <p:spPr>
          <a:xfrm>
            <a:off x="6281928" y="2788920"/>
            <a:ext cx="5349240" cy="310896"/>
          </a:xfrm>
          <a:prstGeom prst="rect">
            <a:avLst/>
          </a:prstGeom>
          <a:noFill/>
          <a:ln/>
        </p:spPr>
        <p:txBody>
          <a:bodyPr wrap="square" lIns="0" tIns="0" rIns="0" bIns="0" rtlCol="0" anchor="ctr"/>
          <a:lstStyle/>
          <a:p>
            <a:pPr marL="0" indent="0">
              <a:buNone/>
            </a:pPr>
            <a:r>
              <a:rPr lang="en-US" sz="1500" b="1" dirty="0">
                <a:solidFill>
                  <a:srgbClr val="16807E"/>
                </a:solidFill>
                <a:latin typeface="Calibri" pitchFamily="34" charset="0"/>
                <a:ea typeface="Calibri" pitchFamily="34" charset="-122"/>
                <a:cs typeface="Calibri" pitchFamily="34" charset="-120"/>
              </a:rPr>
              <a:t>How this connects to the rest of the course</a:t>
            </a:r>
            <a:endParaRPr lang="en-US" sz="1500" dirty="0"/>
          </a:p>
        </p:txBody>
      </p:sp>
      <p:sp>
        <p:nvSpPr>
          <p:cNvPr id="23" name="Shape 21"/>
          <p:cNvSpPr/>
          <p:nvPr/>
        </p:nvSpPr>
        <p:spPr>
          <a:xfrm>
            <a:off x="6309360" y="3264408"/>
            <a:ext cx="182880" cy="182880"/>
          </a:xfrm>
          <a:prstGeom prst="ellipse">
            <a:avLst/>
          </a:prstGeom>
          <a:solidFill>
            <a:srgbClr val="16807E"/>
          </a:solidFill>
          <a:ln/>
        </p:spPr>
        <p:txBody>
          <a:bodyPr/>
          <a:lstStyle/>
          <a:p>
            <a:endParaRPr lang="en-US"/>
          </a:p>
        </p:txBody>
      </p:sp>
      <p:sp>
        <p:nvSpPr>
          <p:cNvPr id="24" name="Text 22"/>
          <p:cNvSpPr txBox="1"/>
          <p:nvPr/>
        </p:nvSpPr>
        <p:spPr>
          <a:xfrm>
            <a:off x="6620256" y="3200400"/>
            <a:ext cx="4983480" cy="256032"/>
          </a:xfrm>
          <a:prstGeom prst="rect">
            <a:avLst/>
          </a:prstGeom>
          <a:noFill/>
          <a:ln/>
        </p:spPr>
        <p:txBody>
          <a:bodyPr wrap="square" lIns="0" tIns="0" rIns="0" bIns="0" rtlCol="0" anchor="ctr"/>
          <a:lstStyle/>
          <a:p>
            <a:pPr marL="0" indent="0">
              <a:buNone/>
            </a:pPr>
            <a:r>
              <a:rPr lang="en-US" sz="1250" b="1" dirty="0">
                <a:solidFill>
                  <a:srgbClr val="14242E"/>
                </a:solidFill>
                <a:latin typeface="Calibri" pitchFamily="34" charset="0"/>
                <a:ea typeface="Calibri" pitchFamily="34" charset="-122"/>
                <a:cs typeface="Calibri" pitchFamily="34" charset="-120"/>
              </a:rPr>
              <a:t>Domain-driven design</a:t>
            </a:r>
            <a:endParaRPr lang="en-US" sz="1250" dirty="0"/>
          </a:p>
        </p:txBody>
      </p:sp>
      <p:sp>
        <p:nvSpPr>
          <p:cNvPr id="25" name="Text 23"/>
          <p:cNvSpPr txBox="1"/>
          <p:nvPr/>
        </p:nvSpPr>
        <p:spPr>
          <a:xfrm>
            <a:off x="6620256" y="3456432"/>
            <a:ext cx="4983480" cy="347472"/>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Bounded contexts are the vocabulary microservices boundaries are drawn in.</a:t>
            </a:r>
            <a:endParaRPr lang="en-US" sz="1150" dirty="0"/>
          </a:p>
        </p:txBody>
      </p:sp>
      <p:sp>
        <p:nvSpPr>
          <p:cNvPr id="26" name="Shape 24"/>
          <p:cNvSpPr/>
          <p:nvPr/>
        </p:nvSpPr>
        <p:spPr>
          <a:xfrm>
            <a:off x="6309360" y="3922776"/>
            <a:ext cx="182880" cy="182880"/>
          </a:xfrm>
          <a:prstGeom prst="ellipse">
            <a:avLst/>
          </a:prstGeom>
          <a:solidFill>
            <a:srgbClr val="16807E"/>
          </a:solidFill>
          <a:ln/>
        </p:spPr>
        <p:txBody>
          <a:bodyPr/>
          <a:lstStyle/>
          <a:p>
            <a:endParaRPr lang="en-US"/>
          </a:p>
        </p:txBody>
      </p:sp>
      <p:sp>
        <p:nvSpPr>
          <p:cNvPr id="27" name="Text 25"/>
          <p:cNvSpPr txBox="1"/>
          <p:nvPr/>
        </p:nvSpPr>
        <p:spPr>
          <a:xfrm>
            <a:off x="6620256" y="3858768"/>
            <a:ext cx="4983480" cy="256032"/>
          </a:xfrm>
          <a:prstGeom prst="rect">
            <a:avLst/>
          </a:prstGeom>
          <a:noFill/>
          <a:ln/>
        </p:spPr>
        <p:txBody>
          <a:bodyPr wrap="square" lIns="0" tIns="0" rIns="0" bIns="0" rtlCol="0" anchor="ctr"/>
          <a:lstStyle/>
          <a:p>
            <a:pPr marL="0" indent="0">
              <a:buNone/>
            </a:pPr>
            <a:r>
              <a:rPr lang="en-US" sz="1250" b="1" dirty="0">
                <a:solidFill>
                  <a:srgbClr val="14242E"/>
                </a:solidFill>
                <a:latin typeface="Calibri" pitchFamily="34" charset="0"/>
                <a:ea typeface="Calibri" pitchFamily="34" charset="-122"/>
                <a:cs typeface="Calibri" pitchFamily="34" charset="-120"/>
              </a:rPr>
              <a:t>Microservices patterns &amp; migration</a:t>
            </a:r>
            <a:endParaRPr lang="en-US" sz="1250" dirty="0"/>
          </a:p>
        </p:txBody>
      </p:sp>
      <p:sp>
        <p:nvSpPr>
          <p:cNvPr id="28" name="Text 26"/>
          <p:cNvSpPr txBox="1"/>
          <p:nvPr/>
        </p:nvSpPr>
        <p:spPr>
          <a:xfrm>
            <a:off x="6620256" y="4114800"/>
            <a:ext cx="4983480" cy="347472"/>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Sagas, strangler fig and database decomposition pick up where this talk stops.</a:t>
            </a:r>
            <a:endParaRPr lang="en-US" sz="1150" dirty="0"/>
          </a:p>
        </p:txBody>
      </p:sp>
      <p:sp>
        <p:nvSpPr>
          <p:cNvPr id="29" name="Shape 27"/>
          <p:cNvSpPr/>
          <p:nvPr/>
        </p:nvSpPr>
        <p:spPr>
          <a:xfrm>
            <a:off x="6309360" y="4581144"/>
            <a:ext cx="182880" cy="182880"/>
          </a:xfrm>
          <a:prstGeom prst="ellipse">
            <a:avLst/>
          </a:prstGeom>
          <a:solidFill>
            <a:srgbClr val="16807E"/>
          </a:solidFill>
          <a:ln/>
        </p:spPr>
        <p:txBody>
          <a:bodyPr/>
          <a:lstStyle/>
          <a:p>
            <a:endParaRPr lang="en-US"/>
          </a:p>
        </p:txBody>
      </p:sp>
      <p:sp>
        <p:nvSpPr>
          <p:cNvPr id="30" name="Text 28"/>
          <p:cNvSpPr txBox="1"/>
          <p:nvPr/>
        </p:nvSpPr>
        <p:spPr>
          <a:xfrm>
            <a:off x="6620256" y="4517136"/>
            <a:ext cx="4983480" cy="256032"/>
          </a:xfrm>
          <a:prstGeom prst="rect">
            <a:avLst/>
          </a:prstGeom>
          <a:noFill/>
          <a:ln/>
        </p:spPr>
        <p:txBody>
          <a:bodyPr wrap="square" lIns="0" tIns="0" rIns="0" bIns="0" rtlCol="0" anchor="ctr"/>
          <a:lstStyle/>
          <a:p>
            <a:pPr marL="0" indent="0">
              <a:buNone/>
            </a:pPr>
            <a:r>
              <a:rPr lang="en-US" sz="1250" b="1" dirty="0">
                <a:solidFill>
                  <a:srgbClr val="14242E"/>
                </a:solidFill>
                <a:latin typeface="Calibri" pitchFamily="34" charset="0"/>
                <a:ea typeface="Calibri" pitchFamily="34" charset="-122"/>
                <a:cs typeface="Calibri" pitchFamily="34" charset="-120"/>
              </a:rPr>
              <a:t>API design (REST, GraphQL, gRPC)</a:t>
            </a:r>
            <a:endParaRPr lang="en-US" sz="1250" dirty="0"/>
          </a:p>
        </p:txBody>
      </p:sp>
      <p:sp>
        <p:nvSpPr>
          <p:cNvPr id="31" name="Text 29"/>
          <p:cNvSpPr txBox="1"/>
          <p:nvPr/>
        </p:nvSpPr>
        <p:spPr>
          <a:xfrm>
            <a:off x="6620256" y="4773168"/>
            <a:ext cx="4983480" cy="347472"/>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The contract between services is where granularity decisions become visible.</a:t>
            </a:r>
            <a:endParaRPr lang="en-US" sz="1150" dirty="0"/>
          </a:p>
        </p:txBody>
      </p:sp>
      <p:sp>
        <p:nvSpPr>
          <p:cNvPr id="32" name="Shape 30"/>
          <p:cNvSpPr/>
          <p:nvPr/>
        </p:nvSpPr>
        <p:spPr>
          <a:xfrm>
            <a:off x="6309360" y="5239512"/>
            <a:ext cx="182880" cy="182880"/>
          </a:xfrm>
          <a:prstGeom prst="ellipse">
            <a:avLst/>
          </a:prstGeom>
          <a:solidFill>
            <a:srgbClr val="16807E"/>
          </a:solidFill>
          <a:ln/>
        </p:spPr>
        <p:txBody>
          <a:bodyPr/>
          <a:lstStyle/>
          <a:p>
            <a:endParaRPr lang="en-US"/>
          </a:p>
        </p:txBody>
      </p:sp>
      <p:sp>
        <p:nvSpPr>
          <p:cNvPr id="33" name="Text 31"/>
          <p:cNvSpPr txBox="1"/>
          <p:nvPr/>
        </p:nvSpPr>
        <p:spPr>
          <a:xfrm>
            <a:off x="6620256" y="5175504"/>
            <a:ext cx="4983480" cy="256032"/>
          </a:xfrm>
          <a:prstGeom prst="rect">
            <a:avLst/>
          </a:prstGeom>
          <a:noFill/>
          <a:ln/>
        </p:spPr>
        <p:txBody>
          <a:bodyPr wrap="square" lIns="0" tIns="0" rIns="0" bIns="0" rtlCol="0" anchor="ctr"/>
          <a:lstStyle/>
          <a:p>
            <a:pPr marL="0" indent="0">
              <a:buNone/>
            </a:pPr>
            <a:r>
              <a:rPr lang="en-US" sz="1250" b="1" dirty="0">
                <a:solidFill>
                  <a:srgbClr val="14242E"/>
                </a:solidFill>
                <a:latin typeface="Calibri" pitchFamily="34" charset="0"/>
                <a:ea typeface="Calibri" pitchFamily="34" charset="-122"/>
                <a:cs typeface="Calibri" pitchFamily="34" charset="-120"/>
              </a:rPr>
              <a:t>Event-driven architecture</a:t>
            </a:r>
            <a:endParaRPr lang="en-US" sz="1250" dirty="0"/>
          </a:p>
        </p:txBody>
      </p:sp>
      <p:sp>
        <p:nvSpPr>
          <p:cNvPr id="34" name="Text 32"/>
          <p:cNvSpPr txBox="1"/>
          <p:nvPr/>
        </p:nvSpPr>
        <p:spPr>
          <a:xfrm>
            <a:off x="6620256" y="5431536"/>
            <a:ext cx="4983480" cy="347472"/>
          </a:xfrm>
          <a:prstGeom prst="rect">
            <a:avLst/>
          </a:prstGeom>
          <a:noFill/>
          <a:ln/>
        </p:spPr>
        <p:txBody>
          <a:bodyPr wrap="square" lIns="0" tIns="0" rIns="0" bIns="0" rtlCol="0" anchor="ctr"/>
          <a:lstStyle/>
          <a:p>
            <a:pPr marL="0" indent="0">
              <a:buNone/>
            </a:pPr>
            <a:r>
              <a:rPr lang="en-US" sz="1150" dirty="0">
                <a:solidFill>
                  <a:srgbClr val="1F3644"/>
                </a:solidFill>
                <a:latin typeface="Calibri" pitchFamily="34" charset="0"/>
                <a:ea typeface="Calibri" pitchFamily="34" charset="-122"/>
                <a:cs typeface="Calibri" pitchFamily="34" charset="-120"/>
              </a:rPr>
              <a:t>The asynchronous alternative to the request-response coupling assumed here.</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F3FFE7-137A-5E8C-FA22-9ABF77598529}"/>
            </a:ext>
          </a:extLst>
        </p:cNvPr>
        <p:cNvGrpSpPr/>
        <p:nvPr/>
      </p:nvGrpSpPr>
      <p:grpSpPr>
        <a:xfrm>
          <a:off x="0" y="0"/>
          <a:ext cx="0" cy="0"/>
          <a:chOff x="0" y="0"/>
          <a:chExt cx="0" cy="0"/>
        </a:xfrm>
      </p:grpSpPr>
      <p:sp>
        <p:nvSpPr>
          <p:cNvPr id="38" name="Text 1">
            <a:extLst>
              <a:ext uri="{FF2B5EF4-FFF2-40B4-BE49-F238E27FC236}">
                <a16:creationId xmlns:a16="http://schemas.microsoft.com/office/drawing/2014/main" id="{08FED1B9-2A7A-A0DB-84B8-A39AAEB77434}"/>
              </a:ext>
            </a:extLst>
          </p:cNvPr>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latin typeface="Cambria" pitchFamily="34" charset="0"/>
                <a:ea typeface="Cambria" pitchFamily="34" charset="-122"/>
                <a:cs typeface="Cambria" pitchFamily="34" charset="-120"/>
              </a:rPr>
              <a:t>Key takeaways</a:t>
            </a:r>
            <a:endParaRPr lang="en-US" sz="3000" dirty="0"/>
          </a:p>
        </p:txBody>
      </p:sp>
      <p:sp>
        <p:nvSpPr>
          <p:cNvPr id="42" name="Text 3">
            <a:extLst>
              <a:ext uri="{FF2B5EF4-FFF2-40B4-BE49-F238E27FC236}">
                <a16:creationId xmlns:a16="http://schemas.microsoft.com/office/drawing/2014/main" id="{8FFB58F3-3465-19D7-191D-A19E1FBF44DB}"/>
              </a:ext>
            </a:extLst>
          </p:cNvPr>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7E939E"/>
                </a:solidFill>
                <a:latin typeface="Calibri" pitchFamily="34" charset="0"/>
                <a:ea typeface="Calibri" pitchFamily="34" charset="-122"/>
                <a:cs typeface="Calibri" pitchFamily="34" charset="-120"/>
              </a:rPr>
              <a:t>24</a:t>
            </a:r>
            <a:endParaRPr lang="en-US" sz="1000" dirty="0"/>
          </a:p>
        </p:txBody>
      </p:sp>
      <p:sp>
        <p:nvSpPr>
          <p:cNvPr id="46" name="Shape 5">
            <a:extLst>
              <a:ext uri="{FF2B5EF4-FFF2-40B4-BE49-F238E27FC236}">
                <a16:creationId xmlns:a16="http://schemas.microsoft.com/office/drawing/2014/main" id="{D876686F-87B9-1296-8959-9489850577AC}"/>
              </a:ext>
            </a:extLst>
          </p:cNvPr>
          <p:cNvSpPr/>
          <p:nvPr/>
        </p:nvSpPr>
        <p:spPr>
          <a:xfrm>
            <a:off x="566928" y="1463040"/>
            <a:ext cx="5349240" cy="2057400"/>
          </a:xfrm>
          <a:prstGeom prst="roundRect">
            <a:avLst>
              <a:gd name="adj" fmla="val 2667"/>
            </a:avLst>
          </a:prstGeom>
          <a:solidFill>
            <a:schemeClr val="accent3">
              <a:lumMod val="20000"/>
              <a:lumOff val="80000"/>
            </a:schemeClr>
          </a:solidFill>
          <a:ln w="12700">
            <a:noFill/>
            <a:prstDash val="solid"/>
          </a:ln>
          <a:effectLst>
            <a:outerShdw blurRad="50800" dist="38100" dir="5400000" algn="t" rotWithShape="0">
              <a:prstClr val="black">
                <a:alpha val="40000"/>
              </a:prstClr>
            </a:outerShdw>
          </a:effectLst>
        </p:spPr>
        <p:txBody>
          <a:bodyPr/>
          <a:lstStyle/>
          <a:p>
            <a:endParaRPr lang="en-US" dirty="0">
              <a:highlight>
                <a:srgbClr val="00FF00"/>
              </a:highlight>
            </a:endParaRPr>
          </a:p>
        </p:txBody>
      </p:sp>
      <p:sp>
        <p:nvSpPr>
          <p:cNvPr id="48" name="Text 6">
            <a:extLst>
              <a:ext uri="{FF2B5EF4-FFF2-40B4-BE49-F238E27FC236}">
                <a16:creationId xmlns:a16="http://schemas.microsoft.com/office/drawing/2014/main" id="{89776839-EC84-F7A8-D950-816AB61E312C}"/>
              </a:ext>
            </a:extLst>
          </p:cNvPr>
          <p:cNvSpPr txBox="1"/>
          <p:nvPr/>
        </p:nvSpPr>
        <p:spPr>
          <a:xfrm>
            <a:off x="841248" y="1645920"/>
            <a:ext cx="914400" cy="365760"/>
          </a:xfrm>
          <a:prstGeom prst="rect">
            <a:avLst/>
          </a:prstGeom>
          <a:noFill/>
          <a:ln/>
        </p:spPr>
        <p:txBody>
          <a:bodyPr wrap="square" lIns="0" tIns="0" rIns="0" bIns="0" rtlCol="0" anchor="ctr"/>
          <a:lstStyle/>
          <a:p>
            <a:pPr marL="0" indent="0">
              <a:buNone/>
            </a:pPr>
            <a:r>
              <a:rPr lang="en-US" sz="2000" b="1" dirty="0">
                <a:solidFill>
                  <a:srgbClr val="E3B23C"/>
                </a:solidFill>
                <a:latin typeface="Cambria" pitchFamily="34" charset="0"/>
                <a:ea typeface="Cambria" pitchFamily="34" charset="-122"/>
                <a:cs typeface="Cambria" pitchFamily="34" charset="-120"/>
              </a:rPr>
              <a:t>01</a:t>
            </a:r>
            <a:endParaRPr lang="en-US" sz="2000" dirty="0"/>
          </a:p>
        </p:txBody>
      </p:sp>
      <p:sp>
        <p:nvSpPr>
          <p:cNvPr id="50" name="Text 7">
            <a:extLst>
              <a:ext uri="{FF2B5EF4-FFF2-40B4-BE49-F238E27FC236}">
                <a16:creationId xmlns:a16="http://schemas.microsoft.com/office/drawing/2014/main" id="{4649C418-E061-D3D7-8192-C3553472B2D8}"/>
              </a:ext>
            </a:extLst>
          </p:cNvPr>
          <p:cNvSpPr txBox="1"/>
          <p:nvPr/>
        </p:nvSpPr>
        <p:spPr>
          <a:xfrm>
            <a:off x="841248" y="2057400"/>
            <a:ext cx="4800600" cy="566928"/>
          </a:xfrm>
          <a:prstGeom prst="rect">
            <a:avLst/>
          </a:prstGeom>
          <a:noFill/>
          <a:ln/>
        </p:spPr>
        <p:txBody>
          <a:bodyPr wrap="square" lIns="0" tIns="0" rIns="0" bIns="0" rtlCol="0" anchor="ctr"/>
          <a:lstStyle/>
          <a:p>
            <a:pPr marL="0" indent="0">
              <a:buNone/>
            </a:pPr>
            <a:r>
              <a:rPr lang="en-US" sz="1550" b="1" dirty="0">
                <a:latin typeface="Calibri" pitchFamily="34" charset="0"/>
                <a:ea typeface="Calibri" pitchFamily="34" charset="-122"/>
                <a:cs typeface="Calibri" pitchFamily="34" charset="-120"/>
              </a:rPr>
              <a:t>There is no best style, only a best fit</a:t>
            </a:r>
            <a:endParaRPr lang="en-US" sz="1550" dirty="0"/>
          </a:p>
        </p:txBody>
      </p:sp>
      <p:sp>
        <p:nvSpPr>
          <p:cNvPr id="52" name="Text 8">
            <a:extLst>
              <a:ext uri="{FF2B5EF4-FFF2-40B4-BE49-F238E27FC236}">
                <a16:creationId xmlns:a16="http://schemas.microsoft.com/office/drawing/2014/main" id="{BE43F98E-4041-9AC5-C0D2-1547652EBB3A}"/>
              </a:ext>
            </a:extLst>
          </p:cNvPr>
          <p:cNvSpPr txBox="1"/>
          <p:nvPr/>
        </p:nvSpPr>
        <p:spPr>
          <a:xfrm>
            <a:off x="841248" y="2651760"/>
            <a:ext cx="4800600" cy="749808"/>
          </a:xfrm>
          <a:prstGeom prst="rect">
            <a:avLst/>
          </a:prstGeom>
          <a:noFill/>
          <a:ln/>
        </p:spPr>
        <p:txBody>
          <a:bodyPr wrap="square" lIns="0" tIns="0" rIns="0" bIns="0" rtlCol="0" anchor="ctr"/>
          <a:lstStyle/>
          <a:p>
            <a:pPr marL="0" indent="0">
              <a:buNone/>
            </a:pPr>
            <a:r>
              <a:rPr lang="en-US" sz="1250" dirty="0">
                <a:latin typeface="Calibri" pitchFamily="34" charset="0"/>
                <a:ea typeface="Calibri" pitchFamily="34" charset="-122"/>
                <a:cs typeface="Calibri" pitchFamily="34" charset="-120"/>
              </a:rPr>
              <a:t>Every one of the three is optimal somewhere and indefensible somewhere else. The architect's job is naming which situation they are in.</a:t>
            </a:r>
            <a:endParaRPr lang="en-US" sz="1250" dirty="0"/>
          </a:p>
        </p:txBody>
      </p:sp>
      <p:sp>
        <p:nvSpPr>
          <p:cNvPr id="54" name="Shape 9">
            <a:extLst>
              <a:ext uri="{FF2B5EF4-FFF2-40B4-BE49-F238E27FC236}">
                <a16:creationId xmlns:a16="http://schemas.microsoft.com/office/drawing/2014/main" id="{D07510BD-5CA4-4FDC-4370-3DF5EF12738F}"/>
              </a:ext>
            </a:extLst>
          </p:cNvPr>
          <p:cNvSpPr/>
          <p:nvPr/>
        </p:nvSpPr>
        <p:spPr>
          <a:xfrm>
            <a:off x="6236208" y="1463040"/>
            <a:ext cx="5349240" cy="2057400"/>
          </a:xfrm>
          <a:prstGeom prst="roundRect">
            <a:avLst>
              <a:gd name="adj" fmla="val 2667"/>
            </a:avLst>
          </a:prstGeom>
          <a:solidFill>
            <a:schemeClr val="accent3">
              <a:lumMod val="20000"/>
              <a:lumOff val="80000"/>
            </a:schemeClr>
          </a:solidFill>
          <a:ln w="12700">
            <a:noFill/>
            <a:prstDash val="solid"/>
          </a:ln>
          <a:effectLst>
            <a:outerShdw blurRad="50800" dist="38100" dir="5400000" algn="t" rotWithShape="0">
              <a:prstClr val="black">
                <a:alpha val="40000"/>
              </a:prstClr>
            </a:outerShdw>
          </a:effectLst>
        </p:spPr>
        <p:txBody>
          <a:bodyPr/>
          <a:lstStyle/>
          <a:p>
            <a:endParaRPr lang="en-US"/>
          </a:p>
        </p:txBody>
      </p:sp>
      <p:sp>
        <p:nvSpPr>
          <p:cNvPr id="56" name="Text 10">
            <a:extLst>
              <a:ext uri="{FF2B5EF4-FFF2-40B4-BE49-F238E27FC236}">
                <a16:creationId xmlns:a16="http://schemas.microsoft.com/office/drawing/2014/main" id="{1F966F5A-F96F-6C2E-BD41-AA2F8BE3C363}"/>
              </a:ext>
            </a:extLst>
          </p:cNvPr>
          <p:cNvSpPr txBox="1"/>
          <p:nvPr/>
        </p:nvSpPr>
        <p:spPr>
          <a:xfrm>
            <a:off x="6510528" y="1645920"/>
            <a:ext cx="914400" cy="365760"/>
          </a:xfrm>
          <a:prstGeom prst="rect">
            <a:avLst/>
          </a:prstGeom>
          <a:noFill/>
          <a:ln/>
        </p:spPr>
        <p:txBody>
          <a:bodyPr wrap="square" lIns="0" tIns="0" rIns="0" bIns="0" rtlCol="0" anchor="ctr"/>
          <a:lstStyle/>
          <a:p>
            <a:pPr marL="0" indent="0">
              <a:buNone/>
            </a:pPr>
            <a:r>
              <a:rPr lang="en-US" sz="2000" b="1" dirty="0">
                <a:solidFill>
                  <a:srgbClr val="E3B23C"/>
                </a:solidFill>
                <a:latin typeface="Cambria" pitchFamily="34" charset="0"/>
                <a:ea typeface="Cambria" pitchFamily="34" charset="-122"/>
                <a:cs typeface="Cambria" pitchFamily="34" charset="-120"/>
              </a:rPr>
              <a:t>02</a:t>
            </a:r>
            <a:endParaRPr lang="en-US" sz="2000" dirty="0"/>
          </a:p>
        </p:txBody>
      </p:sp>
      <p:sp>
        <p:nvSpPr>
          <p:cNvPr id="58" name="Text 11">
            <a:extLst>
              <a:ext uri="{FF2B5EF4-FFF2-40B4-BE49-F238E27FC236}">
                <a16:creationId xmlns:a16="http://schemas.microsoft.com/office/drawing/2014/main" id="{8785DA27-9EA6-7E00-D627-A0779AF089A8}"/>
              </a:ext>
            </a:extLst>
          </p:cNvPr>
          <p:cNvSpPr txBox="1"/>
          <p:nvPr/>
        </p:nvSpPr>
        <p:spPr>
          <a:xfrm>
            <a:off x="6510528" y="2057400"/>
            <a:ext cx="4800600" cy="566928"/>
          </a:xfrm>
          <a:prstGeom prst="rect">
            <a:avLst/>
          </a:prstGeom>
          <a:noFill/>
          <a:ln/>
        </p:spPr>
        <p:txBody>
          <a:bodyPr wrap="square" lIns="0" tIns="0" rIns="0" bIns="0" rtlCol="0" anchor="ctr"/>
          <a:lstStyle/>
          <a:p>
            <a:pPr marL="0" indent="0">
              <a:buNone/>
            </a:pPr>
            <a:r>
              <a:rPr lang="en-US" sz="1550" b="1" dirty="0">
                <a:latin typeface="Calibri" pitchFamily="34" charset="0"/>
                <a:ea typeface="Calibri" pitchFamily="34" charset="-122"/>
                <a:cs typeface="Calibri" pitchFamily="34" charset="-120"/>
              </a:rPr>
              <a:t>Granularity is the hidden variable</a:t>
            </a:r>
            <a:endParaRPr lang="en-US" sz="1550" dirty="0"/>
          </a:p>
        </p:txBody>
      </p:sp>
      <p:sp>
        <p:nvSpPr>
          <p:cNvPr id="60" name="Text 12">
            <a:extLst>
              <a:ext uri="{FF2B5EF4-FFF2-40B4-BE49-F238E27FC236}">
                <a16:creationId xmlns:a16="http://schemas.microsoft.com/office/drawing/2014/main" id="{32934FC9-E922-8063-A190-E0709F274728}"/>
              </a:ext>
            </a:extLst>
          </p:cNvPr>
          <p:cNvSpPr txBox="1"/>
          <p:nvPr/>
        </p:nvSpPr>
        <p:spPr>
          <a:xfrm>
            <a:off x="6510528" y="2651760"/>
            <a:ext cx="4800600" cy="749808"/>
          </a:xfrm>
          <a:prstGeom prst="rect">
            <a:avLst/>
          </a:prstGeom>
          <a:noFill/>
          <a:ln/>
        </p:spPr>
        <p:txBody>
          <a:bodyPr wrap="square" lIns="0" tIns="0" rIns="0" bIns="0" rtlCol="0" anchor="ctr"/>
          <a:lstStyle/>
          <a:p>
            <a:pPr marL="0" indent="0">
              <a:buNone/>
            </a:pPr>
            <a:r>
              <a:rPr lang="en-US" sz="1250" dirty="0">
                <a:latin typeface="Calibri" pitchFamily="34" charset="0"/>
                <a:ea typeface="Calibri" pitchFamily="34" charset="-122"/>
                <a:cs typeface="Calibri" pitchFamily="34" charset="-120"/>
              </a:rPr>
              <a:t>Coupling, cost, latency and deployment independence all move together as services get smaller. You cannot buy one without paying for the rest.</a:t>
            </a:r>
            <a:endParaRPr lang="en-US" sz="1250" dirty="0"/>
          </a:p>
        </p:txBody>
      </p:sp>
      <p:sp>
        <p:nvSpPr>
          <p:cNvPr id="62" name="Shape 13">
            <a:extLst>
              <a:ext uri="{FF2B5EF4-FFF2-40B4-BE49-F238E27FC236}">
                <a16:creationId xmlns:a16="http://schemas.microsoft.com/office/drawing/2014/main" id="{3BA6038F-13D9-B750-F41F-A5EF7E6B3BFF}"/>
              </a:ext>
            </a:extLst>
          </p:cNvPr>
          <p:cNvSpPr/>
          <p:nvPr/>
        </p:nvSpPr>
        <p:spPr>
          <a:xfrm>
            <a:off x="566928" y="3794760"/>
            <a:ext cx="5349240" cy="2057400"/>
          </a:xfrm>
          <a:prstGeom prst="roundRect">
            <a:avLst>
              <a:gd name="adj" fmla="val 2667"/>
            </a:avLst>
          </a:prstGeom>
          <a:solidFill>
            <a:schemeClr val="accent3">
              <a:lumMod val="20000"/>
              <a:lumOff val="80000"/>
            </a:schemeClr>
          </a:solidFill>
          <a:ln w="12700">
            <a:noFill/>
            <a:prstDash val="solid"/>
          </a:ln>
          <a:effectLst>
            <a:outerShdw blurRad="50800" dist="38100" dir="5400000" algn="t" rotWithShape="0">
              <a:prstClr val="black">
                <a:alpha val="40000"/>
              </a:prstClr>
            </a:outerShdw>
          </a:effectLst>
        </p:spPr>
        <p:txBody>
          <a:bodyPr/>
          <a:lstStyle/>
          <a:p>
            <a:endParaRPr lang="en-US"/>
          </a:p>
        </p:txBody>
      </p:sp>
      <p:sp>
        <p:nvSpPr>
          <p:cNvPr id="64" name="Text 14">
            <a:extLst>
              <a:ext uri="{FF2B5EF4-FFF2-40B4-BE49-F238E27FC236}">
                <a16:creationId xmlns:a16="http://schemas.microsoft.com/office/drawing/2014/main" id="{F2075BBA-D71B-E6C3-1576-E7588BDC6D6E}"/>
              </a:ext>
            </a:extLst>
          </p:cNvPr>
          <p:cNvSpPr txBox="1"/>
          <p:nvPr/>
        </p:nvSpPr>
        <p:spPr>
          <a:xfrm>
            <a:off x="841248" y="3977640"/>
            <a:ext cx="914400" cy="365760"/>
          </a:xfrm>
          <a:prstGeom prst="rect">
            <a:avLst/>
          </a:prstGeom>
          <a:noFill/>
          <a:ln/>
        </p:spPr>
        <p:txBody>
          <a:bodyPr wrap="square" lIns="0" tIns="0" rIns="0" bIns="0" rtlCol="0" anchor="ctr"/>
          <a:lstStyle/>
          <a:p>
            <a:pPr marL="0" indent="0">
              <a:buNone/>
            </a:pPr>
            <a:r>
              <a:rPr lang="en-US" sz="2000" b="1" dirty="0">
                <a:solidFill>
                  <a:srgbClr val="E3B23C"/>
                </a:solidFill>
                <a:latin typeface="Cambria" pitchFamily="34" charset="0"/>
                <a:ea typeface="Cambria" pitchFamily="34" charset="-122"/>
                <a:cs typeface="Cambria" pitchFamily="34" charset="-120"/>
              </a:rPr>
              <a:t>03</a:t>
            </a:r>
            <a:endParaRPr lang="en-US" sz="2000" dirty="0"/>
          </a:p>
        </p:txBody>
      </p:sp>
      <p:sp>
        <p:nvSpPr>
          <p:cNvPr id="66" name="Text 15">
            <a:extLst>
              <a:ext uri="{FF2B5EF4-FFF2-40B4-BE49-F238E27FC236}">
                <a16:creationId xmlns:a16="http://schemas.microsoft.com/office/drawing/2014/main" id="{1268657A-C4AF-D462-45C7-34E729EEE2B6}"/>
              </a:ext>
            </a:extLst>
          </p:cNvPr>
          <p:cNvSpPr txBox="1"/>
          <p:nvPr/>
        </p:nvSpPr>
        <p:spPr>
          <a:xfrm>
            <a:off x="841248" y="4389120"/>
            <a:ext cx="4800600" cy="566928"/>
          </a:xfrm>
          <a:prstGeom prst="rect">
            <a:avLst/>
          </a:prstGeom>
          <a:noFill/>
          <a:ln/>
        </p:spPr>
        <p:txBody>
          <a:bodyPr wrap="square" lIns="0" tIns="0" rIns="0" bIns="0" rtlCol="0" anchor="ctr"/>
          <a:lstStyle/>
          <a:p>
            <a:pPr marL="0" indent="0">
              <a:buNone/>
            </a:pPr>
            <a:r>
              <a:rPr lang="en-US" sz="1550" b="1" dirty="0">
                <a:latin typeface="Calibri" pitchFamily="34" charset="0"/>
                <a:ea typeface="Calibri" pitchFamily="34" charset="-122"/>
                <a:cs typeface="Calibri" pitchFamily="34" charset="-120"/>
              </a:rPr>
              <a:t>Service-based deserves more credit than it gets</a:t>
            </a:r>
            <a:endParaRPr lang="en-US" sz="1550" dirty="0"/>
          </a:p>
        </p:txBody>
      </p:sp>
      <p:sp>
        <p:nvSpPr>
          <p:cNvPr id="68" name="Text 16">
            <a:extLst>
              <a:ext uri="{FF2B5EF4-FFF2-40B4-BE49-F238E27FC236}">
                <a16:creationId xmlns:a16="http://schemas.microsoft.com/office/drawing/2014/main" id="{A6F6B5C8-BA29-90C6-A8FC-373B5CE563D8}"/>
              </a:ext>
            </a:extLst>
          </p:cNvPr>
          <p:cNvSpPr txBox="1"/>
          <p:nvPr/>
        </p:nvSpPr>
        <p:spPr>
          <a:xfrm>
            <a:off x="841248" y="4983480"/>
            <a:ext cx="4800600" cy="749808"/>
          </a:xfrm>
          <a:prstGeom prst="rect">
            <a:avLst/>
          </a:prstGeom>
          <a:noFill/>
          <a:ln/>
        </p:spPr>
        <p:txBody>
          <a:bodyPr wrap="square" lIns="0" tIns="0" rIns="0" bIns="0" rtlCol="0" anchor="ctr"/>
          <a:lstStyle/>
          <a:p>
            <a:pPr marL="0" indent="0">
              <a:buNone/>
            </a:pPr>
            <a:r>
              <a:rPr lang="en-US" sz="1250" dirty="0">
                <a:latin typeface="Calibri" pitchFamily="34" charset="0"/>
                <a:ea typeface="Calibri" pitchFamily="34" charset="-122"/>
                <a:cs typeface="Calibri" pitchFamily="34" charset="-120"/>
              </a:rPr>
              <a:t>No extremes, no five-star ratings and for a large share of business applications, exactly the right answer.</a:t>
            </a:r>
            <a:endParaRPr lang="en-US" sz="1250" dirty="0"/>
          </a:p>
        </p:txBody>
      </p:sp>
      <p:sp>
        <p:nvSpPr>
          <p:cNvPr id="70" name="Shape 17">
            <a:extLst>
              <a:ext uri="{FF2B5EF4-FFF2-40B4-BE49-F238E27FC236}">
                <a16:creationId xmlns:a16="http://schemas.microsoft.com/office/drawing/2014/main" id="{23EBBB8D-1DB7-718B-B9C8-F0117E78B3E8}"/>
              </a:ext>
            </a:extLst>
          </p:cNvPr>
          <p:cNvSpPr/>
          <p:nvPr/>
        </p:nvSpPr>
        <p:spPr>
          <a:xfrm>
            <a:off x="6236208" y="3794760"/>
            <a:ext cx="5349240" cy="2057400"/>
          </a:xfrm>
          <a:prstGeom prst="roundRect">
            <a:avLst>
              <a:gd name="adj" fmla="val 2667"/>
            </a:avLst>
          </a:prstGeom>
          <a:solidFill>
            <a:schemeClr val="accent3">
              <a:lumMod val="20000"/>
              <a:lumOff val="80000"/>
            </a:schemeClr>
          </a:solidFill>
          <a:ln w="12700">
            <a:noFill/>
            <a:prstDash val="solid"/>
          </a:ln>
          <a:effectLst>
            <a:outerShdw blurRad="50800" dist="38100" dir="5400000" algn="t" rotWithShape="0">
              <a:prstClr val="black">
                <a:alpha val="40000"/>
              </a:prstClr>
            </a:outerShdw>
          </a:effectLst>
        </p:spPr>
        <p:txBody>
          <a:bodyPr/>
          <a:lstStyle/>
          <a:p>
            <a:endParaRPr lang="en-US"/>
          </a:p>
        </p:txBody>
      </p:sp>
      <p:sp>
        <p:nvSpPr>
          <p:cNvPr id="72" name="Text 18">
            <a:extLst>
              <a:ext uri="{FF2B5EF4-FFF2-40B4-BE49-F238E27FC236}">
                <a16:creationId xmlns:a16="http://schemas.microsoft.com/office/drawing/2014/main" id="{E9CF8188-9D41-EF62-FA80-4AD1AB76B856}"/>
              </a:ext>
            </a:extLst>
          </p:cNvPr>
          <p:cNvSpPr txBox="1"/>
          <p:nvPr/>
        </p:nvSpPr>
        <p:spPr>
          <a:xfrm>
            <a:off x="6510528" y="3977640"/>
            <a:ext cx="914400" cy="365760"/>
          </a:xfrm>
          <a:prstGeom prst="rect">
            <a:avLst/>
          </a:prstGeom>
          <a:noFill/>
          <a:ln/>
        </p:spPr>
        <p:txBody>
          <a:bodyPr wrap="square" lIns="0" tIns="0" rIns="0" bIns="0" rtlCol="0" anchor="ctr"/>
          <a:lstStyle/>
          <a:p>
            <a:pPr marL="0" indent="0">
              <a:buNone/>
            </a:pPr>
            <a:r>
              <a:rPr lang="en-US" sz="2000" b="1" dirty="0">
                <a:solidFill>
                  <a:srgbClr val="E3B23C"/>
                </a:solidFill>
                <a:latin typeface="Cambria" pitchFamily="34" charset="0"/>
                <a:ea typeface="Cambria" pitchFamily="34" charset="-122"/>
                <a:cs typeface="Cambria" pitchFamily="34" charset="-120"/>
              </a:rPr>
              <a:t>04</a:t>
            </a:r>
            <a:endParaRPr lang="en-US" sz="2000" dirty="0"/>
          </a:p>
        </p:txBody>
      </p:sp>
      <p:sp>
        <p:nvSpPr>
          <p:cNvPr id="74" name="Text 19">
            <a:extLst>
              <a:ext uri="{FF2B5EF4-FFF2-40B4-BE49-F238E27FC236}">
                <a16:creationId xmlns:a16="http://schemas.microsoft.com/office/drawing/2014/main" id="{DF6C5EA8-D7D2-475F-6C94-BB6B67D3F601}"/>
              </a:ext>
            </a:extLst>
          </p:cNvPr>
          <p:cNvSpPr txBox="1"/>
          <p:nvPr/>
        </p:nvSpPr>
        <p:spPr>
          <a:xfrm>
            <a:off x="6510528" y="4389120"/>
            <a:ext cx="4800600" cy="566928"/>
          </a:xfrm>
          <a:prstGeom prst="rect">
            <a:avLst/>
          </a:prstGeom>
          <a:noFill/>
          <a:ln/>
        </p:spPr>
        <p:txBody>
          <a:bodyPr wrap="square" lIns="0" tIns="0" rIns="0" bIns="0" rtlCol="0" anchor="ctr"/>
          <a:lstStyle/>
          <a:p>
            <a:pPr marL="0" indent="0">
              <a:buNone/>
            </a:pPr>
            <a:r>
              <a:rPr lang="en-US" sz="1550" b="1" dirty="0">
                <a:latin typeface="Calibri" pitchFamily="34" charset="0"/>
                <a:ea typeface="Calibri" pitchFamily="34" charset="-122"/>
                <a:cs typeface="Calibri" pitchFamily="34" charset="-120"/>
              </a:rPr>
              <a:t>Cost and complexity are architecture characteristics</a:t>
            </a:r>
            <a:endParaRPr lang="en-US" sz="1550" dirty="0"/>
          </a:p>
        </p:txBody>
      </p:sp>
      <p:sp>
        <p:nvSpPr>
          <p:cNvPr id="76" name="Text 20">
            <a:extLst>
              <a:ext uri="{FF2B5EF4-FFF2-40B4-BE49-F238E27FC236}">
                <a16:creationId xmlns:a16="http://schemas.microsoft.com/office/drawing/2014/main" id="{A8E1CCBB-937F-9E84-9979-9B3CDC8B92B3}"/>
              </a:ext>
            </a:extLst>
          </p:cNvPr>
          <p:cNvSpPr txBox="1"/>
          <p:nvPr/>
        </p:nvSpPr>
        <p:spPr>
          <a:xfrm>
            <a:off x="6510528" y="4983480"/>
            <a:ext cx="4800600" cy="749808"/>
          </a:xfrm>
          <a:prstGeom prst="rect">
            <a:avLst/>
          </a:prstGeom>
          <a:noFill/>
          <a:ln/>
        </p:spPr>
        <p:txBody>
          <a:bodyPr wrap="square" lIns="0" tIns="0" rIns="0" bIns="0" rtlCol="0" anchor="ctr"/>
          <a:lstStyle/>
          <a:p>
            <a:pPr marL="0" indent="0">
              <a:buNone/>
            </a:pPr>
            <a:r>
              <a:rPr lang="en-US" sz="1250" dirty="0">
                <a:latin typeface="Calibri" pitchFamily="34" charset="0"/>
                <a:ea typeface="Calibri" pitchFamily="34" charset="-122"/>
                <a:cs typeface="Calibri" pitchFamily="34" charset="-120"/>
              </a:rPr>
              <a:t>Prime Video and Uber both retreated from fine granularity. Neither had a technical failure; both had a complexity and cost failure.</a:t>
            </a:r>
            <a:endParaRPr lang="en-US" sz="1250" dirty="0"/>
          </a:p>
        </p:txBody>
      </p:sp>
    </p:spTree>
    <p:extLst>
      <p:ext uri="{BB962C8B-B14F-4D97-AF65-F5344CB8AC3E}">
        <p14:creationId xmlns:p14="http://schemas.microsoft.com/office/powerpoint/2010/main" val="366934208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rgbClr val="14242E"/>
                </a:solidFill>
                <a:latin typeface="Cambria" pitchFamily="34" charset="0"/>
                <a:ea typeface="Cambria" pitchFamily="34" charset="-122"/>
                <a:cs typeface="Cambria" pitchFamily="34" charset="-120"/>
              </a:rPr>
              <a:t>References</a:t>
            </a:r>
            <a:endParaRPr lang="en-US" sz="3000" dirty="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dirty="0">
                <a:solidFill>
                  <a:srgbClr val="62757F"/>
                </a:solidFill>
                <a:latin typeface="Calibri" pitchFamily="34" charset="0"/>
                <a:ea typeface="Calibri" pitchFamily="34" charset="-122"/>
                <a:cs typeface="Calibri" pitchFamily="34" charset="-120"/>
              </a:rPr>
              <a:t>25</a:t>
            </a:r>
            <a:endParaRPr lang="en-US" sz="1000" dirty="0"/>
          </a:p>
        </p:txBody>
      </p:sp>
      <p:sp>
        <p:nvSpPr>
          <p:cNvPr id="7" name="Shape 5"/>
          <p:cNvSpPr/>
          <p:nvPr/>
        </p:nvSpPr>
        <p:spPr>
          <a:xfrm>
            <a:off x="566928" y="1207008"/>
            <a:ext cx="11064240" cy="1024128"/>
          </a:xfrm>
          <a:prstGeom prst="roundRect">
            <a:avLst>
              <a:gd name="adj" fmla="val 5357"/>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41248" y="1316736"/>
            <a:ext cx="10515600" cy="256032"/>
          </a:xfrm>
          <a:prstGeom prst="rect">
            <a:avLst/>
          </a:prstGeom>
          <a:noFill/>
          <a:ln/>
        </p:spPr>
        <p:txBody>
          <a:bodyPr wrap="square" lIns="0" tIns="0" rIns="0" bIns="0" rtlCol="0" anchor="ctr"/>
          <a:lstStyle/>
          <a:p>
            <a:pPr marL="0" indent="0">
              <a:buNone/>
            </a:pPr>
            <a:r>
              <a:rPr lang="en-US" sz="1300" b="1" dirty="0">
                <a:solidFill>
                  <a:srgbClr val="9A7B18"/>
                </a:solidFill>
                <a:latin typeface="Calibri" pitchFamily="34" charset="0"/>
                <a:ea typeface="Calibri" pitchFamily="34" charset="-122"/>
                <a:cs typeface="Calibri" pitchFamily="34" charset="-120"/>
              </a:rPr>
              <a:t>Primary source</a:t>
            </a:r>
            <a:endParaRPr lang="en-US" sz="1300" dirty="0"/>
          </a:p>
        </p:txBody>
      </p:sp>
      <p:sp>
        <p:nvSpPr>
          <p:cNvPr id="9" name="Text 7"/>
          <p:cNvSpPr txBox="1"/>
          <p:nvPr/>
        </p:nvSpPr>
        <p:spPr>
          <a:xfrm>
            <a:off x="841248" y="1609344"/>
            <a:ext cx="10515600" cy="530352"/>
          </a:xfrm>
          <a:prstGeom prst="rect">
            <a:avLst/>
          </a:prstGeom>
          <a:noFill/>
          <a:ln/>
        </p:spPr>
        <p:txBody>
          <a:bodyPr wrap="square" lIns="0" tIns="0" rIns="0" bIns="0" rtlCol="0" anchor="t"/>
          <a:lstStyle/>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Richards, M. &amp; Ford, N. (2025). Fundamentals of Software Architecture: An Engineering Approach, 2nd ed. O'Reilly Media. Ch. 13 (Microkernel), Ch. 14 (Service-Based), Ch. 18 (Microservices), Ch. 19 (Choosing the Appropriate Architecture Style).</a:t>
            </a:r>
            <a:endParaRPr lang="en-US" sz="1100" dirty="0"/>
          </a:p>
        </p:txBody>
      </p:sp>
      <p:sp>
        <p:nvSpPr>
          <p:cNvPr id="10" name="Shape 8"/>
          <p:cNvSpPr/>
          <p:nvPr/>
        </p:nvSpPr>
        <p:spPr>
          <a:xfrm>
            <a:off x="566928" y="2414016"/>
            <a:ext cx="11064240" cy="1572768"/>
          </a:xfrm>
          <a:prstGeom prst="roundRect">
            <a:avLst>
              <a:gd name="adj" fmla="val 348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841248" y="2523744"/>
            <a:ext cx="10515600" cy="256032"/>
          </a:xfrm>
          <a:prstGeom prst="rect">
            <a:avLst/>
          </a:prstGeom>
          <a:noFill/>
          <a:ln/>
        </p:spPr>
        <p:txBody>
          <a:bodyPr wrap="square" lIns="0" tIns="0" rIns="0" bIns="0" rtlCol="0" anchor="ctr"/>
          <a:lstStyle/>
          <a:p>
            <a:pPr marL="0" indent="0">
              <a:buNone/>
            </a:pPr>
            <a:r>
              <a:rPr lang="en-US" sz="1300" b="1" dirty="0">
                <a:solidFill>
                  <a:srgbClr val="9A7B18"/>
                </a:solidFill>
                <a:latin typeface="Calibri" pitchFamily="34" charset="0"/>
                <a:ea typeface="Calibri" pitchFamily="34" charset="-122"/>
                <a:cs typeface="Calibri" pitchFamily="34" charset="-120"/>
              </a:rPr>
              <a:t>Books and further reading</a:t>
            </a:r>
            <a:endParaRPr lang="en-US" sz="1300" dirty="0"/>
          </a:p>
        </p:txBody>
      </p:sp>
      <p:sp>
        <p:nvSpPr>
          <p:cNvPr id="12" name="Text 10"/>
          <p:cNvSpPr txBox="1"/>
          <p:nvPr/>
        </p:nvSpPr>
        <p:spPr>
          <a:xfrm>
            <a:off x="841248" y="2816352"/>
            <a:ext cx="10515600" cy="1078992"/>
          </a:xfrm>
          <a:prstGeom prst="rect">
            <a:avLst/>
          </a:prstGeom>
          <a:noFill/>
          <a:ln/>
        </p:spPr>
        <p:txBody>
          <a:bodyPr wrap="square" lIns="0" tIns="0" rIns="0" bIns="0" rtlCol="0" anchor="t"/>
          <a:lstStyle/>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Newman, S. (2021). Building Microservices, 2nd ed. O'Reilly Media.</a:t>
            </a:r>
            <a:endParaRPr lang="en-US" sz="1100" dirty="0"/>
          </a:p>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Richards, M. &amp; Ford, N. (2023). Headfirst Software Architecture. O'Reilly Media.</a:t>
            </a:r>
            <a:endParaRPr lang="en-US" sz="1100" dirty="0"/>
          </a:p>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Vernon, V. (2016). Domain-Driven Design Distilled. Addison-Wesley.</a:t>
            </a:r>
            <a:endParaRPr lang="en-US" sz="1100" dirty="0"/>
          </a:p>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Fowler, M. &amp; Lewis, J. (2014). “Microservices.” martinfowler.com.</a:t>
            </a:r>
            <a:endParaRPr lang="en-US" sz="1100" dirty="0"/>
          </a:p>
        </p:txBody>
      </p:sp>
      <p:sp>
        <p:nvSpPr>
          <p:cNvPr id="13" name="Shape 11"/>
          <p:cNvSpPr/>
          <p:nvPr/>
        </p:nvSpPr>
        <p:spPr>
          <a:xfrm>
            <a:off x="566928" y="4169664"/>
            <a:ext cx="11064240" cy="1572768"/>
          </a:xfrm>
          <a:prstGeom prst="roundRect">
            <a:avLst>
              <a:gd name="adj" fmla="val 348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41248" y="4279392"/>
            <a:ext cx="10515600" cy="256032"/>
          </a:xfrm>
          <a:prstGeom prst="rect">
            <a:avLst/>
          </a:prstGeom>
          <a:noFill/>
          <a:ln/>
        </p:spPr>
        <p:txBody>
          <a:bodyPr wrap="square" lIns="0" tIns="0" rIns="0" bIns="0" rtlCol="0" anchor="ctr"/>
          <a:lstStyle/>
          <a:p>
            <a:pPr marL="0" indent="0">
              <a:buNone/>
            </a:pPr>
            <a:r>
              <a:rPr lang="en-US" sz="1300" b="1" dirty="0">
                <a:solidFill>
                  <a:srgbClr val="9A7B18"/>
                </a:solidFill>
                <a:latin typeface="Calibri" pitchFamily="34" charset="0"/>
                <a:ea typeface="Calibri" pitchFamily="34" charset="-122"/>
                <a:cs typeface="Calibri" pitchFamily="34" charset="-120"/>
              </a:rPr>
              <a:t>Industry sources and case studies</a:t>
            </a:r>
            <a:endParaRPr lang="en-US" sz="1300" dirty="0"/>
          </a:p>
        </p:txBody>
      </p:sp>
      <p:sp>
        <p:nvSpPr>
          <p:cNvPr id="15" name="Text 13"/>
          <p:cNvSpPr txBox="1"/>
          <p:nvPr/>
        </p:nvSpPr>
        <p:spPr>
          <a:xfrm>
            <a:off x="841248" y="4572000"/>
            <a:ext cx="10515600" cy="1078992"/>
          </a:xfrm>
          <a:prstGeom prst="rect">
            <a:avLst/>
          </a:prstGeom>
          <a:noFill/>
          <a:ln/>
        </p:spPr>
        <p:txBody>
          <a:bodyPr wrap="square" lIns="0" tIns="0" rIns="0" bIns="0" rtlCol="0" anchor="t"/>
          <a:lstStyle/>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Kolny, M. (2023). “Scaling up the Prime Video audio/video monitoring service and reducing costs by 90%.” Prime Video Tech Blog.</a:t>
            </a:r>
            <a:endParaRPr lang="en-US" sz="1100" dirty="0"/>
          </a:p>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Gluck, A. (2020). “Introducing Domain-Oriented Microservice Architecture.” Uber Engineering Blog.</a:t>
            </a:r>
            <a:endParaRPr lang="en-US" sz="1100" dirty="0"/>
          </a:p>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Netflix Technology Blog — posts on service resilience, chaos engineering and the API gateway.</a:t>
            </a:r>
            <a:endParaRPr lang="en-US" sz="1100" dirty="0"/>
          </a:p>
          <a:p>
            <a:pPr marL="342900" indent="-342900" algn="l">
              <a:spcAft>
                <a:spcPts val="800"/>
              </a:spcAft>
              <a:buSzPct val="100000"/>
              <a:buChar char="•"/>
            </a:pPr>
            <a:r>
              <a:rPr lang="en-US" sz="1100" dirty="0">
                <a:solidFill>
                  <a:srgbClr val="1F3644"/>
                </a:solidFill>
                <a:latin typeface="Calibri" pitchFamily="34" charset="0"/>
                <a:ea typeface="Calibri" pitchFamily="34" charset="-122"/>
                <a:cs typeface="Calibri" pitchFamily="34" charset="-120"/>
              </a:rPr>
              <a:t>Microsoft. “Extension Anatomy” and “Extension Host.” Visual Studio Code Extension API documentation.</a:t>
            </a:r>
            <a:endParaRPr lang="en-US" sz="1100" dirty="0"/>
          </a:p>
        </p:txBody>
      </p:sp>
    </p:spTree>
  </p:cSld>
  <p:clrMapOvr>
    <a:masterClrMapping/>
  </p:clrMapOvr>
  <p:transition spd="slow">
    <p:comb/>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40714"/>
        </a:solidFill>
        <a:effectLst/>
      </p:bgPr>
    </p:bg>
    <p:spTree>
      <p:nvGrpSpPr>
        <p:cNvPr id="1" name="">
          <a:extLst>
            <a:ext uri="{FF2B5EF4-FFF2-40B4-BE49-F238E27FC236}">
              <a16:creationId xmlns:a16="http://schemas.microsoft.com/office/drawing/2014/main" id="{A97DF38C-1C64-BC75-B7EE-21621D93D9A4}"/>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0D6A7D5E-F9D4-9F15-EAC5-EC40EB62EE03}"/>
              </a:ext>
            </a:extLst>
          </p:cNvPr>
          <p:cNvSpPr/>
          <p:nvPr/>
        </p:nvSpPr>
        <p:spPr>
          <a:xfrm>
            <a:off x="3829431" y="1034718"/>
            <a:ext cx="4533138" cy="5486400"/>
          </a:xfrm>
          <a:custGeom>
            <a:avLst/>
            <a:gdLst/>
            <a:ahLst/>
            <a:cxnLst/>
            <a:rect l="l" t="t" r="r" b="b"/>
            <a:pathLst>
              <a:path w="6799707" h="8229600">
                <a:moveTo>
                  <a:pt x="0" y="0"/>
                </a:moveTo>
                <a:lnTo>
                  <a:pt x="6799708" y="0"/>
                </a:lnTo>
                <a:lnTo>
                  <a:pt x="6799708" y="8229600"/>
                </a:lnTo>
                <a:lnTo>
                  <a:pt x="0" y="8229600"/>
                </a:lnTo>
                <a:lnTo>
                  <a:pt x="0" y="0"/>
                </a:lnTo>
                <a:close/>
              </a:path>
            </a:pathLst>
          </a:custGeom>
          <a:blipFill>
            <a:blip r:embed="rId2"/>
            <a:stretch>
              <a:fillRect/>
            </a:stretch>
          </a:blipFill>
        </p:spPr>
        <p:txBody>
          <a:bodyPr/>
          <a:lstStyle/>
          <a:p>
            <a:pPr defTabSz="609630"/>
            <a:endParaRPr lang="en-US" sz="1200" dirty="0">
              <a:solidFill>
                <a:prstClr val="black"/>
              </a:solidFill>
              <a:latin typeface="Calibri"/>
            </a:endParaRPr>
          </a:p>
        </p:txBody>
      </p:sp>
      <p:sp>
        <p:nvSpPr>
          <p:cNvPr id="5" name="Text 1">
            <a:extLst>
              <a:ext uri="{FF2B5EF4-FFF2-40B4-BE49-F238E27FC236}">
                <a16:creationId xmlns:a16="http://schemas.microsoft.com/office/drawing/2014/main" id="{A7B457DB-B2D1-143E-E0FC-B63D4B9C4408}"/>
              </a:ext>
            </a:extLst>
          </p:cNvPr>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Questions</a:t>
            </a:r>
          </a:p>
        </p:txBody>
      </p:sp>
    </p:spTree>
    <p:extLst>
      <p:ext uri="{BB962C8B-B14F-4D97-AF65-F5344CB8AC3E}">
        <p14:creationId xmlns:p14="http://schemas.microsoft.com/office/powerpoint/2010/main" val="286137717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38A6957506D9E4CAA6359AE33C05445" ma:contentTypeVersion="4" ma:contentTypeDescription="Create a new document." ma:contentTypeScope="" ma:versionID="41143068e5b715312aad4a624371b611">
  <xsd:schema xmlns:xsd="http://www.w3.org/2001/XMLSchema" xmlns:xs="http://www.w3.org/2001/XMLSchema" xmlns:p="http://schemas.microsoft.com/office/2006/metadata/properties" xmlns:ns3="c253f6c1-53ba-4370-ab2f-ff868070b936" targetNamespace="http://schemas.microsoft.com/office/2006/metadata/properties" ma:root="true" ma:fieldsID="8705f9d54c40536eb23f8f4280d406f7" ns3:_="">
    <xsd:import namespace="c253f6c1-53ba-4370-ab2f-ff868070b93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53f6c1-53ba-4370-ab2f-ff868070b93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EEAF201-32A2-4AD5-8B41-E4BF2C3B80E8}">
  <ds:schemaRefs>
    <ds:schemaRef ds:uri="http://schemas.microsoft.com/sharepoint/v3/contenttype/forms"/>
  </ds:schemaRefs>
</ds:datastoreItem>
</file>

<file path=customXml/itemProps2.xml><?xml version="1.0" encoding="utf-8"?>
<ds:datastoreItem xmlns:ds="http://schemas.openxmlformats.org/officeDocument/2006/customXml" ds:itemID="{A102F1A9-A51C-45AA-AC5C-167BD4D70F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53f6c1-53ba-4370-ab2f-ff868070b9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1D3574-D88C-46AA-AF1A-89F6A3BD4F92}">
  <ds:schemaRefs>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purl.org/dc/elements/1.1/"/>
    <ds:schemaRef ds:uri="http://www.w3.org/XML/1998/namespace"/>
    <ds:schemaRef ds:uri="http://schemas.microsoft.com/office/infopath/2007/PartnerControls"/>
    <ds:schemaRef ds:uri="c253f6c1-53ba-4370-ab2f-ff868070b936"/>
  </ds:schemaRefs>
</ds:datastoreItem>
</file>

<file path=docProps/app.xml><?xml version="1.0" encoding="utf-8"?>
<Properties xmlns="http://schemas.openxmlformats.org/officeDocument/2006/extended-properties" xmlns:vt="http://schemas.openxmlformats.org/officeDocument/2006/docPropsVTypes">
  <TotalTime>166</TotalTime>
  <Words>4838</Words>
  <Application>Microsoft Office PowerPoint</Application>
  <PresentationFormat>Widescreen</PresentationFormat>
  <Paragraphs>602</Paragraphs>
  <Slides>27</Slides>
  <Notes>25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27</vt:i4>
      </vt:variant>
    </vt:vector>
  </HeadingPairs>
  <TitlesOfParts>
    <vt:vector size="33" baseType="lpstr">
      <vt:lpstr>Arial</vt:lpstr>
      <vt:lpstr>Calibri</vt:lpstr>
      <vt:lpstr>Cambria</vt:lpstr>
      <vt:lpstr>Courier New</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Between Three Software Architecture Styles</dc:title>
  <dc:subject>PptxGenJS Presentation</dc:subject>
  <dc:creator>Shakil</dc:creator>
  <cp:lastModifiedBy>MD SHAKIL HOSSAIN</cp:lastModifiedBy>
  <cp:revision>21</cp:revision>
  <dcterms:created xsi:type="dcterms:W3CDTF">2026-09-17T16:27:24Z</dcterms:created>
  <dcterms:modified xsi:type="dcterms:W3CDTF">2026-09-28T14:43:33Z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0x010100B38A6957506D9E4CAA6359AE33C05445</vt:lpwstr>
  </property>
</Properties>
</file>