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47" Type="http://schemas.openxmlformats.org/officeDocument/2006/relationships/customXml" Target="../customXml/item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48" Type="http://schemas.openxmlformats.org/officeDocument/2006/relationships/customXml" Target="../customXml/item3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ustomXml" Target="../customXml/item1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dulaziz saleh M algablan" userId="e8d9e4d9-6f25-472c-9315-01d09980dd71" providerId="ADAL" clId="{9AAC7DDA-9862-4F25-B568-460DED6EBA8A}"/>
    <pc:docChg chg="custSel modSld">
      <pc:chgData name="abdulaziz saleh M algablan" userId="e8d9e4d9-6f25-472c-9315-01d09980dd71" providerId="ADAL" clId="{9AAC7DDA-9862-4F25-B568-460DED6EBA8A}" dt="2026-09-16T10:28:42.850" v="2" actId="478"/>
      <pc:docMkLst>
        <pc:docMk/>
      </pc:docMkLst>
      <pc:sldChg chg="delSp mod">
        <pc:chgData name="abdulaziz saleh M algablan" userId="e8d9e4d9-6f25-472c-9315-01d09980dd71" providerId="ADAL" clId="{9AAC7DDA-9862-4F25-B568-460DED6EBA8A}" dt="2026-09-16T10:28:42.850" v="2" actId="478"/>
        <pc:sldMkLst>
          <pc:docMk/>
          <pc:sldMk cId="0" sldId="256"/>
        </pc:sldMkLst>
        <pc:spChg chg="del">
          <ac:chgData name="abdulaziz saleh M algablan" userId="e8d9e4d9-6f25-472c-9315-01d09980dd71" providerId="ADAL" clId="{9AAC7DDA-9862-4F25-B568-460DED6EBA8A}" dt="2026-09-16T10:28:42.008" v="1" actId="478"/>
          <ac:spMkLst>
            <pc:docMk/>
            <pc:sldMk cId="0" sldId="256"/>
            <ac:spMk id="2" creationId="{00000000-0000-0000-0000-000000000000}"/>
          </ac:spMkLst>
        </pc:spChg>
        <pc:spChg chg="del">
          <ac:chgData name="abdulaziz saleh M algablan" userId="e8d9e4d9-6f25-472c-9315-01d09980dd71" providerId="ADAL" clId="{9AAC7DDA-9862-4F25-B568-460DED6EBA8A}" dt="2026-09-16T10:28:42.850" v="2" actId="478"/>
          <ac:spMkLst>
            <pc:docMk/>
            <pc:sldMk cId="0" sldId="256"/>
            <ac:spMk id="3" creationId="{00000000-0000-0000-0000-000000000000}"/>
          </ac:spMkLst>
        </pc:spChg>
        <pc:picChg chg="del">
          <ac:chgData name="abdulaziz saleh M algablan" userId="e8d9e4d9-6f25-472c-9315-01d09980dd71" providerId="ADAL" clId="{9AAC7DDA-9862-4F25-B568-460DED6EBA8A}" dt="2026-09-16T10:28:40.738" v="0" actId="478"/>
          <ac:picMkLst>
            <pc:docMk/>
            <pc:sldMk cId="0" sldId="256"/>
            <ac:picMk id="4" creationId="{00000000-0000-0000-0000-000000000000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1E2761"/>
                </a:solidFill>
                <a:latin typeface="Arial"/>
              </a:rPr>
              <a:t>Cost – 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 Expenses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33384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42000</c:v>
                </c:pt>
                <c:pt idx="1">
                  <c:v>28000</c:v>
                </c:pt>
                <c:pt idx="2">
                  <c:v>22000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AF-4A2F-A967-4B8CC1C4EEE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Planned Benefits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33384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10000</c:v>
                </c:pt>
                <c:pt idx="1">
                  <c:v>46000</c:v>
                </c:pt>
                <c:pt idx="2">
                  <c:v>61000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AF-4A2F-A967-4B8CC1C4EEE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FF5"/>
              </a:solidFill>
              <a:prstDash val="solid"/>
              <a:round/>
            </a:ln>
          </c:spPr>
        </c:majorGridlines>
        <c:numFmt formatCode="\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84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0792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hyperlink" Target="https://creativecommons.org/licenses/by-nc/3.0/" TargetMode="External"/><Relationship Id="rId4" Type="http://schemas.openxmlformats.org/officeDocument/2006/relationships/image" Target="../media/image9.png"/><Relationship Id="rId9" Type="http://schemas.openxmlformats.org/officeDocument/2006/relationships/hyperlink" Target="https://www.duperrin.com/english/2021/05/25/the-manager-in-the-employee-experience-soft-skills-are-not-everything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822960" y="2286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SYSTEMS ANALYSIS &amp; DESIGN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77240" y="265176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the Information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Project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822960" y="452628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452628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1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746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70078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information systems projects are managed from start to finish.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237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5237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47802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skills an effective project manager needs.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3009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325526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project manager's activities across initiation, planning, execution, and closedown.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403250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critical path scheduling, and how to build Gantt charts and network diagrams.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85546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855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80974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project management software supports scheduling and tracking.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Importance of Project Management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</a:t>
            </a:r>
            <a:r>
              <a:rPr lang="en-US" sz="17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 important factor</a:t>
            </a:r>
            <a:r>
              <a:rPr lang="en-US" sz="17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whether a systems development effort succeeds.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660904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30266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ons/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" y="3216859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895344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Meets Customer Expectations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4352544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PM keeps deliverables aligned with what the customer actually asked for.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7920" y="2660904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583680" y="30266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icons/clo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875" y="3216859"/>
            <a:ext cx="351130" cy="3511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0" y="3895344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Respects Budget &amp; Time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83680" y="4352544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keeps the project inside the budget and schedule constraints set at the start.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48640" y="526694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skills are difficult to master — and important to keep sharpening.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Deciding on Systems Projects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92224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12264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filetex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2314346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975104"/>
            <a:ext cx="9052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Service Request (SSR)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74520" y="2414016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form used to request or propose systems development work within an organization.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83864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68680" y="3803904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compas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005986"/>
            <a:ext cx="373075" cy="373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666744"/>
            <a:ext cx="9052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Study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874520" y="4105656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assessment of whether a requested system makes economic and operational sense for the organization.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Service Request in Practice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46504"/>
            <a:ext cx="65836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746504"/>
            <a:ext cx="6583680" cy="4023360"/>
          </a:xfrm>
          <a:prstGeom prst="rect">
            <a:avLst/>
          </a:prstGeom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929384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SERVICE REQUEST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3230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BY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0" y="243230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 Jackson, Purchasing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2816352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90779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0" y="29077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1,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91840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3383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0" y="3383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/ Purchasing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38587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REQUEST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0" y="38587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System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242816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2960" y="4334256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0" y="433425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sales volume has outpaced what current systems can track.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" y="4718304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480974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LIAISON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0" y="48097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 Martin, Purchasing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" y="5193792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22960" y="528523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743200" y="52852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V.P. of Manufacturing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22960" y="5669280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589520" y="1746504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goes into an SSR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589520" y="2368296"/>
            <a:ext cx="91440" cy="914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818120" y="2144358"/>
            <a:ext cx="3824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requesting the system, and their contact information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145536"/>
            <a:ext cx="91440" cy="914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818120" y="2921598"/>
            <a:ext cx="3824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statement of the business problem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589520" y="3922776"/>
            <a:ext cx="91440" cy="914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818120" y="3698838"/>
            <a:ext cx="3824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liaison and sponsor who will support the project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5907024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3-2 — A Systems Priority Board reviews each SSR; limited time and resources mean not every request is approved.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the Information Systems Project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92224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12264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briefcas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2314346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975104"/>
            <a:ext cx="9052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74520" y="2414016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planned undertaking of related activities aimed at a single objective — with a defined beginning and end.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83864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68680" y="3803904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setting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005986"/>
            <a:ext cx="373075" cy="373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666744"/>
            <a:ext cx="9052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Management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874520" y="4105656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controlled process of initiating, planning, executing, and closing down a project.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the Information Systems Project (cont.)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92224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12264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2314346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975104"/>
            <a:ext cx="9052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Manager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74520" y="2414016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systems analyst with the management and leadership skills to lead initiation, planning, execution, and closedown.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83864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68680" y="3803904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checkcirc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005986"/>
            <a:ext cx="373075" cy="373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666744"/>
            <a:ext cx="9052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Deliverable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874520" y="4105656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tangible end product produced at the close of an SDLC phase.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Management Activities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93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manager juggles many concurrent activities — the role is a hub, not a single track.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6095848" y="3454603"/>
            <a:ext cx="9144" cy="239573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V="1">
            <a:off x="6698731" y="3858680"/>
            <a:ext cx="522640" cy="229327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698731" y="4617081"/>
            <a:ext cx="522640" cy="229327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095848" y="5010912"/>
            <a:ext cx="9144" cy="239573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 flipH="1">
            <a:off x="4970324" y="4617081"/>
            <a:ext cx="522640" cy="229327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flipH="1" flipV="1">
            <a:off x="4970324" y="3858680"/>
            <a:ext cx="522640" cy="229327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56936" y="2558491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icons/user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170" y="2786725"/>
            <a:ext cx="421356" cy="4213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181448" y="2064715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1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201128" y="3236062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icons/user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362" y="3464296"/>
            <a:ext cx="421356" cy="4213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725640" y="274228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7201128" y="4591202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icons/aler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362" y="4819437"/>
            <a:ext cx="421356" cy="4213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25640" y="554217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</a:t>
            </a:r>
            <a:endParaRPr lang="en-US" sz="11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656936" y="5268773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icons/gitbranc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5170" y="5497007"/>
            <a:ext cx="421356" cy="4213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181448" y="621974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112743" y="4591202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4" descr="icons/setting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0977" y="4819437"/>
            <a:ext cx="421356" cy="4213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637255" y="554217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&amp;</a:t>
            </a:r>
            <a:endParaRPr lang="en-US" sz="11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4112743" y="3236062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icons/briefcase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0977" y="3464296"/>
            <a:ext cx="421356" cy="4213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637255" y="274228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</a:t>
            </a:r>
            <a:endParaRPr lang="en-US" sz="11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1150" dirty="0"/>
          </a:p>
        </p:txBody>
      </p:sp>
      <p:sp>
        <p:nvSpPr>
          <p:cNvPr id="30" name="Text 22"/>
          <p:cNvSpPr/>
          <p:nvPr/>
        </p:nvSpPr>
        <p:spPr>
          <a:xfrm>
            <a:off x="5474056" y="3730752"/>
            <a:ext cx="1243584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2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2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4FEC376-2EF2-2C29-44EF-BD3A9B0E5CD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5154329" y="3767328"/>
            <a:ext cx="1805055" cy="1203075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904BA73-D81A-DCD8-F949-52CD407A42F0}"/>
              </a:ext>
            </a:extLst>
          </p:cNvPr>
          <p:cNvSpPr txBox="1"/>
          <p:nvPr/>
        </p:nvSpPr>
        <p:spPr>
          <a:xfrm>
            <a:off x="9088536" y="6079017"/>
            <a:ext cx="30056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9" tooltip="https://www.duperrin.com/english/2021/05/25/the-manager-in-the-employee-experience-soft-skills-are-not-everything/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10" tooltip="https://creativecommons.org/licenses/by-nc/3.0/"/>
              </a:rPr>
              <a:t>CC BY-NC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of the Project Management Process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75308" y="3255264"/>
            <a:ext cx="864108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18108" y="2798064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fla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52" y="3035808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6588" y="38496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86588" y="4123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Initiation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4198468" y="2798064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icons/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6212" y="303580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66948" y="38496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466948" y="4123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7078828" y="2798064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icons/pla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572" y="3035808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47308" y="38496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6347308" y="4123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9959188" y="2798064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icons/checkcirc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6932" y="3035808"/>
            <a:ext cx="438912" cy="4389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27668" y="38496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9227668" y="4123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Closedown</a:t>
            </a:r>
            <a:endParaRPr lang="en-US" sz="1900" dirty="0"/>
          </a:p>
        </p:txBody>
      </p:sp>
      <p:sp>
        <p:nvSpPr>
          <p:cNvPr id="21" name="Text 1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Initiation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the project's size, scope, and complexity, and put initial procedures in place.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865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252923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233172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Initiation team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172200" y="23865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ons/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846" y="2529230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233172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relationship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48640" y="33009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ons/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" y="3443630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324612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initiation plan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172200" y="33009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icons/setting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4846" y="3443630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24612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procedures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42153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icons/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86" y="4358030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280160" y="416052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 environment</a:t>
            </a:r>
            <a:endParaRPr lang="en-US" sz="1450" dirty="0"/>
          </a:p>
        </p:txBody>
      </p:sp>
      <p:sp>
        <p:nvSpPr>
          <p:cNvPr id="20" name="Shape 13"/>
          <p:cNvSpPr/>
          <p:nvPr/>
        </p:nvSpPr>
        <p:spPr>
          <a:xfrm>
            <a:off x="6172200" y="42153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5" descr="icons/filetex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4846" y="4358030"/>
            <a:ext cx="263347" cy="263347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16052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workbook</a:t>
            </a:r>
            <a:endParaRPr lang="en-US" sz="1450" dirty="0"/>
          </a:p>
        </p:txBody>
      </p:sp>
      <p:sp>
        <p:nvSpPr>
          <p:cNvPr id="23" name="Text 1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3-6 (RECREATED)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Workbook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37944"/>
            <a:ext cx="2926080" cy="3566160"/>
          </a:xfrm>
          <a:prstGeom prst="roundRect">
            <a:avLst>
              <a:gd name="adj" fmla="val 218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215798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229514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243230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270662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284378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600200" y="3483864"/>
            <a:ext cx="1005840" cy="100584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icons/layer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1718" y="3745382"/>
            <a:ext cx="482803" cy="48280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462686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WORKBOOK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14800" y="195681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370832" y="166386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016088" y="195681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272120" y="1646602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SSR &amp; feasibility study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114800" y="273405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370832" y="244110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statement &amp; staffing plan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016088" y="273405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272120" y="2423842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process descriptions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4114800" y="351129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370832" y="321834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correspondence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016088" y="351129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272120" y="3201082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schedule &amp; charter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114800" y="428853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370832" y="399558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procedures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8016088" y="428853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272120" y="3978322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reports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114800" y="506577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4370832" y="477282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requests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48640" y="554126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key documents, kept in both hard-copy and electronic form throughout the project.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Planning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clear, discrete activities and the work needed to complete each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03704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203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217627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scope, alternatives &amp; feasibility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03704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72200" y="2203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75120" y="217627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the project into tasks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706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770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resource requirements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7706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72200" y="2770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7512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preliminary schedule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3756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1560" y="331012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communication 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72200" y="333756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7220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675120" y="331012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standards &amp; procedures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90448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39044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51560" y="387705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assess risk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72200" y="390448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172200" y="39044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675120" y="387705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preliminary budget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47141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44714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51560" y="444398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statement of work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72200" y="447141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172200" y="44714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675120" y="444398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baseline project plan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 Detail Over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34640" y="1975104"/>
            <a:ext cx="0" cy="2880360"/>
          </a:xfrm>
          <a:prstGeom prst="line">
            <a:avLst/>
          </a:prstGeom>
          <a:noFill/>
          <a:ln w="19050">
            <a:solidFill>
              <a:srgbClr val="B9C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834640" y="4855464"/>
            <a:ext cx="7315200" cy="0"/>
          </a:xfrm>
          <a:prstGeom prst="line">
            <a:avLst/>
          </a:prstGeom>
          <a:noFill/>
          <a:ln w="19050">
            <a:solidFill>
              <a:srgbClr val="B9C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179222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645920" y="323240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645920" y="467258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 rot="16200000">
            <a:off x="-45720" y="323240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of Planning Detail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1975104"/>
            <a:ext cx="3589534" cy="1413379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92240" y="3415284"/>
            <a:ext cx="3589534" cy="1413379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61488" y="1901952"/>
            <a:ext cx="146304" cy="146304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19088" y="3342132"/>
            <a:ext cx="146304" cy="146304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076688" y="4782312"/>
            <a:ext cx="146304" cy="146304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011680" y="49469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 Out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0" y="49469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Month Out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26880" y="49469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34640" y="5266944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Horizon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67842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detail should be high for the near term, with less detail the further out the plan reaches.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DELIVERABLES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 of Project Planning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92224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122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filetex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2302459"/>
            <a:ext cx="351130" cy="351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80944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Statement of Work (SOW)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666744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“contract” between IS staff and the customer covering deliverables and time estimates.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792224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17720" y="21122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layer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7915" y="2302459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980944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Project Plan (BPP)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72000" y="3666744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of scope, benefits, schedules, costs, risks, and resource needs.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792224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66760" y="21122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icons/dolla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6955" y="2302459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1040" y="2980944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 Budget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21040" y="3666744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cost-benefit analysis outlining planned expenses and revenues.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DELIVERABLES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 of Project Planning (cont.)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92224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122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2302459"/>
            <a:ext cx="351130" cy="351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80944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Breakdown Structure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666744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the project into manageable, logically ordered tasks and subtasks.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792224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17720" y="21122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barchar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7915" y="2302459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980944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Chart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72000" y="3666744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represent task durations, laid out on a timeline.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792224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66760" y="21122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icons/gitbranc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6955" y="2302459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1040" y="2980944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Diagram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21040" y="3666744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and links represent dependencies between tasks.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Diagrams: Gantt Chart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34640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0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062549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788229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90457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16137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8366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44046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46274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71954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974183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99863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202091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27771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430000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155680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18836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Requirements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2002536"/>
            <a:ext cx="3683726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23408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Interview 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18366" y="2459736"/>
            <a:ext cx="613954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27980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Appointments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132320" y="2916936"/>
            <a:ext cx="613954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32552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Interviews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46274" y="3374136"/>
            <a:ext cx="2455817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40" y="37124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Current Reports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18366" y="3831336"/>
            <a:ext cx="1534886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41696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Reports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18366" y="4288536"/>
            <a:ext cx="306977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46268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Results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202091" y="4745736"/>
            <a:ext cx="1227909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" y="5404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chart showing project tasks, their durations, and how they overlap on a shared timeline (in days).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576986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Special-purpose project management software is available for this.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Diagrams: Network Diagram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 flipV="1">
            <a:off x="2016468" y="2098088"/>
            <a:ext cx="1362024" cy="30267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16468" y="2646728"/>
            <a:ext cx="1362024" cy="30267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498848" y="197510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498848" y="307238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67728" y="197510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967728" y="307238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19681" y="2112604"/>
            <a:ext cx="1094558" cy="273640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 flipV="1">
            <a:off x="9419681" y="2661244"/>
            <a:ext cx="1094558" cy="273640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96112" y="215798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96112" y="215798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6499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6499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Form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6499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6499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83387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3387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3387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3387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30275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30275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30275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0275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0497312" y="215798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497312" y="215798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389534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Rectangles represent tasks; arrows show the sequence and dependencies between them.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4261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Special-purpose project management software is available for this.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3-15 (RECREATED)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 Budget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822960" y="1883664"/>
          <a:ext cx="10515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24144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financial cost-and-benefit analysis for a systems development project. Spreadsheet software is well suited to this.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Execution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created in the prior phases are put into action.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951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pla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243779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43868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baseline project plan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30723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ons/barchar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" y="3215030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21592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progress against the baseline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0080" y="384962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ons/gitbranc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" y="3992270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99316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changes to the baseline plan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40080" y="462686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icons/filetex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726" y="4769510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71600" y="477040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the project workbook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40080" y="540410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icons/messag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726" y="5546750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371600" y="553902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project status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21" name="Text 1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3-17 (RECREATED)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Progress with a Gantt Chart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834640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0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062549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788229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90457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16137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8366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44046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46274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71954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974183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99863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202091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27771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430000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155680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1883664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Requirements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1995743"/>
            <a:ext cx="3683726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834640" y="1995743"/>
            <a:ext cx="3683726" cy="206916"/>
          </a:xfrm>
          <a:prstGeom prst="roundRect">
            <a:avLst>
              <a:gd name="adj" fmla="val 11048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2314738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Interview 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18366" y="2426818"/>
            <a:ext cx="613954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2745813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Appointments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132320" y="2857892"/>
            <a:ext cx="613954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3176887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Interviews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46274" y="3288966"/>
            <a:ext cx="2455817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746274" y="3288966"/>
            <a:ext cx="982327" cy="206916"/>
          </a:xfrm>
          <a:prstGeom prst="roundRect">
            <a:avLst>
              <a:gd name="adj" fmla="val 11048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3607961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Current Reports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18366" y="3720040"/>
            <a:ext cx="1534886" cy="206916"/>
          </a:xfrm>
          <a:prstGeom prst="roundRect">
            <a:avLst>
              <a:gd name="adj" fmla="val 1104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4039035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Reports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18366" y="4151115"/>
            <a:ext cx="306977" cy="206916"/>
          </a:xfrm>
          <a:prstGeom prst="roundRect">
            <a:avLst>
              <a:gd name="adj" fmla="val 1104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518366" y="4151115"/>
            <a:ext cx="306977" cy="206916"/>
          </a:xfrm>
          <a:prstGeom prst="roundRect">
            <a:avLst>
              <a:gd name="adj" fmla="val 11048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4470110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Results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202091" y="4582189"/>
            <a:ext cx="1227909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48640" y="5221224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14400" y="51480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926080" y="5221224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91840" y="51480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 complete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ALIGNED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Methods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718408" y="1883664"/>
            <a:ext cx="475488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5" name="Text 3"/>
          <p:cNvSpPr/>
          <p:nvPr/>
        </p:nvSpPr>
        <p:spPr>
          <a:xfrm>
            <a:off x="3718408" y="195681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Formality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992728" y="226771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workbook · Status reports · Specification documents · Meeting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12568" y="2843784"/>
            <a:ext cx="676656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8" name="Text 6"/>
          <p:cNvSpPr/>
          <p:nvPr/>
        </p:nvSpPr>
        <p:spPr>
          <a:xfrm>
            <a:off x="2712568" y="2916936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Formality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986888" y="3227832"/>
            <a:ext cx="6217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· Seminars &amp; workshops · Memos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706728" y="3803904"/>
            <a:ext cx="877824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1" name="Text 9"/>
          <p:cNvSpPr/>
          <p:nvPr/>
        </p:nvSpPr>
        <p:spPr>
          <a:xfrm>
            <a:off x="1706728" y="3877056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Formality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81048" y="41879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 boards · Brown-bag lunches · Hallway discussions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Closedown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project to a formal end.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865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252923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530126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down the project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325526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ons/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" y="3397910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398806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post-project reviews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0080" y="41239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ons/awar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" y="4266590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4267486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customer contract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Representing and Scheduling Project Plans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1236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barchar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3886" y="2419502"/>
            <a:ext cx="482803" cy="482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944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Charts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35264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icons/gitbranch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166" y="2419502"/>
            <a:ext cx="482803" cy="48280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84972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Diagrams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59292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icons/clock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4446" y="2419502"/>
            <a:ext cx="482803" cy="48280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09000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 Calculations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783320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icons/trending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4726" y="2419502"/>
            <a:ext cx="482803" cy="48280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33028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Scheduling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1007348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4" descr="icons/setting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2419502"/>
            <a:ext cx="482803" cy="48280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57056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 Software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20" name="Text 13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Charts vs. Network Diagrams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92224"/>
            <a:ext cx="5120640" cy="3657600"/>
          </a:xfrm>
          <a:prstGeom prst="roundRect">
            <a:avLst>
              <a:gd name="adj" fmla="val 2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12264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bar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290572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579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Charts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868680" y="310896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15568" y="2885021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task durations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384048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115568" y="3616541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time overlap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68680" y="457200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115568" y="4348061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slack time within a bar's duration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217920" y="1792224"/>
            <a:ext cx="5120640" cy="3657600"/>
          </a:xfrm>
          <a:prstGeom prst="roundRect">
            <a:avLst>
              <a:gd name="adj" fmla="val 2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537960" y="2112264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icons/gitbran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268" y="2290572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406640" y="21579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Diagrams</a:t>
            </a:r>
            <a:endParaRPr lang="en-US" sz="1900" dirty="0"/>
          </a:p>
        </p:txBody>
      </p:sp>
      <p:sp>
        <p:nvSpPr>
          <p:cNvPr id="18" name="Shape 14"/>
          <p:cNvSpPr/>
          <p:nvPr/>
        </p:nvSpPr>
        <p:spPr>
          <a:xfrm>
            <a:off x="6537960" y="310896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6784848" y="289364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task dependencies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6537960" y="384048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784848" y="362516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parallelism, not time overlap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537960" y="457200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6784848" y="435668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slack time inside the boxes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MATH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Estimating Task Duration with PERT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 — Program Evaluation Review Technique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12264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an optimistic (o), pessimistic (p), and realistic (r) time estimate to produce one expected task duration.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31720" y="3183147"/>
            <a:ext cx="5011947" cy="1077957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194560" y="2889504"/>
            <a:ext cx="7772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 =  ( o + 4r + p ) / 6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69468" y="471830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69468" y="51023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time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66948" y="471830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66948" y="51023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(most likely) time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64428" y="471830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64428" y="51023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Pessimistic time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61908" y="471830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861908" y="51023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task duration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PERT Analysis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389997"/>
              </p:ext>
            </p:extLst>
          </p:nvPr>
        </p:nvGraphicFramePr>
        <p:xfrm>
          <a:off x="1005840" y="1883664"/>
          <a:ext cx="10149840" cy="329184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Expected Time (ET)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1. Requirements Collection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2. Screen Design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3. Report Design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4. Database Design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5. User Documentation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5.5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6. Programming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7. Testing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8. Installation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04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Estimated time calculations for the project, using ET = (o + 4r + p) / 6.</a:t>
            </a:r>
            <a:endParaRPr lang="en-US" sz="1250" b="1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MATH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Scheduling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scheduling technique in which the order and duration of a sequence of activities directly determines the project's completion date.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78024"/>
            <a:ext cx="10789920" cy="1280160"/>
          </a:xfrm>
          <a:prstGeom prst="roundRect">
            <a:avLst>
              <a:gd name="adj" fmla="val 5714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8680" y="2734056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ons/trend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2924251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2587752"/>
            <a:ext cx="905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980944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shortest time in which the entire project can be completed — its longest chain of dependent tasks.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941064"/>
            <a:ext cx="10789920" cy="1280160"/>
          </a:xfrm>
          <a:prstGeom prst="roundRect">
            <a:avLst>
              <a:gd name="adj" fmla="val 5714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8680" y="4197096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icons/clo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875" y="4387291"/>
            <a:ext cx="351130" cy="3511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874520" y="4050792"/>
            <a:ext cx="905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Slack Time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4443984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an activity can be delayed without pushing back the overall project.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Example: Dependencies</a:t>
            </a:r>
            <a:endParaRPr lang="en-US" sz="27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8382062"/>
              </p:ext>
            </p:extLst>
          </p:nvPr>
        </p:nvGraphicFramePr>
        <p:xfrm>
          <a:off x="1463040" y="1883664"/>
          <a:ext cx="5943600" cy="329184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Preceding Activity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84A"/>
                          </a:solidFill>
                        </a:rPr>
                        <a:t>1. Requirements Collection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84A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84A"/>
                          </a:solidFill>
                        </a:rPr>
                        <a:t>2. Screen Design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84A"/>
                          </a:solidFill>
                        </a:rPr>
                        <a:t>3. Report Design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84A"/>
                          </a:solidFill>
                        </a:rPr>
                        <a:t>4. Database Design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84A"/>
                          </a:solidFill>
                        </a:rPr>
                        <a:t>2, 3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84A"/>
                          </a:solidFill>
                        </a:rPr>
                        <a:t>5. User Documentation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84A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84A"/>
                          </a:solidFill>
                        </a:rPr>
                        <a:t>6. Programming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84A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84A"/>
                          </a:solidFill>
                        </a:rPr>
                        <a:t>7. Testing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84A"/>
                          </a:solidFill>
                        </a:rPr>
                        <a:t>8. Installation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84A"/>
                          </a:solidFill>
                        </a:rPr>
                        <a:t>5, 7</a:t>
                      </a:r>
                      <a:endParaRPr lang="en-US" sz="14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80960" y="2157984"/>
            <a:ext cx="396209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preceding activity must finish before the specified activity can begin.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680960" y="3438144"/>
            <a:ext cx="39620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This dependency table is the direct input to the network diagram on the next slide.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Example: Network Diagram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 flipV="1">
            <a:off x="1543681" y="280751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43681" y="367619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46801" y="280751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 flipV="1">
            <a:off x="3646801" y="367619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V="1">
            <a:off x="5749921" y="280751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749921" y="367619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882128" y="439826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872665" y="2745632"/>
            <a:ext cx="3091310" cy="699225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 flipV="1">
            <a:off x="9944703" y="3701335"/>
            <a:ext cx="1050354" cy="525177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04672" y="31455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04672" y="31455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907792" y="22768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07792" y="22768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907792" y="401421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907792" y="401421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10912" y="31455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10912" y="31455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114032" y="22768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14032" y="22768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114032" y="401421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14032" y="401421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217152" y="401421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17152" y="401421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954512" y="31455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954512" y="31455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499262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Circles represent activities; arrows show the sequence between them.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535838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diagram showing dependencies for the same eight activities.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Determining the Critical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836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883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792224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Pass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17320" y="2176272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each activity's earliest possible completion time by summing activity times along the longest path leading to it. This gives the total expected project time.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026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Backward Pass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19272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each activity's latest possible completion time by subtracting the activity times on the path that follows it from the total expected time. This gives each activity's slack.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1696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4169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Path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4462272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path is the chain of activities with zero slack — any delay there delays the whole project.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Calculation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 flipV="1">
            <a:off x="1543681" y="285323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43681" y="372191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46801" y="285323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 flipV="1">
            <a:off x="3646801" y="372191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V="1">
            <a:off x="5749921" y="2853238"/>
            <a:ext cx="1393198" cy="575452"/>
          </a:xfrm>
          <a:prstGeom prst="line">
            <a:avLst/>
          </a:prstGeom>
          <a:noFill/>
          <a:ln w="19050">
            <a:solidFill>
              <a:srgbClr val="6B7A99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749921" y="372191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882128" y="4443984"/>
            <a:ext cx="1335024" cy="9144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872665" y="2791352"/>
            <a:ext cx="3091310" cy="699225"/>
          </a:xfrm>
          <a:prstGeom prst="line">
            <a:avLst/>
          </a:prstGeom>
          <a:noFill/>
          <a:ln w="19050">
            <a:solidFill>
              <a:srgbClr val="6B7A99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 flipV="1">
            <a:off x="9944703" y="3747055"/>
            <a:ext cx="1050354" cy="525177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04672" y="31912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04672" y="31912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40325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0  |  LS 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07792" y="232257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907792" y="232257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06040" y="192938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5  |  LS 5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07792" y="40599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907792" y="40599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06040" y="490118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5  |  LS 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10912" y="31912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10912" y="31912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09160" y="40325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13  |  LS 13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114032" y="232257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14032" y="232257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12280" y="192938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18.5  |  LS 21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14032" y="40599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14032" y="40599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80" y="490118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18  |  LS 18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217152" y="40599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217152" y="40599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15400" y="490118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21  |  LS 21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954512" y="31912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954512" y="31912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652760" y="40325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22  |  LS 22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5175504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and late times are calculated for each activity; Activity 5 can begin late without affecting the finish date.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Calculation (cont.)</a:t>
            </a:r>
            <a:endParaRPr lang="en-US" sz="27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929384"/>
          <a:ext cx="9235440" cy="32918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TE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TL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Slack (TL − TE)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On Critical Path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33384A"/>
                          </a:solidFill>
                        </a:rPr>
                        <a:t>2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33384A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18.5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</a:rPr>
                        <a:t>2.5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7A99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18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18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33384A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33384A"/>
                          </a:solidFill>
                        </a:rPr>
                        <a:t>8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22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22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04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activity except Activity 5 sits on the critical path — note its 2.5-day slack.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Project Management Software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powerful software tools exist to assist with project management — Microsoft Project is a common example.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237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calend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266639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46888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project start date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339242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ons/gitbran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" y="3535070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3375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tasks and task dependencies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0080" y="426110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ons/barchar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" y="4403750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42062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project information as Gantt or network diagrams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the Project Start Date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920240" y="1883664"/>
            <a:ext cx="83210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8888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920240" y="1883664"/>
            <a:ext cx="8321040" cy="3108960"/>
          </a:xfrm>
          <a:prstGeom prst="rect">
            <a:avLst/>
          </a:prstGeom>
          <a:ln w="12700">
            <a:solidFill>
              <a:srgbClr val="D8DE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920240" y="1883664"/>
            <a:ext cx="832104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194560" y="1883664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INFORMATION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77440" y="2752344"/>
            <a:ext cx="822960" cy="82296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icons/calendar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1410" y="2966314"/>
            <a:ext cx="395021" cy="39502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474720" y="27980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Start Date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474720" y="3118104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 3, 2027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2194560" y="3849624"/>
            <a:ext cx="7772400" cy="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377440" y="4032504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mode: Auto  ·  Calendar: Standard (5-day week)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595360" y="430682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595360" y="430682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2122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schedule anchors to a starting date; the software calculates every other date from there.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Entering Tasks and Dependencies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883664"/>
          <a:ext cx="9235440" cy="3291840"/>
        </p:xfrm>
        <a:graphic>
          <a:graphicData uri="http://schemas.openxmlformats.org/drawingml/2006/table">
            <a:tbl>
              <a:tblPr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Task Name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Duration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Predecessors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1. Define Requirements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 days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—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2. Design Interview Form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 day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3. Schedule Appointments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 day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4. Conduct Interviews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4 days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5. Review Current Reports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2.5 days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6. Collect Reports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0.5 days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7. Summarize Results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 days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4, 6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04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tasks, durations, and predecessors are entered, the software builds the Gantt and network views automatically.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Viewing a Network Diagram in Software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 flipV="1">
            <a:off x="2016468" y="2098088"/>
            <a:ext cx="1362024" cy="302672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16468" y="2646728"/>
            <a:ext cx="1362024" cy="302672"/>
          </a:xfrm>
          <a:prstGeom prst="line">
            <a:avLst/>
          </a:prstGeom>
          <a:noFill/>
          <a:ln w="19050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498848" y="1975104"/>
            <a:ext cx="1335024" cy="9144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498848" y="3072384"/>
            <a:ext cx="1335024" cy="9144"/>
          </a:xfrm>
          <a:prstGeom prst="line">
            <a:avLst/>
          </a:prstGeom>
          <a:noFill/>
          <a:ln w="19050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67728" y="1975104"/>
            <a:ext cx="1335024" cy="9144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967728" y="3072384"/>
            <a:ext cx="1335024" cy="9144"/>
          </a:xfrm>
          <a:prstGeom prst="line">
            <a:avLst/>
          </a:prstGeom>
          <a:noFill/>
          <a:ln w="19050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19681" y="2112604"/>
            <a:ext cx="1094558" cy="273640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 flipV="1">
            <a:off x="9419681" y="2661244"/>
            <a:ext cx="1094558" cy="273640"/>
          </a:xfrm>
          <a:prstGeom prst="line">
            <a:avLst/>
          </a:prstGeom>
          <a:noFill/>
          <a:ln w="19050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96112" y="215798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96112" y="215798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6499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6499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Form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6499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6499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83387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3387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3387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3387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30275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30275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30275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0275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0497312" y="2157984"/>
            <a:ext cx="1133856" cy="731520"/>
          </a:xfrm>
          <a:prstGeom prst="hexagon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497312" y="215798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Milestone:</a:t>
            </a:r>
            <a:endParaRPr lang="en-US" sz="9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3758184"/>
            <a:ext cx="274320" cy="219456"/>
          </a:xfrm>
          <a:prstGeom prst="hexagon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14400" y="3685032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51760" y="3867912"/>
            <a:ext cx="365760" cy="0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108960" y="368503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(no slack)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Viewing a Gantt Chart in Software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834640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0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062549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788229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90457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16137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8366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44046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46274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71954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974183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99863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202091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27771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430000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155680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188366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Overview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2006498"/>
            <a:ext cx="8595360" cy="226771"/>
          </a:xfrm>
          <a:prstGeom prst="roundRect">
            <a:avLst>
              <a:gd name="adj" fmla="val 10081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834640" y="1924202"/>
            <a:ext cx="8595360" cy="54864"/>
          </a:xfrm>
          <a:prstGeom prst="rect">
            <a:avLst/>
          </a:prstGeom>
          <a:solidFill>
            <a:srgbClr val="141B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235610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Requirements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34640" y="2478938"/>
            <a:ext cx="3683726" cy="226771"/>
          </a:xfrm>
          <a:prstGeom prst="roundRect">
            <a:avLst>
              <a:gd name="adj" fmla="val 1008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834640" y="2478938"/>
            <a:ext cx="3683726" cy="226771"/>
          </a:xfrm>
          <a:prstGeom prst="roundRect">
            <a:avLst>
              <a:gd name="adj" fmla="val 1008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282854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Interview 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18366" y="2951378"/>
            <a:ext cx="613954" cy="226771"/>
          </a:xfrm>
          <a:prstGeom prst="roundRect">
            <a:avLst>
              <a:gd name="adj" fmla="val 1008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518366" y="2951378"/>
            <a:ext cx="613954" cy="226771"/>
          </a:xfrm>
          <a:prstGeom prst="roundRect">
            <a:avLst>
              <a:gd name="adj" fmla="val 1008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330098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Interviews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46274" y="3423818"/>
            <a:ext cx="2455817" cy="226771"/>
          </a:xfrm>
          <a:prstGeom prst="roundRect">
            <a:avLst>
              <a:gd name="adj" fmla="val 1008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746274" y="3423818"/>
            <a:ext cx="1227909" cy="226771"/>
          </a:xfrm>
          <a:prstGeom prst="roundRect">
            <a:avLst>
              <a:gd name="adj" fmla="val 1008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77342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Current Reports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18366" y="3896258"/>
            <a:ext cx="1534886" cy="226771"/>
          </a:xfrm>
          <a:prstGeom prst="roundRect">
            <a:avLst>
              <a:gd name="adj" fmla="val 10081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" y="424586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Kickoff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834640" y="4368698"/>
            <a:ext cx="92093" cy="226771"/>
          </a:xfrm>
          <a:prstGeom prst="roundRect">
            <a:avLst>
              <a:gd name="adj" fmla="val 2482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61488" y="4322978"/>
            <a:ext cx="274320" cy="318211"/>
          </a:xfrm>
          <a:prstGeom prst="diamond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48640" y="5056632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141B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14400" y="49651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activity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154680" y="5056632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520440" y="49651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760720" y="5056632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126480" y="49651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 complete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366760" y="5038344"/>
            <a:ext cx="201168" cy="201168"/>
          </a:xfrm>
          <a:prstGeom prst="diamond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732520" y="49651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865376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70078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information systems projects are managed from initiation through closedown.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40080" y="252374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642616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47802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an effective project manager needs.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40080" y="330098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419856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325526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manager's activities across each of the four PM phases.</a:t>
            </a:r>
            <a:endParaRPr lang="en-US" sz="1550" dirty="0"/>
          </a:p>
        </p:txBody>
      </p:sp>
      <p:sp>
        <p:nvSpPr>
          <p:cNvPr id="13" name="Shape 8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197096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25880" y="403250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scheduling, and how to build Gantt charts and network diagrams.</a:t>
            </a:r>
            <a:endParaRPr lang="en-US" sz="1550" dirty="0"/>
          </a:p>
        </p:txBody>
      </p:sp>
      <p:sp>
        <p:nvSpPr>
          <p:cNvPr id="16" name="Shape 10"/>
          <p:cNvSpPr/>
          <p:nvPr/>
        </p:nvSpPr>
        <p:spPr>
          <a:xfrm>
            <a:off x="640080" y="485546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4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974336"/>
            <a:ext cx="219456" cy="21945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25880" y="480974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project management software supports scheduling and tracking.</a:t>
            </a:r>
            <a:endParaRPr lang="en-US" sz="1550" dirty="0"/>
          </a:p>
        </p:txBody>
      </p:sp>
      <p:sp>
        <p:nvSpPr>
          <p:cNvPr id="19" name="Text 12"/>
          <p:cNvSpPr/>
          <p:nvPr/>
        </p:nvSpPr>
        <p:spPr>
          <a:xfrm>
            <a:off x="548640" y="5806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1800" dirty="0"/>
          </a:p>
        </p:txBody>
      </p:sp>
      <p:sp>
        <p:nvSpPr>
          <p:cNvPr id="20" name="Text 1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21" name="Text 1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1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 — Managing the Information Systems Project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474BC495226A4DA390799C92E36619" ma:contentTypeVersion="3" ma:contentTypeDescription="Create a new document." ma:contentTypeScope="" ma:versionID="4a73b9420067643082b04fd5dc376804">
  <xsd:schema xmlns:xsd="http://www.w3.org/2001/XMLSchema" xmlns:xs="http://www.w3.org/2001/XMLSchema" xmlns:p="http://schemas.microsoft.com/office/2006/metadata/properties" xmlns:ns2="989db138-9486-4683-8f51-7f10e453a2b1" targetNamespace="http://schemas.microsoft.com/office/2006/metadata/properties" ma:root="true" ma:fieldsID="9e51b845acc3af0fc0e9af9baecfd305" ns2:_="">
    <xsd:import namespace="989db138-9486-4683-8f51-7f10e453a2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9db138-9486-4683-8f51-7f10e453a2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145635D-42EB-40C3-867B-888906757E33}"/>
</file>

<file path=customXml/itemProps2.xml><?xml version="1.0" encoding="utf-8"?>
<ds:datastoreItem xmlns:ds="http://schemas.openxmlformats.org/officeDocument/2006/customXml" ds:itemID="{197482CC-2A00-4237-A2B8-F3417879EFD9}"/>
</file>

<file path=customXml/itemProps3.xml><?xml version="1.0" encoding="utf-8"?>
<ds:datastoreItem xmlns:ds="http://schemas.openxmlformats.org/officeDocument/2006/customXml" ds:itemID="{C2AE342A-4396-432E-BC34-F76F6A2DFE15}"/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2378</Words>
  <Application>Microsoft Office PowerPoint</Application>
  <PresentationFormat>Widescreen</PresentationFormat>
  <Paragraphs>636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abdulaziz saleh M algablan</cp:lastModifiedBy>
  <cp:revision>2</cp:revision>
  <dcterms:created xsi:type="dcterms:W3CDTF">2026-09-16T08:05:40Z</dcterms:created>
  <dcterms:modified xsi:type="dcterms:W3CDTF">2026-09-16T10:28:44Z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0x0101007F474BC495226A4DA390799C92E36619</vt:lpwstr>
  </property>
</Properties>
</file>