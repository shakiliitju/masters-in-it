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1"/>
  </p:notesMasterIdLst>
  <p:sldIdLst>
    <p:sldId id="256" r:id="rId5"/>
    <p:sldId id="257" r:id="rId6"/>
    <p:sldId id="258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aziz saleh M algablan" userId="e8d9e4d9-6f25-472c-9315-01d09980dd71" providerId="ADAL" clId="{9AAC7DDA-9862-4F25-B568-460DED6EBA8A}"/>
    <pc:docChg chg="custSel modSld">
      <pc:chgData name="abdulaziz saleh M algablan" userId="e8d9e4d9-6f25-472c-9315-01d09980dd71" providerId="ADAL" clId="{9AAC7DDA-9862-4F25-B568-460DED6EBA8A}" dt="2026-09-16T10:28:42.850" v="2" actId="478"/>
      <pc:docMkLst>
        <pc:docMk/>
      </pc:docMkLst>
      <pc:sldChg chg="delSp mod">
        <pc:chgData name="abdulaziz saleh M algablan" userId="e8d9e4d9-6f25-472c-9315-01d09980dd71" providerId="ADAL" clId="{9AAC7DDA-9862-4F25-B568-460DED6EBA8A}" dt="2026-09-16T10:28:42.850" v="2" actId="478"/>
        <pc:sldMkLst>
          <pc:docMk/>
          <pc:sldMk cId="0" sldId="256"/>
        </pc:sldMkLst>
        <pc:spChg chg="del">
          <ac:chgData name="abdulaziz saleh M algablan" userId="e8d9e4d9-6f25-472c-9315-01d09980dd71" providerId="ADAL" clId="{9AAC7DDA-9862-4F25-B568-460DED6EBA8A}" dt="2026-09-16T10:28:42.008" v="1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abdulaziz saleh M algablan" userId="e8d9e4d9-6f25-472c-9315-01d09980dd71" providerId="ADAL" clId="{9AAC7DDA-9862-4F25-B568-460DED6EBA8A}" dt="2026-09-16T10:28:42.850" v="2" actId="478"/>
          <ac:spMkLst>
            <pc:docMk/>
            <pc:sldMk cId="0" sldId="256"/>
            <ac:spMk id="3" creationId="{00000000-0000-0000-0000-000000000000}"/>
          </ac:spMkLst>
        </pc:spChg>
        <pc:picChg chg="del">
          <ac:chgData name="abdulaziz saleh M algablan" userId="e8d9e4d9-6f25-472c-9315-01d09980dd71" providerId="ADAL" clId="{9AAC7DDA-9862-4F25-B568-460DED6EBA8A}" dt="2026-09-16T10:28:40.738" v="0" actId="478"/>
          <ac:picMkLst>
            <pc:docMk/>
            <pc:sldMk cId="0" sldId="256"/>
            <ac:picMk id="4" creationId="{00000000-0000-0000-0000-00000000000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Arial"/>
              </a:rPr>
              <a:t>Cost – Benefit Analysis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 Expenses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8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42000</c:v>
                </c:pt>
                <c:pt idx="1">
                  <c:v>28000</c:v>
                </c:pt>
                <c:pt idx="2">
                  <c:v>22000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AF-4A2F-A967-4B8CC1C4EE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Planned Benefits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8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10000</c:v>
                </c:pt>
                <c:pt idx="1">
                  <c:v>46000</c:v>
                </c:pt>
                <c:pt idx="2">
                  <c:v>61000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AF-4A2F-A967-4B8CC1C4EE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FF5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384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792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SYSTEMS ANALYSIS &amp; DESIGN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6517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the Information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Project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822960" y="452628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4526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465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46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0078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information systems projects are managed from start to finish.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5237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47802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skills an effective project manager needs.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3009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300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25526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project manager's activities across initiation, planning, execution, and closedown.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40782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078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03250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critical path scheduling, and how to build Gantt charts and network diagrams.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48554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855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80974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project management software supports scheduling and tracking.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 of Project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5506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r>
              <a:rPr lang="en-US" sz="2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 important factor</a:t>
            </a:r>
            <a:r>
              <a:rPr lang="en-US" sz="2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whether a systems development effort succeeds.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660904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3026664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" y="3216859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314096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Meets Customer Expectations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986784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PM keeps deliverables aligned with what the customer asked for.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17920" y="2660904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83680" y="3026664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875" y="3216859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36815" y="3124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Respects Budget &amp; Time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583680" y="412105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the project inside the budget and schedule constraints set at the start.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48640" y="526694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skills are difficult to master — and important to keep sharpening.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Deciding on Systems Projects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92224"/>
            <a:ext cx="1078992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12264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filetex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2314346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75104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Service Request (SSR)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74520" y="2414016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form used to request or propose systems development work within an organization.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483864"/>
            <a:ext cx="1078992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68680" y="3803904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compas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005986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666744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874520" y="4105656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assessment of whether a requested system makes economic and operational sense for the organization.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Service Request in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65836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8640" y="1746504"/>
            <a:ext cx="6583680" cy="4023360"/>
          </a:xfrm>
          <a:prstGeom prst="rect">
            <a:avLst/>
          </a:prstGeom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822960" y="192938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SERVICE REQUEST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3230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BY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243230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 Jackson, Purchasing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816352"/>
            <a:ext cx="60350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822960" y="29077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9077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1, 2026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291840"/>
            <a:ext cx="60350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" name="Text 11"/>
          <p:cNvSpPr/>
          <p:nvPr/>
        </p:nvSpPr>
        <p:spPr>
          <a:xfrm>
            <a:off x="822960" y="3383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3383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/ Purchasing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767328"/>
            <a:ext cx="60350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822960" y="38587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REQUEST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786579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System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242816"/>
            <a:ext cx="60350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" name="Text 17"/>
          <p:cNvSpPr/>
          <p:nvPr/>
        </p:nvSpPr>
        <p:spPr>
          <a:xfrm>
            <a:off x="822960" y="433425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4246025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sales volume has outpaced what current systems can track.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4718304"/>
            <a:ext cx="60350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" name="Text 20"/>
          <p:cNvSpPr/>
          <p:nvPr/>
        </p:nvSpPr>
        <p:spPr>
          <a:xfrm>
            <a:off x="822960" y="480974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LIAISON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480974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Martin, Purchasing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5193792"/>
            <a:ext cx="60350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5" name="Text 23"/>
          <p:cNvSpPr/>
          <p:nvPr/>
        </p:nvSpPr>
        <p:spPr>
          <a:xfrm>
            <a:off x="822960" y="52852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0" y="52852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V.P. of Manufacturing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2960" y="5669280"/>
            <a:ext cx="60350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8" name="Text 26"/>
          <p:cNvSpPr/>
          <p:nvPr/>
        </p:nvSpPr>
        <p:spPr>
          <a:xfrm>
            <a:off x="7589520" y="1746504"/>
            <a:ext cx="4053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into an SSR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89520" y="236829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0" name="Text 28"/>
          <p:cNvSpPr/>
          <p:nvPr/>
        </p:nvSpPr>
        <p:spPr>
          <a:xfrm>
            <a:off x="7818120" y="2144358"/>
            <a:ext cx="38249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requesting the system, and their contact information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7589520" y="314553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2" name="Text 30"/>
          <p:cNvSpPr/>
          <p:nvPr/>
        </p:nvSpPr>
        <p:spPr>
          <a:xfrm>
            <a:off x="7818120" y="2921598"/>
            <a:ext cx="38249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statement of the business problem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7589520" y="392277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4" name="Text 32"/>
          <p:cNvSpPr/>
          <p:nvPr/>
        </p:nvSpPr>
        <p:spPr>
          <a:xfrm>
            <a:off x="7818120" y="3698838"/>
            <a:ext cx="38249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liaison and sponsor who will support the project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48640" y="5907024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3-2 — A Systems Priority Board reviews each SSR; limited time and resources mean not every request is approved.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19" y="30015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the Information Systems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8042" y="1187118"/>
            <a:ext cx="10560517" cy="1284494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5204" y="1447172"/>
            <a:ext cx="760715" cy="70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briefc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70" y="1521722"/>
            <a:ext cx="427767" cy="4277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66984" y="1275734"/>
            <a:ext cx="8860095" cy="372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066984" y="1736070"/>
            <a:ext cx="8860095" cy="580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planned undertaking of related activities aimed at a single objective — with a defined beginning and end.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8042" y="2557918"/>
            <a:ext cx="10560517" cy="1284494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85204" y="2817972"/>
            <a:ext cx="760715" cy="70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settin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70" y="2892522"/>
            <a:ext cx="427767" cy="4277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66984" y="2646534"/>
            <a:ext cx="8860095" cy="372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Management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066984" y="3106870"/>
            <a:ext cx="8860095" cy="580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controlled process of initiating, planning, executing, and closing down a project.</a:t>
            </a:r>
            <a:endParaRPr lang="en-US" sz="200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58633438-86F1-9E3B-2B9F-61A560FFB6A9}"/>
              </a:ext>
            </a:extLst>
          </p:cNvPr>
          <p:cNvSpPr/>
          <p:nvPr/>
        </p:nvSpPr>
        <p:spPr>
          <a:xfrm>
            <a:off x="786064" y="3938338"/>
            <a:ext cx="10560517" cy="1284494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9D1B7CA4-8834-1E09-588B-9C5C2CE5F89E}"/>
              </a:ext>
            </a:extLst>
          </p:cNvPr>
          <p:cNvSpPr/>
          <p:nvPr/>
        </p:nvSpPr>
        <p:spPr>
          <a:xfrm>
            <a:off x="893226" y="4198392"/>
            <a:ext cx="760715" cy="70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0" descr="icons/users_white.png">
            <a:extLst>
              <a:ext uri="{FF2B5EF4-FFF2-40B4-BE49-F238E27FC236}">
                <a16:creationId xmlns:a16="http://schemas.microsoft.com/office/drawing/2014/main" id="{A927E89E-FA08-EE97-24B2-2FD027333E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092" y="4272942"/>
            <a:ext cx="427767" cy="427767"/>
          </a:xfrm>
          <a:prstGeom prst="rect">
            <a:avLst/>
          </a:prstGeom>
        </p:spPr>
      </p:pic>
      <p:sp>
        <p:nvSpPr>
          <p:cNvPr id="23" name="Text 4">
            <a:extLst>
              <a:ext uri="{FF2B5EF4-FFF2-40B4-BE49-F238E27FC236}">
                <a16:creationId xmlns:a16="http://schemas.microsoft.com/office/drawing/2014/main" id="{ECAF7D9D-7AA9-D792-4C4A-D8D54F587CF9}"/>
              </a:ext>
            </a:extLst>
          </p:cNvPr>
          <p:cNvSpPr/>
          <p:nvPr/>
        </p:nvSpPr>
        <p:spPr>
          <a:xfrm>
            <a:off x="2075006" y="4026954"/>
            <a:ext cx="8860095" cy="372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Manager</a:t>
            </a:r>
            <a:endParaRPr lang="en-US" sz="18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69A9A236-D5E9-F94B-16CB-7ED7D961F988}"/>
              </a:ext>
            </a:extLst>
          </p:cNvPr>
          <p:cNvSpPr/>
          <p:nvPr/>
        </p:nvSpPr>
        <p:spPr>
          <a:xfrm>
            <a:off x="2075006" y="4487290"/>
            <a:ext cx="8860095" cy="580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systems analyst with the management and leadership skills to lead initiation, planning, execution, and closedown.</a:t>
            </a:r>
            <a:endParaRPr lang="en-US" sz="2000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671FDD9A-DB3A-436C-6DA7-5FAE65C92DC7}"/>
              </a:ext>
            </a:extLst>
          </p:cNvPr>
          <p:cNvSpPr/>
          <p:nvPr/>
        </p:nvSpPr>
        <p:spPr>
          <a:xfrm>
            <a:off x="786064" y="5341222"/>
            <a:ext cx="10560517" cy="1284494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9D524C95-2A46-83C1-33AD-747159754A3B}"/>
              </a:ext>
            </a:extLst>
          </p:cNvPr>
          <p:cNvSpPr/>
          <p:nvPr/>
        </p:nvSpPr>
        <p:spPr>
          <a:xfrm>
            <a:off x="893226" y="5601276"/>
            <a:ext cx="760715" cy="70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1" descr="icons/checkcircle_white.png">
            <a:extLst>
              <a:ext uri="{FF2B5EF4-FFF2-40B4-BE49-F238E27FC236}">
                <a16:creationId xmlns:a16="http://schemas.microsoft.com/office/drawing/2014/main" id="{83417AC0-BFEA-7E2B-6E91-67461462C7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092" y="5675826"/>
            <a:ext cx="427767" cy="427767"/>
          </a:xfrm>
          <a:prstGeom prst="rect">
            <a:avLst/>
          </a:prstGeom>
        </p:spPr>
      </p:pic>
      <p:sp>
        <p:nvSpPr>
          <p:cNvPr id="33" name="Text 8">
            <a:extLst>
              <a:ext uri="{FF2B5EF4-FFF2-40B4-BE49-F238E27FC236}">
                <a16:creationId xmlns:a16="http://schemas.microsoft.com/office/drawing/2014/main" id="{DD784113-B9F8-BF4D-C27F-87AE8BA22E27}"/>
              </a:ext>
            </a:extLst>
          </p:cNvPr>
          <p:cNvSpPr/>
          <p:nvPr/>
        </p:nvSpPr>
        <p:spPr>
          <a:xfrm>
            <a:off x="2075006" y="5429838"/>
            <a:ext cx="8860095" cy="372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</a:t>
            </a:r>
            <a:endParaRPr lang="en-US" sz="18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993C1F6A-C17C-4CA3-7FB4-A4EC6DCE2B5E}"/>
              </a:ext>
            </a:extLst>
          </p:cNvPr>
          <p:cNvSpPr/>
          <p:nvPr/>
        </p:nvSpPr>
        <p:spPr>
          <a:xfrm>
            <a:off x="2075006" y="5890174"/>
            <a:ext cx="8860095" cy="5800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tangible end product produced at the close of an SDLC phase.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Management Activities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934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manager juggles many concurrent activities — the role is a hub, not a single track.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flipV="1">
            <a:off x="6095848" y="3454603"/>
            <a:ext cx="9144" cy="239573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V="1">
            <a:off x="6698731" y="3858680"/>
            <a:ext cx="522640" cy="229327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98731" y="4617081"/>
            <a:ext cx="522640" cy="229327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95848" y="5010912"/>
            <a:ext cx="9144" cy="239573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>
            <a:off x="4970324" y="4617081"/>
            <a:ext cx="522640" cy="229327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 flipV="1">
            <a:off x="4970324" y="3858680"/>
            <a:ext cx="522640" cy="229327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56936" y="2558491"/>
            <a:ext cx="877824" cy="877824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icons/us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170" y="2786725"/>
            <a:ext cx="421356" cy="4213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81448" y="2064715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7201128" y="3236062"/>
            <a:ext cx="877824" cy="877824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icons/us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362" y="3464296"/>
            <a:ext cx="421356" cy="4213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25640" y="274228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7201128" y="4591202"/>
            <a:ext cx="877824" cy="877824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aler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362" y="4819437"/>
            <a:ext cx="421356" cy="4213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5640" y="554217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5656936" y="5268773"/>
            <a:ext cx="877824" cy="877824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gitbranch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5170" y="5497007"/>
            <a:ext cx="421356" cy="4213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81448" y="6219749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dirty="0"/>
          </a:p>
        </p:txBody>
      </p:sp>
      <p:sp>
        <p:nvSpPr>
          <p:cNvPr id="23" name="Shape 17"/>
          <p:cNvSpPr/>
          <p:nvPr/>
        </p:nvSpPr>
        <p:spPr>
          <a:xfrm>
            <a:off x="4112743" y="4591202"/>
            <a:ext cx="877824" cy="877824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icons/setting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0977" y="4819437"/>
            <a:ext cx="421356" cy="4213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637255" y="554217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dirty="0"/>
          </a:p>
        </p:txBody>
      </p:sp>
      <p:sp>
        <p:nvSpPr>
          <p:cNvPr id="26" name="Shape 19"/>
          <p:cNvSpPr/>
          <p:nvPr/>
        </p:nvSpPr>
        <p:spPr>
          <a:xfrm>
            <a:off x="4112743" y="3236062"/>
            <a:ext cx="877824" cy="877824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icons/briefcas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0977" y="3464296"/>
            <a:ext cx="421356" cy="4213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637255" y="274228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5474056" y="3730752"/>
            <a:ext cx="1243584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4FEC376-2EF2-2C29-44EF-BD3A9B0E5CD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154329" y="3767328"/>
            <a:ext cx="1805055" cy="1203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of the Project Management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75308" y="3255264"/>
            <a:ext cx="864108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18108" y="2798064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fla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852" y="3035808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6588" y="38496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6588" y="412394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Initiation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198468" y="2798064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s/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6212" y="3035808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66948" y="38496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466948" y="412394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7078828" y="2798064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icons/pla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6572" y="3035808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47308" y="38496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347308" y="412394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9959188" y="2798064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icons/checkcirc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6932" y="3035808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27668" y="38496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9227668" y="412394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Closedown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Initiation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31001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project's size, scope, and complexity, and put initial procedures in place.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38658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252923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468077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 team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172200" y="238658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846" y="2529230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2468077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548640" y="330098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icons/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3443630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382477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 plan</a:t>
            </a:r>
            <a:endParaRPr lang="en-US" sz="2400" dirty="0"/>
          </a:p>
        </p:txBody>
      </p:sp>
      <p:sp>
        <p:nvSpPr>
          <p:cNvPr id="14" name="Shape 9"/>
          <p:cNvSpPr/>
          <p:nvPr/>
        </p:nvSpPr>
        <p:spPr>
          <a:xfrm>
            <a:off x="6172200" y="330098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icons/setting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4846" y="3443630"/>
            <a:ext cx="263347" cy="26334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3720" y="3382477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procedures</a:t>
            </a:r>
            <a:endParaRPr lang="en-US" sz="2400" dirty="0"/>
          </a:p>
        </p:txBody>
      </p:sp>
      <p:sp>
        <p:nvSpPr>
          <p:cNvPr id="17" name="Shape 11"/>
          <p:cNvSpPr/>
          <p:nvPr/>
        </p:nvSpPr>
        <p:spPr>
          <a:xfrm>
            <a:off x="548640" y="421538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icons/lay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" y="4358030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80160" y="4296877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environment</a:t>
            </a:r>
            <a:endParaRPr lang="en-US" sz="2400" dirty="0"/>
          </a:p>
        </p:txBody>
      </p:sp>
      <p:sp>
        <p:nvSpPr>
          <p:cNvPr id="20" name="Shape 13"/>
          <p:cNvSpPr/>
          <p:nvPr/>
        </p:nvSpPr>
        <p:spPr>
          <a:xfrm>
            <a:off x="6172200" y="421538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5" descr="icons/filetex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4846" y="4358030"/>
            <a:ext cx="263347" cy="26334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03720" y="4296877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workbook</a:t>
            </a:r>
            <a:endParaRPr lang="en-US" sz="2400" dirty="0"/>
          </a:p>
        </p:txBody>
      </p:sp>
      <p:sp>
        <p:nvSpPr>
          <p:cNvPr id="23" name="Text 1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3-6 (RECREATED)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Workbook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37944"/>
            <a:ext cx="2926080" cy="3566160"/>
          </a:xfrm>
          <a:prstGeom prst="roundRect">
            <a:avLst>
              <a:gd name="adj" fmla="val 218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157984"/>
            <a:ext cx="2651760" cy="18288"/>
          </a:xfrm>
          <a:prstGeom prst="rect">
            <a:avLst/>
          </a:prstGeom>
          <a:solidFill>
            <a:srgbClr val="3A45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295144"/>
            <a:ext cx="2651760" cy="18288"/>
          </a:xfrm>
          <a:prstGeom prst="rect">
            <a:avLst/>
          </a:prstGeom>
          <a:solidFill>
            <a:srgbClr val="3A45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432304"/>
            <a:ext cx="2651760" cy="18288"/>
          </a:xfrm>
          <a:prstGeom prst="rect">
            <a:avLst/>
          </a:prstGeom>
          <a:solidFill>
            <a:srgbClr val="3A45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569464"/>
            <a:ext cx="2651760" cy="18288"/>
          </a:xfrm>
          <a:prstGeom prst="rect">
            <a:avLst/>
          </a:prstGeom>
          <a:solidFill>
            <a:srgbClr val="3A45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706624"/>
            <a:ext cx="2651760" cy="18288"/>
          </a:xfrm>
          <a:prstGeom prst="rect">
            <a:avLst/>
          </a:prstGeom>
          <a:solidFill>
            <a:srgbClr val="3A45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843784"/>
            <a:ext cx="2651760" cy="18288"/>
          </a:xfrm>
          <a:prstGeom prst="rect">
            <a:avLst/>
          </a:prstGeom>
          <a:solidFill>
            <a:srgbClr val="3A45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00200" y="3483864"/>
            <a:ext cx="1005840" cy="100584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icons/lay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718" y="3745382"/>
            <a:ext cx="482803" cy="48280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462686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0" y="195681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70832" y="1663867"/>
            <a:ext cx="3370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016088" y="195681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72120" y="1646602"/>
            <a:ext cx="3370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SSR &amp; feasibility study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4114800" y="273405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370832" y="2441107"/>
            <a:ext cx="3370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statement &amp; staffing plan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8016088" y="273405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72120" y="2423842"/>
            <a:ext cx="3370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process descriptions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4114800" y="351129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70832" y="3218347"/>
            <a:ext cx="3370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correspondence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8016088" y="351129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272120" y="3201082"/>
            <a:ext cx="3370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 &amp; charter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4114800" y="428853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370832" y="3995587"/>
            <a:ext cx="3370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procedures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8016088" y="428853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272120" y="3978322"/>
            <a:ext cx="3370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reports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4114800" y="5065776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370832" y="4772827"/>
            <a:ext cx="3370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requests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548640" y="554126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key documents, kept in both hard-copy and electronic form throughout the project.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693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clear, discrete activities and the work needed to complete each one.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20370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203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21762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scope, alternatives &amp; feasibility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72200" y="220370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72200" y="2203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1762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project into tasks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770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resource requirements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72200" y="27706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72200" y="2770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7512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preliminary schedule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33101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communication plan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72200" y="33375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7220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75120" y="33101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standards &amp; procedures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8640" y="390448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904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51560" y="38770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assess risk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172200" y="390448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72200" y="3904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75120" y="38770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preliminary budget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48640" y="447141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4471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51560" y="444398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statement of work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172200" y="447141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72200" y="4471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75120" y="444398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baseline project plan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Detail Over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34640" y="1975104"/>
            <a:ext cx="0" cy="2880360"/>
          </a:xfrm>
          <a:prstGeom prst="line">
            <a:avLst/>
          </a:prstGeom>
          <a:noFill/>
          <a:ln w="19050">
            <a:solidFill>
              <a:srgbClr val="B9C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834640" y="4855464"/>
            <a:ext cx="7315200" cy="0"/>
          </a:xfrm>
          <a:prstGeom prst="line">
            <a:avLst/>
          </a:prstGeom>
          <a:noFill/>
          <a:ln w="19050">
            <a:solidFill>
              <a:srgbClr val="B9C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0" y="179222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645920" y="323240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645920" y="467258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 rot="16200000">
            <a:off x="-45720" y="32324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Planning Detail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1975104"/>
            <a:ext cx="3589534" cy="1413379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3415284"/>
            <a:ext cx="3589534" cy="1413379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61488" y="1901952"/>
            <a:ext cx="146304" cy="146304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19088" y="3342132"/>
            <a:ext cx="146304" cy="146304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076688" y="4782312"/>
            <a:ext cx="146304" cy="146304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11680" y="494690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Out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494690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Out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0" y="494690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526694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Horizon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67842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detail should be high for the near term, with less detail the further out the plan reaches.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DELIVERABLES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5852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Project Planning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18710"/>
            <a:ext cx="3474720" cy="2560320"/>
          </a:xfrm>
          <a:prstGeom prst="roundRect">
            <a:avLst>
              <a:gd name="adj" fmla="val 228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591862"/>
            <a:ext cx="731520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filetex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170890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191277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 of Work (SOW)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2863201"/>
            <a:ext cx="29260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“contract” between IS staff and the customer covering deliverables and time estimates.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297680" y="1518710"/>
            <a:ext cx="3474720" cy="2560320"/>
          </a:xfrm>
          <a:prstGeom prst="roundRect">
            <a:avLst>
              <a:gd name="adj" fmla="val 228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17720" y="1591862"/>
            <a:ext cx="731520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915" y="170890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191277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Project Plan (BPP)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572000" y="2863201"/>
            <a:ext cx="29260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of scope, benefits, schedules, costs, risks, and resource needs.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8046720" y="1518710"/>
            <a:ext cx="3474720" cy="2560320"/>
          </a:xfrm>
          <a:prstGeom prst="roundRect">
            <a:avLst>
              <a:gd name="adj" fmla="val 228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66760" y="1591862"/>
            <a:ext cx="731520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doll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6955" y="170890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191277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Budget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321040" y="2863201"/>
            <a:ext cx="292608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cost-benefit analysis outlining planned expenses and revenues.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A84976EC-096C-3F9C-F2F7-9BB52D356C95}"/>
              </a:ext>
            </a:extLst>
          </p:cNvPr>
          <p:cNvSpPr/>
          <p:nvPr/>
        </p:nvSpPr>
        <p:spPr>
          <a:xfrm>
            <a:off x="585537" y="4174796"/>
            <a:ext cx="3352800" cy="2542032"/>
          </a:xfrm>
          <a:prstGeom prst="roundRect">
            <a:avLst>
              <a:gd name="adj" fmla="val 228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3">
            <a:extLst>
              <a:ext uri="{FF2B5EF4-FFF2-40B4-BE49-F238E27FC236}">
                <a16:creationId xmlns:a16="http://schemas.microsoft.com/office/drawing/2014/main" id="{066D2CE8-5A84-156F-2C3D-C3DCA1AC9213}"/>
              </a:ext>
            </a:extLst>
          </p:cNvPr>
          <p:cNvSpPr/>
          <p:nvPr/>
        </p:nvSpPr>
        <p:spPr>
          <a:xfrm>
            <a:off x="857450" y="4240894"/>
            <a:ext cx="705854" cy="5810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6" name="Image 0" descr="icons/layers_white.png">
            <a:extLst>
              <a:ext uri="{FF2B5EF4-FFF2-40B4-BE49-F238E27FC236}">
                <a16:creationId xmlns:a16="http://schemas.microsoft.com/office/drawing/2014/main" id="{32BE210C-E399-1CCD-F70E-A31F4535C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849" y="4349884"/>
            <a:ext cx="363056" cy="363056"/>
          </a:xfrm>
          <a:prstGeom prst="rect">
            <a:avLst/>
          </a:prstGeom>
        </p:spPr>
      </p:pic>
      <p:sp>
        <p:nvSpPr>
          <p:cNvPr id="58" name="Text 4">
            <a:extLst>
              <a:ext uri="{FF2B5EF4-FFF2-40B4-BE49-F238E27FC236}">
                <a16:creationId xmlns:a16="http://schemas.microsoft.com/office/drawing/2014/main" id="{3C98A978-1D6F-B22C-7DA6-4DB965C60B33}"/>
              </a:ext>
            </a:extLst>
          </p:cNvPr>
          <p:cNvSpPr/>
          <p:nvPr/>
        </p:nvSpPr>
        <p:spPr>
          <a:xfrm>
            <a:off x="850231" y="4840178"/>
            <a:ext cx="2823412" cy="544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Breakdown Structure</a:t>
            </a:r>
            <a:endParaRPr lang="en-US" sz="2000" dirty="0"/>
          </a:p>
        </p:txBody>
      </p:sp>
      <p:sp>
        <p:nvSpPr>
          <p:cNvPr id="60" name="Text 5">
            <a:extLst>
              <a:ext uri="{FF2B5EF4-FFF2-40B4-BE49-F238E27FC236}">
                <a16:creationId xmlns:a16="http://schemas.microsoft.com/office/drawing/2014/main" id="{146CAC74-7121-880F-7C9D-94D06D4A0404}"/>
              </a:ext>
            </a:extLst>
          </p:cNvPr>
          <p:cNvSpPr/>
          <p:nvPr/>
        </p:nvSpPr>
        <p:spPr>
          <a:xfrm>
            <a:off x="850231" y="5513539"/>
            <a:ext cx="2823412" cy="944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the project into manageable, logically ordered tasks and subtasks.</a:t>
            </a:r>
            <a:endParaRPr lang="en-US" dirty="0"/>
          </a:p>
        </p:txBody>
      </p:sp>
      <p:sp>
        <p:nvSpPr>
          <p:cNvPr id="62" name="Shape 6">
            <a:extLst>
              <a:ext uri="{FF2B5EF4-FFF2-40B4-BE49-F238E27FC236}">
                <a16:creationId xmlns:a16="http://schemas.microsoft.com/office/drawing/2014/main" id="{48D7ED1C-4F1D-D2ED-D415-02B2F6949DD7}"/>
              </a:ext>
            </a:extLst>
          </p:cNvPr>
          <p:cNvSpPr/>
          <p:nvPr/>
        </p:nvSpPr>
        <p:spPr>
          <a:xfrm>
            <a:off x="4334577" y="4174796"/>
            <a:ext cx="3352800" cy="2542032"/>
          </a:xfrm>
          <a:prstGeom prst="roundRect">
            <a:avLst>
              <a:gd name="adj" fmla="val 228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7">
            <a:extLst>
              <a:ext uri="{FF2B5EF4-FFF2-40B4-BE49-F238E27FC236}">
                <a16:creationId xmlns:a16="http://schemas.microsoft.com/office/drawing/2014/main" id="{3CF1D271-3A11-287B-C2C7-9DBE80B819DA}"/>
              </a:ext>
            </a:extLst>
          </p:cNvPr>
          <p:cNvSpPr/>
          <p:nvPr/>
        </p:nvSpPr>
        <p:spPr>
          <a:xfrm>
            <a:off x="4606490" y="4240894"/>
            <a:ext cx="705854" cy="5810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6" name="Image 1" descr="icons/barchart_white.png">
            <a:extLst>
              <a:ext uri="{FF2B5EF4-FFF2-40B4-BE49-F238E27FC236}">
                <a16:creationId xmlns:a16="http://schemas.microsoft.com/office/drawing/2014/main" id="{058C3CFC-81CA-4634-171D-2C23BA3A2E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889" y="4349884"/>
            <a:ext cx="363056" cy="363056"/>
          </a:xfrm>
          <a:prstGeom prst="rect">
            <a:avLst/>
          </a:prstGeom>
        </p:spPr>
      </p:pic>
      <p:sp>
        <p:nvSpPr>
          <p:cNvPr id="68" name="Text 8">
            <a:extLst>
              <a:ext uri="{FF2B5EF4-FFF2-40B4-BE49-F238E27FC236}">
                <a16:creationId xmlns:a16="http://schemas.microsoft.com/office/drawing/2014/main" id="{881EAE89-592C-9D6C-88F7-8E25D4326994}"/>
              </a:ext>
            </a:extLst>
          </p:cNvPr>
          <p:cNvSpPr/>
          <p:nvPr/>
        </p:nvSpPr>
        <p:spPr>
          <a:xfrm>
            <a:off x="4599271" y="4840178"/>
            <a:ext cx="2823412" cy="544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Chart</a:t>
            </a:r>
            <a:endParaRPr lang="en-US" sz="2000" dirty="0"/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BC182F56-1C35-76FC-3D0E-177184873080}"/>
              </a:ext>
            </a:extLst>
          </p:cNvPr>
          <p:cNvSpPr/>
          <p:nvPr/>
        </p:nvSpPr>
        <p:spPr>
          <a:xfrm>
            <a:off x="4599271" y="5513539"/>
            <a:ext cx="2823412" cy="944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bars represent task durations, laid out on a timeline.</a:t>
            </a:r>
            <a:endParaRPr lang="en-US" dirty="0"/>
          </a:p>
        </p:txBody>
      </p:sp>
      <p:sp>
        <p:nvSpPr>
          <p:cNvPr id="72" name="Shape 10">
            <a:extLst>
              <a:ext uri="{FF2B5EF4-FFF2-40B4-BE49-F238E27FC236}">
                <a16:creationId xmlns:a16="http://schemas.microsoft.com/office/drawing/2014/main" id="{D3166DEF-3BE6-4DCA-413B-DF3F36EB725F}"/>
              </a:ext>
            </a:extLst>
          </p:cNvPr>
          <p:cNvSpPr/>
          <p:nvPr/>
        </p:nvSpPr>
        <p:spPr>
          <a:xfrm>
            <a:off x="8083617" y="4174796"/>
            <a:ext cx="3352800" cy="2542032"/>
          </a:xfrm>
          <a:prstGeom prst="roundRect">
            <a:avLst>
              <a:gd name="adj" fmla="val 2286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11">
            <a:extLst>
              <a:ext uri="{FF2B5EF4-FFF2-40B4-BE49-F238E27FC236}">
                <a16:creationId xmlns:a16="http://schemas.microsoft.com/office/drawing/2014/main" id="{CD5C7E55-D946-74B6-8E4F-227235F3E331}"/>
              </a:ext>
            </a:extLst>
          </p:cNvPr>
          <p:cNvSpPr/>
          <p:nvPr/>
        </p:nvSpPr>
        <p:spPr>
          <a:xfrm>
            <a:off x="8355530" y="4240894"/>
            <a:ext cx="705854" cy="58103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6" name="Image 2" descr="icons/gitbranch_white.png">
            <a:extLst>
              <a:ext uri="{FF2B5EF4-FFF2-40B4-BE49-F238E27FC236}">
                <a16:creationId xmlns:a16="http://schemas.microsoft.com/office/drawing/2014/main" id="{CC083A25-FE50-D35F-136E-1B9457A38C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6929" y="4349884"/>
            <a:ext cx="363056" cy="363056"/>
          </a:xfrm>
          <a:prstGeom prst="rect">
            <a:avLst/>
          </a:prstGeom>
        </p:spPr>
      </p:pic>
      <p:sp>
        <p:nvSpPr>
          <p:cNvPr id="78" name="Text 12">
            <a:extLst>
              <a:ext uri="{FF2B5EF4-FFF2-40B4-BE49-F238E27FC236}">
                <a16:creationId xmlns:a16="http://schemas.microsoft.com/office/drawing/2014/main" id="{98A8A6FD-2BDC-491E-ADA9-84FB6A17DA27}"/>
              </a:ext>
            </a:extLst>
          </p:cNvPr>
          <p:cNvSpPr/>
          <p:nvPr/>
        </p:nvSpPr>
        <p:spPr>
          <a:xfrm>
            <a:off x="8348311" y="4840178"/>
            <a:ext cx="2823412" cy="544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Diagram</a:t>
            </a:r>
            <a:endParaRPr lang="en-US" sz="2000" dirty="0"/>
          </a:p>
        </p:txBody>
      </p:sp>
      <p:sp>
        <p:nvSpPr>
          <p:cNvPr id="80" name="Text 13">
            <a:extLst>
              <a:ext uri="{FF2B5EF4-FFF2-40B4-BE49-F238E27FC236}">
                <a16:creationId xmlns:a16="http://schemas.microsoft.com/office/drawing/2014/main" id="{765D9A75-D0DA-D6DB-252E-53100A5E8E47}"/>
              </a:ext>
            </a:extLst>
          </p:cNvPr>
          <p:cNvSpPr/>
          <p:nvPr/>
        </p:nvSpPr>
        <p:spPr>
          <a:xfrm>
            <a:off x="8348311" y="5513539"/>
            <a:ext cx="2823412" cy="944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and links represent dependencies between tasks.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Diagrams: Gantt Chart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34640" y="1883664"/>
            <a:ext cx="0" cy="320040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0" y="51297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062549" y="1883664"/>
            <a:ext cx="0" cy="320040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88229" y="51297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90457" y="1883664"/>
            <a:ext cx="0" cy="320040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16137" y="51297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18366" y="1883664"/>
            <a:ext cx="0" cy="320040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44046" y="51297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46274" y="1883664"/>
            <a:ext cx="0" cy="320040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71954" y="51297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74183" y="1883664"/>
            <a:ext cx="0" cy="320040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99863" y="51297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202091" y="1883664"/>
            <a:ext cx="0" cy="320040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27771" y="51297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430000" y="1883664"/>
            <a:ext cx="0" cy="320040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155680" y="512978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188366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Requirements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2002536"/>
            <a:ext cx="3683726" cy="219456"/>
          </a:xfrm>
          <a:prstGeom prst="roundRect">
            <a:avLst>
              <a:gd name="adj" fmla="val 104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34086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Interview Form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18366" y="2459736"/>
            <a:ext cx="613954" cy="219456"/>
          </a:xfrm>
          <a:prstGeom prst="roundRect">
            <a:avLst>
              <a:gd name="adj" fmla="val 104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279806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Appointments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0" y="2916936"/>
            <a:ext cx="613954" cy="219456"/>
          </a:xfrm>
          <a:prstGeom prst="roundRect">
            <a:avLst>
              <a:gd name="adj" fmla="val 104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25526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Interviews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46274" y="3374136"/>
            <a:ext cx="2455817" cy="219456"/>
          </a:xfrm>
          <a:prstGeom prst="roundRect">
            <a:avLst>
              <a:gd name="adj" fmla="val 104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371246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Current Reports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18366" y="3831336"/>
            <a:ext cx="1534886" cy="219456"/>
          </a:xfrm>
          <a:prstGeom prst="roundRect">
            <a:avLst>
              <a:gd name="adj" fmla="val 104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416966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Reports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18366" y="4288536"/>
            <a:ext cx="306977" cy="219456"/>
          </a:xfrm>
          <a:prstGeom prst="roundRect">
            <a:avLst>
              <a:gd name="adj" fmla="val 104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462686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Results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202091" y="4745736"/>
            <a:ext cx="1227909" cy="219456"/>
          </a:xfrm>
          <a:prstGeom prst="roundRect">
            <a:avLst>
              <a:gd name="adj" fmla="val 1041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540410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showing project tasks, their durations, and how they overlap on a shared timeline (in days).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576986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Special-purpose project management software is available for this.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Diagrams: Network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2016468" y="2098088"/>
            <a:ext cx="1362024" cy="302672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6468" y="2646728"/>
            <a:ext cx="1362024" cy="302672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98848" y="1975104"/>
            <a:ext cx="1335024" cy="9144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498848" y="3072384"/>
            <a:ext cx="1335024" cy="9144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67728" y="1975104"/>
            <a:ext cx="1335024" cy="9144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67728" y="3072384"/>
            <a:ext cx="1335024" cy="9144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419681" y="2112604"/>
            <a:ext cx="1094558" cy="273640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V="1">
            <a:off x="9419681" y="2661244"/>
            <a:ext cx="1094558" cy="273640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96112" y="2157984"/>
            <a:ext cx="1133856" cy="73152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6112" y="2157984"/>
            <a:ext cx="1133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9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64992" y="1609344"/>
            <a:ext cx="1133856" cy="73152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64992" y="1609344"/>
            <a:ext cx="1133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Form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64992" y="2706624"/>
            <a:ext cx="1133856" cy="73152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64992" y="2706624"/>
            <a:ext cx="1133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33872" y="1609344"/>
            <a:ext cx="1133856" cy="73152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33872" y="1609344"/>
            <a:ext cx="1133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33872" y="2706624"/>
            <a:ext cx="1133856" cy="73152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33872" y="2706624"/>
            <a:ext cx="1133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9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02752" y="1609344"/>
            <a:ext cx="1133856" cy="73152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02752" y="1609344"/>
            <a:ext cx="1133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</a:t>
            </a:r>
            <a:endParaRPr lang="en-US" sz="9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302752" y="2706624"/>
            <a:ext cx="1133856" cy="73152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02752" y="2706624"/>
            <a:ext cx="1133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9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497312" y="2157984"/>
            <a:ext cx="1133856" cy="73152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497312" y="2157984"/>
            <a:ext cx="1133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9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389534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Rectangles represent tasks; arrows show the sequence and dependencies between them.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426110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Special-purpose project management software is available for this.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3-15 (RECREATED)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Budget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822960" y="1883664"/>
          <a:ext cx="10515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24144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financial cost-and-benefit analysis for a systems development project. Spreadsheet software is well suited to this.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Execution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5506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created in the prior phases are put into action.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9514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pla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243779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43868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baseline project plan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307238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bar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3215030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21592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progress against the baseline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40080" y="384962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icons/gitbran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" y="3992270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99316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changes to the baseline plan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40080" y="46268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icons/filetex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726" y="4769510"/>
            <a:ext cx="263347" cy="26334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477040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project workbook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640080" y="540410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icons/messag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726" y="5546750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553902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project status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3-17 (RECREATED)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Progress with a Gantt Chart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834640" y="1883664"/>
            <a:ext cx="0" cy="301752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0" y="49469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062549" y="1883664"/>
            <a:ext cx="0" cy="301752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88229" y="49469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90457" y="1883664"/>
            <a:ext cx="0" cy="301752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16137" y="49469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18366" y="1883664"/>
            <a:ext cx="0" cy="301752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44046" y="49469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46274" y="1883664"/>
            <a:ext cx="0" cy="301752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71954" y="49469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74183" y="1883664"/>
            <a:ext cx="0" cy="301752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99863" y="49469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202091" y="1883664"/>
            <a:ext cx="0" cy="301752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27771" y="49469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430000" y="1883664"/>
            <a:ext cx="0" cy="301752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155680" y="494690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1883664"/>
            <a:ext cx="2148840" cy="431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Requirements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1995743"/>
            <a:ext cx="3683726" cy="206916"/>
          </a:xfrm>
          <a:prstGeom prst="roundRect">
            <a:avLst>
              <a:gd name="adj" fmla="val 11048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34640" y="1995743"/>
            <a:ext cx="3683726" cy="206916"/>
          </a:xfrm>
          <a:prstGeom prst="roundRect">
            <a:avLst>
              <a:gd name="adj" fmla="val 11048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314738"/>
            <a:ext cx="2148840" cy="431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Interview Form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18366" y="2426818"/>
            <a:ext cx="613954" cy="206916"/>
          </a:xfrm>
          <a:prstGeom prst="roundRect">
            <a:avLst>
              <a:gd name="adj" fmla="val 11048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2745813"/>
            <a:ext cx="2148840" cy="431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Appointments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32320" y="2857892"/>
            <a:ext cx="613954" cy="206916"/>
          </a:xfrm>
          <a:prstGeom prst="roundRect">
            <a:avLst>
              <a:gd name="adj" fmla="val 11048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176887"/>
            <a:ext cx="2148840" cy="431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Interviews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46274" y="3288966"/>
            <a:ext cx="2455817" cy="206916"/>
          </a:xfrm>
          <a:prstGeom prst="roundRect">
            <a:avLst>
              <a:gd name="adj" fmla="val 11048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746274" y="3288966"/>
            <a:ext cx="982327" cy="206916"/>
          </a:xfrm>
          <a:prstGeom prst="roundRect">
            <a:avLst>
              <a:gd name="adj" fmla="val 11048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3607961"/>
            <a:ext cx="2148840" cy="431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Current Reports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18366" y="3720040"/>
            <a:ext cx="1534886" cy="206916"/>
          </a:xfrm>
          <a:prstGeom prst="roundRect">
            <a:avLst>
              <a:gd name="adj" fmla="val 11048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4039035"/>
            <a:ext cx="2148840" cy="431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Reports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18366" y="4151115"/>
            <a:ext cx="306977" cy="206916"/>
          </a:xfrm>
          <a:prstGeom prst="roundRect">
            <a:avLst>
              <a:gd name="adj" fmla="val 11048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518366" y="4151115"/>
            <a:ext cx="306977" cy="206916"/>
          </a:xfrm>
          <a:prstGeom prst="roundRect">
            <a:avLst>
              <a:gd name="adj" fmla="val 11048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4470110"/>
            <a:ext cx="2148840" cy="431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Results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202091" y="4582189"/>
            <a:ext cx="1227909" cy="206916"/>
          </a:xfrm>
          <a:prstGeom prst="roundRect">
            <a:avLst>
              <a:gd name="adj" fmla="val 11048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8640" y="5221224"/>
            <a:ext cx="274320" cy="164592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4400" y="5148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926080" y="5221224"/>
            <a:ext cx="274320" cy="164592"/>
          </a:xfrm>
          <a:prstGeom prst="roundRect">
            <a:avLst>
              <a:gd name="adj" fmla="val 11111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91840" y="51480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complete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ALIGNED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Methods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18408" y="1883664"/>
            <a:ext cx="475488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718408" y="19568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Formality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992728" y="22677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workbook · Status reports · Specification documents · Meeting minutes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12568" y="2843784"/>
            <a:ext cx="676656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2712568" y="2916936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Formality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86888" y="3227832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· Seminars &amp; workshops · Memos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06728" y="3803904"/>
            <a:ext cx="877824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1706728" y="3877056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Formality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81048" y="41879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 boards · Brown-bag lunches · Hallway discussions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Closedown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5506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project to a formal end.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252923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53012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down the project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32552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3397910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39880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post-project reviews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40080" y="412394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icons/aw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" y="4266590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426748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customer contract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Representing and Scheduling Project Plans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12368" y="2157984"/>
            <a:ext cx="1005840" cy="100584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barchar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886" y="2419502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448" y="330098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52648" y="2157984"/>
            <a:ext cx="1005840" cy="100584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icons/gitbranch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166" y="2419502"/>
            <a:ext cx="482803" cy="482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49728" y="330098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Diagrams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592928" y="2157984"/>
            <a:ext cx="1005840" cy="100584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icons/cloc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4446" y="2419502"/>
            <a:ext cx="482803" cy="48280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90008" y="330098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 Calculations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833208" y="2157984"/>
            <a:ext cx="1005840" cy="100584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icons/trending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4726" y="2419502"/>
            <a:ext cx="482803" cy="48280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30288" y="330098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Scheduling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10073488" y="2157984"/>
            <a:ext cx="1005840" cy="100584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icons/settings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5006" y="2419502"/>
            <a:ext cx="482803" cy="48280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570568" y="330098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Software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Charts vs. Network Diagrams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92224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12264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bar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29057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579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Charts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8680" y="3108960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15568" y="2885021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task durations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3840480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115568" y="3616541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time overlap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68680" y="4572000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15568" y="4348061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slack time within a bar's duration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92224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37960" y="2112264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icons/gitbran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268" y="2290572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06640" y="21579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Diagrams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6537960" y="3108960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784848" y="289364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task dependencies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537960" y="3840480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784848" y="362516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parallelism, not time overlap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537960" y="4572000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784848" y="435668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slack time inside the boxes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MATH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Estimating Task Duration with PERT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 — Program Evaluation Review Technique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12264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an optimistic (o), pessimistic (p), and realistic (r) time estimate to produce one expected task duration.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31720" y="3183147"/>
            <a:ext cx="5011947" cy="1077957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194560" y="2889504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 =  ( o + 4r + p ) / 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69468" y="47183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9468" y="5102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66948" y="47183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66948" y="5102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(most likely)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64428" y="47183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64428" y="5102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Pessimistic time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1908" y="47183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61908" y="5102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task duration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PERT Analysis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389997"/>
              </p:ext>
            </p:extLst>
          </p:nvPr>
        </p:nvGraphicFramePr>
        <p:xfrm>
          <a:off x="1005840" y="1883664"/>
          <a:ext cx="10149840" cy="329184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Expected Time (ET)</a:t>
                      </a:r>
                      <a:endParaRPr lang="en-US" sz="16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1. Requirements Collection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9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5.0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2. Screen Design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7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6.0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3. Report Design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9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6.0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4. Database Design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2.0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5. User Documentation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7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5.5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6. Programming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5.0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7. Testing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3.0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8. Installation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1.0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0410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time calculations for the project, using ET = (o + 4r + p) / 6.</a:t>
            </a:r>
            <a:endParaRPr lang="en-US" sz="1250" b="1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MATH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Path Scheduling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5506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scheduling technique in which the order and duration of a sequence of activities directly determines the project's completion date.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78024"/>
            <a:ext cx="10789920" cy="1280160"/>
          </a:xfrm>
          <a:prstGeom prst="roundRect">
            <a:avLst>
              <a:gd name="adj" fmla="val 571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734056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trend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2924251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58775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Path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74520" y="2980944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shortest time in which the entire project can be completed — its longest chain of dependent tasks.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941064"/>
            <a:ext cx="10789920" cy="1280160"/>
          </a:xfrm>
          <a:prstGeom prst="roundRect">
            <a:avLst>
              <a:gd name="adj" fmla="val 571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" y="4197096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75" y="4387291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405079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Slack Time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874520" y="4443984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an activity can be delayed without pushing back the overall project.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Path Example: Dependencies</a:t>
            </a:r>
            <a:endParaRPr lang="en-US" sz="27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382062"/>
              </p:ext>
            </p:extLst>
          </p:nvPr>
        </p:nvGraphicFramePr>
        <p:xfrm>
          <a:off x="1463040" y="1883664"/>
          <a:ext cx="5943600" cy="329184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Preceding Activity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84A"/>
                          </a:solidFill>
                        </a:rPr>
                        <a:t>1. Requirements Collection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84A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84A"/>
                          </a:solidFill>
                        </a:rPr>
                        <a:t>2. Screen Design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84A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84A"/>
                          </a:solidFill>
                        </a:rPr>
                        <a:t>3. Report Design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84A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84A"/>
                          </a:solidFill>
                        </a:rPr>
                        <a:t>4. Database Design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84A"/>
                          </a:solidFill>
                        </a:rPr>
                        <a:t>2, 3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84A"/>
                          </a:solidFill>
                        </a:rPr>
                        <a:t>5. User Documentation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84A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84A"/>
                          </a:solidFill>
                        </a:rPr>
                        <a:t>6. Programming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84A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84A"/>
                          </a:solidFill>
                        </a:rPr>
                        <a:t>7. Testing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84A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84A"/>
                          </a:solidFill>
                        </a:rPr>
                        <a:t>8. Installation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84A"/>
                          </a:solidFill>
                        </a:rPr>
                        <a:t>5, 7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80960" y="2157984"/>
            <a:ext cx="39620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preceding activity must finish before the specified activity can begin.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80960" y="3438144"/>
            <a:ext cx="3962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dependency table is the direct input to the network diagram on the next slide.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Path Example: Network Diagram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 flipV="1">
            <a:off x="1543681" y="2807518"/>
            <a:ext cx="1393198" cy="575452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43681" y="3676198"/>
            <a:ext cx="1393198" cy="575452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46801" y="2807518"/>
            <a:ext cx="1393198" cy="575452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3646801" y="3676198"/>
            <a:ext cx="1393198" cy="575452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V="1">
            <a:off x="5749921" y="2807518"/>
            <a:ext cx="1393198" cy="575452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49921" y="3676198"/>
            <a:ext cx="1393198" cy="575452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82128" y="4398264"/>
            <a:ext cx="1335024" cy="9144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872665" y="2745632"/>
            <a:ext cx="3091310" cy="699225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V="1">
            <a:off x="9944703" y="3701335"/>
            <a:ext cx="1050354" cy="525177"/>
          </a:xfrm>
          <a:prstGeom prst="line">
            <a:avLst/>
          </a:prstGeom>
          <a:noFill/>
          <a:ln w="22225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4672" y="3145536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4672" y="314553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907792" y="2276856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07792" y="227685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907792" y="4014216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07792" y="401421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10912" y="3145536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10912" y="314553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14032" y="2276856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14032" y="227685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114032" y="4014216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14032" y="401421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217152" y="4014216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17152" y="401421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954512" y="3145536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954512" y="314553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499262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 represent activities; arrows show the sequence between them.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535838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diagram showing dependencies for the same eight activities.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Determining the Critical Path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836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83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79222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Pass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217627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each activity's earliest possible completion time by summing activity times along the longest path leading to it. This gives the total expected project time.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266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026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93522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Backward Pass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31927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each activity's latest possible completion time by subtracting the activity times on the path that follows it from the total expected time. This gives each activity's slack.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1696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407822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the Path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446227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path is the chain of activities with zero slack — any delay there delays the whole project.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Path Calculation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V="1">
            <a:off x="1543681" y="2853238"/>
            <a:ext cx="1393198" cy="575452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43681" y="3721918"/>
            <a:ext cx="1393198" cy="575452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46801" y="2853238"/>
            <a:ext cx="1393198" cy="575452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3646801" y="3721918"/>
            <a:ext cx="1393198" cy="575452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V="1">
            <a:off x="5749921" y="2853238"/>
            <a:ext cx="1393198" cy="575452"/>
          </a:xfrm>
          <a:prstGeom prst="line">
            <a:avLst/>
          </a:prstGeom>
          <a:noFill/>
          <a:ln w="19050">
            <a:solidFill>
              <a:srgbClr val="6B7A99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49921" y="3721918"/>
            <a:ext cx="1393198" cy="575452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82128" y="4443984"/>
            <a:ext cx="1335024" cy="9144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872665" y="2791352"/>
            <a:ext cx="3091310" cy="699225"/>
          </a:xfrm>
          <a:prstGeom prst="line">
            <a:avLst/>
          </a:prstGeom>
          <a:noFill/>
          <a:ln w="19050">
            <a:solidFill>
              <a:srgbClr val="6B7A99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V="1">
            <a:off x="9944703" y="3747055"/>
            <a:ext cx="1050354" cy="525177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4672" y="3191256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4672" y="319125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40325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0  |  LS 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07792" y="2322576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07792" y="232257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06040" y="192938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5  |  LS 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07792" y="4059936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07792" y="405993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06040" y="490118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5  |  LS 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10912" y="3191256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10912" y="319125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9160" y="40325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13  |  LS 13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14032" y="2322576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14032" y="232257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192938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18.5  |  LS 21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14032" y="4059936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14032" y="405993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12280" y="490118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18  |  LS 18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217152" y="4059936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217152" y="405993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15400" y="490118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21  |  LS 21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954512" y="3191256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954512" y="319125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652760" y="40325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22  |  LS 22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517550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and late times are calculated for each activity; Activity 5 can begin late without affecting the finish date.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Path Calculation (cont.)</a:t>
            </a:r>
            <a:endParaRPr lang="en-US" sz="27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929384"/>
          <a:ext cx="9235440" cy="3291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TE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TL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Slack (TL − TE)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On Critical Path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3384A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B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3384A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11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11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B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3384A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11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11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B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3384A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13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13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B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3384A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18.5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21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</a:rPr>
                        <a:t>2.5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B7A99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3384A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18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18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B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3384A"/>
                          </a:solidFill>
                        </a:rPr>
                        <a:t>7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21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21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B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3384A"/>
                          </a:solidFill>
                        </a:rPr>
                        <a:t>8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22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22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9E5B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0410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activity except Activity 5 sits on the critical path — note its 2.5-day slack.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Project Management Software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5506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powerful software tools exist to assist with project management — Microsoft Project is a common example.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2374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calend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266639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468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project start date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339242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gitbran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3535070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3375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tasks and task dependencies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40080" y="426110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icons/bar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" y="4403750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42062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project information as Gantt or network diagrams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the Project Start Date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20240" y="1883664"/>
            <a:ext cx="83210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8888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20240" y="1883664"/>
            <a:ext cx="8321040" cy="3108960"/>
          </a:xfrm>
          <a:prstGeom prst="rect">
            <a:avLst/>
          </a:prstGeom>
          <a:ln w="12700">
            <a:solidFill>
              <a:srgbClr val="D8DE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20240" y="1883664"/>
            <a:ext cx="832104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94560" y="188366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INFORMATION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2752344"/>
            <a:ext cx="822960" cy="82296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icons/calenda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410" y="2966314"/>
            <a:ext cx="395021" cy="3950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474720" y="279806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Start Date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74720" y="3118104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March 3, 2027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194560" y="3849624"/>
            <a:ext cx="777240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377440" y="4032504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mode: Auto  ·  Calendar: Standard (5-day week)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595360" y="4306824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595360" y="430682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522122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schedule anchors to a starting date; the software calculates every other date from there.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Entering Tasks and Dependencies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883664"/>
          <a:ext cx="9235440" cy="329184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Task Name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Predecessors</a:t>
                      </a:r>
                      <a:endParaRPr lang="en-US" sz="130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1. Define Requirements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6 days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2. Design Interview Form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 day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3. Schedule Appointments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 day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4. Conduct Interviews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4 days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5. Review Current Reports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2.5 days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6. Collect Reports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0.5 days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7. Summarize Results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2 days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84A"/>
                          </a:solidFill>
                        </a:rPr>
                        <a:t>4, 6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0410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tasks, durations, and predecessors are entered, the software builds the Gantt and network views automatically.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Viewing a Network Diagram in Software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 flipV="1">
            <a:off x="2016468" y="2098088"/>
            <a:ext cx="1362024" cy="302672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6468" y="2646728"/>
            <a:ext cx="1362024" cy="302672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98848" y="1975104"/>
            <a:ext cx="1335024" cy="9144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498848" y="3072384"/>
            <a:ext cx="1335024" cy="9144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67728" y="1975104"/>
            <a:ext cx="1335024" cy="9144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967728" y="3072384"/>
            <a:ext cx="1335024" cy="9144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419681" y="2112604"/>
            <a:ext cx="1094558" cy="27364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V="1">
            <a:off x="9419681" y="2661244"/>
            <a:ext cx="1094558" cy="273640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96112" y="2157984"/>
            <a:ext cx="1133856" cy="73152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6112" y="2157984"/>
            <a:ext cx="1133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9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64992" y="1609344"/>
            <a:ext cx="1133856" cy="73152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64992" y="1609344"/>
            <a:ext cx="1133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Form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64992" y="2706624"/>
            <a:ext cx="1133856" cy="73152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64992" y="2706624"/>
            <a:ext cx="1133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33872" y="1609344"/>
            <a:ext cx="1133856" cy="73152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33872" y="1609344"/>
            <a:ext cx="1133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33872" y="2706624"/>
            <a:ext cx="1133856" cy="73152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33872" y="2706624"/>
            <a:ext cx="1133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9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02752" y="1609344"/>
            <a:ext cx="1133856" cy="73152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02752" y="1609344"/>
            <a:ext cx="1133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</a:t>
            </a:r>
            <a:endParaRPr lang="en-US" sz="9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302752" y="2706624"/>
            <a:ext cx="1133856" cy="73152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02752" y="2706624"/>
            <a:ext cx="1133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9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497312" y="2157984"/>
            <a:ext cx="1133856" cy="731520"/>
          </a:xfrm>
          <a:prstGeom prst="hexagon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497312" y="2157984"/>
            <a:ext cx="1133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Milestone:</a:t>
            </a:r>
            <a:endParaRPr lang="en-US" sz="9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758184"/>
            <a:ext cx="274320" cy="219456"/>
          </a:xfrm>
          <a:prstGeom prst="hexagon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36850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51760" y="3867912"/>
            <a:ext cx="365760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08960" y="36850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(no slack)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Viewing a Gantt Chart in Software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834640" y="1883664"/>
            <a:ext cx="0" cy="283464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0" y="47640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062549" y="1883664"/>
            <a:ext cx="0" cy="283464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88229" y="47640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290457" y="1883664"/>
            <a:ext cx="0" cy="283464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16137" y="47640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18366" y="1883664"/>
            <a:ext cx="0" cy="283464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44046" y="47640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46274" y="1883664"/>
            <a:ext cx="0" cy="283464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71954" y="47640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74183" y="1883664"/>
            <a:ext cx="0" cy="283464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99863" y="47640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202091" y="1883664"/>
            <a:ext cx="0" cy="283464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27771" y="47640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430000" y="1883664"/>
            <a:ext cx="0" cy="283464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155680" y="476402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1883664"/>
            <a:ext cx="2148840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Overview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2006498"/>
            <a:ext cx="8595360" cy="226771"/>
          </a:xfrm>
          <a:prstGeom prst="roundRect">
            <a:avLst>
              <a:gd name="adj" fmla="val 10081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34640" y="1924202"/>
            <a:ext cx="8595360" cy="54864"/>
          </a:xfrm>
          <a:prstGeom prst="rect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356104"/>
            <a:ext cx="2148840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Requirements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34640" y="2478938"/>
            <a:ext cx="3683726" cy="226771"/>
          </a:xfrm>
          <a:prstGeom prst="roundRect">
            <a:avLst>
              <a:gd name="adj" fmla="val 10081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834640" y="2478938"/>
            <a:ext cx="3683726" cy="226771"/>
          </a:xfrm>
          <a:prstGeom prst="roundRect">
            <a:avLst>
              <a:gd name="adj" fmla="val 10081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2828544"/>
            <a:ext cx="2148840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Interview Form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18366" y="2951378"/>
            <a:ext cx="613954" cy="226771"/>
          </a:xfrm>
          <a:prstGeom prst="roundRect">
            <a:avLst>
              <a:gd name="adj" fmla="val 10081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518366" y="2951378"/>
            <a:ext cx="613954" cy="226771"/>
          </a:xfrm>
          <a:prstGeom prst="roundRect">
            <a:avLst>
              <a:gd name="adj" fmla="val 10081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3300984"/>
            <a:ext cx="2148840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Interviews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46274" y="3423818"/>
            <a:ext cx="2455817" cy="226771"/>
          </a:xfrm>
          <a:prstGeom prst="roundRect">
            <a:avLst>
              <a:gd name="adj" fmla="val 10081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746274" y="3423818"/>
            <a:ext cx="1227909" cy="226771"/>
          </a:xfrm>
          <a:prstGeom prst="roundRect">
            <a:avLst>
              <a:gd name="adj" fmla="val 10081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3773424"/>
            <a:ext cx="2148840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Current Reports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18366" y="3896258"/>
            <a:ext cx="1534886" cy="226771"/>
          </a:xfrm>
          <a:prstGeom prst="roundRect">
            <a:avLst>
              <a:gd name="adj" fmla="val 10081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4245864"/>
            <a:ext cx="2148840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34640" y="4368698"/>
            <a:ext cx="92093" cy="226771"/>
          </a:xfrm>
          <a:prstGeom prst="roundRect">
            <a:avLst>
              <a:gd name="adj" fmla="val 2482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61488" y="4322978"/>
            <a:ext cx="274320" cy="318211"/>
          </a:xfrm>
          <a:prstGeom prst="diamond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8640" y="5056632"/>
            <a:ext cx="274320" cy="164592"/>
          </a:xfrm>
          <a:prstGeom prst="roundRect">
            <a:avLst>
              <a:gd name="adj" fmla="val 11111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4400" y="49651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activity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154680" y="5056632"/>
            <a:ext cx="274320" cy="164592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520440" y="49651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760720" y="5056632"/>
            <a:ext cx="274320" cy="164592"/>
          </a:xfrm>
          <a:prstGeom prst="roundRect">
            <a:avLst>
              <a:gd name="adj" fmla="val 11111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26480" y="49651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complete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366760" y="5038344"/>
            <a:ext cx="201168" cy="201168"/>
          </a:xfrm>
          <a:prstGeom prst="diamond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732520" y="49651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46504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865376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0078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information systems projects are managed from initiation through closedown.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523744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64261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47802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an effective project manager needs.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3300984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41985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25526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manager's activities across each of the four PM phases.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4078224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197096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403250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scheduling, and how to build Gantt charts and network diagrams.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40080" y="4855464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icons/checkcir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974336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480974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project management software supports scheduling and tracking.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548640" y="5806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1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 — Managing the Information Systems Project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474BC495226A4DA390799C92E36619" ma:contentTypeVersion="3" ma:contentTypeDescription="Create a new document." ma:contentTypeScope="" ma:versionID="4a73b9420067643082b04fd5dc376804">
  <xsd:schema xmlns:xsd="http://www.w3.org/2001/XMLSchema" xmlns:xs="http://www.w3.org/2001/XMLSchema" xmlns:p="http://schemas.microsoft.com/office/2006/metadata/properties" xmlns:ns2="989db138-9486-4683-8f51-7f10e453a2b1" targetNamespace="http://schemas.microsoft.com/office/2006/metadata/properties" ma:root="true" ma:fieldsID="9e51b845acc3af0fc0e9af9baecfd305" ns2:_="">
    <xsd:import namespace="989db138-9486-4683-8f51-7f10e453a2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9db138-9486-4683-8f51-7f10e453a2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AE342A-4396-432E-BC34-F76F6A2DFE1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145635D-42EB-40C3-867B-888906757E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9db138-9486-4683-8f51-7f10e453a2b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7482CC-2A00-4237-A2B8-F3417879EFD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2199</Words>
  <Application>Microsoft Office PowerPoint</Application>
  <PresentationFormat>Widescreen</PresentationFormat>
  <Paragraphs>609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MD SHAKIL HOSSAIN</cp:lastModifiedBy>
  <cp:revision>11</cp:revision>
  <dcterms:created xsi:type="dcterms:W3CDTF">2026-09-16T08:05:40Z</dcterms:created>
  <dcterms:modified xsi:type="dcterms:W3CDTF">2026-10-01T19:00:11Z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0x0101007F474BC495226A4DA390799C92E36619</vt:lpwstr>
  </property>
</Properties>
</file>