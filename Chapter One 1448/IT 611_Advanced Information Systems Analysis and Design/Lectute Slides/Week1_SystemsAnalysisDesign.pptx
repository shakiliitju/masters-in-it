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21"/>
  </p:notesMasterIdLst>
  <p:sldIdLst>
    <p:sldId id="256" r:id="rId5"/>
    <p:sldId id="257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74" r:id="rId14"/>
    <p:sldId id="266" r:id="rId15"/>
    <p:sldId id="267" r:id="rId16"/>
    <p:sldId id="268" r:id="rId17"/>
    <p:sldId id="269" r:id="rId18"/>
    <p:sldId id="270" r:id="rId19"/>
    <p:sldId id="272" r:id="rId20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عبدالعزيز صالح محمد القبلان" userId="e8d9e4d9-6f25-472c-9315-01d09980dd71" providerId="ADAL" clId="{4E9A3F63-AF6F-4176-BDC1-F52DFA4CD0E1}"/>
    <pc:docChg chg="delSld">
      <pc:chgData name="عبدالعزيز صالح محمد القبلان" userId="e8d9e4d9-6f25-472c-9315-01d09980dd71" providerId="ADAL" clId="{4E9A3F63-AF6F-4176-BDC1-F52DFA4CD0E1}" dt="2026-08-25T06:39:24.177" v="0" actId="2696"/>
      <pc:docMkLst>
        <pc:docMk/>
      </pc:docMkLst>
    </pc:docChg>
  </pc:docChgLst>
  <pc:docChgLst>
    <pc:chgData name="abdulaziz saleh M algablan" userId="e8d9e4d9-6f25-472c-9315-01d09980dd71" providerId="ADAL" clId="{9AAC7DDA-9862-4F25-B568-460DED6EBA8A}"/>
    <pc:docChg chg="undo custSel addSld delSld modSld">
      <pc:chgData name="abdulaziz saleh M algablan" userId="e8d9e4d9-6f25-472c-9315-01d09980dd71" providerId="ADAL" clId="{9AAC7DDA-9862-4F25-B568-460DED6EBA8A}" dt="2026-08-30T08:05:25.619" v="111" actId="20577"/>
      <pc:docMkLst>
        <pc:docMk/>
      </pc:docMkLst>
      <pc:sldChg chg="modSp mod">
        <pc:chgData name="abdulaziz saleh M algablan" userId="e8d9e4d9-6f25-472c-9315-01d09980dd71" providerId="ADAL" clId="{9AAC7DDA-9862-4F25-B568-460DED6EBA8A}" dt="2026-08-30T08:05:25.619" v="111" actId="20577"/>
        <pc:sldMkLst>
          <pc:docMk/>
          <pc:sldMk cId="0" sldId="256"/>
        </pc:sldMkLst>
        <pc:spChg chg="mod">
          <ac:chgData name="abdulaziz saleh M algablan" userId="e8d9e4d9-6f25-472c-9315-01d09980dd71" providerId="ADAL" clId="{9AAC7DDA-9862-4F25-B568-460DED6EBA8A}" dt="2026-08-30T08:05:25.619" v="111" actId="20577"/>
          <ac:spMkLst>
            <pc:docMk/>
            <pc:sldMk cId="0" sldId="256"/>
            <ac:spMk id="5" creationId="{00000000-0000-0000-0000-000000000000}"/>
          </ac:spMkLst>
        </pc:spChg>
      </pc:sldChg>
      <pc:sldChg chg="del">
        <pc:chgData name="abdulaziz saleh M algablan" userId="e8d9e4d9-6f25-472c-9315-01d09980dd71" providerId="ADAL" clId="{9AAC7DDA-9862-4F25-B568-460DED6EBA8A}" dt="2026-08-30T07:44:39.226" v="0" actId="2696"/>
        <pc:sldMkLst>
          <pc:docMk/>
          <pc:sldMk cId="0" sldId="258"/>
        </pc:sldMkLst>
      </pc:sldChg>
      <pc:sldChg chg="modSp mod">
        <pc:chgData name="abdulaziz saleh M algablan" userId="e8d9e4d9-6f25-472c-9315-01d09980dd71" providerId="ADAL" clId="{9AAC7DDA-9862-4F25-B568-460DED6EBA8A}" dt="2026-08-30T07:46:01.983" v="1" actId="20577"/>
        <pc:sldMkLst>
          <pc:docMk/>
          <pc:sldMk cId="0" sldId="260"/>
        </pc:sldMkLst>
        <pc:spChg chg="mod">
          <ac:chgData name="abdulaziz saleh M algablan" userId="e8d9e4d9-6f25-472c-9315-01d09980dd71" providerId="ADAL" clId="{9AAC7DDA-9862-4F25-B568-460DED6EBA8A}" dt="2026-08-30T07:46:01.983" v="1" actId="20577"/>
          <ac:spMkLst>
            <pc:docMk/>
            <pc:sldMk cId="0" sldId="260"/>
            <ac:spMk id="4" creationId="{00000000-0000-0000-0000-000000000000}"/>
          </ac:spMkLst>
        </pc:spChg>
      </pc:sldChg>
      <pc:sldChg chg="modSp mod">
        <pc:chgData name="abdulaziz saleh M algablan" userId="e8d9e4d9-6f25-472c-9315-01d09980dd71" providerId="ADAL" clId="{9AAC7DDA-9862-4F25-B568-460DED6EBA8A}" dt="2026-08-30T07:47:14.786" v="33" actId="1037"/>
        <pc:sldMkLst>
          <pc:docMk/>
          <pc:sldMk cId="0" sldId="264"/>
        </pc:sldMkLst>
        <pc:spChg chg="mod">
          <ac:chgData name="abdulaziz saleh M algablan" userId="e8d9e4d9-6f25-472c-9315-01d09980dd71" providerId="ADAL" clId="{9AAC7DDA-9862-4F25-B568-460DED6EBA8A}" dt="2026-08-30T07:47:14.786" v="33" actId="1037"/>
          <ac:spMkLst>
            <pc:docMk/>
            <pc:sldMk cId="0" sldId="264"/>
            <ac:spMk id="13" creationId="{00000000-0000-0000-0000-000000000000}"/>
          </ac:spMkLst>
        </pc:spChg>
        <pc:spChg chg="mod">
          <ac:chgData name="abdulaziz saleh M algablan" userId="e8d9e4d9-6f25-472c-9315-01d09980dd71" providerId="ADAL" clId="{9AAC7DDA-9862-4F25-B568-460DED6EBA8A}" dt="2026-08-30T07:47:14.786" v="33" actId="1037"/>
          <ac:spMkLst>
            <pc:docMk/>
            <pc:sldMk cId="0" sldId="264"/>
            <ac:spMk id="15" creationId="{00000000-0000-0000-0000-000000000000}"/>
          </ac:spMkLst>
        </pc:spChg>
      </pc:sldChg>
      <pc:sldChg chg="modSp mod">
        <pc:chgData name="abdulaziz saleh M algablan" userId="e8d9e4d9-6f25-472c-9315-01d09980dd71" providerId="ADAL" clId="{9AAC7DDA-9862-4F25-B568-460DED6EBA8A}" dt="2026-08-30T07:50:34.032" v="49" actId="20577"/>
        <pc:sldMkLst>
          <pc:docMk/>
          <pc:sldMk cId="0" sldId="265"/>
        </pc:sldMkLst>
        <pc:spChg chg="mod">
          <ac:chgData name="abdulaziz saleh M algablan" userId="e8d9e4d9-6f25-472c-9315-01d09980dd71" providerId="ADAL" clId="{9AAC7DDA-9862-4F25-B568-460DED6EBA8A}" dt="2026-08-30T07:50:34.032" v="49" actId="20577"/>
          <ac:spMkLst>
            <pc:docMk/>
            <pc:sldMk cId="0" sldId="265"/>
            <ac:spMk id="29" creationId="{00000000-0000-0000-0000-000000000000}"/>
          </ac:spMkLst>
        </pc:spChg>
      </pc:sldChg>
      <pc:sldChg chg="delSp mod">
        <pc:chgData name="abdulaziz saleh M algablan" userId="e8d9e4d9-6f25-472c-9315-01d09980dd71" providerId="ADAL" clId="{9AAC7DDA-9862-4F25-B568-460DED6EBA8A}" dt="2026-08-30T08:04:33.146" v="99" actId="478"/>
        <pc:sldMkLst>
          <pc:docMk/>
          <pc:sldMk cId="0" sldId="272"/>
        </pc:sldMkLst>
        <pc:spChg chg="del">
          <ac:chgData name="abdulaziz saleh M algablan" userId="e8d9e4d9-6f25-472c-9315-01d09980dd71" providerId="ADAL" clId="{9AAC7DDA-9862-4F25-B568-460DED6EBA8A}" dt="2026-08-30T08:04:26.889" v="98" actId="478"/>
          <ac:spMkLst>
            <pc:docMk/>
            <pc:sldMk cId="0" sldId="272"/>
            <ac:spMk id="6" creationId="{00000000-0000-0000-0000-000000000000}"/>
          </ac:spMkLst>
        </pc:spChg>
        <pc:spChg chg="del">
          <ac:chgData name="abdulaziz saleh M algablan" userId="e8d9e4d9-6f25-472c-9315-01d09980dd71" providerId="ADAL" clId="{9AAC7DDA-9862-4F25-B568-460DED6EBA8A}" dt="2026-08-30T08:04:33.146" v="99" actId="478"/>
          <ac:spMkLst>
            <pc:docMk/>
            <pc:sldMk cId="0" sldId="272"/>
            <ac:spMk id="7" creationId="{00000000-0000-0000-0000-000000000000}"/>
          </ac:spMkLst>
        </pc:spChg>
        <pc:spChg chg="del">
          <ac:chgData name="abdulaziz saleh M algablan" userId="e8d9e4d9-6f25-472c-9315-01d09980dd71" providerId="ADAL" clId="{9AAC7DDA-9862-4F25-B568-460DED6EBA8A}" dt="2026-08-30T08:04:33.146" v="99" actId="478"/>
          <ac:spMkLst>
            <pc:docMk/>
            <pc:sldMk cId="0" sldId="272"/>
            <ac:spMk id="8" creationId="{00000000-0000-0000-0000-000000000000}"/>
          </ac:spMkLst>
        </pc:spChg>
        <pc:spChg chg="del">
          <ac:chgData name="abdulaziz saleh M algablan" userId="e8d9e4d9-6f25-472c-9315-01d09980dd71" providerId="ADAL" clId="{9AAC7DDA-9862-4F25-B568-460DED6EBA8A}" dt="2026-08-30T08:04:33.146" v="99" actId="478"/>
          <ac:spMkLst>
            <pc:docMk/>
            <pc:sldMk cId="0" sldId="272"/>
            <ac:spMk id="9" creationId="{00000000-0000-0000-0000-000000000000}"/>
          </ac:spMkLst>
        </pc:spChg>
      </pc:sldChg>
      <pc:sldChg chg="addSp delSp modSp new del mod">
        <pc:chgData name="abdulaziz saleh M algablan" userId="e8d9e4d9-6f25-472c-9315-01d09980dd71" providerId="ADAL" clId="{9AAC7DDA-9862-4F25-B568-460DED6EBA8A}" dt="2026-08-30T07:58:44.493" v="97" actId="2696"/>
        <pc:sldMkLst>
          <pc:docMk/>
          <pc:sldMk cId="3751985122" sldId="273"/>
        </pc:sldMkLst>
        <pc:spChg chg="add del">
          <ac:chgData name="abdulaziz saleh M algablan" userId="e8d9e4d9-6f25-472c-9315-01d09980dd71" providerId="ADAL" clId="{9AAC7DDA-9862-4F25-B568-460DED6EBA8A}" dt="2026-08-30T07:51:34.935" v="52" actId="478"/>
          <ac:spMkLst>
            <pc:docMk/>
            <pc:sldMk cId="3751985122" sldId="273"/>
            <ac:spMk id="3" creationId="{0907722C-4241-8ECF-D6E0-2A1ED1758367}"/>
          </ac:spMkLst>
        </pc:spChg>
        <pc:picChg chg="add del mod">
          <ac:chgData name="abdulaziz saleh M algablan" userId="e8d9e4d9-6f25-472c-9315-01d09980dd71" providerId="ADAL" clId="{9AAC7DDA-9862-4F25-B568-460DED6EBA8A}" dt="2026-08-30T07:52:05.588" v="60" actId="22"/>
          <ac:picMkLst>
            <pc:docMk/>
            <pc:sldMk cId="3751985122" sldId="273"/>
            <ac:picMk id="5" creationId="{6553C3F4-F088-8DFF-F895-62727F77E167}"/>
          </ac:picMkLst>
        </pc:picChg>
      </pc:sldChg>
      <pc:sldChg chg="delSp modSp add mod">
        <pc:chgData name="abdulaziz saleh M algablan" userId="e8d9e4d9-6f25-472c-9315-01d09980dd71" providerId="ADAL" clId="{9AAC7DDA-9862-4F25-B568-460DED6EBA8A}" dt="2026-08-30T07:58:03.505" v="96" actId="20577"/>
        <pc:sldMkLst>
          <pc:docMk/>
          <pc:sldMk cId="2744986175" sldId="274"/>
        </pc:sldMkLst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4" creationId="{3F2711A8-4386-4375-D11A-082BCBE0A1FF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6" creationId="{1AE0F083-1C43-90BE-B08B-D8FFECE2D30D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7" creationId="{A42E132A-9455-4727-2F2A-B978995BE86D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9" creationId="{B730BA32-67B6-F8C4-0143-AFD0D7284BD9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10" creationId="{4709DC6B-1335-A9A3-156A-65866E58021F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14" creationId="{71363FD2-19AD-0AA2-FBFA-BCDE7B1FF515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15" creationId="{232B5FF8-1AB3-4641-CB5C-333C5FE98FFA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18" creationId="{A027C519-4EDB-670B-C76A-B0C9730EEB14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21" creationId="{7C6D97BB-1676-1660-A3F6-11D7B2F7039C}"/>
          </ac:spMkLst>
        </pc:spChg>
        <pc:spChg chg="del">
          <ac:chgData name="abdulaziz saleh M algablan" userId="e8d9e4d9-6f25-472c-9315-01d09980dd71" providerId="ADAL" clId="{9AAC7DDA-9862-4F25-B568-460DED6EBA8A}" dt="2026-08-30T07:53:10.815" v="62" actId="478"/>
          <ac:spMkLst>
            <pc:docMk/>
            <pc:sldMk cId="2744986175" sldId="274"/>
            <ac:spMk id="23" creationId="{5DCF5D15-0F96-8552-88A8-441C38416C1C}"/>
          </ac:spMkLst>
        </pc:spChg>
        <pc:spChg chg="del">
          <ac:chgData name="abdulaziz saleh M algablan" userId="e8d9e4d9-6f25-472c-9315-01d09980dd71" providerId="ADAL" clId="{9AAC7DDA-9862-4F25-B568-460DED6EBA8A}" dt="2026-08-30T07:53:13.873" v="63" actId="478"/>
          <ac:spMkLst>
            <pc:docMk/>
            <pc:sldMk cId="2744986175" sldId="274"/>
            <ac:spMk id="26" creationId="{822491AA-8EEF-4A53-7973-23DE55B60263}"/>
          </ac:spMkLst>
        </pc:spChg>
        <pc:spChg chg="mod">
          <ac:chgData name="abdulaziz saleh M algablan" userId="e8d9e4d9-6f25-472c-9315-01d09980dd71" providerId="ADAL" clId="{9AAC7DDA-9862-4F25-B568-460DED6EBA8A}" dt="2026-08-30T07:54:42.717" v="76" actId="14100"/>
          <ac:spMkLst>
            <pc:docMk/>
            <pc:sldMk cId="2744986175" sldId="274"/>
            <ac:spMk id="28" creationId="{9AA6C269-55C1-CFEE-F5B7-E31FEAD5DF77}"/>
          </ac:spMkLst>
        </pc:spChg>
        <pc:spChg chg="mod">
          <ac:chgData name="abdulaziz saleh M algablan" userId="e8d9e4d9-6f25-472c-9315-01d09980dd71" providerId="ADAL" clId="{9AAC7DDA-9862-4F25-B568-460DED6EBA8A}" dt="2026-08-30T07:58:03.505" v="96" actId="20577"/>
          <ac:spMkLst>
            <pc:docMk/>
            <pc:sldMk cId="2744986175" sldId="274"/>
            <ac:spMk id="29" creationId="{9DD3B264-1EC7-3C94-73B4-4CE5DC60967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A67FE8-30F2-F246-84FB-31BE051663C7}" type="datetimeFigureOut">
              <a:rPr lang="en-SA" smtClean="0"/>
              <a:t>10/03/2026</a:t>
            </a:fld>
            <a:endParaRPr lang="en-S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C4519-5686-8147-904A-71A7DBDFB232}" type="slidenum">
              <a:rPr lang="en-SA" smtClean="0"/>
              <a:t>‹#›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1219293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89CC8-9691-5C1A-9034-EF07637BCC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DEC195-6DA1-4BD6-A65F-E08D5AA125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0C06F-E9D7-88A0-A500-AE15C460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814D70-7DC9-B245-F3DE-B18D95489C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0409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74C35-9D35-38A6-91D9-DD41531E1E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913A33-CABA-8ACF-1949-74A7DAA220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046CA-ADD6-1441-C405-E5324E875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3579B-9E11-A908-0327-1FA996A5D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25E573-EDAD-CFE6-71A3-60C2F4DF4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4440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3E2A5-B38A-2C2D-90BA-3BB72D870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67879D-C82B-9813-A28E-838F9FBC3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CBABC-D089-7985-1703-3F8141E3C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9E4ABC-C08A-7A0D-7791-49C2B6FA3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4D7F98-5850-E9EB-EE39-6A546289D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971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0CE29B-E1A6-0D41-6F6C-5D38C4C70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75948-0A90-8577-4183-146B536E6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21008-EB87-60DC-44E7-880A58428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6E95ED-1FA4-65FB-5B5A-DA239C6EC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014A98-0C74-3127-6FE1-25FE79B64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448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08E6E4-7BA7-ABE5-3F04-DE5691DD0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DE2EA-1976-2651-D1B2-1385F7AE78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579C91-A6B8-6173-C199-D0087A595C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8C70D6-168D-4352-177E-EF0F826C2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C284C1-347A-2459-01D1-CC417D366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6BC9CA-44B2-623D-2596-B7E0E7D34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85595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F8904-62CE-85C3-98D4-FAE5043A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EAE4EC-4EFE-A69F-E0AB-682A8F2BE0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B8A335-CE49-31F2-BF17-89673548B3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1F63B8-C96B-6009-5F91-15DB76C9A3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C3A776-F2D2-9013-9BCE-D9B29E677E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E4DC84-4BA0-82FF-843F-4066FCFD9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D923C9-DC1C-371E-57A0-C9DF9A9E0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5A3AA9-8E0A-01F6-07B7-3E22C39F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03058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4CA54-D0AF-DA90-B2D5-8B736A5B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18087B-CB78-F3BE-0F19-DA3CECF7D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63AF42-BE96-7E5C-765B-EB26D3328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76467-384E-90FD-7DE0-1E621172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14532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365695-0569-12AA-D5BF-2F47B12B4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8685D2-13FB-09F5-7ECE-F6A40C2385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5A468B-AE28-A9D4-7D9A-A566369D6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94309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0B628-4F55-ABC5-5BC0-BDEACD209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1FFBC-91FC-8859-630C-251E1A11A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021749-8102-5152-AEEB-32BE97C801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A6E3DD-B426-A407-CA1E-5FFF89455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932636-0842-A763-8F05-49BE505AB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735255-3AC8-76CF-E75C-FBBD72622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79860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A483-A9D7-21A6-7375-9785AE1C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F1030F-B830-73C0-54D5-850B4EBA732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781975-419C-741C-967E-06B2A0BFB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65253F-6250-6559-57CE-A3BFDDDB3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686CF0-49B9-094A-A1EE-3A9E1F00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865D3-80E6-A163-6E77-6C2744F1F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130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EDA03-7010-7285-BAC2-2F48EC6663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B5A677-0E32-4844-68AE-0FE9E733BC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053A6E-BA15-0F82-3A1F-BDAEF31CC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6EEEB-1140-9FF6-90D9-F4A90908B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872A1F-A050-93B2-4381-92ACBF27D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04581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47CB1E-F840-4D75-7D1C-E72475177E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935C2-3DB9-0C8E-73FD-7B6F43C99A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08F40B-7D0F-4013-89D4-08306CE1F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570E5-6A34-9B30-5D32-5CE0957A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69709-FFE4-E2F6-7125-FD42FF37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68049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841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654C6E-BBA3-D1B1-FE22-625FD4051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AAE991-D6B9-8F90-0FCB-5FA90E4CE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5D8A1-B26C-2CA4-72FF-49556A6845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1764C8-6DEA-4559-B38B-7F974AB06E3C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1C6255-3A74-3DF9-E5BA-DC57C15461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01738-7156-8FD9-D837-EE2C3B2879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E2607C-147D-4640-84F6-205905AA5A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631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2B4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418320" y="-1280160"/>
            <a:ext cx="5029200" cy="502920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IT611 · 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Systems Analysis</a:t>
            </a:r>
            <a:r>
              <a:rPr lang="en-US" sz="4800" dirty="0"/>
              <a:t> </a:t>
            </a: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Design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731520" y="3794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— Foundations &amp; the Evolving SDLC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45262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B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role of the analyst · The SDLC family of models · Where modern advances fit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57276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&amp; Course at a Glance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9202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structure, and what makes this course different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640080" y="24688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4414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Systems Analyst — Then &amp; Now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17320" y="27889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role has evolved with modern software practice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40080" y="3337560"/>
            <a:ext cx="502920" cy="50292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31012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SDLC Family of Models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417320" y="36576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Waterfall, iterative, spiral, agile, and DevOps as a continuum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17880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Advances Fit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417320" y="4526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&amp; AI-augmented development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17320" y="504748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Studio: Team Formation &amp; Project Charter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417320" y="539496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 to kick off the semester project</a:t>
            </a: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EVOLVING ROLE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Systems Analyst: Then &amp; Now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5" name="Shape 3"/>
          <p:cNvSpPr/>
          <p:nvPr/>
        </p:nvSpPr>
        <p:spPr>
          <a:xfrm>
            <a:off x="6355080" y="160020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072B41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6" name="Text 4"/>
          <p:cNvSpPr/>
          <p:nvPr/>
        </p:nvSpPr>
        <p:spPr>
          <a:xfrm>
            <a:off x="868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ROLE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67512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ROLE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Gathers requirements via structured interviews &amp; documents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detailed up-front specifications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designs to a separate development team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with formal, static UML diagrams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Engages primarily at project start and end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Co-creates requirements continuously with product &amp; users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Designs for change: modular, service-based architectures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across build, deploy, and operate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lightweight modeling (C4, event storming) + AI tools</a:t>
            </a:r>
            <a:endParaRPr lang="en-US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quality attributes: security, scalability, observability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COURSE EXISTS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Textbooks move slower than the field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SA&amp;D texts were written for an era of monoliths and annual releases. Today's systems are built on microservices, deployed continuously, secured by design, and increasingly assembled with AI assistance. 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48056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72B41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6" name="Text 4"/>
          <p:cNvSpPr/>
          <p:nvPr/>
        </p:nvSpPr>
        <p:spPr>
          <a:xfrm>
            <a:off x="548640" y="44805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2331720" y="448056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072B41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Text 6"/>
          <p:cNvSpPr/>
          <p:nvPr/>
        </p:nvSpPr>
        <p:spPr>
          <a:xfrm>
            <a:off x="2331720" y="44805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069080" y="44805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72B41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0" name="Text 8"/>
          <p:cNvSpPr/>
          <p:nvPr/>
        </p:nvSpPr>
        <p:spPr>
          <a:xfrm>
            <a:off x="4069080" y="44805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SDLC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400800" y="448056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072B41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2" name="Text 10"/>
          <p:cNvSpPr/>
          <p:nvPr/>
        </p:nvSpPr>
        <p:spPr>
          <a:xfrm>
            <a:off x="6400800" y="44805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8275320" y="448056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072B41"/>
          </a:solidFill>
          <a:ln w="1270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4" name="Text 12"/>
          <p:cNvSpPr/>
          <p:nvPr/>
        </p:nvSpPr>
        <p:spPr>
          <a:xfrm>
            <a:off x="8275320" y="44805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SDLC: A Family of Models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generation of process models solved the failures of the one before it.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188720" y="3749040"/>
            <a:ext cx="9784080" cy="0"/>
          </a:xfrm>
          <a:prstGeom prst="line">
            <a:avLst/>
          </a:prstGeom>
          <a:noFill/>
          <a:ln w="38100">
            <a:solidFill>
              <a:srgbClr val="C9D6DE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6" name="Shape 4"/>
          <p:cNvSpPr/>
          <p:nvPr/>
        </p:nvSpPr>
        <p:spPr>
          <a:xfrm>
            <a:off x="932688" y="3493008"/>
            <a:ext cx="512064" cy="512064"/>
          </a:xfrm>
          <a:prstGeom prst="ellipse">
            <a:avLst/>
          </a:prstGeom>
          <a:solidFill>
            <a:srgbClr val="0B3D5C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7" name="Text 5"/>
          <p:cNvSpPr/>
          <p:nvPr/>
        </p:nvSpPr>
        <p:spPr>
          <a:xfrm>
            <a:off x="27432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Waterfall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7432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378708" y="3493008"/>
            <a:ext cx="512064" cy="512064"/>
          </a:xfrm>
          <a:prstGeom prst="ellipse">
            <a:avLst/>
          </a:prstGeom>
          <a:solidFill>
            <a:srgbClr val="1C7293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0" name="Text 8"/>
          <p:cNvSpPr/>
          <p:nvPr/>
        </p:nvSpPr>
        <p:spPr>
          <a:xfrm>
            <a:off x="272034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Iterative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72034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824728" y="3493008"/>
            <a:ext cx="512064" cy="512064"/>
          </a:xfrm>
          <a:prstGeom prst="ellipse">
            <a:avLst/>
          </a:prstGeom>
          <a:solidFill>
            <a:srgbClr val="0B3D5C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3" name="Text 11"/>
          <p:cNvSpPr/>
          <p:nvPr/>
        </p:nvSpPr>
        <p:spPr>
          <a:xfrm>
            <a:off x="516636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Spiral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16636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1988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270748" y="3493008"/>
            <a:ext cx="512064" cy="512064"/>
          </a:xfrm>
          <a:prstGeom prst="ellipse">
            <a:avLst/>
          </a:prstGeom>
          <a:solidFill>
            <a:srgbClr val="1C7293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6" name="Text 14"/>
          <p:cNvSpPr/>
          <p:nvPr/>
        </p:nvSpPr>
        <p:spPr>
          <a:xfrm>
            <a:off x="761238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61238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10716768" y="3493008"/>
            <a:ext cx="512064" cy="512064"/>
          </a:xfrm>
          <a:prstGeom prst="ellipse">
            <a:avLst/>
          </a:prstGeom>
          <a:solidFill>
            <a:srgbClr val="F2A93B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9" name="Text 17"/>
          <p:cNvSpPr/>
          <p:nvPr/>
        </p:nvSpPr>
        <p:spPr>
          <a:xfrm>
            <a:off x="1005840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058400" y="41605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2009→now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8640" y="52120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isn't a phase that ends — it's a continuum of build, deploy, operate, and learn that never stops.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&amp; PHASE-GATED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Waterfall Model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487168" y="2756916"/>
            <a:ext cx="219456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7" name="Shape 5"/>
          <p:cNvSpPr/>
          <p:nvPr/>
        </p:nvSpPr>
        <p:spPr>
          <a:xfrm>
            <a:off x="2724912" y="237744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8" name="Text 6"/>
          <p:cNvSpPr/>
          <p:nvPr/>
        </p:nvSpPr>
        <p:spPr>
          <a:xfrm>
            <a:off x="2724912" y="23774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63440" y="2756916"/>
            <a:ext cx="219456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0" name="Shape 8"/>
          <p:cNvSpPr/>
          <p:nvPr/>
        </p:nvSpPr>
        <p:spPr>
          <a:xfrm>
            <a:off x="4901184" y="237744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1" name="Text 9"/>
          <p:cNvSpPr/>
          <p:nvPr/>
        </p:nvSpPr>
        <p:spPr>
          <a:xfrm>
            <a:off x="4901184" y="23774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6839712" y="2756916"/>
            <a:ext cx="219456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3" name="Shape 11"/>
          <p:cNvSpPr/>
          <p:nvPr/>
        </p:nvSpPr>
        <p:spPr>
          <a:xfrm>
            <a:off x="7077456" y="237744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4" name="Text 12"/>
          <p:cNvSpPr/>
          <p:nvPr/>
        </p:nvSpPr>
        <p:spPr>
          <a:xfrm>
            <a:off x="7077456" y="23774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9015984" y="2756916"/>
            <a:ext cx="219456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6" name="Shape 14"/>
          <p:cNvSpPr/>
          <p:nvPr/>
        </p:nvSpPr>
        <p:spPr>
          <a:xfrm>
            <a:off x="9253728" y="2377440"/>
            <a:ext cx="1920240" cy="960120"/>
          </a:xfrm>
          <a:prstGeom prst="roundRect">
            <a:avLst>
              <a:gd name="adj" fmla="val 7619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7" name="Text 15"/>
          <p:cNvSpPr/>
          <p:nvPr/>
        </p:nvSpPr>
        <p:spPr>
          <a:xfrm>
            <a:off x="9253728" y="23774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8640" y="379476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Strength: predictable, easy to plan and document.</a:t>
            </a:r>
            <a:endParaRPr lang="en-US" sz="2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 assumes requirements are known up front — costly to change direction once a phase closes.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074920"/>
            <a:ext cx="10607040" cy="777240"/>
          </a:xfrm>
          <a:prstGeom prst="roundRect">
            <a:avLst>
              <a:gd name="adj" fmla="val 11765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20" name="Text 18"/>
          <p:cNvSpPr/>
          <p:nvPr/>
        </p:nvSpPr>
        <p:spPr>
          <a:xfrm>
            <a:off x="822960" y="50749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072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useful for: fixed-scope contracts, regulated/compliance-heavy systems, hardware-tied releases.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RISK &amp; CHANGE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Iterative &amp; Spiral Models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86868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4736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small slice, learn from it, refine, repeat — each cycle adds working functionality.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914400" y="3383280"/>
            <a:ext cx="1234440" cy="640080"/>
          </a:xfrm>
          <a:prstGeom prst="roundRect">
            <a:avLst>
              <a:gd name="adj" fmla="val 11429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8" name="Text 6"/>
          <p:cNvSpPr/>
          <p:nvPr/>
        </p:nvSpPr>
        <p:spPr>
          <a:xfrm>
            <a:off x="914400" y="33832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7128" y="3602736"/>
            <a:ext cx="182880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0" name="Shape 8"/>
          <p:cNvSpPr/>
          <p:nvPr/>
        </p:nvSpPr>
        <p:spPr>
          <a:xfrm>
            <a:off x="2377440" y="3383280"/>
            <a:ext cx="1234440" cy="640080"/>
          </a:xfrm>
          <a:prstGeom prst="roundRect">
            <a:avLst>
              <a:gd name="adj" fmla="val 11429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1" name="Text 9"/>
          <p:cNvSpPr/>
          <p:nvPr/>
        </p:nvSpPr>
        <p:spPr>
          <a:xfrm>
            <a:off x="2377440" y="33832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630168" y="3602736"/>
            <a:ext cx="182880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3" name="Shape 11"/>
          <p:cNvSpPr/>
          <p:nvPr/>
        </p:nvSpPr>
        <p:spPr>
          <a:xfrm>
            <a:off x="3840480" y="3383280"/>
            <a:ext cx="1234440" cy="640080"/>
          </a:xfrm>
          <a:prstGeom prst="roundRect">
            <a:avLst>
              <a:gd name="adj" fmla="val 11429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4" name="Text 12"/>
          <p:cNvSpPr/>
          <p:nvPr/>
        </p:nvSpPr>
        <p:spPr>
          <a:xfrm>
            <a:off x="3840480" y="33832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14400" y="4251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repeats each cycle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072B41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7" name="Text 15"/>
          <p:cNvSpPr/>
          <p:nvPr/>
        </p:nvSpPr>
        <p:spPr>
          <a:xfrm>
            <a:off x="6629400" y="18288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kern="0" spc="15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SPIRAL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240280"/>
            <a:ext cx="4736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loop of the spiral repeats four activities, with explicit risk analysis before committing further.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629400" y="32004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0" name="Text 18"/>
          <p:cNvSpPr/>
          <p:nvPr/>
        </p:nvSpPr>
        <p:spPr>
          <a:xfrm>
            <a:off x="6629400" y="3200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Determine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915400" y="32004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2" name="Text 20"/>
          <p:cNvSpPr/>
          <p:nvPr/>
        </p:nvSpPr>
        <p:spPr>
          <a:xfrm>
            <a:off x="8915400" y="3200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Identify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Risk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629400" y="41148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4" name="Text 22"/>
          <p:cNvSpPr/>
          <p:nvPr/>
        </p:nvSpPr>
        <p:spPr>
          <a:xfrm>
            <a:off x="6629400" y="41148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Plan Next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915400" y="4114800"/>
            <a:ext cx="2148840" cy="777240"/>
          </a:xfrm>
          <a:prstGeom prst="roundRect">
            <a:avLst>
              <a:gd name="adj" fmla="val 70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6" name="Text 24"/>
          <p:cNvSpPr/>
          <p:nvPr/>
        </p:nvSpPr>
        <p:spPr>
          <a:xfrm>
            <a:off x="8915400" y="41148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Develop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REPEATING SPRINT CYCLE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Agile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fixed-length iterations (sprints) deliver working software continuously, guided by customer feedback.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0" y="2148840"/>
            <a:ext cx="2404084" cy="960120"/>
          </a:xfrm>
          <a:prstGeom prst="roundRect">
            <a:avLst>
              <a:gd name="adj" fmla="val 9524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6" name="Text 4"/>
          <p:cNvSpPr/>
          <p:nvPr/>
        </p:nvSpPr>
        <p:spPr>
          <a:xfrm>
            <a:off x="1828800" y="2148840"/>
            <a:ext cx="2404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Sprint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406640" y="2148840"/>
            <a:ext cx="2404084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8" name="Text 6"/>
          <p:cNvSpPr/>
          <p:nvPr/>
        </p:nvSpPr>
        <p:spPr>
          <a:xfrm>
            <a:off x="7406640" y="2148840"/>
            <a:ext cx="2404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406640" y="4160520"/>
            <a:ext cx="2404084" cy="960120"/>
          </a:xfrm>
          <a:prstGeom prst="roundRect">
            <a:avLst>
              <a:gd name="adj" fmla="val 9524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0" name="Text 8"/>
          <p:cNvSpPr/>
          <p:nvPr/>
        </p:nvSpPr>
        <p:spPr>
          <a:xfrm>
            <a:off x="7406640" y="4160520"/>
            <a:ext cx="2404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Review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1828800" y="4160520"/>
            <a:ext cx="2404084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2" name="Text 10"/>
          <p:cNvSpPr/>
          <p:nvPr/>
        </p:nvSpPr>
        <p:spPr>
          <a:xfrm>
            <a:off x="1828800" y="4160520"/>
            <a:ext cx="2404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5576975" y="2491740"/>
            <a:ext cx="832183" cy="274320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4" name="Shape 12"/>
          <p:cNvSpPr/>
          <p:nvPr/>
        </p:nvSpPr>
        <p:spPr>
          <a:xfrm>
            <a:off x="8458200" y="3200400"/>
            <a:ext cx="277394" cy="868680"/>
          </a:xfrm>
          <a:prstGeom prst="down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5" name="Shape 13"/>
          <p:cNvSpPr/>
          <p:nvPr/>
        </p:nvSpPr>
        <p:spPr>
          <a:xfrm>
            <a:off x="5576975" y="4503420"/>
            <a:ext cx="832183" cy="274320"/>
          </a:xfrm>
          <a:prstGeom prst="lef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6" name="Shape 14"/>
          <p:cNvSpPr/>
          <p:nvPr/>
        </p:nvSpPr>
        <p:spPr>
          <a:xfrm>
            <a:off x="2880360" y="3200400"/>
            <a:ext cx="277394" cy="868680"/>
          </a:xfrm>
          <a:prstGeom prst="up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7" name="Text 15"/>
          <p:cNvSpPr/>
          <p:nvPr/>
        </p:nvSpPr>
        <p:spPr>
          <a:xfrm>
            <a:off x="4251960" y="3451860"/>
            <a:ext cx="3143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7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week cycle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623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Continuum, Not a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172968" y="2299716"/>
            <a:ext cx="146304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7" name="Shape 5"/>
          <p:cNvSpPr/>
          <p:nvPr/>
        </p:nvSpPr>
        <p:spPr>
          <a:xfrm>
            <a:off x="3337560" y="201168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8" name="Text 6"/>
          <p:cNvSpPr/>
          <p:nvPr/>
        </p:nvSpPr>
        <p:spPr>
          <a:xfrm>
            <a:off x="3337560" y="20116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687568" y="2299716"/>
            <a:ext cx="146304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0" name="Shape 8"/>
          <p:cNvSpPr/>
          <p:nvPr/>
        </p:nvSpPr>
        <p:spPr>
          <a:xfrm>
            <a:off x="5852160" y="201168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1" name="Text 9"/>
          <p:cNvSpPr/>
          <p:nvPr/>
        </p:nvSpPr>
        <p:spPr>
          <a:xfrm>
            <a:off x="5852160" y="20116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202168" y="2299716"/>
            <a:ext cx="146304" cy="201168"/>
          </a:xfrm>
          <a:prstGeom prst="righ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3" name="Shape 11"/>
          <p:cNvSpPr/>
          <p:nvPr/>
        </p:nvSpPr>
        <p:spPr>
          <a:xfrm>
            <a:off x="8366760" y="201168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4" name="Text 12"/>
          <p:cNvSpPr/>
          <p:nvPr/>
        </p:nvSpPr>
        <p:spPr>
          <a:xfrm>
            <a:off x="8366760" y="20116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822960" y="379476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3337560" y="379476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8" name="Text 16"/>
          <p:cNvSpPr/>
          <p:nvPr/>
        </p:nvSpPr>
        <p:spPr>
          <a:xfrm>
            <a:off x="3337560" y="37947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3172968" y="4082796"/>
            <a:ext cx="146304" cy="201168"/>
          </a:xfrm>
          <a:prstGeom prst="lef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0" name="Shape 18"/>
          <p:cNvSpPr/>
          <p:nvPr/>
        </p:nvSpPr>
        <p:spPr>
          <a:xfrm>
            <a:off x="5852160" y="379476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1" name="Text 19"/>
          <p:cNvSpPr/>
          <p:nvPr/>
        </p:nvSpPr>
        <p:spPr>
          <a:xfrm>
            <a:off x="5852160" y="37947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687568" y="4082796"/>
            <a:ext cx="146304" cy="201168"/>
          </a:xfrm>
          <a:prstGeom prst="lef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3" name="Shape 21"/>
          <p:cNvSpPr/>
          <p:nvPr/>
        </p:nvSpPr>
        <p:spPr>
          <a:xfrm>
            <a:off x="8366760" y="3794760"/>
            <a:ext cx="2331720" cy="7772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4" name="Text 22"/>
          <p:cNvSpPr/>
          <p:nvPr/>
        </p:nvSpPr>
        <p:spPr>
          <a:xfrm>
            <a:off x="8366760" y="379476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8202168" y="4082796"/>
            <a:ext cx="146304" cy="201168"/>
          </a:xfrm>
          <a:prstGeom prst="left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6" name="Shape 24"/>
          <p:cNvSpPr/>
          <p:nvPr/>
        </p:nvSpPr>
        <p:spPr>
          <a:xfrm>
            <a:off x="10378440" y="2834640"/>
            <a:ext cx="274320" cy="914400"/>
          </a:xfrm>
          <a:prstGeom prst="down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7" name="Shape 25"/>
          <p:cNvSpPr/>
          <p:nvPr/>
        </p:nvSpPr>
        <p:spPr>
          <a:xfrm>
            <a:off x="868680" y="2834640"/>
            <a:ext cx="274320" cy="914400"/>
          </a:xfrm>
          <a:prstGeom prst="upArrow">
            <a:avLst/>
          </a:prstGeom>
          <a:solidFill>
            <a:srgbClr val="F2A93B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8" name="Shape 26"/>
          <p:cNvSpPr/>
          <p:nvPr/>
        </p:nvSpPr>
        <p:spPr>
          <a:xfrm>
            <a:off x="822960" y="4892040"/>
            <a:ext cx="10515600" cy="1005840"/>
          </a:xfrm>
          <a:prstGeom prst="roundRect">
            <a:avLst>
              <a:gd name="adj" fmla="val 9091"/>
            </a:avLst>
          </a:prstGeom>
          <a:solidFill>
            <a:srgbClr val="072B41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29" name="Text 27"/>
          <p:cNvSpPr/>
          <p:nvPr/>
        </p:nvSpPr>
        <p:spPr>
          <a:xfrm>
            <a:off x="1097280" y="489204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SDLC blends traditional software development with IT operations into one continuous, looping process — instead of separate teams handing off work in stages, everything from planning to monitoring feeds back into itself.</a:t>
            </a:r>
          </a:p>
          <a:p>
            <a:pPr marL="0" indent="0" algn="just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pipelines and continuous feedback erase the line between "building" and "running" a system — analysis &amp; design decisions now travel all the way to production.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AF625-79A9-933A-58F8-641A14222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109956E-5C2C-D95E-6E96-54ABFBE6B7A3}"/>
              </a:ext>
            </a:extLst>
          </p:cNvPr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0601462-44FA-85EA-3ECA-7A4478DB7227}"/>
              </a:ext>
            </a:extLst>
          </p:cNvPr>
          <p:cNvSpPr/>
          <p:nvPr/>
        </p:nvSpPr>
        <p:spPr>
          <a:xfrm>
            <a:off x="548640" y="522011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Continuum, Not a Phase</a:t>
            </a:r>
            <a:endParaRPr lang="en-US" sz="28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9DD3B264-1EC7-3C94-73B4-4CE5DC609677}"/>
              </a:ext>
            </a:extLst>
          </p:cNvPr>
          <p:cNvSpPr/>
          <p:nvPr/>
        </p:nvSpPr>
        <p:spPr>
          <a:xfrm>
            <a:off x="414608" y="1347056"/>
            <a:ext cx="11362784" cy="4855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That loop never really stops — each turn through it feeds the next. Here's what happens at each stage: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Plan — Teams gather requirements, define scope, and prioritize what gets built, often using tools like Jira or Azure Boards.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Code — Developers write and version the code, usually in short-lived feature branches, committing to a shared repo (Git, GitHub, GitLab).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Build — The code gets compiled and packaged automatically whenever it's pushed. This is where CI (continuous integration) tools like Jenkins, GitHub Actions, or </a:t>
            </a:r>
            <a:r>
              <a:rPr lang="en-US" sz="16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CircleCI</a:t>
            </a: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kick in.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Test — Automated test suites (unit, integration, security scans) run against the build to catch issues before they reach users.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Release — Once tests pass, the build is versioned and approved for production — this is the handoff point between CI and CD (continuous delivery).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Deploy — The release ships to production, often via automated pipelines using tools like </a:t>
            </a:r>
            <a:r>
              <a:rPr lang="en-US" sz="1600" i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Spinnaker, or Kubernetes-based rollouts (blue-green, canary, etc.).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Operate — The system runs live. Infrastructure-as-code (Terraform, Ansible) and container orchestration keep environments consistent and scalable.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Monitor — Observability tools (Prometheus, Grafana, Datadog) track performance, errors, and user behavior — feeding insights straight back into Plan for the next cycle.</a:t>
            </a:r>
          </a:p>
          <a:p>
            <a:pPr>
              <a:lnSpc>
                <a:spcPct val="120000"/>
              </a:lnSpc>
            </a:pPr>
            <a:endParaRPr lang="en-US" sz="1600" i="1" dirty="0"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whole point of DevOps is collapsing the wall between "Dev" (the top half) and "Ops" (the bottom half) — instead of throwing code over a fence to operations, the same team owns it end-to-end, with automation gluing every handoff together. </a:t>
            </a:r>
            <a:endParaRPr lang="en-US" sz="16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22777613-A0AC-D5DE-A003-96F3FD206593}"/>
              </a:ext>
            </a:extLst>
          </p:cNvPr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44986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DEEP DIVE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 Is Culture First, Tooling Second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CALMS framework captures what separates real DevOps adoption from "we bought a CI/CD tool."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993392" cy="3383280"/>
          </a:xfrm>
          <a:prstGeom prst="roundRect">
            <a:avLst>
              <a:gd name="adj" fmla="val 4587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6" name="Shape 4"/>
          <p:cNvSpPr/>
          <p:nvPr/>
        </p:nvSpPr>
        <p:spPr>
          <a:xfrm>
            <a:off x="1225296" y="2331720"/>
            <a:ext cx="640080" cy="64008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7" name="Text 5"/>
          <p:cNvSpPr/>
          <p:nvPr/>
        </p:nvSpPr>
        <p:spPr>
          <a:xfrm>
            <a:off x="1225296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85800" y="310896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13232" y="3520440"/>
            <a:ext cx="16642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ownership across dev &amp; ops; blameless postmortems, not silos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688336" y="2057400"/>
            <a:ext cx="1993392" cy="3383280"/>
          </a:xfrm>
          <a:prstGeom prst="roundRect">
            <a:avLst>
              <a:gd name="adj" fmla="val 4587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1" name="Shape 9"/>
          <p:cNvSpPr/>
          <p:nvPr/>
        </p:nvSpPr>
        <p:spPr>
          <a:xfrm>
            <a:off x="3364992" y="23317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2" name="Text 10"/>
          <p:cNvSpPr/>
          <p:nvPr/>
        </p:nvSpPr>
        <p:spPr>
          <a:xfrm>
            <a:off x="3364992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2825496" y="310896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2852928" y="3520440"/>
            <a:ext cx="16642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manual, error-prone steps from build, test, and release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828032" y="2057400"/>
            <a:ext cx="1993392" cy="3383280"/>
          </a:xfrm>
          <a:prstGeom prst="roundRect">
            <a:avLst>
              <a:gd name="adj" fmla="val 4587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6" name="Shape 14"/>
          <p:cNvSpPr/>
          <p:nvPr/>
        </p:nvSpPr>
        <p:spPr>
          <a:xfrm>
            <a:off x="5504688" y="2331720"/>
            <a:ext cx="640080" cy="64008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17" name="Text 15"/>
          <p:cNvSpPr/>
          <p:nvPr/>
        </p:nvSpPr>
        <p:spPr>
          <a:xfrm>
            <a:off x="5504688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4965192" y="310896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Lean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92624" y="3520440"/>
            <a:ext cx="16642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batches, fast feedback loops, eliminate work-in-progress waste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67728" y="2057400"/>
            <a:ext cx="1993392" cy="3383280"/>
          </a:xfrm>
          <a:prstGeom prst="roundRect">
            <a:avLst>
              <a:gd name="adj" fmla="val 4587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21" name="Shape 19"/>
          <p:cNvSpPr/>
          <p:nvPr/>
        </p:nvSpPr>
        <p:spPr>
          <a:xfrm>
            <a:off x="7644384" y="23317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22" name="Text 20"/>
          <p:cNvSpPr/>
          <p:nvPr/>
        </p:nvSpPr>
        <p:spPr>
          <a:xfrm>
            <a:off x="7644384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7104888" y="310896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132320" y="3520440"/>
            <a:ext cx="16642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everything — decisions follow metrics, not opinions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07424" y="2057400"/>
            <a:ext cx="1993392" cy="3383280"/>
          </a:xfrm>
          <a:prstGeom prst="roundRect">
            <a:avLst>
              <a:gd name="adj" fmla="val 4587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26" name="Shape 24"/>
          <p:cNvSpPr/>
          <p:nvPr/>
        </p:nvSpPr>
        <p:spPr>
          <a:xfrm>
            <a:off x="9784080" y="2331720"/>
            <a:ext cx="640080" cy="64008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 sz="2800"/>
          </a:p>
        </p:txBody>
      </p:sp>
      <p:sp>
        <p:nvSpPr>
          <p:cNvPr id="27" name="Text 25"/>
          <p:cNvSpPr/>
          <p:nvPr/>
        </p:nvSpPr>
        <p:spPr>
          <a:xfrm>
            <a:off x="9784080" y="2331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9244584" y="3108960"/>
            <a:ext cx="1719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Sharing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9272016" y="3520440"/>
            <a:ext cx="16642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Knowledge, tooling, and incident learnings flow freely across teams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DEEP DIVE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DevOps Toolchain, Stage by Stage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B3D5C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713232" y="182880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13232" y="224028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 · Azure Boards · Linear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246120" y="16916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B3D5C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8" name="Text 6"/>
          <p:cNvSpPr/>
          <p:nvPr/>
        </p:nvSpPr>
        <p:spPr>
          <a:xfrm>
            <a:off x="3410712" y="182880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410712" y="224028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· GitHub · GitLab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943600" y="16916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B3D5C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11" name="Text 9"/>
          <p:cNvSpPr/>
          <p:nvPr/>
        </p:nvSpPr>
        <p:spPr>
          <a:xfrm>
            <a:off x="6108192" y="182880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108192" y="224028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· Gradle · npm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8641080" y="169164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0B3D5C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14" name="Text 12"/>
          <p:cNvSpPr/>
          <p:nvPr/>
        </p:nvSpPr>
        <p:spPr>
          <a:xfrm>
            <a:off x="8805672" y="182880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805672" y="224028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JUnit · Selenium · Cypress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17" name="Text 15"/>
          <p:cNvSpPr/>
          <p:nvPr/>
        </p:nvSpPr>
        <p:spPr>
          <a:xfrm>
            <a:off x="713232" y="347472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 · GitHub Actions · CircleCI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246120" y="333756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20" name="Text 18"/>
          <p:cNvSpPr/>
          <p:nvPr/>
        </p:nvSpPr>
        <p:spPr>
          <a:xfrm>
            <a:off x="3410712" y="347472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410712" y="388620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· Helm · ArgoCD</a:t>
            </a: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5943600" y="333756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23" name="Text 21"/>
          <p:cNvSpPr/>
          <p:nvPr/>
        </p:nvSpPr>
        <p:spPr>
          <a:xfrm>
            <a:off x="6108192" y="347472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Operate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108192" y="388620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· Ansible · Docker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8641080" y="3337560"/>
            <a:ext cx="2514600" cy="1463040"/>
          </a:xfrm>
          <a:prstGeom prst="roundRect">
            <a:avLst>
              <a:gd name="adj" fmla="val 6250"/>
            </a:avLst>
          </a:prstGeom>
          <a:solidFill>
            <a:srgbClr val="1C7293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26" name="Text 24"/>
          <p:cNvSpPr/>
          <p:nvPr/>
        </p:nvSpPr>
        <p:spPr>
          <a:xfrm>
            <a:off x="8805672" y="3474720"/>
            <a:ext cx="218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805672" y="3886200"/>
            <a:ext cx="2185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Datadog</a:t>
            </a: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48640" y="5120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rgbClr val="7C8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tools shown for illustration — teams choose based on cloud provider, scale, and existing stack.</a:t>
            </a: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DEEP DIVE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DevOps Success: Four Key Metrics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074920" cy="1508760"/>
          </a:xfrm>
          <a:prstGeom prst="roundRect">
            <a:avLst>
              <a:gd name="adj" fmla="val 6061"/>
            </a:avLst>
          </a:prstGeom>
          <a:solidFill>
            <a:srgbClr val="0B3D5C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Frequency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231343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often an organization successfully releases to production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897880" y="1691640"/>
            <a:ext cx="5074920" cy="1508760"/>
          </a:xfrm>
          <a:prstGeom prst="roundRect">
            <a:avLst>
              <a:gd name="adj" fmla="val 6061"/>
            </a:avLst>
          </a:prstGeom>
          <a:solidFill>
            <a:srgbClr val="0B3D5C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8" name="Text 6"/>
          <p:cNvSpPr/>
          <p:nvPr/>
        </p:nvSpPr>
        <p:spPr>
          <a:xfrm>
            <a:off x="6172200" y="187452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Time for Changes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72200" y="231343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from code commit to that code running in production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474720"/>
            <a:ext cx="5074920" cy="1508760"/>
          </a:xfrm>
          <a:prstGeom prst="roundRect">
            <a:avLst>
              <a:gd name="adj" fmla="val 6061"/>
            </a:avLst>
          </a:prstGeom>
          <a:solidFill>
            <a:srgbClr val="0B3D5C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Failure Rate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deployments that cause a failure in production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897880" y="3474720"/>
            <a:ext cx="5074920" cy="1508760"/>
          </a:xfrm>
          <a:prstGeom prst="roundRect">
            <a:avLst>
              <a:gd name="adj" fmla="val 6061"/>
            </a:avLst>
          </a:prstGeom>
          <a:solidFill>
            <a:srgbClr val="0B3D5C"/>
          </a:solidFill>
          <a:ln/>
        </p:spPr>
        <p:txBody>
          <a:bodyPr/>
          <a:lstStyle/>
          <a:p>
            <a:pPr algn="ctr"/>
            <a:endParaRPr lang="en-US" sz="3200"/>
          </a:p>
        </p:txBody>
      </p:sp>
      <p:sp>
        <p:nvSpPr>
          <p:cNvPr id="14" name="Text 12"/>
          <p:cNvSpPr/>
          <p:nvPr/>
        </p:nvSpPr>
        <p:spPr>
          <a:xfrm>
            <a:off x="6172200" y="365760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A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Restore Service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172200" y="4096512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quickly the team recovers when an incident occurs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53949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9FB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four metrics — popularized by DORA (DevOps Research and Assessment) — show that speed and stability move together for high-performing teams, not against each other.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E8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Advances Fit: Platform Engineering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48640" cy="54864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5943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17320" y="17190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Internal Developer Platforms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17320" y="20848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infrastructure so teams ship without waiting on tickets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27889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9" name="Text 7"/>
          <p:cNvSpPr/>
          <p:nvPr/>
        </p:nvSpPr>
        <p:spPr>
          <a:xfrm>
            <a:off x="59436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17320" y="277063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Golden Paths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17320" y="31363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Opinionated, paved-road templates for common architectures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4360" y="3840480"/>
            <a:ext cx="548640" cy="54864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3" name="Text 11"/>
          <p:cNvSpPr/>
          <p:nvPr/>
        </p:nvSpPr>
        <p:spPr>
          <a:xfrm>
            <a:off x="59436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417320" y="382219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Reduced Cognitive Load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417320" y="418795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absorb complexity, so product teams focus on business logic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607040" cy="777240"/>
          </a:xfrm>
          <a:prstGeom prst="roundRect">
            <a:avLst>
              <a:gd name="adj" fmla="val 11765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7" name="Text 15"/>
          <p:cNvSpPr/>
          <p:nvPr/>
        </p:nvSpPr>
        <p:spPr>
          <a:xfrm>
            <a:off x="822960" y="50749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72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implication: analysts must design not just the system, but the paths teams take to build it.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ADVANCES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Advances Fit: AI-Augmented SDLC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5943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17320" y="17190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 &amp; Review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417320" y="20848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assist elicitation, ambiguity detection, and spec review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2788920"/>
            <a:ext cx="548640" cy="548640"/>
          </a:xfrm>
          <a:prstGeom prst="ellipse">
            <a:avLst/>
          </a:prstGeom>
          <a:solidFill>
            <a:srgbClr val="0B3D5C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9" name="Text 7"/>
          <p:cNvSpPr/>
          <p:nvPr/>
        </p:nvSpPr>
        <p:spPr>
          <a:xfrm>
            <a:off x="59436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17320" y="277063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&amp; Test Generation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17320" y="31363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scaffolding, refactoring, and test-case generation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94360" y="384048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3" name="Text 11"/>
          <p:cNvSpPr/>
          <p:nvPr/>
        </p:nvSpPr>
        <p:spPr>
          <a:xfrm>
            <a:off x="594360" y="3840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417320" y="382219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72B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Design-Time Guardrails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1417320" y="418795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96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review, evaluation pipelines, and traceability stay mandatory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607040" cy="777240"/>
          </a:xfrm>
          <a:prstGeom prst="roundRect">
            <a:avLst>
              <a:gd name="adj" fmla="val 11765"/>
            </a:avLst>
          </a:prstGeom>
          <a:solidFill>
            <a:srgbClr val="E7EFF5"/>
          </a:solidFill>
          <a:ln/>
        </p:spPr>
        <p:txBody>
          <a:bodyPr/>
          <a:lstStyle/>
          <a:p>
            <a:endParaRPr lang="en-US" sz="3200"/>
          </a:p>
        </p:txBody>
      </p:sp>
      <p:sp>
        <p:nvSpPr>
          <p:cNvPr id="17" name="Text 15"/>
          <p:cNvSpPr/>
          <p:nvPr/>
        </p:nvSpPr>
        <p:spPr>
          <a:xfrm>
            <a:off x="822960" y="50749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72B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treats AI as a design-time collaborator, not a replacement for analysis judgment — Week 12 goes deep on this.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dirty="0">
                <a:solidFill>
                  <a:srgbClr val="8A9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2B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502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2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Remember from Week 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57823" cy="2960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▶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analyst's role has shifted from gatekeeper to embedded, continuous collaborator</a:t>
            </a:r>
            <a:endParaRPr lang="en-US" sz="24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▶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SDLC model is "correct" — fit the model to risk, scale, and change tolerance</a:t>
            </a:r>
            <a:endParaRPr lang="en-US" sz="24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▶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reframes delivery as a continuous loop, not a final phase</a:t>
            </a:r>
            <a:endParaRPr lang="en-US" sz="24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▶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engineering and AI tooling are now part of the analyst's design toolkit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474BC495226A4DA390799C92E36619" ma:contentTypeVersion="3" ma:contentTypeDescription="Create a new document." ma:contentTypeScope="" ma:versionID="4a73b9420067643082b04fd5dc376804">
  <xsd:schema xmlns:xsd="http://www.w3.org/2001/XMLSchema" xmlns:xs="http://www.w3.org/2001/XMLSchema" xmlns:p="http://schemas.microsoft.com/office/2006/metadata/properties" xmlns:ns2="989db138-9486-4683-8f51-7f10e453a2b1" targetNamespace="http://schemas.microsoft.com/office/2006/metadata/properties" ma:root="true" ma:fieldsID="9e51b845acc3af0fc0e9af9baecfd305" ns2:_="">
    <xsd:import namespace="989db138-9486-4683-8f51-7f10e453a2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9db138-9486-4683-8f51-7f10e453a2b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79023BF-98E2-4B88-8885-C81488F85E3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258BD04-E929-4444-BEF2-51361E7207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9db138-9486-4683-8f51-7f10e453a2b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D8A7F96-F7B0-417D-B7C7-F25DC6AF7B6B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1354</Words>
  <Application>Microsoft Office PowerPoint</Application>
  <PresentationFormat>Widescreen</PresentationFormat>
  <Paragraphs>225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MD SHAKIL HOSSAIN</cp:lastModifiedBy>
  <cp:revision>7</cp:revision>
  <dcterms:created xsi:type="dcterms:W3CDTF">2026-08-25T06:33:54Z</dcterms:created>
  <dcterms:modified xsi:type="dcterms:W3CDTF">2026-10-03T17:53:55Z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0x0101007F474BC495226A4DA390799C92E36619</vt:lpwstr>
  </property>
</Properties>
</file>