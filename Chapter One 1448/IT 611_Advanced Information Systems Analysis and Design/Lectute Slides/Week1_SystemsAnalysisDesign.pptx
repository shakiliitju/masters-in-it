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4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aziz saleh M algablan" userId="e8d9e4d9-6f25-472c-9315-01d09980dd71" providerId="ADAL" clId="{9AAC7DDA-9862-4F25-B568-460DED6EBA8A}"/>
    <pc:docChg chg="undo custSel addSld delSld modSld">
      <pc:chgData name="abdulaziz saleh M algablan" userId="e8d9e4d9-6f25-472c-9315-01d09980dd71" providerId="ADAL" clId="{9AAC7DDA-9862-4F25-B568-460DED6EBA8A}" dt="2026-08-30T08:05:25.619" v="111" actId="20577"/>
      <pc:docMkLst>
        <pc:docMk/>
      </pc:docMkLst>
      <pc:sldChg chg="modSp mod">
        <pc:chgData name="abdulaziz saleh M algablan" userId="e8d9e4d9-6f25-472c-9315-01d09980dd71" providerId="ADAL" clId="{9AAC7DDA-9862-4F25-B568-460DED6EBA8A}" dt="2026-08-30T08:05:25.619" v="111" actId="20577"/>
        <pc:sldMkLst>
          <pc:docMk/>
          <pc:sldMk cId="0" sldId="256"/>
        </pc:sldMkLst>
        <pc:spChg chg="mod">
          <ac:chgData name="abdulaziz saleh M algablan" userId="e8d9e4d9-6f25-472c-9315-01d09980dd71" providerId="ADAL" clId="{9AAC7DDA-9862-4F25-B568-460DED6EBA8A}" dt="2026-08-30T08:05:25.619" v="111" actId="20577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abdulaziz saleh M algablan" userId="e8d9e4d9-6f25-472c-9315-01d09980dd71" providerId="ADAL" clId="{9AAC7DDA-9862-4F25-B568-460DED6EBA8A}" dt="2026-08-30T07:44:39.226" v="0" actId="2696"/>
        <pc:sldMkLst>
          <pc:docMk/>
          <pc:sldMk cId="0" sldId="258"/>
        </pc:sldMkLst>
      </pc:sldChg>
      <pc:sldChg chg="modSp mod">
        <pc:chgData name="abdulaziz saleh M algablan" userId="e8d9e4d9-6f25-472c-9315-01d09980dd71" providerId="ADAL" clId="{9AAC7DDA-9862-4F25-B568-460DED6EBA8A}" dt="2026-08-30T07:46:01.983" v="1" actId="20577"/>
        <pc:sldMkLst>
          <pc:docMk/>
          <pc:sldMk cId="0" sldId="260"/>
        </pc:sldMkLst>
        <pc:spChg chg="mod">
          <ac:chgData name="abdulaziz saleh M algablan" userId="e8d9e4d9-6f25-472c-9315-01d09980dd71" providerId="ADAL" clId="{9AAC7DDA-9862-4F25-B568-460DED6EBA8A}" dt="2026-08-30T07:46:01.983" v="1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abdulaziz saleh M algablan" userId="e8d9e4d9-6f25-472c-9315-01d09980dd71" providerId="ADAL" clId="{9AAC7DDA-9862-4F25-B568-460DED6EBA8A}" dt="2026-08-30T07:47:14.786" v="33" actId="1037"/>
        <pc:sldMkLst>
          <pc:docMk/>
          <pc:sldMk cId="0" sldId="264"/>
        </pc:sldMkLst>
        <pc:spChg chg="mod">
          <ac:chgData name="abdulaziz saleh M algablan" userId="e8d9e4d9-6f25-472c-9315-01d09980dd71" providerId="ADAL" clId="{9AAC7DDA-9862-4F25-B568-460DED6EBA8A}" dt="2026-08-30T07:47:14.786" v="33" actId="103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bdulaziz saleh M algablan" userId="e8d9e4d9-6f25-472c-9315-01d09980dd71" providerId="ADAL" clId="{9AAC7DDA-9862-4F25-B568-460DED6EBA8A}" dt="2026-08-30T07:47:14.786" v="33" actId="1037"/>
          <ac:spMkLst>
            <pc:docMk/>
            <pc:sldMk cId="0" sldId="264"/>
            <ac:spMk id="15" creationId="{00000000-0000-0000-0000-000000000000}"/>
          </ac:spMkLst>
        </pc:spChg>
      </pc:sldChg>
      <pc:sldChg chg="modSp mod">
        <pc:chgData name="abdulaziz saleh M algablan" userId="e8d9e4d9-6f25-472c-9315-01d09980dd71" providerId="ADAL" clId="{9AAC7DDA-9862-4F25-B568-460DED6EBA8A}" dt="2026-08-30T07:50:34.032" v="49" actId="20577"/>
        <pc:sldMkLst>
          <pc:docMk/>
          <pc:sldMk cId="0" sldId="265"/>
        </pc:sldMkLst>
        <pc:spChg chg="mod">
          <ac:chgData name="abdulaziz saleh M algablan" userId="e8d9e4d9-6f25-472c-9315-01d09980dd71" providerId="ADAL" clId="{9AAC7DDA-9862-4F25-B568-460DED6EBA8A}" dt="2026-08-30T07:50:34.032" v="49" actId="20577"/>
          <ac:spMkLst>
            <pc:docMk/>
            <pc:sldMk cId="0" sldId="265"/>
            <ac:spMk id="29" creationId="{00000000-0000-0000-0000-000000000000}"/>
          </ac:spMkLst>
        </pc:spChg>
      </pc:sldChg>
      <pc:sldChg chg="delSp mod">
        <pc:chgData name="abdulaziz saleh M algablan" userId="e8d9e4d9-6f25-472c-9315-01d09980dd71" providerId="ADAL" clId="{9AAC7DDA-9862-4F25-B568-460DED6EBA8A}" dt="2026-08-30T08:04:33.146" v="99" actId="478"/>
        <pc:sldMkLst>
          <pc:docMk/>
          <pc:sldMk cId="0" sldId="272"/>
        </pc:sldMkLst>
        <pc:spChg chg="del">
          <ac:chgData name="abdulaziz saleh M algablan" userId="e8d9e4d9-6f25-472c-9315-01d09980dd71" providerId="ADAL" clId="{9AAC7DDA-9862-4F25-B568-460DED6EBA8A}" dt="2026-08-30T08:04:26.889" v="98" actId="478"/>
          <ac:spMkLst>
            <pc:docMk/>
            <pc:sldMk cId="0" sldId="272"/>
            <ac:spMk id="6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8-30T08:04:33.146" v="99" actId="478"/>
          <ac:spMkLst>
            <pc:docMk/>
            <pc:sldMk cId="0" sldId="272"/>
            <ac:spMk id="7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8-30T08:04:33.146" v="99" actId="478"/>
          <ac:spMkLst>
            <pc:docMk/>
            <pc:sldMk cId="0" sldId="272"/>
            <ac:spMk id="8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8-30T08:04:33.146" v="99" actId="478"/>
          <ac:spMkLst>
            <pc:docMk/>
            <pc:sldMk cId="0" sldId="272"/>
            <ac:spMk id="9" creationId="{00000000-0000-0000-0000-000000000000}"/>
          </ac:spMkLst>
        </pc:spChg>
      </pc:sldChg>
      <pc:sldChg chg="addSp delSp modSp new del mod">
        <pc:chgData name="abdulaziz saleh M algablan" userId="e8d9e4d9-6f25-472c-9315-01d09980dd71" providerId="ADAL" clId="{9AAC7DDA-9862-4F25-B568-460DED6EBA8A}" dt="2026-08-30T07:58:44.493" v="97" actId="2696"/>
        <pc:sldMkLst>
          <pc:docMk/>
          <pc:sldMk cId="3751985122" sldId="273"/>
        </pc:sldMkLst>
        <pc:spChg chg="add del">
          <ac:chgData name="abdulaziz saleh M algablan" userId="e8d9e4d9-6f25-472c-9315-01d09980dd71" providerId="ADAL" clId="{9AAC7DDA-9862-4F25-B568-460DED6EBA8A}" dt="2026-08-30T07:51:34.935" v="52" actId="478"/>
          <ac:spMkLst>
            <pc:docMk/>
            <pc:sldMk cId="3751985122" sldId="273"/>
            <ac:spMk id="3" creationId="{0907722C-4241-8ECF-D6E0-2A1ED1758367}"/>
          </ac:spMkLst>
        </pc:spChg>
        <pc:picChg chg="add del mod">
          <ac:chgData name="abdulaziz saleh M algablan" userId="e8d9e4d9-6f25-472c-9315-01d09980dd71" providerId="ADAL" clId="{9AAC7DDA-9862-4F25-B568-460DED6EBA8A}" dt="2026-08-30T07:52:05.588" v="60" actId="22"/>
          <ac:picMkLst>
            <pc:docMk/>
            <pc:sldMk cId="3751985122" sldId="273"/>
            <ac:picMk id="5" creationId="{6553C3F4-F088-8DFF-F895-62727F77E167}"/>
          </ac:picMkLst>
        </pc:picChg>
      </pc:sldChg>
      <pc:sldChg chg="delSp modSp add mod">
        <pc:chgData name="abdulaziz saleh M algablan" userId="e8d9e4d9-6f25-472c-9315-01d09980dd71" providerId="ADAL" clId="{9AAC7DDA-9862-4F25-B568-460DED6EBA8A}" dt="2026-08-30T07:58:03.505" v="96" actId="20577"/>
        <pc:sldMkLst>
          <pc:docMk/>
          <pc:sldMk cId="2744986175" sldId="274"/>
        </pc:sldMkLst>
        <pc:spChg chg="del">
          <ac:chgData name="abdulaziz saleh M algablan" userId="e8d9e4d9-6f25-472c-9315-01d09980dd71" providerId="ADAL" clId="{9AAC7DDA-9862-4F25-B568-460DED6EBA8A}" dt="2026-08-30T07:53:13.873" v="63" actId="478"/>
          <ac:spMkLst>
            <pc:docMk/>
            <pc:sldMk cId="2744986175" sldId="274"/>
            <ac:spMk id="4" creationId="{3F2711A8-4386-4375-D11A-082BCBE0A1FF}"/>
          </ac:spMkLst>
        </pc:spChg>
        <pc:spChg chg="del">
          <ac:chgData name="abdulaziz saleh M algablan" userId="e8d9e4d9-6f25-472c-9315-01d09980dd71" providerId="ADAL" clId="{9AAC7DDA-9862-4F25-B568-460DED6EBA8A}" dt="2026-08-30T07:53:13.873" v="63" actId="478"/>
          <ac:spMkLst>
            <pc:docMk/>
            <pc:sldMk cId="2744986175" sldId="274"/>
            <ac:spMk id="6" creationId="{1AE0F083-1C43-90BE-B08B-D8FFECE2D30D}"/>
          </ac:spMkLst>
        </pc:spChg>
        <pc:spChg chg="del">
          <ac:chgData name="abdulaziz saleh M algablan" userId="e8d9e4d9-6f25-472c-9315-01d09980dd71" providerId="ADAL" clId="{9AAC7DDA-9862-4F25-B568-460DED6EBA8A}" dt="2026-08-30T07:53:13.873" v="63" actId="478"/>
          <ac:spMkLst>
            <pc:docMk/>
            <pc:sldMk cId="2744986175" sldId="274"/>
            <ac:spMk id="7" creationId="{A42E132A-9455-4727-2F2A-B978995BE86D}"/>
          </ac:spMkLst>
        </pc:spChg>
        <pc:spChg chg="del">
          <ac:chgData name="abdulaziz saleh M algablan" userId="e8d9e4d9-6f25-472c-9315-01d09980dd71" providerId="ADAL" clId="{9AAC7DDA-9862-4F25-B568-460DED6EBA8A}" dt="2026-08-30T07:53:13.873" v="63" actId="478"/>
          <ac:spMkLst>
            <pc:docMk/>
            <pc:sldMk cId="2744986175" sldId="274"/>
            <ac:spMk id="9" creationId="{B730BA32-67B6-F8C4-0143-AFD0D7284BD9}"/>
          </ac:spMkLst>
        </pc:spChg>
        <pc:spChg chg="del">
          <ac:chgData name="abdulaziz saleh M algablan" userId="e8d9e4d9-6f25-472c-9315-01d09980dd71" providerId="ADAL" clId="{9AAC7DDA-9862-4F25-B568-460DED6EBA8A}" dt="2026-08-30T07:53:13.873" v="63" actId="478"/>
          <ac:spMkLst>
            <pc:docMk/>
            <pc:sldMk cId="2744986175" sldId="274"/>
            <ac:spMk id="10" creationId="{4709DC6B-1335-A9A3-156A-65866E58021F}"/>
          </ac:spMkLst>
        </pc:spChg>
        <pc:spChg chg="del">
          <ac:chgData name="abdulaziz saleh M algablan" userId="e8d9e4d9-6f25-472c-9315-01d09980dd71" providerId="ADAL" clId="{9AAC7DDA-9862-4F25-B568-460DED6EBA8A}" dt="2026-08-30T07:53:13.873" v="63" actId="478"/>
          <ac:spMkLst>
            <pc:docMk/>
            <pc:sldMk cId="2744986175" sldId="274"/>
            <ac:spMk id="14" creationId="{71363FD2-19AD-0AA2-FBFA-BCDE7B1FF515}"/>
          </ac:spMkLst>
        </pc:spChg>
        <pc:spChg chg="del">
          <ac:chgData name="abdulaziz saleh M algablan" userId="e8d9e4d9-6f25-472c-9315-01d09980dd71" providerId="ADAL" clId="{9AAC7DDA-9862-4F25-B568-460DED6EBA8A}" dt="2026-08-30T07:53:13.873" v="63" actId="478"/>
          <ac:spMkLst>
            <pc:docMk/>
            <pc:sldMk cId="2744986175" sldId="274"/>
            <ac:spMk id="15" creationId="{232B5FF8-1AB3-4641-CB5C-333C5FE98FFA}"/>
          </ac:spMkLst>
        </pc:spChg>
        <pc:spChg chg="del">
          <ac:chgData name="abdulaziz saleh M algablan" userId="e8d9e4d9-6f25-472c-9315-01d09980dd71" providerId="ADAL" clId="{9AAC7DDA-9862-4F25-B568-460DED6EBA8A}" dt="2026-08-30T07:53:13.873" v="63" actId="478"/>
          <ac:spMkLst>
            <pc:docMk/>
            <pc:sldMk cId="2744986175" sldId="274"/>
            <ac:spMk id="18" creationId="{A027C519-4EDB-670B-C76A-B0C9730EEB14}"/>
          </ac:spMkLst>
        </pc:spChg>
        <pc:spChg chg="del">
          <ac:chgData name="abdulaziz saleh M algablan" userId="e8d9e4d9-6f25-472c-9315-01d09980dd71" providerId="ADAL" clId="{9AAC7DDA-9862-4F25-B568-460DED6EBA8A}" dt="2026-08-30T07:53:13.873" v="63" actId="478"/>
          <ac:spMkLst>
            <pc:docMk/>
            <pc:sldMk cId="2744986175" sldId="274"/>
            <ac:spMk id="21" creationId="{7C6D97BB-1676-1660-A3F6-11D7B2F7039C}"/>
          </ac:spMkLst>
        </pc:spChg>
        <pc:spChg chg="del">
          <ac:chgData name="abdulaziz saleh M algablan" userId="e8d9e4d9-6f25-472c-9315-01d09980dd71" providerId="ADAL" clId="{9AAC7DDA-9862-4F25-B568-460DED6EBA8A}" dt="2026-08-30T07:53:10.815" v="62" actId="478"/>
          <ac:spMkLst>
            <pc:docMk/>
            <pc:sldMk cId="2744986175" sldId="274"/>
            <ac:spMk id="23" creationId="{5DCF5D15-0F96-8552-88A8-441C38416C1C}"/>
          </ac:spMkLst>
        </pc:spChg>
        <pc:spChg chg="del">
          <ac:chgData name="abdulaziz saleh M algablan" userId="e8d9e4d9-6f25-472c-9315-01d09980dd71" providerId="ADAL" clId="{9AAC7DDA-9862-4F25-B568-460DED6EBA8A}" dt="2026-08-30T07:53:13.873" v="63" actId="478"/>
          <ac:spMkLst>
            <pc:docMk/>
            <pc:sldMk cId="2744986175" sldId="274"/>
            <ac:spMk id="26" creationId="{822491AA-8EEF-4A53-7973-23DE55B60263}"/>
          </ac:spMkLst>
        </pc:spChg>
        <pc:spChg chg="mod">
          <ac:chgData name="abdulaziz saleh M algablan" userId="e8d9e4d9-6f25-472c-9315-01d09980dd71" providerId="ADAL" clId="{9AAC7DDA-9862-4F25-B568-460DED6EBA8A}" dt="2026-08-30T07:54:42.717" v="76" actId="14100"/>
          <ac:spMkLst>
            <pc:docMk/>
            <pc:sldMk cId="2744986175" sldId="274"/>
            <ac:spMk id="28" creationId="{9AA6C269-55C1-CFEE-F5B7-E31FEAD5DF77}"/>
          </ac:spMkLst>
        </pc:spChg>
        <pc:spChg chg="mod">
          <ac:chgData name="abdulaziz saleh M algablan" userId="e8d9e4d9-6f25-472c-9315-01d09980dd71" providerId="ADAL" clId="{9AAC7DDA-9862-4F25-B568-460DED6EBA8A}" dt="2026-08-30T07:58:03.505" v="96" actId="20577"/>
          <ac:spMkLst>
            <pc:docMk/>
            <pc:sldMk cId="2744986175" sldId="274"/>
            <ac:spMk id="29" creationId="{9DD3B264-1EC7-3C94-73B4-4CE5DC609677}"/>
          </ac:spMkLst>
        </pc:spChg>
      </pc:sldChg>
    </pc:docChg>
  </pc:docChgLst>
  <pc:docChgLst>
    <pc:chgData name="عبدالعزيز صالح محمد القبلان" userId="e8d9e4d9-6f25-472c-9315-01d09980dd71" providerId="ADAL" clId="{4E9A3F63-AF6F-4176-BDC1-F52DFA4CD0E1}"/>
    <pc:docChg chg="delSld">
      <pc:chgData name="عبدالعزيز صالح محمد القبلان" userId="e8d9e4d9-6f25-472c-9315-01d09980dd71" providerId="ADAL" clId="{4E9A3F63-AF6F-4176-BDC1-F52DFA4CD0E1}" dt="2026-08-25T06:39:24.177" v="0" actId="269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67FE8-30F2-F246-84FB-31BE051663C7}" type="datetimeFigureOut">
              <a:rPr lang="en-SA" smtClean="0"/>
              <a:t>08/30/2026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C4519-5686-8147-904A-71A7DBDFB23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12192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9CC8-9691-5C1A-9034-EF07637BC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EC195-6DA1-4BD6-A65F-E08D5AA12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0C06F-E9D7-88A0-A500-AE15C460B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14D70-7DC9-B245-F3DE-B18D95489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40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2B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-1280160"/>
            <a:ext cx="5029200" cy="5029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IT611 · 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Analysis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Design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Foundations &amp; the Evolving SDLC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the analyst · The SDLC family of models · Where modern advances fit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&amp; Course at a Glance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structure, and what makes this course different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441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Systems Analyst — Then &amp; Now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role has evolved with modern software practice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310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SDLC Family of Models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3657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Waterfall, iterative, spiral, agile, and DevOps as a continuum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1788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Advances Fit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&amp; AI-augmented development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047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Studio: Team Formation &amp; Project Charter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5394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to kick off the semester project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EVOLVING ROLE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Systems Analyst: Then &amp;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E7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55080" y="16002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72B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ROLE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requirements via structured interviews &amp; documents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detailed up-front specifications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designs to a separate development team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 formal, static UML diagrams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 primarily at project start and 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Co-creates requirements continuously with product &amp; users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for change: modular, service-based architectures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across build, deploy, and operate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lightweight modeling (C4, event storming) + AI tools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quality attributes: security, scalability, observability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COURSE EXISTS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Textbooks move slower than the field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SA&amp;D texts were written for an era of monoliths and annual releases. Today's systems are built on microservices, deployed continuously, secured by design, and increasingly assembled with AI assistance. 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72B41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31720" y="4480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72B41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4480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69080" y="44805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72B41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69080" y="4480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SDLC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44805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72B41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4480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44805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72B41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75320" y="4480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SDLC: A Family of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generation of process models solved the failures of the one before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88720" y="3749040"/>
            <a:ext cx="9784080" cy="0"/>
          </a:xfrm>
          <a:prstGeom prst="line">
            <a:avLst/>
          </a:prstGeom>
          <a:noFill/>
          <a:ln w="3810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3493008"/>
            <a:ext cx="512064" cy="512064"/>
          </a:xfrm>
          <a:prstGeom prst="ellipse">
            <a:avLst/>
          </a:prstGeom>
          <a:solidFill>
            <a:srgbClr val="0B3D5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78708" y="3493008"/>
            <a:ext cx="512064" cy="512064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203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2034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24728" y="3493008"/>
            <a:ext cx="512064" cy="512064"/>
          </a:xfrm>
          <a:prstGeom prst="ellipse">
            <a:avLst/>
          </a:prstGeom>
          <a:solidFill>
            <a:srgbClr val="0B3D5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663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636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70748" y="3493008"/>
            <a:ext cx="512064" cy="512064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123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123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716768" y="3493008"/>
            <a:ext cx="512064" cy="512064"/>
          </a:xfrm>
          <a:prstGeom prst="ellipse">
            <a:avLst/>
          </a:prstGeom>
          <a:solidFill>
            <a:srgbClr val="F2A93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2009→now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5212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isn't a phase that ends — it's a continuum of build, deploy, operate, and learn that never stops.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&amp; PHASE-GATED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Waterfall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87168" y="2756916"/>
            <a:ext cx="219456" cy="201168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24912" y="2377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24912" y="23774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756916"/>
            <a:ext cx="219456" cy="201168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01184" y="2377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01184" y="23774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39712" y="2756916"/>
            <a:ext cx="219456" cy="201168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77456" y="2377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77456" y="23774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15984" y="2756916"/>
            <a:ext cx="219456" cy="201168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53728" y="2377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53728" y="23774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predictable, easy to plan and document.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assumes requirements are known up front — costly to change direction once a phase closes.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0607040" cy="777240"/>
          </a:xfrm>
          <a:prstGeom prst="roundRect">
            <a:avLst>
              <a:gd name="adj" fmla="val 11765"/>
            </a:avLst>
          </a:prstGeom>
          <a:solidFill>
            <a:srgbClr val="E7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7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useful for: fixed-scope contracts, regulated/compliance-heavy systems, hardware-tied releases.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RISK &amp; CHANGE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&amp; Spiral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E7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slice, learn from it, refine, repeat — each cycle adds working functionality.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67128" y="3602736"/>
            <a:ext cx="182880" cy="201168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77440" y="338328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33832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30168" y="3602736"/>
            <a:ext cx="182880" cy="201168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0" y="338328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33832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repeats each cycle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6002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72B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9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 of the spiral repeats four activities, with explicit risk analysis before committing further.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32004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3200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Determine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32004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15400" y="3200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Risk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41148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9400" y="4114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 Next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15400" y="41148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15400" y="4114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Develop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REPEATING SPRINT 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Agile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fixed-length iterations (sprints) deliver working software continuously, guided by customer feedback.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28800" y="21488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21488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Sprint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21488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0" y="21488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416052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06640" y="4160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Review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416052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4160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76976" y="2491740"/>
            <a:ext cx="822960" cy="274320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58200" y="3200400"/>
            <a:ext cx="274320" cy="868680"/>
          </a:xfrm>
          <a:prstGeom prst="down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76976" y="4503420"/>
            <a:ext cx="822960" cy="274320"/>
          </a:xfrm>
          <a:prstGeom prst="lef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80360" y="3200400"/>
            <a:ext cx="274320" cy="868680"/>
          </a:xfrm>
          <a:prstGeom prst="up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51960" y="34518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 cycle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Continuum, Not a Phase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72968" y="2299716"/>
            <a:ext cx="146304" cy="201168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87568" y="2299716"/>
            <a:ext cx="146304" cy="201168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52160" y="20116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02168" y="2299716"/>
            <a:ext cx="146304" cy="201168"/>
          </a:xfrm>
          <a:prstGeom prst="righ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66760" y="20116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6676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37560" y="37947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72968" y="4082796"/>
            <a:ext cx="146304" cy="201168"/>
          </a:xfrm>
          <a:prstGeom prst="lef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52160" y="37947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5216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87568" y="4082796"/>
            <a:ext cx="146304" cy="201168"/>
          </a:xfrm>
          <a:prstGeom prst="lef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66760" y="37947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02168" y="4082796"/>
            <a:ext cx="146304" cy="201168"/>
          </a:xfrm>
          <a:prstGeom prst="left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378440" y="2834640"/>
            <a:ext cx="274320" cy="914400"/>
          </a:xfrm>
          <a:prstGeom prst="down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8680" y="2834640"/>
            <a:ext cx="274320" cy="914400"/>
          </a:xfrm>
          <a:prstGeom prst="upArrow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2960" y="489204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072B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97280" y="48920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SDLC blends traditional software development with IT operations into one continuous, looping process — instead of separate teams handing off work in stages, everything from planning to monitoring feeds back into itself.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 and continuous feedback erase the line between "building" and "running" a system — analysis &amp; design decisions now travel all the way to production.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AF625-79A9-933A-58F8-641A14222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09956E-5C2C-D95E-6E96-54ABFBE6B7A3}"/>
              </a:ext>
            </a:extLst>
          </p:cNvPr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601462-44FA-85EA-3ECA-7A4478DB7227}"/>
              </a:ext>
            </a:extLst>
          </p:cNvPr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Continuum, Not a Phase</a:t>
            </a:r>
            <a:endParaRPr lang="en-US" sz="28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AA6C269-55C1-CFEE-F5B7-E31FEAD5DF77}"/>
              </a:ext>
            </a:extLst>
          </p:cNvPr>
          <p:cNvSpPr/>
          <p:nvPr/>
        </p:nvSpPr>
        <p:spPr>
          <a:xfrm>
            <a:off x="822960" y="1298447"/>
            <a:ext cx="10515600" cy="5041967"/>
          </a:xfrm>
          <a:prstGeom prst="roundRect">
            <a:avLst>
              <a:gd name="adj" fmla="val 9091"/>
            </a:avLst>
          </a:prstGeom>
          <a:solidFill>
            <a:srgbClr val="072B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DD3B264-1EC7-3C94-73B4-4CE5DC609677}"/>
              </a:ext>
            </a:extLst>
          </p:cNvPr>
          <p:cNvSpPr/>
          <p:nvPr/>
        </p:nvSpPr>
        <p:spPr>
          <a:xfrm>
            <a:off x="1051560" y="1591056"/>
            <a:ext cx="9966960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loop never really stops — each turn through it feeds the next. Here's what happens at each stage: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Teams gather requirements, define scope, and prioritize what gets built, often using tools like Jira or Azure Boards.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Developers write and version the code, usually in short-lived feature branches, committing to a shared repo (Git, GitHub, GitLab).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The code gets compiled and packaged automatically whenever it's pushed. This is where CI (continuous integration) tools like Jenkins, GitHub Actions, or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CircleCI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kick in.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Automated test suites (unit, integration, security scans) run against the build to catch issues before they reach users.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— Once tests pass, the build is versioned and approved for production — this is the handoff point between CI and CD (continuous delivery).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The release ships to production, often via automated pipelines using tools like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Spinnaker, or Kubernetes-based rollouts (blue-green, canary, etc.).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— The system runs live. Infrastructure-as-code (Terraform, Ansible) and container orchestration keep environments consistent and scalable.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Observability tools (Prometheus, Grafana, Datadog) track performance, errors, and user behavior — feeding insights straight back into Plan for the next cycle.</a:t>
            </a:r>
          </a:p>
          <a:p>
            <a:pPr>
              <a:lnSpc>
                <a:spcPct val="120000"/>
              </a:lnSpc>
            </a:pPr>
            <a:endParaRPr lang="en-US" sz="14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 of DevOps is collapsing the wall between "Dev" (the top half) and "Ops" (the bottom half) — instead of throwing code over a fence to operations, the same team owns it end-to-end, with automation gluing every handoff together. </a:t>
            </a:r>
            <a:endParaRPr lang="en-US" sz="14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38FC092-08A5-C861-9D18-85CDFA3F106D}"/>
              </a:ext>
            </a:extLst>
          </p:cNvPr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2777613-A0AC-D5DE-A003-96F3FD206593}"/>
              </a:ext>
            </a:extLst>
          </p:cNvPr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4498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DEEP DIVE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Is Culture First, Tooling Second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CALMS framework captures what separates real DevOps adoption from "we bought a CI/CD tool."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E7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25296" y="233172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2529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520440"/>
            <a:ext cx="16642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 across dev &amp; ops; blameless postmortems, not silos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88336" y="205740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E7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23317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25496" y="31089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52928" y="3520440"/>
            <a:ext cx="16642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manual, error-prone steps from build, test, and release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28032" y="205740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E7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04688" y="233172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0468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65192" y="31089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92624" y="3520440"/>
            <a:ext cx="16642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batches, fast feedback loops, eliminate work-in-progress waste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67728" y="205740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E7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44384" y="23317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44384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04888" y="31089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3520440"/>
            <a:ext cx="16642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everything — decisions follow metrics, not opinions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07424" y="205740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E7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784080" y="233172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840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244584" y="31089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72016" y="3520440"/>
            <a:ext cx="16642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Knowledge, tooling, and incident learnings flow freely across teams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DEEP DIVE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DevOps Toolchain, Stage by Stage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82880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Azure Boards · Linear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10712" y="182880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10712" y="22402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 · GitLab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08192" y="182880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08192" y="22402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· Gradle · npm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16916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05672" y="182880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05672" y="22402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· Selenium · Cypress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347472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" y="388620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· GitHub Actions · CircleCI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33375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10712" y="347472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10712" y="388620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Helm · ArgoCD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33375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08192" y="347472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08192" y="388620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Ansible · Docker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41080" y="33375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05672" y="347472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05672" y="388620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Datadog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120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tools shown for illustration — teams choose based on cloud provider, scale, and existing stack.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2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DEEP DIVE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DevOps Success: Four Key Metrics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Frequency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an organization successfully releases to production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97880" y="169164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72200" y="18745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Time for Changes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72200" y="23134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code commit to that code running in production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Failure Rate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deployments that cause a failure in production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347472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36576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Restore Service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172200" y="409651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the team recovers when an incident occurs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metrics — popularized by DORA (DevOps Research and Assessment) — show that speed and stability move together for high-performing teams, not against each other.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Advances Fit: Platform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190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Developer Platforms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848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infrastructure so teams ship without waiting on tickets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770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Paths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1363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Opinionated, paved-road templates for common architectures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8221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Cognitive 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1879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teams absorb complexity so product teams focus on business logic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607040" cy="777240"/>
          </a:xfrm>
          <a:prstGeom prst="roundRect">
            <a:avLst>
              <a:gd name="adj" fmla="val 11765"/>
            </a:avLst>
          </a:prstGeom>
          <a:solidFill>
            <a:srgbClr val="E7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7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implication: analysts must design not just the system, but the paths teams take to build it.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Advances Fit: AI-Augmented SDLC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190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848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assist elicitation, ambiguity detection, and spec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770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&amp; Test Generation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1363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scaffolding, refactoring, and test-case generation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8221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Design-Time Guardrails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1879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review, evaluation pipelines, and traceability stay mandatory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607040" cy="777240"/>
          </a:xfrm>
          <a:prstGeom prst="roundRect">
            <a:avLst>
              <a:gd name="adj" fmla="val 11765"/>
            </a:avLst>
          </a:prstGeom>
          <a:solidFill>
            <a:srgbClr val="E7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7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treats AI as a design-time collaborator, not a replacement for analysis judgment — Week 12 goes deep on this.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2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 from Week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▶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analyst's role has shifted from gatekeeper to embedded, continuous collaborator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▶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SDLC model is "correct" — fit the model to risk, scale, and change tolerance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▶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reframes delivery as a continuous loop, not a final phase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▶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and AI tooling are now part of the analyst's design toolkit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 |  Week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474BC495226A4DA390799C92E36619" ma:contentTypeVersion="3" ma:contentTypeDescription="Create a new document." ma:contentTypeScope="" ma:versionID="4a73b9420067643082b04fd5dc376804">
  <xsd:schema xmlns:xsd="http://www.w3.org/2001/XMLSchema" xmlns:xs="http://www.w3.org/2001/XMLSchema" xmlns:p="http://schemas.microsoft.com/office/2006/metadata/properties" xmlns:ns2="989db138-9486-4683-8f51-7f10e453a2b1" targetNamespace="http://schemas.microsoft.com/office/2006/metadata/properties" ma:root="true" ma:fieldsID="9e51b845acc3af0fc0e9af9baecfd305" ns2:_="">
    <xsd:import namespace="989db138-9486-4683-8f51-7f10e453a2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9db138-9486-4683-8f51-7f10e453a2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58BD04-E929-4444-BEF2-51361E7207D4}"/>
</file>

<file path=customXml/itemProps2.xml><?xml version="1.0" encoding="utf-8"?>
<ds:datastoreItem xmlns:ds="http://schemas.openxmlformats.org/officeDocument/2006/customXml" ds:itemID="{679023BF-98E2-4B88-8885-C81488F85E3C}"/>
</file>

<file path=customXml/itemProps3.xml><?xml version="1.0" encoding="utf-8"?>
<ds:datastoreItem xmlns:ds="http://schemas.openxmlformats.org/officeDocument/2006/customXml" ds:itemID="{6D8A7F96-F7B0-417D-B7C7-F25DC6AF7B6B}"/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1458</Words>
  <Application>Microsoft Office PowerPoint</Application>
  <PresentationFormat>Widescreen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abdulaziz saleh M algablan</cp:lastModifiedBy>
  <cp:revision>3</cp:revision>
  <dcterms:created xsi:type="dcterms:W3CDTF">2026-08-25T06:33:54Z</dcterms:created>
  <dcterms:modified xsi:type="dcterms:W3CDTF">2026-08-30T08:05:31Z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0x0101007F474BC495226A4DA390799C92E36619</vt:lpwstr>
  </property>
</Properties>
</file>