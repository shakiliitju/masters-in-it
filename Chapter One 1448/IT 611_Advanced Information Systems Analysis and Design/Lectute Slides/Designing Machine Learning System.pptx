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8" r:id="rId3"/>
    <p:sldId id="257" r:id="rId4"/>
    <p:sldId id="296" r:id="rId5"/>
    <p:sldId id="259" r:id="rId6"/>
    <p:sldId id="297" r:id="rId7"/>
    <p:sldId id="260" r:id="rId8"/>
    <p:sldId id="261" r:id="rId9"/>
    <p:sldId id="262" r:id="rId10"/>
    <p:sldId id="263" r:id="rId11"/>
    <p:sldId id="264" r:id="rId12"/>
    <p:sldId id="265" r:id="rId13"/>
    <p:sldId id="266" r:id="rId14"/>
    <p:sldId id="268" r:id="rId15"/>
    <p:sldId id="269" r:id="rId16"/>
    <p:sldId id="270" r:id="rId17"/>
    <p:sldId id="271" r:id="rId18"/>
    <p:sldId id="272" r:id="rId19"/>
    <p:sldId id="273" r:id="rId20"/>
    <p:sldId id="274" r:id="rId21"/>
    <p:sldId id="275" r:id="rId22"/>
    <p:sldId id="276" r:id="rId23"/>
    <p:sldId id="277" r:id="rId24"/>
    <p:sldId id="278" r:id="rId25"/>
    <p:sldId id="283" r:id="rId26"/>
    <p:sldId id="284" r:id="rId27"/>
    <p:sldId id="285" r:id="rId28"/>
    <p:sldId id="286" r:id="rId29"/>
    <p:sldId id="287" r:id="rId30"/>
    <p:sldId id="288" r:id="rId31"/>
    <p:sldId id="289" r:id="rId32"/>
    <p:sldId id="290" r:id="rId33"/>
    <p:sldId id="291" r:id="rId34"/>
    <p:sldId id="292" r:id="rId35"/>
    <p:sldId id="293" r:id="rId36"/>
    <p:sldId id="295"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C1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F378EC-1F62-83FA-F954-6BB7EEA46F3A}" v="130" dt="2026-10-14T08:56:40.4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21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47"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45"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aziz saleh M algablan" userId="S::a.algablan@qu.edu.sa::e8d9e4d9-6f25-472c-9315-01d09980dd71" providerId="AD" clId="Web-{DCF378EC-1F62-83FA-F954-6BB7EEA46F3A}"/>
    <pc:docChg chg="mod addSld delSld modSld sldOrd modMainMaster">
      <pc:chgData name="abdulaziz saleh M algablan" userId="S::a.algablan@qu.edu.sa::e8d9e4d9-6f25-472c-9315-01d09980dd71" providerId="AD" clId="Web-{DCF378EC-1F62-83FA-F954-6BB7EEA46F3A}" dt="2026-10-14T08:56:40.480" v="162"/>
      <pc:docMkLst>
        <pc:docMk/>
      </pc:docMkLst>
      <pc:sldChg chg="addSp delSp modSp ord">
        <pc:chgData name="abdulaziz saleh M algablan" userId="S::a.algablan@qu.edu.sa::e8d9e4d9-6f25-472c-9315-01d09980dd71" providerId="AD" clId="Web-{DCF378EC-1F62-83FA-F954-6BB7EEA46F3A}" dt="2026-10-14T08:56:28.745" v="160" actId="20577"/>
        <pc:sldMkLst>
          <pc:docMk/>
          <pc:sldMk cId="0" sldId="257"/>
        </pc:sldMkLst>
        <pc:spChg chg="del">
          <ac:chgData name="abdulaziz saleh M algablan" userId="S::a.algablan@qu.edu.sa::e8d9e4d9-6f25-472c-9315-01d09980dd71" providerId="AD" clId="Web-{DCF378EC-1F62-83FA-F954-6BB7EEA46F3A}" dt="2026-10-14T08:44:34.790" v="63"/>
          <ac:spMkLst>
            <pc:docMk/>
            <pc:sldMk cId="0" sldId="257"/>
            <ac:spMk id="4" creationId="{00000000-0000-0000-0000-000000000000}"/>
          </ac:spMkLst>
        </pc:spChg>
        <pc:spChg chg="del">
          <ac:chgData name="abdulaziz saleh M algablan" userId="S::a.algablan@qu.edu.sa::e8d9e4d9-6f25-472c-9315-01d09980dd71" providerId="AD" clId="Web-{DCF378EC-1F62-83FA-F954-6BB7EEA46F3A}" dt="2026-10-14T08:44:37.243" v="64"/>
          <ac:spMkLst>
            <pc:docMk/>
            <pc:sldMk cId="0" sldId="257"/>
            <ac:spMk id="5" creationId="{00000000-0000-0000-0000-000000000000}"/>
          </ac:spMkLst>
        </pc:spChg>
        <pc:spChg chg="del">
          <ac:chgData name="abdulaziz saleh M algablan" userId="S::a.algablan@qu.edu.sa::e8d9e4d9-6f25-472c-9315-01d09980dd71" providerId="AD" clId="Web-{DCF378EC-1F62-83FA-F954-6BB7EEA46F3A}" dt="2026-10-14T08:44:32.696" v="62"/>
          <ac:spMkLst>
            <pc:docMk/>
            <pc:sldMk cId="0" sldId="257"/>
            <ac:spMk id="6" creationId="{00000000-0000-0000-0000-000000000000}"/>
          </ac:spMkLst>
        </pc:spChg>
        <pc:spChg chg="mod">
          <ac:chgData name="abdulaziz saleh M algablan" userId="S::a.algablan@qu.edu.sa::e8d9e4d9-6f25-472c-9315-01d09980dd71" providerId="AD" clId="Web-{DCF378EC-1F62-83FA-F954-6BB7EEA46F3A}" dt="2026-10-14T08:45:32.869" v="80" actId="14100"/>
          <ac:spMkLst>
            <pc:docMk/>
            <pc:sldMk cId="0" sldId="257"/>
            <ac:spMk id="7" creationId="{00000000-0000-0000-0000-000000000000}"/>
          </ac:spMkLst>
        </pc:spChg>
        <pc:spChg chg="del">
          <ac:chgData name="abdulaziz saleh M algablan" userId="S::a.algablan@qu.edu.sa::e8d9e4d9-6f25-472c-9315-01d09980dd71" providerId="AD" clId="Web-{DCF378EC-1F62-83FA-F954-6BB7EEA46F3A}" dt="2026-10-14T08:44:32.696" v="61"/>
          <ac:spMkLst>
            <pc:docMk/>
            <pc:sldMk cId="0" sldId="257"/>
            <ac:spMk id="8" creationId="{00000000-0000-0000-0000-000000000000}"/>
          </ac:spMkLst>
        </pc:spChg>
        <pc:spChg chg="del">
          <ac:chgData name="abdulaziz saleh M algablan" userId="S::a.algablan@qu.edu.sa::e8d9e4d9-6f25-472c-9315-01d09980dd71" providerId="AD" clId="Web-{DCF378EC-1F62-83FA-F954-6BB7EEA46F3A}" dt="2026-10-14T08:45:11.556" v="74"/>
          <ac:spMkLst>
            <pc:docMk/>
            <pc:sldMk cId="0" sldId="257"/>
            <ac:spMk id="9" creationId="{00000000-0000-0000-0000-000000000000}"/>
          </ac:spMkLst>
        </pc:spChg>
        <pc:spChg chg="del">
          <ac:chgData name="abdulaziz saleh M algablan" userId="S::a.algablan@qu.edu.sa::e8d9e4d9-6f25-472c-9315-01d09980dd71" providerId="AD" clId="Web-{DCF378EC-1F62-83FA-F954-6BB7EEA46F3A}" dt="2026-10-14T08:44:32.696" v="60"/>
          <ac:spMkLst>
            <pc:docMk/>
            <pc:sldMk cId="0" sldId="257"/>
            <ac:spMk id="10" creationId="{00000000-0000-0000-0000-000000000000}"/>
          </ac:spMkLst>
        </pc:spChg>
        <pc:spChg chg="del">
          <ac:chgData name="abdulaziz saleh M algablan" userId="S::a.algablan@qu.edu.sa::e8d9e4d9-6f25-472c-9315-01d09980dd71" providerId="AD" clId="Web-{DCF378EC-1F62-83FA-F954-6BB7EEA46F3A}" dt="2026-10-14T08:45:13.900" v="75"/>
          <ac:spMkLst>
            <pc:docMk/>
            <pc:sldMk cId="0" sldId="257"/>
            <ac:spMk id="11" creationId="{00000000-0000-0000-0000-000000000000}"/>
          </ac:spMkLst>
        </pc:spChg>
        <pc:spChg chg="del">
          <ac:chgData name="abdulaziz saleh M algablan" userId="S::a.algablan@qu.edu.sa::e8d9e4d9-6f25-472c-9315-01d09980dd71" providerId="AD" clId="Web-{DCF378EC-1F62-83FA-F954-6BB7EEA46F3A}" dt="2026-10-14T08:44:32.696" v="59"/>
          <ac:spMkLst>
            <pc:docMk/>
            <pc:sldMk cId="0" sldId="257"/>
            <ac:spMk id="12" creationId="{00000000-0000-0000-0000-000000000000}"/>
          </ac:spMkLst>
        </pc:spChg>
        <pc:spChg chg="del">
          <ac:chgData name="abdulaziz saleh M algablan" userId="S::a.algablan@qu.edu.sa::e8d9e4d9-6f25-472c-9315-01d09980dd71" providerId="AD" clId="Web-{DCF378EC-1F62-83FA-F954-6BB7EEA46F3A}" dt="2026-10-14T08:45:15.557" v="76"/>
          <ac:spMkLst>
            <pc:docMk/>
            <pc:sldMk cId="0" sldId="257"/>
            <ac:spMk id="13" creationId="{00000000-0000-0000-0000-000000000000}"/>
          </ac:spMkLst>
        </pc:spChg>
        <pc:spChg chg="del">
          <ac:chgData name="abdulaziz saleh M algablan" userId="S::a.algablan@qu.edu.sa::e8d9e4d9-6f25-472c-9315-01d09980dd71" providerId="AD" clId="Web-{DCF378EC-1F62-83FA-F954-6BB7EEA46F3A}" dt="2026-10-14T08:44:32.696" v="58"/>
          <ac:spMkLst>
            <pc:docMk/>
            <pc:sldMk cId="0" sldId="257"/>
            <ac:spMk id="14" creationId="{00000000-0000-0000-0000-000000000000}"/>
          </ac:spMkLst>
        </pc:spChg>
        <pc:spChg chg="del">
          <ac:chgData name="abdulaziz saleh M algablan" userId="S::a.algablan@qu.edu.sa::e8d9e4d9-6f25-472c-9315-01d09980dd71" providerId="AD" clId="Web-{DCF378EC-1F62-83FA-F954-6BB7EEA46F3A}" dt="2026-10-14T08:45:16.807" v="77"/>
          <ac:spMkLst>
            <pc:docMk/>
            <pc:sldMk cId="0" sldId="257"/>
            <ac:spMk id="15" creationId="{00000000-0000-0000-0000-000000000000}"/>
          </ac:spMkLst>
        </pc:spChg>
        <pc:spChg chg="del">
          <ac:chgData name="abdulaziz saleh M algablan" userId="S::a.algablan@qu.edu.sa::e8d9e4d9-6f25-472c-9315-01d09980dd71" providerId="AD" clId="Web-{DCF378EC-1F62-83FA-F954-6BB7EEA46F3A}" dt="2026-10-14T08:44:30.634" v="57"/>
          <ac:spMkLst>
            <pc:docMk/>
            <pc:sldMk cId="0" sldId="257"/>
            <ac:spMk id="16" creationId="{00000000-0000-0000-0000-000000000000}"/>
          </ac:spMkLst>
        </pc:spChg>
        <pc:spChg chg="del">
          <ac:chgData name="abdulaziz saleh M algablan" userId="S::a.algablan@qu.edu.sa::e8d9e4d9-6f25-472c-9315-01d09980dd71" providerId="AD" clId="Web-{DCF378EC-1F62-83FA-F954-6BB7EEA46F3A}" dt="2026-10-14T08:44:29.618" v="56"/>
          <ac:spMkLst>
            <pc:docMk/>
            <pc:sldMk cId="0" sldId="257"/>
            <ac:spMk id="17" creationId="{00000000-0000-0000-0000-000000000000}"/>
          </ac:spMkLst>
        </pc:spChg>
        <pc:spChg chg="add mod">
          <ac:chgData name="abdulaziz saleh M algablan" userId="S::a.algablan@qu.edu.sa::e8d9e4d9-6f25-472c-9315-01d09980dd71" providerId="AD" clId="Web-{DCF378EC-1F62-83FA-F954-6BB7EEA46F3A}" dt="2026-10-14T08:56:28.745" v="160" actId="20577"/>
          <ac:spMkLst>
            <pc:docMk/>
            <pc:sldMk cId="0" sldId="257"/>
            <ac:spMk id="18" creationId="{2B52443A-EBAA-80E1-E9CC-E8CA32265DAE}"/>
          </ac:spMkLst>
        </pc:spChg>
      </pc:sldChg>
      <pc:sldChg chg="addSp delSp modSp">
        <pc:chgData name="abdulaziz saleh M algablan" userId="S::a.algablan@qu.edu.sa::e8d9e4d9-6f25-472c-9315-01d09980dd71" providerId="AD" clId="Web-{DCF378EC-1F62-83FA-F954-6BB7EEA46F3A}" dt="2026-10-14T08:56:40.480" v="162"/>
        <pc:sldMkLst>
          <pc:docMk/>
          <pc:sldMk cId="0" sldId="259"/>
        </pc:sldMkLst>
        <pc:spChg chg="del">
          <ac:chgData name="abdulaziz saleh M algablan" userId="S::a.algablan@qu.edu.sa::e8d9e4d9-6f25-472c-9315-01d09980dd71" providerId="AD" clId="Web-{DCF378EC-1F62-83FA-F954-6BB7EEA46F3A}" dt="2026-10-14T08:47:40.487" v="92"/>
          <ac:spMkLst>
            <pc:docMk/>
            <pc:sldMk cId="0" sldId="259"/>
            <ac:spMk id="3" creationId="{00000000-0000-0000-0000-000000000000}"/>
          </ac:spMkLst>
        </pc:spChg>
        <pc:spChg chg="del mod">
          <ac:chgData name="abdulaziz saleh M algablan" userId="S::a.algablan@qu.edu.sa::e8d9e4d9-6f25-472c-9315-01d09980dd71" providerId="AD" clId="Web-{DCF378EC-1F62-83FA-F954-6BB7EEA46F3A}" dt="2026-10-14T08:56:39.793" v="161"/>
          <ac:spMkLst>
            <pc:docMk/>
            <pc:sldMk cId="0" sldId="259"/>
            <ac:spMk id="4" creationId="{00000000-0000-0000-0000-000000000000}"/>
          </ac:spMkLst>
        </pc:spChg>
        <pc:spChg chg="del">
          <ac:chgData name="abdulaziz saleh M algablan" userId="S::a.algablan@qu.edu.sa::e8d9e4d9-6f25-472c-9315-01d09980dd71" providerId="AD" clId="Web-{DCF378EC-1F62-83FA-F954-6BB7EEA46F3A}" dt="2026-10-14T08:47:44.628" v="96"/>
          <ac:spMkLst>
            <pc:docMk/>
            <pc:sldMk cId="0" sldId="259"/>
            <ac:spMk id="6" creationId="{00000000-0000-0000-0000-000000000000}"/>
          </ac:spMkLst>
        </pc:spChg>
        <pc:spChg chg="del">
          <ac:chgData name="abdulaziz saleh M algablan" userId="S::a.algablan@qu.edu.sa::e8d9e4d9-6f25-472c-9315-01d09980dd71" providerId="AD" clId="Web-{DCF378EC-1F62-83FA-F954-6BB7EEA46F3A}" dt="2026-10-14T08:47:40.487" v="91"/>
          <ac:spMkLst>
            <pc:docMk/>
            <pc:sldMk cId="0" sldId="259"/>
            <ac:spMk id="7" creationId="{00000000-0000-0000-0000-000000000000}"/>
          </ac:spMkLst>
        </pc:spChg>
        <pc:spChg chg="del">
          <ac:chgData name="abdulaziz saleh M algablan" userId="S::a.algablan@qu.edu.sa::e8d9e4d9-6f25-472c-9315-01d09980dd71" providerId="AD" clId="Web-{DCF378EC-1F62-83FA-F954-6BB7EEA46F3A}" dt="2026-10-14T08:47:44.628" v="95"/>
          <ac:spMkLst>
            <pc:docMk/>
            <pc:sldMk cId="0" sldId="259"/>
            <ac:spMk id="8" creationId="{00000000-0000-0000-0000-000000000000}"/>
          </ac:spMkLst>
        </pc:spChg>
        <pc:spChg chg="del">
          <ac:chgData name="abdulaziz saleh M algablan" userId="S::a.algablan@qu.edu.sa::e8d9e4d9-6f25-472c-9315-01d09980dd71" providerId="AD" clId="Web-{DCF378EC-1F62-83FA-F954-6BB7EEA46F3A}" dt="2026-10-14T08:47:40.487" v="90"/>
          <ac:spMkLst>
            <pc:docMk/>
            <pc:sldMk cId="0" sldId="259"/>
            <ac:spMk id="9" creationId="{00000000-0000-0000-0000-000000000000}"/>
          </ac:spMkLst>
        </pc:spChg>
        <pc:spChg chg="del">
          <ac:chgData name="abdulaziz saleh M algablan" userId="S::a.algablan@qu.edu.sa::e8d9e4d9-6f25-472c-9315-01d09980dd71" providerId="AD" clId="Web-{DCF378EC-1F62-83FA-F954-6BB7EEA46F3A}" dt="2026-10-14T08:47:44.628" v="94"/>
          <ac:spMkLst>
            <pc:docMk/>
            <pc:sldMk cId="0" sldId="259"/>
            <ac:spMk id="10" creationId="{00000000-0000-0000-0000-000000000000}"/>
          </ac:spMkLst>
        </pc:spChg>
        <pc:spChg chg="del">
          <ac:chgData name="abdulaziz saleh M algablan" userId="S::a.algablan@qu.edu.sa::e8d9e4d9-6f25-472c-9315-01d09980dd71" providerId="AD" clId="Web-{DCF378EC-1F62-83FA-F954-6BB7EEA46F3A}" dt="2026-10-14T08:47:40.487" v="89"/>
          <ac:spMkLst>
            <pc:docMk/>
            <pc:sldMk cId="0" sldId="259"/>
            <ac:spMk id="11" creationId="{00000000-0000-0000-0000-000000000000}"/>
          </ac:spMkLst>
        </pc:spChg>
        <pc:spChg chg="del">
          <ac:chgData name="abdulaziz saleh M algablan" userId="S::a.algablan@qu.edu.sa::e8d9e4d9-6f25-472c-9315-01d09980dd71" providerId="AD" clId="Web-{DCF378EC-1F62-83FA-F954-6BB7EEA46F3A}" dt="2026-10-14T08:47:44.628" v="93"/>
          <ac:spMkLst>
            <pc:docMk/>
            <pc:sldMk cId="0" sldId="259"/>
            <ac:spMk id="12" creationId="{00000000-0000-0000-0000-000000000000}"/>
          </ac:spMkLst>
        </pc:spChg>
        <pc:spChg chg="del">
          <ac:chgData name="abdulaziz saleh M algablan" userId="S::a.algablan@qu.edu.sa::e8d9e4d9-6f25-472c-9315-01d09980dd71" providerId="AD" clId="Web-{DCF378EC-1F62-83FA-F954-6BB7EEA46F3A}" dt="2026-10-14T08:47:40.487" v="88"/>
          <ac:spMkLst>
            <pc:docMk/>
            <pc:sldMk cId="0" sldId="259"/>
            <ac:spMk id="13" creationId="{00000000-0000-0000-0000-000000000000}"/>
          </ac:spMkLst>
        </pc:spChg>
        <pc:spChg chg="del">
          <ac:chgData name="abdulaziz saleh M algablan" userId="S::a.algablan@qu.edu.sa::e8d9e4d9-6f25-472c-9315-01d09980dd71" providerId="AD" clId="Web-{DCF378EC-1F62-83FA-F954-6BB7EEA46F3A}" dt="2026-10-14T08:47:40.487" v="87"/>
          <ac:spMkLst>
            <pc:docMk/>
            <pc:sldMk cId="0" sldId="259"/>
            <ac:spMk id="14" creationId="{00000000-0000-0000-0000-000000000000}"/>
          </ac:spMkLst>
        </pc:spChg>
        <pc:spChg chg="del">
          <ac:chgData name="abdulaziz saleh M algablan" userId="S::a.algablan@qu.edu.sa::e8d9e4d9-6f25-472c-9315-01d09980dd71" providerId="AD" clId="Web-{DCF378EC-1F62-83FA-F954-6BB7EEA46F3A}" dt="2026-10-14T08:47:40.487" v="86"/>
          <ac:spMkLst>
            <pc:docMk/>
            <pc:sldMk cId="0" sldId="259"/>
            <ac:spMk id="15" creationId="{00000000-0000-0000-0000-000000000000}"/>
          </ac:spMkLst>
        </pc:spChg>
        <pc:spChg chg="add mod">
          <ac:chgData name="abdulaziz saleh M algablan" userId="S::a.algablan@qu.edu.sa::e8d9e4d9-6f25-472c-9315-01d09980dd71" providerId="AD" clId="Web-{DCF378EC-1F62-83FA-F954-6BB7EEA46F3A}" dt="2026-10-14T08:55:20.087" v="158" actId="20577"/>
          <ac:spMkLst>
            <pc:docMk/>
            <pc:sldMk cId="0" sldId="259"/>
            <ac:spMk id="17" creationId="{D80D5FAD-EA89-ADBA-33EF-19ECAEE295C9}"/>
          </ac:spMkLst>
        </pc:spChg>
        <pc:spChg chg="add">
          <ac:chgData name="abdulaziz saleh M algablan" userId="S::a.algablan@qu.edu.sa::e8d9e4d9-6f25-472c-9315-01d09980dd71" providerId="AD" clId="Web-{DCF378EC-1F62-83FA-F954-6BB7EEA46F3A}" dt="2026-10-14T08:56:40.480" v="162"/>
          <ac:spMkLst>
            <pc:docMk/>
            <pc:sldMk cId="0" sldId="259"/>
            <ac:spMk id="19" creationId="{AEC30E69-BCB4-09D3-3D02-09F7CEF3A744}"/>
          </ac:spMkLst>
        </pc:spChg>
      </pc:sldChg>
      <pc:sldChg chg="addSp modSp new mod ord setBg">
        <pc:chgData name="abdulaziz saleh M algablan" userId="S::a.algablan@qu.edu.sa::e8d9e4d9-6f25-472c-9315-01d09980dd71" providerId="AD" clId="Web-{DCF378EC-1F62-83FA-F954-6BB7EEA46F3A}" dt="2026-10-14T08:46:29.154" v="84"/>
        <pc:sldMkLst>
          <pc:docMk/>
          <pc:sldMk cId="885450782" sldId="296"/>
        </pc:sldMkLst>
        <pc:picChg chg="add mod">
          <ac:chgData name="abdulaziz saleh M algablan" userId="S::a.algablan@qu.edu.sa::e8d9e4d9-6f25-472c-9315-01d09980dd71" providerId="AD" clId="Web-{DCF378EC-1F62-83FA-F954-6BB7EEA46F3A}" dt="2026-10-14T08:40:53.722" v="6"/>
          <ac:picMkLst>
            <pc:docMk/>
            <pc:sldMk cId="885450782" sldId="296"/>
            <ac:picMk id="2" creationId="{3C6C0577-13B2-3A6D-DEBC-7219FB5F81B4}"/>
          </ac:picMkLst>
        </pc:picChg>
      </pc:sldChg>
      <pc:sldChg chg="addSp delSp modSp new del">
        <pc:chgData name="abdulaziz saleh M algablan" userId="S::a.algablan@qu.edu.sa::e8d9e4d9-6f25-472c-9315-01d09980dd71" providerId="AD" clId="Web-{DCF378EC-1F62-83FA-F954-6BB7EEA46F3A}" dt="2026-10-14T08:45:37.854" v="81"/>
        <pc:sldMkLst>
          <pc:docMk/>
          <pc:sldMk cId="509372204" sldId="297"/>
        </pc:sldMkLst>
        <pc:spChg chg="add del mod">
          <ac:chgData name="abdulaziz saleh M algablan" userId="S::a.algablan@qu.edu.sa::e8d9e4d9-6f25-472c-9315-01d09980dd71" providerId="AD" clId="Web-{DCF378EC-1F62-83FA-F954-6BB7EEA46F3A}" dt="2026-10-14T08:42:22.490" v="11"/>
          <ac:spMkLst>
            <pc:docMk/>
            <pc:sldMk cId="509372204" sldId="297"/>
            <ac:spMk id="2" creationId="{76FD727E-D32E-8293-66D5-E78E88A9B5D0}"/>
          </ac:spMkLst>
        </pc:spChg>
        <pc:spChg chg="add del mod">
          <ac:chgData name="abdulaziz saleh M algablan" userId="S::a.algablan@qu.edu.sa::e8d9e4d9-6f25-472c-9315-01d09980dd71" providerId="AD" clId="Web-{DCF378EC-1F62-83FA-F954-6BB7EEA46F3A}" dt="2026-10-14T08:44:43.275" v="67"/>
          <ac:spMkLst>
            <pc:docMk/>
            <pc:sldMk cId="509372204" sldId="297"/>
            <ac:spMk id="3" creationId="{FE762B84-57A1-5767-5D5A-32DC6B962B1C}"/>
          </ac:spMkLst>
        </pc:spChg>
      </pc:sldChg>
      <pc:sldChg chg="add replId">
        <pc:chgData name="abdulaziz saleh M algablan" userId="S::a.algablan@qu.edu.sa::e8d9e4d9-6f25-472c-9315-01d09980dd71" providerId="AD" clId="Web-{DCF378EC-1F62-83FA-F954-6BB7EEA46F3A}" dt="2026-10-14T08:47:36.597" v="85"/>
        <pc:sldMkLst>
          <pc:docMk/>
          <pc:sldMk cId="3888246126" sldId="297"/>
        </pc:sldMkLst>
      </pc:sldChg>
      <pc:sldChg chg="addSp delSp add del replId">
        <pc:chgData name="abdulaziz saleh M algablan" userId="S::a.algablan@qu.edu.sa::e8d9e4d9-6f25-472c-9315-01d09980dd71" providerId="AD" clId="Web-{DCF378EC-1F62-83FA-F954-6BB7EEA46F3A}" dt="2026-10-14T08:44:27.446" v="55"/>
        <pc:sldMkLst>
          <pc:docMk/>
          <pc:sldMk cId="955447972" sldId="298"/>
        </pc:sldMkLst>
        <pc:spChg chg="add del">
          <ac:chgData name="abdulaziz saleh M algablan" userId="S::a.algablan@qu.edu.sa::e8d9e4d9-6f25-472c-9315-01d09980dd71" providerId="AD" clId="Web-{DCF378EC-1F62-83FA-F954-6BB7EEA46F3A}" dt="2026-10-14T08:44:24.196" v="42"/>
          <ac:spMkLst>
            <pc:docMk/>
            <pc:sldMk cId="955447972" sldId="298"/>
            <ac:spMk id="4" creationId="{1E5B754A-6A4D-701F-99ED-FEDD260FB5D8}"/>
          </ac:spMkLst>
        </pc:spChg>
        <pc:spChg chg="add del">
          <ac:chgData name="abdulaziz saleh M algablan" userId="S::a.algablan@qu.edu.sa::e8d9e4d9-6f25-472c-9315-01d09980dd71" providerId="AD" clId="Web-{DCF378EC-1F62-83FA-F954-6BB7EEA46F3A}" dt="2026-10-14T08:44:24.462" v="43"/>
          <ac:spMkLst>
            <pc:docMk/>
            <pc:sldMk cId="955447972" sldId="298"/>
            <ac:spMk id="6" creationId="{E40F7ABC-68C5-4395-72B8-314115DB4EAB}"/>
          </ac:spMkLst>
        </pc:spChg>
        <pc:spChg chg="add del">
          <ac:chgData name="abdulaziz saleh M algablan" userId="S::a.algablan@qu.edu.sa::e8d9e4d9-6f25-472c-9315-01d09980dd71" providerId="AD" clId="Web-{DCF378EC-1F62-83FA-F954-6BB7EEA46F3A}" dt="2026-10-14T08:44:27.134" v="48"/>
          <ac:spMkLst>
            <pc:docMk/>
            <pc:sldMk cId="955447972" sldId="298"/>
            <ac:spMk id="7" creationId="{7F2A3FF9-71D0-1BBF-249A-6B280BB34F6B}"/>
          </ac:spMkLst>
        </pc:spChg>
        <pc:spChg chg="add del">
          <ac:chgData name="abdulaziz saleh M algablan" userId="S::a.algablan@qu.edu.sa::e8d9e4d9-6f25-472c-9315-01d09980dd71" providerId="AD" clId="Web-{DCF378EC-1F62-83FA-F954-6BB7EEA46F3A}" dt="2026-10-14T08:44:24.462" v="44"/>
          <ac:spMkLst>
            <pc:docMk/>
            <pc:sldMk cId="955447972" sldId="298"/>
            <ac:spMk id="8" creationId="{683F44C5-351A-2260-C989-0A407B3D8871}"/>
          </ac:spMkLst>
        </pc:spChg>
        <pc:spChg chg="add del">
          <ac:chgData name="abdulaziz saleh M algablan" userId="S::a.algablan@qu.edu.sa::e8d9e4d9-6f25-472c-9315-01d09980dd71" providerId="AD" clId="Web-{DCF378EC-1F62-83FA-F954-6BB7EEA46F3A}" dt="2026-10-14T08:44:27.134" v="49"/>
          <ac:spMkLst>
            <pc:docMk/>
            <pc:sldMk cId="955447972" sldId="298"/>
            <ac:spMk id="9" creationId="{20E22A4E-6C49-55A4-BDE3-261984E8B473}"/>
          </ac:spMkLst>
        </pc:spChg>
        <pc:spChg chg="add del">
          <ac:chgData name="abdulaziz saleh M algablan" userId="S::a.algablan@qu.edu.sa::e8d9e4d9-6f25-472c-9315-01d09980dd71" providerId="AD" clId="Web-{DCF378EC-1F62-83FA-F954-6BB7EEA46F3A}" dt="2026-10-14T08:44:24.462" v="45"/>
          <ac:spMkLst>
            <pc:docMk/>
            <pc:sldMk cId="955447972" sldId="298"/>
            <ac:spMk id="10" creationId="{1B3848ED-6290-7D7E-11EE-7DDDC724724F}"/>
          </ac:spMkLst>
        </pc:spChg>
        <pc:spChg chg="add del">
          <ac:chgData name="abdulaziz saleh M algablan" userId="S::a.algablan@qu.edu.sa::e8d9e4d9-6f25-472c-9315-01d09980dd71" providerId="AD" clId="Web-{DCF378EC-1F62-83FA-F954-6BB7EEA46F3A}" dt="2026-10-14T08:44:27.134" v="50"/>
          <ac:spMkLst>
            <pc:docMk/>
            <pc:sldMk cId="955447972" sldId="298"/>
            <ac:spMk id="11" creationId="{00E411A4-2A7D-817D-D6A2-7C33024D6009}"/>
          </ac:spMkLst>
        </pc:spChg>
        <pc:spChg chg="add del">
          <ac:chgData name="abdulaziz saleh M algablan" userId="S::a.algablan@qu.edu.sa::e8d9e4d9-6f25-472c-9315-01d09980dd71" providerId="AD" clId="Web-{DCF378EC-1F62-83FA-F954-6BB7EEA46F3A}" dt="2026-10-14T08:44:24.462" v="46"/>
          <ac:spMkLst>
            <pc:docMk/>
            <pc:sldMk cId="955447972" sldId="298"/>
            <ac:spMk id="12" creationId="{36C4D1A7-6F1D-EDB2-28A9-D33F2ECBB23D}"/>
          </ac:spMkLst>
        </pc:spChg>
        <pc:spChg chg="add del">
          <ac:chgData name="abdulaziz saleh M algablan" userId="S::a.algablan@qu.edu.sa::e8d9e4d9-6f25-472c-9315-01d09980dd71" providerId="AD" clId="Web-{DCF378EC-1F62-83FA-F954-6BB7EEA46F3A}" dt="2026-10-14T08:44:27.134" v="51"/>
          <ac:spMkLst>
            <pc:docMk/>
            <pc:sldMk cId="955447972" sldId="298"/>
            <ac:spMk id="13" creationId="{49F4EAE7-A838-FD64-A1CB-25AB50139EF9}"/>
          </ac:spMkLst>
        </pc:spChg>
        <pc:spChg chg="add del">
          <ac:chgData name="abdulaziz saleh M algablan" userId="S::a.algablan@qu.edu.sa::e8d9e4d9-6f25-472c-9315-01d09980dd71" providerId="AD" clId="Web-{DCF378EC-1F62-83FA-F954-6BB7EEA46F3A}" dt="2026-10-14T08:44:24.462" v="47"/>
          <ac:spMkLst>
            <pc:docMk/>
            <pc:sldMk cId="955447972" sldId="298"/>
            <ac:spMk id="14" creationId="{E73CD931-3220-5D25-2CFA-7717A976EF5B}"/>
          </ac:spMkLst>
        </pc:spChg>
        <pc:spChg chg="add del">
          <ac:chgData name="abdulaziz saleh M algablan" userId="S::a.algablan@qu.edu.sa::e8d9e4d9-6f25-472c-9315-01d09980dd71" providerId="AD" clId="Web-{DCF378EC-1F62-83FA-F954-6BB7EEA46F3A}" dt="2026-10-14T08:44:27.134" v="52"/>
          <ac:spMkLst>
            <pc:docMk/>
            <pc:sldMk cId="955447972" sldId="298"/>
            <ac:spMk id="15" creationId="{366B543F-530D-546A-3EC7-64B0BD678B76}"/>
          </ac:spMkLst>
        </pc:spChg>
        <pc:spChg chg="add del">
          <ac:chgData name="abdulaziz saleh M algablan" userId="S::a.algablan@qu.edu.sa::e8d9e4d9-6f25-472c-9315-01d09980dd71" providerId="AD" clId="Web-{DCF378EC-1F62-83FA-F954-6BB7EEA46F3A}" dt="2026-10-14T08:44:27.134" v="53"/>
          <ac:spMkLst>
            <pc:docMk/>
            <pc:sldMk cId="955447972" sldId="298"/>
            <ac:spMk id="16" creationId="{74A9B1CC-51B9-94AE-12D6-266D42B628C8}"/>
          </ac:spMkLst>
        </pc:spChg>
        <pc:spChg chg="add del">
          <ac:chgData name="abdulaziz saleh M algablan" userId="S::a.algablan@qu.edu.sa::e8d9e4d9-6f25-472c-9315-01d09980dd71" providerId="AD" clId="Web-{DCF378EC-1F62-83FA-F954-6BB7EEA46F3A}" dt="2026-10-14T08:44:27.134" v="54"/>
          <ac:spMkLst>
            <pc:docMk/>
            <pc:sldMk cId="955447972" sldId="298"/>
            <ac:spMk id="17" creationId="{C97CDE8B-617A-8685-A516-68C766833EE4}"/>
          </ac:spMkLst>
        </pc:spChg>
      </pc:sldChg>
      <pc:sldChg chg="add del">
        <pc:chgData name="abdulaziz saleh M algablan" userId="S::a.algablan@qu.edu.sa::e8d9e4d9-6f25-472c-9315-01d09980dd71" providerId="AD" clId="Web-{DCF378EC-1F62-83FA-F954-6BB7EEA46F3A}" dt="2026-10-14T08:42:35.646" v="13"/>
        <pc:sldMkLst>
          <pc:docMk/>
          <pc:sldMk cId="2548542755" sldId="298"/>
        </pc:sldMkLst>
      </pc:sldChg>
      <pc:sldMasterChg chg="mod modSldLayout">
        <pc:chgData name="abdulaziz saleh M algablan" userId="S::a.algablan@qu.edu.sa::e8d9e4d9-6f25-472c-9315-01d09980dd71" providerId="AD" clId="Web-{DCF378EC-1F62-83FA-F954-6BB7EEA46F3A}" dt="2026-10-14T08:36:49.668" v="3"/>
        <pc:sldMasterMkLst>
          <pc:docMk/>
          <pc:sldMasterMk cId="0" sldId="2147483648"/>
        </pc:sldMasterMkLst>
        <pc:sldLayoutChg chg="mod">
          <pc:chgData name="abdulaziz saleh M algablan" userId="S::a.algablan@qu.edu.sa::e8d9e4d9-6f25-472c-9315-01d09980dd71" providerId="AD" clId="Web-{DCF378EC-1F62-83FA-F954-6BB7EEA46F3A}" dt="2026-10-14T08:36:49.668" v="3"/>
          <pc:sldLayoutMkLst>
            <pc:docMk/>
            <pc:sldMasterMk cId="0" sldId="2147483648"/>
            <pc:sldLayoutMk cId="0" sldId="2147483649"/>
          </pc:sldLayoutMkLst>
        </pc:sldLayoutChg>
      </pc:sldMasterChg>
    </pc:docChg>
  </pc:docChgLst>
  <pc:docChgLst>
    <pc:chgData name="abdulaziz saleh M algablan" userId="e8d9e4d9-6f25-472c-9315-01d09980dd71" providerId="ADAL" clId="{8AF9A7AE-14A4-57FD-B51B-F76F7F8CE6A1}"/>
    <pc:docChg chg="undo custSel mod modSld modMainMaster">
      <pc:chgData name="abdulaziz saleh M algablan" userId="e8d9e4d9-6f25-472c-9315-01d09980dd71" providerId="ADAL" clId="{8AF9A7AE-14A4-57FD-B51B-F76F7F8CE6A1}" dt="2026-10-14T10:38:56.678" v="86" actId="20577"/>
      <pc:docMkLst>
        <pc:docMk/>
      </pc:docMkLst>
      <pc:sldChg chg="addSp delSp modSp mod">
        <pc:chgData name="abdulaziz saleh M algablan" userId="e8d9e4d9-6f25-472c-9315-01d09980dd71" providerId="ADAL" clId="{8AF9A7AE-14A4-57FD-B51B-F76F7F8CE6A1}" dt="2026-10-14T09:28:27.869" v="83" actId="13926"/>
        <pc:sldMkLst>
          <pc:docMk/>
          <pc:sldMk cId="0" sldId="258"/>
        </pc:sldMkLst>
        <pc:spChg chg="mod">
          <ac:chgData name="abdulaziz saleh M algablan" userId="e8d9e4d9-6f25-472c-9315-01d09980dd71" providerId="ADAL" clId="{8AF9A7AE-14A4-57FD-B51B-F76F7F8CE6A1}" dt="2026-10-14T09:28:21.795" v="81" actId="14100"/>
          <ac:spMkLst>
            <pc:docMk/>
            <pc:sldMk cId="0" sldId="258"/>
            <ac:spMk id="2" creationId="{00000000-0000-0000-0000-000000000000}"/>
          </ac:spMkLst>
        </pc:spChg>
        <pc:spChg chg="add del mod">
          <ac:chgData name="abdulaziz saleh M algablan" userId="e8d9e4d9-6f25-472c-9315-01d09980dd71" providerId="ADAL" clId="{8AF9A7AE-14A4-57FD-B51B-F76F7F8CE6A1}" dt="2026-10-14T09:28:27.869" v="83" actId="13926"/>
          <ac:spMkLst>
            <pc:docMk/>
            <pc:sldMk cId="0" sldId="258"/>
            <ac:spMk id="3" creationId="{43F1AB8E-A22C-785B-CA6B-55D12D085799}"/>
          </ac:spMkLst>
        </pc:spChg>
        <pc:spChg chg="mod">
          <ac:chgData name="abdulaziz saleh M algablan" userId="e8d9e4d9-6f25-472c-9315-01d09980dd71" providerId="ADAL" clId="{8AF9A7AE-14A4-57FD-B51B-F76F7F8CE6A1}" dt="2026-10-14T09:28:21.795" v="81" actId="14100"/>
          <ac:spMkLst>
            <pc:docMk/>
            <pc:sldMk cId="0" sldId="258"/>
            <ac:spMk id="4" creationId="{00000000-0000-0000-0000-000000000000}"/>
          </ac:spMkLst>
        </pc:spChg>
        <pc:spChg chg="mod">
          <ac:chgData name="abdulaziz saleh M algablan" userId="e8d9e4d9-6f25-472c-9315-01d09980dd71" providerId="ADAL" clId="{8AF9A7AE-14A4-57FD-B51B-F76F7F8CE6A1}" dt="2026-10-14T09:28:21.795" v="81" actId="14100"/>
          <ac:spMkLst>
            <pc:docMk/>
            <pc:sldMk cId="0" sldId="258"/>
            <ac:spMk id="5" creationId="{00000000-0000-0000-0000-000000000000}"/>
          </ac:spMkLst>
        </pc:spChg>
        <pc:spChg chg="mod">
          <ac:chgData name="abdulaziz saleh M algablan" userId="e8d9e4d9-6f25-472c-9315-01d09980dd71" providerId="ADAL" clId="{8AF9A7AE-14A4-57FD-B51B-F76F7F8CE6A1}" dt="2026-10-14T09:28:21.795" v="81" actId="14100"/>
          <ac:spMkLst>
            <pc:docMk/>
            <pc:sldMk cId="0" sldId="258"/>
            <ac:spMk id="6" creationId="{00000000-0000-0000-0000-000000000000}"/>
          </ac:spMkLst>
        </pc:spChg>
        <pc:spChg chg="mod">
          <ac:chgData name="abdulaziz saleh M algablan" userId="e8d9e4d9-6f25-472c-9315-01d09980dd71" providerId="ADAL" clId="{8AF9A7AE-14A4-57FD-B51B-F76F7F8CE6A1}" dt="2026-10-14T09:28:21.795" v="81" actId="14100"/>
          <ac:spMkLst>
            <pc:docMk/>
            <pc:sldMk cId="0" sldId="258"/>
            <ac:spMk id="7" creationId="{00000000-0000-0000-0000-000000000000}"/>
          </ac:spMkLst>
        </pc:spChg>
        <pc:spChg chg="mod">
          <ac:chgData name="abdulaziz saleh M algablan" userId="e8d9e4d9-6f25-472c-9315-01d09980dd71" providerId="ADAL" clId="{8AF9A7AE-14A4-57FD-B51B-F76F7F8CE6A1}" dt="2026-10-14T09:28:21.795" v="81" actId="14100"/>
          <ac:spMkLst>
            <pc:docMk/>
            <pc:sldMk cId="0" sldId="258"/>
            <ac:spMk id="8" creationId="{00000000-0000-0000-0000-000000000000}"/>
          </ac:spMkLst>
        </pc:spChg>
        <pc:spChg chg="mod">
          <ac:chgData name="abdulaziz saleh M algablan" userId="e8d9e4d9-6f25-472c-9315-01d09980dd71" providerId="ADAL" clId="{8AF9A7AE-14A4-57FD-B51B-F76F7F8CE6A1}" dt="2026-10-14T09:28:21.795" v="81" actId="14100"/>
          <ac:spMkLst>
            <pc:docMk/>
            <pc:sldMk cId="0" sldId="258"/>
            <ac:spMk id="11" creationId="{00000000-0000-0000-0000-000000000000}"/>
          </ac:spMkLst>
        </pc:spChg>
        <pc:spChg chg="mod">
          <ac:chgData name="abdulaziz saleh M algablan" userId="e8d9e4d9-6f25-472c-9315-01d09980dd71" providerId="ADAL" clId="{8AF9A7AE-14A4-57FD-B51B-F76F7F8CE6A1}" dt="2026-10-14T09:28:21.795" v="81" actId="14100"/>
          <ac:spMkLst>
            <pc:docMk/>
            <pc:sldMk cId="0" sldId="258"/>
            <ac:spMk id="12" creationId="{00000000-0000-0000-0000-000000000000}"/>
          </ac:spMkLst>
        </pc:spChg>
        <pc:spChg chg="mod">
          <ac:chgData name="abdulaziz saleh M algablan" userId="e8d9e4d9-6f25-472c-9315-01d09980dd71" providerId="ADAL" clId="{8AF9A7AE-14A4-57FD-B51B-F76F7F8CE6A1}" dt="2026-10-14T09:28:21.795" v="81" actId="14100"/>
          <ac:spMkLst>
            <pc:docMk/>
            <pc:sldMk cId="0" sldId="258"/>
            <ac:spMk id="13" creationId="{00000000-0000-0000-0000-000000000000}"/>
          </ac:spMkLst>
        </pc:spChg>
      </pc:sldChg>
      <pc:sldChg chg="modSp mod">
        <pc:chgData name="abdulaziz saleh M algablan" userId="e8d9e4d9-6f25-472c-9315-01d09980dd71" providerId="ADAL" clId="{8AF9A7AE-14A4-57FD-B51B-F76F7F8CE6A1}" dt="2026-10-14T10:38:56.678" v="86" actId="20577"/>
        <pc:sldMkLst>
          <pc:docMk/>
          <pc:sldMk cId="0" sldId="259"/>
        </pc:sldMkLst>
        <pc:spChg chg="mod">
          <ac:chgData name="abdulaziz saleh M algablan" userId="e8d9e4d9-6f25-472c-9315-01d09980dd71" providerId="ADAL" clId="{8AF9A7AE-14A4-57FD-B51B-F76F7F8CE6A1}" dt="2026-10-14T10:38:56.678" v="86" actId="20577"/>
          <ac:spMkLst>
            <pc:docMk/>
            <pc:sldMk cId="0" sldId="259"/>
            <ac:spMk id="17" creationId="{D80D5FAD-EA89-ADBA-33EF-19ECAEE295C9}"/>
          </ac:spMkLst>
        </pc:spChg>
      </pc:sldChg>
      <pc:sldChg chg="addSp delSp modSp mod">
        <pc:chgData name="abdulaziz saleh M algablan" userId="e8d9e4d9-6f25-472c-9315-01d09980dd71" providerId="ADAL" clId="{8AF9A7AE-14A4-57FD-B51B-F76F7F8CE6A1}" dt="2026-10-14T07:16:31.929" v="48" actId="20577"/>
        <pc:sldMkLst>
          <pc:docMk/>
          <pc:sldMk cId="0" sldId="272"/>
        </pc:sldMkLst>
        <pc:spChg chg="add del mod">
          <ac:chgData name="abdulaziz saleh M algablan" userId="e8d9e4d9-6f25-472c-9315-01d09980dd71" providerId="ADAL" clId="{8AF9A7AE-14A4-57FD-B51B-F76F7F8CE6A1}" dt="2026-10-14T07:15:49.211" v="3"/>
          <ac:spMkLst>
            <pc:docMk/>
            <pc:sldMk cId="0" sldId="272"/>
            <ac:spMk id="3" creationId="{FEA45963-6840-D042-6639-5E68E76379BC}"/>
          </ac:spMkLst>
        </pc:spChg>
        <pc:spChg chg="mod">
          <ac:chgData name="abdulaziz saleh M algablan" userId="e8d9e4d9-6f25-472c-9315-01d09980dd71" providerId="ADAL" clId="{8AF9A7AE-14A4-57FD-B51B-F76F7F8CE6A1}" dt="2026-10-14T07:16:31.929" v="48" actId="20577"/>
          <ac:spMkLst>
            <pc:docMk/>
            <pc:sldMk cId="0" sldId="272"/>
            <ac:spMk id="7" creationId="{00000000-0000-0000-0000-000000000000}"/>
          </ac:spMkLst>
        </pc:spChg>
      </pc:sldChg>
      <pc:sldMasterChg chg="addSp mod">
        <pc:chgData name="abdulaziz saleh M algablan" userId="e8d9e4d9-6f25-472c-9315-01d09980dd71" providerId="ADAL" clId="{8AF9A7AE-14A4-57FD-B51B-F76F7F8CE6A1}" dt="2026-10-14T07:15:57.731" v="4" actId="33475"/>
        <pc:sldMasterMkLst>
          <pc:docMk/>
          <pc:sldMasterMk cId="0" sldId="2147483648"/>
        </pc:sldMasterMkLst>
        <pc:spChg chg="add">
          <ac:chgData name="abdulaziz saleh M algablan" userId="e8d9e4d9-6f25-472c-9315-01d09980dd71" providerId="ADAL" clId="{8AF9A7AE-14A4-57FD-B51B-F76F7F8CE6A1}" dt="2026-10-14T07:15:57.731" v="4" actId="33475"/>
          <ac:spMkLst>
            <pc:docMk/>
            <pc:sldMasterMk cId="0" sldId="2147483648"/>
            <ac:spMk id="3" creationId="{24A5E7BD-81C8-1115-D3BD-7C1F708F070B}"/>
          </ac:spMkLst>
        </pc:sp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5F966D-9635-424A-82F8-4FC1EA88D1D5}" type="doc">
      <dgm:prSet loTypeId="urn:microsoft.com/office/officeart/2005/8/layout/hProcess3" loCatId="process" qsTypeId="urn:microsoft.com/office/officeart/2005/8/quickstyle/simple1" qsCatId="simple" csTypeId="urn:microsoft.com/office/officeart/2005/8/colors/accent1_2" csCatId="accent1" phldr="1"/>
      <dgm:spPr/>
      <dgm:t>
        <a:bodyPr/>
        <a:lstStyle/>
        <a:p>
          <a:endParaRPr lang="en-GB"/>
        </a:p>
      </dgm:t>
    </dgm:pt>
    <dgm:pt modelId="{902BA852-D8BE-4ECF-82C1-BECD48422590}">
      <dgm:prSet phldrT="[Text]"/>
      <dgm:spPr/>
      <dgm:t>
        <a:bodyPr/>
        <a:lstStyle/>
        <a:p>
          <a:pPr>
            <a:buNone/>
          </a:pPr>
          <a:r>
            <a:rPr lang="en-US" b="1" dirty="0">
              <a:solidFill>
                <a:srgbClr val="52D6C5"/>
              </a:solidFill>
              <a:latin typeface="Aptos" pitchFamily="34" charset="0"/>
              <a:ea typeface="Aptos" pitchFamily="34" charset="-122"/>
              <a:cs typeface="Aptos" pitchFamily="34" charset="-120"/>
            </a:rPr>
            <a:t>Model change</a:t>
          </a:r>
          <a:endParaRPr lang="en-GB" dirty="0"/>
        </a:p>
      </dgm:t>
    </dgm:pt>
    <dgm:pt modelId="{8E274E79-B423-449D-9798-F854B812CCE1}" type="parTrans" cxnId="{B5387829-1873-40FF-AE84-16079DCA5788}">
      <dgm:prSet/>
      <dgm:spPr/>
      <dgm:t>
        <a:bodyPr/>
        <a:lstStyle/>
        <a:p>
          <a:endParaRPr lang="en-GB"/>
        </a:p>
      </dgm:t>
    </dgm:pt>
    <dgm:pt modelId="{EF73EFD3-68DC-433D-95DD-4DB84B0A5779}" type="sibTrans" cxnId="{B5387829-1873-40FF-AE84-16079DCA5788}">
      <dgm:prSet/>
      <dgm:spPr/>
      <dgm:t>
        <a:bodyPr/>
        <a:lstStyle/>
        <a:p>
          <a:endParaRPr lang="en-GB"/>
        </a:p>
      </dgm:t>
    </dgm:pt>
    <dgm:pt modelId="{F171017B-E3B7-45AB-9D03-C538B06ED31B}">
      <dgm:prSet phldrT="[Text]"/>
      <dgm:spPr/>
      <dgm:t>
        <a:bodyPr/>
        <a:lstStyle/>
        <a:p>
          <a:pPr>
            <a:buNone/>
          </a:pPr>
          <a:r>
            <a:rPr lang="en-US" b="1" dirty="0">
              <a:solidFill>
                <a:srgbClr val="F4F7FB"/>
              </a:solidFill>
              <a:latin typeface="Aptos" pitchFamily="34" charset="0"/>
              <a:ea typeface="Aptos" pitchFamily="34" charset="-122"/>
              <a:cs typeface="Aptos" pitchFamily="34" charset="-120"/>
            </a:rPr>
            <a:t>Recommendations change</a:t>
          </a:r>
          <a:endParaRPr lang="en-GB" dirty="0"/>
        </a:p>
      </dgm:t>
    </dgm:pt>
    <dgm:pt modelId="{DF0C4343-65E2-4AE0-BEA7-37AD4C668C17}" type="parTrans" cxnId="{1AEDEF23-4088-412F-9665-54E89699160A}">
      <dgm:prSet/>
      <dgm:spPr/>
      <dgm:t>
        <a:bodyPr/>
        <a:lstStyle/>
        <a:p>
          <a:endParaRPr lang="en-GB"/>
        </a:p>
      </dgm:t>
    </dgm:pt>
    <dgm:pt modelId="{7902F214-0CEB-4D3C-B0D9-49F999FD091F}" type="sibTrans" cxnId="{1AEDEF23-4088-412F-9665-54E89699160A}">
      <dgm:prSet/>
      <dgm:spPr/>
      <dgm:t>
        <a:bodyPr/>
        <a:lstStyle/>
        <a:p>
          <a:endParaRPr lang="en-GB"/>
        </a:p>
      </dgm:t>
    </dgm:pt>
    <dgm:pt modelId="{CBE1342F-6E18-4C6F-81FA-C9F3A21658A3}">
      <dgm:prSet phldrT="[Text]"/>
      <dgm:spPr/>
      <dgm:t>
        <a:bodyPr/>
        <a:lstStyle/>
        <a:p>
          <a:pPr>
            <a:buNone/>
          </a:pPr>
          <a:r>
            <a:rPr lang="en-US" b="1" dirty="0">
              <a:solidFill>
                <a:srgbClr val="F4F7FB"/>
              </a:solidFill>
              <a:latin typeface="Aptos" pitchFamily="34" charset="0"/>
              <a:ea typeface="Aptos" pitchFamily="34" charset="-122"/>
              <a:cs typeface="Aptos" pitchFamily="34" charset="-120"/>
            </a:rPr>
            <a:t>User behavior</a:t>
          </a:r>
          <a:endParaRPr lang="en-GB" dirty="0"/>
        </a:p>
      </dgm:t>
    </dgm:pt>
    <dgm:pt modelId="{D0D25A15-CE70-4C4B-9A1E-086EFE91BF87}" type="parTrans" cxnId="{ABCFD90C-ECDA-4FF4-834C-8B8E4A1B09AC}">
      <dgm:prSet/>
      <dgm:spPr/>
      <dgm:t>
        <a:bodyPr/>
        <a:lstStyle/>
        <a:p>
          <a:endParaRPr lang="en-GB"/>
        </a:p>
      </dgm:t>
    </dgm:pt>
    <dgm:pt modelId="{996E68D9-BCE2-45A7-B1AD-C8581F377E3E}" type="sibTrans" cxnId="{ABCFD90C-ECDA-4FF4-834C-8B8E4A1B09AC}">
      <dgm:prSet/>
      <dgm:spPr/>
      <dgm:t>
        <a:bodyPr/>
        <a:lstStyle/>
        <a:p>
          <a:endParaRPr lang="en-GB"/>
        </a:p>
      </dgm:t>
    </dgm:pt>
    <dgm:pt modelId="{F2B6FB53-A6F1-4E3A-8BB4-79E106F18800}">
      <dgm:prSet phldrT="[Text]" phldr="0"/>
      <dgm:spPr/>
      <dgm:t>
        <a:bodyPr/>
        <a:lstStyle/>
        <a:p>
          <a:pPr>
            <a:buNone/>
          </a:pPr>
          <a:r>
            <a:rPr lang="en-US" b="1" dirty="0">
              <a:solidFill>
                <a:srgbClr val="F4F7FB"/>
              </a:solidFill>
              <a:latin typeface="Aptos" pitchFamily="34" charset="0"/>
              <a:ea typeface="Aptos" pitchFamily="34" charset="-122"/>
              <a:cs typeface="Aptos" pitchFamily="34" charset="-120"/>
            </a:rPr>
            <a:t>Business results</a:t>
          </a:r>
          <a:endParaRPr lang="en-GB" dirty="0"/>
        </a:p>
      </dgm:t>
    </dgm:pt>
    <dgm:pt modelId="{A73E6E11-AC7F-45D8-9A89-EB1B1E995107}" type="parTrans" cxnId="{3E459882-DEE5-4CCA-849D-4191DE10EFDD}">
      <dgm:prSet/>
      <dgm:spPr/>
      <dgm:t>
        <a:bodyPr/>
        <a:lstStyle/>
        <a:p>
          <a:endParaRPr lang="en-GB"/>
        </a:p>
      </dgm:t>
    </dgm:pt>
    <dgm:pt modelId="{C88E6E45-996E-4E77-AA52-935914FFC35E}" type="sibTrans" cxnId="{3E459882-DEE5-4CCA-849D-4191DE10EFDD}">
      <dgm:prSet/>
      <dgm:spPr/>
      <dgm:t>
        <a:bodyPr/>
        <a:lstStyle/>
        <a:p>
          <a:endParaRPr lang="en-GB"/>
        </a:p>
      </dgm:t>
    </dgm:pt>
    <dgm:pt modelId="{D96671BE-F3CE-4B0F-B70C-54036C890AB9}" type="pres">
      <dgm:prSet presAssocID="{E15F966D-9635-424A-82F8-4FC1EA88D1D5}" presName="Name0" presStyleCnt="0">
        <dgm:presLayoutVars>
          <dgm:dir/>
          <dgm:animLvl val="lvl"/>
          <dgm:resizeHandles val="exact"/>
        </dgm:presLayoutVars>
      </dgm:prSet>
      <dgm:spPr/>
    </dgm:pt>
    <dgm:pt modelId="{76A9E4AF-CE13-4185-9E19-ABF38A0E0DE2}" type="pres">
      <dgm:prSet presAssocID="{E15F966D-9635-424A-82F8-4FC1EA88D1D5}" presName="dummy" presStyleCnt="0"/>
      <dgm:spPr/>
    </dgm:pt>
    <dgm:pt modelId="{5C9AC465-BE1D-49CF-8615-A601BD94B471}" type="pres">
      <dgm:prSet presAssocID="{E15F966D-9635-424A-82F8-4FC1EA88D1D5}" presName="linH" presStyleCnt="0"/>
      <dgm:spPr/>
    </dgm:pt>
    <dgm:pt modelId="{77436C8A-3509-40BB-9F9B-5A2DC96310A3}" type="pres">
      <dgm:prSet presAssocID="{E15F966D-9635-424A-82F8-4FC1EA88D1D5}" presName="padding1" presStyleCnt="0"/>
      <dgm:spPr/>
    </dgm:pt>
    <dgm:pt modelId="{15197DC5-19A6-43E3-963C-892309C053FD}" type="pres">
      <dgm:prSet presAssocID="{902BA852-D8BE-4ECF-82C1-BECD48422590}" presName="linV" presStyleCnt="0"/>
      <dgm:spPr/>
    </dgm:pt>
    <dgm:pt modelId="{9F91B207-168B-4033-95D3-6CC2BDDB51B7}" type="pres">
      <dgm:prSet presAssocID="{902BA852-D8BE-4ECF-82C1-BECD48422590}" presName="spVertical1" presStyleCnt="0"/>
      <dgm:spPr/>
    </dgm:pt>
    <dgm:pt modelId="{8644BAAB-34DE-439C-A45F-02FF775247EB}" type="pres">
      <dgm:prSet presAssocID="{902BA852-D8BE-4ECF-82C1-BECD48422590}" presName="parTx" presStyleLbl="revTx" presStyleIdx="0" presStyleCnt="4" custLinFactNeighborX="-28747" custLinFactNeighborY="12384">
        <dgm:presLayoutVars>
          <dgm:chMax val="0"/>
          <dgm:chPref val="0"/>
          <dgm:bulletEnabled val="1"/>
        </dgm:presLayoutVars>
      </dgm:prSet>
      <dgm:spPr/>
    </dgm:pt>
    <dgm:pt modelId="{267D9F83-4150-4C79-AFD9-A6D4875B924D}" type="pres">
      <dgm:prSet presAssocID="{902BA852-D8BE-4ECF-82C1-BECD48422590}" presName="spVertical2" presStyleCnt="0"/>
      <dgm:spPr/>
    </dgm:pt>
    <dgm:pt modelId="{E819DBCB-8839-4636-A613-0B74EA8A4545}" type="pres">
      <dgm:prSet presAssocID="{902BA852-D8BE-4ECF-82C1-BECD48422590}" presName="spVertical3" presStyleCnt="0"/>
      <dgm:spPr/>
    </dgm:pt>
    <dgm:pt modelId="{0500E068-6A79-4AE2-8D3C-63340A421A05}" type="pres">
      <dgm:prSet presAssocID="{EF73EFD3-68DC-433D-95DD-4DB84B0A5779}" presName="space" presStyleCnt="0"/>
      <dgm:spPr/>
    </dgm:pt>
    <dgm:pt modelId="{4F72ADF6-FE34-467B-8539-A9FE6906EF6D}" type="pres">
      <dgm:prSet presAssocID="{F171017B-E3B7-45AB-9D03-C538B06ED31B}" presName="linV" presStyleCnt="0"/>
      <dgm:spPr/>
    </dgm:pt>
    <dgm:pt modelId="{1622972F-D9D0-4B3F-AFBA-EE17BB308F4A}" type="pres">
      <dgm:prSet presAssocID="{F171017B-E3B7-45AB-9D03-C538B06ED31B}" presName="spVertical1" presStyleCnt="0"/>
      <dgm:spPr/>
    </dgm:pt>
    <dgm:pt modelId="{BC537E83-E3B0-40C6-A4C6-E8589D9F5565}" type="pres">
      <dgm:prSet presAssocID="{F171017B-E3B7-45AB-9D03-C538B06ED31B}" presName="parTx" presStyleLbl="revTx" presStyleIdx="1" presStyleCnt="4" custScaleX="147487" custLinFactNeighborX="-29588" custLinFactNeighborY="13484">
        <dgm:presLayoutVars>
          <dgm:chMax val="0"/>
          <dgm:chPref val="0"/>
          <dgm:bulletEnabled val="1"/>
        </dgm:presLayoutVars>
      </dgm:prSet>
      <dgm:spPr/>
    </dgm:pt>
    <dgm:pt modelId="{A454BF18-5786-481A-B8B7-5E28E7BC94EA}" type="pres">
      <dgm:prSet presAssocID="{F171017B-E3B7-45AB-9D03-C538B06ED31B}" presName="spVertical2" presStyleCnt="0"/>
      <dgm:spPr/>
    </dgm:pt>
    <dgm:pt modelId="{0092D06F-EF0E-43FD-915A-439BDAD17465}" type="pres">
      <dgm:prSet presAssocID="{F171017B-E3B7-45AB-9D03-C538B06ED31B}" presName="spVertical3" presStyleCnt="0"/>
      <dgm:spPr/>
    </dgm:pt>
    <dgm:pt modelId="{10F2CDA2-489A-4BF4-A504-8CBBD74BA1A9}" type="pres">
      <dgm:prSet presAssocID="{7902F214-0CEB-4D3C-B0D9-49F999FD091F}" presName="space" presStyleCnt="0"/>
      <dgm:spPr/>
    </dgm:pt>
    <dgm:pt modelId="{0DC83198-EA8D-4423-B777-A73778D9AA75}" type="pres">
      <dgm:prSet presAssocID="{CBE1342F-6E18-4C6F-81FA-C9F3A21658A3}" presName="linV" presStyleCnt="0"/>
      <dgm:spPr/>
    </dgm:pt>
    <dgm:pt modelId="{0BAF35EF-0815-4286-9F61-8626D4A97C96}" type="pres">
      <dgm:prSet presAssocID="{CBE1342F-6E18-4C6F-81FA-C9F3A21658A3}" presName="spVertical1" presStyleCnt="0"/>
      <dgm:spPr/>
    </dgm:pt>
    <dgm:pt modelId="{984B4FDE-B9FD-49B8-84D6-50DBD4DBDFE1}" type="pres">
      <dgm:prSet presAssocID="{CBE1342F-6E18-4C6F-81FA-C9F3A21658A3}" presName="parTx" presStyleLbl="revTx" presStyleIdx="2" presStyleCnt="4" custLinFactNeighborX="-31844" custLinFactNeighborY="13483">
        <dgm:presLayoutVars>
          <dgm:chMax val="0"/>
          <dgm:chPref val="0"/>
          <dgm:bulletEnabled val="1"/>
        </dgm:presLayoutVars>
      </dgm:prSet>
      <dgm:spPr/>
    </dgm:pt>
    <dgm:pt modelId="{C990A176-5126-464B-9C7B-79C68B9A72CB}" type="pres">
      <dgm:prSet presAssocID="{CBE1342F-6E18-4C6F-81FA-C9F3A21658A3}" presName="spVertical2" presStyleCnt="0"/>
      <dgm:spPr/>
    </dgm:pt>
    <dgm:pt modelId="{F416F375-B4C7-4C20-9875-DDD03F4848ED}" type="pres">
      <dgm:prSet presAssocID="{CBE1342F-6E18-4C6F-81FA-C9F3A21658A3}" presName="spVertical3" presStyleCnt="0"/>
      <dgm:spPr/>
    </dgm:pt>
    <dgm:pt modelId="{01AF2CAD-87A4-4E9C-8805-89E210079E40}" type="pres">
      <dgm:prSet presAssocID="{996E68D9-BCE2-45A7-B1AD-C8581F377E3E}" presName="space" presStyleCnt="0"/>
      <dgm:spPr/>
    </dgm:pt>
    <dgm:pt modelId="{B91C6E84-8B21-41E8-97F2-92AE73C4A07F}" type="pres">
      <dgm:prSet presAssocID="{F2B6FB53-A6F1-4E3A-8BB4-79E106F18800}" presName="linV" presStyleCnt="0"/>
      <dgm:spPr/>
    </dgm:pt>
    <dgm:pt modelId="{FCD01330-1E98-4595-97C4-0398ACB1AEFE}" type="pres">
      <dgm:prSet presAssocID="{F2B6FB53-A6F1-4E3A-8BB4-79E106F18800}" presName="spVertical1" presStyleCnt="0"/>
      <dgm:spPr/>
    </dgm:pt>
    <dgm:pt modelId="{942B1E9F-0499-4211-8E4B-3E3E03211308}" type="pres">
      <dgm:prSet presAssocID="{F2B6FB53-A6F1-4E3A-8BB4-79E106F18800}" presName="parTx" presStyleLbl="revTx" presStyleIdx="3" presStyleCnt="4" custLinFactNeighborX="-29411" custLinFactNeighborY="13483">
        <dgm:presLayoutVars>
          <dgm:chMax val="0"/>
          <dgm:chPref val="0"/>
          <dgm:bulletEnabled val="1"/>
        </dgm:presLayoutVars>
      </dgm:prSet>
      <dgm:spPr/>
    </dgm:pt>
    <dgm:pt modelId="{4496340B-7B37-4263-B0A8-19A8A24BB2DF}" type="pres">
      <dgm:prSet presAssocID="{F2B6FB53-A6F1-4E3A-8BB4-79E106F18800}" presName="spVertical2" presStyleCnt="0"/>
      <dgm:spPr/>
    </dgm:pt>
    <dgm:pt modelId="{08A15C1F-EFA8-4036-84E1-7A2D6E90F6C7}" type="pres">
      <dgm:prSet presAssocID="{F2B6FB53-A6F1-4E3A-8BB4-79E106F18800}" presName="spVertical3" presStyleCnt="0"/>
      <dgm:spPr/>
    </dgm:pt>
    <dgm:pt modelId="{F4B94AD7-CA68-41BF-9E04-140230ACD531}" type="pres">
      <dgm:prSet presAssocID="{E15F966D-9635-424A-82F8-4FC1EA88D1D5}" presName="padding2" presStyleCnt="0"/>
      <dgm:spPr/>
    </dgm:pt>
    <dgm:pt modelId="{7804A54D-E42A-42A2-9D84-6F3A75C672EC}" type="pres">
      <dgm:prSet presAssocID="{E15F966D-9635-424A-82F8-4FC1EA88D1D5}" presName="negArrow" presStyleCnt="0"/>
      <dgm:spPr/>
    </dgm:pt>
    <dgm:pt modelId="{845A2ECA-3182-493E-B8CF-582878D23AE9}" type="pres">
      <dgm:prSet presAssocID="{E15F966D-9635-424A-82F8-4FC1EA88D1D5}" presName="backgroundArrow" presStyleLbl="node1" presStyleIdx="0" presStyleCnt="1" custLinFactNeighborY="5699"/>
      <dgm:spPr>
        <a:xfrm>
          <a:off x="0" y="8731"/>
          <a:ext cx="9318752" cy="1693406"/>
        </a:xfrm>
        <a:prstGeom prst="rightArrow">
          <a:avLst/>
        </a:prstGeom>
        <a:solidFill>
          <a:srgbClr val="142238"/>
        </a:solidFill>
        <a:ln w="12700">
          <a:solidFill>
            <a:srgbClr val="142238">
              <a:alpha val="0"/>
            </a:srgbClr>
          </a:solidFill>
          <a:prstDash val="solid"/>
        </a:ln>
      </dgm:spPr>
    </dgm:pt>
  </dgm:ptLst>
  <dgm:cxnLst>
    <dgm:cxn modelId="{ABCFD90C-ECDA-4FF4-834C-8B8E4A1B09AC}" srcId="{E15F966D-9635-424A-82F8-4FC1EA88D1D5}" destId="{CBE1342F-6E18-4C6F-81FA-C9F3A21658A3}" srcOrd="2" destOrd="0" parTransId="{D0D25A15-CE70-4C4B-9A1E-086EFE91BF87}" sibTransId="{996E68D9-BCE2-45A7-B1AD-C8581F377E3E}"/>
    <dgm:cxn modelId="{2B777C23-F4C5-412C-AABE-D778E12E2E21}" type="presOf" srcId="{902BA852-D8BE-4ECF-82C1-BECD48422590}" destId="{8644BAAB-34DE-439C-A45F-02FF775247EB}" srcOrd="0" destOrd="0" presId="urn:microsoft.com/office/officeart/2005/8/layout/hProcess3"/>
    <dgm:cxn modelId="{1AEDEF23-4088-412F-9665-54E89699160A}" srcId="{E15F966D-9635-424A-82F8-4FC1EA88D1D5}" destId="{F171017B-E3B7-45AB-9D03-C538B06ED31B}" srcOrd="1" destOrd="0" parTransId="{DF0C4343-65E2-4AE0-BEA7-37AD4C668C17}" sibTransId="{7902F214-0CEB-4D3C-B0D9-49F999FD091F}"/>
    <dgm:cxn modelId="{B5387829-1873-40FF-AE84-16079DCA5788}" srcId="{E15F966D-9635-424A-82F8-4FC1EA88D1D5}" destId="{902BA852-D8BE-4ECF-82C1-BECD48422590}" srcOrd="0" destOrd="0" parTransId="{8E274E79-B423-449D-9798-F854B812CCE1}" sibTransId="{EF73EFD3-68DC-433D-95DD-4DB84B0A5779}"/>
    <dgm:cxn modelId="{3F2C8D3B-8CB7-44C3-801B-98199301382A}" type="presOf" srcId="{F171017B-E3B7-45AB-9D03-C538B06ED31B}" destId="{BC537E83-E3B0-40C6-A4C6-E8589D9F5565}" srcOrd="0" destOrd="0" presId="urn:microsoft.com/office/officeart/2005/8/layout/hProcess3"/>
    <dgm:cxn modelId="{A9CEF13E-266D-41A2-BACC-2BF237C0E3E1}" type="presOf" srcId="{CBE1342F-6E18-4C6F-81FA-C9F3A21658A3}" destId="{984B4FDE-B9FD-49B8-84D6-50DBD4DBDFE1}" srcOrd="0" destOrd="0" presId="urn:microsoft.com/office/officeart/2005/8/layout/hProcess3"/>
    <dgm:cxn modelId="{823AD44C-E2B3-4E50-8F4B-26C9363FEE5E}" type="presOf" srcId="{E15F966D-9635-424A-82F8-4FC1EA88D1D5}" destId="{D96671BE-F3CE-4B0F-B70C-54036C890AB9}" srcOrd="0" destOrd="0" presId="urn:microsoft.com/office/officeart/2005/8/layout/hProcess3"/>
    <dgm:cxn modelId="{3E459882-DEE5-4CCA-849D-4191DE10EFDD}" srcId="{E15F966D-9635-424A-82F8-4FC1EA88D1D5}" destId="{F2B6FB53-A6F1-4E3A-8BB4-79E106F18800}" srcOrd="3" destOrd="0" parTransId="{A73E6E11-AC7F-45D8-9A89-EB1B1E995107}" sibTransId="{C88E6E45-996E-4E77-AA52-935914FFC35E}"/>
    <dgm:cxn modelId="{10C317BB-4E02-427C-BDDC-57136EB75AED}" type="presOf" srcId="{F2B6FB53-A6F1-4E3A-8BB4-79E106F18800}" destId="{942B1E9F-0499-4211-8E4B-3E3E03211308}" srcOrd="0" destOrd="0" presId="urn:microsoft.com/office/officeart/2005/8/layout/hProcess3"/>
    <dgm:cxn modelId="{D4FD9B5C-7B5F-417A-B473-1E2654791205}" type="presParOf" srcId="{D96671BE-F3CE-4B0F-B70C-54036C890AB9}" destId="{76A9E4AF-CE13-4185-9E19-ABF38A0E0DE2}" srcOrd="0" destOrd="0" presId="urn:microsoft.com/office/officeart/2005/8/layout/hProcess3"/>
    <dgm:cxn modelId="{143CFAF7-1182-41CF-9CED-7C8A1C6698DA}" type="presParOf" srcId="{D96671BE-F3CE-4B0F-B70C-54036C890AB9}" destId="{5C9AC465-BE1D-49CF-8615-A601BD94B471}" srcOrd="1" destOrd="0" presId="urn:microsoft.com/office/officeart/2005/8/layout/hProcess3"/>
    <dgm:cxn modelId="{171FF009-3C03-4C62-AA1C-C6D1080C60A8}" type="presParOf" srcId="{5C9AC465-BE1D-49CF-8615-A601BD94B471}" destId="{77436C8A-3509-40BB-9F9B-5A2DC96310A3}" srcOrd="0" destOrd="0" presId="urn:microsoft.com/office/officeart/2005/8/layout/hProcess3"/>
    <dgm:cxn modelId="{7DC74054-9681-4C7C-97AE-718C7FD58294}" type="presParOf" srcId="{5C9AC465-BE1D-49CF-8615-A601BD94B471}" destId="{15197DC5-19A6-43E3-963C-892309C053FD}" srcOrd="1" destOrd="0" presId="urn:microsoft.com/office/officeart/2005/8/layout/hProcess3"/>
    <dgm:cxn modelId="{E803C1F7-2285-4098-9529-00B885DEB4B4}" type="presParOf" srcId="{15197DC5-19A6-43E3-963C-892309C053FD}" destId="{9F91B207-168B-4033-95D3-6CC2BDDB51B7}" srcOrd="0" destOrd="0" presId="urn:microsoft.com/office/officeart/2005/8/layout/hProcess3"/>
    <dgm:cxn modelId="{AD01AA81-CEBE-4446-B221-E592024BE8B3}" type="presParOf" srcId="{15197DC5-19A6-43E3-963C-892309C053FD}" destId="{8644BAAB-34DE-439C-A45F-02FF775247EB}" srcOrd="1" destOrd="0" presId="urn:microsoft.com/office/officeart/2005/8/layout/hProcess3"/>
    <dgm:cxn modelId="{8402373B-E808-4EAE-A900-ED2A9E5EDE03}" type="presParOf" srcId="{15197DC5-19A6-43E3-963C-892309C053FD}" destId="{267D9F83-4150-4C79-AFD9-A6D4875B924D}" srcOrd="2" destOrd="0" presId="urn:microsoft.com/office/officeart/2005/8/layout/hProcess3"/>
    <dgm:cxn modelId="{CDCDCFEF-6D3C-4CEE-88F5-96E16C414464}" type="presParOf" srcId="{15197DC5-19A6-43E3-963C-892309C053FD}" destId="{E819DBCB-8839-4636-A613-0B74EA8A4545}" srcOrd="3" destOrd="0" presId="urn:microsoft.com/office/officeart/2005/8/layout/hProcess3"/>
    <dgm:cxn modelId="{81E1D3FB-2FE0-4CFE-9F43-3F25241BB87E}" type="presParOf" srcId="{5C9AC465-BE1D-49CF-8615-A601BD94B471}" destId="{0500E068-6A79-4AE2-8D3C-63340A421A05}" srcOrd="2" destOrd="0" presId="urn:microsoft.com/office/officeart/2005/8/layout/hProcess3"/>
    <dgm:cxn modelId="{B6B2C3DE-0B86-4D6F-8A11-CAA7A0A12FD1}" type="presParOf" srcId="{5C9AC465-BE1D-49CF-8615-A601BD94B471}" destId="{4F72ADF6-FE34-467B-8539-A9FE6906EF6D}" srcOrd="3" destOrd="0" presId="urn:microsoft.com/office/officeart/2005/8/layout/hProcess3"/>
    <dgm:cxn modelId="{DE8460B8-C387-4514-80F7-07062B481254}" type="presParOf" srcId="{4F72ADF6-FE34-467B-8539-A9FE6906EF6D}" destId="{1622972F-D9D0-4B3F-AFBA-EE17BB308F4A}" srcOrd="0" destOrd="0" presId="urn:microsoft.com/office/officeart/2005/8/layout/hProcess3"/>
    <dgm:cxn modelId="{9D50E47D-0616-4687-B55F-72B31E35FC4F}" type="presParOf" srcId="{4F72ADF6-FE34-467B-8539-A9FE6906EF6D}" destId="{BC537E83-E3B0-40C6-A4C6-E8589D9F5565}" srcOrd="1" destOrd="0" presId="urn:microsoft.com/office/officeart/2005/8/layout/hProcess3"/>
    <dgm:cxn modelId="{18CD885F-1D77-4F6C-95BB-CF43827B4B12}" type="presParOf" srcId="{4F72ADF6-FE34-467B-8539-A9FE6906EF6D}" destId="{A454BF18-5786-481A-B8B7-5E28E7BC94EA}" srcOrd="2" destOrd="0" presId="urn:microsoft.com/office/officeart/2005/8/layout/hProcess3"/>
    <dgm:cxn modelId="{BBB9EFF3-6431-4732-A8EA-F4E22DFACB92}" type="presParOf" srcId="{4F72ADF6-FE34-467B-8539-A9FE6906EF6D}" destId="{0092D06F-EF0E-43FD-915A-439BDAD17465}" srcOrd="3" destOrd="0" presId="urn:microsoft.com/office/officeart/2005/8/layout/hProcess3"/>
    <dgm:cxn modelId="{D8CDCE00-9F4D-4327-A45C-A28F08947D25}" type="presParOf" srcId="{5C9AC465-BE1D-49CF-8615-A601BD94B471}" destId="{10F2CDA2-489A-4BF4-A504-8CBBD74BA1A9}" srcOrd="4" destOrd="0" presId="urn:microsoft.com/office/officeart/2005/8/layout/hProcess3"/>
    <dgm:cxn modelId="{4A7CD06A-8539-47AB-BC00-E3DE5E8567AB}" type="presParOf" srcId="{5C9AC465-BE1D-49CF-8615-A601BD94B471}" destId="{0DC83198-EA8D-4423-B777-A73778D9AA75}" srcOrd="5" destOrd="0" presId="urn:microsoft.com/office/officeart/2005/8/layout/hProcess3"/>
    <dgm:cxn modelId="{A04A50C8-63A3-43A0-8661-9CD989DA8A8A}" type="presParOf" srcId="{0DC83198-EA8D-4423-B777-A73778D9AA75}" destId="{0BAF35EF-0815-4286-9F61-8626D4A97C96}" srcOrd="0" destOrd="0" presId="urn:microsoft.com/office/officeart/2005/8/layout/hProcess3"/>
    <dgm:cxn modelId="{2972D7AA-A4D3-4137-9517-B7E42B336F16}" type="presParOf" srcId="{0DC83198-EA8D-4423-B777-A73778D9AA75}" destId="{984B4FDE-B9FD-49B8-84D6-50DBD4DBDFE1}" srcOrd="1" destOrd="0" presId="urn:microsoft.com/office/officeart/2005/8/layout/hProcess3"/>
    <dgm:cxn modelId="{AF4A09EF-68DB-45DE-84D4-DA7058B318E6}" type="presParOf" srcId="{0DC83198-EA8D-4423-B777-A73778D9AA75}" destId="{C990A176-5126-464B-9C7B-79C68B9A72CB}" srcOrd="2" destOrd="0" presId="urn:microsoft.com/office/officeart/2005/8/layout/hProcess3"/>
    <dgm:cxn modelId="{95F0AD80-F7BE-40EF-B4B3-C5A7A350FA36}" type="presParOf" srcId="{0DC83198-EA8D-4423-B777-A73778D9AA75}" destId="{F416F375-B4C7-4C20-9875-DDD03F4848ED}" srcOrd="3" destOrd="0" presId="urn:microsoft.com/office/officeart/2005/8/layout/hProcess3"/>
    <dgm:cxn modelId="{0E17B6DA-D4F2-4EF5-9978-3B2962F3518D}" type="presParOf" srcId="{5C9AC465-BE1D-49CF-8615-A601BD94B471}" destId="{01AF2CAD-87A4-4E9C-8805-89E210079E40}" srcOrd="6" destOrd="0" presId="urn:microsoft.com/office/officeart/2005/8/layout/hProcess3"/>
    <dgm:cxn modelId="{908B8CDB-1A38-4490-8031-BE96018073E6}" type="presParOf" srcId="{5C9AC465-BE1D-49CF-8615-A601BD94B471}" destId="{B91C6E84-8B21-41E8-97F2-92AE73C4A07F}" srcOrd="7" destOrd="0" presId="urn:microsoft.com/office/officeart/2005/8/layout/hProcess3"/>
    <dgm:cxn modelId="{8DAA74DA-C3C4-42D0-B0A5-18DA187E4B5A}" type="presParOf" srcId="{B91C6E84-8B21-41E8-97F2-92AE73C4A07F}" destId="{FCD01330-1E98-4595-97C4-0398ACB1AEFE}" srcOrd="0" destOrd="0" presId="urn:microsoft.com/office/officeart/2005/8/layout/hProcess3"/>
    <dgm:cxn modelId="{1F990F9C-F681-402C-B2B8-035C94BAB4BB}" type="presParOf" srcId="{B91C6E84-8B21-41E8-97F2-92AE73C4A07F}" destId="{942B1E9F-0499-4211-8E4B-3E3E03211308}" srcOrd="1" destOrd="0" presId="urn:microsoft.com/office/officeart/2005/8/layout/hProcess3"/>
    <dgm:cxn modelId="{342AF14C-149D-470D-9B93-C586F21BA006}" type="presParOf" srcId="{B91C6E84-8B21-41E8-97F2-92AE73C4A07F}" destId="{4496340B-7B37-4263-B0A8-19A8A24BB2DF}" srcOrd="2" destOrd="0" presId="urn:microsoft.com/office/officeart/2005/8/layout/hProcess3"/>
    <dgm:cxn modelId="{BA57A4D7-F9A1-4271-B64C-DFB965631326}" type="presParOf" srcId="{B91C6E84-8B21-41E8-97F2-92AE73C4A07F}" destId="{08A15C1F-EFA8-4036-84E1-7A2D6E90F6C7}" srcOrd="3" destOrd="0" presId="urn:microsoft.com/office/officeart/2005/8/layout/hProcess3"/>
    <dgm:cxn modelId="{A59FC0A0-4707-47ED-95F6-F27B154B23E8}" type="presParOf" srcId="{5C9AC465-BE1D-49CF-8615-A601BD94B471}" destId="{F4B94AD7-CA68-41BF-9E04-140230ACD531}" srcOrd="8" destOrd="0" presId="urn:microsoft.com/office/officeart/2005/8/layout/hProcess3"/>
    <dgm:cxn modelId="{441F8E69-6B40-437E-B60F-5080A06D15B1}" type="presParOf" srcId="{5C9AC465-BE1D-49CF-8615-A601BD94B471}" destId="{7804A54D-E42A-42A2-9D84-6F3A75C672EC}" srcOrd="9" destOrd="0" presId="urn:microsoft.com/office/officeart/2005/8/layout/hProcess3"/>
    <dgm:cxn modelId="{BF4CDC23-081C-45A4-A668-C41C8F525D98}" type="presParOf" srcId="{5C9AC465-BE1D-49CF-8615-A601BD94B471}" destId="{845A2ECA-3182-493E-B8CF-582878D23AE9}" srcOrd="10" destOrd="0" presId="urn:microsoft.com/office/officeart/2005/8/layout/h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5A2ECA-3182-493E-B8CF-582878D23AE9}">
      <dsp:nvSpPr>
        <dsp:cNvPr id="0" name=""/>
        <dsp:cNvSpPr/>
      </dsp:nvSpPr>
      <dsp:spPr>
        <a:xfrm>
          <a:off x="0" y="34446"/>
          <a:ext cx="10077195" cy="1808789"/>
        </a:xfrm>
        <a:prstGeom prst="rightArrow">
          <a:avLst/>
        </a:prstGeom>
        <a:solidFill>
          <a:srgbClr val="142238"/>
        </a:solidFill>
        <a:ln w="12700" cap="flat" cmpd="sng" algn="ctr">
          <a:solidFill>
            <a:srgbClr val="142238">
              <a:alpha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2B1E9F-0499-4211-8E4B-3E3E03211308}">
      <dsp:nvSpPr>
        <dsp:cNvPr id="0" name=""/>
        <dsp:cNvSpPr/>
      </dsp:nvSpPr>
      <dsp:spPr>
        <a:xfrm>
          <a:off x="7371780" y="530390"/>
          <a:ext cx="1734478" cy="904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82880" rIns="0" bIns="1828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4F7FB"/>
              </a:solidFill>
              <a:latin typeface="Aptos" pitchFamily="34" charset="0"/>
              <a:ea typeface="Aptos" pitchFamily="34" charset="-122"/>
              <a:cs typeface="Aptos" pitchFamily="34" charset="-120"/>
            </a:rPr>
            <a:t>Business results</a:t>
          </a:r>
          <a:endParaRPr lang="en-GB" sz="1800" kern="1200" dirty="0"/>
        </a:p>
      </dsp:txBody>
      <dsp:txXfrm>
        <a:off x="7371780" y="530390"/>
        <a:ext cx="1734478" cy="904394"/>
      </dsp:txXfrm>
    </dsp:sp>
    <dsp:sp modelId="{984B4FDE-B9FD-49B8-84D6-50DBD4DBDFE1}">
      <dsp:nvSpPr>
        <dsp:cNvPr id="0" name=""/>
        <dsp:cNvSpPr/>
      </dsp:nvSpPr>
      <dsp:spPr>
        <a:xfrm>
          <a:off x="5248206" y="530390"/>
          <a:ext cx="1734478" cy="904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82880" rIns="0" bIns="1828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4F7FB"/>
              </a:solidFill>
              <a:latin typeface="Aptos" pitchFamily="34" charset="0"/>
              <a:ea typeface="Aptos" pitchFamily="34" charset="-122"/>
              <a:cs typeface="Aptos" pitchFamily="34" charset="-120"/>
            </a:rPr>
            <a:t>User behavior</a:t>
          </a:r>
          <a:endParaRPr lang="en-GB" sz="1800" kern="1200" dirty="0"/>
        </a:p>
      </dsp:txBody>
      <dsp:txXfrm>
        <a:off x="5248206" y="530390"/>
        <a:ext cx="1734478" cy="904394"/>
      </dsp:txXfrm>
    </dsp:sp>
    <dsp:sp modelId="{BC537E83-E3B0-40C6-A4C6-E8589D9F5565}">
      <dsp:nvSpPr>
        <dsp:cNvPr id="0" name=""/>
        <dsp:cNvSpPr/>
      </dsp:nvSpPr>
      <dsp:spPr>
        <a:xfrm>
          <a:off x="2382311" y="530394"/>
          <a:ext cx="2558129" cy="904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82880" rIns="0" bIns="1828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4F7FB"/>
              </a:solidFill>
              <a:latin typeface="Aptos" pitchFamily="34" charset="0"/>
              <a:ea typeface="Aptos" pitchFamily="34" charset="-122"/>
              <a:cs typeface="Aptos" pitchFamily="34" charset="-120"/>
            </a:rPr>
            <a:t>Recommendations change</a:t>
          </a:r>
          <a:endParaRPr lang="en-GB" sz="1800" kern="1200" dirty="0"/>
        </a:p>
      </dsp:txBody>
      <dsp:txXfrm>
        <a:off x="2382311" y="530394"/>
        <a:ext cx="2558129" cy="904394"/>
      </dsp:txXfrm>
    </dsp:sp>
    <dsp:sp modelId="{8644BAAB-34DE-439C-A45F-02FF775247EB}">
      <dsp:nvSpPr>
        <dsp:cNvPr id="0" name=""/>
        <dsp:cNvSpPr/>
      </dsp:nvSpPr>
      <dsp:spPr>
        <a:xfrm>
          <a:off x="315524" y="525420"/>
          <a:ext cx="1734478" cy="904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82880" rIns="0" bIns="1828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52D6C5"/>
              </a:solidFill>
              <a:latin typeface="Aptos" pitchFamily="34" charset="0"/>
              <a:ea typeface="Aptos" pitchFamily="34" charset="-122"/>
              <a:cs typeface="Aptos" pitchFamily="34" charset="-120"/>
            </a:rPr>
            <a:t>Model change</a:t>
          </a:r>
          <a:endParaRPr lang="en-GB" sz="1800" kern="1200" dirty="0"/>
        </a:p>
      </dsp:txBody>
      <dsp:txXfrm>
        <a:off x="315524" y="525420"/>
        <a:ext cx="1734478" cy="90439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SA"/>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D322613F-5FDB-9545-861A-0E0317F72272}" type="datetimeFigureOut">
              <a:rPr lang="en-SA" smtClean="0"/>
              <a:t>14/10/2026 R</a:t>
            </a:fld>
            <a:endParaRPr lang="en-SA"/>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SA"/>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SA"/>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CC06ED6C-D68C-8545-A874-71B247084EA5}" type="slidenum">
              <a:rPr lang="en-SA" smtClean="0"/>
              <a:t>‹#›</a:t>
            </a:fld>
            <a:endParaRPr lang="en-SA"/>
          </a:p>
        </p:txBody>
      </p:sp>
    </p:spTree>
    <p:extLst>
      <p:ext uri="{BB962C8B-B14F-4D97-AF65-F5344CB8AC3E}">
        <p14:creationId xmlns:p14="http://schemas.microsoft.com/office/powerpoint/2010/main" val="3650971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1: Designing Machine Learning Systems
هذه محاضرة دراسات عليا عن الفصلين الأول والثاني، وليست شرحًا لخوارزمية منفردة. الفكرة المركزية هي أن بناء نموذج جيد لا يكفي؛ علينا التفكير في سبب وجود النظام، وفي تدفق البيانات، وكيفية تشغيل النموذج، ومراقبته وتطويره. سنستخدم حالة متجر إلكتروني كنموذج تطبيقي ممتد طوال المحاضرة.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3: Lecture Architecture
أوضح للطلاب أن العرض يسير من سؤال لماذا نستخدم تعلم الآلة إلى سؤال كيف نصمم منظومة ناجحة. الحالة التطبيقية هي متجر إلكتروني يريد زيادة الشراء باستخدام التوصيات، وسنعود إليها لبحث المقاييس وأسلوب التنبؤ واختبارات A/B والتكاليف.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2: Learning Outcomes
نبدأ بتحديد نتائج التعلم. المطلوب من طالب الماجستير ليس حفظ المصطلحات فقط؛ بل الدفاع عن قرارات تصميمية. بنهاية اللقاء يفترض أن يستطيع تقييم جدوى استخدام تعلم الآلة، ومواءمة أهدافه مع مؤشرات العمل، وتحديد المتطلبات الأربع، وصياغة المشكلة كهدف قابل للتدريب والتقييم.
أسئلة للنقاش أو التوسع: Discussion: What would convince you NOT to use ML?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4: The Central Claim
هذه نقطة تأسيسية. إذا حقق النموذج دقة مرتفعة لكن قرار التوصية أبطأ الموقع أو قلل المبيعات فهذا ليس نجاحًا للنظام. تحدثي عن الفارق بين المقاييس غير المتصلة بالعمل offline metrics والنتائج الحقيقية بعد النشر. لا نفصل الحسابات عن السياق التشغيلي.
أسئلة للنقاش أو التوسع: Would you deploy a 98%-accurate model that worsens user outcomes?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B7CE5-F936-BF4A-C757-DD6962E27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35AF4-F73E-325C-8654-B771084EE7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792AA-69E0-0C2A-F4C2-7135F85BF3A9}"/>
              </a:ext>
            </a:extLst>
          </p:cNvPr>
          <p:cNvSpPr>
            <a:spLocks noGrp="1"/>
          </p:cNvSpPr>
          <p:nvPr>
            <p:ph type="body" idx="1"/>
          </p:nvPr>
        </p:nvSpPr>
        <p:spPr/>
        <p:txBody>
          <a:bodyPr/>
          <a:lstStyle/>
          <a:p>
            <a:r>
              <a:rPr lang="en-US" dirty="0"/>
              <a:t>شرح المحاضِرة بالعربي — الشريحة 4: The Central Claim
هذه نقطة تأسيسية. إذا حقق النموذج دقة مرتفعة لكن قرار التوصية أبطأ الموقع أو قلل المبيعات فهذا ليس نجاحًا للنظام. تحدثي عن الفارق بين المقاييس غير المتصلة بالعمل offline metrics والنتائج الحقيقية بعد النشر. لا نفصل الحسابات عن السياق التشغيلي.
أسئلة للنقاش أو التوسع: Would you deploy a 98%-accurate model that worsens user outcomes?
ملاحظة: الأمثلة التطبيقية والتوصيات التصميمية في الشرائح تُستخدم لأغراض التعليم وليست اقتباسات حرفية من الكتاب.</a:t>
            </a:r>
          </a:p>
        </p:txBody>
      </p:sp>
      <p:sp>
        <p:nvSpPr>
          <p:cNvPr id="4" name="Slide Number Placeholder 3">
            <a:extLst>
              <a:ext uri="{FF2B5EF4-FFF2-40B4-BE49-F238E27FC236}">
                <a16:creationId xmlns:a16="http://schemas.microsoft.com/office/drawing/2014/main" id="{2C3CC780-79B7-5C15-A155-F18C2AC9BFE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588530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5: When Is Machine Learning Appropriate?
اسألي هل توجد أنماط قابلة للتعلم؟ وهل تتوافر بيانات تمثل بيئة الاستخدام؟ وهل القرار يتكرر بما يبرر الكلفة؟ ليس مجرد توافر البيانات سببًا لبناء نموذج. نحتاج كذلك تحمل الخطأ وبنية لإصلاح القرارات الخاطئة ومراقبة الانحراف. التطبيق المناسب يجمع قيمة تشغيلية مع قابلية القياس.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6: When NOT to Use ML
في هذه الشريحة أطلب من الطلاب مقاومة الانحياز إلى استخدام نموذج معقد. قد تحقق قائمة المنتجات الأكثر رواجًا معظم التحسن المطلوب بتكلفة منخفضة. إذا كان الحل البسيط يفي بالغرض، فالمعيار هو القيمة والتكلفة لا حداثة التقنية. المقارنة مع baseline إلزامية لتبرير الاستثمار.
أسئلة للنقاش أو التوسع: Compare an ML recommender with a “most popular items” baseline.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7: Common ML Use Cases
هنا نربط عائلة المهمة بالقرار الواقعي. التوصيات غالبًا تتعلق بالترتيب، وكشف الاحتيال بالتصنيف أو تقدير المخاطر، والتنبؤ بالطلب مهمة انحدار أو توقع زمني. نناقش أن أسماء المهام لا تكفي: يجب معرفة هدفها ومتى تُستخدم المخرجات ومن يتحمل عواقب الخطأ.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8: Case Study: Ecommerce Recommendations
قدمّي السيناريو: متجر إلكتروني لديه بيانات مشاهدة وشراء، ويريد تقديم توصيات أكثر ملاءمة. لكن نعرف مسبقًا أن تحسين النقر قد يدفع نحو منتجات غير مناسبة أو غير متوفرة. لذلك ندرس الهدف التجاري والبيانات والسياق والمخاطر. في السلايدات التالية سنبني هذا النظام خطوة بخطوة.
أسئلة للنقاش أو التوسع: Which metric would you request before starting this project?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9: ML Systems Are Sociotechnical Systems
النظام ليس كودًا ونموذجًا فقط؛ هو كذلك أطراف لها توقعات وأدوار قد تتعارض. فريق المنتج قد يريد التفاعل، والأمن يريد تقليل المخاطر، والبنية التحتية تريد الالتزام بوقت الاستجابة. التصميم الجيد يوضح المسؤوليات وآلية اتخاذ القرار عند التعارض بين المؤشرات.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10: End-to-End ML System
اشرحِي رحلة البيانات من المصدر حتى استخدامها في التدريب ثم تقديم الاستدلال. المراقبة تعيد إشارات من الواقع إلى عملية التطوير. لاحظي أن هناك مسارين مترابطين: مسار التدريب ومسار الاستدلال، وأن جودة نقطة واحدة لا تعالج انقطاع بقية المسار.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11: Research vs. Production ML
تمييز مهم لطلاب الدراسات العليا: البحث يركز على صلاحية الفكرة والتجربة، أما الإنتاج فيفرض قيودًا مثل توافر الخدمة وكلفة الحوسبة وتغير التوزيع البياني. النموذج الذي يتفوق بنقطة صغيرة في benchmark قد لا يكون الخيار الأفضل عند إدخاله في منظومة حية.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13: ML vs. Traditional Software
في البرمجيات التقليدية تغير الكود قد يفسر تغير الأداء. في تعلم الآلة يمكن أن يتغير سلوك البرنامج بسبب بيانات التدريب رغم ثبات الكود. لذلك نحتاج إلى توثيق نسخ البيانات والنموذج وآليات العودة لإصدار سابق. اختبار صحة البرنامج ليس مساويًا لاختبار جودة القرار.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14: Production Failure Modes
اعطي أمثلة ملموسة: تدريب النموذج على سعر المنتج قبل الخصم بينما الخادم يقدم السعر بعد الخصم؛ أو تغيّر سلوك الشراء الموسمي؛ أو انحياز البيانات لأن النظام لا يسجل إلا المنتجات التي عرضها أصلًا. ثم اسألي: أي إنذار يكشف كل نوع؟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15: Chapter 1: Synthesis
هذه مراجعة انتقالية للفصل الأول. أؤكد أن المعايير التقنية يجب اختيارها على ضوء قرار واقعي. ننتقل بعد ذلك إلى الفصل الثاني لنحدد بصورة منهجية الأهداف والمتطلبات وصياغة المشكلة ودوال الهدف.
أسئلة للنقاش أو التوسع: What could make an offline “best model” the worst deployment choice?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16: Chapter 2: Design Begins with Objectives
ابدئي الفصل الثاني بسؤال لماذا نبني هذا النظام؟ لا نقول لأننا نريد رفع الدقة، بل لأننا نريد تحسين قرار أو نتيجة. يتم تحويل هدف المؤسسة إلى هدف فني قابل للقياس، ولكن العلاقة بينهما فرضية ينبغي اختبارها. اتفاق أصحاب المصلحة يسبق صرف الموارد.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17: Business Metrics vs. ML Metrics
اشرحي أن دقة التصنيف هي مؤشر فني بينما معدل الشراء هو مؤشر تجاري. قد يرتفع CTR ويقل معدل الشراء لأن المحتوى يجذب النقرات دون قرارات شراء. ومن هنا نحتاج مقياسًا أساسيًا تجاريًا ومقاييس حارسة تمنع المكاسب الظاهرية على حساب رضا المستخدم أو التكلفة.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18: Metric Mapping: The Causal Hypothesis
نوضح سلسلة التأثير: تحسين تقدير الملاءمة يؤدي إلى قرارات توصية مختلفة، وقد يغير السلوك، ثم نتائج العمل. عند كل سهم افتراض يمكن أن ينهار. لذا نحتاج لتجربة تميّز السببية عن الارتباط، مع اختيار نافذة زمنية مناسبة وقياس آثار متأخرة مثل الإلغاء.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19: Netflix: Take-Rate as a Bridge Metric
في المثال يعرّف الكتاب take-rate بقسمة عدد المشاهدات الجيدة على التوصيات التي شاهدها المستخدم. وهو مقياس وسيط يربط جودة التوصيات بسلوك المستخدم. اشرحي أن ارتفاعه مرتبط في الحالة بساعات مشاهدة أكثر وإلغاء أقل، دون تحويل هذا الارتباط تلقائيًا إلى يقين سببي مطلق.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20: Designing an A/B Test
اجعلي الطلاب يصممون تجربة: مجموعة تحصل على توصيات تقليدية، وأخرى على توصيات النموذج الجديد. نحدد معدل الشراء كمقياس أولي، ونضع مقاييس حارسة مثل التأخير والاسترجاع. نناقش خطر التلوث عندما تتشارك المجموعات سياقًا أو حسابًا، وأهمية عدم التوقف المبكر بمجرد رؤية نتيجة إيجابية.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21: Why A/B Tests Still Have Limits
رغم قوة التجارب العشوائية قد لا نعرف أي مكوّن في سلسلة معقدة سبب الفشل. النتائج قد تتأخر أو تختلف بين شرائح المستخدمين. لهذا نحتاج تسجيلًا تشخيصيًا لكل مرحلة وتحليلًا معماريًا، وليس الاكتفاء بمعدل نجاح إجمالي.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22: Cybersecurity: A Multi-Stage ML Pipeline
اعرضي السلسلة: كشف شذوذ، ثم قواعد منطقية، ثم مراجعة خبراء، ثم استجابة. الفشل النهائي في إيقاف هجوم قد يكون بعد نجاح النموذج في الكشف. هذا المثال يثبت ضرورة تعريف حدود مسؤولية النموذج وتوثيق انتقال القرارات بين المراحل.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23: The Four Production Requirements
نضع المتطلبات الأربع معًا، ونوضح أنها ليست مترادفات. قد يكون النظام سريعًا لكنه هش، أو سهل التوسع لكنه صعب الصيانة. تتم إدارة هذه المتطلبات عن طريق مستويات خدمة واضحة وقرارات مقايضة متفق عليها.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28: Trade-Offs: Requirements in Tension
هذه شريحة تحليلية على مستوى الماجستير. نقارن القرارات المعمارية من خلال trade-offs. لا يوجد خيار صحيح مطلقًا؛ مثال التنبؤ الفوري قد يحسن الملاءمة لكنه يزيد التكلفة والتأخير. المطلوب توثيق سبب الاختيار والمقاييس التي استخدمت للمفاضلة.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29: The Iterative Design Process
لا نبدأ بنموذج متقدم ثم نبحث عن استخدام له. دورة التصميم تبدأ بهدف قابل للفحص، ثم خط أساس، ثم تجربة صغيرة، ثم تعديل بناء على الأدلة. التكرار قد يغير صياغة المشكلة وليس فقط المعلمات الفائقة. أؤكد مفهوم أن كل دورة تقلل عدم اليقين في القرار.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30: Problem Framing Precedes Model Selection
صياغة المشكلة أهم من اختيار خوارزمية جاهزة. إذا كان الهدف الاحتفاظ بالمستخدمين فإن التنبؤ بالنقر قد يكون وسيطًا غير مناسب. نسأل ماذا نتنبأ، وعلى أي وحدة، وعلى أي أفق زمني، وكيف نحصل على الوسم. هذه الخيارات تؤثر في البيانات المطلوبة والتقييم.
أسئلة للنقاش أو التوسع: How would the design change if the goal were retention rather than clicks?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31: Task Types: Classification and Regression
اشرحي بمثال المتجر أن التنبؤ بنعم أو لا تصنيف، والتنبؤ بالمبلغ المتوقع انحدار. إذا كانت مخرجات النموذج احتمالات تستخدم لترتيب المنتجات، فعلينا الاهتمام بمعايرة الاحتمال وليس فقط صحة التصنيف. تكلفة الخطأ تعتمد على القرار المرتبط بالتنبؤ.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32: Task Types: Ranking and Related Tasks
في التوصيات غالبًا هناك استرجاع مرشحين ثم ترتيبهم. ترتيب المنتجات يختلف عن تصنيف كل منتج منعزلًا، لأن جودة أعلى القائمة أهم من العناصر البعيدة. اشرحي أن تقسيم المشكلة إلى مراحل قد يقلل زمن المعالجة لكنه يضيف نقاط فشل جديدة.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33: Choosing Labels and Prediction Horizons
يمكن وضع click كوسم لأن البيانات كثيرة، لكنه قد يشجع النقرات غير المفيدة. الشراء أفضل مباشرةً للعمل لكن نادر وقد يتأخر. تمهدي لمشكلة تسرب البيانات: إذا استخدمنا معلومة تظهر بعد قرار التوصية ضمن ميزات التدريب فإن النتيجةoffline متفائلة ولا تصلح للإنتاج.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34: Objective Functions
دالة الهدف تحدد ما يكافئه التدريب. الدقة ليست دائمًا قابلة للاشتقاق لذلك قد نقلل cross-entropy في التصنيف. وفي الترتيب قد نستخدم خسارة تهتم بالعلاقات بين العناصر. العلاقة بين loss والربح ليست تطابقًا؛ لهذا يجب التحقق تجريبيًا من المخرجات التجارية.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35: Multiple Objectives and Constraints
الأنظمة الحقيقية تعمل تحت أهداف متعددة. يمكن الجمع بين خسائر مختلفة بأوزان لكن هذه الأوزان تحمل حكمًا على الأولويات، وليست حقيقة علمية. بعض القيود مثل حماية البيانات أو حدود السلامة ينبغي معاملتها كمتطلبات واجبة لا تعويضها بمكسب في معدل التحويل.
أسئلة للنقاش أو التوسع: Can privacy or safety be traded for a small increase in conversion?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36: Batch vs. Online Predictions
أعيدي مثال الانتقال من التوصيات الدفعيّة إلى الفورية الوارد في المناقشة السابقة. ليس شرطًا أن يكون online أفضل؛ قد يتأخر ويكلف أكثر. الحل الهجين شائع من حيث المبدأ: مرشحون محسوبون مسبقًا وترتيب آني. اختبري هل ينعكس تحسين الملاءمة على الشراء فعلًا.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37: Mind Versus Data
يعرض الفصل نقاش أهمية البيانات مقابل الخوارزميات. الفكرة ليست أن أحدهما يلغي الآخر. قد تنفع بيانات أنظف أكثر من نموذج أعقد، وقد يكون اختيار مهمة خاطئة سبب المشكلة أساسًا. ينبغي قرار الاستثمار في جمع البيانات أو تغيير الخوارزمية بناء على تحليل أخطاء وتجارب.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38: Graduate Case: Design the Recommender
امنحي الطلاب دقائق للدفاع عن مقترح معماري. طالب يحدد الهدف، آخر يختار الوسم والمهمة، وثالث يحدد المقاييس الحارسة. اطلبي منهم ذكر خطر لا يظهر في NDCG مثل التأخير أو انعدام توفر المنتج، وماذا يفعلون عندما يتراجع المؤشر التجاري بعد النشر.
أسئلة للنقاش أو التوسع: Name one risk that is invisible in an offline ranking metric.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المحاضِرة بالعربي — الشريحة 40: Key Takeaways &amp; References
اختمي برسالة أن التميز في تصميم الأنظمة ليس في تحقيق أفضل دقة وحسب، بل في تبرير كل اختيار وفق قيمة قابلة للقياس وقيود تشغيلية. اعرضي المرجع الأساسي ثم افتحي نقاشًا: ما الافتراض الأخطر الذي يحتاج الفريق إلى اختباره قبل بدء التطوير؟
أسئلة للنقاش أو التوسع: اطلبي من الطلاب مثالًا مضادًا أو قرارًا تشغيليًا يدافعون عنه بأدلة.
ملاحظة: الأمثلة التطبيقية والتوصيات التصميمية في الشرائح تُستخدم لأغراض التعليم وليست اقتباسات حرفية من الكتاب.</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hf hdr="0" dt="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A5E7BD-81C8-1115-D3BD-7C1F708F070B}"/>
              </a:ext>
            </a:extLst>
          </p:cNvPr>
          <p:cNvSpPr txBox="1"/>
          <p:nvPr userDrawn="1">
            <p:extLst>
              <p:ext uri="{1162E1C5-73C7-4A58-AE30-91384D911F3F}">
                <p184:classification xmlns:p184="http://schemas.microsoft.com/office/powerpoint/2018/4/main" val="ftr"/>
              </p:ext>
            </p:extLst>
          </p:nvPr>
        </p:nvSpPr>
        <p:spPr>
          <a:xfrm>
            <a:off x="5604637" y="6611620"/>
            <a:ext cx="1014476" cy="182880"/>
          </a:xfrm>
          <a:prstGeom prst="rect">
            <a:avLst/>
          </a:prstGeom>
        </p:spPr>
        <p:txBody>
          <a:bodyPr horzOverflow="overflow" lIns="0" tIns="0" rIns="0" bIns="0">
            <a:spAutoFit/>
          </a:bodyPr>
          <a:lstStyle/>
          <a:p>
            <a:pPr algn="l"/>
            <a:r>
              <a:rPr lang="en-SA" sz="1200">
                <a:solidFill>
                  <a:srgbClr val="FCD12A">
                    <a:alpha val="50000"/>
                  </a:srgbClr>
                </a:solidFill>
                <a:latin typeface="Aptos" panose="020B0004020202020204" pitchFamily="34" charset="0"/>
              </a:rPr>
              <a:t>Restricted - مقيد</a:t>
            </a:r>
          </a:p>
        </p:txBody>
      </p:sp>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3400" b="1" dirty="0">
                <a:solidFill>
                  <a:srgbClr val="F4F7FB"/>
                </a:solidFill>
                <a:latin typeface="Aptos" pitchFamily="34" charset="0"/>
                <a:ea typeface="Aptos" pitchFamily="34" charset="-122"/>
                <a:cs typeface="Aptos" pitchFamily="34" charset="-120"/>
              </a:rPr>
              <a:t>Designing Machine Learning Systems</a:t>
            </a:r>
            <a:endParaRPr lang="en-US" sz="34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571282" y="198882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8638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From model-centric thinking to reliable, business-aligned systems</a:t>
            </a:r>
            <a:endParaRPr lang="en-US" sz="1720" dirty="0"/>
          </a:p>
        </p:txBody>
      </p:sp>
      <p:sp>
        <p:nvSpPr>
          <p:cNvPr id="8" name="Shape 6"/>
          <p:cNvSpPr/>
          <p:nvPr/>
        </p:nvSpPr>
        <p:spPr>
          <a:xfrm>
            <a:off x="557784" y="282549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523744"/>
            <a:ext cx="10698480" cy="78638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Based on Chip Huyen, Designing Machine Learning Systems (2022)</a:t>
            </a:r>
            <a:endParaRPr lang="en-US" sz="1720" dirty="0"/>
          </a:p>
        </p:txBody>
      </p:sp>
      <p:sp>
        <p:nvSpPr>
          <p:cNvPr id="10" name="Shape 8"/>
          <p:cNvSpPr/>
          <p:nvPr/>
        </p:nvSpPr>
        <p:spPr>
          <a:xfrm>
            <a:off x="603504" y="375361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383280"/>
            <a:ext cx="10698480" cy="78638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A systems perspective for production ML</a:t>
            </a:r>
            <a:endParaRPr lang="en-US" sz="17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Lecture Architecture</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201146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86384"/>
          </a:xfrm>
          <a:prstGeom prst="rect">
            <a:avLst/>
          </a:prstGeom>
          <a:noFill/>
          <a:ln/>
        </p:spPr>
        <p:txBody>
          <a:bodyPr wrap="square" lIns="0" tIns="0" rIns="0" bIns="0" rtlCol="0" anchor="ctr"/>
          <a:lstStyle/>
          <a:p>
            <a:pPr marL="0" indent="0">
              <a:buNone/>
            </a:pPr>
            <a:r>
              <a:rPr lang="en-GB" sz="1720" dirty="0">
                <a:solidFill>
                  <a:srgbClr val="F4F7FB"/>
                </a:solidFill>
                <a:latin typeface="Aptos" pitchFamily="34" charset="0"/>
                <a:ea typeface="Aptos" pitchFamily="34" charset="-122"/>
                <a:cs typeface="Aptos" pitchFamily="34" charset="-120"/>
              </a:rPr>
              <a:t>When ML Is Appropriate — Slides 4–14</a:t>
            </a:r>
            <a:endParaRPr lang="en-US" sz="1720" dirty="0"/>
          </a:p>
        </p:txBody>
      </p:sp>
      <p:sp>
        <p:nvSpPr>
          <p:cNvPr id="8" name="Shape 6"/>
          <p:cNvSpPr/>
          <p:nvPr/>
        </p:nvSpPr>
        <p:spPr>
          <a:xfrm>
            <a:off x="603504" y="287099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523744"/>
            <a:ext cx="10698480" cy="78638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Business Value and Evaluation — Slides 15–21</a:t>
            </a:r>
            <a:endParaRPr lang="en-US" sz="1720" dirty="0"/>
          </a:p>
        </p:txBody>
      </p:sp>
      <p:sp>
        <p:nvSpPr>
          <p:cNvPr id="10" name="Shape 8"/>
          <p:cNvSpPr/>
          <p:nvPr/>
        </p:nvSpPr>
        <p:spPr>
          <a:xfrm>
            <a:off x="603504" y="373053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383280"/>
            <a:ext cx="10698480" cy="78638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Production Requirements and Trade-offs — Slides 22–24</a:t>
            </a:r>
            <a:endParaRPr lang="en-US" sz="1720" dirty="0"/>
          </a:p>
        </p:txBody>
      </p:sp>
      <p:sp>
        <p:nvSpPr>
          <p:cNvPr id="12" name="Shape 10"/>
          <p:cNvSpPr/>
          <p:nvPr/>
        </p:nvSpPr>
        <p:spPr>
          <a:xfrm>
            <a:off x="603504" y="459006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242816"/>
            <a:ext cx="10698480" cy="78638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Problem Framing, Objectives, and Design Choices — Slides 25–32</a:t>
            </a:r>
            <a:endParaRPr lang="en-US" sz="1720" dirty="0"/>
          </a:p>
        </p:txBody>
      </p:sp>
      <p:sp>
        <p:nvSpPr>
          <p:cNvPr id="3" name="TextBox 2">
            <a:extLst>
              <a:ext uri="{FF2B5EF4-FFF2-40B4-BE49-F238E27FC236}">
                <a16:creationId xmlns:a16="http://schemas.microsoft.com/office/drawing/2014/main" id="{43F1AB8E-A22C-785B-CA6B-55D12D085799}"/>
              </a:ext>
            </a:extLst>
          </p:cNvPr>
          <p:cNvSpPr txBox="1"/>
          <p:nvPr/>
        </p:nvSpPr>
        <p:spPr>
          <a:xfrm>
            <a:off x="8517699" y="5749447"/>
            <a:ext cx="184731" cy="369332"/>
          </a:xfrm>
          <a:prstGeom prst="rect">
            <a:avLst/>
          </a:prstGeom>
          <a:noFill/>
        </p:spPr>
        <p:txBody>
          <a:bodyPr wrap="square" rtlCol="0">
            <a:spAutoFit/>
          </a:bodyPr>
          <a:lstStyle/>
          <a:p>
            <a:endParaRPr lang="en-SA" dirty="0">
              <a:solidFill>
                <a:srgbClr val="FF0000"/>
              </a:solidFill>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955548" y="2692908"/>
            <a:ext cx="10698480" cy="1893189"/>
          </a:xfrm>
          <a:prstGeom prst="rect">
            <a:avLst/>
          </a:prstGeom>
          <a:noFill/>
          <a:ln/>
        </p:spPr>
        <p:txBody>
          <a:bodyPr wrap="square" lIns="0" tIns="0" rIns="0" bIns="0" rtlCol="0" anchor="ctr"/>
          <a:lstStyle/>
          <a:p>
            <a:pPr marL="0" lvl="1"/>
            <a:r>
              <a:rPr lang="en-US" sz="1720">
                <a:solidFill>
                  <a:srgbClr val="BAC8D8"/>
                </a:solidFill>
                <a:latin typeface="Aptos" pitchFamily="34" charset="0"/>
              </a:rPr>
              <a:t>Machine learning is an approach to </a:t>
            </a:r>
          </a:p>
          <a:p>
            <a:pPr marL="0" lvl="1"/>
            <a:r>
              <a:rPr lang="en-US" sz="1720">
                <a:solidFill>
                  <a:srgbClr val="BAC8D8"/>
                </a:solidFill>
                <a:latin typeface="Aptos" pitchFamily="34" charset="0"/>
              </a:rPr>
              <a:t>(1) learn</a:t>
            </a:r>
            <a:r>
              <a:rPr lang="en-US" sz="1720" dirty="0">
                <a:solidFill>
                  <a:srgbClr val="BAC8D8"/>
                </a:solidFill>
                <a:latin typeface="Aptos" pitchFamily="34" charset="0"/>
              </a:rPr>
              <a:t> </a:t>
            </a:r>
          </a:p>
          <a:p>
            <a:pPr marL="0" lvl="1"/>
            <a:r>
              <a:rPr lang="en-US" sz="1720">
                <a:solidFill>
                  <a:srgbClr val="BAC8D8"/>
                </a:solidFill>
                <a:latin typeface="Aptos" pitchFamily="34" charset="0"/>
              </a:rPr>
              <a:t>(2) complex patterns</a:t>
            </a:r>
            <a:r>
              <a:rPr lang="en-US" sz="1720" dirty="0">
                <a:solidFill>
                  <a:srgbClr val="BAC8D8"/>
                </a:solidFill>
                <a:latin typeface="Aptos" pitchFamily="34" charset="0"/>
              </a:rPr>
              <a:t> </a:t>
            </a:r>
          </a:p>
          <a:p>
            <a:pPr marL="0" lvl="1"/>
            <a:r>
              <a:rPr lang="en-US" sz="1720">
                <a:solidFill>
                  <a:srgbClr val="BAC8D8"/>
                </a:solidFill>
                <a:latin typeface="Aptos" pitchFamily="34" charset="0"/>
              </a:rPr>
              <a:t>from (3) existing data</a:t>
            </a:r>
            <a:r>
              <a:rPr lang="en-US" sz="1720" dirty="0">
                <a:solidFill>
                  <a:srgbClr val="BAC8D8"/>
                </a:solidFill>
                <a:latin typeface="Aptos" pitchFamily="34" charset="0"/>
              </a:rPr>
              <a:t> </a:t>
            </a:r>
          </a:p>
          <a:p>
            <a:pPr marL="0" lvl="1"/>
            <a:r>
              <a:rPr lang="en-US" sz="1720">
                <a:solidFill>
                  <a:srgbClr val="BAC8D8"/>
                </a:solidFill>
                <a:latin typeface="Aptos" pitchFamily="34" charset="0"/>
              </a:rPr>
              <a:t>and use these patterns to make (4) predictions on (5) unseen data.</a:t>
            </a:r>
          </a:p>
          <a:p>
            <a:endParaRPr lang="en-GB" sz="1720" dirty="0">
              <a:solidFill>
                <a:srgbClr val="BAC8D8"/>
              </a:solidFill>
              <a:latin typeface="Aptos" pitchFamily="34" charset="0"/>
            </a:endParaRPr>
          </a:p>
        </p:txBody>
      </p:sp>
      <p:sp>
        <p:nvSpPr>
          <p:cNvPr id="18" name="Text 2">
            <a:extLst>
              <a:ext uri="{FF2B5EF4-FFF2-40B4-BE49-F238E27FC236}">
                <a16:creationId xmlns:a16="http://schemas.microsoft.com/office/drawing/2014/main" id="{2B52443A-EBAA-80E1-E9CC-E8CA32265DAE}"/>
              </a:ext>
            </a:extLst>
          </p:cNvPr>
          <p:cNvSpPr/>
          <p:nvPr/>
        </p:nvSpPr>
        <p:spPr>
          <a:xfrm>
            <a:off x="594360" y="722376"/>
            <a:ext cx="11064240" cy="594360"/>
          </a:xfrm>
          <a:prstGeom prst="rect">
            <a:avLst/>
          </a:prstGeom>
          <a:noFill/>
          <a:ln/>
        </p:spPr>
        <p:txBody>
          <a:bodyPr wrap="square" lIns="0" tIns="0" rIns="0" bIns="0" rtlCol="0" anchor="ctr"/>
          <a:lstStyle/>
          <a:p>
            <a:r>
              <a:rPr lang="en-US" sz="3400" b="1" dirty="0">
                <a:solidFill>
                  <a:srgbClr val="F4F7FB"/>
                </a:solidFill>
                <a:latin typeface="Aptos"/>
                <a:ea typeface="Aptos" pitchFamily="34" charset="-122"/>
                <a:cs typeface="Aptos" pitchFamily="34" charset="-120"/>
              </a:rPr>
              <a:t>Designing Machine Learning Systems</a:t>
            </a:r>
            <a:endParaRPr lang="en-US" sz="3400">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6C0577-13B2-3A6D-DEBC-7219FB5F81B4}"/>
              </a:ext>
            </a:extLst>
          </p:cNvPr>
          <p:cNvPicPr>
            <a:picLocks noChangeAspect="1"/>
          </p:cNvPicPr>
          <p:nvPr/>
        </p:nvPicPr>
        <p:blipFill>
          <a:blip r:embed="rId2"/>
          <a:stretch>
            <a:fillRect/>
          </a:stretch>
        </p:blipFill>
        <p:spPr>
          <a:xfrm>
            <a:off x="1984515" y="643466"/>
            <a:ext cx="8222970" cy="5571067"/>
          </a:xfrm>
          <a:prstGeom prst="rect">
            <a:avLst/>
          </a:prstGeom>
        </p:spPr>
      </p:pic>
    </p:spTree>
    <p:extLst>
      <p:ext uri="{BB962C8B-B14F-4D97-AF65-F5344CB8AC3E}">
        <p14:creationId xmlns:p14="http://schemas.microsoft.com/office/powerpoint/2010/main" val="885450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17" name="Text 5">
            <a:extLst>
              <a:ext uri="{FF2B5EF4-FFF2-40B4-BE49-F238E27FC236}">
                <a16:creationId xmlns:a16="http://schemas.microsoft.com/office/drawing/2014/main" id="{D80D5FAD-EA89-ADBA-33EF-19ECAEE295C9}"/>
              </a:ext>
            </a:extLst>
          </p:cNvPr>
          <p:cNvSpPr/>
          <p:nvPr/>
        </p:nvSpPr>
        <p:spPr>
          <a:xfrm>
            <a:off x="594360" y="1572770"/>
            <a:ext cx="10945368" cy="5116124"/>
          </a:xfrm>
          <a:prstGeom prst="rect">
            <a:avLst/>
          </a:prstGeom>
          <a:noFill/>
          <a:ln/>
        </p:spPr>
        <p:txBody>
          <a:bodyPr wrap="square" lIns="0" tIns="0" rIns="0" bIns="0" rtlCol="0" anchor="ctr"/>
          <a:lstStyle/>
          <a:p>
            <a:pPr marL="0" lvl="1"/>
            <a:r>
              <a:rPr lang="en-US" sz="1700" dirty="0">
                <a:solidFill>
                  <a:srgbClr val="BAC8D8"/>
                </a:solidFill>
                <a:ea typeface="+mn-lt"/>
                <a:cs typeface="+mn-lt"/>
              </a:rPr>
              <a:t>ML solutions will especially shine with additional following characteristics:</a:t>
            </a:r>
            <a:endParaRPr lang="en-US" dirty="0"/>
          </a:p>
          <a:p>
            <a:r>
              <a:rPr lang="en-US" sz="1700" dirty="0">
                <a:solidFill>
                  <a:srgbClr val="BAC8D8"/>
                </a:solidFill>
                <a:ea typeface="+mn-lt"/>
                <a:cs typeface="+mn-lt"/>
              </a:rPr>
              <a:t>6. It’s repetitive</a:t>
            </a:r>
            <a:endParaRPr lang="en-US" dirty="0"/>
          </a:p>
          <a:p>
            <a:pPr lvl="1"/>
            <a:r>
              <a:rPr lang="en-US" sz="1700" dirty="0">
                <a:solidFill>
                  <a:srgbClr val="BAC8D8"/>
                </a:solidFill>
                <a:ea typeface="+mn-lt"/>
                <a:cs typeface="+mn-lt"/>
              </a:rPr>
              <a:t>Repetitive pattern is repeated multiple times, which makes it easier for machines to learn it.</a:t>
            </a:r>
            <a:endParaRPr lang="en-US" dirty="0"/>
          </a:p>
          <a:p>
            <a:pPr lvl="1"/>
            <a:endParaRPr lang="en-US" sz="1700" dirty="0">
              <a:solidFill>
                <a:srgbClr val="BAC8D8"/>
              </a:solidFill>
              <a:ea typeface="+mn-lt"/>
              <a:cs typeface="+mn-lt"/>
            </a:endParaRPr>
          </a:p>
          <a:p>
            <a:r>
              <a:rPr lang="en-US" sz="1700" dirty="0">
                <a:solidFill>
                  <a:srgbClr val="BAC8D8"/>
                </a:solidFill>
                <a:ea typeface="+mn-lt"/>
                <a:cs typeface="+mn-lt"/>
              </a:rPr>
              <a:t>7. The cost of wrong predictions is cheap</a:t>
            </a:r>
            <a:endParaRPr lang="en-US" dirty="0"/>
          </a:p>
          <a:p>
            <a:pPr lvl="1"/>
            <a:r>
              <a:rPr lang="en-US" sz="1700" dirty="0">
                <a:solidFill>
                  <a:srgbClr val="BAC8D8"/>
                </a:solidFill>
                <a:ea typeface="+mn-lt"/>
                <a:cs typeface="+mn-lt"/>
              </a:rPr>
              <a:t>For example, recommender </a:t>
            </a:r>
            <a:endParaRPr lang="en-US" dirty="0">
              <a:solidFill>
                <a:srgbClr val="000000"/>
              </a:solidFill>
              <a:ea typeface="+mn-lt"/>
              <a:cs typeface="+mn-lt"/>
            </a:endParaRPr>
          </a:p>
          <a:p>
            <a:pPr lvl="1"/>
            <a:endParaRPr lang="en-US" sz="1700" dirty="0">
              <a:solidFill>
                <a:srgbClr val="BAC8D8"/>
              </a:solidFill>
              <a:ea typeface="+mn-lt"/>
              <a:cs typeface="+mn-lt"/>
            </a:endParaRPr>
          </a:p>
          <a:p>
            <a:r>
              <a:rPr lang="en-US" sz="1700" dirty="0">
                <a:solidFill>
                  <a:srgbClr val="BAC8D8"/>
                </a:solidFill>
                <a:ea typeface="+mn-lt"/>
                <a:cs typeface="+mn-lt"/>
              </a:rPr>
              <a:t>8. It’s at scale</a:t>
            </a:r>
            <a:endParaRPr lang="en-US" dirty="0">
              <a:ea typeface="Calibri"/>
              <a:cs typeface="Calibri"/>
            </a:endParaRPr>
          </a:p>
          <a:p>
            <a:pPr lvl="1"/>
            <a:r>
              <a:rPr lang="en-US" sz="1700" dirty="0">
                <a:solidFill>
                  <a:srgbClr val="BAC8D8"/>
                </a:solidFill>
                <a:ea typeface="+mn-lt"/>
                <a:cs typeface="+mn-lt"/>
              </a:rPr>
              <a:t>ML solutions often require nontrivial up-front investment on data, compute, infrastructure, and talent.</a:t>
            </a:r>
            <a:endParaRPr lang="en-US" dirty="0">
              <a:solidFill>
                <a:srgbClr val="000000"/>
              </a:solidFill>
              <a:ea typeface="+mn-lt"/>
              <a:cs typeface="+mn-lt"/>
            </a:endParaRPr>
          </a:p>
          <a:p>
            <a:pPr lvl="1"/>
            <a:r>
              <a:rPr lang="en-US" sz="1700" dirty="0">
                <a:solidFill>
                  <a:srgbClr val="BAC8D8"/>
                </a:solidFill>
                <a:ea typeface="+mn-lt"/>
                <a:cs typeface="+mn-lt"/>
              </a:rPr>
              <a:t>Make sense if we can use these solutions a lot.</a:t>
            </a:r>
            <a:endParaRPr lang="en-US" dirty="0">
              <a:ea typeface="Calibri"/>
              <a:cs typeface="Calibri"/>
            </a:endParaRPr>
          </a:p>
          <a:p>
            <a:pPr lvl="1"/>
            <a:endParaRPr lang="en-US" dirty="0"/>
          </a:p>
          <a:p>
            <a:r>
              <a:rPr lang="en-US" sz="1700" dirty="0">
                <a:solidFill>
                  <a:srgbClr val="BAC8D8"/>
                </a:solidFill>
                <a:ea typeface="+mn-lt"/>
                <a:cs typeface="+mn-lt"/>
              </a:rPr>
              <a:t>9. Patterns are constantly changing</a:t>
            </a:r>
            <a:endParaRPr lang="en-US" dirty="0"/>
          </a:p>
          <a:p>
            <a:pPr lvl="1"/>
            <a:r>
              <a:rPr lang="en-US" sz="1700" dirty="0">
                <a:solidFill>
                  <a:srgbClr val="BAC8D8"/>
                </a:solidFill>
                <a:ea typeface="+mn-lt"/>
                <a:cs typeface="+mn-lt"/>
              </a:rPr>
              <a:t>If your problem involves one or more constantly changing patterns, hardcoded solutions such as handwritten rules can become outdated quickly.</a:t>
            </a:r>
            <a:endParaRPr lang="en-US" dirty="0"/>
          </a:p>
        </p:txBody>
      </p:sp>
      <p:sp>
        <p:nvSpPr>
          <p:cNvPr id="19" name="Text 2">
            <a:extLst>
              <a:ext uri="{FF2B5EF4-FFF2-40B4-BE49-F238E27FC236}">
                <a16:creationId xmlns:a16="http://schemas.microsoft.com/office/drawing/2014/main" id="{AEC30E69-BCB4-09D3-3D02-09F7CEF3A744}"/>
              </a:ext>
            </a:extLst>
          </p:cNvPr>
          <p:cNvSpPr/>
          <p:nvPr/>
        </p:nvSpPr>
        <p:spPr>
          <a:xfrm>
            <a:off x="594360" y="722376"/>
            <a:ext cx="11064240" cy="594360"/>
          </a:xfrm>
          <a:prstGeom prst="rect">
            <a:avLst/>
          </a:prstGeom>
          <a:noFill/>
          <a:ln/>
        </p:spPr>
        <p:txBody>
          <a:bodyPr wrap="square" lIns="0" tIns="0" rIns="0" bIns="0" rtlCol="0" anchor="ctr"/>
          <a:lstStyle/>
          <a:p>
            <a:r>
              <a:rPr lang="en-US" sz="3400" b="1" dirty="0">
                <a:solidFill>
                  <a:srgbClr val="F4F7FB"/>
                </a:solidFill>
                <a:latin typeface="Aptos"/>
                <a:ea typeface="Aptos" pitchFamily="34" charset="-122"/>
                <a:cs typeface="Aptos" pitchFamily="34" charset="-120"/>
              </a:rPr>
              <a:t>Designing Machine Learning Systems</a:t>
            </a:r>
            <a:endParaRPr lang="en-US" sz="3400">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425"/>
        </a:solidFill>
        <a:effectLst/>
      </p:bgPr>
    </p:bg>
    <p:spTree>
      <p:nvGrpSpPr>
        <p:cNvPr id="1" name="">
          <a:extLst>
            <a:ext uri="{FF2B5EF4-FFF2-40B4-BE49-F238E27FC236}">
              <a16:creationId xmlns:a16="http://schemas.microsoft.com/office/drawing/2014/main" id="{56888C75-4A32-E65E-2CBA-3F26BD59AE7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D652788-F123-0267-EE1A-408E9F872AA8}"/>
              </a:ext>
            </a:extLst>
          </p:cNvPr>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3" name="Text 1">
            <a:extLst>
              <a:ext uri="{FF2B5EF4-FFF2-40B4-BE49-F238E27FC236}">
                <a16:creationId xmlns:a16="http://schemas.microsoft.com/office/drawing/2014/main" id="{B43EF0F0-707D-1759-80A0-3BFBF3BF3AAC}"/>
              </a:ext>
            </a:extLst>
          </p:cNvPr>
          <p:cNvSpPr/>
          <p:nvPr/>
        </p:nvSpPr>
        <p:spPr>
          <a:xfrm>
            <a:off x="4271210" y="5289804"/>
            <a:ext cx="9875520" cy="246888"/>
          </a:xfrm>
          <a:prstGeom prst="rect">
            <a:avLst/>
          </a:prstGeom>
          <a:noFill/>
          <a:ln/>
        </p:spPr>
        <p:txBody>
          <a:bodyPr wrap="square" lIns="0" tIns="0" rIns="0" bIns="0" rtlCol="0" anchor="ctr"/>
          <a:lstStyle/>
          <a:p>
            <a:pPr marL="0" indent="0" algn="l">
              <a:buNone/>
            </a:pPr>
            <a:r>
              <a:rPr lang="en-US" sz="1020" b="1" kern="0" spc="180" dirty="0">
                <a:solidFill>
                  <a:srgbClr val="52D6C5"/>
                </a:solidFill>
                <a:latin typeface="Aptos" pitchFamily="34" charset="0"/>
                <a:ea typeface="Aptos" pitchFamily="34" charset="-122"/>
                <a:cs typeface="Aptos" pitchFamily="34" charset="-120"/>
              </a:rPr>
              <a:t>MODEL SUCCESS ≠ SYSTEM SUCCESS</a:t>
            </a:r>
            <a:endParaRPr lang="en-US" sz="1020" dirty="0"/>
          </a:p>
        </p:txBody>
      </p:sp>
      <p:sp>
        <p:nvSpPr>
          <p:cNvPr id="4" name="Text 2">
            <a:extLst>
              <a:ext uri="{FF2B5EF4-FFF2-40B4-BE49-F238E27FC236}">
                <a16:creationId xmlns:a16="http://schemas.microsoft.com/office/drawing/2014/main" id="{C4F8E54B-74CD-A259-2101-3A0C4757B35D}"/>
              </a:ext>
            </a:extLst>
          </p:cNvPr>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The Central Claim</a:t>
            </a:r>
            <a:endParaRPr lang="en-US" sz="2900" dirty="0"/>
          </a:p>
        </p:txBody>
      </p:sp>
      <p:sp>
        <p:nvSpPr>
          <p:cNvPr id="5" name="Shape 3">
            <a:extLst>
              <a:ext uri="{FF2B5EF4-FFF2-40B4-BE49-F238E27FC236}">
                <a16:creationId xmlns:a16="http://schemas.microsoft.com/office/drawing/2014/main" id="{4348CE65-D9A0-EE3B-F194-9EFC59E5F5CD}"/>
              </a:ext>
            </a:extLst>
          </p:cNvPr>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a:extLst>
              <a:ext uri="{FF2B5EF4-FFF2-40B4-BE49-F238E27FC236}">
                <a16:creationId xmlns:a16="http://schemas.microsoft.com/office/drawing/2014/main" id="{764DDD9A-74B0-EE8D-4F51-C7E348E7CD86}"/>
              </a:ext>
            </a:extLst>
          </p:cNvPr>
          <p:cNvSpPr/>
          <p:nvPr/>
        </p:nvSpPr>
        <p:spPr>
          <a:xfrm>
            <a:off x="603504" y="202888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a:extLst>
              <a:ext uri="{FF2B5EF4-FFF2-40B4-BE49-F238E27FC236}">
                <a16:creationId xmlns:a16="http://schemas.microsoft.com/office/drawing/2014/main" id="{BE7F21D7-C1E9-7F6B-2DE5-F6CADBA7DDB4}"/>
              </a:ext>
            </a:extLst>
          </p:cNvPr>
          <p:cNvSpPr/>
          <p:nvPr/>
        </p:nvSpPr>
        <p:spPr>
          <a:xfrm>
            <a:off x="841248" y="1664208"/>
            <a:ext cx="10698480" cy="78638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A model can score highly offline yet fail to create real-world value</a:t>
            </a:r>
            <a:endParaRPr lang="en-US" sz="1720" dirty="0"/>
          </a:p>
        </p:txBody>
      </p:sp>
      <p:sp>
        <p:nvSpPr>
          <p:cNvPr id="8" name="Shape 6">
            <a:extLst>
              <a:ext uri="{FF2B5EF4-FFF2-40B4-BE49-F238E27FC236}">
                <a16:creationId xmlns:a16="http://schemas.microsoft.com/office/drawing/2014/main" id="{540E9F5E-CEA4-3E65-802D-8D2B4FD514E6}"/>
              </a:ext>
            </a:extLst>
          </p:cNvPr>
          <p:cNvSpPr/>
          <p:nvPr/>
        </p:nvSpPr>
        <p:spPr>
          <a:xfrm>
            <a:off x="603504" y="288842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a:extLst>
              <a:ext uri="{FF2B5EF4-FFF2-40B4-BE49-F238E27FC236}">
                <a16:creationId xmlns:a16="http://schemas.microsoft.com/office/drawing/2014/main" id="{52FF7C32-FC2E-650A-A481-6829561E46FC}"/>
              </a:ext>
            </a:extLst>
          </p:cNvPr>
          <p:cNvSpPr/>
          <p:nvPr/>
        </p:nvSpPr>
        <p:spPr>
          <a:xfrm>
            <a:off x="841248" y="2523744"/>
            <a:ext cx="10698480" cy="78638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Systems include people, data dependencies, infrastructure, workflows, and incentives</a:t>
            </a:r>
            <a:endParaRPr lang="en-US" sz="1720" dirty="0"/>
          </a:p>
        </p:txBody>
      </p:sp>
      <p:sp>
        <p:nvSpPr>
          <p:cNvPr id="10" name="Shape 8">
            <a:extLst>
              <a:ext uri="{FF2B5EF4-FFF2-40B4-BE49-F238E27FC236}">
                <a16:creationId xmlns:a16="http://schemas.microsoft.com/office/drawing/2014/main" id="{8212F3DA-ED9C-40FA-D7AC-3C40472B70B9}"/>
              </a:ext>
            </a:extLst>
          </p:cNvPr>
          <p:cNvSpPr/>
          <p:nvPr/>
        </p:nvSpPr>
        <p:spPr>
          <a:xfrm>
            <a:off x="603504" y="374795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a:extLst>
              <a:ext uri="{FF2B5EF4-FFF2-40B4-BE49-F238E27FC236}">
                <a16:creationId xmlns:a16="http://schemas.microsoft.com/office/drawing/2014/main" id="{A57810B9-2507-174D-E03F-D2BA2826EA70}"/>
              </a:ext>
            </a:extLst>
          </p:cNvPr>
          <p:cNvSpPr/>
          <p:nvPr/>
        </p:nvSpPr>
        <p:spPr>
          <a:xfrm>
            <a:off x="841248" y="3383280"/>
            <a:ext cx="10698480" cy="78638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Success requires end-to-end behavior, not isolated leaderboard performance</a:t>
            </a:r>
            <a:endParaRPr lang="en-US" sz="1720" dirty="0"/>
          </a:p>
        </p:txBody>
      </p:sp>
      <p:sp>
        <p:nvSpPr>
          <p:cNvPr id="12" name="Shape 10">
            <a:extLst>
              <a:ext uri="{FF2B5EF4-FFF2-40B4-BE49-F238E27FC236}">
                <a16:creationId xmlns:a16="http://schemas.microsoft.com/office/drawing/2014/main" id="{E4C60BF8-4506-DA96-212F-8570B208E325}"/>
              </a:ext>
            </a:extLst>
          </p:cNvPr>
          <p:cNvSpPr/>
          <p:nvPr/>
        </p:nvSpPr>
        <p:spPr>
          <a:xfrm>
            <a:off x="603504" y="460749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a:extLst>
              <a:ext uri="{FF2B5EF4-FFF2-40B4-BE49-F238E27FC236}">
                <a16:creationId xmlns:a16="http://schemas.microsoft.com/office/drawing/2014/main" id="{BFCD6B57-211A-B9EE-9D6B-3FB49991FE4A}"/>
              </a:ext>
            </a:extLst>
          </p:cNvPr>
          <p:cNvSpPr/>
          <p:nvPr/>
        </p:nvSpPr>
        <p:spPr>
          <a:xfrm>
            <a:off x="841248" y="4242816"/>
            <a:ext cx="10698480" cy="78638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Optimization must serve an explicit operational or business objective</a:t>
            </a:r>
            <a:endParaRPr lang="en-US" sz="1720" dirty="0"/>
          </a:p>
        </p:txBody>
      </p:sp>
      <p:sp>
        <p:nvSpPr>
          <p:cNvPr id="14" name="Shape 12">
            <a:extLst>
              <a:ext uri="{FF2B5EF4-FFF2-40B4-BE49-F238E27FC236}">
                <a16:creationId xmlns:a16="http://schemas.microsoft.com/office/drawing/2014/main" id="{A37A42EF-FB78-F6ED-A7E9-909C7ED08161}"/>
              </a:ext>
            </a:extLst>
          </p:cNvPr>
          <p:cNvSpPr/>
          <p:nvPr/>
        </p:nvSpPr>
        <p:spPr>
          <a:xfrm>
            <a:off x="594360" y="5870448"/>
            <a:ext cx="10945368" cy="438912"/>
          </a:xfrm>
          <a:prstGeom prst="roundRect">
            <a:avLst>
              <a:gd name="adj" fmla="val 33333"/>
            </a:avLst>
          </a:prstGeom>
          <a:solidFill>
            <a:srgbClr val="1B304B"/>
          </a:solidFill>
          <a:ln w="12700">
            <a:solidFill>
              <a:srgbClr val="1B304B">
                <a:alpha val="0"/>
              </a:srgbClr>
            </a:solidFill>
            <a:prstDash val="solid"/>
          </a:ln>
        </p:spPr>
        <p:txBody>
          <a:bodyPr/>
          <a:lstStyle/>
          <a:p>
            <a:endParaRPr lang="en-SA"/>
          </a:p>
        </p:txBody>
      </p:sp>
      <p:sp>
        <p:nvSpPr>
          <p:cNvPr id="15" name="Text 13">
            <a:extLst>
              <a:ext uri="{FF2B5EF4-FFF2-40B4-BE49-F238E27FC236}">
                <a16:creationId xmlns:a16="http://schemas.microsoft.com/office/drawing/2014/main" id="{46AF642E-D5BB-7D7B-687B-84333B004910}"/>
              </a:ext>
            </a:extLst>
          </p:cNvPr>
          <p:cNvSpPr/>
          <p:nvPr/>
        </p:nvSpPr>
        <p:spPr>
          <a:xfrm>
            <a:off x="804672" y="5980176"/>
            <a:ext cx="10424160" cy="201168"/>
          </a:xfrm>
          <a:prstGeom prst="rect">
            <a:avLst/>
          </a:prstGeom>
          <a:noFill/>
          <a:ln/>
        </p:spPr>
        <p:txBody>
          <a:bodyPr wrap="square" lIns="0" tIns="0" rIns="0" bIns="0" rtlCol="0" anchor="ctr"/>
          <a:lstStyle/>
          <a:p>
            <a:pPr marL="0" indent="0">
              <a:buNone/>
            </a:pPr>
            <a:r>
              <a:rPr lang="en-US" sz="1140" i="1" dirty="0">
                <a:solidFill>
                  <a:srgbClr val="FFCC70"/>
                </a:solidFill>
                <a:latin typeface="Aptos" pitchFamily="34" charset="0"/>
                <a:ea typeface="Aptos" pitchFamily="34" charset="-122"/>
                <a:cs typeface="Aptos" pitchFamily="34" charset="-120"/>
              </a:rPr>
              <a:t>•  Would you deploy a 98%-accurate model that worsens user outcomes?</a:t>
            </a:r>
            <a:endParaRPr lang="en-US" sz="1140" dirty="0"/>
          </a:p>
        </p:txBody>
      </p:sp>
    </p:spTree>
    <p:extLst>
      <p:ext uri="{BB962C8B-B14F-4D97-AF65-F5344CB8AC3E}">
        <p14:creationId xmlns:p14="http://schemas.microsoft.com/office/powerpoint/2010/main" val="3888246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When Is Machine Learning Appropriate?</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5417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GB" sz="1720" dirty="0">
                <a:solidFill>
                  <a:srgbClr val="F4F7FB"/>
                </a:solidFill>
                <a:latin typeface="Aptos" pitchFamily="34" charset="0"/>
                <a:ea typeface="Aptos" pitchFamily="34" charset="-122"/>
                <a:cs typeface="Aptos" pitchFamily="34" charset="-120"/>
              </a:rPr>
              <a:t>The task contains learnable patterns that are difficult to capture with fixed rules.</a:t>
            </a:r>
            <a:endParaRPr lang="en-US" sz="1720" dirty="0"/>
          </a:p>
        </p:txBody>
      </p:sp>
      <p:sp>
        <p:nvSpPr>
          <p:cNvPr id="8" name="Shape 6"/>
          <p:cNvSpPr/>
          <p:nvPr/>
        </p:nvSpPr>
        <p:spPr>
          <a:xfrm>
            <a:off x="603504" y="276798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Sufficient, relevant, representative, and accessible data are available.</a:t>
            </a:r>
            <a:endParaRPr lang="en-US" sz="1720" dirty="0"/>
          </a:p>
        </p:txBody>
      </p:sp>
      <p:sp>
        <p:nvSpPr>
          <p:cNvPr id="10" name="Shape 8"/>
          <p:cNvSpPr/>
          <p:nvPr/>
        </p:nvSpPr>
        <p:spPr>
          <a:xfrm>
            <a:off x="603504" y="367324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The decision occurs often enough to justify model development and maintenance.</a:t>
            </a:r>
            <a:endParaRPr lang="en-US" sz="1720" dirty="0"/>
          </a:p>
        </p:txBody>
      </p:sp>
      <p:sp>
        <p:nvSpPr>
          <p:cNvPr id="12" name="Shape 10"/>
          <p:cNvSpPr/>
          <p:nvPr/>
        </p:nvSpPr>
        <p:spPr>
          <a:xfrm>
            <a:off x="603504" y="439562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Errors and uncertainty can be managed safely</a:t>
            </a:r>
            <a:endParaRPr lang="en-US" sz="1720" dirty="0"/>
          </a:p>
        </p:txBody>
      </p:sp>
      <p:sp>
        <p:nvSpPr>
          <p:cNvPr id="14" name="Shape 12"/>
          <p:cNvSpPr/>
          <p:nvPr/>
        </p:nvSpPr>
        <p:spPr>
          <a:xfrm>
            <a:off x="603504" y="520943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The expected benefit justifies modeling and maintenance costs</a:t>
            </a:r>
            <a:endParaRPr lang="en-US" sz="17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When NOT to Use ML</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83043"/>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A deterministic rule already solves the problem reliably</a:t>
            </a:r>
            <a:endParaRPr lang="en-US" sz="1720" dirty="0"/>
          </a:p>
        </p:txBody>
      </p:sp>
      <p:sp>
        <p:nvSpPr>
          <p:cNvPr id="8" name="Shape 6"/>
          <p:cNvSpPr/>
          <p:nvPr/>
        </p:nvSpPr>
        <p:spPr>
          <a:xfrm>
            <a:off x="603504" y="2796859"/>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Data are sparse, biased, inaccessible, or not representative</a:t>
            </a:r>
            <a:endParaRPr lang="en-US" sz="1720" dirty="0"/>
          </a:p>
        </p:txBody>
      </p:sp>
      <p:sp>
        <p:nvSpPr>
          <p:cNvPr id="10" name="Shape 8"/>
          <p:cNvSpPr/>
          <p:nvPr/>
        </p:nvSpPr>
        <p:spPr>
          <a:xfrm>
            <a:off x="603504" y="3610675"/>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The process changes too quickly for available feedback loops</a:t>
            </a:r>
            <a:endParaRPr lang="en-US" sz="1720" dirty="0"/>
          </a:p>
        </p:txBody>
      </p:sp>
      <p:sp>
        <p:nvSpPr>
          <p:cNvPr id="12" name="Shape 10"/>
          <p:cNvSpPr/>
          <p:nvPr/>
        </p:nvSpPr>
        <p:spPr>
          <a:xfrm>
            <a:off x="603504" y="4424491"/>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Prediction errors are costly and cannot be controlled</a:t>
            </a:r>
            <a:endParaRPr lang="en-US" sz="1720" dirty="0"/>
          </a:p>
        </p:txBody>
      </p:sp>
      <p:sp>
        <p:nvSpPr>
          <p:cNvPr id="14" name="Shape 12"/>
          <p:cNvSpPr/>
          <p:nvPr/>
        </p:nvSpPr>
        <p:spPr>
          <a:xfrm>
            <a:off x="603504" y="5238307"/>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A simple heuristic achieves the business target more cheaply</a:t>
            </a:r>
            <a:endParaRPr lang="en-US" sz="1720" dirty="0"/>
          </a:p>
        </p:txBody>
      </p:sp>
      <p:sp>
        <p:nvSpPr>
          <p:cNvPr id="16" name="Shape 14"/>
          <p:cNvSpPr/>
          <p:nvPr/>
        </p:nvSpPr>
        <p:spPr>
          <a:xfrm>
            <a:off x="594360" y="5870448"/>
            <a:ext cx="10945368" cy="438912"/>
          </a:xfrm>
          <a:prstGeom prst="roundRect">
            <a:avLst>
              <a:gd name="adj" fmla="val 33333"/>
            </a:avLst>
          </a:prstGeom>
          <a:solidFill>
            <a:srgbClr val="1B304B"/>
          </a:solidFill>
          <a:ln w="12700">
            <a:solidFill>
              <a:srgbClr val="1B304B">
                <a:alpha val="0"/>
              </a:srgbClr>
            </a:solidFill>
            <a:prstDash val="solid"/>
          </a:ln>
        </p:spPr>
        <p:txBody>
          <a:bodyPr/>
          <a:lstStyle/>
          <a:p>
            <a:endParaRPr lang="en-SA"/>
          </a:p>
        </p:txBody>
      </p:sp>
      <p:sp>
        <p:nvSpPr>
          <p:cNvPr id="17" name="Text 15"/>
          <p:cNvSpPr/>
          <p:nvPr/>
        </p:nvSpPr>
        <p:spPr>
          <a:xfrm>
            <a:off x="804672" y="5980176"/>
            <a:ext cx="10424160" cy="201168"/>
          </a:xfrm>
          <a:prstGeom prst="rect">
            <a:avLst/>
          </a:prstGeom>
          <a:noFill/>
          <a:ln/>
        </p:spPr>
        <p:txBody>
          <a:bodyPr wrap="square" lIns="0" tIns="0" rIns="0" bIns="0" rtlCol="0" anchor="ctr"/>
          <a:lstStyle/>
          <a:p>
            <a:pPr marL="0" indent="0">
              <a:buNone/>
            </a:pPr>
            <a:r>
              <a:rPr lang="en-US" sz="1140" i="1" dirty="0">
                <a:solidFill>
                  <a:srgbClr val="FFCC70"/>
                </a:solidFill>
                <a:latin typeface="Aptos" pitchFamily="34" charset="0"/>
                <a:ea typeface="Aptos" pitchFamily="34" charset="-122"/>
                <a:cs typeface="Aptos" pitchFamily="34" charset="-120"/>
              </a:rPr>
              <a:t>•  Compare an ML recommender with a “most popular items” baseline.</a:t>
            </a:r>
            <a:endParaRPr lang="en-US" sz="11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Common ML Use Cases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73419"/>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Ranking and recommendations — prioritize content or products</a:t>
            </a:r>
            <a:endParaRPr lang="en-US" sz="1720" dirty="0"/>
          </a:p>
        </p:txBody>
      </p:sp>
      <p:sp>
        <p:nvSpPr>
          <p:cNvPr id="8" name="Shape 6"/>
          <p:cNvSpPr/>
          <p:nvPr/>
        </p:nvSpPr>
        <p:spPr>
          <a:xfrm>
            <a:off x="603504" y="2787235"/>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Classification — fraud, abuse, document routing, triage</a:t>
            </a:r>
            <a:endParaRPr lang="en-US" sz="1720" dirty="0"/>
          </a:p>
        </p:txBody>
      </p:sp>
      <p:sp>
        <p:nvSpPr>
          <p:cNvPr id="10" name="Shape 8"/>
          <p:cNvSpPr/>
          <p:nvPr/>
        </p:nvSpPr>
        <p:spPr>
          <a:xfrm>
            <a:off x="603504" y="3601051"/>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Regression and forecasting — price, demand, workload</a:t>
            </a:r>
            <a:endParaRPr lang="en-US" sz="1720" dirty="0"/>
          </a:p>
        </p:txBody>
      </p:sp>
      <p:sp>
        <p:nvSpPr>
          <p:cNvPr id="12" name="Shape 10"/>
          <p:cNvSpPr/>
          <p:nvPr/>
        </p:nvSpPr>
        <p:spPr>
          <a:xfrm>
            <a:off x="603504" y="4414867"/>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Anomaly detection — unexpected events and behaviors</a:t>
            </a:r>
            <a:endParaRPr lang="en-US" sz="1720" dirty="0"/>
          </a:p>
        </p:txBody>
      </p:sp>
      <p:sp>
        <p:nvSpPr>
          <p:cNvPr id="14" name="Shape 12"/>
          <p:cNvSpPr/>
          <p:nvPr/>
        </p:nvSpPr>
        <p:spPr>
          <a:xfrm>
            <a:off x="603504" y="5228683"/>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Generation and perception — text, vision, speech, and structured extraction</a:t>
            </a:r>
            <a:endParaRPr lang="en-US" sz="17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Case Study: Ecommerce Recommendations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8304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Business challenge: improve useful purchases while protecting customer trust</a:t>
            </a:r>
            <a:endParaRPr lang="en-US" sz="1720" dirty="0"/>
          </a:p>
        </p:txBody>
      </p:sp>
      <p:sp>
        <p:nvSpPr>
          <p:cNvPr id="8" name="Shape 6"/>
          <p:cNvSpPr/>
          <p:nvPr/>
        </p:nvSpPr>
        <p:spPr>
          <a:xfrm>
            <a:off x="603504" y="279686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Available signals: browsing, search, purchases, catalog, availability</a:t>
            </a:r>
            <a:endParaRPr lang="en-US" sz="1720" dirty="0"/>
          </a:p>
        </p:txBody>
      </p:sp>
      <p:sp>
        <p:nvSpPr>
          <p:cNvPr id="10" name="Shape 8"/>
          <p:cNvSpPr/>
          <p:nvPr/>
        </p:nvSpPr>
        <p:spPr>
          <a:xfrm>
            <a:off x="603504" y="361067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System decisions: what to recommend, when, and to whom</a:t>
            </a:r>
            <a:endParaRPr lang="en-US" sz="1720" dirty="0"/>
          </a:p>
        </p:txBody>
      </p:sp>
      <p:sp>
        <p:nvSpPr>
          <p:cNvPr id="12" name="Shape 10"/>
          <p:cNvSpPr/>
          <p:nvPr/>
        </p:nvSpPr>
        <p:spPr>
          <a:xfrm>
            <a:off x="603504" y="442449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Constraints: latency, privacy, seasonality, cold start, and operating cost</a:t>
            </a:r>
            <a:endParaRPr lang="en-US" sz="1720" dirty="0"/>
          </a:p>
        </p:txBody>
      </p:sp>
      <p:sp>
        <p:nvSpPr>
          <p:cNvPr id="14" name="Shape 12"/>
          <p:cNvSpPr/>
          <p:nvPr/>
        </p:nvSpPr>
        <p:spPr>
          <a:xfrm>
            <a:off x="603504" y="523830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Baseline: popular items; candidate: personalized ranking model</a:t>
            </a:r>
            <a:endParaRPr lang="en-US" sz="17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ML Systems Are Sociotechnical Systems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6379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Business owners define value and acceptable trade-offs</a:t>
            </a:r>
            <a:endParaRPr lang="en-US" sz="1720" dirty="0"/>
          </a:p>
        </p:txBody>
      </p:sp>
      <p:sp>
        <p:nvSpPr>
          <p:cNvPr id="8" name="Shape 6"/>
          <p:cNvSpPr/>
          <p:nvPr/>
        </p:nvSpPr>
        <p:spPr>
          <a:xfrm>
            <a:off x="603504" y="277761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Data and platform teams supply reliable pipelines and infrastructure</a:t>
            </a:r>
            <a:endParaRPr lang="en-US" sz="1720" dirty="0"/>
          </a:p>
        </p:txBody>
      </p:sp>
      <p:sp>
        <p:nvSpPr>
          <p:cNvPr id="10" name="Shape 8"/>
          <p:cNvSpPr/>
          <p:nvPr/>
        </p:nvSpPr>
        <p:spPr>
          <a:xfrm>
            <a:off x="603504" y="359142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ML teams define tasks, features, models, and evaluations</a:t>
            </a:r>
            <a:endParaRPr lang="en-US" sz="1720" dirty="0"/>
          </a:p>
        </p:txBody>
      </p:sp>
      <p:sp>
        <p:nvSpPr>
          <p:cNvPr id="12" name="Shape 10"/>
          <p:cNvSpPr/>
          <p:nvPr/>
        </p:nvSpPr>
        <p:spPr>
          <a:xfrm>
            <a:off x="603504" y="440524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Product, operations, security, and legal teams govern deployment</a:t>
            </a:r>
            <a:endParaRPr lang="en-US" sz="1720" dirty="0"/>
          </a:p>
        </p:txBody>
      </p:sp>
      <p:sp>
        <p:nvSpPr>
          <p:cNvPr id="14" name="Shape 12"/>
          <p:cNvSpPr/>
          <p:nvPr/>
        </p:nvSpPr>
        <p:spPr>
          <a:xfrm>
            <a:off x="603504" y="521905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Users and environments ultimately determine observed outcomes</a:t>
            </a:r>
            <a:endParaRPr lang="en-US" sz="17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End-to-End ML System</a:t>
            </a:r>
            <a:r>
              <a:rPr lang="ar-SA" sz="2900" b="1" dirty="0">
                <a:solidFill>
                  <a:srgbClr val="F4F7FB"/>
                </a:solidFill>
                <a:latin typeface="Aptos" pitchFamily="34" charset="0"/>
                <a:ea typeface="Aptos" pitchFamily="34" charset="-122"/>
                <a:cs typeface="Aptos" pitchFamily="34" charset="-120"/>
              </a:rPr>
              <a:t> </a:t>
            </a:r>
            <a:r>
              <a:rPr lang="en-US" sz="2900" b="1" dirty="0">
                <a:solidFill>
                  <a:srgbClr val="F4F7FB"/>
                </a:solidFill>
                <a:latin typeface="Aptos" pitchFamily="34" charset="0"/>
                <a:ea typeface="Aptos" pitchFamily="34" charset="-122"/>
                <a:cs typeface="Aptos" pitchFamily="34" charset="-120"/>
              </a:rPr>
              <a:t> life cycle</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73278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567593"/>
            <a:ext cx="6400800" cy="740664"/>
          </a:xfrm>
          <a:prstGeom prst="rect">
            <a:avLst/>
          </a:prstGeom>
          <a:noFill/>
          <a:ln/>
        </p:spPr>
        <p:txBody>
          <a:bodyPr wrap="square" lIns="0" tIns="0" rIns="0" bIns="0" rtlCol="0" anchor="ctr"/>
          <a:lstStyle/>
          <a:p>
            <a:pPr marL="0" indent="0">
              <a:buNone/>
            </a:pPr>
            <a:r>
              <a:rPr lang="en-GB" sz="1720" dirty="0">
                <a:solidFill>
                  <a:srgbClr val="F4F7FB"/>
                </a:solidFill>
                <a:latin typeface="Aptos" pitchFamily="34" charset="0"/>
                <a:ea typeface="Aptos" pitchFamily="34" charset="-122"/>
                <a:cs typeface="Aptos" pitchFamily="34" charset="-120"/>
              </a:rPr>
              <a:t>Set the goal </a:t>
            </a:r>
          </a:p>
          <a:p>
            <a:pPr marL="0" indent="0">
              <a:buNone/>
            </a:pPr>
            <a:r>
              <a:rPr lang="en-GB" sz="1720" dirty="0">
                <a:solidFill>
                  <a:srgbClr val="F4F7FB"/>
                </a:solidFill>
                <a:latin typeface="Aptos" pitchFamily="34" charset="0"/>
                <a:ea typeface="Aptos" pitchFamily="34" charset="-122"/>
                <a:cs typeface="Aptos" pitchFamily="34" charset="-120"/>
              </a:rPr>
              <a:t>Help each customer find useful products.</a:t>
            </a:r>
          </a:p>
        </p:txBody>
      </p:sp>
      <p:sp>
        <p:nvSpPr>
          <p:cNvPr id="8" name="Shape 6"/>
          <p:cNvSpPr/>
          <p:nvPr/>
        </p:nvSpPr>
        <p:spPr>
          <a:xfrm>
            <a:off x="603504" y="2392597"/>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362515"/>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Collect data Use </a:t>
            </a:r>
          </a:p>
          <a:p>
            <a:pPr marL="0" indent="0">
              <a:buNone/>
            </a:pPr>
            <a:r>
              <a:rPr lang="en-GB" sz="1720" dirty="0">
                <a:solidFill>
                  <a:srgbClr val="BAC8D8"/>
                </a:solidFill>
                <a:latin typeface="Aptos" pitchFamily="34" charset="0"/>
                <a:ea typeface="Aptos" pitchFamily="34" charset="-122"/>
                <a:cs typeface="Aptos" pitchFamily="34" charset="-120"/>
              </a:rPr>
              <a:t>product information and customer activity, such as views and purchases</a:t>
            </a:r>
          </a:p>
        </p:txBody>
      </p:sp>
      <p:sp>
        <p:nvSpPr>
          <p:cNvPr id="10" name="Shape 8"/>
          <p:cNvSpPr/>
          <p:nvPr/>
        </p:nvSpPr>
        <p:spPr>
          <a:xfrm>
            <a:off x="612648" y="329424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62956"/>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Train and test the model</a:t>
            </a:r>
          </a:p>
          <a:p>
            <a:pPr marL="0" indent="0">
              <a:buNone/>
            </a:pPr>
            <a:r>
              <a:rPr lang="en-GB" sz="1720" dirty="0">
                <a:solidFill>
                  <a:srgbClr val="BAC8D8"/>
                </a:solidFill>
                <a:latin typeface="Aptos" pitchFamily="34" charset="0"/>
                <a:ea typeface="Aptos" pitchFamily="34" charset="-122"/>
                <a:cs typeface="Aptos" pitchFamily="34" charset="-120"/>
              </a:rPr>
              <a:t> Use past data to predict which products may interest each customer.</a:t>
            </a:r>
            <a:endParaRPr lang="en-US" sz="1720" dirty="0"/>
          </a:p>
        </p:txBody>
      </p:sp>
      <p:sp>
        <p:nvSpPr>
          <p:cNvPr id="12" name="Shape 10"/>
          <p:cNvSpPr/>
          <p:nvPr/>
        </p:nvSpPr>
        <p:spPr>
          <a:xfrm>
            <a:off x="603504" y="4241611"/>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067147"/>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Show recommendations </a:t>
            </a:r>
          </a:p>
          <a:p>
            <a:pPr marL="0" indent="0">
              <a:buNone/>
            </a:pPr>
            <a:r>
              <a:rPr lang="en-GB" sz="1720" dirty="0">
                <a:solidFill>
                  <a:srgbClr val="BAC8D8"/>
                </a:solidFill>
                <a:latin typeface="Aptos" pitchFamily="34" charset="0"/>
                <a:ea typeface="Aptos" pitchFamily="34" charset="-122"/>
                <a:cs typeface="Aptos" pitchFamily="34" charset="-120"/>
              </a:rPr>
              <a:t>The app displays the selected products to the customer.</a:t>
            </a:r>
            <a:endParaRPr lang="en-US" sz="1720" dirty="0"/>
          </a:p>
        </p:txBody>
      </p:sp>
      <p:sp>
        <p:nvSpPr>
          <p:cNvPr id="14" name="Shape 12"/>
          <p:cNvSpPr/>
          <p:nvPr/>
        </p:nvSpPr>
        <p:spPr>
          <a:xfrm>
            <a:off x="603504" y="502189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852088"/>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Measure the results </a:t>
            </a:r>
          </a:p>
          <a:p>
            <a:pPr marL="0" indent="0">
              <a:buNone/>
            </a:pPr>
            <a:r>
              <a:rPr lang="en-GB" sz="1720" dirty="0">
                <a:solidFill>
                  <a:srgbClr val="BAC8D8"/>
                </a:solidFill>
                <a:latin typeface="Aptos" pitchFamily="34" charset="0"/>
                <a:ea typeface="Aptos" pitchFamily="34" charset="-122"/>
                <a:cs typeface="Aptos" pitchFamily="34" charset="-120"/>
              </a:rPr>
              <a:t>Check whether customers click, buy, or ignore the recommendations.</a:t>
            </a:r>
            <a:endParaRPr lang="en-US" sz="1720" dirty="0"/>
          </a:p>
        </p:txBody>
      </p:sp>
      <p:sp>
        <p:nvSpPr>
          <p:cNvPr id="16" name="Shape 14"/>
          <p:cNvSpPr/>
          <p:nvPr/>
        </p:nvSpPr>
        <p:spPr>
          <a:xfrm>
            <a:off x="7498080" y="1874520"/>
            <a:ext cx="3931920" cy="3657600"/>
          </a:xfrm>
          <a:prstGeom prst="roundRect">
            <a:avLst>
              <a:gd name="adj" fmla="val 4000"/>
            </a:avLst>
          </a:prstGeom>
          <a:solidFill>
            <a:srgbClr val="142238"/>
          </a:solidFill>
          <a:ln w="12700">
            <a:solidFill>
              <a:srgbClr val="142238">
                <a:alpha val="0"/>
              </a:srgbClr>
            </a:solidFill>
            <a:prstDash val="solid"/>
          </a:ln>
        </p:spPr>
        <p:txBody>
          <a:bodyPr/>
          <a:lstStyle/>
          <a:p>
            <a:endParaRPr lang="en-SA"/>
          </a:p>
        </p:txBody>
      </p:sp>
      <p:sp>
        <p:nvSpPr>
          <p:cNvPr id="17" name="Shape 15"/>
          <p:cNvSpPr/>
          <p:nvPr/>
        </p:nvSpPr>
        <p:spPr>
          <a:xfrm>
            <a:off x="7726680" y="2130552"/>
            <a:ext cx="3474720" cy="502920"/>
          </a:xfrm>
          <a:prstGeom prst="roundRect">
            <a:avLst>
              <a:gd name="adj" fmla="val 29091"/>
            </a:avLst>
          </a:prstGeom>
          <a:solidFill>
            <a:srgbClr val="1B304B"/>
          </a:solidFill>
          <a:ln w="12700">
            <a:solidFill>
              <a:srgbClr val="1B304B">
                <a:alpha val="0"/>
              </a:srgbClr>
            </a:solidFill>
            <a:prstDash val="solid"/>
          </a:ln>
        </p:spPr>
        <p:txBody>
          <a:bodyPr/>
          <a:lstStyle/>
          <a:p>
            <a:endParaRPr lang="en-SA"/>
          </a:p>
        </p:txBody>
      </p:sp>
      <p:sp>
        <p:nvSpPr>
          <p:cNvPr id="18" name="Text 16"/>
          <p:cNvSpPr/>
          <p:nvPr/>
        </p:nvSpPr>
        <p:spPr>
          <a:xfrm>
            <a:off x="7900416" y="2231136"/>
            <a:ext cx="3108960" cy="347472"/>
          </a:xfrm>
          <a:prstGeom prst="rect">
            <a:avLst/>
          </a:prstGeom>
          <a:noFill/>
          <a:ln/>
        </p:spPr>
        <p:txBody>
          <a:bodyPr wrap="square" lIns="0" tIns="0" rIns="0" bIns="0" rtlCol="0" anchor="ctr"/>
          <a:lstStyle/>
          <a:p>
            <a:pPr marL="0" indent="0" algn="ctr">
              <a:buNone/>
            </a:pPr>
            <a:r>
              <a:rPr lang="en-US" sz="1660" b="1" dirty="0">
                <a:solidFill>
                  <a:srgbClr val="52D6C5"/>
                </a:solidFill>
                <a:latin typeface="Aptos" pitchFamily="34" charset="0"/>
                <a:ea typeface="Aptos" pitchFamily="34" charset="-122"/>
                <a:cs typeface="Aptos" pitchFamily="34" charset="-120"/>
              </a:rPr>
              <a:t>Business goal</a:t>
            </a:r>
            <a:endParaRPr lang="en-US" sz="1660" dirty="0"/>
          </a:p>
        </p:txBody>
      </p:sp>
      <p:sp>
        <p:nvSpPr>
          <p:cNvPr id="19" name="Shape 17"/>
          <p:cNvSpPr/>
          <p:nvPr/>
        </p:nvSpPr>
        <p:spPr>
          <a:xfrm>
            <a:off x="7726680" y="2770632"/>
            <a:ext cx="3474720" cy="502920"/>
          </a:xfrm>
          <a:prstGeom prst="roundRect">
            <a:avLst>
              <a:gd name="adj" fmla="val 29091"/>
            </a:avLst>
          </a:prstGeom>
          <a:solidFill>
            <a:srgbClr val="142238"/>
          </a:solidFill>
          <a:ln w="12700">
            <a:solidFill>
              <a:srgbClr val="142238">
                <a:alpha val="0"/>
              </a:srgbClr>
            </a:solidFill>
            <a:prstDash val="solid"/>
          </a:ln>
        </p:spPr>
        <p:txBody>
          <a:bodyPr/>
          <a:lstStyle/>
          <a:p>
            <a:endParaRPr lang="en-SA"/>
          </a:p>
        </p:txBody>
      </p:sp>
      <p:sp>
        <p:nvSpPr>
          <p:cNvPr id="20" name="Text 18"/>
          <p:cNvSpPr/>
          <p:nvPr/>
        </p:nvSpPr>
        <p:spPr>
          <a:xfrm>
            <a:off x="7900416" y="2871216"/>
            <a:ext cx="3108960" cy="34747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Data &amp; features</a:t>
            </a:r>
            <a:endParaRPr lang="en-US" sz="1660" dirty="0"/>
          </a:p>
        </p:txBody>
      </p:sp>
      <p:sp>
        <p:nvSpPr>
          <p:cNvPr id="21" name="Shape 19"/>
          <p:cNvSpPr/>
          <p:nvPr/>
        </p:nvSpPr>
        <p:spPr>
          <a:xfrm>
            <a:off x="7726680" y="3410712"/>
            <a:ext cx="3474720" cy="502920"/>
          </a:xfrm>
          <a:prstGeom prst="roundRect">
            <a:avLst>
              <a:gd name="adj" fmla="val 29091"/>
            </a:avLst>
          </a:prstGeom>
          <a:solidFill>
            <a:srgbClr val="1B304B"/>
          </a:solidFill>
          <a:ln w="12700">
            <a:solidFill>
              <a:srgbClr val="1B304B">
                <a:alpha val="0"/>
              </a:srgbClr>
            </a:solidFill>
            <a:prstDash val="solid"/>
          </a:ln>
        </p:spPr>
        <p:txBody>
          <a:bodyPr/>
          <a:lstStyle/>
          <a:p>
            <a:endParaRPr lang="en-SA"/>
          </a:p>
        </p:txBody>
      </p:sp>
      <p:sp>
        <p:nvSpPr>
          <p:cNvPr id="22" name="Text 20"/>
          <p:cNvSpPr/>
          <p:nvPr/>
        </p:nvSpPr>
        <p:spPr>
          <a:xfrm>
            <a:off x="7900416" y="3511296"/>
            <a:ext cx="3108960" cy="34747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Model and serving</a:t>
            </a:r>
            <a:endParaRPr lang="en-US" sz="1660" dirty="0"/>
          </a:p>
        </p:txBody>
      </p:sp>
      <p:sp>
        <p:nvSpPr>
          <p:cNvPr id="23" name="Shape 21"/>
          <p:cNvSpPr/>
          <p:nvPr/>
        </p:nvSpPr>
        <p:spPr>
          <a:xfrm>
            <a:off x="7726680" y="4050792"/>
            <a:ext cx="3474720" cy="502920"/>
          </a:xfrm>
          <a:prstGeom prst="roundRect">
            <a:avLst>
              <a:gd name="adj" fmla="val 29091"/>
            </a:avLst>
          </a:prstGeom>
          <a:solidFill>
            <a:srgbClr val="142238"/>
          </a:solidFill>
          <a:ln w="12700">
            <a:solidFill>
              <a:srgbClr val="142238">
                <a:alpha val="0"/>
              </a:srgbClr>
            </a:solidFill>
            <a:prstDash val="solid"/>
          </a:ln>
        </p:spPr>
        <p:txBody>
          <a:bodyPr/>
          <a:lstStyle/>
          <a:p>
            <a:endParaRPr lang="en-SA"/>
          </a:p>
        </p:txBody>
      </p:sp>
      <p:sp>
        <p:nvSpPr>
          <p:cNvPr id="24" name="Text 22"/>
          <p:cNvSpPr/>
          <p:nvPr/>
        </p:nvSpPr>
        <p:spPr>
          <a:xfrm>
            <a:off x="7900416" y="4151376"/>
            <a:ext cx="3108960" cy="34747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User outcomes</a:t>
            </a:r>
            <a:endParaRPr lang="en-US" sz="1660" dirty="0"/>
          </a:p>
        </p:txBody>
      </p:sp>
      <p:sp>
        <p:nvSpPr>
          <p:cNvPr id="25" name="Shape 23"/>
          <p:cNvSpPr/>
          <p:nvPr/>
        </p:nvSpPr>
        <p:spPr>
          <a:xfrm>
            <a:off x="7726680" y="4690872"/>
            <a:ext cx="3474720" cy="502920"/>
          </a:xfrm>
          <a:prstGeom prst="roundRect">
            <a:avLst>
              <a:gd name="adj" fmla="val 29091"/>
            </a:avLst>
          </a:prstGeom>
          <a:solidFill>
            <a:srgbClr val="1B304B"/>
          </a:solidFill>
          <a:ln w="12700">
            <a:solidFill>
              <a:srgbClr val="1B304B">
                <a:alpha val="0"/>
              </a:srgbClr>
            </a:solidFill>
            <a:prstDash val="solid"/>
          </a:ln>
        </p:spPr>
        <p:txBody>
          <a:bodyPr/>
          <a:lstStyle/>
          <a:p>
            <a:endParaRPr lang="en-SA"/>
          </a:p>
        </p:txBody>
      </p:sp>
      <p:sp>
        <p:nvSpPr>
          <p:cNvPr id="26" name="Text 24"/>
          <p:cNvSpPr/>
          <p:nvPr/>
        </p:nvSpPr>
        <p:spPr>
          <a:xfrm>
            <a:off x="7900416" y="4791456"/>
            <a:ext cx="3108960" cy="34747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Monitoring loop</a:t>
            </a:r>
            <a:endParaRPr lang="en-US" sz="1660" dirty="0"/>
          </a:p>
        </p:txBody>
      </p:sp>
      <p:sp>
        <p:nvSpPr>
          <p:cNvPr id="33" name="Text 13">
            <a:extLst>
              <a:ext uri="{FF2B5EF4-FFF2-40B4-BE49-F238E27FC236}">
                <a16:creationId xmlns:a16="http://schemas.microsoft.com/office/drawing/2014/main" id="{C3354C64-00BF-988B-96D1-0E8E048A16EF}"/>
              </a:ext>
            </a:extLst>
          </p:cNvPr>
          <p:cNvSpPr/>
          <p:nvPr/>
        </p:nvSpPr>
        <p:spPr>
          <a:xfrm>
            <a:off x="841248" y="5695898"/>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Improve the system</a:t>
            </a:r>
          </a:p>
          <a:p>
            <a:pPr marL="0" indent="0">
              <a:buNone/>
            </a:pPr>
            <a:r>
              <a:rPr lang="en-GB" sz="1720" dirty="0">
                <a:solidFill>
                  <a:srgbClr val="BAC8D8"/>
                </a:solidFill>
                <a:latin typeface="Aptos" pitchFamily="34" charset="0"/>
                <a:ea typeface="Aptos" pitchFamily="34" charset="-122"/>
                <a:cs typeface="Aptos" pitchFamily="34" charset="-120"/>
              </a:rPr>
              <a:t> Use new results to update the data and model.</a:t>
            </a:r>
            <a:endParaRPr lang="en-US" sz="1720" dirty="0"/>
          </a:p>
        </p:txBody>
      </p:sp>
      <p:sp>
        <p:nvSpPr>
          <p:cNvPr id="34" name="Shape 12">
            <a:extLst>
              <a:ext uri="{FF2B5EF4-FFF2-40B4-BE49-F238E27FC236}">
                <a16:creationId xmlns:a16="http://schemas.microsoft.com/office/drawing/2014/main" id="{98F69181-0D81-038D-1EBA-69752A97C350}"/>
              </a:ext>
            </a:extLst>
          </p:cNvPr>
          <p:cNvSpPr/>
          <p:nvPr/>
        </p:nvSpPr>
        <p:spPr>
          <a:xfrm>
            <a:off x="603504" y="589362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35" name="Text 13">
            <a:extLst>
              <a:ext uri="{FF2B5EF4-FFF2-40B4-BE49-F238E27FC236}">
                <a16:creationId xmlns:a16="http://schemas.microsoft.com/office/drawing/2014/main" id="{E2CDB08C-1AF7-C45D-1BEB-AE3C7863CBD4}"/>
              </a:ext>
            </a:extLst>
          </p:cNvPr>
          <p:cNvSpPr/>
          <p:nvPr/>
        </p:nvSpPr>
        <p:spPr>
          <a:xfrm>
            <a:off x="5473567" y="6169376"/>
            <a:ext cx="6400800" cy="740664"/>
          </a:xfrm>
          <a:prstGeom prst="rect">
            <a:avLst/>
          </a:prstGeom>
          <a:noFill/>
          <a:ln/>
        </p:spPr>
        <p:txBody>
          <a:bodyPr wrap="square" lIns="0" tIns="0" rIns="0" bIns="0" rtlCol="0" anchor="ctr"/>
          <a:lstStyle/>
          <a:p>
            <a:pPr marL="0" indent="0">
              <a:buNone/>
            </a:pPr>
            <a:r>
              <a:rPr lang="en-GB" sz="1720" dirty="0">
                <a:solidFill>
                  <a:srgbClr val="4AC1B4"/>
                </a:solidFill>
                <a:latin typeface="Aptos" pitchFamily="34" charset="0"/>
                <a:ea typeface="Aptos" pitchFamily="34" charset="-122"/>
                <a:cs typeface="Aptos" pitchFamily="34" charset="-120"/>
              </a:rPr>
              <a:t>Privacy and system monitoring apply throughout the process.</a:t>
            </a:r>
            <a:endParaRPr lang="en-US" sz="1720" dirty="0">
              <a:solidFill>
                <a:srgbClr val="4AC1B4"/>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Research vs. Production ML</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86754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640080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Research: demonstrate a method under controlled experimental conditions</a:t>
            </a:r>
            <a:endParaRPr lang="en-US" sz="1720" dirty="0"/>
          </a:p>
        </p:txBody>
      </p:sp>
      <p:sp>
        <p:nvSpPr>
          <p:cNvPr id="8" name="Shape 6"/>
          <p:cNvSpPr/>
          <p:nvPr/>
        </p:nvSpPr>
        <p:spPr>
          <a:xfrm>
            <a:off x="603504" y="268135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Production: deliver value under latency, reliability, cost, and policy constraints</a:t>
            </a:r>
            <a:endParaRPr lang="en-US" sz="1720" dirty="0"/>
          </a:p>
        </p:txBody>
      </p:sp>
      <p:sp>
        <p:nvSpPr>
          <p:cNvPr id="10" name="Shape 8"/>
          <p:cNvSpPr/>
          <p:nvPr/>
        </p:nvSpPr>
        <p:spPr>
          <a:xfrm>
            <a:off x="603504" y="345667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Research datasets are often relatively fixed; production inputs evolve</a:t>
            </a:r>
            <a:endParaRPr lang="en-US" sz="1720" dirty="0"/>
          </a:p>
        </p:txBody>
      </p:sp>
      <p:sp>
        <p:nvSpPr>
          <p:cNvPr id="12" name="Shape 10"/>
          <p:cNvSpPr/>
          <p:nvPr/>
        </p:nvSpPr>
        <p:spPr>
          <a:xfrm>
            <a:off x="603504" y="4414869"/>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204938"/>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Offline metrics are useful, but deployment can change the operating conditions and real-world performance of a model.</a:t>
            </a:r>
            <a:endParaRPr lang="en-US" sz="1720" dirty="0"/>
          </a:p>
        </p:txBody>
      </p:sp>
      <p:sp>
        <p:nvSpPr>
          <p:cNvPr id="16" name="Shape 14"/>
          <p:cNvSpPr/>
          <p:nvPr/>
        </p:nvSpPr>
        <p:spPr>
          <a:xfrm>
            <a:off x="7498080" y="1874520"/>
            <a:ext cx="3931920" cy="3657600"/>
          </a:xfrm>
          <a:prstGeom prst="roundRect">
            <a:avLst>
              <a:gd name="adj" fmla="val 4000"/>
            </a:avLst>
          </a:prstGeom>
          <a:solidFill>
            <a:srgbClr val="142238"/>
          </a:solidFill>
          <a:ln w="12700">
            <a:solidFill>
              <a:srgbClr val="142238">
                <a:alpha val="0"/>
              </a:srgbClr>
            </a:solidFill>
            <a:prstDash val="solid"/>
          </a:ln>
        </p:spPr>
        <p:txBody>
          <a:bodyPr/>
          <a:lstStyle/>
          <a:p>
            <a:endParaRPr lang="en-SA"/>
          </a:p>
        </p:txBody>
      </p:sp>
      <p:sp>
        <p:nvSpPr>
          <p:cNvPr id="17" name="Shape 15"/>
          <p:cNvSpPr/>
          <p:nvPr/>
        </p:nvSpPr>
        <p:spPr>
          <a:xfrm>
            <a:off x="7726680" y="2130552"/>
            <a:ext cx="3474720" cy="929640"/>
          </a:xfrm>
          <a:prstGeom prst="roundRect">
            <a:avLst>
              <a:gd name="adj" fmla="val 15738"/>
            </a:avLst>
          </a:prstGeom>
          <a:solidFill>
            <a:srgbClr val="1B304B"/>
          </a:solidFill>
          <a:ln w="12700">
            <a:solidFill>
              <a:srgbClr val="1B304B">
                <a:alpha val="0"/>
              </a:srgbClr>
            </a:solidFill>
            <a:prstDash val="solid"/>
          </a:ln>
        </p:spPr>
        <p:txBody>
          <a:bodyPr/>
          <a:lstStyle/>
          <a:p>
            <a:endParaRPr lang="en-SA"/>
          </a:p>
        </p:txBody>
      </p:sp>
      <p:sp>
        <p:nvSpPr>
          <p:cNvPr id="18" name="Text 16"/>
          <p:cNvSpPr/>
          <p:nvPr/>
        </p:nvSpPr>
        <p:spPr>
          <a:xfrm>
            <a:off x="7900416" y="2231136"/>
            <a:ext cx="3108960" cy="774192"/>
          </a:xfrm>
          <a:prstGeom prst="rect">
            <a:avLst/>
          </a:prstGeom>
          <a:noFill/>
          <a:ln/>
        </p:spPr>
        <p:txBody>
          <a:bodyPr wrap="square" lIns="0" tIns="0" rIns="0" bIns="0" rtlCol="0" anchor="ctr"/>
          <a:lstStyle/>
          <a:p>
            <a:pPr marL="0" indent="0" algn="ctr">
              <a:buNone/>
            </a:pPr>
            <a:r>
              <a:rPr lang="en-US" sz="1660" b="1" dirty="0">
                <a:solidFill>
                  <a:srgbClr val="52D6C5"/>
                </a:solidFill>
                <a:latin typeface="Aptos" pitchFamily="34" charset="0"/>
                <a:ea typeface="Aptos" pitchFamily="34" charset="-122"/>
                <a:cs typeface="Aptos" pitchFamily="34" charset="-120"/>
              </a:rPr>
              <a:t>OPTION A</a:t>
            </a:r>
            <a:endParaRPr lang="en-US" sz="1660" dirty="0"/>
          </a:p>
        </p:txBody>
      </p:sp>
      <p:sp>
        <p:nvSpPr>
          <p:cNvPr id="19" name="Shape 17"/>
          <p:cNvSpPr/>
          <p:nvPr/>
        </p:nvSpPr>
        <p:spPr>
          <a:xfrm>
            <a:off x="7726680" y="3197352"/>
            <a:ext cx="3474720" cy="929640"/>
          </a:xfrm>
          <a:prstGeom prst="roundRect">
            <a:avLst>
              <a:gd name="adj" fmla="val 15738"/>
            </a:avLst>
          </a:prstGeom>
          <a:solidFill>
            <a:srgbClr val="142238"/>
          </a:solidFill>
          <a:ln w="12700">
            <a:solidFill>
              <a:srgbClr val="142238">
                <a:alpha val="0"/>
              </a:srgbClr>
            </a:solidFill>
            <a:prstDash val="solid"/>
          </a:ln>
        </p:spPr>
        <p:txBody>
          <a:bodyPr/>
          <a:lstStyle/>
          <a:p>
            <a:endParaRPr lang="en-SA"/>
          </a:p>
        </p:txBody>
      </p:sp>
      <p:sp>
        <p:nvSpPr>
          <p:cNvPr id="20" name="Text 18"/>
          <p:cNvSpPr/>
          <p:nvPr/>
        </p:nvSpPr>
        <p:spPr>
          <a:xfrm>
            <a:off x="7900416" y="3297936"/>
            <a:ext cx="3108960" cy="77419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Trade-offs</a:t>
            </a:r>
            <a:endParaRPr lang="en-US" sz="1660" dirty="0"/>
          </a:p>
        </p:txBody>
      </p:sp>
      <p:sp>
        <p:nvSpPr>
          <p:cNvPr id="21" name="Shape 19"/>
          <p:cNvSpPr/>
          <p:nvPr/>
        </p:nvSpPr>
        <p:spPr>
          <a:xfrm>
            <a:off x="7726680" y="4264152"/>
            <a:ext cx="3474720" cy="929640"/>
          </a:xfrm>
          <a:prstGeom prst="roundRect">
            <a:avLst>
              <a:gd name="adj" fmla="val 15738"/>
            </a:avLst>
          </a:prstGeom>
          <a:solidFill>
            <a:srgbClr val="1B304B"/>
          </a:solidFill>
          <a:ln w="12700">
            <a:solidFill>
              <a:srgbClr val="1B304B">
                <a:alpha val="0"/>
              </a:srgbClr>
            </a:solidFill>
            <a:prstDash val="solid"/>
          </a:ln>
        </p:spPr>
        <p:txBody>
          <a:bodyPr/>
          <a:lstStyle/>
          <a:p>
            <a:endParaRPr lang="en-SA"/>
          </a:p>
        </p:txBody>
      </p:sp>
      <p:sp>
        <p:nvSpPr>
          <p:cNvPr id="22" name="Text 20"/>
          <p:cNvSpPr/>
          <p:nvPr/>
        </p:nvSpPr>
        <p:spPr>
          <a:xfrm>
            <a:off x="7900416" y="4364736"/>
            <a:ext cx="3108960" cy="77419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OPTION B</a:t>
            </a:r>
            <a:endParaRPr lang="en-US" sz="1660" dirty="0"/>
          </a:p>
        </p:txBody>
      </p:sp>
      <p:sp>
        <p:nvSpPr>
          <p:cNvPr id="25" name="TextBox 24">
            <a:extLst>
              <a:ext uri="{FF2B5EF4-FFF2-40B4-BE49-F238E27FC236}">
                <a16:creationId xmlns:a16="http://schemas.microsoft.com/office/drawing/2014/main" id="{4A22B621-A49D-D918-8343-999B783FDC22}"/>
              </a:ext>
            </a:extLst>
          </p:cNvPr>
          <p:cNvSpPr txBox="1"/>
          <p:nvPr/>
        </p:nvSpPr>
        <p:spPr>
          <a:xfrm>
            <a:off x="277448" y="6031330"/>
            <a:ext cx="11826080" cy="369332"/>
          </a:xfrm>
          <a:prstGeom prst="rect">
            <a:avLst/>
          </a:prstGeom>
          <a:noFill/>
        </p:spPr>
        <p:txBody>
          <a:bodyPr wrap="square">
            <a:spAutoFit/>
          </a:bodyPr>
          <a:lstStyle/>
          <a:p>
            <a:r>
              <a:rPr lang="en-GB" b="1" dirty="0">
                <a:solidFill>
                  <a:srgbClr val="4AC1B4"/>
                </a:solidFill>
              </a:rPr>
              <a:t>In production, performance includes prediction quality, response time, availability, cost, and robustness—not just accuracy.</a:t>
            </a:r>
            <a:endParaRPr lang="en-GB" dirty="0">
              <a:solidFill>
                <a:srgbClr val="4AC1B4"/>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ML vs. Traditional Software</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92673"/>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GB" sz="1720" dirty="0">
                <a:solidFill>
                  <a:srgbClr val="F4F7FB"/>
                </a:solidFill>
                <a:latin typeface="Aptos" pitchFamily="34" charset="0"/>
                <a:ea typeface="Aptos" pitchFamily="34" charset="-122"/>
                <a:cs typeface="Aptos" pitchFamily="34" charset="-120"/>
              </a:rPr>
              <a:t>Traditional software uses explicitly coded rules to map inputs to outputs.</a:t>
            </a:r>
            <a:endParaRPr lang="en-US" sz="1720" dirty="0"/>
          </a:p>
        </p:txBody>
      </p:sp>
      <p:sp>
        <p:nvSpPr>
          <p:cNvPr id="8" name="Shape 6"/>
          <p:cNvSpPr/>
          <p:nvPr/>
        </p:nvSpPr>
        <p:spPr>
          <a:xfrm>
            <a:off x="603504" y="2806489"/>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Machine learning systems use parameters learned from examples to generate outputs.</a:t>
            </a:r>
            <a:endParaRPr lang="en-US" sz="1720" dirty="0"/>
          </a:p>
        </p:txBody>
      </p:sp>
      <p:sp>
        <p:nvSpPr>
          <p:cNvPr id="10" name="Shape 8"/>
          <p:cNvSpPr/>
          <p:nvPr/>
        </p:nvSpPr>
        <p:spPr>
          <a:xfrm>
            <a:off x="603504" y="3620305"/>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ML system </a:t>
            </a:r>
            <a:r>
              <a:rPr lang="en-GB" sz="1720" dirty="0" err="1">
                <a:solidFill>
                  <a:srgbClr val="BAC8D8"/>
                </a:solidFill>
                <a:latin typeface="Aptos" pitchFamily="34" charset="0"/>
                <a:ea typeface="Aptos" pitchFamily="34" charset="-122"/>
                <a:cs typeface="Aptos" pitchFamily="34" charset="-120"/>
              </a:rPr>
              <a:t>behavior</a:t>
            </a:r>
            <a:r>
              <a:rPr lang="en-GB" sz="1720" dirty="0">
                <a:solidFill>
                  <a:srgbClr val="BAC8D8"/>
                </a:solidFill>
                <a:latin typeface="Aptos" pitchFamily="34" charset="0"/>
                <a:ea typeface="Aptos" pitchFamily="34" charset="-122"/>
                <a:cs typeface="Aptos" pitchFamily="34" charset="-120"/>
              </a:rPr>
              <a:t> can change when code, training data, labels, or production inputs change.</a:t>
            </a:r>
            <a:endParaRPr lang="en-US" sz="1720" dirty="0"/>
          </a:p>
        </p:txBody>
      </p:sp>
      <p:sp>
        <p:nvSpPr>
          <p:cNvPr id="12" name="Shape 10"/>
          <p:cNvSpPr/>
          <p:nvPr/>
        </p:nvSpPr>
        <p:spPr>
          <a:xfrm>
            <a:off x="603504" y="4433637"/>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Testing should cover data quality, model performance, and system integration.</a:t>
            </a:r>
            <a:endParaRPr lang="en-US" sz="1720" dirty="0"/>
          </a:p>
        </p:txBody>
      </p:sp>
      <p:sp>
        <p:nvSpPr>
          <p:cNvPr id="14" name="Shape 12"/>
          <p:cNvSpPr/>
          <p:nvPr/>
        </p:nvSpPr>
        <p:spPr>
          <a:xfrm>
            <a:off x="603504" y="5232777"/>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Model and data lineage matter for reproducibility and rollback</a:t>
            </a:r>
            <a:endParaRPr lang="en-US" sz="17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Production Failure Modes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63799"/>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Training–serving skew: features differ between training and inference</a:t>
            </a:r>
            <a:endParaRPr lang="en-US" sz="1720" dirty="0"/>
          </a:p>
        </p:txBody>
      </p:sp>
      <p:sp>
        <p:nvSpPr>
          <p:cNvPr id="8" name="Shape 6"/>
          <p:cNvSpPr/>
          <p:nvPr/>
        </p:nvSpPr>
        <p:spPr>
          <a:xfrm>
            <a:off x="603504" y="2777615"/>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Data drift: incoming features change over time</a:t>
            </a:r>
            <a:endParaRPr lang="en-US" sz="1720" dirty="0"/>
          </a:p>
        </p:txBody>
      </p:sp>
      <p:sp>
        <p:nvSpPr>
          <p:cNvPr id="10" name="Shape 8"/>
          <p:cNvSpPr/>
          <p:nvPr/>
        </p:nvSpPr>
        <p:spPr>
          <a:xfrm>
            <a:off x="603504" y="3591431"/>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Concept drift: relationship between features and outcomes shifts</a:t>
            </a:r>
            <a:endParaRPr lang="en-US" sz="1720" dirty="0"/>
          </a:p>
        </p:txBody>
      </p:sp>
      <p:sp>
        <p:nvSpPr>
          <p:cNvPr id="12" name="Shape 10"/>
          <p:cNvSpPr/>
          <p:nvPr/>
        </p:nvSpPr>
        <p:spPr>
          <a:xfrm>
            <a:off x="603504" y="4405247"/>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Feedback loops: model decisions alter the data observed later</a:t>
            </a:r>
            <a:endParaRPr lang="en-US" sz="1720" dirty="0"/>
          </a:p>
        </p:txBody>
      </p:sp>
      <p:sp>
        <p:nvSpPr>
          <p:cNvPr id="14" name="Shape 12"/>
          <p:cNvSpPr/>
          <p:nvPr/>
        </p:nvSpPr>
        <p:spPr>
          <a:xfrm>
            <a:off x="603504" y="5219063"/>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Operational failures: unavailable services, delayed labels, missing features</a:t>
            </a:r>
            <a:endParaRPr lang="en-US" sz="17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16" name="Shape 14"/>
          <p:cNvSpPr/>
          <p:nvPr/>
        </p:nvSpPr>
        <p:spPr>
          <a:xfrm>
            <a:off x="594360" y="5870448"/>
            <a:ext cx="10945368" cy="438912"/>
          </a:xfrm>
          <a:prstGeom prst="roundRect">
            <a:avLst>
              <a:gd name="adj" fmla="val 33333"/>
            </a:avLst>
          </a:prstGeom>
          <a:solidFill>
            <a:srgbClr val="1B304B"/>
          </a:solidFill>
          <a:ln w="12700">
            <a:solidFill>
              <a:srgbClr val="1B304B">
                <a:alpha val="0"/>
              </a:srgbClr>
            </a:solidFill>
            <a:prstDash val="solid"/>
          </a:ln>
        </p:spPr>
        <p:txBody>
          <a:bodyPr/>
          <a:lstStyle/>
          <a:p>
            <a:endParaRPr lang="en-GB" dirty="0"/>
          </a:p>
        </p:txBody>
      </p:sp>
      <p:sp>
        <p:nvSpPr>
          <p:cNvPr id="17" name="Text 15"/>
          <p:cNvSpPr/>
          <p:nvPr/>
        </p:nvSpPr>
        <p:spPr>
          <a:xfrm>
            <a:off x="804672" y="5980176"/>
            <a:ext cx="10424160" cy="201168"/>
          </a:xfrm>
          <a:prstGeom prst="rect">
            <a:avLst/>
          </a:prstGeom>
          <a:noFill/>
          <a:ln/>
        </p:spPr>
        <p:txBody>
          <a:bodyPr wrap="square" lIns="0" tIns="0" rIns="0" bIns="0" rtlCol="0" anchor="ctr"/>
          <a:lstStyle/>
          <a:p>
            <a:pPr marL="0" indent="0">
              <a:buNone/>
            </a:pPr>
            <a:r>
              <a:rPr lang="en-US" sz="1140" i="1" dirty="0">
                <a:solidFill>
                  <a:srgbClr val="FFCC70"/>
                </a:solidFill>
                <a:latin typeface="Aptos" pitchFamily="34" charset="0"/>
                <a:ea typeface="Aptos" pitchFamily="34" charset="-122"/>
                <a:cs typeface="Aptos" pitchFamily="34" charset="-120"/>
              </a:rPr>
              <a:t>•  What could make an offline “best model” the worst deployment choice?</a:t>
            </a:r>
            <a:endParaRPr lang="en-US" sz="1140" dirty="0"/>
          </a:p>
        </p:txBody>
      </p:sp>
      <p:sp>
        <p:nvSpPr>
          <p:cNvPr id="21" name="TextBox 20">
            <a:extLst>
              <a:ext uri="{FF2B5EF4-FFF2-40B4-BE49-F238E27FC236}">
                <a16:creationId xmlns:a16="http://schemas.microsoft.com/office/drawing/2014/main" id="{C7519979-F870-AEEF-9BB0-FA0CF929117B}"/>
              </a:ext>
            </a:extLst>
          </p:cNvPr>
          <p:cNvSpPr txBox="1"/>
          <p:nvPr/>
        </p:nvSpPr>
        <p:spPr>
          <a:xfrm>
            <a:off x="1029903" y="2233062"/>
            <a:ext cx="10509825" cy="2554545"/>
          </a:xfrm>
          <a:prstGeom prst="rect">
            <a:avLst/>
          </a:prstGeom>
          <a:noFill/>
        </p:spPr>
        <p:txBody>
          <a:bodyPr wrap="square">
            <a:spAutoFit/>
          </a:bodyPr>
          <a:lstStyle/>
          <a:p>
            <a:r>
              <a:rPr lang="en-GB" sz="3200" b="1" dirty="0">
                <a:solidFill>
                  <a:srgbClr val="4AC1B4"/>
                </a:solidFill>
              </a:rPr>
              <a:t>To sum up the ideas we have discussed, we should start with a clear business decision and a simple baseline. We should treat the model as part of a complete system, plan for monitoring and corrective actions, and measure the system’s real-world value after deployment.</a:t>
            </a:r>
            <a:endParaRPr lang="en-GB" sz="3200" dirty="0">
              <a:solidFill>
                <a:srgbClr val="4AC1B4"/>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Design Begins with Objectives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7342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A model is a means; a measurable organizational outcome is the end</a:t>
            </a:r>
            <a:endParaRPr lang="en-US" sz="1720" dirty="0"/>
          </a:p>
        </p:txBody>
      </p:sp>
      <p:sp>
        <p:nvSpPr>
          <p:cNvPr id="8" name="Shape 6"/>
          <p:cNvSpPr/>
          <p:nvPr/>
        </p:nvSpPr>
        <p:spPr>
          <a:xfrm>
            <a:off x="603504" y="278723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Business objectives determine whether ML improvements are meaningful</a:t>
            </a:r>
            <a:endParaRPr lang="en-US" sz="1720" dirty="0"/>
          </a:p>
        </p:txBody>
      </p:sp>
      <p:sp>
        <p:nvSpPr>
          <p:cNvPr id="10" name="Shape 8"/>
          <p:cNvSpPr/>
          <p:nvPr/>
        </p:nvSpPr>
        <p:spPr>
          <a:xfrm>
            <a:off x="603504" y="360105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Stakeholders must agree on scope, constraints, and success criteria</a:t>
            </a:r>
            <a:endParaRPr lang="en-US" sz="1720" dirty="0"/>
          </a:p>
        </p:txBody>
      </p:sp>
      <p:sp>
        <p:nvSpPr>
          <p:cNvPr id="12" name="Shape 10"/>
          <p:cNvSpPr/>
          <p:nvPr/>
        </p:nvSpPr>
        <p:spPr>
          <a:xfrm>
            <a:off x="603504" y="441486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Operational measures and model metrics should be linked by a hypothesis</a:t>
            </a:r>
            <a:endParaRPr lang="en-US" sz="1720" dirty="0"/>
          </a:p>
        </p:txBody>
      </p:sp>
      <p:sp>
        <p:nvSpPr>
          <p:cNvPr id="14" name="Shape 12"/>
          <p:cNvSpPr/>
          <p:nvPr/>
        </p:nvSpPr>
        <p:spPr>
          <a:xfrm>
            <a:off x="603504" y="522868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That hypothesis requires evidence, not only intuition</a:t>
            </a:r>
            <a:endParaRPr lang="en-US" sz="17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Business Metrics vs. ML Metrics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257981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7" y="2280228"/>
            <a:ext cx="9467674" cy="740664"/>
          </a:xfrm>
          <a:prstGeom prst="rect">
            <a:avLst/>
          </a:prstGeom>
          <a:noFill/>
          <a:ln/>
        </p:spPr>
        <p:txBody>
          <a:bodyPr wrap="square" lIns="0" tIns="0" rIns="0" bIns="0" rtlCol="0" anchor="ctr"/>
          <a:lstStyle/>
          <a:p>
            <a:r>
              <a:rPr lang="en-US" sz="1720" dirty="0">
                <a:solidFill>
                  <a:srgbClr val="F4F7FB"/>
                </a:solidFill>
                <a:latin typeface="Aptos" pitchFamily="34" charset="0"/>
                <a:ea typeface="Aptos" pitchFamily="34" charset="-122"/>
                <a:cs typeface="Aptos" pitchFamily="34" charset="-120"/>
              </a:rPr>
              <a:t>Business: conversion, revenue, retention.</a:t>
            </a:r>
          </a:p>
          <a:p>
            <a:r>
              <a:rPr lang="en-US" sz="1720" dirty="0">
                <a:solidFill>
                  <a:srgbClr val="F4F7FB"/>
                </a:solidFill>
                <a:latin typeface="Aptos" pitchFamily="34" charset="0"/>
                <a:ea typeface="Aptos" pitchFamily="34" charset="-122"/>
                <a:cs typeface="Aptos" pitchFamily="34" charset="-120"/>
              </a:rPr>
              <a:t>what are conversion ….</a:t>
            </a:r>
          </a:p>
        </p:txBody>
      </p:sp>
      <p:sp>
        <p:nvSpPr>
          <p:cNvPr id="8" name="Shape 6"/>
          <p:cNvSpPr/>
          <p:nvPr/>
        </p:nvSpPr>
        <p:spPr>
          <a:xfrm>
            <a:off x="603504" y="3403251"/>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3094044"/>
            <a:ext cx="6400800" cy="740664"/>
          </a:xfrm>
          <a:prstGeom prst="rect">
            <a:avLst/>
          </a:prstGeom>
          <a:noFill/>
          <a:ln/>
        </p:spPr>
        <p:txBody>
          <a:bodyPr wrap="square" lIns="0" tIns="0" rIns="0" bIns="0" rtlCol="0" anchor="ctr"/>
          <a:lstStyle/>
          <a:p>
            <a:pPr marL="0" indent="0">
              <a:buNone/>
            </a:pPr>
            <a:r>
              <a:rPr lang="en-US" sz="1720" dirty="0" err="1">
                <a:solidFill>
                  <a:srgbClr val="BAC8D8"/>
                </a:solidFill>
                <a:latin typeface="Aptos" pitchFamily="34" charset="0"/>
                <a:ea typeface="Aptos" pitchFamily="34" charset="-122"/>
                <a:cs typeface="Aptos" pitchFamily="34" charset="-120"/>
              </a:rPr>
              <a:t>Ml</a:t>
            </a:r>
            <a:r>
              <a:rPr lang="en-US" sz="1720" dirty="0">
                <a:solidFill>
                  <a:srgbClr val="BAC8D8"/>
                </a:solidFill>
                <a:latin typeface="Aptos" pitchFamily="34" charset="0"/>
                <a:ea typeface="Aptos" pitchFamily="34" charset="-122"/>
                <a:cs typeface="Aptos" pitchFamily="34" charset="-120"/>
              </a:rPr>
              <a:t> metrics: </a:t>
            </a:r>
            <a:r>
              <a:rPr lang="en-GB" sz="1720" dirty="0">
                <a:solidFill>
                  <a:srgbClr val="BAC8D8"/>
                </a:solidFill>
                <a:latin typeface="Aptos" pitchFamily="34" charset="0"/>
                <a:ea typeface="Aptos" pitchFamily="34" charset="-122"/>
                <a:cs typeface="Aptos" pitchFamily="34" charset="-120"/>
              </a:rPr>
              <a:t>precision, recall, and ranking quality</a:t>
            </a:r>
            <a:endParaRPr lang="en-US" sz="1720" dirty="0"/>
          </a:p>
        </p:txBody>
      </p:sp>
      <p:sp>
        <p:nvSpPr>
          <p:cNvPr id="10" name="Shape 8"/>
          <p:cNvSpPr/>
          <p:nvPr/>
        </p:nvSpPr>
        <p:spPr>
          <a:xfrm>
            <a:off x="603504" y="422669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907860"/>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Better model scores do not always mean better business results.</a:t>
            </a:r>
            <a:endParaRPr lang="en-US" sz="1720" dirty="0"/>
          </a:p>
        </p:txBody>
      </p:sp>
      <p:sp>
        <p:nvSpPr>
          <p:cNvPr id="12" name="Shape 10"/>
          <p:cNvSpPr/>
          <p:nvPr/>
        </p:nvSpPr>
        <p:spPr>
          <a:xfrm>
            <a:off x="603504" y="502125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721676"/>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Clicks may increase while purchases decrease; define success metrics before testing.</a:t>
            </a:r>
            <a:endParaRPr lang="en-US" sz="17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GB" sz="2900" b="1" dirty="0">
                <a:solidFill>
                  <a:srgbClr val="F4F7FB"/>
                </a:solidFill>
                <a:latin typeface="Aptos" pitchFamily="34" charset="0"/>
                <a:ea typeface="Aptos" pitchFamily="34" charset="-122"/>
                <a:cs typeface="Aptos" pitchFamily="34" charset="-120"/>
              </a:rPr>
              <a:t>How Model Changes Affect Business Results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6379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6400800" cy="740664"/>
          </a:xfrm>
          <a:prstGeom prst="rect">
            <a:avLst/>
          </a:prstGeom>
          <a:noFill/>
          <a:ln/>
        </p:spPr>
        <p:txBody>
          <a:bodyPr wrap="square" lIns="0" tIns="0" rIns="0" bIns="0" rtlCol="0" anchor="ctr"/>
          <a:lstStyle/>
          <a:p>
            <a:pPr marL="0" indent="0">
              <a:buNone/>
            </a:pPr>
            <a:r>
              <a:rPr lang="en-GB" sz="1720" dirty="0">
                <a:solidFill>
                  <a:srgbClr val="F4F7FB"/>
                </a:solidFill>
                <a:latin typeface="Aptos" pitchFamily="34" charset="0"/>
                <a:ea typeface="Aptos" pitchFamily="34" charset="-122"/>
                <a:cs typeface="Aptos" pitchFamily="34" charset="-120"/>
              </a:rPr>
              <a:t>A better model may change the recommendations users see.</a:t>
            </a:r>
            <a:endParaRPr lang="en-US" sz="1720" dirty="0"/>
          </a:p>
        </p:txBody>
      </p:sp>
      <p:sp>
        <p:nvSpPr>
          <p:cNvPr id="8" name="Shape 6"/>
          <p:cNvSpPr/>
          <p:nvPr/>
        </p:nvSpPr>
        <p:spPr>
          <a:xfrm>
            <a:off x="603504" y="277760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These recommendations may influence user actions, such as clicks or purchases.</a:t>
            </a:r>
            <a:endParaRPr lang="en-US" sz="1720" dirty="0"/>
          </a:p>
        </p:txBody>
      </p:sp>
      <p:sp>
        <p:nvSpPr>
          <p:cNvPr id="10" name="Shape 8"/>
          <p:cNvSpPr/>
          <p:nvPr/>
        </p:nvSpPr>
        <p:spPr>
          <a:xfrm>
            <a:off x="603504" y="359142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 Measure whether these changes improve business results.</a:t>
            </a:r>
            <a:endParaRPr lang="en-US" sz="1720" dirty="0"/>
          </a:p>
        </p:txBody>
      </p:sp>
      <p:sp>
        <p:nvSpPr>
          <p:cNvPr id="12" name="Shape 10"/>
          <p:cNvSpPr/>
          <p:nvPr/>
        </p:nvSpPr>
        <p:spPr>
          <a:xfrm>
            <a:off x="603504" y="440524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6400800" cy="740664"/>
          </a:xfrm>
          <a:prstGeom prst="rect">
            <a:avLst/>
          </a:prstGeom>
          <a:noFill/>
          <a:ln/>
        </p:spPr>
        <p:txBody>
          <a:bodyPr wrap="square" lIns="0" tIns="0" rIns="0" bIns="0" rtlCol="0" anchor="ctr"/>
          <a:lstStyle/>
          <a:p>
            <a:r>
              <a:rPr lang="en-GB" sz="1720" dirty="0">
                <a:solidFill>
                  <a:srgbClr val="BAC8D8"/>
                </a:solidFill>
                <a:latin typeface="Aptos" pitchFamily="34" charset="0"/>
                <a:ea typeface="Aptos" pitchFamily="34" charset="-122"/>
                <a:cs typeface="Aptos" pitchFamily="34" charset="-120"/>
              </a:rPr>
              <a:t>Other factors can affect the results, so define when and how to measure them.</a:t>
            </a:r>
            <a:endParaRPr lang="en-US" sz="1720" dirty="0"/>
          </a:p>
        </p:txBody>
      </p:sp>
      <p:graphicFrame>
        <p:nvGraphicFramePr>
          <p:cNvPr id="29" name="Diagram 28">
            <a:extLst>
              <a:ext uri="{FF2B5EF4-FFF2-40B4-BE49-F238E27FC236}">
                <a16:creationId xmlns:a16="http://schemas.microsoft.com/office/drawing/2014/main" id="{4D142B2B-8844-C354-CFC6-808EA6151672}"/>
              </a:ext>
            </a:extLst>
          </p:cNvPr>
          <p:cNvGraphicFramePr/>
          <p:nvPr>
            <p:extLst>
              <p:ext uri="{D42A27DB-BD31-4B8C-83A1-F6EECF244321}">
                <p14:modId xmlns:p14="http://schemas.microsoft.com/office/powerpoint/2010/main" val="3221629764"/>
              </p:ext>
            </p:extLst>
          </p:nvPr>
        </p:nvGraphicFramePr>
        <p:xfrm>
          <a:off x="1126610" y="4846320"/>
          <a:ext cx="10077195" cy="18432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Netflix: Take-Rate as a Bridge Metric</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576072" y="200999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640080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Take-rate = quality plays / recommendations seen</a:t>
            </a:r>
            <a:endParaRPr lang="en-US" sz="1720" dirty="0"/>
          </a:p>
        </p:txBody>
      </p:sp>
      <p:sp>
        <p:nvSpPr>
          <p:cNvPr id="8" name="Shape 6"/>
          <p:cNvSpPr/>
          <p:nvPr/>
        </p:nvSpPr>
        <p:spPr>
          <a:xfrm>
            <a:off x="594119" y="276690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A higher take-rate suggests recommendations are acted on meaningfully</a:t>
            </a:r>
            <a:endParaRPr lang="en-US" sz="1720" dirty="0"/>
          </a:p>
        </p:txBody>
      </p:sp>
      <p:sp>
        <p:nvSpPr>
          <p:cNvPr id="10" name="Shape 8"/>
          <p:cNvSpPr/>
          <p:nvPr/>
        </p:nvSpPr>
        <p:spPr>
          <a:xfrm>
            <a:off x="583532" y="363931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The case relates take-rate to streaming hours and cancellation rates</a:t>
            </a:r>
            <a:endParaRPr lang="en-US" sz="1720" dirty="0"/>
          </a:p>
        </p:txBody>
      </p:sp>
      <p:sp>
        <p:nvSpPr>
          <p:cNvPr id="12" name="Shape 10"/>
          <p:cNvSpPr/>
          <p:nvPr/>
        </p:nvSpPr>
        <p:spPr>
          <a:xfrm>
            <a:off x="603504" y="4424493"/>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Metric definitions, denominators, and time windows matter</a:t>
            </a:r>
            <a:endParaRPr lang="en-US" sz="1720" dirty="0"/>
          </a:p>
        </p:txBody>
      </p:sp>
      <p:sp>
        <p:nvSpPr>
          <p:cNvPr id="14" name="Shape 12"/>
          <p:cNvSpPr/>
          <p:nvPr/>
        </p:nvSpPr>
        <p:spPr>
          <a:xfrm>
            <a:off x="603504" y="519018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Association does not automatically identify the complete causal mechanism</a:t>
            </a:r>
            <a:endParaRPr lang="en-US" sz="1720" dirty="0"/>
          </a:p>
        </p:txBody>
      </p:sp>
      <p:sp>
        <p:nvSpPr>
          <p:cNvPr id="18" name="Text 16"/>
          <p:cNvSpPr/>
          <p:nvPr/>
        </p:nvSpPr>
        <p:spPr>
          <a:xfrm>
            <a:off x="7735775" y="3851910"/>
            <a:ext cx="1847506" cy="507492"/>
          </a:xfrm>
          <a:prstGeom prst="rect">
            <a:avLst/>
          </a:prstGeom>
          <a:noFill/>
          <a:ln/>
        </p:spPr>
        <p:txBody>
          <a:bodyPr wrap="square" lIns="0" tIns="0" rIns="0" bIns="0" rtlCol="0" anchor="ctr"/>
          <a:lstStyle/>
          <a:p>
            <a:pPr marL="0" indent="0" algn="ctr">
              <a:buNone/>
            </a:pPr>
            <a:r>
              <a:rPr lang="en-US" sz="1900" b="1" dirty="0">
                <a:solidFill>
                  <a:srgbClr val="52D6C5"/>
                </a:solidFill>
                <a:latin typeface="Aptos" pitchFamily="34" charset="0"/>
                <a:ea typeface="Aptos" pitchFamily="34" charset="-122"/>
                <a:cs typeface="Aptos" pitchFamily="34" charset="-120"/>
              </a:rPr>
              <a:t>TAKE-RATE =</a:t>
            </a:r>
            <a:endParaRPr lang="en-US" sz="1900" dirty="0"/>
          </a:p>
        </p:txBody>
      </p:sp>
      <p:sp>
        <p:nvSpPr>
          <p:cNvPr id="20" name="Text 18"/>
          <p:cNvSpPr/>
          <p:nvPr/>
        </p:nvSpPr>
        <p:spPr>
          <a:xfrm>
            <a:off x="8659528" y="3526336"/>
            <a:ext cx="3108960" cy="507492"/>
          </a:xfrm>
          <a:prstGeom prst="rect">
            <a:avLst/>
          </a:prstGeom>
          <a:noFill/>
          <a:ln/>
        </p:spPr>
        <p:txBody>
          <a:bodyPr wrap="square" lIns="0" tIns="0" rIns="0" bIns="0" rtlCol="0" anchor="ctr"/>
          <a:lstStyle/>
          <a:p>
            <a:pPr marL="0" indent="0" algn="ctr">
              <a:buNone/>
            </a:pPr>
            <a:r>
              <a:rPr lang="en-US" sz="1900" b="1" dirty="0">
                <a:solidFill>
                  <a:srgbClr val="F4F7FB"/>
                </a:solidFill>
                <a:latin typeface="Aptos" pitchFamily="34" charset="0"/>
                <a:ea typeface="Aptos" pitchFamily="34" charset="-122"/>
                <a:cs typeface="Aptos" pitchFamily="34" charset="-120"/>
              </a:rPr>
              <a:t>Quality plays</a:t>
            </a:r>
            <a:endParaRPr lang="en-US" sz="1900" dirty="0"/>
          </a:p>
        </p:txBody>
      </p:sp>
      <p:sp>
        <p:nvSpPr>
          <p:cNvPr id="22" name="Text 20"/>
          <p:cNvSpPr/>
          <p:nvPr/>
        </p:nvSpPr>
        <p:spPr>
          <a:xfrm>
            <a:off x="8659528" y="3842164"/>
            <a:ext cx="3108960" cy="507492"/>
          </a:xfrm>
          <a:prstGeom prst="rect">
            <a:avLst/>
          </a:prstGeom>
          <a:noFill/>
          <a:ln/>
        </p:spPr>
        <p:txBody>
          <a:bodyPr wrap="square" lIns="0" tIns="0" rIns="0" bIns="0" rtlCol="0" anchor="ctr"/>
          <a:lstStyle/>
          <a:p>
            <a:pPr marL="0" indent="0" algn="ctr">
              <a:buNone/>
            </a:pPr>
            <a:r>
              <a:rPr lang="en-US" sz="1900" b="1" dirty="0">
                <a:solidFill>
                  <a:srgbClr val="F4F7FB"/>
                </a:solidFill>
                <a:latin typeface="Aptos" pitchFamily="34" charset="0"/>
                <a:ea typeface="Aptos" pitchFamily="34" charset="-122"/>
                <a:cs typeface="Aptos" pitchFamily="34" charset="-120"/>
              </a:rPr>
              <a:t>────────────</a:t>
            </a:r>
            <a:endParaRPr lang="en-US" sz="1900" dirty="0"/>
          </a:p>
        </p:txBody>
      </p:sp>
      <p:sp>
        <p:nvSpPr>
          <p:cNvPr id="24" name="Text 22"/>
          <p:cNvSpPr/>
          <p:nvPr/>
        </p:nvSpPr>
        <p:spPr>
          <a:xfrm>
            <a:off x="8659528" y="4216467"/>
            <a:ext cx="3108960" cy="507492"/>
          </a:xfrm>
          <a:prstGeom prst="rect">
            <a:avLst/>
          </a:prstGeom>
          <a:noFill/>
          <a:ln/>
        </p:spPr>
        <p:txBody>
          <a:bodyPr wrap="square" lIns="0" tIns="0" rIns="0" bIns="0" rtlCol="0" anchor="ctr"/>
          <a:lstStyle/>
          <a:p>
            <a:pPr marL="0" indent="0" algn="ctr">
              <a:buNone/>
            </a:pPr>
            <a:r>
              <a:rPr lang="en-US" sz="1900" b="1" dirty="0">
                <a:solidFill>
                  <a:srgbClr val="F4F7FB"/>
                </a:solidFill>
                <a:latin typeface="Aptos" pitchFamily="34" charset="0"/>
                <a:ea typeface="Aptos" pitchFamily="34" charset="-122"/>
                <a:cs typeface="Aptos" pitchFamily="34" charset="-120"/>
              </a:rPr>
              <a:t>Recommendations seen</a:t>
            </a:r>
            <a:endParaRPr lang="en-US" sz="1900" dirty="0"/>
          </a:p>
        </p:txBody>
      </p:sp>
      <p:sp>
        <p:nvSpPr>
          <p:cNvPr id="27" name="Text 16">
            <a:extLst>
              <a:ext uri="{FF2B5EF4-FFF2-40B4-BE49-F238E27FC236}">
                <a16:creationId xmlns:a16="http://schemas.microsoft.com/office/drawing/2014/main" id="{8D633630-EAB7-198D-6099-53AA08792291}"/>
              </a:ext>
            </a:extLst>
          </p:cNvPr>
          <p:cNvSpPr/>
          <p:nvPr/>
        </p:nvSpPr>
        <p:spPr>
          <a:xfrm>
            <a:off x="10551952" y="3823636"/>
            <a:ext cx="1847506" cy="507492"/>
          </a:xfrm>
          <a:prstGeom prst="rect">
            <a:avLst/>
          </a:prstGeom>
          <a:noFill/>
          <a:ln/>
        </p:spPr>
        <p:txBody>
          <a:bodyPr wrap="square" lIns="0" tIns="0" rIns="0" bIns="0" rtlCol="0" anchor="ctr"/>
          <a:lstStyle/>
          <a:p>
            <a:pPr marL="0" indent="0" algn="ctr">
              <a:buNone/>
            </a:pPr>
            <a:r>
              <a:rPr lang="en-US" sz="1900" b="1" dirty="0">
                <a:solidFill>
                  <a:schemeClr val="bg1"/>
                </a:solidFill>
                <a:latin typeface="Aptos" pitchFamily="34" charset="0"/>
                <a:ea typeface="Aptos" pitchFamily="34" charset="-122"/>
                <a:cs typeface="Aptos" pitchFamily="34" charset="-120"/>
              </a:rPr>
              <a:t>×100%</a:t>
            </a:r>
            <a:endParaRPr lang="en-US" sz="1900" dirty="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Designing an A/B Test</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83043"/>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Randomly assign eligible users to control and treatment</a:t>
            </a:r>
            <a:endParaRPr lang="en-US" sz="1720" dirty="0"/>
          </a:p>
        </p:txBody>
      </p:sp>
      <p:sp>
        <p:nvSpPr>
          <p:cNvPr id="8" name="Shape 6"/>
          <p:cNvSpPr/>
          <p:nvPr/>
        </p:nvSpPr>
        <p:spPr>
          <a:xfrm>
            <a:off x="603504" y="277761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Hold assignment stable and avoid contamination where possible</a:t>
            </a:r>
            <a:endParaRPr lang="en-US" sz="1720" dirty="0"/>
          </a:p>
        </p:txBody>
      </p:sp>
      <p:sp>
        <p:nvSpPr>
          <p:cNvPr id="10" name="Shape 8"/>
          <p:cNvSpPr/>
          <p:nvPr/>
        </p:nvSpPr>
        <p:spPr>
          <a:xfrm>
            <a:off x="603504" y="359142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Primary outcome: purchase-through rate or revenue per user</a:t>
            </a:r>
            <a:endParaRPr lang="en-US" sz="1720" dirty="0"/>
          </a:p>
        </p:txBody>
      </p:sp>
      <p:sp>
        <p:nvSpPr>
          <p:cNvPr id="12" name="Shape 10"/>
          <p:cNvSpPr/>
          <p:nvPr/>
        </p:nvSpPr>
        <p:spPr>
          <a:xfrm>
            <a:off x="603504" y="440524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Guardrails: latency, complaints, refunds, and cancellation</a:t>
            </a:r>
            <a:endParaRPr lang="en-US" sz="1720" dirty="0"/>
          </a:p>
        </p:txBody>
      </p:sp>
      <p:sp>
        <p:nvSpPr>
          <p:cNvPr id="14" name="Shape 12"/>
          <p:cNvSpPr/>
          <p:nvPr/>
        </p:nvSpPr>
        <p:spPr>
          <a:xfrm>
            <a:off x="603504" y="521905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Plan sample size, exposure, duration, and decision rule in advance</a:t>
            </a:r>
            <a:endParaRPr lang="en-US" sz="17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Why A/B Tests Still Have Limits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7341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Attribution is difficult when ML is one stage in a larger workflow</a:t>
            </a:r>
            <a:endParaRPr lang="en-US" sz="1720" dirty="0"/>
          </a:p>
        </p:txBody>
      </p:sp>
      <p:sp>
        <p:nvSpPr>
          <p:cNvPr id="8" name="Shape 6"/>
          <p:cNvSpPr/>
          <p:nvPr/>
        </p:nvSpPr>
        <p:spPr>
          <a:xfrm>
            <a:off x="603504" y="278723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Effects may be delayed, heterogeneous, or masked by downstream processes</a:t>
            </a:r>
            <a:endParaRPr lang="en-US" sz="1720" dirty="0"/>
          </a:p>
        </p:txBody>
      </p:sp>
      <p:sp>
        <p:nvSpPr>
          <p:cNvPr id="10" name="Shape 8"/>
          <p:cNvSpPr/>
          <p:nvPr/>
        </p:nvSpPr>
        <p:spPr>
          <a:xfrm>
            <a:off x="603504" y="360105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Operational incidents and changing populations can confound results</a:t>
            </a:r>
            <a:endParaRPr lang="en-US" sz="1720" dirty="0"/>
          </a:p>
        </p:txBody>
      </p:sp>
      <p:sp>
        <p:nvSpPr>
          <p:cNvPr id="12" name="Shape 10"/>
          <p:cNvSpPr/>
          <p:nvPr/>
        </p:nvSpPr>
        <p:spPr>
          <a:xfrm>
            <a:off x="603504" y="441486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Experiments estimate outcomes under tested conditions, not all futures</a:t>
            </a:r>
            <a:r>
              <a:rPr lang="ar-SA" sz="1720" dirty="0">
                <a:solidFill>
                  <a:srgbClr val="BAC8D8"/>
                </a:solidFill>
                <a:latin typeface="Aptos" pitchFamily="34" charset="0"/>
                <a:ea typeface="Aptos" pitchFamily="34" charset="-122"/>
                <a:cs typeface="Aptos" pitchFamily="34" charset="-120"/>
              </a:rPr>
              <a:t> </a:t>
            </a:r>
            <a:r>
              <a:rPr lang="en-GB" sz="1720" dirty="0">
                <a:solidFill>
                  <a:srgbClr val="BAC8D8"/>
                </a:solidFill>
                <a:latin typeface="Aptos" pitchFamily="34" charset="0"/>
                <a:ea typeface="Aptos" pitchFamily="34" charset="-122"/>
                <a:cs typeface="Aptos" pitchFamily="34" charset="-120"/>
              </a:rPr>
              <a:t>conditions.</a:t>
            </a:r>
            <a:endParaRPr lang="en-US" sz="1720" dirty="0"/>
          </a:p>
        </p:txBody>
      </p:sp>
      <p:sp>
        <p:nvSpPr>
          <p:cNvPr id="14" name="Shape 12"/>
          <p:cNvSpPr/>
          <p:nvPr/>
        </p:nvSpPr>
        <p:spPr>
          <a:xfrm>
            <a:off x="603504" y="522868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Use telemetry and component-level diagnosis alongside experiments</a:t>
            </a:r>
            <a:endParaRPr lang="en-US" sz="17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Cybersecurity: A Multi-Stage ML Pipeline</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92671"/>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640080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ML detects anomalous network traffic</a:t>
            </a:r>
            <a:endParaRPr lang="en-US" sz="1720" dirty="0"/>
          </a:p>
        </p:txBody>
      </p:sp>
      <p:sp>
        <p:nvSpPr>
          <p:cNvPr id="8" name="Shape 6"/>
          <p:cNvSpPr/>
          <p:nvPr/>
        </p:nvSpPr>
        <p:spPr>
          <a:xfrm>
            <a:off x="603504" y="2806487"/>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Rule-based logic flags potential threats</a:t>
            </a:r>
            <a:endParaRPr lang="en-US" sz="1720" dirty="0"/>
          </a:p>
        </p:txBody>
      </p:sp>
      <p:sp>
        <p:nvSpPr>
          <p:cNvPr id="10" name="Shape 8"/>
          <p:cNvSpPr/>
          <p:nvPr/>
        </p:nvSpPr>
        <p:spPr>
          <a:xfrm>
            <a:off x="603504" y="3620303"/>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Security analysts determine which threats are credible</a:t>
            </a:r>
            <a:endParaRPr lang="en-US" sz="1720" dirty="0"/>
          </a:p>
        </p:txBody>
      </p:sp>
      <p:sp>
        <p:nvSpPr>
          <p:cNvPr id="12" name="Shape 10"/>
          <p:cNvSpPr/>
          <p:nvPr/>
        </p:nvSpPr>
        <p:spPr>
          <a:xfrm>
            <a:off x="603504" y="4434119"/>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Response processes attempt containment or mitigation</a:t>
            </a:r>
            <a:endParaRPr lang="en-US" sz="1720" dirty="0"/>
          </a:p>
        </p:txBody>
      </p:sp>
      <p:sp>
        <p:nvSpPr>
          <p:cNvPr id="14" name="Shape 12"/>
          <p:cNvSpPr/>
          <p:nvPr/>
        </p:nvSpPr>
        <p:spPr>
          <a:xfrm>
            <a:off x="603504" y="5247935"/>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A failed containment does not prove the ML detector failed</a:t>
            </a:r>
            <a:endParaRPr lang="en-US" sz="17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The Four Production Requirements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512064" y="1760221"/>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640080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Reliability: consistent, acceptable service under expected conditions for example, show popular items if the model endpoint fails.</a:t>
            </a:r>
            <a:endParaRPr lang="en-US" sz="1720" dirty="0"/>
          </a:p>
        </p:txBody>
      </p:sp>
      <p:sp>
        <p:nvSpPr>
          <p:cNvPr id="8" name="Shape 6"/>
          <p:cNvSpPr/>
          <p:nvPr/>
        </p:nvSpPr>
        <p:spPr>
          <a:xfrm>
            <a:off x="526021" y="3036289"/>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709026"/>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Scalability: handle growth in users, data, and throughput</a:t>
            </a:r>
            <a:endParaRPr lang="en-US" sz="1720" dirty="0"/>
          </a:p>
        </p:txBody>
      </p:sp>
      <p:sp>
        <p:nvSpPr>
          <p:cNvPr id="10" name="Shape 8"/>
          <p:cNvSpPr/>
          <p:nvPr/>
        </p:nvSpPr>
        <p:spPr>
          <a:xfrm>
            <a:off x="521208" y="3834587"/>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653028"/>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Maintainability: diagnose, modify, operate, and recover efficiently for example, failure procedures, reproducible pipelines</a:t>
            </a:r>
            <a:endParaRPr lang="en-US" sz="1720" dirty="0"/>
          </a:p>
        </p:txBody>
      </p:sp>
      <p:sp>
        <p:nvSpPr>
          <p:cNvPr id="12" name="Shape 10"/>
          <p:cNvSpPr/>
          <p:nvPr/>
        </p:nvSpPr>
        <p:spPr>
          <a:xfrm>
            <a:off x="514470" y="485888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652790"/>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Adaptability: respond to evolving data and requirements for example, monitor input data and prediction quality</a:t>
            </a:r>
            <a:endParaRPr lang="en-US" sz="1720" dirty="0"/>
          </a:p>
        </p:txBody>
      </p:sp>
      <p:sp>
        <p:nvSpPr>
          <p:cNvPr id="14" name="Shape 12"/>
          <p:cNvSpPr/>
          <p:nvPr/>
        </p:nvSpPr>
        <p:spPr>
          <a:xfrm>
            <a:off x="518321" y="5950575"/>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5631740"/>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The requirements create trade-offs, not a single maximization target</a:t>
            </a:r>
            <a:endParaRPr lang="en-US" sz="1720" dirty="0"/>
          </a:p>
        </p:txBody>
      </p:sp>
      <p:sp>
        <p:nvSpPr>
          <p:cNvPr id="16" name="Shape 14"/>
          <p:cNvSpPr/>
          <p:nvPr/>
        </p:nvSpPr>
        <p:spPr>
          <a:xfrm>
            <a:off x="7498080" y="1874520"/>
            <a:ext cx="3931920" cy="3657600"/>
          </a:xfrm>
          <a:prstGeom prst="roundRect">
            <a:avLst>
              <a:gd name="adj" fmla="val 4000"/>
            </a:avLst>
          </a:prstGeom>
          <a:solidFill>
            <a:srgbClr val="142238"/>
          </a:solidFill>
          <a:ln w="12700">
            <a:solidFill>
              <a:srgbClr val="142238">
                <a:alpha val="0"/>
              </a:srgbClr>
            </a:solidFill>
            <a:prstDash val="solid"/>
          </a:ln>
        </p:spPr>
        <p:txBody>
          <a:bodyPr/>
          <a:lstStyle/>
          <a:p>
            <a:endParaRPr lang="en-SA"/>
          </a:p>
        </p:txBody>
      </p:sp>
      <p:sp>
        <p:nvSpPr>
          <p:cNvPr id="17" name="Shape 15"/>
          <p:cNvSpPr/>
          <p:nvPr/>
        </p:nvSpPr>
        <p:spPr>
          <a:xfrm>
            <a:off x="7726680" y="2130552"/>
            <a:ext cx="3474720" cy="662940"/>
          </a:xfrm>
          <a:prstGeom prst="roundRect">
            <a:avLst>
              <a:gd name="adj" fmla="val 22069"/>
            </a:avLst>
          </a:prstGeom>
          <a:solidFill>
            <a:srgbClr val="1B304B"/>
          </a:solidFill>
          <a:ln w="12700">
            <a:solidFill>
              <a:srgbClr val="1B304B">
                <a:alpha val="0"/>
              </a:srgbClr>
            </a:solidFill>
            <a:prstDash val="solid"/>
          </a:ln>
        </p:spPr>
        <p:txBody>
          <a:bodyPr/>
          <a:lstStyle/>
          <a:p>
            <a:endParaRPr lang="en-SA"/>
          </a:p>
        </p:txBody>
      </p:sp>
      <p:sp>
        <p:nvSpPr>
          <p:cNvPr id="18" name="Text 16"/>
          <p:cNvSpPr/>
          <p:nvPr/>
        </p:nvSpPr>
        <p:spPr>
          <a:xfrm>
            <a:off x="7900416" y="2231136"/>
            <a:ext cx="3108960" cy="507492"/>
          </a:xfrm>
          <a:prstGeom prst="rect">
            <a:avLst/>
          </a:prstGeom>
          <a:noFill/>
          <a:ln/>
        </p:spPr>
        <p:txBody>
          <a:bodyPr wrap="square" lIns="0" tIns="0" rIns="0" bIns="0" rtlCol="0" anchor="ctr"/>
          <a:lstStyle/>
          <a:p>
            <a:pPr marL="0" indent="0" algn="ctr">
              <a:buNone/>
            </a:pPr>
            <a:r>
              <a:rPr lang="en-US" sz="1660" b="1" dirty="0">
                <a:solidFill>
                  <a:srgbClr val="52D6C5"/>
                </a:solidFill>
                <a:latin typeface="Aptos" pitchFamily="34" charset="0"/>
                <a:ea typeface="Aptos" pitchFamily="34" charset="-122"/>
                <a:cs typeface="Aptos" pitchFamily="34" charset="-120"/>
              </a:rPr>
              <a:t>Reliability</a:t>
            </a:r>
            <a:endParaRPr lang="en-US" sz="1660" dirty="0"/>
          </a:p>
        </p:txBody>
      </p:sp>
      <p:sp>
        <p:nvSpPr>
          <p:cNvPr id="19" name="Shape 17"/>
          <p:cNvSpPr/>
          <p:nvPr/>
        </p:nvSpPr>
        <p:spPr>
          <a:xfrm>
            <a:off x="7726680" y="2930652"/>
            <a:ext cx="3474720" cy="662940"/>
          </a:xfrm>
          <a:prstGeom prst="roundRect">
            <a:avLst>
              <a:gd name="adj" fmla="val 22069"/>
            </a:avLst>
          </a:prstGeom>
          <a:solidFill>
            <a:srgbClr val="142238"/>
          </a:solidFill>
          <a:ln w="12700">
            <a:solidFill>
              <a:srgbClr val="142238">
                <a:alpha val="0"/>
              </a:srgbClr>
            </a:solidFill>
            <a:prstDash val="solid"/>
          </a:ln>
        </p:spPr>
        <p:txBody>
          <a:bodyPr/>
          <a:lstStyle/>
          <a:p>
            <a:endParaRPr lang="en-SA"/>
          </a:p>
        </p:txBody>
      </p:sp>
      <p:sp>
        <p:nvSpPr>
          <p:cNvPr id="20" name="Text 18"/>
          <p:cNvSpPr/>
          <p:nvPr/>
        </p:nvSpPr>
        <p:spPr>
          <a:xfrm>
            <a:off x="7900416" y="3031236"/>
            <a:ext cx="3108960" cy="50749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Scalability</a:t>
            </a:r>
            <a:endParaRPr lang="en-US" sz="1660" dirty="0"/>
          </a:p>
        </p:txBody>
      </p:sp>
      <p:sp>
        <p:nvSpPr>
          <p:cNvPr id="21" name="Shape 19"/>
          <p:cNvSpPr/>
          <p:nvPr/>
        </p:nvSpPr>
        <p:spPr>
          <a:xfrm>
            <a:off x="7726680" y="3730752"/>
            <a:ext cx="3474720" cy="662940"/>
          </a:xfrm>
          <a:prstGeom prst="roundRect">
            <a:avLst>
              <a:gd name="adj" fmla="val 22069"/>
            </a:avLst>
          </a:prstGeom>
          <a:solidFill>
            <a:srgbClr val="1B304B"/>
          </a:solidFill>
          <a:ln w="12700">
            <a:solidFill>
              <a:srgbClr val="1B304B">
                <a:alpha val="0"/>
              </a:srgbClr>
            </a:solidFill>
            <a:prstDash val="solid"/>
          </a:ln>
        </p:spPr>
        <p:txBody>
          <a:bodyPr/>
          <a:lstStyle/>
          <a:p>
            <a:endParaRPr lang="en-SA"/>
          </a:p>
        </p:txBody>
      </p:sp>
      <p:sp>
        <p:nvSpPr>
          <p:cNvPr id="22" name="Text 20"/>
          <p:cNvSpPr/>
          <p:nvPr/>
        </p:nvSpPr>
        <p:spPr>
          <a:xfrm>
            <a:off x="7900416" y="3831336"/>
            <a:ext cx="3108960" cy="50749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Maintainability</a:t>
            </a:r>
            <a:endParaRPr lang="en-US" sz="1660" dirty="0"/>
          </a:p>
        </p:txBody>
      </p:sp>
      <p:sp>
        <p:nvSpPr>
          <p:cNvPr id="23" name="Shape 21"/>
          <p:cNvSpPr/>
          <p:nvPr/>
        </p:nvSpPr>
        <p:spPr>
          <a:xfrm>
            <a:off x="7726680" y="4530852"/>
            <a:ext cx="3474720" cy="662940"/>
          </a:xfrm>
          <a:prstGeom prst="roundRect">
            <a:avLst>
              <a:gd name="adj" fmla="val 22069"/>
            </a:avLst>
          </a:prstGeom>
          <a:solidFill>
            <a:srgbClr val="142238"/>
          </a:solidFill>
          <a:ln w="12700">
            <a:solidFill>
              <a:srgbClr val="142238">
                <a:alpha val="0"/>
              </a:srgbClr>
            </a:solidFill>
            <a:prstDash val="solid"/>
          </a:ln>
        </p:spPr>
        <p:txBody>
          <a:bodyPr/>
          <a:lstStyle/>
          <a:p>
            <a:endParaRPr lang="en-SA"/>
          </a:p>
        </p:txBody>
      </p:sp>
      <p:sp>
        <p:nvSpPr>
          <p:cNvPr id="24" name="Text 22"/>
          <p:cNvSpPr/>
          <p:nvPr/>
        </p:nvSpPr>
        <p:spPr>
          <a:xfrm>
            <a:off x="7900416" y="4631436"/>
            <a:ext cx="3108960" cy="50749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Adaptability</a:t>
            </a:r>
            <a:endParaRPr lang="en-US" sz="1660" dirty="0"/>
          </a:p>
        </p:txBody>
      </p:sp>
      <p:sp>
        <p:nvSpPr>
          <p:cNvPr id="27" name="Text 1">
            <a:extLst>
              <a:ext uri="{FF2B5EF4-FFF2-40B4-BE49-F238E27FC236}">
                <a16:creationId xmlns:a16="http://schemas.microsoft.com/office/drawing/2014/main" id="{1E7F9BF6-48F6-2CBB-6C96-06F8BD35A567}"/>
              </a:ext>
            </a:extLst>
          </p:cNvPr>
          <p:cNvSpPr/>
          <p:nvPr/>
        </p:nvSpPr>
        <p:spPr>
          <a:xfrm>
            <a:off x="841248" y="2484882"/>
            <a:ext cx="9875520" cy="246888"/>
          </a:xfrm>
          <a:prstGeom prst="rect">
            <a:avLst/>
          </a:prstGeom>
          <a:noFill/>
          <a:ln/>
        </p:spPr>
        <p:txBody>
          <a:bodyPr wrap="square" lIns="0" tIns="0" rIns="0" bIns="0" rtlCol="0" anchor="ctr"/>
          <a:lstStyle/>
          <a:p>
            <a:pPr marL="0" indent="0">
              <a:buNone/>
            </a:pPr>
            <a:r>
              <a:rPr lang="en-US" sz="1020" b="1" kern="0" spc="180" dirty="0">
                <a:solidFill>
                  <a:srgbClr val="52D6C5"/>
                </a:solidFill>
                <a:latin typeface="Aptos" pitchFamily="34" charset="0"/>
                <a:ea typeface="Aptos" pitchFamily="34" charset="-122"/>
                <a:cs typeface="Aptos" pitchFamily="34" charset="-120"/>
              </a:rPr>
              <a:t>DESIGN FOR FAILURES, NOT IDEAL CONDITIONS</a:t>
            </a:r>
            <a:endParaRPr lang="en-US" sz="1020" dirty="0"/>
          </a:p>
        </p:txBody>
      </p:sp>
      <p:sp>
        <p:nvSpPr>
          <p:cNvPr id="28" name="Text 1">
            <a:extLst>
              <a:ext uri="{FF2B5EF4-FFF2-40B4-BE49-F238E27FC236}">
                <a16:creationId xmlns:a16="http://schemas.microsoft.com/office/drawing/2014/main" id="{998D4066-3446-2E57-2FDC-81A5E3AE4422}"/>
              </a:ext>
            </a:extLst>
          </p:cNvPr>
          <p:cNvSpPr/>
          <p:nvPr/>
        </p:nvSpPr>
        <p:spPr>
          <a:xfrm>
            <a:off x="841248" y="3322701"/>
            <a:ext cx="9875520" cy="246888"/>
          </a:xfrm>
          <a:prstGeom prst="rect">
            <a:avLst/>
          </a:prstGeom>
          <a:noFill/>
          <a:ln/>
        </p:spPr>
        <p:txBody>
          <a:bodyPr wrap="square" lIns="0" tIns="0" rIns="0" bIns="0" rtlCol="0" anchor="ctr"/>
          <a:lstStyle/>
          <a:p>
            <a:pPr marL="0" indent="0">
              <a:buNone/>
            </a:pPr>
            <a:r>
              <a:rPr lang="en-US" sz="1020" b="1" kern="0" spc="180" dirty="0">
                <a:solidFill>
                  <a:srgbClr val="52D6C5"/>
                </a:solidFill>
                <a:latin typeface="Aptos" pitchFamily="34" charset="0"/>
                <a:ea typeface="Aptos" pitchFamily="34" charset="-122"/>
                <a:cs typeface="Aptos" pitchFamily="34" charset="-120"/>
              </a:rPr>
              <a:t>FROM SMALL EXPERIMENT for LARGE TRAFFIC</a:t>
            </a:r>
            <a:endParaRPr lang="en-US" sz="1020" dirty="0"/>
          </a:p>
        </p:txBody>
      </p:sp>
      <p:sp>
        <p:nvSpPr>
          <p:cNvPr id="29" name="Text 1"/>
          <p:cNvSpPr/>
          <p:nvPr/>
        </p:nvSpPr>
        <p:spPr>
          <a:xfrm>
            <a:off x="841248" y="4343638"/>
            <a:ext cx="9875520" cy="246888"/>
          </a:xfrm>
          <a:prstGeom prst="rect">
            <a:avLst/>
          </a:prstGeom>
          <a:noFill/>
          <a:ln/>
        </p:spPr>
        <p:txBody>
          <a:bodyPr wrap="square" lIns="0" tIns="0" rIns="0" bIns="0" rtlCol="0" anchor="ctr"/>
          <a:lstStyle/>
          <a:p>
            <a:pPr marL="0" indent="0">
              <a:buNone/>
            </a:pPr>
            <a:r>
              <a:rPr lang="en-US" sz="1020" b="1" kern="0" spc="180" dirty="0">
                <a:solidFill>
                  <a:srgbClr val="52D6C5"/>
                </a:solidFill>
                <a:latin typeface="Aptos" pitchFamily="34" charset="0"/>
                <a:ea typeface="Aptos" pitchFamily="34" charset="-122"/>
                <a:cs typeface="Aptos" pitchFamily="34" charset="-120"/>
              </a:rPr>
              <a:t>MAKE CHANGE SAFE AND AUDITABLE</a:t>
            </a:r>
            <a:endParaRPr lang="en-US" sz="1020" dirty="0"/>
          </a:p>
        </p:txBody>
      </p:sp>
      <p:sp>
        <p:nvSpPr>
          <p:cNvPr id="30" name="Text 1"/>
          <p:cNvSpPr/>
          <p:nvPr/>
        </p:nvSpPr>
        <p:spPr>
          <a:xfrm>
            <a:off x="841248" y="5372823"/>
            <a:ext cx="9875520" cy="246888"/>
          </a:xfrm>
          <a:prstGeom prst="rect">
            <a:avLst/>
          </a:prstGeom>
          <a:noFill/>
          <a:ln/>
        </p:spPr>
        <p:txBody>
          <a:bodyPr wrap="square" lIns="0" tIns="0" rIns="0" bIns="0" rtlCol="0" anchor="ctr"/>
          <a:lstStyle/>
          <a:p>
            <a:pPr marL="0" indent="0">
              <a:buNone/>
            </a:pPr>
            <a:r>
              <a:rPr lang="en-US" sz="1020" b="1" kern="0" spc="180" dirty="0">
                <a:solidFill>
                  <a:srgbClr val="52D6C5"/>
                </a:solidFill>
                <a:latin typeface="Aptos" pitchFamily="34" charset="0"/>
                <a:ea typeface="Aptos" pitchFamily="34" charset="-122"/>
                <a:cs typeface="Aptos" pitchFamily="34" charset="-120"/>
              </a:rPr>
              <a:t>ASSUME THE WORLD WILL CHANGE</a:t>
            </a:r>
            <a:endParaRPr lang="en-US" sz="10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3" name="Text 1"/>
          <p:cNvSpPr/>
          <p:nvPr/>
        </p:nvSpPr>
        <p:spPr>
          <a:xfrm>
            <a:off x="2259530" y="4013497"/>
            <a:ext cx="9875520" cy="246888"/>
          </a:xfrm>
          <a:prstGeom prst="rect">
            <a:avLst/>
          </a:prstGeom>
          <a:noFill/>
          <a:ln/>
        </p:spPr>
        <p:txBody>
          <a:bodyPr wrap="square" lIns="0" tIns="0" rIns="0" bIns="0" rtlCol="0" anchor="ctr"/>
          <a:lstStyle/>
          <a:p>
            <a:pPr marL="0" indent="0">
              <a:buNone/>
            </a:pPr>
            <a:r>
              <a:rPr lang="en-US" sz="2400" b="1" kern="0" spc="180" dirty="0">
                <a:solidFill>
                  <a:srgbClr val="52D6C5"/>
                </a:solidFill>
                <a:latin typeface="Aptos" pitchFamily="34" charset="0"/>
                <a:ea typeface="Aptos" pitchFamily="34" charset="-122"/>
                <a:cs typeface="Aptos" pitchFamily="34" charset="-120"/>
              </a:rPr>
              <a:t>ARCHITECTURE IS CONSTRAINED OPTIMIZATION</a:t>
            </a:r>
            <a:endParaRPr lang="en-US" sz="2400" dirty="0"/>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Trade-Offs: Requirements in Tension</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8304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Online personalization may improve relevance but increase latency and cost</a:t>
            </a:r>
            <a:endParaRPr lang="en-US" sz="1720" dirty="0"/>
          </a:p>
        </p:txBody>
      </p:sp>
      <p:sp>
        <p:nvSpPr>
          <p:cNvPr id="12" name="Shape 10"/>
          <p:cNvSpPr/>
          <p:nvPr/>
        </p:nvSpPr>
        <p:spPr>
          <a:xfrm>
            <a:off x="603504" y="2672695"/>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2363484"/>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Aggressive caching helps scale but can reduce adaptation to new behavior</a:t>
            </a:r>
            <a:endParaRPr lang="en-US" sz="1720" dirty="0"/>
          </a:p>
        </p:txBody>
      </p:sp>
      <p:sp>
        <p:nvSpPr>
          <p:cNvPr id="14" name="Shape 12"/>
          <p:cNvSpPr/>
          <p:nvPr/>
        </p:nvSpPr>
        <p:spPr>
          <a:xfrm>
            <a:off x="603504" y="553669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5169734"/>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Choose based on explicit priorities, constraints, and measured outcomes</a:t>
            </a:r>
            <a:endParaRPr lang="en-US" sz="17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3" name="Text 1"/>
          <p:cNvSpPr/>
          <p:nvPr/>
        </p:nvSpPr>
        <p:spPr>
          <a:xfrm>
            <a:off x="594360" y="320040"/>
            <a:ext cx="9875520" cy="246888"/>
          </a:xfrm>
          <a:prstGeom prst="rect">
            <a:avLst/>
          </a:prstGeom>
          <a:noFill/>
          <a:ln/>
        </p:spPr>
        <p:txBody>
          <a:bodyPr wrap="square" lIns="0" tIns="0" rIns="0" bIns="0" rtlCol="0" anchor="ctr"/>
          <a:lstStyle/>
          <a:p>
            <a:pPr marL="0" indent="0">
              <a:buNone/>
            </a:pPr>
            <a:r>
              <a:rPr lang="en-US" sz="1020" b="1" kern="0" spc="180" dirty="0">
                <a:solidFill>
                  <a:srgbClr val="52D6C5"/>
                </a:solidFill>
                <a:latin typeface="Aptos" pitchFamily="34" charset="0"/>
                <a:ea typeface="Aptos" pitchFamily="34" charset="-122"/>
                <a:cs typeface="Aptos" pitchFamily="34" charset="-120"/>
              </a:rPr>
              <a:t>BUILD → EVALUATE → LEARN → REFINE</a:t>
            </a:r>
            <a:endParaRPr lang="en-US" sz="1020" dirty="0"/>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The Iterative Design Process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548640" y="274861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2021305"/>
            <a:ext cx="6400800" cy="4350619"/>
          </a:xfrm>
          <a:prstGeom prst="rect">
            <a:avLst/>
          </a:prstGeom>
          <a:noFill/>
          <a:ln/>
        </p:spPr>
        <p:txBody>
          <a:bodyPr wrap="square" lIns="0" tIns="0" rIns="0" bIns="0" rtlCol="0" anchor="ctr"/>
          <a:lstStyle/>
          <a:p>
            <a:pPr marL="0" indent="0">
              <a:buNone/>
            </a:pPr>
            <a:r>
              <a:rPr lang="en-GB" sz="2000" dirty="0">
                <a:solidFill>
                  <a:srgbClr val="F4F7FB"/>
                </a:solidFill>
                <a:latin typeface="Aptos" pitchFamily="34" charset="0"/>
                <a:ea typeface="Aptos" pitchFamily="34" charset="-122"/>
                <a:cs typeface="Aptos" pitchFamily="34" charset="-120"/>
              </a:rPr>
              <a:t>First, we define the business goal, baseline, constraints, and failure criteria. </a:t>
            </a:r>
            <a:endParaRPr lang="ar-SA" sz="2000" dirty="0">
              <a:solidFill>
                <a:srgbClr val="F4F7FB"/>
              </a:solidFill>
              <a:latin typeface="Aptos" pitchFamily="34" charset="0"/>
              <a:ea typeface="Aptos" pitchFamily="34" charset="-122"/>
              <a:cs typeface="Aptos" pitchFamily="34" charset="-120"/>
            </a:endParaRPr>
          </a:p>
          <a:p>
            <a:pPr marL="0" indent="0">
              <a:buNone/>
            </a:pPr>
            <a:r>
              <a:rPr lang="en-GB" sz="2000" dirty="0">
                <a:solidFill>
                  <a:srgbClr val="F4F7FB"/>
                </a:solidFill>
                <a:latin typeface="Aptos" pitchFamily="34" charset="0"/>
                <a:ea typeface="Aptos" pitchFamily="34" charset="-122"/>
                <a:cs typeface="Aptos" pitchFamily="34" charset="-120"/>
              </a:rPr>
              <a:t>Then, we build the smallest viable measurement and </a:t>
            </a:r>
            <a:r>
              <a:rPr lang="en-GB" sz="2000" dirty="0" err="1">
                <a:solidFill>
                  <a:srgbClr val="F4F7FB"/>
                </a:solidFill>
                <a:latin typeface="Aptos" pitchFamily="34" charset="0"/>
                <a:ea typeface="Aptos" pitchFamily="34" charset="-122"/>
                <a:cs typeface="Aptos" pitchFamily="34" charset="-120"/>
              </a:rPr>
              <a:t>modeling</a:t>
            </a:r>
            <a:r>
              <a:rPr lang="en-GB" sz="2000" dirty="0">
                <a:solidFill>
                  <a:srgbClr val="F4F7FB"/>
                </a:solidFill>
                <a:latin typeface="Aptos" pitchFamily="34" charset="0"/>
                <a:ea typeface="Aptos" pitchFamily="34" charset="-122"/>
                <a:cs typeface="Aptos" pitchFamily="34" charset="-120"/>
              </a:rPr>
              <a:t> loop. </a:t>
            </a:r>
            <a:endParaRPr lang="ar-SA" sz="2000" dirty="0">
              <a:solidFill>
                <a:srgbClr val="F4F7FB"/>
              </a:solidFill>
              <a:latin typeface="Aptos" pitchFamily="34" charset="0"/>
              <a:ea typeface="Aptos" pitchFamily="34" charset="-122"/>
              <a:cs typeface="Aptos" pitchFamily="34" charset="-120"/>
            </a:endParaRPr>
          </a:p>
          <a:p>
            <a:pPr marL="0" indent="0">
              <a:buNone/>
            </a:pPr>
            <a:r>
              <a:rPr lang="en-GB" sz="2000" dirty="0">
                <a:solidFill>
                  <a:srgbClr val="F4F7FB"/>
                </a:solidFill>
                <a:latin typeface="Aptos" pitchFamily="34" charset="0"/>
                <a:ea typeface="Aptos" pitchFamily="34" charset="-122"/>
                <a:cs typeface="Aptos" pitchFamily="34" charset="-120"/>
              </a:rPr>
              <a:t>Next, we evaluate it offline and through a controlled deployment. </a:t>
            </a:r>
            <a:endParaRPr lang="ar-SA" sz="2000" dirty="0">
              <a:solidFill>
                <a:srgbClr val="F4F7FB"/>
              </a:solidFill>
              <a:latin typeface="Aptos" pitchFamily="34" charset="0"/>
              <a:ea typeface="Aptos" pitchFamily="34" charset="-122"/>
              <a:cs typeface="Aptos" pitchFamily="34" charset="-120"/>
            </a:endParaRPr>
          </a:p>
          <a:p>
            <a:pPr marL="0" indent="0">
              <a:buNone/>
            </a:pPr>
            <a:r>
              <a:rPr lang="en-GB" sz="2000" dirty="0">
                <a:solidFill>
                  <a:srgbClr val="F4F7FB"/>
                </a:solidFill>
                <a:latin typeface="Aptos" pitchFamily="34" charset="0"/>
                <a:ea typeface="Aptos" pitchFamily="34" charset="-122"/>
                <a:cs typeface="Aptos" pitchFamily="34" charset="-120"/>
              </a:rPr>
              <a:t>We learn by inspecting errors, data quality, subgroup outcomes, and business response.</a:t>
            </a:r>
          </a:p>
          <a:p>
            <a:pPr marL="0" indent="0">
              <a:buNone/>
            </a:pPr>
            <a:r>
              <a:rPr lang="en-GB" sz="2000" dirty="0">
                <a:solidFill>
                  <a:srgbClr val="F4F7FB"/>
                </a:solidFill>
                <a:latin typeface="Aptos" pitchFamily="34" charset="0"/>
                <a:ea typeface="Aptos" pitchFamily="34" charset="-122"/>
                <a:cs typeface="Aptos" pitchFamily="34" charset="-120"/>
              </a:rPr>
              <a:t>Finally, we refine the data, problem framing, architecture, or business hypothesis. Then, we repeat the process.</a:t>
            </a:r>
            <a:endParaRPr lang="en-US" sz="2000" dirty="0"/>
          </a:p>
        </p:txBody>
      </p:sp>
      <p:sp>
        <p:nvSpPr>
          <p:cNvPr id="16" name="Shape 14"/>
          <p:cNvSpPr/>
          <p:nvPr/>
        </p:nvSpPr>
        <p:spPr>
          <a:xfrm>
            <a:off x="7498080" y="1874520"/>
            <a:ext cx="3931920" cy="3657600"/>
          </a:xfrm>
          <a:prstGeom prst="roundRect">
            <a:avLst>
              <a:gd name="adj" fmla="val 4000"/>
            </a:avLst>
          </a:prstGeom>
          <a:solidFill>
            <a:srgbClr val="142238"/>
          </a:solidFill>
          <a:ln w="12700">
            <a:solidFill>
              <a:srgbClr val="142238">
                <a:alpha val="0"/>
              </a:srgbClr>
            </a:solidFill>
            <a:prstDash val="solid"/>
          </a:ln>
        </p:spPr>
        <p:txBody>
          <a:bodyPr/>
          <a:lstStyle/>
          <a:p>
            <a:endParaRPr lang="en-SA"/>
          </a:p>
        </p:txBody>
      </p:sp>
      <p:sp>
        <p:nvSpPr>
          <p:cNvPr id="17" name="Shape 15"/>
          <p:cNvSpPr/>
          <p:nvPr/>
        </p:nvSpPr>
        <p:spPr>
          <a:xfrm>
            <a:off x="7726680" y="2130552"/>
            <a:ext cx="3474720" cy="662940"/>
          </a:xfrm>
          <a:prstGeom prst="roundRect">
            <a:avLst>
              <a:gd name="adj" fmla="val 22069"/>
            </a:avLst>
          </a:prstGeom>
          <a:solidFill>
            <a:srgbClr val="1B304B"/>
          </a:solidFill>
          <a:ln w="12700">
            <a:solidFill>
              <a:srgbClr val="1B304B">
                <a:alpha val="0"/>
              </a:srgbClr>
            </a:solidFill>
            <a:prstDash val="solid"/>
          </a:ln>
        </p:spPr>
        <p:txBody>
          <a:bodyPr/>
          <a:lstStyle/>
          <a:p>
            <a:endParaRPr lang="en-SA"/>
          </a:p>
        </p:txBody>
      </p:sp>
      <p:sp>
        <p:nvSpPr>
          <p:cNvPr id="18" name="Text 16"/>
          <p:cNvSpPr/>
          <p:nvPr/>
        </p:nvSpPr>
        <p:spPr>
          <a:xfrm>
            <a:off x="7900416" y="2231136"/>
            <a:ext cx="3108960" cy="507492"/>
          </a:xfrm>
          <a:prstGeom prst="rect">
            <a:avLst/>
          </a:prstGeom>
          <a:noFill/>
          <a:ln/>
        </p:spPr>
        <p:txBody>
          <a:bodyPr wrap="square" lIns="0" tIns="0" rIns="0" bIns="0" rtlCol="0" anchor="ctr"/>
          <a:lstStyle/>
          <a:p>
            <a:pPr marL="0" indent="0" algn="ctr">
              <a:buNone/>
            </a:pPr>
            <a:r>
              <a:rPr lang="en-US" sz="1660" b="1" dirty="0">
                <a:solidFill>
                  <a:srgbClr val="52D6C5"/>
                </a:solidFill>
                <a:latin typeface="Aptos" pitchFamily="34" charset="0"/>
                <a:ea typeface="Aptos" pitchFamily="34" charset="-122"/>
                <a:cs typeface="Aptos" pitchFamily="34" charset="-120"/>
              </a:rPr>
              <a:t>DEFINE</a:t>
            </a:r>
            <a:endParaRPr lang="en-US" sz="1660" dirty="0"/>
          </a:p>
        </p:txBody>
      </p:sp>
      <p:sp>
        <p:nvSpPr>
          <p:cNvPr id="19" name="Shape 17"/>
          <p:cNvSpPr/>
          <p:nvPr/>
        </p:nvSpPr>
        <p:spPr>
          <a:xfrm>
            <a:off x="7726680" y="2930652"/>
            <a:ext cx="3474720" cy="662940"/>
          </a:xfrm>
          <a:prstGeom prst="roundRect">
            <a:avLst>
              <a:gd name="adj" fmla="val 22069"/>
            </a:avLst>
          </a:prstGeom>
          <a:solidFill>
            <a:srgbClr val="142238"/>
          </a:solidFill>
          <a:ln w="12700">
            <a:solidFill>
              <a:srgbClr val="142238">
                <a:alpha val="0"/>
              </a:srgbClr>
            </a:solidFill>
            <a:prstDash val="solid"/>
          </a:ln>
        </p:spPr>
        <p:txBody>
          <a:bodyPr/>
          <a:lstStyle/>
          <a:p>
            <a:endParaRPr lang="en-SA"/>
          </a:p>
        </p:txBody>
      </p:sp>
      <p:sp>
        <p:nvSpPr>
          <p:cNvPr id="20" name="Text 18"/>
          <p:cNvSpPr/>
          <p:nvPr/>
        </p:nvSpPr>
        <p:spPr>
          <a:xfrm>
            <a:off x="7900416" y="3031236"/>
            <a:ext cx="3108960" cy="50749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BUILD</a:t>
            </a:r>
            <a:endParaRPr lang="en-US" sz="1660" dirty="0"/>
          </a:p>
        </p:txBody>
      </p:sp>
      <p:sp>
        <p:nvSpPr>
          <p:cNvPr id="21" name="Shape 19"/>
          <p:cNvSpPr/>
          <p:nvPr/>
        </p:nvSpPr>
        <p:spPr>
          <a:xfrm>
            <a:off x="7726680" y="3730752"/>
            <a:ext cx="3474720" cy="662940"/>
          </a:xfrm>
          <a:prstGeom prst="roundRect">
            <a:avLst>
              <a:gd name="adj" fmla="val 22069"/>
            </a:avLst>
          </a:prstGeom>
          <a:solidFill>
            <a:srgbClr val="1B304B"/>
          </a:solidFill>
          <a:ln w="12700">
            <a:solidFill>
              <a:srgbClr val="1B304B">
                <a:alpha val="0"/>
              </a:srgbClr>
            </a:solidFill>
            <a:prstDash val="solid"/>
          </a:ln>
        </p:spPr>
        <p:txBody>
          <a:bodyPr/>
          <a:lstStyle/>
          <a:p>
            <a:endParaRPr lang="en-SA"/>
          </a:p>
        </p:txBody>
      </p:sp>
      <p:sp>
        <p:nvSpPr>
          <p:cNvPr id="22" name="Text 20"/>
          <p:cNvSpPr/>
          <p:nvPr/>
        </p:nvSpPr>
        <p:spPr>
          <a:xfrm>
            <a:off x="7900416" y="3831336"/>
            <a:ext cx="3108960" cy="50749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EVALUATE</a:t>
            </a:r>
            <a:endParaRPr lang="en-US" sz="1660" dirty="0"/>
          </a:p>
        </p:txBody>
      </p:sp>
      <p:sp>
        <p:nvSpPr>
          <p:cNvPr id="23" name="Shape 21"/>
          <p:cNvSpPr/>
          <p:nvPr/>
        </p:nvSpPr>
        <p:spPr>
          <a:xfrm>
            <a:off x="7726680" y="4530852"/>
            <a:ext cx="3474720" cy="662940"/>
          </a:xfrm>
          <a:prstGeom prst="roundRect">
            <a:avLst>
              <a:gd name="adj" fmla="val 22069"/>
            </a:avLst>
          </a:prstGeom>
          <a:solidFill>
            <a:srgbClr val="142238"/>
          </a:solidFill>
          <a:ln w="12700">
            <a:solidFill>
              <a:srgbClr val="142238">
                <a:alpha val="0"/>
              </a:srgbClr>
            </a:solidFill>
            <a:prstDash val="solid"/>
          </a:ln>
        </p:spPr>
        <p:txBody>
          <a:bodyPr/>
          <a:lstStyle/>
          <a:p>
            <a:endParaRPr lang="en-SA"/>
          </a:p>
        </p:txBody>
      </p:sp>
      <p:sp>
        <p:nvSpPr>
          <p:cNvPr id="24" name="Text 22"/>
          <p:cNvSpPr/>
          <p:nvPr/>
        </p:nvSpPr>
        <p:spPr>
          <a:xfrm>
            <a:off x="7900416" y="4631436"/>
            <a:ext cx="3108960" cy="50749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REFINE</a:t>
            </a:r>
            <a:endParaRPr lang="en-US" sz="1660" dirty="0"/>
          </a:p>
        </p:txBody>
      </p:sp>
      <p:sp>
        <p:nvSpPr>
          <p:cNvPr id="30" name="Shape 4">
            <a:extLst>
              <a:ext uri="{FF2B5EF4-FFF2-40B4-BE49-F238E27FC236}">
                <a16:creationId xmlns:a16="http://schemas.microsoft.com/office/drawing/2014/main" id="{2694ACA2-91F8-9FBA-EAAA-B908C03B824A}"/>
              </a:ext>
            </a:extLst>
          </p:cNvPr>
          <p:cNvSpPr/>
          <p:nvPr/>
        </p:nvSpPr>
        <p:spPr>
          <a:xfrm>
            <a:off x="566928" y="342900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31" name="Shape 4">
            <a:extLst>
              <a:ext uri="{FF2B5EF4-FFF2-40B4-BE49-F238E27FC236}">
                <a16:creationId xmlns:a16="http://schemas.microsoft.com/office/drawing/2014/main" id="{729AC90D-F505-0AAE-690E-F9C6ABEC465E}"/>
              </a:ext>
            </a:extLst>
          </p:cNvPr>
          <p:cNvSpPr/>
          <p:nvPr/>
        </p:nvSpPr>
        <p:spPr>
          <a:xfrm>
            <a:off x="576072" y="398377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32" name="Shape 4">
            <a:extLst>
              <a:ext uri="{FF2B5EF4-FFF2-40B4-BE49-F238E27FC236}">
                <a16:creationId xmlns:a16="http://schemas.microsoft.com/office/drawing/2014/main" id="{8469EEF3-24E1-1DC4-6F99-44C2B6F91C17}"/>
              </a:ext>
            </a:extLst>
          </p:cNvPr>
          <p:cNvSpPr/>
          <p:nvPr/>
        </p:nvSpPr>
        <p:spPr>
          <a:xfrm>
            <a:off x="576072" y="458571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33" name="Shape 4">
            <a:extLst>
              <a:ext uri="{FF2B5EF4-FFF2-40B4-BE49-F238E27FC236}">
                <a16:creationId xmlns:a16="http://schemas.microsoft.com/office/drawing/2014/main" id="{91816716-54DE-2AF2-17B2-C01913E38DC1}"/>
              </a:ext>
            </a:extLst>
          </p:cNvPr>
          <p:cNvSpPr/>
          <p:nvPr/>
        </p:nvSpPr>
        <p:spPr>
          <a:xfrm>
            <a:off x="585216" y="526213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3" name="Text 1"/>
          <p:cNvSpPr/>
          <p:nvPr/>
        </p:nvSpPr>
        <p:spPr>
          <a:xfrm>
            <a:off x="594360" y="320040"/>
            <a:ext cx="9875520" cy="246888"/>
          </a:xfrm>
          <a:prstGeom prst="rect">
            <a:avLst/>
          </a:prstGeom>
          <a:noFill/>
          <a:ln/>
        </p:spPr>
        <p:txBody>
          <a:bodyPr wrap="square" lIns="0" tIns="0" rIns="0" bIns="0" rtlCol="0" anchor="ctr"/>
          <a:lstStyle/>
          <a:p>
            <a:pPr marL="0" indent="0">
              <a:buNone/>
            </a:pPr>
            <a:r>
              <a:rPr lang="en-US" sz="1020" b="1" kern="0" spc="180" dirty="0">
                <a:solidFill>
                  <a:srgbClr val="52D6C5"/>
                </a:solidFill>
                <a:latin typeface="Aptos" pitchFamily="34" charset="0"/>
                <a:ea typeface="Aptos" pitchFamily="34" charset="-122"/>
                <a:cs typeface="Aptos" pitchFamily="34" charset="-120"/>
              </a:rPr>
              <a:t>TURN A BUSINESS QUESTION INTO AN ML TASK</a:t>
            </a:r>
            <a:endParaRPr lang="en-US" sz="1020" dirty="0"/>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Problem Framing Precedes Model Selection</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7342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Business question: Which products should appear to this visitor?</a:t>
            </a:r>
            <a:endParaRPr lang="en-US" sz="1720" dirty="0"/>
          </a:p>
        </p:txBody>
      </p:sp>
      <p:sp>
        <p:nvSpPr>
          <p:cNvPr id="8" name="Shape 6"/>
          <p:cNvSpPr/>
          <p:nvPr/>
        </p:nvSpPr>
        <p:spPr>
          <a:xfrm>
            <a:off x="603504" y="278723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Decision: select and order candidate items under constraints</a:t>
            </a:r>
            <a:endParaRPr lang="en-US" sz="1720" dirty="0"/>
          </a:p>
        </p:txBody>
      </p:sp>
      <p:sp>
        <p:nvSpPr>
          <p:cNvPr id="10" name="Shape 8"/>
          <p:cNvSpPr/>
          <p:nvPr/>
        </p:nvSpPr>
        <p:spPr>
          <a:xfrm>
            <a:off x="603504" y="360105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Prediction target: click, purchase, utility, or long-term value?</a:t>
            </a:r>
            <a:endParaRPr lang="en-US" sz="1720" dirty="0"/>
          </a:p>
        </p:txBody>
      </p:sp>
      <p:sp>
        <p:nvSpPr>
          <p:cNvPr id="12" name="Shape 10"/>
          <p:cNvSpPr/>
          <p:nvPr/>
        </p:nvSpPr>
        <p:spPr>
          <a:xfrm>
            <a:off x="603504" y="441486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Unit of prediction: user, session, item, or user–item pair?</a:t>
            </a:r>
            <a:endParaRPr lang="en-US" sz="1720" dirty="0"/>
          </a:p>
        </p:txBody>
      </p:sp>
      <p:sp>
        <p:nvSpPr>
          <p:cNvPr id="14" name="Shape 12"/>
          <p:cNvSpPr/>
          <p:nvPr/>
        </p:nvSpPr>
        <p:spPr>
          <a:xfrm>
            <a:off x="603504" y="526718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5073478"/>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We first frame the problem by defining what success looks like and over what time window, then we choose the model.</a:t>
            </a:r>
            <a:endParaRPr lang="en-US" sz="17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3" name="Text 1"/>
          <p:cNvSpPr/>
          <p:nvPr/>
        </p:nvSpPr>
        <p:spPr>
          <a:xfrm>
            <a:off x="594360" y="320040"/>
            <a:ext cx="9875520" cy="246888"/>
          </a:xfrm>
          <a:prstGeom prst="rect">
            <a:avLst/>
          </a:prstGeom>
          <a:noFill/>
          <a:ln/>
        </p:spPr>
        <p:txBody>
          <a:bodyPr wrap="square" lIns="0" tIns="0" rIns="0" bIns="0" rtlCol="0" anchor="ctr"/>
          <a:lstStyle/>
          <a:p>
            <a:pPr marL="0" indent="0">
              <a:buNone/>
            </a:pPr>
            <a:r>
              <a:rPr lang="en-US" sz="1020" b="1" kern="0" spc="180" dirty="0">
                <a:solidFill>
                  <a:srgbClr val="52D6C5"/>
                </a:solidFill>
                <a:latin typeface="Aptos" pitchFamily="34" charset="0"/>
                <a:ea typeface="Aptos" pitchFamily="34" charset="-122"/>
                <a:cs typeface="Aptos" pitchFamily="34" charset="-120"/>
              </a:rPr>
              <a:t>SAME CONTEXT, DIFFERENT QUESTIONS</a:t>
            </a:r>
            <a:endParaRPr lang="en-US" sz="1020" dirty="0"/>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Task Types: Classification and Regression</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6379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Binary classification: Will this user purchase the item?</a:t>
            </a:r>
            <a:endParaRPr lang="en-US" sz="1720" dirty="0"/>
          </a:p>
        </p:txBody>
      </p:sp>
      <p:sp>
        <p:nvSpPr>
          <p:cNvPr id="8" name="Shape 6"/>
          <p:cNvSpPr/>
          <p:nvPr/>
        </p:nvSpPr>
        <p:spPr>
          <a:xfrm>
            <a:off x="603504" y="277761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Multiclass classification: What category best describes a request?</a:t>
            </a:r>
            <a:endParaRPr lang="en-US" sz="1720" dirty="0"/>
          </a:p>
        </p:txBody>
      </p:sp>
      <p:sp>
        <p:nvSpPr>
          <p:cNvPr id="10" name="Shape 8"/>
          <p:cNvSpPr/>
          <p:nvPr/>
        </p:nvSpPr>
        <p:spPr>
          <a:xfrm>
            <a:off x="603504" y="359142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Regression: What revenue or delivery time do we expect?</a:t>
            </a:r>
            <a:endParaRPr lang="en-US" sz="1720" dirty="0"/>
          </a:p>
        </p:txBody>
      </p:sp>
      <p:sp>
        <p:nvSpPr>
          <p:cNvPr id="12" name="Shape 10"/>
          <p:cNvSpPr/>
          <p:nvPr/>
        </p:nvSpPr>
        <p:spPr>
          <a:xfrm>
            <a:off x="603504" y="440524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Probability estimation requires calibration when used for decisions</a:t>
            </a:r>
            <a:endParaRPr lang="en-US" sz="1720" dirty="0"/>
          </a:p>
        </p:txBody>
      </p:sp>
      <p:sp>
        <p:nvSpPr>
          <p:cNvPr id="14" name="Shape 12"/>
          <p:cNvSpPr/>
          <p:nvPr/>
        </p:nvSpPr>
        <p:spPr>
          <a:xfrm>
            <a:off x="603504" y="521906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Assess the cost of false positives and false negatives</a:t>
            </a:r>
            <a:endParaRPr lang="en-US" sz="1720" dirty="0"/>
          </a:p>
        </p:txBody>
      </p:sp>
      <p:sp>
        <p:nvSpPr>
          <p:cNvPr id="19" name="Text 1">
            <a:extLst>
              <a:ext uri="{FF2B5EF4-FFF2-40B4-BE49-F238E27FC236}">
                <a16:creationId xmlns:a16="http://schemas.microsoft.com/office/drawing/2014/main" id="{1CFD5939-3FEC-966C-9D57-105A9B176BEF}"/>
              </a:ext>
            </a:extLst>
          </p:cNvPr>
          <p:cNvSpPr/>
          <p:nvPr/>
        </p:nvSpPr>
        <p:spPr>
          <a:xfrm>
            <a:off x="1129284" y="5879913"/>
            <a:ext cx="9875520" cy="246888"/>
          </a:xfrm>
          <a:prstGeom prst="rect">
            <a:avLst/>
          </a:prstGeom>
          <a:noFill/>
          <a:ln/>
        </p:spPr>
        <p:txBody>
          <a:bodyPr wrap="square" lIns="0" tIns="0" rIns="0" bIns="0" rtlCol="0" anchor="ctr"/>
          <a:lstStyle/>
          <a:p>
            <a:pPr marL="0" indent="0">
              <a:buNone/>
            </a:pPr>
            <a:r>
              <a:rPr lang="en-GB" b="1" kern="0" spc="180" dirty="0">
                <a:solidFill>
                  <a:srgbClr val="52D6C5"/>
                </a:solidFill>
                <a:latin typeface="Aptos" pitchFamily="34" charset="0"/>
                <a:ea typeface="Aptos" pitchFamily="34" charset="-122"/>
                <a:cs typeface="Aptos" pitchFamily="34" charset="-120"/>
              </a:rPr>
              <a:t>We choose the task type that matches the decision we need</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3" name="Text 1"/>
          <p:cNvSpPr/>
          <p:nvPr/>
        </p:nvSpPr>
        <p:spPr>
          <a:xfrm>
            <a:off x="594360" y="320040"/>
            <a:ext cx="9875520" cy="246888"/>
          </a:xfrm>
          <a:prstGeom prst="rect">
            <a:avLst/>
          </a:prstGeom>
          <a:noFill/>
          <a:ln/>
        </p:spPr>
        <p:txBody>
          <a:bodyPr wrap="square" lIns="0" tIns="0" rIns="0" bIns="0" rtlCol="0" anchor="ctr"/>
          <a:lstStyle/>
          <a:p>
            <a:pPr marL="0" indent="0">
              <a:buNone/>
            </a:pPr>
            <a:r>
              <a:rPr lang="en-US" sz="1020" b="1" kern="0" spc="180" dirty="0">
                <a:solidFill>
                  <a:srgbClr val="52D6C5"/>
                </a:solidFill>
                <a:latin typeface="Aptos" pitchFamily="34" charset="0"/>
                <a:ea typeface="Aptos" pitchFamily="34" charset="-122"/>
                <a:cs typeface="Aptos" pitchFamily="34" charset="-120"/>
              </a:rPr>
              <a:t>THE OUTPUT FORMAT MATTERS</a:t>
            </a:r>
            <a:endParaRPr lang="en-US" sz="1020" dirty="0"/>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Task Types: Ranking and Related Tasks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7342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US" sz="1720" dirty="0">
                <a:solidFill>
                  <a:srgbClr val="F4F7FB"/>
                </a:solidFill>
                <a:latin typeface="Aptos" pitchFamily="34" charset="0"/>
                <a:ea typeface="Aptos" pitchFamily="34" charset="-122"/>
                <a:cs typeface="Aptos" pitchFamily="34" charset="-120"/>
              </a:rPr>
              <a:t>Ranking: order products by predicted relevance or value</a:t>
            </a:r>
            <a:endParaRPr lang="en-US" sz="1720" dirty="0"/>
          </a:p>
        </p:txBody>
      </p:sp>
      <p:sp>
        <p:nvSpPr>
          <p:cNvPr id="8" name="Shape 6"/>
          <p:cNvSpPr/>
          <p:nvPr/>
        </p:nvSpPr>
        <p:spPr>
          <a:xfrm>
            <a:off x="603504" y="278723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Retrieval: narrow a large catalog to a manageable candidate set</a:t>
            </a:r>
            <a:endParaRPr lang="en-US" sz="1720" dirty="0"/>
          </a:p>
        </p:txBody>
      </p:sp>
      <p:sp>
        <p:nvSpPr>
          <p:cNvPr id="10" name="Shape 8"/>
          <p:cNvSpPr/>
          <p:nvPr/>
        </p:nvSpPr>
        <p:spPr>
          <a:xfrm>
            <a:off x="603504" y="360105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Forecasting: estimate aggregate demand over a future horizon</a:t>
            </a:r>
            <a:endParaRPr lang="en-US" sz="1720" dirty="0"/>
          </a:p>
        </p:txBody>
      </p:sp>
      <p:sp>
        <p:nvSpPr>
          <p:cNvPr id="12" name="Shape 10"/>
          <p:cNvSpPr/>
          <p:nvPr/>
        </p:nvSpPr>
        <p:spPr>
          <a:xfrm>
            <a:off x="603504" y="441486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Clustering/anomaly detection: discover groups or atypical behavior</a:t>
            </a:r>
            <a:endParaRPr lang="en-US" sz="1720" dirty="0"/>
          </a:p>
        </p:txBody>
      </p:sp>
      <p:sp>
        <p:nvSpPr>
          <p:cNvPr id="14" name="Shape 12"/>
          <p:cNvSpPr/>
          <p:nvPr/>
        </p:nvSpPr>
        <p:spPr>
          <a:xfrm>
            <a:off x="603504" y="522868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Different tasks need distinct labels, evaluation, and serving designs</a:t>
            </a:r>
            <a:endParaRPr lang="en-US" sz="17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3">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3" name="Text 1"/>
          <p:cNvSpPr/>
          <p:nvPr/>
        </p:nvSpPr>
        <p:spPr>
          <a:xfrm>
            <a:off x="594360" y="320040"/>
            <a:ext cx="9875520" cy="246888"/>
          </a:xfrm>
          <a:prstGeom prst="rect">
            <a:avLst/>
          </a:prstGeom>
          <a:noFill/>
          <a:ln/>
        </p:spPr>
        <p:txBody>
          <a:bodyPr wrap="square" lIns="0" tIns="0" rIns="0" bIns="0" rtlCol="0" anchor="ctr"/>
          <a:lstStyle/>
          <a:p>
            <a:pPr marL="0" indent="0">
              <a:buNone/>
            </a:pPr>
            <a:r>
              <a:rPr lang="en-US" sz="1020" b="1" kern="0" spc="180" dirty="0">
                <a:solidFill>
                  <a:srgbClr val="52D6C5"/>
                </a:solidFill>
                <a:latin typeface="Aptos" pitchFamily="34" charset="0"/>
                <a:ea typeface="Aptos" pitchFamily="34" charset="-122"/>
                <a:cs typeface="Aptos" pitchFamily="34" charset="-120"/>
              </a:rPr>
              <a:t>WHAT DOES THE TARGET REALLY REPRESENT?</a:t>
            </a:r>
            <a:endParaRPr lang="en-US" sz="1020" dirty="0"/>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Choosing Labels and Prediction Horizons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7342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GB" sz="1720" dirty="0">
                <a:solidFill>
                  <a:srgbClr val="F4F7FB"/>
                </a:solidFill>
                <a:latin typeface="Aptos" pitchFamily="34" charset="0"/>
                <a:ea typeface="Aptos" pitchFamily="34" charset="-122"/>
                <a:cs typeface="Aptos" pitchFamily="34" charset="-120"/>
              </a:rPr>
              <a:t>Clicks are frequent, but they can be noisy signals of purchase intent.</a:t>
            </a:r>
            <a:endParaRPr lang="en-US" sz="1720" dirty="0"/>
          </a:p>
        </p:txBody>
      </p:sp>
      <p:sp>
        <p:nvSpPr>
          <p:cNvPr id="8" name="Shape 6"/>
          <p:cNvSpPr/>
          <p:nvPr/>
        </p:nvSpPr>
        <p:spPr>
          <a:xfrm>
            <a:off x="603504" y="278723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Purchases are valuable, but they are sparse and delayed</a:t>
            </a:r>
            <a:endParaRPr lang="en-US" sz="1720" dirty="0"/>
          </a:p>
        </p:txBody>
      </p:sp>
      <p:sp>
        <p:nvSpPr>
          <p:cNvPr id="10" name="Shape 8"/>
          <p:cNvSpPr/>
          <p:nvPr/>
        </p:nvSpPr>
        <p:spPr>
          <a:xfrm>
            <a:off x="603504" y="360105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Long-term retention may better represent business value, but it slows feedback.</a:t>
            </a:r>
            <a:endParaRPr lang="en-US" sz="1720" dirty="0"/>
          </a:p>
        </p:txBody>
      </p:sp>
      <p:sp>
        <p:nvSpPr>
          <p:cNvPr id="12" name="Shape 10"/>
          <p:cNvSpPr/>
          <p:nvPr/>
        </p:nvSpPr>
        <p:spPr>
          <a:xfrm>
            <a:off x="603504" y="441486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Label leakage can make offline results look unrealistically good.</a:t>
            </a:r>
            <a:endParaRPr lang="en-US" sz="1720" dirty="0"/>
          </a:p>
        </p:txBody>
      </p:sp>
      <p:sp>
        <p:nvSpPr>
          <p:cNvPr id="14" name="Shape 12"/>
          <p:cNvSpPr/>
          <p:nvPr/>
        </p:nvSpPr>
        <p:spPr>
          <a:xfrm>
            <a:off x="603504" y="522868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Define the observation window carefully to prevent future information from leaking into the data.</a:t>
            </a:r>
            <a:endParaRPr lang="en-US" sz="17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3" name="Text 1"/>
          <p:cNvSpPr/>
          <p:nvPr/>
        </p:nvSpPr>
        <p:spPr>
          <a:xfrm>
            <a:off x="594360" y="320040"/>
            <a:ext cx="9875520" cy="246888"/>
          </a:xfrm>
          <a:prstGeom prst="rect">
            <a:avLst/>
          </a:prstGeom>
          <a:noFill/>
          <a:ln/>
        </p:spPr>
        <p:txBody>
          <a:bodyPr wrap="square" lIns="0" tIns="0" rIns="0" bIns="0" rtlCol="0" anchor="ctr"/>
          <a:lstStyle/>
          <a:p>
            <a:pPr marL="0" indent="0">
              <a:buNone/>
            </a:pPr>
            <a:r>
              <a:rPr lang="en-US" sz="1020" b="1" kern="0" spc="180" dirty="0">
                <a:solidFill>
                  <a:srgbClr val="52D6C5"/>
                </a:solidFill>
                <a:latin typeface="Aptos" pitchFamily="34" charset="0"/>
                <a:ea typeface="Aptos" pitchFamily="34" charset="-122"/>
                <a:cs typeface="Aptos" pitchFamily="34" charset="-120"/>
              </a:rPr>
              <a:t>WHAT THE MODEL ACTUALLY OPTIMIZES</a:t>
            </a:r>
            <a:endParaRPr lang="en-US" sz="1020" dirty="0"/>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Objective Functions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204079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6400800" cy="740664"/>
          </a:xfrm>
          <a:prstGeom prst="rect">
            <a:avLst/>
          </a:prstGeom>
          <a:noFill/>
          <a:ln/>
        </p:spPr>
        <p:txBody>
          <a:bodyPr wrap="square" lIns="0" tIns="0" rIns="0" bIns="0" rtlCol="0" anchor="ctr"/>
          <a:lstStyle/>
          <a:p>
            <a:pPr marL="0" indent="0">
              <a:buNone/>
            </a:pPr>
            <a:r>
              <a:rPr lang="en-GB" sz="1720" dirty="0">
                <a:solidFill>
                  <a:srgbClr val="F4F7FB"/>
                </a:solidFill>
                <a:latin typeface="Aptos" pitchFamily="34" charset="0"/>
                <a:ea typeface="Aptos" pitchFamily="34" charset="-122"/>
                <a:cs typeface="Aptos" pitchFamily="34" charset="-120"/>
              </a:rPr>
              <a:t>During training, the model learns by reducing prediction errors.</a:t>
            </a:r>
            <a:endParaRPr lang="en-US" sz="1720" dirty="0"/>
          </a:p>
        </p:txBody>
      </p:sp>
      <p:sp>
        <p:nvSpPr>
          <p:cNvPr id="8" name="Shape 6"/>
          <p:cNvSpPr/>
          <p:nvPr/>
        </p:nvSpPr>
        <p:spPr>
          <a:xfrm>
            <a:off x="603504" y="264285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640080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Classification uses log loss. Regression uses squared or absolute error.</a:t>
            </a:r>
            <a:endParaRPr lang="en-US" sz="1720" dirty="0"/>
          </a:p>
        </p:txBody>
      </p:sp>
      <p:sp>
        <p:nvSpPr>
          <p:cNvPr id="10" name="Shape 8"/>
          <p:cNvSpPr/>
          <p:nvPr/>
        </p:nvSpPr>
        <p:spPr>
          <a:xfrm>
            <a:off x="603504" y="361067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Ranking losses help the model order items by relevance.</a:t>
            </a:r>
            <a:endParaRPr lang="en-US" sz="1720" dirty="0"/>
          </a:p>
        </p:txBody>
      </p:sp>
      <p:sp>
        <p:nvSpPr>
          <p:cNvPr id="12" name="Shape 10"/>
          <p:cNvSpPr/>
          <p:nvPr/>
        </p:nvSpPr>
        <p:spPr>
          <a:xfrm>
            <a:off x="603504" y="442449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229100"/>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Regularization limits model complexity and helps the model perform well on new data.</a:t>
            </a:r>
            <a:endParaRPr lang="en-US" sz="1720" dirty="0"/>
          </a:p>
        </p:txBody>
      </p:sp>
      <p:sp>
        <p:nvSpPr>
          <p:cNvPr id="14" name="Shape 12"/>
          <p:cNvSpPr/>
          <p:nvPr/>
        </p:nvSpPr>
        <p:spPr>
          <a:xfrm>
            <a:off x="603504" y="5257559"/>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5042916"/>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The training objective is a measure of model performance, not business value itself.</a:t>
            </a:r>
            <a:endParaRPr lang="en-US" sz="1720" dirty="0"/>
          </a:p>
        </p:txBody>
      </p:sp>
      <p:sp>
        <p:nvSpPr>
          <p:cNvPr id="16" name="Shape 14"/>
          <p:cNvSpPr/>
          <p:nvPr/>
        </p:nvSpPr>
        <p:spPr>
          <a:xfrm>
            <a:off x="7498080" y="1874520"/>
            <a:ext cx="3931920" cy="3657600"/>
          </a:xfrm>
          <a:prstGeom prst="roundRect">
            <a:avLst>
              <a:gd name="adj" fmla="val 4000"/>
            </a:avLst>
          </a:prstGeom>
          <a:solidFill>
            <a:srgbClr val="142238"/>
          </a:solidFill>
          <a:ln w="12700">
            <a:solidFill>
              <a:srgbClr val="142238">
                <a:alpha val="0"/>
              </a:srgbClr>
            </a:solidFill>
            <a:prstDash val="solid"/>
          </a:ln>
        </p:spPr>
        <p:txBody>
          <a:bodyPr/>
          <a:lstStyle/>
          <a:p>
            <a:endParaRPr lang="en-SA"/>
          </a:p>
        </p:txBody>
      </p:sp>
      <p:sp>
        <p:nvSpPr>
          <p:cNvPr id="17" name="Shape 15"/>
          <p:cNvSpPr/>
          <p:nvPr/>
        </p:nvSpPr>
        <p:spPr>
          <a:xfrm>
            <a:off x="7726680" y="2130552"/>
            <a:ext cx="3474720" cy="662940"/>
          </a:xfrm>
          <a:prstGeom prst="roundRect">
            <a:avLst>
              <a:gd name="adj" fmla="val 22069"/>
            </a:avLst>
          </a:prstGeom>
          <a:solidFill>
            <a:srgbClr val="1B304B"/>
          </a:solidFill>
          <a:ln w="12700">
            <a:solidFill>
              <a:srgbClr val="1B304B">
                <a:alpha val="0"/>
              </a:srgbClr>
            </a:solidFill>
            <a:prstDash val="solid"/>
          </a:ln>
        </p:spPr>
        <p:txBody>
          <a:bodyPr/>
          <a:lstStyle/>
          <a:p>
            <a:endParaRPr lang="en-SA"/>
          </a:p>
        </p:txBody>
      </p:sp>
      <p:sp>
        <p:nvSpPr>
          <p:cNvPr id="18" name="Text 16"/>
          <p:cNvSpPr/>
          <p:nvPr/>
        </p:nvSpPr>
        <p:spPr>
          <a:xfrm>
            <a:off x="7900416" y="2231136"/>
            <a:ext cx="3108960" cy="507492"/>
          </a:xfrm>
          <a:prstGeom prst="rect">
            <a:avLst/>
          </a:prstGeom>
          <a:noFill/>
          <a:ln/>
        </p:spPr>
        <p:txBody>
          <a:bodyPr wrap="square" lIns="0" tIns="0" rIns="0" bIns="0" rtlCol="0" anchor="ctr"/>
          <a:lstStyle/>
          <a:p>
            <a:pPr marL="0" indent="0" algn="ctr">
              <a:buNone/>
            </a:pPr>
            <a:r>
              <a:rPr lang="en-US" sz="1660" b="1" dirty="0">
                <a:solidFill>
                  <a:srgbClr val="52D6C5"/>
                </a:solidFill>
                <a:latin typeface="Aptos" pitchFamily="34" charset="0"/>
                <a:ea typeface="Aptos" pitchFamily="34" charset="-122"/>
                <a:cs typeface="Aptos" pitchFamily="34" charset="-120"/>
              </a:rPr>
              <a:t>Train: minimize L(θ)</a:t>
            </a:r>
            <a:endParaRPr lang="en-US" sz="1660" dirty="0"/>
          </a:p>
        </p:txBody>
      </p:sp>
      <p:sp>
        <p:nvSpPr>
          <p:cNvPr id="19" name="Shape 17"/>
          <p:cNvSpPr/>
          <p:nvPr/>
        </p:nvSpPr>
        <p:spPr>
          <a:xfrm>
            <a:off x="7726680" y="2930652"/>
            <a:ext cx="3474720" cy="662940"/>
          </a:xfrm>
          <a:prstGeom prst="roundRect">
            <a:avLst>
              <a:gd name="adj" fmla="val 22069"/>
            </a:avLst>
          </a:prstGeom>
          <a:solidFill>
            <a:srgbClr val="142238"/>
          </a:solidFill>
          <a:ln w="12700">
            <a:solidFill>
              <a:srgbClr val="142238">
                <a:alpha val="0"/>
              </a:srgbClr>
            </a:solidFill>
            <a:prstDash val="solid"/>
          </a:ln>
        </p:spPr>
        <p:txBody>
          <a:bodyPr/>
          <a:lstStyle/>
          <a:p>
            <a:endParaRPr lang="en-SA"/>
          </a:p>
        </p:txBody>
      </p:sp>
      <p:sp>
        <p:nvSpPr>
          <p:cNvPr id="20" name="Text 18"/>
          <p:cNvSpPr/>
          <p:nvPr/>
        </p:nvSpPr>
        <p:spPr>
          <a:xfrm>
            <a:off x="7900416" y="3031236"/>
            <a:ext cx="3108960" cy="50749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Subject to:</a:t>
            </a:r>
            <a:endParaRPr lang="en-US" sz="1660" dirty="0"/>
          </a:p>
        </p:txBody>
      </p:sp>
      <p:sp>
        <p:nvSpPr>
          <p:cNvPr id="21" name="Shape 19"/>
          <p:cNvSpPr/>
          <p:nvPr/>
        </p:nvSpPr>
        <p:spPr>
          <a:xfrm>
            <a:off x="7726680" y="3730752"/>
            <a:ext cx="3474720" cy="662940"/>
          </a:xfrm>
          <a:prstGeom prst="roundRect">
            <a:avLst>
              <a:gd name="adj" fmla="val 22069"/>
            </a:avLst>
          </a:prstGeom>
          <a:solidFill>
            <a:srgbClr val="1B304B"/>
          </a:solidFill>
          <a:ln w="12700">
            <a:solidFill>
              <a:srgbClr val="1B304B">
                <a:alpha val="0"/>
              </a:srgbClr>
            </a:solidFill>
            <a:prstDash val="solid"/>
          </a:ln>
        </p:spPr>
        <p:txBody>
          <a:bodyPr/>
          <a:lstStyle/>
          <a:p>
            <a:endParaRPr lang="en-SA"/>
          </a:p>
        </p:txBody>
      </p:sp>
      <p:sp>
        <p:nvSpPr>
          <p:cNvPr id="22" name="Text 20"/>
          <p:cNvSpPr/>
          <p:nvPr/>
        </p:nvSpPr>
        <p:spPr>
          <a:xfrm>
            <a:off x="7900416" y="3831336"/>
            <a:ext cx="3108960" cy="50749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Latency ≤ budget</a:t>
            </a:r>
            <a:endParaRPr lang="en-US" sz="1660" dirty="0"/>
          </a:p>
        </p:txBody>
      </p:sp>
      <p:sp>
        <p:nvSpPr>
          <p:cNvPr id="23" name="Shape 21"/>
          <p:cNvSpPr/>
          <p:nvPr/>
        </p:nvSpPr>
        <p:spPr>
          <a:xfrm>
            <a:off x="7726680" y="4530852"/>
            <a:ext cx="3474720" cy="662940"/>
          </a:xfrm>
          <a:prstGeom prst="roundRect">
            <a:avLst>
              <a:gd name="adj" fmla="val 22069"/>
            </a:avLst>
          </a:prstGeom>
          <a:solidFill>
            <a:srgbClr val="142238"/>
          </a:solidFill>
          <a:ln w="12700">
            <a:solidFill>
              <a:srgbClr val="142238">
                <a:alpha val="0"/>
              </a:srgbClr>
            </a:solidFill>
            <a:prstDash val="solid"/>
          </a:ln>
        </p:spPr>
        <p:txBody>
          <a:bodyPr/>
          <a:lstStyle/>
          <a:p>
            <a:endParaRPr lang="en-SA"/>
          </a:p>
        </p:txBody>
      </p:sp>
      <p:sp>
        <p:nvSpPr>
          <p:cNvPr id="24" name="Text 22"/>
          <p:cNvSpPr/>
          <p:nvPr/>
        </p:nvSpPr>
        <p:spPr>
          <a:xfrm>
            <a:off x="7900416" y="4631436"/>
            <a:ext cx="3108960" cy="507492"/>
          </a:xfrm>
          <a:prstGeom prst="rect">
            <a:avLst/>
          </a:prstGeom>
          <a:noFill/>
          <a:ln/>
        </p:spPr>
        <p:txBody>
          <a:bodyPr wrap="square" lIns="0" tIns="0" rIns="0" bIns="0" rtlCol="0" anchor="ctr"/>
          <a:lstStyle/>
          <a:p>
            <a:pPr marL="0" indent="0" algn="ctr">
              <a:buNone/>
            </a:pPr>
            <a:r>
              <a:rPr lang="en-US" sz="1660" b="1" dirty="0">
                <a:solidFill>
                  <a:srgbClr val="F4F7FB"/>
                </a:solidFill>
                <a:latin typeface="Aptos" pitchFamily="34" charset="0"/>
                <a:ea typeface="Aptos" pitchFamily="34" charset="-122"/>
                <a:cs typeface="Aptos" pitchFamily="34" charset="-120"/>
              </a:rPr>
              <a:t>Quality ≥ threshold</a:t>
            </a:r>
            <a:endParaRPr lang="en-US" sz="166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5">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3" name="Text 1"/>
          <p:cNvSpPr/>
          <p:nvPr/>
        </p:nvSpPr>
        <p:spPr>
          <a:xfrm>
            <a:off x="594360" y="320040"/>
            <a:ext cx="9875520" cy="246888"/>
          </a:xfrm>
          <a:prstGeom prst="rect">
            <a:avLst/>
          </a:prstGeom>
          <a:noFill/>
          <a:ln/>
        </p:spPr>
        <p:txBody>
          <a:bodyPr wrap="square" lIns="0" tIns="0" rIns="0" bIns="0" rtlCol="0" anchor="ctr"/>
          <a:lstStyle/>
          <a:p>
            <a:pPr marL="0" indent="0">
              <a:buNone/>
            </a:pPr>
            <a:r>
              <a:rPr lang="en-US" sz="1020" b="1" kern="0" spc="180" dirty="0">
                <a:solidFill>
                  <a:srgbClr val="52D6C5"/>
                </a:solidFill>
                <a:latin typeface="Aptos" pitchFamily="34" charset="0"/>
                <a:ea typeface="Aptos" pitchFamily="34" charset="-122"/>
                <a:cs typeface="Aptos" pitchFamily="34" charset="-120"/>
              </a:rPr>
              <a:t>OPTIMIZATION IN PRACTICE</a:t>
            </a:r>
            <a:endParaRPr lang="en-US" sz="1020" dirty="0"/>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Balancing Goals and Constraints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7342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GB" sz="1720" dirty="0">
                <a:solidFill>
                  <a:srgbClr val="F4F7FB"/>
                </a:solidFill>
                <a:latin typeface="Aptos" pitchFamily="34" charset="0"/>
                <a:ea typeface="Aptos" pitchFamily="34" charset="-122"/>
                <a:cs typeface="Aptos" pitchFamily="34" charset="-120"/>
              </a:rPr>
              <a:t>Recommend relevant items quickly and within a computing budget.</a:t>
            </a:r>
            <a:endParaRPr lang="en-US" sz="1720" dirty="0"/>
          </a:p>
        </p:txBody>
      </p:sp>
      <p:sp>
        <p:nvSpPr>
          <p:cNvPr id="8" name="Shape 6"/>
          <p:cNvSpPr/>
          <p:nvPr/>
        </p:nvSpPr>
        <p:spPr>
          <a:xfrm>
            <a:off x="603504" y="278723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Increase purchases while keeping users satisfied and recommendations diverse.</a:t>
            </a:r>
            <a:endParaRPr lang="en-US" sz="1720" dirty="0"/>
          </a:p>
        </p:txBody>
      </p:sp>
      <p:sp>
        <p:nvSpPr>
          <p:cNvPr id="10" name="Shape 8"/>
          <p:cNvSpPr/>
          <p:nvPr/>
        </p:nvSpPr>
        <p:spPr>
          <a:xfrm>
            <a:off x="603504" y="360105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Use weights to show which goals matter most.</a:t>
            </a:r>
            <a:endParaRPr lang="en-US" sz="1720" dirty="0"/>
          </a:p>
        </p:txBody>
      </p:sp>
      <p:sp>
        <p:nvSpPr>
          <p:cNvPr id="12" name="Shape 10"/>
          <p:cNvSpPr/>
          <p:nvPr/>
        </p:nvSpPr>
        <p:spPr>
          <a:xfrm>
            <a:off x="603504" y="441486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Treat privacy and safety as strict limits.</a:t>
            </a:r>
            <a:endParaRPr lang="en-US" sz="1720" dirty="0"/>
          </a:p>
        </p:txBody>
      </p:sp>
      <p:sp>
        <p:nvSpPr>
          <p:cNvPr id="14" name="Shape 12"/>
          <p:cNvSpPr/>
          <p:nvPr/>
        </p:nvSpPr>
        <p:spPr>
          <a:xfrm>
            <a:off x="603504" y="522868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919472"/>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Compare trade-offs instead of relying on one score.</a:t>
            </a:r>
            <a:endParaRPr lang="en-US" sz="172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6">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3" name="Text 1"/>
          <p:cNvSpPr/>
          <p:nvPr/>
        </p:nvSpPr>
        <p:spPr>
          <a:xfrm>
            <a:off x="594360" y="320040"/>
            <a:ext cx="9875520" cy="246888"/>
          </a:xfrm>
          <a:prstGeom prst="rect">
            <a:avLst/>
          </a:prstGeom>
          <a:noFill/>
          <a:ln/>
        </p:spPr>
        <p:txBody>
          <a:bodyPr wrap="square" lIns="0" tIns="0" rIns="0" bIns="0" rtlCol="0" anchor="ctr"/>
          <a:lstStyle/>
          <a:p>
            <a:pPr marL="0" indent="0">
              <a:buNone/>
            </a:pPr>
            <a:r>
              <a:rPr lang="en-US" sz="1020" b="1" kern="0" spc="180" dirty="0">
                <a:solidFill>
                  <a:srgbClr val="52D6C5"/>
                </a:solidFill>
                <a:latin typeface="Aptos" pitchFamily="34" charset="0"/>
                <a:ea typeface="Aptos" pitchFamily="34" charset="-122"/>
                <a:cs typeface="Aptos" pitchFamily="34" charset="-120"/>
              </a:rPr>
              <a:t>A DESIGN CHOICE, NOT A UNIVERSAL UPGRADE</a:t>
            </a:r>
            <a:endParaRPr lang="en-US" sz="1020" dirty="0"/>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Batch vs. Online Predictions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581366" y="203454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6400800" cy="740664"/>
          </a:xfrm>
          <a:prstGeom prst="rect">
            <a:avLst/>
          </a:prstGeom>
          <a:noFill/>
          <a:ln/>
        </p:spPr>
        <p:txBody>
          <a:bodyPr wrap="square" lIns="0" tIns="0" rIns="0" bIns="0" rtlCol="0" anchor="ctr"/>
          <a:lstStyle/>
          <a:p>
            <a:pPr marL="0" indent="0">
              <a:buNone/>
            </a:pPr>
            <a:r>
              <a:rPr lang="en-GB" sz="1720" dirty="0">
                <a:solidFill>
                  <a:srgbClr val="F4F7FB"/>
                </a:solidFill>
                <a:latin typeface="Aptos" pitchFamily="34" charset="0"/>
                <a:ea typeface="Aptos" pitchFamily="34" charset="-122"/>
                <a:cs typeface="Aptos" pitchFamily="34" charset="-120"/>
              </a:rPr>
              <a:t>Batch: Prepare predictions in advance and update them periodically.</a:t>
            </a:r>
            <a:endParaRPr lang="en-US" sz="1720" dirty="0"/>
          </a:p>
        </p:txBody>
      </p:sp>
      <p:sp>
        <p:nvSpPr>
          <p:cNvPr id="8" name="Shape 6"/>
          <p:cNvSpPr/>
          <p:nvPr/>
        </p:nvSpPr>
        <p:spPr>
          <a:xfrm>
            <a:off x="594360" y="2681597"/>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Online: Generate predictions for each request using the latest information.</a:t>
            </a:r>
            <a:endParaRPr lang="en-US" sz="1720" dirty="0"/>
          </a:p>
        </p:txBody>
      </p:sp>
      <p:sp>
        <p:nvSpPr>
          <p:cNvPr id="10" name="Shape 8"/>
          <p:cNvSpPr/>
          <p:nvPr/>
        </p:nvSpPr>
        <p:spPr>
          <a:xfrm>
            <a:off x="627086" y="346028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Hybrid: Prepare results in advance, then update their order in real time.</a:t>
            </a:r>
            <a:endParaRPr lang="en-US" sz="1720" dirty="0"/>
          </a:p>
        </p:txBody>
      </p:sp>
      <p:sp>
        <p:nvSpPr>
          <p:cNvPr id="12" name="Shape 10"/>
          <p:cNvSpPr/>
          <p:nvPr/>
        </p:nvSpPr>
        <p:spPr>
          <a:xfrm>
            <a:off x="627086" y="4475988"/>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78808"/>
            <a:ext cx="640080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Choose the approach based on freshness, speed, and cost.</a:t>
            </a:r>
            <a:endParaRPr lang="en-US" sz="17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7">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3" name="Text 1"/>
          <p:cNvSpPr/>
          <p:nvPr/>
        </p:nvSpPr>
        <p:spPr>
          <a:xfrm>
            <a:off x="594360" y="320040"/>
            <a:ext cx="9875520" cy="246888"/>
          </a:xfrm>
          <a:prstGeom prst="rect">
            <a:avLst/>
          </a:prstGeom>
          <a:noFill/>
          <a:ln/>
        </p:spPr>
        <p:txBody>
          <a:bodyPr wrap="square" lIns="0" tIns="0" rIns="0" bIns="0" rtlCol="0" anchor="ctr"/>
          <a:lstStyle/>
          <a:p>
            <a:pPr marL="0" indent="0">
              <a:buNone/>
            </a:pPr>
            <a:r>
              <a:rPr lang="en-US" sz="1020" b="1" kern="0" spc="180" dirty="0">
                <a:solidFill>
                  <a:srgbClr val="52D6C5"/>
                </a:solidFill>
                <a:latin typeface="Aptos" pitchFamily="34" charset="0"/>
                <a:ea typeface="Aptos" pitchFamily="34" charset="-122"/>
                <a:cs typeface="Aptos" pitchFamily="34" charset="-120"/>
              </a:rPr>
              <a:t>THE ROLE OF DATA AND ALGORITHMS</a:t>
            </a:r>
            <a:endParaRPr lang="en-US" sz="1020" dirty="0"/>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Mind Versus Data</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17461" y="199351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GB" sz="1720" dirty="0">
                <a:solidFill>
                  <a:srgbClr val="F4F7FB"/>
                </a:solidFill>
                <a:latin typeface="Aptos" pitchFamily="34" charset="0"/>
                <a:ea typeface="Aptos" pitchFamily="34" charset="-122"/>
                <a:cs typeface="Aptos" pitchFamily="34" charset="-120"/>
              </a:rPr>
              <a:t>Better algorithms cannot fix incorrect labels.</a:t>
            </a:r>
            <a:endParaRPr lang="en-US" sz="1720" dirty="0"/>
          </a:p>
        </p:txBody>
      </p:sp>
      <p:sp>
        <p:nvSpPr>
          <p:cNvPr id="8" name="Shape 6"/>
          <p:cNvSpPr/>
          <p:nvPr/>
        </p:nvSpPr>
        <p:spPr>
          <a:xfrm>
            <a:off x="603504" y="2783746"/>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More data is not always better if it does not match real users.</a:t>
            </a:r>
            <a:endParaRPr lang="en-US" sz="1720" dirty="0"/>
          </a:p>
        </p:txBody>
      </p:sp>
      <p:sp>
        <p:nvSpPr>
          <p:cNvPr id="10" name="Shape 8"/>
          <p:cNvSpPr/>
          <p:nvPr/>
        </p:nvSpPr>
        <p:spPr>
          <a:xfrm>
            <a:off x="594360" y="361645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Data quality, coverage, and representation affect model results.</a:t>
            </a:r>
            <a:endParaRPr lang="en-US" sz="1720" dirty="0"/>
          </a:p>
        </p:txBody>
      </p:sp>
      <p:sp>
        <p:nvSpPr>
          <p:cNvPr id="12" name="Shape 10"/>
          <p:cNvSpPr/>
          <p:nvPr/>
        </p:nvSpPr>
        <p:spPr>
          <a:xfrm>
            <a:off x="594360" y="4405483"/>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Use error analysis to decide what to improve.</a:t>
            </a:r>
            <a:endParaRPr lang="en-US" sz="172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8">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3" name="Text 1"/>
          <p:cNvSpPr/>
          <p:nvPr/>
        </p:nvSpPr>
        <p:spPr>
          <a:xfrm>
            <a:off x="594360" y="320040"/>
            <a:ext cx="9875520" cy="246888"/>
          </a:xfrm>
          <a:prstGeom prst="rect">
            <a:avLst/>
          </a:prstGeom>
          <a:noFill/>
          <a:ln/>
        </p:spPr>
        <p:txBody>
          <a:bodyPr wrap="square" lIns="0" tIns="0" rIns="0" bIns="0" rtlCol="0" anchor="ctr"/>
          <a:lstStyle/>
          <a:p>
            <a:pPr marL="0" indent="0">
              <a:buNone/>
            </a:pPr>
            <a:r>
              <a:rPr lang="en-US" sz="1020" b="1" kern="0" spc="180" dirty="0">
                <a:solidFill>
                  <a:srgbClr val="52D6C5"/>
                </a:solidFill>
                <a:latin typeface="Aptos" pitchFamily="34" charset="0"/>
                <a:ea typeface="Aptos" pitchFamily="34" charset="-122"/>
                <a:cs typeface="Aptos" pitchFamily="34" charset="-120"/>
              </a:rPr>
              <a:t>APPLY THE FRAMEWORK</a:t>
            </a:r>
            <a:endParaRPr lang="en-US" sz="1020" dirty="0"/>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Graduate Case: Design the Recommender</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6" name="Shape 4"/>
          <p:cNvSpPr/>
          <p:nvPr/>
        </p:nvSpPr>
        <p:spPr>
          <a:xfrm>
            <a:off x="603504" y="198882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7" name="Text 5"/>
          <p:cNvSpPr/>
          <p:nvPr/>
        </p:nvSpPr>
        <p:spPr>
          <a:xfrm>
            <a:off x="841248" y="1664208"/>
            <a:ext cx="10698480" cy="740664"/>
          </a:xfrm>
          <a:prstGeom prst="rect">
            <a:avLst/>
          </a:prstGeom>
          <a:noFill/>
          <a:ln/>
        </p:spPr>
        <p:txBody>
          <a:bodyPr wrap="square" lIns="0" tIns="0" rIns="0" bIns="0" rtlCol="0" anchor="ctr"/>
          <a:lstStyle/>
          <a:p>
            <a:pPr marL="0" indent="0">
              <a:buNone/>
            </a:pPr>
            <a:r>
              <a:rPr lang="en-GB" sz="1720" dirty="0">
                <a:solidFill>
                  <a:srgbClr val="F4F7FB"/>
                </a:solidFill>
                <a:latin typeface="Aptos" pitchFamily="34" charset="0"/>
                <a:ea typeface="Aptos" pitchFamily="34" charset="-122"/>
                <a:cs typeface="Aptos" pitchFamily="34" charset="-120"/>
              </a:rPr>
              <a:t>Goal: Increase purchases without reducing user retention.</a:t>
            </a:r>
            <a:endParaRPr lang="en-US" sz="1720" dirty="0"/>
          </a:p>
        </p:txBody>
      </p:sp>
      <p:sp>
        <p:nvSpPr>
          <p:cNvPr id="8" name="Shape 6"/>
          <p:cNvSpPr/>
          <p:nvPr/>
        </p:nvSpPr>
        <p:spPr>
          <a:xfrm>
            <a:off x="559709" y="2759683"/>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9" name="Text 7"/>
          <p:cNvSpPr/>
          <p:nvPr/>
        </p:nvSpPr>
        <p:spPr>
          <a:xfrm>
            <a:off x="841248" y="2478024"/>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Find suitable items, then rank them for each user.</a:t>
            </a:r>
            <a:endParaRPr lang="en-US" sz="1720" dirty="0"/>
          </a:p>
        </p:txBody>
      </p:sp>
      <p:sp>
        <p:nvSpPr>
          <p:cNvPr id="10" name="Shape 8"/>
          <p:cNvSpPr/>
          <p:nvPr/>
        </p:nvSpPr>
        <p:spPr>
          <a:xfrm>
            <a:off x="578960" y="3579034"/>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1" name="Text 9"/>
          <p:cNvSpPr/>
          <p:nvPr/>
        </p:nvSpPr>
        <p:spPr>
          <a:xfrm>
            <a:off x="841248" y="3291840"/>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 Measure relevance, purchases, revenue, and response time.</a:t>
            </a:r>
            <a:endParaRPr lang="en-US" sz="1720" dirty="0"/>
          </a:p>
        </p:txBody>
      </p:sp>
      <p:sp>
        <p:nvSpPr>
          <p:cNvPr id="12" name="Shape 10"/>
          <p:cNvSpPr/>
          <p:nvPr/>
        </p:nvSpPr>
        <p:spPr>
          <a:xfrm>
            <a:off x="594360" y="4369990"/>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3" name="Text 11"/>
          <p:cNvSpPr/>
          <p:nvPr/>
        </p:nvSpPr>
        <p:spPr>
          <a:xfrm>
            <a:off x="841248" y="4105656"/>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Protect privacy and provide reliable results.</a:t>
            </a:r>
            <a:endParaRPr lang="en-US" sz="1720" dirty="0"/>
          </a:p>
        </p:txBody>
      </p:sp>
      <p:sp>
        <p:nvSpPr>
          <p:cNvPr id="14" name="Shape 12"/>
          <p:cNvSpPr/>
          <p:nvPr/>
        </p:nvSpPr>
        <p:spPr>
          <a:xfrm>
            <a:off x="594360" y="5140612"/>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841248" y="4828032"/>
            <a:ext cx="10698480" cy="740664"/>
          </a:xfrm>
          <a:prstGeom prst="rect">
            <a:avLst/>
          </a:prstGeom>
          <a:noFill/>
          <a:ln/>
        </p:spPr>
        <p:txBody>
          <a:bodyPr wrap="square" lIns="0" tIns="0" rIns="0" bIns="0" rtlCol="0" anchor="ctr"/>
          <a:lstStyle/>
          <a:p>
            <a:pPr marL="0" indent="0">
              <a:buNone/>
            </a:pPr>
            <a:r>
              <a:rPr lang="en-GB" sz="1720" dirty="0">
                <a:solidFill>
                  <a:srgbClr val="BAC8D8"/>
                </a:solidFill>
                <a:latin typeface="Aptos" pitchFamily="34" charset="0"/>
                <a:ea typeface="Aptos" pitchFamily="34" charset="-122"/>
                <a:cs typeface="Aptos" pitchFamily="34" charset="-120"/>
              </a:rPr>
              <a:t>Test the system gradually and monitor its performance.</a:t>
            </a:r>
            <a:endParaRPr lang="en-US" sz="172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0">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52D6C5"/>
          </a:solidFill>
          <a:ln w="12700">
            <a:solidFill>
              <a:srgbClr val="52D6C5">
                <a:alpha val="0"/>
              </a:srgbClr>
            </a:solidFill>
            <a:prstDash val="solid"/>
          </a:ln>
        </p:spPr>
        <p:txBody>
          <a:bodyPr/>
          <a:lstStyle/>
          <a:p>
            <a:endParaRPr lang="en-SA"/>
          </a:p>
        </p:txBody>
      </p:sp>
      <p:sp>
        <p:nvSpPr>
          <p:cNvPr id="4" name="Text 2"/>
          <p:cNvSpPr/>
          <p:nvPr/>
        </p:nvSpPr>
        <p:spPr>
          <a:xfrm>
            <a:off x="594360" y="722376"/>
            <a:ext cx="11064240" cy="594360"/>
          </a:xfrm>
          <a:prstGeom prst="rect">
            <a:avLst/>
          </a:prstGeom>
          <a:noFill/>
          <a:ln/>
        </p:spPr>
        <p:txBody>
          <a:bodyPr wrap="square" lIns="0" tIns="0" rIns="0" bIns="0" rtlCol="0" anchor="ctr"/>
          <a:lstStyle/>
          <a:p>
            <a:pPr marL="0" indent="0">
              <a:buNone/>
            </a:pPr>
            <a:r>
              <a:rPr lang="en-US" sz="2900" b="1" dirty="0">
                <a:solidFill>
                  <a:srgbClr val="F4F7FB"/>
                </a:solidFill>
                <a:latin typeface="Aptos" pitchFamily="34" charset="0"/>
                <a:ea typeface="Aptos" pitchFamily="34" charset="-122"/>
                <a:cs typeface="Aptos" pitchFamily="34" charset="-120"/>
              </a:rPr>
              <a:t>References</a:t>
            </a:r>
            <a:endParaRPr lang="en-US" sz="2900" dirty="0"/>
          </a:p>
        </p:txBody>
      </p:sp>
      <p:sp>
        <p:nvSpPr>
          <p:cNvPr id="5" name="Shape 3"/>
          <p:cNvSpPr/>
          <p:nvPr/>
        </p:nvSpPr>
        <p:spPr>
          <a:xfrm>
            <a:off x="594360" y="1444752"/>
            <a:ext cx="10945368" cy="0"/>
          </a:xfrm>
          <a:prstGeom prst="line">
            <a:avLst/>
          </a:prstGeom>
          <a:noFill/>
          <a:ln w="14605">
            <a:solidFill>
              <a:srgbClr val="33516E"/>
            </a:solidFill>
            <a:prstDash val="solid"/>
          </a:ln>
        </p:spPr>
        <p:txBody>
          <a:bodyPr/>
          <a:lstStyle/>
          <a:p>
            <a:endParaRPr lang="en-SA"/>
          </a:p>
        </p:txBody>
      </p:sp>
      <p:sp>
        <p:nvSpPr>
          <p:cNvPr id="14" name="Shape 12"/>
          <p:cNvSpPr/>
          <p:nvPr/>
        </p:nvSpPr>
        <p:spPr>
          <a:xfrm>
            <a:off x="591472" y="3181871"/>
            <a:ext cx="91440" cy="91440"/>
          </a:xfrm>
          <a:prstGeom prst="roundRect">
            <a:avLst>
              <a:gd name="adj" fmla="val 160000"/>
            </a:avLst>
          </a:prstGeom>
          <a:solidFill>
            <a:srgbClr val="52D6C5"/>
          </a:solidFill>
          <a:ln w="12700">
            <a:solidFill>
              <a:srgbClr val="52D6C5">
                <a:alpha val="0"/>
              </a:srgbClr>
            </a:solidFill>
            <a:prstDash val="solid"/>
          </a:ln>
        </p:spPr>
        <p:txBody>
          <a:bodyPr/>
          <a:lstStyle/>
          <a:p>
            <a:endParaRPr lang="en-SA"/>
          </a:p>
        </p:txBody>
      </p:sp>
      <p:sp>
        <p:nvSpPr>
          <p:cNvPr id="15" name="Text 13"/>
          <p:cNvSpPr/>
          <p:nvPr/>
        </p:nvSpPr>
        <p:spPr>
          <a:xfrm>
            <a:off x="960120" y="2857259"/>
            <a:ext cx="10698480" cy="740664"/>
          </a:xfrm>
          <a:prstGeom prst="rect">
            <a:avLst/>
          </a:prstGeom>
          <a:noFill/>
          <a:ln/>
        </p:spPr>
        <p:txBody>
          <a:bodyPr wrap="square" lIns="0" tIns="0" rIns="0" bIns="0" rtlCol="0" anchor="ctr"/>
          <a:lstStyle/>
          <a:p>
            <a:pPr marL="0" indent="0">
              <a:buNone/>
            </a:pPr>
            <a:r>
              <a:rPr lang="en-US" sz="1720" dirty="0">
                <a:solidFill>
                  <a:srgbClr val="BAC8D8"/>
                </a:solidFill>
                <a:latin typeface="Aptos" pitchFamily="34" charset="0"/>
                <a:ea typeface="Aptos" pitchFamily="34" charset="-122"/>
                <a:cs typeface="Aptos" pitchFamily="34" charset="-120"/>
              </a:rPr>
              <a:t>Primary reference: Chip Huyen (2022), Designing Machine Learning Systems, Ch. 1–2</a:t>
            </a:r>
            <a:endParaRPr lang="en-US" sz="17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F474BC495226A4DA390799C92E36619" ma:contentTypeVersion="3" ma:contentTypeDescription="Create a new document." ma:contentTypeScope="" ma:versionID="4a73b9420067643082b04fd5dc376804">
  <xsd:schema xmlns:xsd="http://www.w3.org/2001/XMLSchema" xmlns:xs="http://www.w3.org/2001/XMLSchema" xmlns:p="http://schemas.microsoft.com/office/2006/metadata/properties" xmlns:ns2="989db138-9486-4683-8f51-7f10e453a2b1" targetNamespace="http://schemas.microsoft.com/office/2006/metadata/properties" ma:root="true" ma:fieldsID="9e51b845acc3af0fc0e9af9baecfd305" ns2:_="">
    <xsd:import namespace="989db138-9486-4683-8f51-7f10e453a2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9db138-9486-4683-8f51-7f10e453a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7AA41B1-5BBD-47CE-90B0-0654538E2D51}"/>
</file>

<file path=customXml/itemProps2.xml><?xml version="1.0" encoding="utf-8"?>
<ds:datastoreItem xmlns:ds="http://schemas.openxmlformats.org/officeDocument/2006/customXml" ds:itemID="{DE1973D2-BB62-4BDE-AEBF-5F251FDEEE55}"/>
</file>

<file path=customXml/itemProps3.xml><?xml version="1.0" encoding="utf-8"?>
<ds:datastoreItem xmlns:ds="http://schemas.openxmlformats.org/officeDocument/2006/customXml" ds:itemID="{8BAE2A55-A244-4042-BCF9-283E06158C27}"/>
</file>

<file path=docProps/app.xml><?xml version="1.0" encoding="utf-8"?>
<Properties xmlns="http://schemas.openxmlformats.org/officeDocument/2006/extended-properties" xmlns:vt="http://schemas.openxmlformats.org/officeDocument/2006/docPropsVTypes">
  <TotalTime>2148</TotalTime>
  <Words>5615</Words>
  <Application>Microsoft Macintosh PowerPoint</Application>
  <PresentationFormat>Widescreen</PresentationFormat>
  <Paragraphs>327</Paragraphs>
  <Slides>36</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Machine Learning Systems | Graduate Lecture</dc:title>
  <dc:subject>Graduate lecture on Designing Machine Learning Systems, Chapters 1 and 2</dc:subject>
  <dc:creator>Academic Lecture</dc:creator>
  <cp:lastModifiedBy>abdulaziz saleh M algablan</cp:lastModifiedBy>
  <cp:revision>63</cp:revision>
  <dcterms:created xsi:type="dcterms:W3CDTF">2026-10-10T19:54:14Z</dcterms:created>
  <dcterms:modified xsi:type="dcterms:W3CDTF">2026-10-14T10:39:01Z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a7bb9f1-9883-4332-bf35-f95eaa385458_Enabled">
    <vt:lpwstr>true</vt:lpwstr>
  </property>
  <property fmtid="{D5CDD505-2E9C-101B-9397-08002B2CF9AE}" pid="3" name="MSIP_Label_fa7bb9f1-9883-4332-bf35-f95eaa385458_SetDate">
    <vt:lpwstr>2026-10-14T07:15:57Z</vt:lpwstr>
  </property>
  <property fmtid="{D5CDD505-2E9C-101B-9397-08002B2CF9AE}" pid="4" name="MSIP_Label_fa7bb9f1-9883-4332-bf35-f95eaa385458_Method">
    <vt:lpwstr>Standard</vt:lpwstr>
  </property>
  <property fmtid="{D5CDD505-2E9C-101B-9397-08002B2CF9AE}" pid="5" name="MSIP_Label_fa7bb9f1-9883-4332-bf35-f95eaa385458_Name">
    <vt:lpwstr>Documents(Restricted - مقيد)</vt:lpwstr>
  </property>
  <property fmtid="{D5CDD505-2E9C-101B-9397-08002B2CF9AE}" pid="6" name="MSIP_Label_fa7bb9f1-9883-4332-bf35-f95eaa385458_SiteId">
    <vt:lpwstr>c2b04da6-8487-41cc-8803-90321048a772</vt:lpwstr>
  </property>
  <property fmtid="{D5CDD505-2E9C-101B-9397-08002B2CF9AE}" pid="7" name="MSIP_Label_fa7bb9f1-9883-4332-bf35-f95eaa385458_ActionId">
    <vt:lpwstr>507f618c-fd57-464e-b11f-bbe74d91bce8</vt:lpwstr>
  </property>
  <property fmtid="{D5CDD505-2E9C-101B-9397-08002B2CF9AE}" pid="8" name="MSIP_Label_fa7bb9f1-9883-4332-bf35-f95eaa385458_ContentBits">
    <vt:lpwstr>2</vt:lpwstr>
  </property>
  <property fmtid="{D5CDD505-2E9C-101B-9397-08002B2CF9AE}" pid="9" name="MSIP_Label_fa7bb9f1-9883-4332-bf35-f95eaa385458_Tag">
    <vt:lpwstr>50, 3, 0, 1</vt:lpwstr>
  </property>
  <property fmtid="{D5CDD505-2E9C-101B-9397-08002B2CF9AE}" pid="10" name="ClassificationContentMarkingFooterLocations">
    <vt:lpwstr>Office Theme:3</vt:lpwstr>
  </property>
  <property fmtid="{D5CDD505-2E9C-101B-9397-08002B2CF9AE}" pid="11" name="ClassificationContentMarkingFooterText">
    <vt:lpwstr>Restricted - مقيد</vt:lpwstr>
  </property>
  <property fmtid="{D5CDD505-2E9C-101B-9397-08002B2CF9AE}" pid="12" name="ContentTypeId">
    <vt:lpwstr>0x0101007F474BC495226A4DA390799C92E36619</vt:lpwstr>
  </property>
</Properties>
</file>