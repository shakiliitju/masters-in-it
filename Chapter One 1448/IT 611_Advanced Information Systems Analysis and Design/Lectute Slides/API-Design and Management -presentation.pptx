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1"/>
  </p:notesMasterIdLst>
  <p:sldIdLst>
    <p:sldId id="256" r:id="rId5"/>
    <p:sldId id="257" r:id="rId6"/>
    <p:sldId id="293" r:id="rId7"/>
    <p:sldId id="258" r:id="rId8"/>
    <p:sldId id="290" r:id="rId9"/>
    <p:sldId id="259" r:id="rId10"/>
    <p:sldId id="260" r:id="rId11"/>
    <p:sldId id="294" r:id="rId12"/>
    <p:sldId id="261" r:id="rId13"/>
    <p:sldId id="262" r:id="rId14"/>
    <p:sldId id="263" r:id="rId15"/>
    <p:sldId id="264" r:id="rId16"/>
    <p:sldId id="265" r:id="rId17"/>
    <p:sldId id="266" r:id="rId18"/>
    <p:sldId id="295" r:id="rId19"/>
    <p:sldId id="267" r:id="rId20"/>
    <p:sldId id="292" r:id="rId21"/>
    <p:sldId id="268" r:id="rId22"/>
    <p:sldId id="269" r:id="rId23"/>
    <p:sldId id="270" r:id="rId24"/>
    <p:sldId id="271" r:id="rId25"/>
    <p:sldId id="297" r:id="rId26"/>
    <p:sldId id="272" r:id="rId27"/>
    <p:sldId id="273" r:id="rId28"/>
    <p:sldId id="274" r:id="rId29"/>
    <p:sldId id="288" r:id="rId30"/>
    <p:sldId id="275" r:id="rId31"/>
    <p:sldId id="277" r:id="rId32"/>
    <p:sldId id="278" r:id="rId33"/>
    <p:sldId id="279" r:id="rId34"/>
    <p:sldId id="280" r:id="rId35"/>
    <p:sldId id="282" r:id="rId36"/>
    <p:sldId id="283" r:id="rId37"/>
    <p:sldId id="285" r:id="rId38"/>
    <p:sldId id="291" r:id="rId39"/>
    <p:sldId id="289"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aziz saleh M algablan" userId="e8d9e4d9-6f25-472c-9315-01d09980dd71" providerId="ADAL" clId="{8AF9A7AE-14A4-57FD-B51B-F76F7F8CE6A1}"/>
    <pc:docChg chg="delSld modSld">
      <pc:chgData name="abdulaziz saleh M algablan" userId="e8d9e4d9-6f25-472c-9315-01d09980dd71" providerId="ADAL" clId="{8AF9A7AE-14A4-57FD-B51B-F76F7F8CE6A1}" dt="2026-10-07T10:54:52.380" v="1" actId="2696"/>
      <pc:docMkLst>
        <pc:docMk/>
      </pc:docMkLst>
      <pc:sldChg chg="addSp">
        <pc:chgData name="abdulaziz saleh M algablan" userId="e8d9e4d9-6f25-472c-9315-01d09980dd71" providerId="ADAL" clId="{8AF9A7AE-14A4-57FD-B51B-F76F7F8CE6A1}" dt="2026-10-07T10:54:46.971" v="0"/>
        <pc:sldMkLst>
          <pc:docMk/>
          <pc:sldMk cId="0" sldId="263"/>
        </pc:sldMkLst>
        <pc:inkChg chg="add">
          <ac:chgData name="abdulaziz saleh M algablan" userId="e8d9e4d9-6f25-472c-9315-01d09980dd71" providerId="ADAL" clId="{8AF9A7AE-14A4-57FD-B51B-F76F7F8CE6A1}" dt="2026-10-07T10:54:46.971" v="0"/>
          <ac:inkMkLst>
            <pc:docMk/>
            <pc:sldMk cId="0" sldId="263"/>
            <ac:inkMk id="2" creationId="{29FD8896-938B-02E9-2FF0-33996B340422}"/>
          </ac:inkMkLst>
        </pc:inkChg>
      </pc:sldChg>
      <pc:sldChg chg="addSp">
        <pc:chgData name="abdulaziz saleh M algablan" userId="e8d9e4d9-6f25-472c-9315-01d09980dd71" providerId="ADAL" clId="{8AF9A7AE-14A4-57FD-B51B-F76F7F8CE6A1}" dt="2026-10-07T10:54:46.971" v="0"/>
        <pc:sldMkLst>
          <pc:docMk/>
          <pc:sldMk cId="0" sldId="270"/>
        </pc:sldMkLst>
        <pc:inkChg chg="add">
          <ac:chgData name="abdulaziz saleh M algablan" userId="e8d9e4d9-6f25-472c-9315-01d09980dd71" providerId="ADAL" clId="{8AF9A7AE-14A4-57FD-B51B-F76F7F8CE6A1}" dt="2026-10-07T10:54:46.971" v="0"/>
          <ac:inkMkLst>
            <pc:docMk/>
            <pc:sldMk cId="0" sldId="270"/>
            <ac:inkMk id="14" creationId="{940D3462-E3AA-F7D4-5948-EF244CAA378F}"/>
          </ac:inkMkLst>
        </pc:inkChg>
      </pc:sldChg>
      <pc:sldChg chg="addSp">
        <pc:chgData name="abdulaziz saleh M algablan" userId="e8d9e4d9-6f25-472c-9315-01d09980dd71" providerId="ADAL" clId="{8AF9A7AE-14A4-57FD-B51B-F76F7F8CE6A1}" dt="2026-10-07T10:54:46.971" v="0"/>
        <pc:sldMkLst>
          <pc:docMk/>
          <pc:sldMk cId="2262639618" sldId="292"/>
        </pc:sldMkLst>
        <pc:inkChg chg="add">
          <ac:chgData name="abdulaziz saleh M algablan" userId="e8d9e4d9-6f25-472c-9315-01d09980dd71" providerId="ADAL" clId="{8AF9A7AE-14A4-57FD-B51B-F76F7F8CE6A1}" dt="2026-10-07T10:54:46.971" v="0"/>
          <ac:inkMkLst>
            <pc:docMk/>
            <pc:sldMk cId="2262639618" sldId="292"/>
            <ac:inkMk id="2" creationId="{0DA79FAF-7AAF-E7A6-352A-B24682FF34CC}"/>
          </ac:inkMkLst>
        </pc:inkChg>
      </pc:sldChg>
      <pc:sldChg chg="addSp">
        <pc:chgData name="abdulaziz saleh M algablan" userId="e8d9e4d9-6f25-472c-9315-01d09980dd71" providerId="ADAL" clId="{8AF9A7AE-14A4-57FD-B51B-F76F7F8CE6A1}" dt="2026-10-07T10:54:46.971" v="0"/>
        <pc:sldMkLst>
          <pc:docMk/>
          <pc:sldMk cId="475605269" sldId="293"/>
        </pc:sldMkLst>
        <pc:inkChg chg="add">
          <ac:chgData name="abdulaziz saleh M algablan" userId="e8d9e4d9-6f25-472c-9315-01d09980dd71" providerId="ADAL" clId="{8AF9A7AE-14A4-57FD-B51B-F76F7F8CE6A1}" dt="2026-10-07T10:54:46.971" v="0"/>
          <ac:inkMkLst>
            <pc:docMk/>
            <pc:sldMk cId="475605269" sldId="293"/>
            <ac:inkMk id="2" creationId="{D1D5A9B4-8D0D-0D49-2606-CACB53F1AABC}"/>
          </ac:inkMkLst>
        </pc:inkChg>
      </pc:sldChg>
      <pc:sldChg chg="addSp">
        <pc:chgData name="abdulaziz saleh M algablan" userId="e8d9e4d9-6f25-472c-9315-01d09980dd71" providerId="ADAL" clId="{8AF9A7AE-14A4-57FD-B51B-F76F7F8CE6A1}" dt="2026-10-07T10:54:46.971" v="0"/>
        <pc:sldMkLst>
          <pc:docMk/>
          <pc:sldMk cId="180667800" sldId="294"/>
        </pc:sldMkLst>
        <pc:inkChg chg="add">
          <ac:chgData name="abdulaziz saleh M algablan" userId="e8d9e4d9-6f25-472c-9315-01d09980dd71" providerId="ADAL" clId="{8AF9A7AE-14A4-57FD-B51B-F76F7F8CE6A1}" dt="2026-10-07T10:54:46.971" v="0"/>
          <ac:inkMkLst>
            <pc:docMk/>
            <pc:sldMk cId="180667800" sldId="294"/>
            <ac:inkMk id="2" creationId="{553DBD88-A97C-0892-062B-51C8426108CD}"/>
          </ac:inkMkLst>
        </pc:inkChg>
      </pc:sldChg>
      <pc:sldChg chg="addSp">
        <pc:chgData name="abdulaziz saleh M algablan" userId="e8d9e4d9-6f25-472c-9315-01d09980dd71" providerId="ADAL" clId="{8AF9A7AE-14A4-57FD-B51B-F76F7F8CE6A1}" dt="2026-10-07T10:54:46.971" v="0"/>
        <pc:sldMkLst>
          <pc:docMk/>
          <pc:sldMk cId="3004916374" sldId="297"/>
        </pc:sldMkLst>
        <pc:inkChg chg="add">
          <ac:chgData name="abdulaziz saleh M algablan" userId="e8d9e4d9-6f25-472c-9315-01d09980dd71" providerId="ADAL" clId="{8AF9A7AE-14A4-57FD-B51B-F76F7F8CE6A1}" dt="2026-10-07T10:54:46.971" v="0"/>
          <ac:inkMkLst>
            <pc:docMk/>
            <pc:sldMk cId="3004916374" sldId="297"/>
            <ac:inkMk id="6" creationId="{003ADA7B-580D-92D5-AAAC-B43128A05247}"/>
          </ac:inkMkLst>
        </pc:inkChg>
      </pc:sldChg>
      <pc:sldChg chg="del">
        <pc:chgData name="abdulaziz saleh M algablan" userId="e8d9e4d9-6f25-472c-9315-01d09980dd71" providerId="ADAL" clId="{8AF9A7AE-14A4-57FD-B51B-F76F7F8CE6A1}" dt="2026-10-07T10:54:52.380" v="1" actId="2696"/>
        <pc:sldMkLst>
          <pc:docMk/>
          <pc:sldMk cId="556686837" sldId="298"/>
        </pc:sldMkLst>
      </pc:sldChg>
    </pc:docChg>
  </pc:docChgLst>
  <pc:docChgLst>
    <pc:chgData name="abdulaziz saleh M algablan" userId="e8d9e4d9-6f25-472c-9315-01d09980dd71" providerId="ADAL" clId="{9AAC7DDA-9862-4F25-B568-460DED6EBA8A}"/>
    <pc:docChg chg="undo custSel mod addSld delSld modSld sldOrd modMainMaster">
      <pc:chgData name="abdulaziz saleh M algablan" userId="e8d9e4d9-6f25-472c-9315-01d09980dd71" providerId="ADAL" clId="{9AAC7DDA-9862-4F25-B568-460DED6EBA8A}" dt="2026-10-08T07:46:12.177" v="434" actId="478"/>
      <pc:docMkLst>
        <pc:docMk/>
      </pc:docMkLst>
      <pc:sldChg chg="delSp modSp mod">
        <pc:chgData name="abdulaziz saleh M algablan" userId="e8d9e4d9-6f25-472c-9315-01d09980dd71" providerId="ADAL" clId="{9AAC7DDA-9862-4F25-B568-460DED6EBA8A}" dt="2026-10-08T07:46:05.632" v="432" actId="478"/>
        <pc:sldMkLst>
          <pc:docMk/>
          <pc:sldMk cId="0" sldId="263"/>
        </pc:sldMkLst>
        <pc:spChg chg="mod">
          <ac:chgData name="abdulaziz saleh M algablan" userId="e8d9e4d9-6f25-472c-9315-01d09980dd71" providerId="ADAL" clId="{9AAC7DDA-9862-4F25-B568-460DED6EBA8A}" dt="2026-10-07T07:12:38.845" v="260" actId="13926"/>
          <ac:spMkLst>
            <pc:docMk/>
            <pc:sldMk cId="0" sldId="263"/>
            <ac:spMk id="7" creationId="{00000000-0000-0000-0000-000000000000}"/>
          </ac:spMkLst>
        </pc:spChg>
        <pc:inkChg chg="del">
          <ac:chgData name="abdulaziz saleh M algablan" userId="e8d9e4d9-6f25-472c-9315-01d09980dd71" providerId="ADAL" clId="{9AAC7DDA-9862-4F25-B568-460DED6EBA8A}" dt="2026-10-08T07:46:05.632" v="432" actId="478"/>
          <ac:inkMkLst>
            <pc:docMk/>
            <pc:sldMk cId="0" sldId="263"/>
            <ac:inkMk id="2" creationId="{29FD8896-938B-02E9-2FF0-33996B340422}"/>
          </ac:inkMkLst>
        </pc:inkChg>
      </pc:sldChg>
      <pc:sldChg chg="modSp mod">
        <pc:chgData name="abdulaziz saleh M algablan" userId="e8d9e4d9-6f25-472c-9315-01d09980dd71" providerId="ADAL" clId="{9AAC7DDA-9862-4F25-B568-460DED6EBA8A}" dt="2026-10-07T07:14:53.340" v="278" actId="20577"/>
        <pc:sldMkLst>
          <pc:docMk/>
          <pc:sldMk cId="0" sldId="266"/>
        </pc:sldMkLst>
        <pc:spChg chg="mod">
          <ac:chgData name="abdulaziz saleh M algablan" userId="e8d9e4d9-6f25-472c-9315-01d09980dd71" providerId="ADAL" clId="{9AAC7DDA-9862-4F25-B568-460DED6EBA8A}" dt="2026-10-07T07:14:53.340" v="278" actId="20577"/>
          <ac:spMkLst>
            <pc:docMk/>
            <pc:sldMk cId="0" sldId="266"/>
            <ac:spMk id="21" creationId="{00000000-0000-0000-0000-000000000000}"/>
          </ac:spMkLst>
        </pc:spChg>
        <pc:spChg chg="mod">
          <ac:chgData name="abdulaziz saleh M algablan" userId="e8d9e4d9-6f25-472c-9315-01d09980dd71" providerId="ADAL" clId="{9AAC7DDA-9862-4F25-B568-460DED6EBA8A}" dt="2026-10-07T07:14:33.506" v="263" actId="14100"/>
          <ac:spMkLst>
            <pc:docMk/>
            <pc:sldMk cId="0" sldId="266"/>
            <ac:spMk id="22" creationId="{00000000-0000-0000-0000-000000000000}"/>
          </ac:spMkLst>
        </pc:spChg>
        <pc:spChg chg="mod">
          <ac:chgData name="abdulaziz saleh M algablan" userId="e8d9e4d9-6f25-472c-9315-01d09980dd71" providerId="ADAL" clId="{9AAC7DDA-9862-4F25-B568-460DED6EBA8A}" dt="2026-10-07T07:14:42.773" v="265" actId="1076"/>
          <ac:spMkLst>
            <pc:docMk/>
            <pc:sldMk cId="0" sldId="266"/>
            <ac:spMk id="23" creationId="{00000000-0000-0000-0000-000000000000}"/>
          </ac:spMkLst>
        </pc:spChg>
      </pc:sldChg>
      <pc:sldChg chg="delSp mod">
        <pc:chgData name="abdulaziz saleh M algablan" userId="e8d9e4d9-6f25-472c-9315-01d09980dd71" providerId="ADAL" clId="{9AAC7DDA-9862-4F25-B568-460DED6EBA8A}" dt="2026-10-08T07:46:12.177" v="434" actId="478"/>
        <pc:sldMkLst>
          <pc:docMk/>
          <pc:sldMk cId="0" sldId="270"/>
        </pc:sldMkLst>
        <pc:inkChg chg="del">
          <ac:chgData name="abdulaziz saleh M algablan" userId="e8d9e4d9-6f25-472c-9315-01d09980dd71" providerId="ADAL" clId="{9AAC7DDA-9862-4F25-B568-460DED6EBA8A}" dt="2026-10-08T07:46:12.177" v="434" actId="478"/>
          <ac:inkMkLst>
            <pc:docMk/>
            <pc:sldMk cId="0" sldId="270"/>
            <ac:inkMk id="14" creationId="{940D3462-E3AA-F7D4-5948-EF244CAA378F}"/>
          </ac:inkMkLst>
        </pc:inkChg>
      </pc:sldChg>
      <pc:sldChg chg="addSp delSp modSp add mod">
        <pc:chgData name="abdulaziz saleh M algablan" userId="e8d9e4d9-6f25-472c-9315-01d09980dd71" providerId="ADAL" clId="{9AAC7DDA-9862-4F25-B568-460DED6EBA8A}" dt="2026-10-08T07:46:09.813" v="433" actId="478"/>
        <pc:sldMkLst>
          <pc:docMk/>
          <pc:sldMk cId="2262639618" sldId="292"/>
        </pc:sldMkLst>
        <pc:spChg chg="add del mod">
          <ac:chgData name="abdulaziz saleh M algablan" userId="e8d9e4d9-6f25-472c-9315-01d09980dd71" providerId="ADAL" clId="{9AAC7DDA-9862-4F25-B568-460DED6EBA8A}" dt="2026-10-07T06:46:11.331" v="10"/>
          <ac:spMkLst>
            <pc:docMk/>
            <pc:sldMk cId="2262639618" sldId="292"/>
            <ac:spMk id="2" creationId="{AAB1A84D-31A3-0463-4C28-C869A5109F77}"/>
          </ac:spMkLst>
        </pc:spChg>
        <pc:spChg chg="mod">
          <ac:chgData name="abdulaziz saleh M algablan" userId="e8d9e4d9-6f25-472c-9315-01d09980dd71" providerId="ADAL" clId="{9AAC7DDA-9862-4F25-B568-460DED6EBA8A}" dt="2026-10-07T07:16:58.289" v="281" actId="1076"/>
          <ac:spMkLst>
            <pc:docMk/>
            <pc:sldMk cId="2262639618" sldId="292"/>
            <ac:spMk id="3" creationId="{18F5FE3B-559E-37B6-9C88-E48B5E71421D}"/>
          </ac:spMkLst>
        </pc:spChg>
        <pc:spChg chg="del">
          <ac:chgData name="abdulaziz saleh M algablan" userId="e8d9e4d9-6f25-472c-9315-01d09980dd71" providerId="ADAL" clId="{9AAC7DDA-9862-4F25-B568-460DED6EBA8A}" dt="2026-10-07T06:48:50.142" v="30" actId="478"/>
          <ac:spMkLst>
            <pc:docMk/>
            <pc:sldMk cId="2262639618" sldId="292"/>
            <ac:spMk id="4" creationId="{323383B2-90F8-AB92-8F20-069F64150632}"/>
          </ac:spMkLst>
        </pc:spChg>
        <pc:spChg chg="del">
          <ac:chgData name="abdulaziz saleh M algablan" userId="e8d9e4d9-6f25-472c-9315-01d09980dd71" providerId="ADAL" clId="{9AAC7DDA-9862-4F25-B568-460DED6EBA8A}" dt="2026-10-07T06:46:15.939" v="11" actId="478"/>
          <ac:spMkLst>
            <pc:docMk/>
            <pc:sldMk cId="2262639618" sldId="292"/>
            <ac:spMk id="5" creationId="{94D25353-D15E-A318-A4A1-F6A66693C5C0}"/>
          </ac:spMkLst>
        </pc:spChg>
        <pc:spChg chg="mod">
          <ac:chgData name="abdulaziz saleh M algablan" userId="e8d9e4d9-6f25-472c-9315-01d09980dd71" providerId="ADAL" clId="{9AAC7DDA-9862-4F25-B568-460DED6EBA8A}" dt="2026-10-07T07:17:04.616" v="283" actId="1076"/>
          <ac:spMkLst>
            <pc:docMk/>
            <pc:sldMk cId="2262639618" sldId="292"/>
            <ac:spMk id="6" creationId="{0C3C2DA0-C018-BE18-C703-E5A3845B2CEC}"/>
          </ac:spMkLst>
        </pc:spChg>
        <pc:spChg chg="del mod">
          <ac:chgData name="abdulaziz saleh M algablan" userId="e8d9e4d9-6f25-472c-9315-01d09980dd71" providerId="ADAL" clId="{9AAC7DDA-9862-4F25-B568-460DED6EBA8A}" dt="2026-10-07T06:46:02.075" v="5" actId="478"/>
          <ac:spMkLst>
            <pc:docMk/>
            <pc:sldMk cId="2262639618" sldId="292"/>
            <ac:spMk id="7" creationId="{4C70D450-CBA9-0D21-77D7-7A41C270A800}"/>
          </ac:spMkLst>
        </pc:spChg>
        <pc:spChg chg="del">
          <ac:chgData name="abdulaziz saleh M algablan" userId="e8d9e4d9-6f25-472c-9315-01d09980dd71" providerId="ADAL" clId="{9AAC7DDA-9862-4F25-B568-460DED6EBA8A}" dt="2026-10-07T06:46:04.546" v="6" actId="478"/>
          <ac:spMkLst>
            <pc:docMk/>
            <pc:sldMk cId="2262639618" sldId="292"/>
            <ac:spMk id="8" creationId="{936FC395-0CED-9FCF-E959-322C40C1EBF8}"/>
          </ac:spMkLst>
        </pc:spChg>
        <pc:spChg chg="del">
          <ac:chgData name="abdulaziz saleh M algablan" userId="e8d9e4d9-6f25-472c-9315-01d09980dd71" providerId="ADAL" clId="{9AAC7DDA-9862-4F25-B568-460DED6EBA8A}" dt="2026-10-07T06:46:06.579" v="7" actId="478"/>
          <ac:spMkLst>
            <pc:docMk/>
            <pc:sldMk cId="2262639618" sldId="292"/>
            <ac:spMk id="9" creationId="{7C6D0F6A-758E-9232-7CB8-DD3B5AA34212}"/>
          </ac:spMkLst>
        </pc:spChg>
        <pc:spChg chg="del">
          <ac:chgData name="abdulaziz saleh M algablan" userId="e8d9e4d9-6f25-472c-9315-01d09980dd71" providerId="ADAL" clId="{9AAC7DDA-9862-4F25-B568-460DED6EBA8A}" dt="2026-10-07T06:46:15.939" v="11" actId="478"/>
          <ac:spMkLst>
            <pc:docMk/>
            <pc:sldMk cId="2262639618" sldId="292"/>
            <ac:spMk id="10" creationId="{D452D6FD-BA4E-D800-D2D7-FDFBADDC1DB0}"/>
          </ac:spMkLst>
        </pc:spChg>
        <pc:spChg chg="del">
          <ac:chgData name="abdulaziz saleh M algablan" userId="e8d9e4d9-6f25-472c-9315-01d09980dd71" providerId="ADAL" clId="{9AAC7DDA-9862-4F25-B568-460DED6EBA8A}" dt="2026-10-07T06:46:15.939" v="11" actId="478"/>
          <ac:spMkLst>
            <pc:docMk/>
            <pc:sldMk cId="2262639618" sldId="292"/>
            <ac:spMk id="11" creationId="{35F714F9-F6BC-279A-3549-40AB4C7F69DE}"/>
          </ac:spMkLst>
        </pc:spChg>
        <pc:spChg chg="del">
          <ac:chgData name="abdulaziz saleh M algablan" userId="e8d9e4d9-6f25-472c-9315-01d09980dd71" providerId="ADAL" clId="{9AAC7DDA-9862-4F25-B568-460DED6EBA8A}" dt="2026-10-07T06:46:15.939" v="11" actId="478"/>
          <ac:spMkLst>
            <pc:docMk/>
            <pc:sldMk cId="2262639618" sldId="292"/>
            <ac:spMk id="13" creationId="{9A955DDE-B5B1-81BD-9799-65A503009946}"/>
          </ac:spMkLst>
        </pc:spChg>
        <pc:spChg chg="del">
          <ac:chgData name="abdulaziz saleh M algablan" userId="e8d9e4d9-6f25-472c-9315-01d09980dd71" providerId="ADAL" clId="{9AAC7DDA-9862-4F25-B568-460DED6EBA8A}" dt="2026-10-07T06:46:15.939" v="11" actId="478"/>
          <ac:spMkLst>
            <pc:docMk/>
            <pc:sldMk cId="2262639618" sldId="292"/>
            <ac:spMk id="14" creationId="{FE3197FC-5614-BCC3-B5B4-FD0E48BFB575}"/>
          </ac:spMkLst>
        </pc:spChg>
        <pc:spChg chg="del">
          <ac:chgData name="abdulaziz saleh M algablan" userId="e8d9e4d9-6f25-472c-9315-01d09980dd71" providerId="ADAL" clId="{9AAC7DDA-9862-4F25-B568-460DED6EBA8A}" dt="2026-10-07T06:46:15.939" v="11" actId="478"/>
          <ac:spMkLst>
            <pc:docMk/>
            <pc:sldMk cId="2262639618" sldId="292"/>
            <ac:spMk id="15" creationId="{B733F222-4380-D755-62D8-508AE230273C}"/>
          </ac:spMkLst>
        </pc:spChg>
        <pc:spChg chg="del">
          <ac:chgData name="abdulaziz saleh M algablan" userId="e8d9e4d9-6f25-472c-9315-01d09980dd71" providerId="ADAL" clId="{9AAC7DDA-9862-4F25-B568-460DED6EBA8A}" dt="2026-10-07T06:46:15.939" v="11" actId="478"/>
          <ac:spMkLst>
            <pc:docMk/>
            <pc:sldMk cId="2262639618" sldId="292"/>
            <ac:spMk id="17" creationId="{8B6F4F78-6155-871E-FA9A-59164AA5B21C}"/>
          </ac:spMkLst>
        </pc:spChg>
        <pc:spChg chg="del">
          <ac:chgData name="abdulaziz saleh M algablan" userId="e8d9e4d9-6f25-472c-9315-01d09980dd71" providerId="ADAL" clId="{9AAC7DDA-9862-4F25-B568-460DED6EBA8A}" dt="2026-10-07T06:46:15.939" v="11" actId="478"/>
          <ac:spMkLst>
            <pc:docMk/>
            <pc:sldMk cId="2262639618" sldId="292"/>
            <ac:spMk id="19" creationId="{6EFFD7C6-FCED-714E-B38F-B27D9529D921}"/>
          </ac:spMkLst>
        </pc:spChg>
        <pc:spChg chg="del">
          <ac:chgData name="abdulaziz saleh M algablan" userId="e8d9e4d9-6f25-472c-9315-01d09980dd71" providerId="ADAL" clId="{9AAC7DDA-9862-4F25-B568-460DED6EBA8A}" dt="2026-10-07T06:46:15.939" v="11" actId="478"/>
          <ac:spMkLst>
            <pc:docMk/>
            <pc:sldMk cId="2262639618" sldId="292"/>
            <ac:spMk id="22" creationId="{2ABD2E12-5FC7-8AE4-500E-7369E72742C5}"/>
          </ac:spMkLst>
        </pc:spChg>
        <pc:spChg chg="del">
          <ac:chgData name="abdulaziz saleh M algablan" userId="e8d9e4d9-6f25-472c-9315-01d09980dd71" providerId="ADAL" clId="{9AAC7DDA-9862-4F25-B568-460DED6EBA8A}" dt="2026-10-07T06:46:15.939" v="11" actId="478"/>
          <ac:spMkLst>
            <pc:docMk/>
            <pc:sldMk cId="2262639618" sldId="292"/>
            <ac:spMk id="23" creationId="{1FDE71BA-0A15-3F58-2BD2-55F0C790B729}"/>
          </ac:spMkLst>
        </pc:spChg>
        <pc:spChg chg="add mod">
          <ac:chgData name="abdulaziz saleh M algablan" userId="e8d9e4d9-6f25-472c-9315-01d09980dd71" providerId="ADAL" clId="{9AAC7DDA-9862-4F25-B568-460DED6EBA8A}" dt="2026-10-07T07:17:02.289" v="282" actId="14100"/>
          <ac:spMkLst>
            <pc:docMk/>
            <pc:sldMk cId="2262639618" sldId="292"/>
            <ac:spMk id="25" creationId="{07605A5F-F075-6CB7-100D-217044FA5511}"/>
          </ac:spMkLst>
        </pc:spChg>
        <pc:spChg chg="add del">
          <ac:chgData name="abdulaziz saleh M algablan" userId="e8d9e4d9-6f25-472c-9315-01d09980dd71" providerId="ADAL" clId="{9AAC7DDA-9862-4F25-B568-460DED6EBA8A}" dt="2026-10-07T06:50:28.289" v="46" actId="22"/>
          <ac:spMkLst>
            <pc:docMk/>
            <pc:sldMk cId="2262639618" sldId="292"/>
            <ac:spMk id="27" creationId="{06BBEFD6-2FD1-4288-041C-E6A9005410FB}"/>
          </ac:spMkLst>
        </pc:spChg>
        <pc:spChg chg="add mod">
          <ac:chgData name="abdulaziz saleh M algablan" userId="e8d9e4d9-6f25-472c-9315-01d09980dd71" providerId="ADAL" clId="{9AAC7DDA-9862-4F25-B568-460DED6EBA8A}" dt="2026-10-07T06:50:56.897" v="55" actId="1076"/>
          <ac:spMkLst>
            <pc:docMk/>
            <pc:sldMk cId="2262639618" sldId="292"/>
            <ac:spMk id="29" creationId="{CEC481E7-4388-A03F-D345-59C53B761CB8}"/>
          </ac:spMkLst>
        </pc:spChg>
        <pc:spChg chg="add">
          <ac:chgData name="abdulaziz saleh M algablan" userId="e8d9e4d9-6f25-472c-9315-01d09980dd71" providerId="ADAL" clId="{9AAC7DDA-9862-4F25-B568-460DED6EBA8A}" dt="2026-10-07T06:50:45.643" v="51" actId="22"/>
          <ac:spMkLst>
            <pc:docMk/>
            <pc:sldMk cId="2262639618" sldId="292"/>
            <ac:spMk id="31" creationId="{B5EB90FD-8E8D-DE6A-4ED3-2326F84D0AFD}"/>
          </ac:spMkLst>
        </pc:spChg>
        <pc:spChg chg="add mod">
          <ac:chgData name="abdulaziz saleh M algablan" userId="e8d9e4d9-6f25-472c-9315-01d09980dd71" providerId="ADAL" clId="{9AAC7DDA-9862-4F25-B568-460DED6EBA8A}" dt="2026-10-07T07:17:07.779" v="284" actId="1076"/>
          <ac:spMkLst>
            <pc:docMk/>
            <pc:sldMk cId="2262639618" sldId="292"/>
            <ac:spMk id="33" creationId="{716D0C79-925C-B3FE-4E6C-70E2DDCEAC2F}"/>
          </ac:spMkLst>
        </pc:spChg>
        <pc:inkChg chg="del">
          <ac:chgData name="abdulaziz saleh M algablan" userId="e8d9e4d9-6f25-472c-9315-01d09980dd71" providerId="ADAL" clId="{9AAC7DDA-9862-4F25-B568-460DED6EBA8A}" dt="2026-10-08T07:46:09.813" v="433" actId="478"/>
          <ac:inkMkLst>
            <pc:docMk/>
            <pc:sldMk cId="2262639618" sldId="292"/>
            <ac:inkMk id="2" creationId="{0DA79FAF-7AAF-E7A6-352A-B24682FF34CC}"/>
          </ac:inkMkLst>
        </pc:inkChg>
      </pc:sldChg>
      <pc:sldChg chg="addSp delSp modSp add mod ord">
        <pc:chgData name="abdulaziz saleh M algablan" userId="e8d9e4d9-6f25-472c-9315-01d09980dd71" providerId="ADAL" clId="{9AAC7DDA-9862-4F25-B568-460DED6EBA8A}" dt="2026-10-08T07:46:00.890" v="431" actId="478"/>
        <pc:sldMkLst>
          <pc:docMk/>
          <pc:sldMk cId="475605269" sldId="293"/>
        </pc:sldMkLst>
        <pc:spChg chg="del">
          <ac:chgData name="abdulaziz saleh M algablan" userId="e8d9e4d9-6f25-472c-9315-01d09980dd71" providerId="ADAL" clId="{9AAC7DDA-9862-4F25-B568-460DED6EBA8A}" dt="2026-10-07T07:02:57.789" v="138" actId="478"/>
          <ac:spMkLst>
            <pc:docMk/>
            <pc:sldMk cId="475605269" sldId="293"/>
            <ac:spMk id="7" creationId="{7E14F685-67FB-31C9-ED09-67DA31F85343}"/>
          </ac:spMkLst>
        </pc:spChg>
        <pc:spChg chg="del">
          <ac:chgData name="abdulaziz saleh M algablan" userId="e8d9e4d9-6f25-472c-9315-01d09980dd71" providerId="ADAL" clId="{9AAC7DDA-9862-4F25-B568-460DED6EBA8A}" dt="2026-10-07T07:02:55.650" v="137" actId="478"/>
          <ac:spMkLst>
            <pc:docMk/>
            <pc:sldMk cId="475605269" sldId="293"/>
            <ac:spMk id="8" creationId="{1A2B5C52-3E30-D50B-6023-BE7733FF9DE5}"/>
          </ac:spMkLst>
        </pc:spChg>
        <pc:spChg chg="add mod">
          <ac:chgData name="abdulaziz saleh M algablan" userId="e8d9e4d9-6f25-472c-9315-01d09980dd71" providerId="ADAL" clId="{9AAC7DDA-9862-4F25-B568-460DED6EBA8A}" dt="2026-10-07T07:04:02.299" v="190" actId="20577"/>
          <ac:spMkLst>
            <pc:docMk/>
            <pc:sldMk cId="475605269" sldId="293"/>
            <ac:spMk id="11" creationId="{B2BBC72F-99ED-8872-44C2-90ACB984559E}"/>
          </ac:spMkLst>
        </pc:spChg>
        <pc:spChg chg="del">
          <ac:chgData name="abdulaziz saleh M algablan" userId="e8d9e4d9-6f25-472c-9315-01d09980dd71" providerId="ADAL" clId="{9AAC7DDA-9862-4F25-B568-460DED6EBA8A}" dt="2026-10-07T07:01:09.398" v="96" actId="478"/>
          <ac:spMkLst>
            <pc:docMk/>
            <pc:sldMk cId="475605269" sldId="293"/>
            <ac:spMk id="13" creationId="{4A40EB33-7544-5181-370F-CB3344C3592E}"/>
          </ac:spMkLst>
        </pc:spChg>
        <pc:spChg chg="del">
          <ac:chgData name="abdulaziz saleh M algablan" userId="e8d9e4d9-6f25-472c-9315-01d09980dd71" providerId="ADAL" clId="{9AAC7DDA-9862-4F25-B568-460DED6EBA8A}" dt="2026-10-07T07:01:09.398" v="96" actId="478"/>
          <ac:spMkLst>
            <pc:docMk/>
            <pc:sldMk cId="475605269" sldId="293"/>
            <ac:spMk id="16" creationId="{A040D23C-05D4-06FB-80B5-49F912542054}"/>
          </ac:spMkLst>
        </pc:spChg>
        <pc:spChg chg="del">
          <ac:chgData name="abdulaziz saleh M algablan" userId="e8d9e4d9-6f25-472c-9315-01d09980dd71" providerId="ADAL" clId="{9AAC7DDA-9862-4F25-B568-460DED6EBA8A}" dt="2026-10-07T07:01:09.398" v="96" actId="478"/>
          <ac:spMkLst>
            <pc:docMk/>
            <pc:sldMk cId="475605269" sldId="293"/>
            <ac:spMk id="18" creationId="{04358C0B-1487-B617-5B0E-EAB315368D72}"/>
          </ac:spMkLst>
        </pc:spChg>
        <pc:spChg chg="del">
          <ac:chgData name="abdulaziz saleh M algablan" userId="e8d9e4d9-6f25-472c-9315-01d09980dd71" providerId="ADAL" clId="{9AAC7DDA-9862-4F25-B568-460DED6EBA8A}" dt="2026-10-07T07:01:09.398" v="96" actId="478"/>
          <ac:spMkLst>
            <pc:docMk/>
            <pc:sldMk cId="475605269" sldId="293"/>
            <ac:spMk id="19" creationId="{A31A0957-30BC-3186-C6CE-D53A6E7571EC}"/>
          </ac:spMkLst>
        </pc:spChg>
        <pc:spChg chg="del">
          <ac:chgData name="abdulaziz saleh M algablan" userId="e8d9e4d9-6f25-472c-9315-01d09980dd71" providerId="ADAL" clId="{9AAC7DDA-9862-4F25-B568-460DED6EBA8A}" dt="2026-10-07T07:01:09.398" v="96" actId="478"/>
          <ac:spMkLst>
            <pc:docMk/>
            <pc:sldMk cId="475605269" sldId="293"/>
            <ac:spMk id="21" creationId="{FE8715FF-0402-4802-7D93-B876410C61D4}"/>
          </ac:spMkLst>
        </pc:spChg>
        <pc:spChg chg="del">
          <ac:chgData name="abdulaziz saleh M algablan" userId="e8d9e4d9-6f25-472c-9315-01d09980dd71" providerId="ADAL" clId="{9AAC7DDA-9862-4F25-B568-460DED6EBA8A}" dt="2026-10-07T07:01:09.398" v="96" actId="478"/>
          <ac:spMkLst>
            <pc:docMk/>
            <pc:sldMk cId="475605269" sldId="293"/>
            <ac:spMk id="22" creationId="{8FBF49D4-43FE-6FB6-EDE8-79FCA3F89A43}"/>
          </ac:spMkLst>
        </pc:spChg>
        <pc:spChg chg="del">
          <ac:chgData name="abdulaziz saleh M algablan" userId="e8d9e4d9-6f25-472c-9315-01d09980dd71" providerId="ADAL" clId="{9AAC7DDA-9862-4F25-B568-460DED6EBA8A}" dt="2026-10-07T07:01:09.398" v="96" actId="478"/>
          <ac:spMkLst>
            <pc:docMk/>
            <pc:sldMk cId="475605269" sldId="293"/>
            <ac:spMk id="24" creationId="{406CE167-9498-58E0-BA99-D08BB2B0D9C3}"/>
          </ac:spMkLst>
        </pc:spChg>
        <pc:spChg chg="del">
          <ac:chgData name="abdulaziz saleh M algablan" userId="e8d9e4d9-6f25-472c-9315-01d09980dd71" providerId="ADAL" clId="{9AAC7DDA-9862-4F25-B568-460DED6EBA8A}" dt="2026-10-07T07:01:09.398" v="96" actId="478"/>
          <ac:spMkLst>
            <pc:docMk/>
            <pc:sldMk cId="475605269" sldId="293"/>
            <ac:spMk id="28" creationId="{E394CCC3-DEBA-56B4-C5E3-319C82A0C90F}"/>
          </ac:spMkLst>
        </pc:spChg>
        <pc:spChg chg="del">
          <ac:chgData name="abdulaziz saleh M algablan" userId="e8d9e4d9-6f25-472c-9315-01d09980dd71" providerId="ADAL" clId="{9AAC7DDA-9862-4F25-B568-460DED6EBA8A}" dt="2026-10-07T07:01:09.398" v="96" actId="478"/>
          <ac:spMkLst>
            <pc:docMk/>
            <pc:sldMk cId="475605269" sldId="293"/>
            <ac:spMk id="30" creationId="{A8E0B677-2816-D7B2-A40B-9BB802A8127A}"/>
          </ac:spMkLst>
        </pc:spChg>
        <pc:spChg chg="del">
          <ac:chgData name="abdulaziz saleh M algablan" userId="e8d9e4d9-6f25-472c-9315-01d09980dd71" providerId="ADAL" clId="{9AAC7DDA-9862-4F25-B568-460DED6EBA8A}" dt="2026-10-07T07:01:09.398" v="96" actId="478"/>
          <ac:spMkLst>
            <pc:docMk/>
            <pc:sldMk cId="475605269" sldId="293"/>
            <ac:spMk id="38" creationId="{ACB517C2-421A-E5EB-5725-B1F9D13EDD94}"/>
          </ac:spMkLst>
        </pc:spChg>
        <pc:inkChg chg="del">
          <ac:chgData name="abdulaziz saleh M algablan" userId="e8d9e4d9-6f25-472c-9315-01d09980dd71" providerId="ADAL" clId="{9AAC7DDA-9862-4F25-B568-460DED6EBA8A}" dt="2026-10-08T07:46:00.890" v="431" actId="478"/>
          <ac:inkMkLst>
            <pc:docMk/>
            <pc:sldMk cId="475605269" sldId="293"/>
            <ac:inkMk id="2" creationId="{D1D5A9B4-8D0D-0D49-2606-CACB53F1AABC}"/>
          </ac:inkMkLst>
        </pc:inkChg>
      </pc:sldChg>
      <pc:sldChg chg="delSp modSp add mod ord">
        <pc:chgData name="abdulaziz saleh M algablan" userId="e8d9e4d9-6f25-472c-9315-01d09980dd71" providerId="ADAL" clId="{9AAC7DDA-9862-4F25-B568-460DED6EBA8A}" dt="2026-10-08T07:45:48.469" v="430" actId="478"/>
        <pc:sldMkLst>
          <pc:docMk/>
          <pc:sldMk cId="180667800" sldId="294"/>
        </pc:sldMkLst>
        <pc:spChg chg="mod">
          <ac:chgData name="abdulaziz saleh M algablan" userId="e8d9e4d9-6f25-472c-9315-01d09980dd71" providerId="ADAL" clId="{9AAC7DDA-9862-4F25-B568-460DED6EBA8A}" dt="2026-10-07T07:08:50.887" v="219" actId="20577"/>
          <ac:spMkLst>
            <pc:docMk/>
            <pc:sldMk cId="180667800" sldId="294"/>
            <ac:spMk id="3" creationId="{2080FB15-B1D4-79A3-BE32-DA18A9B7FB6C}"/>
          </ac:spMkLst>
        </pc:spChg>
        <pc:spChg chg="mod">
          <ac:chgData name="abdulaziz saleh M algablan" userId="e8d9e4d9-6f25-472c-9315-01d09980dd71" providerId="ADAL" clId="{9AAC7DDA-9862-4F25-B568-460DED6EBA8A}" dt="2026-10-07T07:10:14.355" v="254" actId="14100"/>
          <ac:spMkLst>
            <pc:docMk/>
            <pc:sldMk cId="180667800" sldId="294"/>
            <ac:spMk id="6" creationId="{333FD1F4-834E-93F2-770E-BE0E9494191D}"/>
          </ac:spMkLst>
        </pc:spChg>
        <pc:spChg chg="del">
          <ac:chgData name="abdulaziz saleh M algablan" userId="e8d9e4d9-6f25-472c-9315-01d09980dd71" providerId="ADAL" clId="{9AAC7DDA-9862-4F25-B568-460DED6EBA8A}" dt="2026-10-07T07:07:01.886" v="192" actId="478"/>
          <ac:spMkLst>
            <pc:docMk/>
            <pc:sldMk cId="180667800" sldId="294"/>
            <ac:spMk id="7" creationId="{3860F15E-E640-964B-B7CB-50FAB529ED70}"/>
          </ac:spMkLst>
        </pc:spChg>
        <pc:spChg chg="del">
          <ac:chgData name="abdulaziz saleh M algablan" userId="e8d9e4d9-6f25-472c-9315-01d09980dd71" providerId="ADAL" clId="{9AAC7DDA-9862-4F25-B568-460DED6EBA8A}" dt="2026-10-07T07:07:01.886" v="192" actId="478"/>
          <ac:spMkLst>
            <pc:docMk/>
            <pc:sldMk cId="180667800" sldId="294"/>
            <ac:spMk id="11" creationId="{CF3933CC-47AF-E66C-EFFF-33DB31FB7F8D}"/>
          </ac:spMkLst>
        </pc:spChg>
        <pc:spChg chg="del">
          <ac:chgData name="abdulaziz saleh M algablan" userId="e8d9e4d9-6f25-472c-9315-01d09980dd71" providerId="ADAL" clId="{9AAC7DDA-9862-4F25-B568-460DED6EBA8A}" dt="2026-10-07T07:07:01.886" v="192" actId="478"/>
          <ac:spMkLst>
            <pc:docMk/>
            <pc:sldMk cId="180667800" sldId="294"/>
            <ac:spMk id="19" creationId="{E5B18EA0-F253-B70B-C7C2-2F0A10DEE876}"/>
          </ac:spMkLst>
        </pc:spChg>
        <pc:spChg chg="del">
          <ac:chgData name="abdulaziz saleh M algablan" userId="e8d9e4d9-6f25-472c-9315-01d09980dd71" providerId="ADAL" clId="{9AAC7DDA-9862-4F25-B568-460DED6EBA8A}" dt="2026-10-07T07:07:01.886" v="192" actId="478"/>
          <ac:spMkLst>
            <pc:docMk/>
            <pc:sldMk cId="180667800" sldId="294"/>
            <ac:spMk id="20" creationId="{5726C30B-155A-18BE-BAF6-1CAE1C3E914C}"/>
          </ac:spMkLst>
        </pc:spChg>
        <pc:spChg chg="del">
          <ac:chgData name="abdulaziz saleh M algablan" userId="e8d9e4d9-6f25-472c-9315-01d09980dd71" providerId="ADAL" clId="{9AAC7DDA-9862-4F25-B568-460DED6EBA8A}" dt="2026-10-07T07:07:01.886" v="192" actId="478"/>
          <ac:spMkLst>
            <pc:docMk/>
            <pc:sldMk cId="180667800" sldId="294"/>
            <ac:spMk id="22" creationId="{7E129614-FC68-5244-C63F-BAE3DF981B96}"/>
          </ac:spMkLst>
        </pc:spChg>
        <pc:spChg chg="del">
          <ac:chgData name="abdulaziz saleh M algablan" userId="e8d9e4d9-6f25-472c-9315-01d09980dd71" providerId="ADAL" clId="{9AAC7DDA-9862-4F25-B568-460DED6EBA8A}" dt="2026-10-07T07:07:01.886" v="192" actId="478"/>
          <ac:spMkLst>
            <pc:docMk/>
            <pc:sldMk cId="180667800" sldId="294"/>
            <ac:spMk id="23" creationId="{766FC188-144B-2374-B10A-92593E964BB1}"/>
          </ac:spMkLst>
        </pc:spChg>
        <pc:spChg chg="del">
          <ac:chgData name="abdulaziz saleh M algablan" userId="e8d9e4d9-6f25-472c-9315-01d09980dd71" providerId="ADAL" clId="{9AAC7DDA-9862-4F25-B568-460DED6EBA8A}" dt="2026-10-07T07:07:01.886" v="192" actId="478"/>
          <ac:spMkLst>
            <pc:docMk/>
            <pc:sldMk cId="180667800" sldId="294"/>
            <ac:spMk id="24" creationId="{D4D6D95C-C731-3C20-8DA8-AF16AED19F04}"/>
          </ac:spMkLst>
        </pc:spChg>
        <pc:spChg chg="del">
          <ac:chgData name="abdulaziz saleh M algablan" userId="e8d9e4d9-6f25-472c-9315-01d09980dd71" providerId="ADAL" clId="{9AAC7DDA-9862-4F25-B568-460DED6EBA8A}" dt="2026-10-07T07:07:01.886" v="192" actId="478"/>
          <ac:spMkLst>
            <pc:docMk/>
            <pc:sldMk cId="180667800" sldId="294"/>
            <ac:spMk id="25" creationId="{BCE6C1EB-5A98-4065-EC12-6C0BC7103544}"/>
          </ac:spMkLst>
        </pc:spChg>
        <pc:spChg chg="del">
          <ac:chgData name="abdulaziz saleh M algablan" userId="e8d9e4d9-6f25-472c-9315-01d09980dd71" providerId="ADAL" clId="{9AAC7DDA-9862-4F25-B568-460DED6EBA8A}" dt="2026-10-07T07:07:01.886" v="192" actId="478"/>
          <ac:spMkLst>
            <pc:docMk/>
            <pc:sldMk cId="180667800" sldId="294"/>
            <ac:spMk id="26" creationId="{2616A6F4-2D58-EEBC-F73D-E1191DF8E000}"/>
          </ac:spMkLst>
        </pc:spChg>
        <pc:spChg chg="del">
          <ac:chgData name="abdulaziz saleh M algablan" userId="e8d9e4d9-6f25-472c-9315-01d09980dd71" providerId="ADAL" clId="{9AAC7DDA-9862-4F25-B568-460DED6EBA8A}" dt="2026-10-07T07:07:01.886" v="192" actId="478"/>
          <ac:spMkLst>
            <pc:docMk/>
            <pc:sldMk cId="180667800" sldId="294"/>
            <ac:spMk id="30" creationId="{666588A6-6208-FE1E-AD24-8CAE23FC6998}"/>
          </ac:spMkLst>
        </pc:spChg>
        <pc:spChg chg="del">
          <ac:chgData name="abdulaziz saleh M algablan" userId="e8d9e4d9-6f25-472c-9315-01d09980dd71" providerId="ADAL" clId="{9AAC7DDA-9862-4F25-B568-460DED6EBA8A}" dt="2026-10-07T07:07:03.169" v="193" actId="478"/>
          <ac:spMkLst>
            <pc:docMk/>
            <pc:sldMk cId="180667800" sldId="294"/>
            <ac:spMk id="31" creationId="{D2887592-1D93-BC17-F5DF-E63E1B17C535}"/>
          </ac:spMkLst>
        </pc:spChg>
        <pc:spChg chg="del">
          <ac:chgData name="abdulaziz saleh M algablan" userId="e8d9e4d9-6f25-472c-9315-01d09980dd71" providerId="ADAL" clId="{9AAC7DDA-9862-4F25-B568-460DED6EBA8A}" dt="2026-10-07T07:07:08.433" v="197" actId="478"/>
          <ac:spMkLst>
            <pc:docMk/>
            <pc:sldMk cId="180667800" sldId="294"/>
            <ac:spMk id="32" creationId="{99F1640D-FAFB-E3E9-DA15-A896C3DF837D}"/>
          </ac:spMkLst>
        </pc:spChg>
        <pc:spChg chg="del">
          <ac:chgData name="abdulaziz saleh M algablan" userId="e8d9e4d9-6f25-472c-9315-01d09980dd71" providerId="ADAL" clId="{9AAC7DDA-9862-4F25-B568-460DED6EBA8A}" dt="2026-10-07T07:07:07.443" v="196" actId="478"/>
          <ac:spMkLst>
            <pc:docMk/>
            <pc:sldMk cId="180667800" sldId="294"/>
            <ac:spMk id="33" creationId="{7064BC21-CC3A-42DD-9F9B-4CAF9DAA3A89}"/>
          </ac:spMkLst>
        </pc:spChg>
        <pc:spChg chg="del mod">
          <ac:chgData name="abdulaziz saleh M algablan" userId="e8d9e4d9-6f25-472c-9315-01d09980dd71" providerId="ADAL" clId="{9AAC7DDA-9862-4F25-B568-460DED6EBA8A}" dt="2026-10-07T07:07:06.340" v="195" actId="478"/>
          <ac:spMkLst>
            <pc:docMk/>
            <pc:sldMk cId="180667800" sldId="294"/>
            <ac:spMk id="34" creationId="{435E818F-EDDA-B450-FF05-19EB5F14D912}"/>
          </ac:spMkLst>
        </pc:spChg>
        <pc:spChg chg="del">
          <ac:chgData name="abdulaziz saleh M algablan" userId="e8d9e4d9-6f25-472c-9315-01d09980dd71" providerId="ADAL" clId="{9AAC7DDA-9862-4F25-B568-460DED6EBA8A}" dt="2026-10-07T07:07:11.169" v="198" actId="478"/>
          <ac:spMkLst>
            <pc:docMk/>
            <pc:sldMk cId="180667800" sldId="294"/>
            <ac:spMk id="35" creationId="{CAE5F717-676D-36DD-7421-7E0A1ED1C09F}"/>
          </ac:spMkLst>
        </pc:spChg>
        <pc:spChg chg="del">
          <ac:chgData name="abdulaziz saleh M algablan" userId="e8d9e4d9-6f25-472c-9315-01d09980dd71" providerId="ADAL" clId="{9AAC7DDA-9862-4F25-B568-460DED6EBA8A}" dt="2026-10-07T07:07:11.169" v="198" actId="478"/>
          <ac:spMkLst>
            <pc:docMk/>
            <pc:sldMk cId="180667800" sldId="294"/>
            <ac:spMk id="36" creationId="{6B34ECDC-E5F7-1AE7-6073-6BC52B874B17}"/>
          </ac:spMkLst>
        </pc:spChg>
        <pc:spChg chg="del">
          <ac:chgData name="abdulaziz saleh M algablan" userId="e8d9e4d9-6f25-472c-9315-01d09980dd71" providerId="ADAL" clId="{9AAC7DDA-9862-4F25-B568-460DED6EBA8A}" dt="2026-10-07T07:07:11.169" v="198" actId="478"/>
          <ac:spMkLst>
            <pc:docMk/>
            <pc:sldMk cId="180667800" sldId="294"/>
            <ac:spMk id="37" creationId="{F1F4B7AC-1D01-7921-B537-076253835CC0}"/>
          </ac:spMkLst>
        </pc:spChg>
        <pc:spChg chg="del">
          <ac:chgData name="abdulaziz saleh M algablan" userId="e8d9e4d9-6f25-472c-9315-01d09980dd71" providerId="ADAL" clId="{9AAC7DDA-9862-4F25-B568-460DED6EBA8A}" dt="2026-10-07T07:07:11.169" v="198" actId="478"/>
          <ac:spMkLst>
            <pc:docMk/>
            <pc:sldMk cId="180667800" sldId="294"/>
            <ac:spMk id="38" creationId="{49E4A778-21B5-90C3-C917-75FE3995089F}"/>
          </ac:spMkLst>
        </pc:spChg>
        <pc:inkChg chg="del">
          <ac:chgData name="abdulaziz saleh M algablan" userId="e8d9e4d9-6f25-472c-9315-01d09980dd71" providerId="ADAL" clId="{9AAC7DDA-9862-4F25-B568-460DED6EBA8A}" dt="2026-10-08T07:45:48.469" v="430" actId="478"/>
          <ac:inkMkLst>
            <pc:docMk/>
            <pc:sldMk cId="180667800" sldId="294"/>
            <ac:inkMk id="2" creationId="{553DBD88-A97C-0892-062B-51C8426108CD}"/>
          </ac:inkMkLst>
        </pc:inkChg>
      </pc:sldChg>
      <pc:sldChg chg="addSp delSp modSp add mod">
        <pc:chgData name="abdulaziz saleh M algablan" userId="e8d9e4d9-6f25-472c-9315-01d09980dd71" providerId="ADAL" clId="{9AAC7DDA-9862-4F25-B568-460DED6EBA8A}" dt="2026-10-07T07:23:24.226" v="287" actId="931"/>
        <pc:sldMkLst>
          <pc:docMk/>
          <pc:sldMk cId="3772676876" sldId="295"/>
        </pc:sldMkLst>
        <pc:spChg chg="del">
          <ac:chgData name="abdulaziz saleh M algablan" userId="e8d9e4d9-6f25-472c-9315-01d09980dd71" providerId="ADAL" clId="{9AAC7DDA-9862-4F25-B568-460DED6EBA8A}" dt="2026-10-07T07:23:13.443" v="286" actId="478"/>
          <ac:spMkLst>
            <pc:docMk/>
            <pc:sldMk cId="3772676876" sldId="295"/>
            <ac:spMk id="6" creationId="{0218CE2B-EF74-A3CD-9379-CAF762FF0781}"/>
          </ac:spMkLst>
        </pc:spChg>
        <pc:spChg chg="del">
          <ac:chgData name="abdulaziz saleh M algablan" userId="e8d9e4d9-6f25-472c-9315-01d09980dd71" providerId="ADAL" clId="{9AAC7DDA-9862-4F25-B568-460DED6EBA8A}" dt="2026-10-07T07:23:13.443" v="286" actId="478"/>
          <ac:spMkLst>
            <pc:docMk/>
            <pc:sldMk cId="3772676876" sldId="295"/>
            <ac:spMk id="9" creationId="{F8E36059-15BA-73DD-3B8A-238A137187C0}"/>
          </ac:spMkLst>
        </pc:spChg>
        <pc:spChg chg="del">
          <ac:chgData name="abdulaziz saleh M algablan" userId="e8d9e4d9-6f25-472c-9315-01d09980dd71" providerId="ADAL" clId="{9AAC7DDA-9862-4F25-B568-460DED6EBA8A}" dt="2026-10-07T07:23:13.443" v="286" actId="478"/>
          <ac:spMkLst>
            <pc:docMk/>
            <pc:sldMk cId="3772676876" sldId="295"/>
            <ac:spMk id="11" creationId="{E913D579-F472-C6BA-EDF5-2CE58AA34617}"/>
          </ac:spMkLst>
        </pc:spChg>
        <pc:spChg chg="del">
          <ac:chgData name="abdulaziz saleh M algablan" userId="e8d9e4d9-6f25-472c-9315-01d09980dd71" providerId="ADAL" clId="{9AAC7DDA-9862-4F25-B568-460DED6EBA8A}" dt="2026-10-07T07:23:13.443" v="286" actId="478"/>
          <ac:spMkLst>
            <pc:docMk/>
            <pc:sldMk cId="3772676876" sldId="295"/>
            <ac:spMk id="12" creationId="{908E17B8-D72C-41F0-9F78-ABD716C9B8CA}"/>
          </ac:spMkLst>
        </pc:spChg>
        <pc:spChg chg="del">
          <ac:chgData name="abdulaziz saleh M algablan" userId="e8d9e4d9-6f25-472c-9315-01d09980dd71" providerId="ADAL" clId="{9AAC7DDA-9862-4F25-B568-460DED6EBA8A}" dt="2026-10-07T07:23:13.443" v="286" actId="478"/>
          <ac:spMkLst>
            <pc:docMk/>
            <pc:sldMk cId="3772676876" sldId="295"/>
            <ac:spMk id="15" creationId="{8F356046-965E-B51A-E84C-03E0264126CD}"/>
          </ac:spMkLst>
        </pc:spChg>
        <pc:spChg chg="del">
          <ac:chgData name="abdulaziz saleh M algablan" userId="e8d9e4d9-6f25-472c-9315-01d09980dd71" providerId="ADAL" clId="{9AAC7DDA-9862-4F25-B568-460DED6EBA8A}" dt="2026-10-07T07:23:13.443" v="286" actId="478"/>
          <ac:spMkLst>
            <pc:docMk/>
            <pc:sldMk cId="3772676876" sldId="295"/>
            <ac:spMk id="16" creationId="{1006B3B5-6F06-73B3-4D61-4E960FC2346D}"/>
          </ac:spMkLst>
        </pc:spChg>
        <pc:spChg chg="del">
          <ac:chgData name="abdulaziz saleh M algablan" userId="e8d9e4d9-6f25-472c-9315-01d09980dd71" providerId="ADAL" clId="{9AAC7DDA-9862-4F25-B568-460DED6EBA8A}" dt="2026-10-07T07:23:13.443" v="286" actId="478"/>
          <ac:spMkLst>
            <pc:docMk/>
            <pc:sldMk cId="3772676876" sldId="295"/>
            <ac:spMk id="17" creationId="{9D05CFE3-8D5E-686C-5558-7E97C5A7C751}"/>
          </ac:spMkLst>
        </pc:spChg>
        <pc:spChg chg="del">
          <ac:chgData name="abdulaziz saleh M algablan" userId="e8d9e4d9-6f25-472c-9315-01d09980dd71" providerId="ADAL" clId="{9AAC7DDA-9862-4F25-B568-460DED6EBA8A}" dt="2026-10-07T07:23:13.443" v="286" actId="478"/>
          <ac:spMkLst>
            <pc:docMk/>
            <pc:sldMk cId="3772676876" sldId="295"/>
            <ac:spMk id="19" creationId="{18C5064B-8126-5551-0EBB-510B03907077}"/>
          </ac:spMkLst>
        </pc:spChg>
        <pc:spChg chg="del">
          <ac:chgData name="abdulaziz saleh M algablan" userId="e8d9e4d9-6f25-472c-9315-01d09980dd71" providerId="ADAL" clId="{9AAC7DDA-9862-4F25-B568-460DED6EBA8A}" dt="2026-10-07T07:23:13.443" v="286" actId="478"/>
          <ac:spMkLst>
            <pc:docMk/>
            <pc:sldMk cId="3772676876" sldId="295"/>
            <ac:spMk id="21" creationId="{5E152EDB-D4A8-30FB-70C0-23321946932D}"/>
          </ac:spMkLst>
        </pc:spChg>
        <pc:spChg chg="del">
          <ac:chgData name="abdulaziz saleh M algablan" userId="e8d9e4d9-6f25-472c-9315-01d09980dd71" providerId="ADAL" clId="{9AAC7DDA-9862-4F25-B568-460DED6EBA8A}" dt="2026-10-07T07:23:13.443" v="286" actId="478"/>
          <ac:spMkLst>
            <pc:docMk/>
            <pc:sldMk cId="3772676876" sldId="295"/>
            <ac:spMk id="22" creationId="{BD424F5C-3A93-6A09-5514-5DCAD1139C48}"/>
          </ac:spMkLst>
        </pc:spChg>
        <pc:picChg chg="add mod">
          <ac:chgData name="abdulaziz saleh M algablan" userId="e8d9e4d9-6f25-472c-9315-01d09980dd71" providerId="ADAL" clId="{9AAC7DDA-9862-4F25-B568-460DED6EBA8A}" dt="2026-10-07T07:23:24.226" v="287" actId="931"/>
          <ac:picMkLst>
            <pc:docMk/>
            <pc:sldMk cId="3772676876" sldId="295"/>
            <ac:picMk id="24" creationId="{1FDAB86E-EDCE-A1E7-5BF0-92BE3A22E0E3}"/>
          </ac:picMkLst>
        </pc:picChg>
      </pc:sldChg>
      <pc:sldChg chg="addSp modSp new del mod">
        <pc:chgData name="abdulaziz saleh M algablan" userId="e8d9e4d9-6f25-472c-9315-01d09980dd71" providerId="ADAL" clId="{9AAC7DDA-9862-4F25-B568-460DED6EBA8A}" dt="2026-10-07T07:46:23.057" v="428" actId="2696"/>
        <pc:sldMkLst>
          <pc:docMk/>
          <pc:sldMk cId="3166255264" sldId="296"/>
        </pc:sldMkLst>
        <pc:spChg chg="add mod">
          <ac:chgData name="abdulaziz saleh M algablan" userId="e8d9e4d9-6f25-472c-9315-01d09980dd71" providerId="ADAL" clId="{9AAC7DDA-9862-4F25-B568-460DED6EBA8A}" dt="2026-10-07T07:38:06.123" v="301" actId="1076"/>
          <ac:spMkLst>
            <pc:docMk/>
            <pc:sldMk cId="3166255264" sldId="296"/>
            <ac:spMk id="3" creationId="{ECAC6A94-2EBE-B237-867C-55724F4031A2}"/>
          </ac:spMkLst>
        </pc:spChg>
      </pc:sldChg>
      <pc:sldChg chg="addSp delSp modSp add mod">
        <pc:chgData name="abdulaziz saleh M algablan" userId="e8d9e4d9-6f25-472c-9315-01d09980dd71" providerId="ADAL" clId="{9AAC7DDA-9862-4F25-B568-460DED6EBA8A}" dt="2026-10-07T07:46:13.373" v="427" actId="14100"/>
        <pc:sldMkLst>
          <pc:docMk/>
          <pc:sldMk cId="3004916374" sldId="297"/>
        </pc:sldMkLst>
        <pc:spChg chg="mod">
          <ac:chgData name="abdulaziz saleh M algablan" userId="e8d9e4d9-6f25-472c-9315-01d09980dd71" providerId="ADAL" clId="{9AAC7DDA-9862-4F25-B568-460DED6EBA8A}" dt="2026-10-07T07:40:46.160" v="315" actId="20577"/>
          <ac:spMkLst>
            <pc:docMk/>
            <pc:sldMk cId="3004916374" sldId="297"/>
            <ac:spMk id="3" creationId="{2AF0F65A-12AD-4742-C7C8-5EBB6530B351}"/>
          </ac:spMkLst>
        </pc:spChg>
        <pc:spChg chg="add del">
          <ac:chgData name="abdulaziz saleh M algablan" userId="e8d9e4d9-6f25-472c-9315-01d09980dd71" providerId="ADAL" clId="{9AAC7DDA-9862-4F25-B568-460DED6EBA8A}" dt="2026-10-07T07:42:01.883" v="343" actId="478"/>
          <ac:spMkLst>
            <pc:docMk/>
            <pc:sldMk cId="3004916374" sldId="297"/>
            <ac:spMk id="6" creationId="{08BEC6A3-BB9D-2394-BA9F-E1A64EC0DEAA}"/>
          </ac:spMkLst>
        </pc:spChg>
        <pc:spChg chg="del">
          <ac:chgData name="abdulaziz saleh M algablan" userId="e8d9e4d9-6f25-472c-9315-01d09980dd71" providerId="ADAL" clId="{9AAC7DDA-9862-4F25-B568-460DED6EBA8A}" dt="2026-10-07T07:41:05.690" v="323" actId="478"/>
          <ac:spMkLst>
            <pc:docMk/>
            <pc:sldMk cId="3004916374" sldId="297"/>
            <ac:spMk id="7" creationId="{8C1C45EC-4F10-957D-146E-0DB461E71B82}"/>
          </ac:spMkLst>
        </pc:spChg>
        <pc:spChg chg="del">
          <ac:chgData name="abdulaziz saleh M algablan" userId="e8d9e4d9-6f25-472c-9315-01d09980dd71" providerId="ADAL" clId="{9AAC7DDA-9862-4F25-B568-460DED6EBA8A}" dt="2026-10-07T07:40:52.984" v="316" actId="478"/>
          <ac:spMkLst>
            <pc:docMk/>
            <pc:sldMk cId="3004916374" sldId="297"/>
            <ac:spMk id="10" creationId="{E687312B-8EC8-A6B7-C994-004D98D299AD}"/>
          </ac:spMkLst>
        </pc:spChg>
        <pc:spChg chg="add mod">
          <ac:chgData name="abdulaziz saleh M algablan" userId="e8d9e4d9-6f25-472c-9315-01d09980dd71" providerId="ADAL" clId="{9AAC7DDA-9862-4F25-B568-460DED6EBA8A}" dt="2026-10-07T07:46:10.921" v="426" actId="1076"/>
          <ac:spMkLst>
            <pc:docMk/>
            <pc:sldMk cId="3004916374" sldId="297"/>
            <ac:spMk id="11" creationId="{BA21170F-4138-728C-0039-FA09ED3EA50B}"/>
          </ac:spMkLst>
        </pc:spChg>
        <pc:spChg chg="del">
          <ac:chgData name="abdulaziz saleh M algablan" userId="e8d9e4d9-6f25-472c-9315-01d09980dd71" providerId="ADAL" clId="{9AAC7DDA-9862-4F25-B568-460DED6EBA8A}" dt="2026-10-07T07:41:58.428" v="341" actId="478"/>
          <ac:spMkLst>
            <pc:docMk/>
            <pc:sldMk cId="3004916374" sldId="297"/>
            <ac:spMk id="12" creationId="{48091035-0859-DE81-C522-2EA54CE7A225}"/>
          </ac:spMkLst>
        </pc:spChg>
        <pc:spChg chg="del">
          <ac:chgData name="abdulaziz saleh M algablan" userId="e8d9e4d9-6f25-472c-9315-01d09980dd71" providerId="ADAL" clId="{9AAC7DDA-9862-4F25-B568-460DED6EBA8A}" dt="2026-10-07T07:41:03.123" v="322" actId="478"/>
          <ac:spMkLst>
            <pc:docMk/>
            <pc:sldMk cId="3004916374" sldId="297"/>
            <ac:spMk id="13" creationId="{0B06C5F8-7AB8-5CDE-90FD-41945036C4E1}"/>
          </ac:spMkLst>
        </pc:spChg>
        <pc:spChg chg="del">
          <ac:chgData name="abdulaziz saleh M algablan" userId="e8d9e4d9-6f25-472c-9315-01d09980dd71" providerId="ADAL" clId="{9AAC7DDA-9862-4F25-B568-460DED6EBA8A}" dt="2026-10-07T07:40:52.984" v="316" actId="478"/>
          <ac:spMkLst>
            <pc:docMk/>
            <pc:sldMk cId="3004916374" sldId="297"/>
            <ac:spMk id="15" creationId="{A7E1CD27-AD47-D776-8FBF-0DBF1571EC39}"/>
          </ac:spMkLst>
        </pc:spChg>
        <pc:spChg chg="del">
          <ac:chgData name="abdulaziz saleh M algablan" userId="e8d9e4d9-6f25-472c-9315-01d09980dd71" providerId="ADAL" clId="{9AAC7DDA-9862-4F25-B568-460DED6EBA8A}" dt="2026-10-07T07:40:52.984" v="316" actId="478"/>
          <ac:spMkLst>
            <pc:docMk/>
            <pc:sldMk cId="3004916374" sldId="297"/>
            <ac:spMk id="16" creationId="{FCA78623-1B51-F380-6AAB-B6B471C80C63}"/>
          </ac:spMkLst>
        </pc:spChg>
        <pc:spChg chg="add mod">
          <ac:chgData name="abdulaziz saleh M algablan" userId="e8d9e4d9-6f25-472c-9315-01d09980dd71" providerId="ADAL" clId="{9AAC7DDA-9862-4F25-B568-460DED6EBA8A}" dt="2026-10-07T07:46:04.294" v="424" actId="1076"/>
          <ac:spMkLst>
            <pc:docMk/>
            <pc:sldMk cId="3004916374" sldId="297"/>
            <ac:spMk id="17" creationId="{D034BE06-BA3F-2887-E169-D63DEA83ECB3}"/>
          </ac:spMkLst>
        </pc:spChg>
        <pc:spChg chg="del mod">
          <ac:chgData name="abdulaziz saleh M algablan" userId="e8d9e4d9-6f25-472c-9315-01d09980dd71" providerId="ADAL" clId="{9AAC7DDA-9862-4F25-B568-460DED6EBA8A}" dt="2026-10-07T07:42:00.146" v="342" actId="478"/>
          <ac:spMkLst>
            <pc:docMk/>
            <pc:sldMk cId="3004916374" sldId="297"/>
            <ac:spMk id="18" creationId="{5A9D5DC0-D435-4EED-AE45-C0A50BAEDEF7}"/>
          </ac:spMkLst>
        </pc:spChg>
        <pc:spChg chg="del">
          <ac:chgData name="abdulaziz saleh M algablan" userId="e8d9e4d9-6f25-472c-9315-01d09980dd71" providerId="ADAL" clId="{9AAC7DDA-9862-4F25-B568-460DED6EBA8A}" dt="2026-10-07T07:40:56.065" v="318" actId="478"/>
          <ac:spMkLst>
            <pc:docMk/>
            <pc:sldMk cId="3004916374" sldId="297"/>
            <ac:spMk id="19" creationId="{8A56382B-A09D-7981-DD41-20A416B9EE0F}"/>
          </ac:spMkLst>
        </pc:spChg>
        <pc:spChg chg="del">
          <ac:chgData name="abdulaziz saleh M algablan" userId="e8d9e4d9-6f25-472c-9315-01d09980dd71" providerId="ADAL" clId="{9AAC7DDA-9862-4F25-B568-460DED6EBA8A}" dt="2026-10-07T07:40:52.984" v="316" actId="478"/>
          <ac:spMkLst>
            <pc:docMk/>
            <pc:sldMk cId="3004916374" sldId="297"/>
            <ac:spMk id="21" creationId="{A47C3110-DFAB-7395-C2AF-6581B9EA0B92}"/>
          </ac:spMkLst>
        </pc:spChg>
        <pc:spChg chg="del">
          <ac:chgData name="abdulaziz saleh M algablan" userId="e8d9e4d9-6f25-472c-9315-01d09980dd71" providerId="ADAL" clId="{9AAC7DDA-9862-4F25-B568-460DED6EBA8A}" dt="2026-10-07T07:40:52.984" v="316" actId="478"/>
          <ac:spMkLst>
            <pc:docMk/>
            <pc:sldMk cId="3004916374" sldId="297"/>
            <ac:spMk id="22" creationId="{DD6FB10C-5DB7-4685-3C99-0B2B93200A2A}"/>
          </ac:spMkLst>
        </pc:spChg>
        <pc:spChg chg="add mod">
          <ac:chgData name="abdulaziz saleh M algablan" userId="e8d9e4d9-6f25-472c-9315-01d09980dd71" providerId="ADAL" clId="{9AAC7DDA-9862-4F25-B568-460DED6EBA8A}" dt="2026-10-07T07:46:07.773" v="425" actId="1076"/>
          <ac:spMkLst>
            <pc:docMk/>
            <pc:sldMk cId="3004916374" sldId="297"/>
            <ac:spMk id="23" creationId="{BD04EC09-2867-1CC9-357C-BFCBA2FF7CA7}"/>
          </ac:spMkLst>
        </pc:spChg>
        <pc:spChg chg="mod">
          <ac:chgData name="abdulaziz saleh M algablan" userId="e8d9e4d9-6f25-472c-9315-01d09980dd71" providerId="ADAL" clId="{9AAC7DDA-9862-4F25-B568-460DED6EBA8A}" dt="2026-10-07T07:46:13.373" v="427" actId="14100"/>
          <ac:spMkLst>
            <pc:docMk/>
            <pc:sldMk cId="3004916374" sldId="297"/>
            <ac:spMk id="24" creationId="{67D4DF2A-6D60-0EA0-71CA-479C298990F2}"/>
          </ac:spMkLst>
        </pc:spChg>
        <pc:spChg chg="del">
          <ac:chgData name="abdulaziz saleh M algablan" userId="e8d9e4d9-6f25-472c-9315-01d09980dd71" providerId="ADAL" clId="{9AAC7DDA-9862-4F25-B568-460DED6EBA8A}" dt="2026-10-07T07:40:55.352" v="317" actId="478"/>
          <ac:spMkLst>
            <pc:docMk/>
            <pc:sldMk cId="3004916374" sldId="297"/>
            <ac:spMk id="25" creationId="{3B07786F-E2C4-E5BC-6F40-70C32A70FFD9}"/>
          </ac:spMkLst>
        </pc:spChg>
        <pc:spChg chg="del">
          <ac:chgData name="abdulaziz saleh M algablan" userId="e8d9e4d9-6f25-472c-9315-01d09980dd71" providerId="ADAL" clId="{9AAC7DDA-9862-4F25-B568-460DED6EBA8A}" dt="2026-10-07T07:40:52.984" v="316" actId="478"/>
          <ac:spMkLst>
            <pc:docMk/>
            <pc:sldMk cId="3004916374" sldId="297"/>
            <ac:spMk id="27" creationId="{348FCB8B-379D-1A98-8BFC-A5C07D45CA16}"/>
          </ac:spMkLst>
        </pc:spChg>
        <pc:spChg chg="del">
          <ac:chgData name="abdulaziz saleh M algablan" userId="e8d9e4d9-6f25-472c-9315-01d09980dd71" providerId="ADAL" clId="{9AAC7DDA-9862-4F25-B568-460DED6EBA8A}" dt="2026-10-07T07:40:52.984" v="316" actId="478"/>
          <ac:spMkLst>
            <pc:docMk/>
            <pc:sldMk cId="3004916374" sldId="297"/>
            <ac:spMk id="28" creationId="{A596F4C5-0D04-99B7-3353-5475079E1C94}"/>
          </ac:spMkLst>
        </pc:spChg>
        <pc:spChg chg="del">
          <ac:chgData name="abdulaziz saleh M algablan" userId="e8d9e4d9-6f25-472c-9315-01d09980dd71" providerId="ADAL" clId="{9AAC7DDA-9862-4F25-B568-460DED6EBA8A}" dt="2026-10-07T07:42:17.578" v="344" actId="478"/>
          <ac:spMkLst>
            <pc:docMk/>
            <pc:sldMk cId="3004916374" sldId="297"/>
            <ac:spMk id="29" creationId="{2738935F-F54F-A2C9-DFF4-098B2F4B5060}"/>
          </ac:spMkLst>
        </pc:spChg>
        <pc:spChg chg="del">
          <ac:chgData name="abdulaziz saleh M algablan" userId="e8d9e4d9-6f25-472c-9315-01d09980dd71" providerId="ADAL" clId="{9AAC7DDA-9862-4F25-B568-460DED6EBA8A}" dt="2026-10-07T07:42:19.732" v="345" actId="478"/>
          <ac:spMkLst>
            <pc:docMk/>
            <pc:sldMk cId="3004916374" sldId="297"/>
            <ac:spMk id="30" creationId="{7A14E2E6-92F7-3E5A-8DC9-5FCA39155FA1}"/>
          </ac:spMkLst>
        </pc:spChg>
        <pc:spChg chg="del">
          <ac:chgData name="abdulaziz saleh M algablan" userId="e8d9e4d9-6f25-472c-9315-01d09980dd71" providerId="ADAL" clId="{9AAC7DDA-9862-4F25-B568-460DED6EBA8A}" dt="2026-10-07T07:40:52.984" v="316" actId="478"/>
          <ac:spMkLst>
            <pc:docMk/>
            <pc:sldMk cId="3004916374" sldId="297"/>
            <ac:spMk id="35" creationId="{A7DF6433-5197-A3F4-AC90-5FC125F7018E}"/>
          </ac:spMkLst>
        </pc:spChg>
        <pc:spChg chg="del">
          <ac:chgData name="abdulaziz saleh M algablan" userId="e8d9e4d9-6f25-472c-9315-01d09980dd71" providerId="ADAL" clId="{9AAC7DDA-9862-4F25-B568-460DED6EBA8A}" dt="2026-10-07T07:40:52.984" v="316" actId="478"/>
          <ac:spMkLst>
            <pc:docMk/>
            <pc:sldMk cId="3004916374" sldId="297"/>
            <ac:spMk id="36" creationId="{CBC420E0-E5E2-77BE-3ABE-2C18407CC9C3}"/>
          </ac:spMkLst>
        </pc:spChg>
        <pc:spChg chg="del">
          <ac:chgData name="abdulaziz saleh M algablan" userId="e8d9e4d9-6f25-472c-9315-01d09980dd71" providerId="ADAL" clId="{9AAC7DDA-9862-4F25-B568-460DED6EBA8A}" dt="2026-10-07T07:40:52.984" v="316" actId="478"/>
          <ac:spMkLst>
            <pc:docMk/>
            <pc:sldMk cId="3004916374" sldId="297"/>
            <ac:spMk id="37" creationId="{F0DB9E01-E655-3350-6341-866AC25FE862}"/>
          </ac:spMkLst>
        </pc:spChg>
        <pc:picChg chg="del">
          <ac:chgData name="abdulaziz saleh M algablan" userId="e8d9e4d9-6f25-472c-9315-01d09980dd71" providerId="ADAL" clId="{9AAC7DDA-9862-4F25-B568-460DED6EBA8A}" dt="2026-10-07T07:41:00.086" v="320" actId="478"/>
          <ac:picMkLst>
            <pc:docMk/>
            <pc:sldMk cId="3004916374" sldId="297"/>
            <ac:picMk id="31" creationId="{403CD9DD-6260-9D04-A029-626694F5EFB4}"/>
          </ac:picMkLst>
        </pc:picChg>
        <pc:picChg chg="del">
          <ac:chgData name="abdulaziz saleh M algablan" userId="e8d9e4d9-6f25-472c-9315-01d09980dd71" providerId="ADAL" clId="{9AAC7DDA-9862-4F25-B568-460DED6EBA8A}" dt="2026-10-07T07:41:10.092" v="326" actId="478"/>
          <ac:picMkLst>
            <pc:docMk/>
            <pc:sldMk cId="3004916374" sldId="297"/>
            <ac:picMk id="32" creationId="{7338AF0D-4877-F33A-5CC4-26728C06832F}"/>
          </ac:picMkLst>
        </pc:picChg>
        <pc:picChg chg="del">
          <ac:chgData name="abdulaziz saleh M algablan" userId="e8d9e4d9-6f25-472c-9315-01d09980dd71" providerId="ADAL" clId="{9AAC7DDA-9862-4F25-B568-460DED6EBA8A}" dt="2026-10-07T07:40:57.883" v="319" actId="478"/>
          <ac:picMkLst>
            <pc:docMk/>
            <pc:sldMk cId="3004916374" sldId="297"/>
            <ac:picMk id="33" creationId="{0C5A9C58-AECC-D5CB-8131-91D778C2CA06}"/>
          </ac:picMkLst>
        </pc:picChg>
        <pc:picChg chg="del">
          <ac:chgData name="abdulaziz saleh M algablan" userId="e8d9e4d9-6f25-472c-9315-01d09980dd71" providerId="ADAL" clId="{9AAC7DDA-9862-4F25-B568-460DED6EBA8A}" dt="2026-10-07T07:41:02.478" v="321" actId="478"/>
          <ac:picMkLst>
            <pc:docMk/>
            <pc:sldMk cId="3004916374" sldId="297"/>
            <ac:picMk id="34" creationId="{33849F02-2A63-1EF7-5DD9-EE63F6FB54C5}"/>
          </ac:picMkLst>
        </pc:picChg>
      </pc:sldChg>
      <pc:sldChg chg="add">
        <pc:chgData name="abdulaziz saleh M algablan" userId="e8d9e4d9-6f25-472c-9315-01d09980dd71" providerId="ADAL" clId="{9AAC7DDA-9862-4F25-B568-460DED6EBA8A}" dt="2026-10-07T07:47:17.977" v="429" actId="2890"/>
        <pc:sldMkLst>
          <pc:docMk/>
          <pc:sldMk cId="556686837" sldId="298"/>
        </pc:sldMkLst>
      </pc:sldChg>
      <pc:sldMasterChg chg="addSp mod">
        <pc:chgData name="abdulaziz saleh M algablan" userId="e8d9e4d9-6f25-472c-9315-01d09980dd71" providerId="ADAL" clId="{9AAC7DDA-9862-4F25-B568-460DED6EBA8A}" dt="2026-10-07T06:45:56.203" v="1" actId="33475"/>
        <pc:sldMasterMkLst>
          <pc:docMk/>
          <pc:sldMasterMk cId="0" sldId="2147483648"/>
        </pc:sldMasterMkLst>
        <pc:spChg chg="add">
          <ac:chgData name="abdulaziz saleh M algablan" userId="e8d9e4d9-6f25-472c-9315-01d09980dd71" providerId="ADAL" clId="{9AAC7DDA-9862-4F25-B568-460DED6EBA8A}" dt="2026-10-07T06:45:56.203" v="1" actId="33475"/>
          <ac:spMkLst>
            <pc:docMk/>
            <pc:sldMasterMk cId="0" sldId="2147483648"/>
            <ac:spMk id="3" creationId="{4A7E2B85-7090-C74A-8CFA-FEB60F501181}"/>
          </ac:spMkLst>
        </pc:sp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10:53:30.310"/>
    </inkml:context>
    <inkml:brush xml:id="br0">
      <inkml:brushProperty name="width" value="0.05292" units="cm"/>
      <inkml:brushProperty name="height" value="0.05292" units="cm"/>
      <inkml:brushProperty name="color" value="#FF0000"/>
    </inkml:brush>
  </inkml:definitions>
  <inkml:trace contextRef="#ctx0" brushRef="#br0">3476 5998 24575,'-5'0'0,"18"0"0,5 0 0,27 0 0,16 0 0,-21 0 0,2 0 0,8 1 0,0 1 0,0 0 0,-1 1 0,-5 1 0,-2 0 0,29 3 0,-10-2 0,-2-1 0,-11-3 0,0 0 0,27 1 0,-7-2 0,0 0 0,-27 0 0,-1 0 0,11 0 0,1 0 0,-10 0 0,-4 0 0,11 0 0,-1 0 0,-29 0 0,0 0 0,14 0 0,17 0 0,20 0 0,-29 0 0,1 0 0,1 0 0,0 0 0,-3 0 0,-1 0 0,3 0 0,0 0 0,22 0 0,8 0 0,-17 0 0,9 0 0,3 0 0,-28 0 0,0 0 0,1 0 0,-1 0 0,30 0 0,-16 0 0,-17 0 0,-19 0 0,-9 0 0</inkml:trace>
  <inkml:trace contextRef="#ctx0" brushRef="#br0" timeOffset="2551">4305 12607 24575,'18'-4'0,"16"2"0,10 1 0,27 1 0,8 0-1041,-8 0 0,4 0 0,2 0 1041,-15 0 0,2 0 0,0 0 0,-1 0 0,12 0 0,-2 0 0,-3 0 320,-9 0 0,-2 0 0,-4 0-320,4 0 0,-5 0 518,19 0-518,-34 0 0,-23 0 0,-8 0 0</inkml:trace>
  <inkml:trace contextRef="#ctx0" brushRef="#br0" timeOffset="20683">12622 14627 24575,'-33'0'0,"8"0"0,-5 0 0,6 0 0,10 0 0,1 0 0</inkml:trace>
  <inkml:trace contextRef="#ctx0" brushRef="#br0" timeOffset="22752">12683 14456 24575,'-8'0'0,"-4"0"0,-7 0 0,-8 0 0,-6 1 0,2 2 0,4 2 0,2 2 0,-3 3 0,-5-1 0,-6-1 0,-12 3 0,17-4 0,-1 2 0,23-4 0,4 0 0,5-2 0,4 1 0,5-3 0,5-1 0,1 0 0,3 1 0,-1 2 0,0 2 0,1 2 0,5 2 0,5 11 0,-1-4 0,-1 7 0,-8-7 0,-2-3 0,-1-4 0,-3-3 0,-4-2 0,-1-1 0,-3 5 0,-1-1 0,0 4 0,4 2 0,5 17 0,-2-8 0,2 9 0,-7-22 0,0-3 0</inkml:trace>
  <inkml:trace contextRef="#ctx0" brushRef="#br0" timeOffset="37866">19003 5869 24575,'41'0'0,"1"0"0,6 0 0,6 0 0,4 0 0,1 0 0,4 0 0,2 0 0,3 0-1169,-4 0 1,2 0 0,1 0 0,2 0-1,0 0 1169,-8 0 0,2 0 0,0 0 0,1 0 0,-1 0 0,1 0 0,1 0 0,0 0 0,0 0 0,0 0 0,0 0 0,-1 0 0,0 0 0,-1 0 0,1 0 0,-1 0 0,0 0 0,-2 0 0,8 0 0,-1 0 0,-1 0 0,-1 0 0,-2 0 104,5 0 1,-1 0 0,-2 0 0,-2 0-105,9-1 0,-2 1 0,-4-2 352,-10 1 0,-3-1 0,-1 0-352,15-1 0,-4-2 0,-11 0 0,-4 0 0,17-3 2946,-25 0-2946,-20 1 1234,-11 1-1234,-4 0 0,-4 2 0,-2 1 0</inkml:trace>
  <inkml:trace contextRef="#ctx0" brushRef="#br0" timeOffset="42751">17266 6380 24575,'0'26'0,"0"21"0,0-9 0,0 3 0,0 10 0,2 3 0,2 6 0,2 1 0,2-1 0,2-1 0,1-3 0,2-2 0,0-2 0,-1-2 0,-1-6 0,-3-1 0,4 28 0,-6-14 0,-5-15 0,-3-11 0,-1-10 0,-5-8 0,-2-6 0,-1-5 0,-1-8 0,3-9 0,4-23 0,22 3 0,0 3 0,13 16 0,-9 20 0,-8 14 0,-6 18 0,-4 31 0,-3-21 0,0 5 0,-1 13 0,-2 6-408,-1-13 1,-2 2 0,-1 2 407,-2 9 0,-2 2 0,-1 2-424,2-12 0,-1 1 0,0 1 0,0 0 424,0-1 0,-1 0 0,2 0 0,0 0 0,1-4 0,1-1 0,0 1 0,1-2 0,0 19 0,2-2 0,0-6 0,2-6 0,0-6 0,1-4 0,1-11 0,1-28 0</inkml:trace>
  <inkml:trace contextRef="#ctx0" brushRef="#br0" timeOffset="46666">24341 10841 24575,'-10'-3'0,"-12"0"0,-14 2 0,-11 1 0,-5 0 0,-8 0 0,-6 0-1384,10 0 0,-3 0 0,-5 0 0,-1 0 0,-2 0 1384,-3 0 0,-2 0 0,-3 0 0,-1 0 0,-1 0 0,0 0-350,7 0 0,-1 0 1,-1 0-1,0 0 0,0 0 1,0 0-1,1 0 350,-1 0 0,0 0 0,0 0 0,0 0 0,0 0 0,2 0 0,0 0 0,-6 0 0,2 0 0,-1 0 0,2 0 0,2 0 0,1 0 100,-4 0 1,3 0 0,1 0-1,2 0 1,1 0-101,-4 0 0,1 0 0,3 0 0,2 0-81,-4 0 1,3 0 0,3 0 80,-16 0 0,9 0 0,1 0 0,17 0 0</inkml:trace>
  <inkml:trace contextRef="#ctx0" brushRef="#br0" timeOffset="55650">22214 13768 24575,'-38'0'0,"-36"0"0,17 0 0,-5 0 0,-6 0 0,-1 0 0,3 0 0,3 0 0,12 0 0,6 0 0,-4 0 0,22 0 0</inkml:trace>
  <inkml:trace contextRef="#ctx0" brushRef="#br0" timeOffset="64549">18690 12368 24575,'-4'0'0,"18"0"0,59 0 0,-22 0 0,11 0 0,7 0 0,5 0-1405,-13 0 1,5 0 0,3 0-1,3 0 1,3 0 0,2 0-1,1 0 1269,-13 0 1,1 0-1,3 0 1,1 0-1,2 0 1,0 0 0,2 0-1,0 0 1,1 0-1,-1 0 1,1 0-31,-6 0 0,1 0 0,0 0 1,1 0-1,1 0 0,0 0 1,1 0-1,-1 0 0,0 0 0,0 0 1,0 0-1,-1 0 0,-1 0 166,3 0 0,0 0 0,0 0 0,1 0 0,-2 0 0,1 0 0,-1 0 0,-1 0 0,0 0 0,-1 0 0,-1 0 0,-1 0 25,3 0 0,1 0 0,-2 0 0,0 0 1,-1 0-1,-1 0 0,-1 0 0,-2 0 0,-3 0 1,-1 0-26,17 0 0,-3 0 0,-3 0 0,-2 0 0,-4 0 0,-4 0-301,6 0 1,-5 0-1,-4 0 1,-6 0-1,9 0 1,-11 0 0,-6 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94770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BC5-1036-43E0-A3A0-A5D5449B6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D79FD-F350-158F-8013-398EE9D18E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19E4BB-9073-B861-1530-6B4FE32833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991B04-1EFE-FA0E-7148-91323B7667D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730224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5662-9290-29CF-992A-AB8F799E1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286F1-0BB8-593C-87A5-309F742C60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33AA43-6D37-CD46-0DAD-4651D5EB1D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92D94A-ECEB-ADB9-B429-BEE1C0616A3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9749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77C1-DC13-20DE-8480-A35E05086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2FEC9-05F7-28F2-4C95-2B4B001695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4EB56D-45A7-F4BC-E7FD-8BB8F5A324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AA04D8-A000-9279-3025-AB455DE429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40729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6B41-C225-2CC0-CA46-485E35151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F470E-3E4D-627A-C532-1E65C3C320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714650-6068-2C88-7AB4-E98568924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55262B-C9B7-DB5B-2063-5349416C106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89610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8B38-6F26-334C-6C44-8F2519620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5C0DA-D8AE-6758-65A5-28B978E618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4C20BA-695A-BBDC-86D6-31FC0C5E9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420C99-5F0A-3B28-E33D-A883A10EBA5E}"/>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2673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7E2B85-7090-C74A-8CFA-FEB60F501181}"/>
              </a:ext>
            </a:extLst>
          </p:cNvPr>
          <p:cNvSpPr txBox="1"/>
          <p:nvPr userDrawn="1">
            <p:extLst>
              <p:ext uri="{1162E1C5-73C7-4A58-AE30-91384D911F3F}">
                <p184:classification xmlns:p184="http://schemas.microsoft.com/office/powerpoint/2018/4/main" val="ftr"/>
              </p:ext>
            </p:extLst>
          </p:nvPr>
        </p:nvSpPr>
        <p:spPr>
          <a:xfrm>
            <a:off x="5604637" y="6611620"/>
            <a:ext cx="1014476" cy="182880"/>
          </a:xfrm>
          <a:prstGeom prst="rect">
            <a:avLst/>
          </a:prstGeom>
        </p:spPr>
        <p:txBody>
          <a:bodyPr horzOverflow="overflow" lIns="0" tIns="0" rIns="0" bIns="0">
            <a:spAutoFit/>
          </a:bodyPr>
          <a:lstStyle/>
          <a:p>
            <a:pPr algn="l"/>
            <a:r>
              <a:rPr lang="en-US" sz="1200">
                <a:solidFill>
                  <a:srgbClr val="FCD12A">
                    <a:alpha val="50000"/>
                  </a:srgbClr>
                </a:solidFill>
                <a:latin typeface="Aptos" panose="020B0004020202020204" pitchFamily="34" charset="0"/>
              </a:rPr>
              <a:t>Restricted - مقيد</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6.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93F"/>
        </a:solidFill>
        <a:effectLst/>
      </p:bgPr>
    </p:bg>
    <p:spTree>
      <p:nvGrpSpPr>
        <p:cNvPr id="1" name=""/>
        <p:cNvGrpSpPr/>
        <p:nvPr/>
      </p:nvGrpSpPr>
      <p:grpSpPr>
        <a:xfrm>
          <a:off x="0" y="0"/>
          <a:ext cx="0" cy="0"/>
          <a:chOff x="0" y="0"/>
          <a:chExt cx="0" cy="0"/>
        </a:xfrm>
      </p:grpSpPr>
      <p:sp>
        <p:nvSpPr>
          <p:cNvPr id="2" name="Shape 0"/>
          <p:cNvSpPr/>
          <p:nvPr/>
        </p:nvSpPr>
        <p:spPr>
          <a:xfrm>
            <a:off x="-2093415" y="-1920239"/>
            <a:ext cx="5486400" cy="5486400"/>
          </a:xfrm>
          <a:prstGeom prst="ellipse">
            <a:avLst/>
          </a:prstGeom>
          <a:solidFill>
            <a:srgbClr val="0E4E70"/>
          </a:solidFill>
          <a:ln/>
        </p:spPr>
        <p:txBody>
          <a:bodyPr/>
          <a:lstStyle/>
          <a:p>
            <a:endParaRPr lang="en-US"/>
          </a:p>
        </p:txBody>
      </p:sp>
      <p:sp>
        <p:nvSpPr>
          <p:cNvPr id="3" name="Shape 1"/>
          <p:cNvSpPr/>
          <p:nvPr/>
        </p:nvSpPr>
        <p:spPr>
          <a:xfrm>
            <a:off x="8797210" y="3851397"/>
            <a:ext cx="4572000" cy="4572000"/>
          </a:xfrm>
          <a:prstGeom prst="ellipse">
            <a:avLst/>
          </a:prstGeom>
          <a:solidFill>
            <a:srgbClr val="0E4E70"/>
          </a:solidFill>
          <a:ln/>
        </p:spPr>
        <p:txBody>
          <a:bodyPr/>
          <a:lstStyle/>
          <a:p>
            <a:endParaRPr lang="en-US"/>
          </a:p>
        </p:txBody>
      </p:sp>
      <p:sp>
        <p:nvSpPr>
          <p:cNvPr id="6" name="Text 3"/>
          <p:cNvSpPr txBox="1"/>
          <p:nvPr/>
        </p:nvSpPr>
        <p:spPr>
          <a:xfrm>
            <a:off x="0" y="822959"/>
            <a:ext cx="12188952" cy="365760"/>
          </a:xfrm>
          <a:prstGeom prst="rect">
            <a:avLst/>
          </a:prstGeom>
          <a:noFill/>
          <a:ln/>
        </p:spPr>
        <p:txBody>
          <a:bodyPr wrap="square" lIns="0" tIns="0" rIns="0" bIns="0" rtlCol="0" anchor="ctr">
            <a:scene3d>
              <a:camera prst="orthographicFront"/>
              <a:lightRig rig="soft" dir="t">
                <a:rot lat="0" lon="0" rev="15600000"/>
              </a:lightRig>
            </a:scene3d>
            <a:sp3d extrusionH="57150" prstMaterial="softEdge">
              <a:bevelT w="25400" h="38100"/>
            </a:sp3d>
          </a:bodyPr>
          <a:lstStyle/>
          <a:p>
            <a:pPr marL="0" indent="0" algn="ctr">
              <a:buNone/>
            </a:pPr>
            <a:r>
              <a:rPr lang="ar-SA" sz="2800" b="1" dirty="0">
                <a:ln/>
                <a:solidFill>
                  <a:schemeClr val="accent4"/>
                </a:solidFill>
              </a:rPr>
              <a:t>بسم الله الرحمن الرحيم</a:t>
            </a:r>
            <a:endParaRPr lang="en-US" sz="2800" b="1" dirty="0">
              <a:ln/>
              <a:solidFill>
                <a:schemeClr val="accent4"/>
              </a:solidFill>
            </a:endParaRPr>
          </a:p>
        </p:txBody>
      </p:sp>
      <p:sp>
        <p:nvSpPr>
          <p:cNvPr id="7" name="Text 4"/>
          <p:cNvSpPr txBox="1"/>
          <p:nvPr/>
        </p:nvSpPr>
        <p:spPr>
          <a:xfrm>
            <a:off x="1377019" y="1188720"/>
            <a:ext cx="9991566" cy="3411597"/>
          </a:xfrm>
          <a:prstGeom prst="rect">
            <a:avLst/>
          </a:prstGeom>
          <a:noFill/>
          <a:ln/>
        </p:spPr>
        <p:txBody>
          <a:bodyPr wrap="square" lIns="0" tIns="0" rIns="0" bIns="0" rtlCol="0" anchor="ctr"/>
          <a:lstStyle/>
          <a:p>
            <a:pPr marL="0" indent="0" algn="ctr" rtl="0">
              <a:buNone/>
            </a:pPr>
            <a:r>
              <a:rPr lang="en-US" sz="2400" b="1" dirty="0">
                <a:solidFill>
                  <a:srgbClr val="FFFFFF"/>
                </a:solidFill>
                <a:latin typeface="Cambria" pitchFamily="34" charset="0"/>
                <a:ea typeface="Cambria" pitchFamily="34" charset="-122"/>
              </a:rPr>
              <a:t>Qassim University</a:t>
            </a:r>
          </a:p>
          <a:p>
            <a:pPr marL="0" indent="0" algn="ctr" rtl="0">
              <a:buNone/>
            </a:pPr>
            <a:r>
              <a:rPr lang="en-US" sz="2400" b="1" dirty="0" err="1">
                <a:solidFill>
                  <a:srgbClr val="FFFFFF"/>
                </a:solidFill>
                <a:latin typeface="Cambria" pitchFamily="34" charset="0"/>
                <a:ea typeface="Cambria" pitchFamily="34" charset="-122"/>
              </a:rPr>
              <a:t>Coolege</a:t>
            </a:r>
            <a:r>
              <a:rPr lang="en-US" sz="2400" b="1" dirty="0">
                <a:solidFill>
                  <a:srgbClr val="FFFFFF"/>
                </a:solidFill>
                <a:latin typeface="Cambria" pitchFamily="34" charset="0"/>
                <a:ea typeface="Cambria" pitchFamily="34" charset="-122"/>
              </a:rPr>
              <a:t> of Computer </a:t>
            </a:r>
            <a:r>
              <a:rPr lang="en-US" sz="2400" b="1" dirty="0" err="1">
                <a:solidFill>
                  <a:srgbClr val="FFFFFF"/>
                </a:solidFill>
                <a:latin typeface="Cambria" pitchFamily="34" charset="0"/>
                <a:ea typeface="Cambria" pitchFamily="34" charset="-122"/>
              </a:rPr>
              <a:t>Scince</a:t>
            </a:r>
            <a:endParaRPr lang="en-US" sz="2400" b="1" dirty="0">
              <a:solidFill>
                <a:srgbClr val="FFFFFF"/>
              </a:solidFill>
              <a:latin typeface="Cambria" pitchFamily="34" charset="0"/>
              <a:ea typeface="Cambria" pitchFamily="34" charset="-122"/>
            </a:endParaRPr>
          </a:p>
          <a:p>
            <a:pPr marL="0" indent="0" algn="ctr" rtl="0">
              <a:buNone/>
            </a:pPr>
            <a:r>
              <a:rPr lang="en-US" sz="2400" b="1" dirty="0">
                <a:solidFill>
                  <a:srgbClr val="FFFFFF"/>
                </a:solidFill>
                <a:latin typeface="Cambria" pitchFamily="34" charset="0"/>
                <a:ea typeface="Cambria" pitchFamily="34" charset="-122"/>
              </a:rPr>
              <a:t>Specialization-Science in Information Technology</a:t>
            </a:r>
          </a:p>
          <a:p>
            <a:pPr marL="0" indent="0" algn="ctr" rtl="0">
              <a:buNone/>
            </a:pPr>
            <a:r>
              <a:rPr lang="en-US" sz="2400" b="1" dirty="0">
                <a:solidFill>
                  <a:srgbClr val="FFFFFF"/>
                </a:solidFill>
                <a:latin typeface="Cambria" pitchFamily="34" charset="0"/>
                <a:ea typeface="Cambria" pitchFamily="34" charset="-122"/>
              </a:rPr>
              <a:t>Research Title:</a:t>
            </a:r>
          </a:p>
          <a:p>
            <a:pPr marL="0" indent="0" algn="ctr" rtl="0">
              <a:buNone/>
            </a:pPr>
            <a:r>
              <a:rPr lang="en-US" sz="2400" dirty="0">
                <a:solidFill>
                  <a:schemeClr val="bg1"/>
                </a:solidFill>
              </a:rPr>
              <a:t>Application Programming Interface (API)</a:t>
            </a:r>
          </a:p>
          <a:p>
            <a:pPr marL="0" indent="0" algn="ctr" rtl="0">
              <a:buNone/>
            </a:pPr>
            <a:r>
              <a:rPr lang="en-US" sz="2400" dirty="0">
                <a:solidFill>
                  <a:schemeClr val="bg1"/>
                </a:solidFill>
              </a:rPr>
              <a:t>Design and Management-(REST*</a:t>
            </a:r>
            <a:r>
              <a:rPr lang="en-US" sz="2400" dirty="0" err="1">
                <a:solidFill>
                  <a:schemeClr val="bg1"/>
                </a:solidFill>
              </a:rPr>
              <a:t>GraphQl</a:t>
            </a:r>
            <a:r>
              <a:rPr lang="en-US" sz="2400" dirty="0">
                <a:solidFill>
                  <a:schemeClr val="bg1"/>
                </a:solidFill>
              </a:rPr>
              <a:t>*</a:t>
            </a:r>
            <a:r>
              <a:rPr lang="en-US" sz="2400" dirty="0" err="1">
                <a:solidFill>
                  <a:schemeClr val="bg1"/>
                </a:solidFill>
              </a:rPr>
              <a:t>gRPC</a:t>
            </a:r>
            <a:r>
              <a:rPr lang="en-US" sz="2400" dirty="0">
                <a:solidFill>
                  <a:schemeClr val="bg1"/>
                </a:solidFill>
              </a:rPr>
              <a:t>)</a:t>
            </a:r>
          </a:p>
        </p:txBody>
      </p:sp>
      <p:sp>
        <p:nvSpPr>
          <p:cNvPr id="8" name="Text 5"/>
          <p:cNvSpPr txBox="1"/>
          <p:nvPr/>
        </p:nvSpPr>
        <p:spPr>
          <a:xfrm>
            <a:off x="427567" y="4600318"/>
            <a:ext cx="11147552" cy="1051561"/>
          </a:xfrm>
          <a:prstGeom prst="rect">
            <a:avLst/>
          </a:prstGeom>
          <a:noFill/>
          <a:ln/>
        </p:spPr>
        <p:txBody>
          <a:bodyPr wrap="square" lIns="0" tIns="0" rIns="0" bIns="0" rtlCol="0" anchor="ctr"/>
          <a:lstStyle/>
          <a:p>
            <a:pPr marL="0" indent="0">
              <a:buNone/>
            </a:pPr>
            <a:r>
              <a:rPr lang="en-US" sz="2000">
                <a:solidFill>
                  <a:schemeClr val="bg1"/>
                </a:solidFill>
              </a:rPr>
              <a:t>Prepared by Student:</a:t>
            </a:r>
          </a:p>
          <a:p>
            <a:pPr marL="0" indent="0">
              <a:buNone/>
            </a:pPr>
            <a:r>
              <a:rPr lang="en-US" sz="2000">
                <a:solidFill>
                  <a:schemeClr val="bg1"/>
                </a:solidFill>
              </a:rPr>
              <a:t>Dafaallh Alrayh Mustafa</a:t>
            </a:r>
          </a:p>
        </p:txBody>
      </p:sp>
      <p:sp>
        <p:nvSpPr>
          <p:cNvPr id="10" name="Text 7"/>
          <p:cNvSpPr txBox="1"/>
          <p:nvPr/>
        </p:nvSpPr>
        <p:spPr>
          <a:xfrm>
            <a:off x="1330352" y="5291577"/>
            <a:ext cx="10354733" cy="1691640"/>
          </a:xfrm>
          <a:prstGeom prst="rect">
            <a:avLst/>
          </a:prstGeom>
          <a:noFill/>
          <a:ln/>
        </p:spPr>
        <p:txBody>
          <a:bodyPr wrap="square" lIns="0" tIns="0" rIns="0" bIns="0" rtlCol="0" anchor="ctr"/>
          <a:lstStyle/>
          <a:p>
            <a:pPr marL="0" indent="0" algn="r" rtl="0">
              <a:buNone/>
            </a:pPr>
            <a:r>
              <a:rPr lang="en-US" sz="2000">
                <a:solidFill>
                  <a:schemeClr val="bg1"/>
                </a:solidFill>
              </a:rPr>
              <a:t>Supervisor:</a:t>
            </a:r>
          </a:p>
          <a:p>
            <a:pPr marL="0" indent="0" algn="r" rtl="0">
              <a:buNone/>
            </a:pPr>
            <a:r>
              <a:rPr lang="en-US" sz="2000">
                <a:solidFill>
                  <a:schemeClr val="bg1"/>
                </a:solidFill>
              </a:rPr>
              <a:t>Dr.Abdulaziz saleh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Introduction:</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The Shift Toward Connected Systems: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a:t>
            </a:r>
            <a:endParaRPr lang="en-US" sz="1100"/>
          </a:p>
        </p:txBody>
      </p:sp>
      <p:sp>
        <p:nvSpPr>
          <p:cNvPr id="6" name="Text 4"/>
          <p:cNvSpPr txBox="1"/>
          <p:nvPr/>
        </p:nvSpPr>
        <p:spPr>
          <a:xfrm>
            <a:off x="640080" y="1965960"/>
            <a:ext cx="10908792" cy="1463040"/>
          </a:xfrm>
          <a:prstGeom prst="rect">
            <a:avLst/>
          </a:prstGeom>
          <a:noFill/>
          <a:ln/>
        </p:spPr>
        <p:txBody>
          <a:bodyPr wrap="square" lIns="0" tIns="0" rIns="0" bIns="0" rtlCol="0" anchor="ctr"/>
          <a:lstStyle/>
          <a:p>
            <a:pPr marL="0" indent="0" algn="l" rtl="0">
              <a:lnSpc>
                <a:spcPct val="125000"/>
              </a:lnSpc>
              <a:buNone/>
            </a:pPr>
            <a:r>
              <a:rPr lang="en-US" sz="1500">
                <a:solidFill>
                  <a:srgbClr val="16324A"/>
                </a:solidFill>
                <a:latin typeface="Calibri" pitchFamily="34" charset="0"/>
                <a:ea typeface="Calibri" pitchFamily="34" charset="-122"/>
                <a:cs typeface="Calibri" pitchFamily="34" charset="-120"/>
              </a:rPr>
              <a:t>The rapid advancement of information technology has led to the emergence of more complex software systems that rely on integration and communication between many different applications and services. In this context, Application Programming Interfaces (APIs) have become an essential element in modern system design, as they provide an organized way to communicate and exchange data between applications without needing to know the internal details of each system.</a:t>
            </a:r>
            <a:endParaRPr lang="en-US" sz="1500"/>
          </a:p>
        </p:txBody>
      </p:sp>
      <p:sp>
        <p:nvSpPr>
          <p:cNvPr id="7" name="Shape 5"/>
          <p:cNvSpPr/>
          <p:nvPr/>
        </p:nvSpPr>
        <p:spPr>
          <a:xfrm>
            <a:off x="640080" y="3794760"/>
            <a:ext cx="3453384" cy="1965960"/>
          </a:xfrm>
          <a:prstGeom prst="roundRect">
            <a:avLst>
              <a:gd name="adj" fmla="val 3721"/>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8" name="Shape 6"/>
          <p:cNvSpPr/>
          <p:nvPr/>
        </p:nvSpPr>
        <p:spPr>
          <a:xfrm>
            <a:off x="2074164" y="4050792"/>
            <a:ext cx="585216" cy="585216"/>
          </a:xfrm>
          <a:prstGeom prst="ellipse">
            <a:avLst/>
          </a:prstGeom>
          <a:solidFill>
            <a:srgbClr val="0B3D5C"/>
          </a:solidFill>
          <a:ln/>
        </p:spPr>
        <p:txBody>
          <a:bodyPr/>
          <a:lstStyle/>
          <a:p>
            <a:endParaRPr lang="en-US"/>
          </a:p>
        </p:txBody>
      </p:sp>
      <p:pic>
        <p:nvPicPr>
          <p:cNvPr id="9" name="Image 0" descr="/home/claude/work/icon_network_white.png"/>
          <p:cNvPicPr>
            <a:picLocks noChangeAspect="1"/>
          </p:cNvPicPr>
          <p:nvPr/>
        </p:nvPicPr>
        <p:blipFill>
          <a:blip r:embed="rId3"/>
          <a:stretch>
            <a:fillRect/>
          </a:stretch>
        </p:blipFill>
        <p:spPr>
          <a:xfrm>
            <a:off x="2214616" y="4191244"/>
            <a:ext cx="304312" cy="304312"/>
          </a:xfrm>
          <a:prstGeom prst="rect">
            <a:avLst/>
          </a:prstGeom>
        </p:spPr>
      </p:pic>
      <p:sp>
        <p:nvSpPr>
          <p:cNvPr id="10" name="Text 7"/>
          <p:cNvSpPr txBox="1"/>
          <p:nvPr/>
        </p:nvSpPr>
        <p:spPr>
          <a:xfrm>
            <a:off x="804672" y="4754880"/>
            <a:ext cx="3124200" cy="320040"/>
          </a:xfrm>
          <a:prstGeom prst="rect">
            <a:avLst/>
          </a:prstGeom>
          <a:noFill/>
          <a:ln/>
        </p:spPr>
        <p:txBody>
          <a:bodyPr wrap="square" lIns="0" tIns="0" rIns="0" bIns="0" rtlCol="0" anchor="ctr"/>
          <a:lstStyle/>
          <a:p>
            <a:pPr marL="0" indent="0" algn="ctr" rtl="0">
              <a:buNone/>
            </a:pPr>
            <a:r>
              <a:rPr lang="en-US" sz="1500" b="1">
                <a:solidFill>
                  <a:srgbClr val="0B3D5C"/>
                </a:solidFill>
                <a:latin typeface="Calibri" pitchFamily="34" charset="0"/>
                <a:ea typeface="Calibri" pitchFamily="34" charset="-122"/>
                <a:cs typeface="Calibri" pitchFamily="34" charset="-120"/>
              </a:rPr>
              <a:t>A Connecting Link</a:t>
            </a:r>
            <a:endParaRPr lang="en-US" sz="1500"/>
          </a:p>
        </p:txBody>
      </p:sp>
      <p:sp>
        <p:nvSpPr>
          <p:cNvPr id="11" name="Text 8"/>
          <p:cNvSpPr txBox="1"/>
          <p:nvPr/>
        </p:nvSpPr>
        <p:spPr>
          <a:xfrm>
            <a:off x="804672" y="5074920"/>
            <a:ext cx="3124200" cy="594360"/>
          </a:xfrm>
          <a:prstGeom prst="rect">
            <a:avLst/>
          </a:prstGeom>
          <a:noFill/>
          <a:ln/>
        </p:spPr>
        <p:txBody>
          <a:bodyPr wrap="square" lIns="0" tIns="0" rIns="0" bIns="0" rtlCol="0" anchor="t"/>
          <a:lstStyle/>
          <a:p>
            <a:pPr marL="0" indent="0" algn="ctr" rtl="0">
              <a:buNone/>
            </a:pPr>
            <a:r>
              <a:rPr lang="en-US" sz="1150">
                <a:solidFill>
                  <a:srgbClr val="5B7C8D"/>
                </a:solidFill>
                <a:latin typeface="Calibri" pitchFamily="34" charset="0"/>
                <a:ea typeface="Calibri" pitchFamily="34" charset="-122"/>
                <a:cs typeface="Calibri" pitchFamily="34" charset="-120"/>
              </a:rPr>
              <a:t>The API acts as a connecting link between the client and the server, receiving the request and returning the result after processing.</a:t>
            </a:r>
            <a:endParaRPr lang="en-US" sz="1150"/>
          </a:p>
        </p:txBody>
      </p:sp>
      <p:sp>
        <p:nvSpPr>
          <p:cNvPr id="12" name="Shape 9"/>
          <p:cNvSpPr/>
          <p:nvPr/>
        </p:nvSpPr>
        <p:spPr>
          <a:xfrm>
            <a:off x="4367784" y="3794760"/>
            <a:ext cx="3453384" cy="1965960"/>
          </a:xfrm>
          <a:prstGeom prst="roundRect">
            <a:avLst>
              <a:gd name="adj" fmla="val 3721"/>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3" name="Shape 10"/>
          <p:cNvSpPr/>
          <p:nvPr/>
        </p:nvSpPr>
        <p:spPr>
          <a:xfrm>
            <a:off x="5801868" y="4050792"/>
            <a:ext cx="585216" cy="585216"/>
          </a:xfrm>
          <a:prstGeom prst="ellipse">
            <a:avLst/>
          </a:prstGeom>
          <a:solidFill>
            <a:srgbClr val="0B3D5C"/>
          </a:solidFill>
          <a:ln/>
        </p:spPr>
        <p:txBody>
          <a:bodyPr/>
          <a:lstStyle/>
          <a:p>
            <a:endParaRPr lang="en-US"/>
          </a:p>
        </p:txBody>
      </p:sp>
      <p:pic>
        <p:nvPicPr>
          <p:cNvPr id="14" name="Image 1" descr="/home/claude/work/icon_layers_white.png"/>
          <p:cNvPicPr>
            <a:picLocks noChangeAspect="1"/>
          </p:cNvPicPr>
          <p:nvPr/>
        </p:nvPicPr>
        <p:blipFill>
          <a:blip r:embed="rId4"/>
          <a:stretch>
            <a:fillRect/>
          </a:stretch>
        </p:blipFill>
        <p:spPr>
          <a:xfrm>
            <a:off x="5942320" y="4191244"/>
            <a:ext cx="304312" cy="304312"/>
          </a:xfrm>
          <a:prstGeom prst="rect">
            <a:avLst/>
          </a:prstGeom>
        </p:spPr>
      </p:pic>
      <p:sp>
        <p:nvSpPr>
          <p:cNvPr id="15" name="Text 11"/>
          <p:cNvSpPr txBox="1"/>
          <p:nvPr/>
        </p:nvSpPr>
        <p:spPr>
          <a:xfrm>
            <a:off x="4532376" y="4754880"/>
            <a:ext cx="3124200" cy="320040"/>
          </a:xfrm>
          <a:prstGeom prst="rect">
            <a:avLst/>
          </a:prstGeom>
          <a:noFill/>
          <a:ln/>
        </p:spPr>
        <p:txBody>
          <a:bodyPr wrap="square" lIns="0" tIns="0" rIns="0" bIns="0" rtlCol="0" anchor="ctr"/>
          <a:lstStyle/>
          <a:p>
            <a:pPr marL="0" indent="0" algn="ctr" rtl="0">
              <a:buNone/>
            </a:pPr>
            <a:r>
              <a:rPr lang="en-US" sz="1500" b="1">
                <a:solidFill>
                  <a:srgbClr val="0B3D5C"/>
                </a:solidFill>
                <a:latin typeface="Calibri" pitchFamily="34" charset="0"/>
                <a:ea typeface="Calibri" pitchFamily="34" charset="-122"/>
                <a:cs typeface="Calibri" pitchFamily="34" charset="-120"/>
              </a:rPr>
              <a:t>Separation of Components</a:t>
            </a:r>
            <a:endParaRPr lang="en-US" sz="1500"/>
          </a:p>
        </p:txBody>
      </p:sp>
      <p:sp>
        <p:nvSpPr>
          <p:cNvPr id="16" name="Text 12"/>
          <p:cNvSpPr txBox="1"/>
          <p:nvPr/>
        </p:nvSpPr>
        <p:spPr>
          <a:xfrm>
            <a:off x="4532376" y="5074920"/>
            <a:ext cx="3124200" cy="594360"/>
          </a:xfrm>
          <a:prstGeom prst="rect">
            <a:avLst/>
          </a:prstGeom>
          <a:noFill/>
          <a:ln/>
        </p:spPr>
        <p:txBody>
          <a:bodyPr wrap="square" lIns="0" tIns="0" rIns="0" bIns="0" rtlCol="0" anchor="t"/>
          <a:lstStyle/>
          <a:p>
            <a:pPr marL="0" indent="0" algn="ctr" rtl="0">
              <a:buNone/>
            </a:pPr>
            <a:r>
              <a:rPr lang="en-US" sz="1150">
                <a:solidFill>
                  <a:srgbClr val="5B7C8D"/>
                </a:solidFill>
                <a:latin typeface="Calibri" pitchFamily="34" charset="0"/>
                <a:ea typeface="Calibri" pitchFamily="34" charset="-122"/>
                <a:cs typeface="Calibri" pitchFamily="34" charset="-120"/>
              </a:rPr>
              <a:t>This approach separates the system's components, making it more flexible and easier to develop and maintain.</a:t>
            </a:r>
            <a:endParaRPr lang="en-US" sz="1150"/>
          </a:p>
        </p:txBody>
      </p:sp>
      <p:sp>
        <p:nvSpPr>
          <p:cNvPr id="17" name="Shape 13"/>
          <p:cNvSpPr/>
          <p:nvPr/>
        </p:nvSpPr>
        <p:spPr>
          <a:xfrm>
            <a:off x="8095488" y="3794760"/>
            <a:ext cx="3453384" cy="1965960"/>
          </a:xfrm>
          <a:prstGeom prst="roundRect">
            <a:avLst>
              <a:gd name="adj" fmla="val 3721"/>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8" name="Shape 14"/>
          <p:cNvSpPr/>
          <p:nvPr/>
        </p:nvSpPr>
        <p:spPr>
          <a:xfrm>
            <a:off x="9529572" y="4050792"/>
            <a:ext cx="585216" cy="585216"/>
          </a:xfrm>
          <a:prstGeom prst="ellipse">
            <a:avLst/>
          </a:prstGeom>
          <a:solidFill>
            <a:srgbClr val="0B3D5C"/>
          </a:solidFill>
          <a:ln/>
        </p:spPr>
        <p:txBody>
          <a:bodyPr/>
          <a:lstStyle/>
          <a:p>
            <a:endParaRPr lang="en-US"/>
          </a:p>
        </p:txBody>
      </p:sp>
      <p:pic>
        <p:nvPicPr>
          <p:cNvPr id="19" name="Image 2" descr="/home/claude/work/icon_cogs_white.png"/>
          <p:cNvPicPr>
            <a:picLocks noChangeAspect="1"/>
          </p:cNvPicPr>
          <p:nvPr/>
        </p:nvPicPr>
        <p:blipFill>
          <a:blip r:embed="rId5"/>
          <a:stretch>
            <a:fillRect/>
          </a:stretch>
        </p:blipFill>
        <p:spPr>
          <a:xfrm>
            <a:off x="9670024" y="4191244"/>
            <a:ext cx="304312" cy="304312"/>
          </a:xfrm>
          <a:prstGeom prst="rect">
            <a:avLst/>
          </a:prstGeom>
        </p:spPr>
      </p:pic>
      <p:sp>
        <p:nvSpPr>
          <p:cNvPr id="20" name="Text 15"/>
          <p:cNvSpPr txBox="1"/>
          <p:nvPr/>
        </p:nvSpPr>
        <p:spPr>
          <a:xfrm>
            <a:off x="8260080" y="4754880"/>
            <a:ext cx="3124200" cy="320040"/>
          </a:xfrm>
          <a:prstGeom prst="rect">
            <a:avLst/>
          </a:prstGeom>
          <a:noFill/>
          <a:ln/>
        </p:spPr>
        <p:txBody>
          <a:bodyPr wrap="square" lIns="0" tIns="0" rIns="0" bIns="0" rtlCol="0" anchor="ctr"/>
          <a:lstStyle/>
          <a:p>
            <a:pPr marL="0" indent="0" algn="ctr" rtl="0">
              <a:buNone/>
            </a:pPr>
            <a:r>
              <a:rPr lang="en-US" sz="1500" b="1">
                <a:solidFill>
                  <a:srgbClr val="0B3D5C"/>
                </a:solidFill>
                <a:latin typeface="Calibri" pitchFamily="34" charset="0"/>
                <a:ea typeface="Calibri" pitchFamily="34" charset="-122"/>
                <a:cs typeface="Calibri" pitchFamily="34" charset="-120"/>
              </a:rPr>
              <a:t>Comprehensive Design</a:t>
            </a:r>
            <a:endParaRPr lang="en-US" sz="1500"/>
          </a:p>
        </p:txBody>
      </p:sp>
      <p:sp>
        <p:nvSpPr>
          <p:cNvPr id="21" name="Text 16"/>
          <p:cNvSpPr txBox="1"/>
          <p:nvPr/>
        </p:nvSpPr>
        <p:spPr>
          <a:xfrm>
            <a:off x="8260080" y="5074920"/>
            <a:ext cx="3124200" cy="594360"/>
          </a:xfrm>
          <a:prstGeom prst="rect">
            <a:avLst/>
          </a:prstGeom>
          <a:noFill/>
          <a:ln/>
        </p:spPr>
        <p:txBody>
          <a:bodyPr wrap="square" lIns="0" tIns="0" rIns="0" bIns="0" rtlCol="0" anchor="t"/>
          <a:lstStyle/>
          <a:p>
            <a:pPr marL="0" indent="0" algn="ctr" rtl="0">
              <a:buNone/>
            </a:pPr>
            <a:r>
              <a:rPr lang="en-US" sz="1150">
                <a:solidFill>
                  <a:srgbClr val="5B7C8D"/>
                </a:solidFill>
                <a:latin typeface="Calibri" pitchFamily="34" charset="0"/>
                <a:ea typeface="Calibri" pitchFamily="34" charset="-122"/>
                <a:cs typeface="Calibri" pitchFamily="34" charset="-120"/>
              </a:rPr>
              <a:t>API design isn't just about linking applications together — it also covers resource organization, performance, and security.</a:t>
            </a:r>
            <a:endParaRPr lang="en-US" sz="1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a:extLst>
            <a:ext uri="{FF2B5EF4-FFF2-40B4-BE49-F238E27FC236}">
              <a16:creationId xmlns:a16="http://schemas.microsoft.com/office/drawing/2014/main" id="{89E645DC-E38B-3C71-DA3E-6013EFD4536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9F28A75-752C-FF64-B4C1-1E0E6C98B264}"/>
              </a:ext>
            </a:extLst>
          </p:cNvPr>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an API?</a:t>
            </a:r>
            <a:endParaRPr lang="en-US" sz="2400" i="1"/>
          </a:p>
        </p:txBody>
      </p:sp>
      <p:sp>
        <p:nvSpPr>
          <p:cNvPr id="4" name="Shape 2">
            <a:extLst>
              <a:ext uri="{FF2B5EF4-FFF2-40B4-BE49-F238E27FC236}">
                <a16:creationId xmlns:a16="http://schemas.microsoft.com/office/drawing/2014/main" id="{597D2D90-60AF-CF62-0423-B97652EEDA2C}"/>
              </a:ext>
            </a:extLst>
          </p:cNvPr>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a:extLst>
              <a:ext uri="{FF2B5EF4-FFF2-40B4-BE49-F238E27FC236}">
                <a16:creationId xmlns:a16="http://schemas.microsoft.com/office/drawing/2014/main" id="{29139769-6AB3-52FD-C380-03AD5E2029E9}"/>
              </a:ext>
            </a:extLst>
          </p:cNvPr>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3</a:t>
            </a:r>
            <a:endParaRPr lang="en-US" sz="1100"/>
          </a:p>
        </p:txBody>
      </p:sp>
      <p:sp>
        <p:nvSpPr>
          <p:cNvPr id="6" name="Text 4">
            <a:extLst>
              <a:ext uri="{FF2B5EF4-FFF2-40B4-BE49-F238E27FC236}">
                <a16:creationId xmlns:a16="http://schemas.microsoft.com/office/drawing/2014/main" id="{6A2383E4-9BDE-206A-DB62-B7D3D2B8514A}"/>
              </a:ext>
            </a:extLst>
          </p:cNvPr>
          <p:cNvSpPr txBox="1"/>
          <p:nvPr/>
        </p:nvSpPr>
        <p:spPr>
          <a:xfrm>
            <a:off x="640080" y="1874520"/>
            <a:ext cx="10908792" cy="914400"/>
          </a:xfrm>
          <a:prstGeom prst="rect">
            <a:avLst/>
          </a:prstGeom>
          <a:noFill/>
          <a:ln/>
        </p:spPr>
        <p:txBody>
          <a:bodyPr wrap="square" lIns="0" tIns="0" rIns="0" bIns="0" rtlCol="0" anchor="ctr"/>
          <a:lstStyle/>
          <a:p>
            <a:pPr marL="0" indent="0" algn="l" rtl="0">
              <a:lnSpc>
                <a:spcPct val="125000"/>
              </a:lnSpc>
              <a:buNone/>
            </a:pPr>
            <a:r>
              <a:rPr lang="en-US" sz="1500">
                <a:solidFill>
                  <a:srgbClr val="16324A"/>
                </a:solidFill>
                <a:latin typeface="Calibri" pitchFamily="34" charset="0"/>
                <a:ea typeface="Calibri" pitchFamily="34" charset="-122"/>
                <a:cs typeface="Calibri" pitchFamily="34" charset="-120"/>
              </a:rPr>
              <a:t>API stands for Application Programming Interface — a set of rules and mechanisms that allow one application or system to communicate with another without needing to know the internal details of how the other system is implemented.</a:t>
            </a:r>
            <a:endParaRPr lang="en-US" sz="1500"/>
          </a:p>
        </p:txBody>
      </p:sp>
      <p:sp>
        <p:nvSpPr>
          <p:cNvPr id="11" name="Text 4">
            <a:extLst>
              <a:ext uri="{FF2B5EF4-FFF2-40B4-BE49-F238E27FC236}">
                <a16:creationId xmlns:a16="http://schemas.microsoft.com/office/drawing/2014/main" id="{B2BBC72F-99ED-8872-44C2-90ACB984559E}"/>
              </a:ext>
            </a:extLst>
          </p:cNvPr>
          <p:cNvSpPr txBox="1"/>
          <p:nvPr/>
        </p:nvSpPr>
        <p:spPr>
          <a:xfrm>
            <a:off x="658368" y="2788921"/>
            <a:ext cx="10908792" cy="2619841"/>
          </a:xfrm>
          <a:prstGeom prst="rect">
            <a:avLst/>
          </a:prstGeom>
          <a:noFill/>
          <a:ln/>
        </p:spPr>
        <p:txBody>
          <a:bodyPr wrap="square" lIns="0" tIns="0" rIns="0" bIns="0" rtlCol="0" anchor="ctr"/>
          <a:lstStyle/>
          <a:p>
            <a:pPr marL="0" indent="0" algn="l" rtl="0">
              <a:lnSpc>
                <a:spcPct val="125000"/>
              </a:lnSpc>
              <a:buNone/>
            </a:pPr>
            <a:r>
              <a:rPr lang="en-US" sz="1500">
                <a:solidFill>
                  <a:srgbClr val="16324A"/>
                </a:solidFill>
                <a:latin typeface="Calibri" pitchFamily="34" charset="0"/>
                <a:ea typeface="Calibri" pitchFamily="34" charset="-122"/>
                <a:cs typeface="Calibri" pitchFamily="34" charset="-120"/>
              </a:rPr>
              <a:t>API is generic, and there are kinds of APIs:</a:t>
            </a:r>
          </a:p>
          <a:p>
            <a:pPr marL="285750" indent="-285750" algn="l" rtl="0">
              <a:lnSpc>
                <a:spcPct val="125000"/>
              </a:lnSpc>
              <a:buFont typeface="Arial" panose="020B0604020202020204" pitchFamily="34" charset="0"/>
              <a:buChar char="•"/>
            </a:pPr>
            <a:r>
              <a:rPr lang="en-US" sz="1500">
                <a:solidFill>
                  <a:srgbClr val="16324A"/>
                </a:solidFill>
                <a:latin typeface="Calibri" pitchFamily="34" charset="0"/>
                <a:ea typeface="Calibri" pitchFamily="34" charset="-122"/>
                <a:cs typeface="Calibri" pitchFamily="34" charset="-120"/>
              </a:rPr>
              <a:t>Web APIs</a:t>
            </a:r>
          </a:p>
          <a:p>
            <a:pPr algn="l" rtl="0">
              <a:lnSpc>
                <a:spcPct val="125000"/>
              </a:lnSpc>
            </a:pPr>
            <a:r>
              <a:rPr lang="en-US" sz="1500">
                <a:solidFill>
                  <a:srgbClr val="16324A"/>
                </a:solidFill>
                <a:latin typeface="Calibri" pitchFamily="34" charset="0"/>
                <a:ea typeface="Calibri" pitchFamily="34" charset="-122"/>
                <a:cs typeface="Calibri" pitchFamily="34" charset="-120"/>
              </a:rPr>
              <a:t>	Accessed over HTTP. This is what REST and </a:t>
            </a:r>
            <a:r>
              <a:rPr lang="en-US" sz="1500" err="1">
                <a:solidFill>
                  <a:srgbClr val="16324A"/>
                </a:solidFill>
                <a:latin typeface="Calibri" pitchFamily="34" charset="0"/>
                <a:ea typeface="Calibri" pitchFamily="34" charset="-122"/>
                <a:cs typeface="Calibri" pitchFamily="34" charset="-120"/>
              </a:rPr>
              <a:t>GraphQL</a:t>
            </a:r>
            <a:r>
              <a:rPr lang="en-US" sz="1500">
                <a:solidFill>
                  <a:srgbClr val="16324A"/>
                </a:solidFill>
                <a:latin typeface="Calibri" pitchFamily="34" charset="0"/>
                <a:ea typeface="Calibri" pitchFamily="34" charset="-122"/>
                <a:cs typeface="Calibri" pitchFamily="34" charset="-120"/>
              </a:rPr>
              <a:t> are styles of.</a:t>
            </a:r>
          </a:p>
          <a:p>
            <a:pPr marL="285750" indent="-285750" algn="l" rtl="0">
              <a:lnSpc>
                <a:spcPct val="125000"/>
              </a:lnSpc>
              <a:buFont typeface="Arial" panose="020B0604020202020204" pitchFamily="34" charset="0"/>
              <a:buChar char="•"/>
            </a:pPr>
            <a:r>
              <a:rPr lang="en-US" sz="1500">
                <a:solidFill>
                  <a:srgbClr val="16324A"/>
                </a:solidFill>
                <a:latin typeface="Calibri" pitchFamily="34" charset="0"/>
                <a:ea typeface="Calibri" pitchFamily="34" charset="-122"/>
                <a:cs typeface="Calibri" pitchFamily="34" charset="-120"/>
              </a:rPr>
              <a:t>Library/framework APIs</a:t>
            </a:r>
          </a:p>
          <a:p>
            <a:pPr algn="l" rtl="0">
              <a:lnSpc>
                <a:spcPct val="125000"/>
              </a:lnSpc>
            </a:pPr>
            <a:r>
              <a:rPr lang="en-US" sz="1500">
                <a:solidFill>
                  <a:srgbClr val="16324A"/>
                </a:solidFill>
                <a:latin typeface="Calibri" pitchFamily="34" charset="0"/>
                <a:ea typeface="Calibri" pitchFamily="34" charset="-122"/>
                <a:cs typeface="Calibri" pitchFamily="34" charset="-120"/>
              </a:rPr>
              <a:t>	 The functions and classes a library exposes, like </a:t>
            </a:r>
            <a:r>
              <a:rPr lang="en-US" sz="1500" err="1">
                <a:solidFill>
                  <a:srgbClr val="16324A"/>
                </a:solidFill>
                <a:latin typeface="Calibri" pitchFamily="34" charset="0"/>
                <a:ea typeface="Calibri" pitchFamily="34" charset="-122"/>
                <a:cs typeface="Calibri" pitchFamily="34" charset="-120"/>
              </a:rPr>
              <a:t>Math.max</a:t>
            </a:r>
            <a:r>
              <a:rPr lang="en-US" sz="1500">
                <a:solidFill>
                  <a:srgbClr val="16324A"/>
                </a:solidFill>
                <a:latin typeface="Calibri" pitchFamily="34" charset="0"/>
                <a:ea typeface="Calibri" pitchFamily="34" charset="-122"/>
                <a:cs typeface="Calibri" pitchFamily="34" charset="-120"/>
              </a:rPr>
              <a:t>() in JavaScript or </a:t>
            </a:r>
            <a:r>
              <a:rPr lang="en-US" sz="1500" err="1">
                <a:solidFill>
                  <a:srgbClr val="16324A"/>
                </a:solidFill>
                <a:latin typeface="Calibri" pitchFamily="34" charset="0"/>
                <a:ea typeface="Calibri" pitchFamily="34" charset="-122"/>
                <a:cs typeface="Calibri" pitchFamily="34" charset="-120"/>
              </a:rPr>
              <a:t>requests.get</a:t>
            </a:r>
            <a:r>
              <a:rPr lang="en-US" sz="1500">
                <a:solidFill>
                  <a:srgbClr val="16324A"/>
                </a:solidFill>
                <a:latin typeface="Calibri" pitchFamily="34" charset="0"/>
                <a:ea typeface="Calibri" pitchFamily="34" charset="-122"/>
                <a:cs typeface="Calibri" pitchFamily="34" charset="-120"/>
              </a:rPr>
              <a:t>() in Python.</a:t>
            </a:r>
          </a:p>
          <a:p>
            <a:pPr marL="285750" indent="-285750" algn="l" rtl="0">
              <a:lnSpc>
                <a:spcPct val="125000"/>
              </a:lnSpc>
              <a:buFont typeface="Arial" panose="020B0604020202020204" pitchFamily="34" charset="0"/>
              <a:buChar char="•"/>
            </a:pPr>
            <a:r>
              <a:rPr lang="en-US" sz="1500">
                <a:solidFill>
                  <a:srgbClr val="16324A"/>
                </a:solidFill>
                <a:latin typeface="Calibri" pitchFamily="34" charset="0"/>
                <a:ea typeface="Calibri" pitchFamily="34" charset="-122"/>
                <a:cs typeface="Calibri" pitchFamily="34" charset="-120"/>
              </a:rPr>
              <a:t>Operating system APIs</a:t>
            </a:r>
          </a:p>
          <a:p>
            <a:pPr lvl="1">
              <a:lnSpc>
                <a:spcPct val="125000"/>
              </a:lnSpc>
            </a:pPr>
            <a:r>
              <a:rPr lang="en-US" sz="1500">
                <a:solidFill>
                  <a:srgbClr val="16324A"/>
                </a:solidFill>
                <a:latin typeface="Calibri" pitchFamily="34" charset="0"/>
                <a:ea typeface="Calibri" pitchFamily="34" charset="-122"/>
                <a:cs typeface="Calibri" pitchFamily="34" charset="-120"/>
              </a:rPr>
              <a:t>How programs ask the OS to open files, draw windows, or use the network.</a:t>
            </a:r>
          </a:p>
          <a:p>
            <a:pPr marL="285750" indent="-285750" algn="l" rtl="0">
              <a:lnSpc>
                <a:spcPct val="125000"/>
              </a:lnSpc>
              <a:buFont typeface="Arial" panose="020B0604020202020204" pitchFamily="34" charset="0"/>
              <a:buChar char="•"/>
            </a:pPr>
            <a:r>
              <a:rPr lang="en-US" sz="1500">
                <a:solidFill>
                  <a:srgbClr val="16324A"/>
                </a:solidFill>
                <a:latin typeface="Calibri" pitchFamily="34" charset="0"/>
                <a:ea typeface="Calibri" pitchFamily="34" charset="-122"/>
                <a:cs typeface="Calibri" pitchFamily="34" charset="-120"/>
              </a:rPr>
              <a:t>Hardware/driver APIs</a:t>
            </a:r>
          </a:p>
          <a:p>
            <a:pPr algn="l" rtl="0">
              <a:lnSpc>
                <a:spcPct val="125000"/>
              </a:lnSpc>
            </a:pPr>
            <a:r>
              <a:rPr lang="en-US" sz="1500">
                <a:solidFill>
                  <a:srgbClr val="16324A"/>
                </a:solidFill>
                <a:latin typeface="Calibri" pitchFamily="34" charset="0"/>
                <a:ea typeface="Calibri" pitchFamily="34" charset="-122"/>
                <a:cs typeface="Calibri" pitchFamily="34" charset="-120"/>
              </a:rPr>
              <a:t>	How software talks to devices like cameras or GPUs.</a:t>
            </a:r>
          </a:p>
        </p:txBody>
      </p:sp>
    </p:spTree>
    <p:extLst>
      <p:ext uri="{BB962C8B-B14F-4D97-AF65-F5344CB8AC3E}">
        <p14:creationId xmlns:p14="http://schemas.microsoft.com/office/powerpoint/2010/main" val="47560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an API?</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3</a:t>
            </a:r>
            <a:endParaRPr lang="en-US" sz="1100"/>
          </a:p>
        </p:txBody>
      </p:sp>
      <p:sp>
        <p:nvSpPr>
          <p:cNvPr id="6" name="Text 4"/>
          <p:cNvSpPr txBox="1"/>
          <p:nvPr/>
        </p:nvSpPr>
        <p:spPr>
          <a:xfrm>
            <a:off x="640080" y="1874520"/>
            <a:ext cx="10908792" cy="914400"/>
          </a:xfrm>
          <a:prstGeom prst="rect">
            <a:avLst/>
          </a:prstGeom>
          <a:noFill/>
          <a:ln/>
        </p:spPr>
        <p:txBody>
          <a:bodyPr wrap="square" lIns="0" tIns="0" rIns="0" bIns="0" rtlCol="0" anchor="ctr"/>
          <a:lstStyle/>
          <a:p>
            <a:pPr marL="0" indent="0" algn="l" rtl="0">
              <a:lnSpc>
                <a:spcPct val="125000"/>
              </a:lnSpc>
              <a:buNone/>
            </a:pPr>
            <a:r>
              <a:rPr lang="en-US" sz="1500">
                <a:solidFill>
                  <a:srgbClr val="16324A"/>
                </a:solidFill>
                <a:latin typeface="Calibri" pitchFamily="34" charset="0"/>
                <a:ea typeface="Calibri" pitchFamily="34" charset="-122"/>
                <a:cs typeface="Calibri" pitchFamily="34" charset="-120"/>
              </a:rPr>
              <a:t>API stands for Application Programming Interface — a set of rules and mechanisms that allow one application or system to communicate with another without needing to know the internal details of how the other system is implemented.</a:t>
            </a:r>
            <a:endParaRPr lang="en-US" sz="1500"/>
          </a:p>
        </p:txBody>
      </p:sp>
      <p:sp>
        <p:nvSpPr>
          <p:cNvPr id="7" name="Shape 5"/>
          <p:cNvSpPr/>
          <p:nvPr/>
        </p:nvSpPr>
        <p:spPr>
          <a:xfrm>
            <a:off x="640080" y="2880360"/>
            <a:ext cx="10908792" cy="640080"/>
          </a:xfrm>
          <a:prstGeom prst="roundRect">
            <a:avLst>
              <a:gd name="adj" fmla="val 14286"/>
            </a:avLst>
          </a:prstGeom>
          <a:solidFill>
            <a:srgbClr val="0B3D5C"/>
          </a:solidFill>
          <a:ln/>
        </p:spPr>
        <p:txBody>
          <a:bodyPr/>
          <a:lstStyle/>
          <a:p>
            <a:endParaRPr lang="en-US"/>
          </a:p>
        </p:txBody>
      </p:sp>
      <p:sp>
        <p:nvSpPr>
          <p:cNvPr id="8" name="Text 6"/>
          <p:cNvSpPr txBox="1"/>
          <p:nvPr/>
        </p:nvSpPr>
        <p:spPr>
          <a:xfrm>
            <a:off x="822960" y="2880360"/>
            <a:ext cx="10543032" cy="64008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In simple terms: an API acts as an intermediary between the client and the server</a:t>
            </a:r>
            <a:endParaRPr lang="en-US" sz="1600"/>
          </a:p>
        </p:txBody>
      </p:sp>
      <p:sp>
        <p:nvSpPr>
          <p:cNvPr id="9" name="Shape 7"/>
          <p:cNvSpPr/>
          <p:nvPr/>
        </p:nvSpPr>
        <p:spPr>
          <a:xfrm>
            <a:off x="9262872" y="3977640"/>
            <a:ext cx="2286000" cy="1554480"/>
          </a:xfrm>
          <a:prstGeom prst="roundRect">
            <a:avLst>
              <a:gd name="adj" fmla="val 4706"/>
            </a:avLst>
          </a:prstGeom>
          <a:solidFill>
            <a:srgbClr val="FFFFFF"/>
          </a:solidFill>
          <a:ln w="19050">
            <a:solidFill>
              <a:srgbClr val="1C7293"/>
            </a:solidFill>
            <a:prstDash val="solid"/>
          </a:ln>
          <a:effectLst>
            <a:outerShdw blurRad="63500" dist="25400" dir="5400000" algn="bl" rotWithShape="0">
              <a:srgbClr val="1B2A3D">
                <a:alpha val="10000"/>
              </a:srgbClr>
            </a:outerShdw>
          </a:effectLst>
        </p:spPr>
        <p:txBody>
          <a:bodyPr/>
          <a:lstStyle/>
          <a:p>
            <a:endParaRPr lang="en-US"/>
          </a:p>
        </p:txBody>
      </p:sp>
      <p:sp>
        <p:nvSpPr>
          <p:cNvPr id="10" name="Shape 8"/>
          <p:cNvSpPr/>
          <p:nvPr/>
        </p:nvSpPr>
        <p:spPr>
          <a:xfrm>
            <a:off x="10131552" y="4142232"/>
            <a:ext cx="548640" cy="548640"/>
          </a:xfrm>
          <a:prstGeom prst="ellipse">
            <a:avLst/>
          </a:prstGeom>
          <a:solidFill>
            <a:srgbClr val="0B3D5C"/>
          </a:solidFill>
          <a:ln/>
        </p:spPr>
        <p:txBody>
          <a:bodyPr/>
          <a:lstStyle/>
          <a:p>
            <a:endParaRPr lang="en-US"/>
          </a:p>
        </p:txBody>
      </p:sp>
      <p:sp>
        <p:nvSpPr>
          <p:cNvPr id="12" name="Text 9"/>
          <p:cNvSpPr txBox="1"/>
          <p:nvPr/>
        </p:nvSpPr>
        <p:spPr>
          <a:xfrm>
            <a:off x="9262872" y="4754880"/>
            <a:ext cx="2286000" cy="274320"/>
          </a:xfrm>
          <a:prstGeom prst="rect">
            <a:avLst/>
          </a:prstGeom>
          <a:noFill/>
          <a:ln/>
        </p:spPr>
        <p:txBody>
          <a:bodyPr wrap="square" lIns="0" tIns="0" rIns="0" bIns="0" rtlCol="0" anchor="ctr"/>
          <a:lstStyle/>
          <a:p>
            <a:pPr marL="0" indent="0" algn="ctr">
              <a:buNone/>
            </a:pPr>
            <a:r>
              <a:rPr lang="en-US" sz="1400" b="1">
                <a:solidFill>
                  <a:srgbClr val="0B3D5C"/>
                </a:solidFill>
                <a:latin typeface="Calibri" pitchFamily="34" charset="0"/>
                <a:ea typeface="Calibri" pitchFamily="34" charset="-122"/>
                <a:cs typeface="Calibri" pitchFamily="34" charset="-120"/>
              </a:rPr>
              <a:t>Database</a:t>
            </a:r>
            <a:endParaRPr lang="en-US" sz="1400"/>
          </a:p>
        </p:txBody>
      </p:sp>
      <p:sp>
        <p:nvSpPr>
          <p:cNvPr id="13" name="Text 10"/>
          <p:cNvSpPr txBox="1"/>
          <p:nvPr/>
        </p:nvSpPr>
        <p:spPr>
          <a:xfrm>
            <a:off x="9354312" y="5056632"/>
            <a:ext cx="2103120" cy="457200"/>
          </a:xfrm>
          <a:prstGeom prst="rect">
            <a:avLst/>
          </a:prstGeom>
          <a:noFill/>
          <a:ln/>
        </p:spPr>
        <p:txBody>
          <a:bodyPr wrap="square" lIns="0" tIns="0" rIns="0" bIns="0" rtlCol="0" anchor="ctr"/>
          <a:lstStyle/>
          <a:p>
            <a:pPr marL="0" indent="0" algn="ctr" rtl="0">
              <a:buNone/>
            </a:pPr>
            <a:r>
              <a:rPr lang="en-US" sz="1050">
                <a:solidFill>
                  <a:srgbClr val="5B7C8D"/>
                </a:solidFill>
                <a:latin typeface="Calibri" pitchFamily="34" charset="0"/>
                <a:ea typeface="Calibri" pitchFamily="34" charset="-122"/>
                <a:cs typeface="Calibri" pitchFamily="34" charset="-120"/>
              </a:rPr>
              <a:t>Holds the information</a:t>
            </a:r>
            <a:endParaRPr lang="en-US" sz="1050"/>
          </a:p>
        </p:txBody>
      </p:sp>
      <p:sp>
        <p:nvSpPr>
          <p:cNvPr id="15" name="Shape 12"/>
          <p:cNvSpPr/>
          <p:nvPr/>
        </p:nvSpPr>
        <p:spPr>
          <a:xfrm>
            <a:off x="6388608" y="3977640"/>
            <a:ext cx="2286000" cy="1554480"/>
          </a:xfrm>
          <a:prstGeom prst="roundRect">
            <a:avLst>
              <a:gd name="adj" fmla="val 4706"/>
            </a:avLst>
          </a:prstGeom>
          <a:solidFill>
            <a:srgbClr val="FFFFFF"/>
          </a:solidFill>
          <a:ln w="19050">
            <a:solidFill>
              <a:srgbClr val="1C7293"/>
            </a:solidFill>
            <a:prstDash val="solid"/>
          </a:ln>
          <a:effectLst>
            <a:outerShdw blurRad="63500" dist="25400" dir="5400000" algn="bl" rotWithShape="0">
              <a:srgbClr val="1B2A3D">
                <a:alpha val="10000"/>
              </a:srgbClr>
            </a:outerShdw>
          </a:effectLst>
        </p:spPr>
        <p:txBody>
          <a:bodyPr/>
          <a:lstStyle/>
          <a:p>
            <a:endParaRPr lang="en-US"/>
          </a:p>
        </p:txBody>
      </p:sp>
      <p:sp>
        <p:nvSpPr>
          <p:cNvPr id="16" name="Shape 13"/>
          <p:cNvSpPr/>
          <p:nvPr/>
        </p:nvSpPr>
        <p:spPr>
          <a:xfrm>
            <a:off x="7257288" y="4142232"/>
            <a:ext cx="548640" cy="548640"/>
          </a:xfrm>
          <a:prstGeom prst="ellipse">
            <a:avLst/>
          </a:prstGeom>
          <a:solidFill>
            <a:srgbClr val="1C7293"/>
          </a:solidFill>
          <a:ln/>
        </p:spPr>
        <p:txBody>
          <a:bodyPr/>
          <a:lstStyle/>
          <a:p>
            <a:endParaRPr lang="en-US"/>
          </a:p>
        </p:txBody>
      </p:sp>
      <p:sp>
        <p:nvSpPr>
          <p:cNvPr id="18" name="Text 14"/>
          <p:cNvSpPr txBox="1"/>
          <p:nvPr/>
        </p:nvSpPr>
        <p:spPr>
          <a:xfrm>
            <a:off x="6388608" y="4754880"/>
            <a:ext cx="2286000" cy="274320"/>
          </a:xfrm>
          <a:prstGeom prst="rect">
            <a:avLst/>
          </a:prstGeom>
          <a:noFill/>
          <a:ln/>
        </p:spPr>
        <p:txBody>
          <a:bodyPr wrap="square" lIns="0" tIns="0" rIns="0" bIns="0" rtlCol="0" anchor="ctr"/>
          <a:lstStyle/>
          <a:p>
            <a:pPr marL="0" indent="0" algn="ctr">
              <a:buNone/>
            </a:pPr>
            <a:r>
              <a:rPr lang="en-US" sz="1400" b="1">
                <a:solidFill>
                  <a:srgbClr val="0B3D5C"/>
                </a:solidFill>
                <a:latin typeface="Calibri" pitchFamily="34" charset="0"/>
                <a:ea typeface="Calibri" pitchFamily="34" charset="-122"/>
                <a:cs typeface="Calibri" pitchFamily="34" charset="-120"/>
              </a:rPr>
              <a:t>Server</a:t>
            </a:r>
            <a:endParaRPr lang="en-US" sz="1400"/>
          </a:p>
        </p:txBody>
      </p:sp>
      <p:sp>
        <p:nvSpPr>
          <p:cNvPr id="19" name="Text 15"/>
          <p:cNvSpPr txBox="1"/>
          <p:nvPr/>
        </p:nvSpPr>
        <p:spPr>
          <a:xfrm>
            <a:off x="6480048" y="5056632"/>
            <a:ext cx="2103120" cy="429768"/>
          </a:xfrm>
          <a:prstGeom prst="rect">
            <a:avLst/>
          </a:prstGeom>
          <a:noFill/>
          <a:ln/>
        </p:spPr>
        <p:txBody>
          <a:bodyPr wrap="square" lIns="0" tIns="0" rIns="0" bIns="0" rtlCol="0" anchor="ctr"/>
          <a:lstStyle/>
          <a:p>
            <a:pPr marL="0" indent="0" algn="ctr" rtl="0">
              <a:buNone/>
            </a:pPr>
            <a:r>
              <a:rPr lang="en-US" sz="1050">
                <a:solidFill>
                  <a:srgbClr val="5B7C8D"/>
                </a:solidFill>
                <a:latin typeface="Calibri" pitchFamily="34" charset="0"/>
                <a:ea typeface="Calibri" pitchFamily="34" charset="-122"/>
                <a:cs typeface="Calibri" pitchFamily="34" charset="-120"/>
              </a:rPr>
              <a:t>Executes the system logic</a:t>
            </a:r>
            <a:endParaRPr lang="en-US" sz="1050"/>
          </a:p>
        </p:txBody>
      </p:sp>
      <p:sp>
        <p:nvSpPr>
          <p:cNvPr id="21" name="Shape 17"/>
          <p:cNvSpPr/>
          <p:nvPr/>
        </p:nvSpPr>
        <p:spPr>
          <a:xfrm>
            <a:off x="3514344" y="3977640"/>
            <a:ext cx="2286000" cy="1554480"/>
          </a:xfrm>
          <a:prstGeom prst="roundRect">
            <a:avLst>
              <a:gd name="adj" fmla="val 4706"/>
            </a:avLst>
          </a:prstGeom>
          <a:solidFill>
            <a:srgbClr val="FFFFFF"/>
          </a:solidFill>
          <a:ln w="19050">
            <a:solidFill>
              <a:srgbClr val="1C7293"/>
            </a:solidFill>
            <a:prstDash val="solid"/>
          </a:ln>
          <a:effectLst>
            <a:outerShdw blurRad="63500" dist="25400" dir="5400000" algn="bl" rotWithShape="0">
              <a:srgbClr val="1B2A3D">
                <a:alpha val="10000"/>
              </a:srgbClr>
            </a:outerShdw>
          </a:effectLst>
        </p:spPr>
        <p:txBody>
          <a:bodyPr/>
          <a:lstStyle/>
          <a:p>
            <a:endParaRPr lang="en-US"/>
          </a:p>
        </p:txBody>
      </p:sp>
      <p:sp>
        <p:nvSpPr>
          <p:cNvPr id="22" name="Shape 18"/>
          <p:cNvSpPr/>
          <p:nvPr/>
        </p:nvSpPr>
        <p:spPr>
          <a:xfrm>
            <a:off x="4383024" y="4142232"/>
            <a:ext cx="548640" cy="548640"/>
          </a:xfrm>
          <a:prstGeom prst="ellipse">
            <a:avLst/>
          </a:prstGeom>
          <a:solidFill>
            <a:srgbClr val="0B3D5C"/>
          </a:solidFill>
          <a:ln/>
        </p:spPr>
        <p:txBody>
          <a:bodyPr/>
          <a:lstStyle/>
          <a:p>
            <a:endParaRPr lang="en-US"/>
          </a:p>
        </p:txBody>
      </p:sp>
      <p:sp>
        <p:nvSpPr>
          <p:cNvPr id="24" name="Text 19"/>
          <p:cNvSpPr txBox="1"/>
          <p:nvPr/>
        </p:nvSpPr>
        <p:spPr>
          <a:xfrm>
            <a:off x="3514344" y="4754880"/>
            <a:ext cx="2286000" cy="274320"/>
          </a:xfrm>
          <a:prstGeom prst="rect">
            <a:avLst/>
          </a:prstGeom>
          <a:noFill/>
          <a:ln/>
        </p:spPr>
        <p:txBody>
          <a:bodyPr wrap="square" lIns="0" tIns="0" rIns="0" bIns="0" rtlCol="0" anchor="ctr"/>
          <a:lstStyle/>
          <a:p>
            <a:pPr marL="0" indent="0" algn="ctr">
              <a:buNone/>
            </a:pPr>
            <a:r>
              <a:rPr lang="en-US" sz="1400" b="1">
                <a:solidFill>
                  <a:srgbClr val="0B3D5C"/>
                </a:solidFill>
                <a:latin typeface="Calibri" pitchFamily="34" charset="0"/>
                <a:ea typeface="Calibri" pitchFamily="34" charset="-122"/>
                <a:cs typeface="Calibri" pitchFamily="34" charset="-120"/>
              </a:rPr>
              <a:t>API</a:t>
            </a:r>
            <a:endParaRPr lang="en-US" sz="1400"/>
          </a:p>
        </p:txBody>
      </p:sp>
      <p:sp>
        <p:nvSpPr>
          <p:cNvPr id="25" name="Text 20"/>
          <p:cNvSpPr txBox="1"/>
          <p:nvPr/>
        </p:nvSpPr>
        <p:spPr>
          <a:xfrm>
            <a:off x="3605784" y="5056632"/>
            <a:ext cx="2103120" cy="457200"/>
          </a:xfrm>
          <a:prstGeom prst="rect">
            <a:avLst/>
          </a:prstGeom>
          <a:noFill/>
          <a:ln/>
        </p:spPr>
        <p:txBody>
          <a:bodyPr wrap="square" lIns="0" tIns="0" rIns="0" bIns="0" rtlCol="0" anchor="ctr"/>
          <a:lstStyle/>
          <a:p>
            <a:pPr algn="ctr"/>
            <a:r>
              <a:rPr lang="en-US" sz="1050">
                <a:solidFill>
                  <a:srgbClr val="5B7C8D"/>
                </a:solidFill>
                <a:latin typeface="Calibri" pitchFamily="34" charset="0"/>
                <a:ea typeface="Calibri" pitchFamily="34" charset="-122"/>
                <a:cs typeface="Calibri" pitchFamily="34" charset="-120"/>
              </a:rPr>
              <a:t>Receives requests and organizes communication</a:t>
            </a:r>
            <a:endParaRPr lang="en-US" sz="1050"/>
          </a:p>
          <a:p>
            <a:pPr marL="0" indent="0" algn="ctr" rtl="0">
              <a:buNone/>
            </a:pPr>
            <a:endParaRPr lang="en-US" sz="1050"/>
          </a:p>
        </p:txBody>
      </p:sp>
      <p:sp>
        <p:nvSpPr>
          <p:cNvPr id="27" name="Shape 22"/>
          <p:cNvSpPr/>
          <p:nvPr/>
        </p:nvSpPr>
        <p:spPr>
          <a:xfrm>
            <a:off x="640080" y="3977640"/>
            <a:ext cx="2286000" cy="1554480"/>
          </a:xfrm>
          <a:prstGeom prst="roundRect">
            <a:avLst>
              <a:gd name="adj" fmla="val 4706"/>
            </a:avLst>
          </a:prstGeom>
          <a:solidFill>
            <a:srgbClr val="FFFFFF"/>
          </a:solidFill>
          <a:ln w="19050">
            <a:solidFill>
              <a:srgbClr val="1C7293"/>
            </a:solidFill>
            <a:prstDash val="solid"/>
          </a:ln>
          <a:effectLst>
            <a:outerShdw blurRad="63500" dist="25400" dir="5400000" algn="bl" rotWithShape="0">
              <a:srgbClr val="1B2A3D">
                <a:alpha val="10000"/>
              </a:srgbClr>
            </a:outerShdw>
          </a:effectLst>
        </p:spPr>
        <p:txBody>
          <a:bodyPr/>
          <a:lstStyle/>
          <a:p>
            <a:endParaRPr lang="en-US"/>
          </a:p>
        </p:txBody>
      </p:sp>
      <p:sp>
        <p:nvSpPr>
          <p:cNvPr id="28" name="Shape 23"/>
          <p:cNvSpPr/>
          <p:nvPr/>
        </p:nvSpPr>
        <p:spPr>
          <a:xfrm>
            <a:off x="1508760" y="4142232"/>
            <a:ext cx="548640" cy="548640"/>
          </a:xfrm>
          <a:prstGeom prst="ellipse">
            <a:avLst/>
          </a:prstGeom>
          <a:solidFill>
            <a:srgbClr val="1C7293"/>
          </a:solidFill>
          <a:ln/>
        </p:spPr>
        <p:txBody>
          <a:bodyPr/>
          <a:lstStyle/>
          <a:p>
            <a:endParaRPr lang="en-US"/>
          </a:p>
        </p:txBody>
      </p:sp>
      <p:sp>
        <p:nvSpPr>
          <p:cNvPr id="30" name="Text 24"/>
          <p:cNvSpPr txBox="1"/>
          <p:nvPr/>
        </p:nvSpPr>
        <p:spPr>
          <a:xfrm>
            <a:off x="640080" y="4754880"/>
            <a:ext cx="2286000" cy="274320"/>
          </a:xfrm>
          <a:prstGeom prst="rect">
            <a:avLst/>
          </a:prstGeom>
          <a:noFill/>
          <a:ln/>
        </p:spPr>
        <p:txBody>
          <a:bodyPr wrap="square" lIns="0" tIns="0" rIns="0" bIns="0" rtlCol="0" anchor="ctr"/>
          <a:lstStyle/>
          <a:p>
            <a:pPr marL="0" indent="0" algn="ctr">
              <a:buNone/>
            </a:pPr>
            <a:r>
              <a:rPr lang="en-US" sz="1400" b="1">
                <a:solidFill>
                  <a:srgbClr val="0B3D5C"/>
                </a:solidFill>
                <a:latin typeface="Calibri" pitchFamily="34" charset="0"/>
                <a:ea typeface="Calibri" pitchFamily="34" charset="-122"/>
                <a:cs typeface="Calibri" pitchFamily="34" charset="-120"/>
              </a:rPr>
              <a:t>Client</a:t>
            </a:r>
            <a:endParaRPr lang="en-US" sz="1400"/>
          </a:p>
        </p:txBody>
      </p:sp>
      <p:sp>
        <p:nvSpPr>
          <p:cNvPr id="31" name="Text 25"/>
          <p:cNvSpPr txBox="1"/>
          <p:nvPr/>
        </p:nvSpPr>
        <p:spPr>
          <a:xfrm>
            <a:off x="731520" y="5056632"/>
            <a:ext cx="2103120" cy="457200"/>
          </a:xfrm>
          <a:prstGeom prst="rect">
            <a:avLst/>
          </a:prstGeom>
          <a:noFill/>
          <a:ln/>
        </p:spPr>
        <p:txBody>
          <a:bodyPr wrap="square" lIns="0" tIns="0" rIns="0" bIns="0" rtlCol="0" anchor="ctr"/>
          <a:lstStyle/>
          <a:p>
            <a:pPr marL="0" indent="0" algn="ctr" rtl="0">
              <a:buNone/>
            </a:pPr>
            <a:r>
              <a:rPr lang="en-US" sz="1050">
                <a:solidFill>
                  <a:srgbClr val="5B7C8D"/>
                </a:solidFill>
                <a:latin typeface="Calibri" pitchFamily="34" charset="0"/>
                <a:ea typeface="Calibri" pitchFamily="34" charset="-122"/>
                <a:cs typeface="Calibri" pitchFamily="34" charset="-120"/>
              </a:rPr>
              <a:t>The application the user interacts with</a:t>
            </a:r>
            <a:endParaRPr lang="en-US" sz="1050"/>
          </a:p>
        </p:txBody>
      </p:sp>
      <p:pic>
        <p:nvPicPr>
          <p:cNvPr id="32" name="Image 0" descr="/home/claude/work/icon_laptop_white.png">
            <a:extLst>
              <a:ext uri="{FF2B5EF4-FFF2-40B4-BE49-F238E27FC236}">
                <a16:creationId xmlns:a16="http://schemas.microsoft.com/office/drawing/2014/main" id="{7FDDCDF5-FBB7-32A1-BE05-2F1AAC5F2CA5}"/>
              </a:ext>
            </a:extLst>
          </p:cNvPr>
          <p:cNvPicPr>
            <a:picLocks noChangeAspect="1"/>
          </p:cNvPicPr>
          <p:nvPr/>
        </p:nvPicPr>
        <p:blipFill>
          <a:blip r:embed="rId3"/>
          <a:stretch>
            <a:fillRect/>
          </a:stretch>
        </p:blipFill>
        <p:spPr>
          <a:xfrm>
            <a:off x="1599321" y="4311870"/>
            <a:ext cx="285293" cy="285293"/>
          </a:xfrm>
          <a:prstGeom prst="rect">
            <a:avLst/>
          </a:prstGeom>
        </p:spPr>
      </p:pic>
      <p:pic>
        <p:nvPicPr>
          <p:cNvPr id="33" name="Image 1" descr="/home/claude/work/icon_network_white.png">
            <a:extLst>
              <a:ext uri="{FF2B5EF4-FFF2-40B4-BE49-F238E27FC236}">
                <a16:creationId xmlns:a16="http://schemas.microsoft.com/office/drawing/2014/main" id="{0309DFC1-88D3-6D8E-6C0A-45FD0B50F7E9}"/>
              </a:ext>
            </a:extLst>
          </p:cNvPr>
          <p:cNvPicPr>
            <a:picLocks noChangeAspect="1"/>
          </p:cNvPicPr>
          <p:nvPr/>
        </p:nvPicPr>
        <p:blipFill>
          <a:blip r:embed="rId4"/>
          <a:stretch>
            <a:fillRect/>
          </a:stretch>
        </p:blipFill>
        <p:spPr>
          <a:xfrm>
            <a:off x="4477935" y="4261477"/>
            <a:ext cx="285293" cy="285293"/>
          </a:xfrm>
          <a:prstGeom prst="rect">
            <a:avLst/>
          </a:prstGeom>
        </p:spPr>
      </p:pic>
      <p:pic>
        <p:nvPicPr>
          <p:cNvPr id="34" name="Image 2" descr="/home/claude/work/icon_server_white.png">
            <a:extLst>
              <a:ext uri="{FF2B5EF4-FFF2-40B4-BE49-F238E27FC236}">
                <a16:creationId xmlns:a16="http://schemas.microsoft.com/office/drawing/2014/main" id="{88B0D0B4-33FC-2250-18DF-47FF0474A9C5}"/>
              </a:ext>
            </a:extLst>
          </p:cNvPr>
          <p:cNvPicPr>
            <a:picLocks noChangeAspect="1"/>
          </p:cNvPicPr>
          <p:nvPr/>
        </p:nvPicPr>
        <p:blipFill>
          <a:blip r:embed="rId5"/>
          <a:stretch>
            <a:fillRect/>
          </a:stretch>
        </p:blipFill>
        <p:spPr>
          <a:xfrm>
            <a:off x="7388961" y="4285793"/>
            <a:ext cx="285293" cy="285293"/>
          </a:xfrm>
          <a:prstGeom prst="rect">
            <a:avLst/>
          </a:prstGeom>
        </p:spPr>
      </p:pic>
      <p:pic>
        <p:nvPicPr>
          <p:cNvPr id="35" name="Image 3" descr="/home/claude/work/icon_database_white.png">
            <a:extLst>
              <a:ext uri="{FF2B5EF4-FFF2-40B4-BE49-F238E27FC236}">
                <a16:creationId xmlns:a16="http://schemas.microsoft.com/office/drawing/2014/main" id="{A3545A4D-65AF-30CB-2F45-B66381560B18}"/>
              </a:ext>
            </a:extLst>
          </p:cNvPr>
          <p:cNvPicPr>
            <a:picLocks noChangeAspect="1"/>
          </p:cNvPicPr>
          <p:nvPr/>
        </p:nvPicPr>
        <p:blipFill>
          <a:blip r:embed="rId6"/>
          <a:stretch>
            <a:fillRect/>
          </a:stretch>
        </p:blipFill>
        <p:spPr>
          <a:xfrm>
            <a:off x="10263225" y="4297680"/>
            <a:ext cx="285293" cy="285293"/>
          </a:xfrm>
          <a:prstGeom prst="rect">
            <a:avLst/>
          </a:prstGeom>
        </p:spPr>
      </p:pic>
      <p:sp>
        <p:nvSpPr>
          <p:cNvPr id="36" name="سهم: لليمين 35">
            <a:extLst>
              <a:ext uri="{FF2B5EF4-FFF2-40B4-BE49-F238E27FC236}">
                <a16:creationId xmlns:a16="http://schemas.microsoft.com/office/drawing/2014/main" id="{E8E79E81-640E-6D0B-D635-39C4D912E750}"/>
              </a:ext>
            </a:extLst>
          </p:cNvPr>
          <p:cNvSpPr/>
          <p:nvPr/>
        </p:nvSpPr>
        <p:spPr>
          <a:xfrm>
            <a:off x="2968770" y="4639733"/>
            <a:ext cx="545574" cy="391499"/>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7" name="سهم: لليمين 36">
            <a:extLst>
              <a:ext uri="{FF2B5EF4-FFF2-40B4-BE49-F238E27FC236}">
                <a16:creationId xmlns:a16="http://schemas.microsoft.com/office/drawing/2014/main" id="{4F35D462-6E97-21C3-1418-6B94837AA984}"/>
              </a:ext>
            </a:extLst>
          </p:cNvPr>
          <p:cNvSpPr/>
          <p:nvPr/>
        </p:nvSpPr>
        <p:spPr>
          <a:xfrm>
            <a:off x="5825931" y="4684606"/>
            <a:ext cx="562677" cy="365760"/>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8" name="سهم: لليمين 37">
            <a:extLst>
              <a:ext uri="{FF2B5EF4-FFF2-40B4-BE49-F238E27FC236}">
                <a16:creationId xmlns:a16="http://schemas.microsoft.com/office/drawing/2014/main" id="{EF42EA87-44BA-61AF-1E3C-CAC49072346F}"/>
              </a:ext>
            </a:extLst>
          </p:cNvPr>
          <p:cNvSpPr/>
          <p:nvPr/>
        </p:nvSpPr>
        <p:spPr>
          <a:xfrm>
            <a:off x="8740630" y="4690872"/>
            <a:ext cx="482600" cy="460587"/>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A9AB68BB-9E86-2D29-AED2-B51A01C8B9AA}"/>
              </a:ext>
            </a:extLst>
          </p:cNvPr>
          <p:cNvSpPr txBox="1"/>
          <p:nvPr/>
        </p:nvSpPr>
        <p:spPr>
          <a:xfrm>
            <a:off x="914400" y="1187778"/>
            <a:ext cx="9615339" cy="461665"/>
          </a:xfrm>
          <a:prstGeom prst="rect">
            <a:avLst/>
          </a:prstGeom>
          <a:noFill/>
        </p:spPr>
        <p:txBody>
          <a:bodyPr wrap="square" rtlCol="0">
            <a:spAutoFit/>
          </a:bodyPr>
          <a:lstStyle/>
          <a:p>
            <a:r>
              <a:rPr lang="en-US" sz="2400" b="1" i="1">
                <a:solidFill>
                  <a:schemeClr val="accent1"/>
                </a:solidFill>
              </a:rPr>
              <a:t>API Types Based on Accessibility:</a:t>
            </a:r>
          </a:p>
        </p:txBody>
      </p:sp>
      <p:sp>
        <p:nvSpPr>
          <p:cNvPr id="3" name="مربع نص 2">
            <a:extLst>
              <a:ext uri="{FF2B5EF4-FFF2-40B4-BE49-F238E27FC236}">
                <a16:creationId xmlns:a16="http://schemas.microsoft.com/office/drawing/2014/main" id="{09CA77DA-82AF-0A64-EBF3-FC014BF7F8DC}"/>
              </a:ext>
            </a:extLst>
          </p:cNvPr>
          <p:cNvSpPr txBox="1"/>
          <p:nvPr/>
        </p:nvSpPr>
        <p:spPr>
          <a:xfrm>
            <a:off x="914400" y="1866507"/>
            <a:ext cx="9438968" cy="3970318"/>
          </a:xfrm>
          <a:prstGeom prst="rect">
            <a:avLst/>
          </a:prstGeom>
          <a:noFill/>
        </p:spPr>
        <p:txBody>
          <a:bodyPr wrap="square" rtlCol="0">
            <a:spAutoFit/>
          </a:bodyPr>
          <a:lstStyle/>
          <a:p>
            <a:r>
              <a:rPr lang="en-US" sz="2400" b="1" i="1"/>
              <a:t>1-Public API:</a:t>
            </a:r>
          </a:p>
          <a:p>
            <a:r>
              <a:rPr lang="en-US"/>
              <a:t>   Available to external developers or users according to the API providers </a:t>
            </a:r>
          </a:p>
          <a:p>
            <a:r>
              <a:rPr lang="en-US"/>
              <a:t>     terms and conditions.</a:t>
            </a:r>
          </a:p>
          <a:p>
            <a:r>
              <a:rPr lang="en-US"/>
              <a:t>    -Example : Weather API or Maps API.</a:t>
            </a:r>
          </a:p>
          <a:p>
            <a:r>
              <a:rPr lang="en-US" sz="2400" b="1" i="1"/>
              <a:t>2-Private API:</a:t>
            </a:r>
          </a:p>
          <a:p>
            <a:r>
              <a:rPr lang="en-US"/>
              <a:t>   Used within an organization to connect internal systems, applications,</a:t>
            </a:r>
          </a:p>
          <a:p>
            <a:r>
              <a:rPr lang="en-US"/>
              <a:t>       and services.</a:t>
            </a:r>
          </a:p>
          <a:p>
            <a:r>
              <a:rPr lang="en-US"/>
              <a:t>     -Example: An HR system communicates with the payroll system.</a:t>
            </a:r>
          </a:p>
          <a:p>
            <a:r>
              <a:rPr lang="en-US" sz="2400" b="1" i="1"/>
              <a:t>3-Partner API:</a:t>
            </a:r>
          </a:p>
          <a:p>
            <a:r>
              <a:rPr lang="en-US"/>
              <a:t>    Available only to selected business partners through authorization or </a:t>
            </a:r>
          </a:p>
          <a:p>
            <a:r>
              <a:rPr lang="en-US"/>
              <a:t>       an agreement.</a:t>
            </a:r>
          </a:p>
          <a:p>
            <a:r>
              <a:rPr lang="en-US"/>
              <a:t>      -Example: A delivery company uses an online stores API to receive </a:t>
            </a:r>
          </a:p>
          <a:p>
            <a:r>
              <a:rPr lang="en-US"/>
              <a:t>        delivery orders.</a:t>
            </a:r>
          </a:p>
        </p:txBody>
      </p:sp>
    </p:spTree>
    <p:extLst>
      <p:ext uri="{BB962C8B-B14F-4D97-AF65-F5344CB8AC3E}">
        <p14:creationId xmlns:p14="http://schemas.microsoft.com/office/powerpoint/2010/main" val="2520416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Why is an API Important?</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4</a:t>
            </a:r>
            <a:endParaRPr lang="en-US" sz="1100"/>
          </a:p>
        </p:txBody>
      </p:sp>
      <p:sp>
        <p:nvSpPr>
          <p:cNvPr id="6" name="Shape 4"/>
          <p:cNvSpPr/>
          <p:nvPr/>
        </p:nvSpPr>
        <p:spPr>
          <a:xfrm>
            <a:off x="496316" y="2404872"/>
            <a:ext cx="566928" cy="566928"/>
          </a:xfrm>
          <a:prstGeom prst="ellipse">
            <a:avLst/>
          </a:prstGeom>
          <a:solidFill>
            <a:srgbClr val="0B3D5C"/>
          </a:solidFill>
          <a:ln/>
        </p:spPr>
        <p:txBody>
          <a:bodyPr/>
          <a:lstStyle/>
          <a:p>
            <a:endParaRPr lang="en-US"/>
          </a:p>
        </p:txBody>
      </p:sp>
      <p:pic>
        <p:nvPicPr>
          <p:cNvPr id="7" name="Image 0" descr="/home/claude/work/icon_puzzle_white.png"/>
          <p:cNvPicPr>
            <a:picLocks noChangeAspect="1"/>
          </p:cNvPicPr>
          <p:nvPr/>
        </p:nvPicPr>
        <p:blipFill>
          <a:blip r:embed="rId3"/>
          <a:stretch>
            <a:fillRect/>
          </a:stretch>
        </p:blipFill>
        <p:spPr>
          <a:xfrm>
            <a:off x="641360" y="2536368"/>
            <a:ext cx="294803" cy="294803"/>
          </a:xfrm>
          <a:prstGeom prst="rect">
            <a:avLst/>
          </a:prstGeom>
        </p:spPr>
      </p:pic>
      <p:sp>
        <p:nvSpPr>
          <p:cNvPr id="8" name="Text 5"/>
          <p:cNvSpPr txBox="1"/>
          <p:nvPr/>
        </p:nvSpPr>
        <p:spPr>
          <a:xfrm>
            <a:off x="1161288" y="2342138"/>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Integration Between Systems</a:t>
            </a:r>
            <a:endParaRPr lang="en-US" sz="1600"/>
          </a:p>
        </p:txBody>
      </p:sp>
      <p:sp>
        <p:nvSpPr>
          <p:cNvPr id="9" name="Text 6"/>
          <p:cNvSpPr txBox="1"/>
          <p:nvPr/>
        </p:nvSpPr>
        <p:spPr>
          <a:xfrm>
            <a:off x="1152144" y="2651760"/>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APIs make it easy to connect different systems and applications with one another.</a:t>
            </a:r>
            <a:endParaRPr lang="en-US" sz="1250"/>
          </a:p>
        </p:txBody>
      </p:sp>
      <p:sp>
        <p:nvSpPr>
          <p:cNvPr id="10" name="Shape 7"/>
          <p:cNvSpPr/>
          <p:nvPr/>
        </p:nvSpPr>
        <p:spPr>
          <a:xfrm>
            <a:off x="6655477" y="2342138"/>
            <a:ext cx="566928" cy="566928"/>
          </a:xfrm>
          <a:prstGeom prst="ellipse">
            <a:avLst/>
          </a:prstGeom>
          <a:solidFill>
            <a:srgbClr val="0B3D5C"/>
          </a:solidFill>
          <a:ln/>
        </p:spPr>
        <p:txBody>
          <a:bodyPr/>
          <a:lstStyle/>
          <a:p>
            <a:endParaRPr lang="en-US"/>
          </a:p>
        </p:txBody>
      </p:sp>
      <p:pic>
        <p:nvPicPr>
          <p:cNvPr id="11" name="Image 1" descr="/home/claude/work/icon_sync_white.png"/>
          <p:cNvPicPr>
            <a:picLocks noChangeAspect="1"/>
          </p:cNvPicPr>
          <p:nvPr/>
        </p:nvPicPr>
        <p:blipFill>
          <a:blip r:embed="rId4"/>
          <a:stretch>
            <a:fillRect/>
          </a:stretch>
        </p:blipFill>
        <p:spPr>
          <a:xfrm>
            <a:off x="6791539" y="2507149"/>
            <a:ext cx="294803" cy="294803"/>
          </a:xfrm>
          <a:prstGeom prst="rect">
            <a:avLst/>
          </a:prstGeom>
        </p:spPr>
      </p:pic>
      <p:sp>
        <p:nvSpPr>
          <p:cNvPr id="12" name="Text 8"/>
          <p:cNvSpPr txBox="1"/>
          <p:nvPr/>
        </p:nvSpPr>
        <p:spPr>
          <a:xfrm>
            <a:off x="7332218" y="2322576"/>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Reusability of Services</a:t>
            </a:r>
            <a:endParaRPr lang="en-US" sz="1600"/>
          </a:p>
        </p:txBody>
      </p:sp>
      <p:sp>
        <p:nvSpPr>
          <p:cNvPr id="13" name="Text 9"/>
          <p:cNvSpPr txBox="1"/>
          <p:nvPr/>
        </p:nvSpPr>
        <p:spPr>
          <a:xfrm>
            <a:off x="7332218" y="2724912"/>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 single service can be developed and used by multiple different applications.</a:t>
            </a:r>
            <a:endParaRPr lang="en-US" sz="1250"/>
          </a:p>
        </p:txBody>
      </p:sp>
      <p:sp>
        <p:nvSpPr>
          <p:cNvPr id="14" name="Shape 10"/>
          <p:cNvSpPr/>
          <p:nvPr/>
        </p:nvSpPr>
        <p:spPr>
          <a:xfrm>
            <a:off x="493776" y="3995928"/>
            <a:ext cx="566928" cy="566928"/>
          </a:xfrm>
          <a:prstGeom prst="ellipse">
            <a:avLst/>
          </a:prstGeom>
          <a:solidFill>
            <a:srgbClr val="1C7293"/>
          </a:solidFill>
          <a:ln/>
        </p:spPr>
        <p:txBody>
          <a:bodyPr/>
          <a:lstStyle/>
          <a:p>
            <a:endParaRPr lang="en-US"/>
          </a:p>
        </p:txBody>
      </p:sp>
      <p:pic>
        <p:nvPicPr>
          <p:cNvPr id="15" name="Image 2" descr="/home/claude/work/icon_layers_white.png"/>
          <p:cNvPicPr>
            <a:picLocks noChangeAspect="1"/>
          </p:cNvPicPr>
          <p:nvPr/>
        </p:nvPicPr>
        <p:blipFill>
          <a:blip r:embed="rId5"/>
          <a:stretch>
            <a:fillRect/>
          </a:stretch>
        </p:blipFill>
        <p:spPr>
          <a:xfrm>
            <a:off x="624254" y="4113703"/>
            <a:ext cx="294803" cy="294803"/>
          </a:xfrm>
          <a:prstGeom prst="rect">
            <a:avLst/>
          </a:prstGeom>
        </p:spPr>
      </p:pic>
      <p:sp>
        <p:nvSpPr>
          <p:cNvPr id="16" name="Text 11"/>
          <p:cNvSpPr txBox="1"/>
          <p:nvPr/>
        </p:nvSpPr>
        <p:spPr>
          <a:xfrm>
            <a:off x="1152144" y="4032165"/>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Separation of System Components</a:t>
            </a:r>
            <a:endParaRPr lang="en-US" sz="1600"/>
          </a:p>
        </p:txBody>
      </p:sp>
      <p:sp>
        <p:nvSpPr>
          <p:cNvPr id="17" name="Text 12"/>
          <p:cNvSpPr txBox="1"/>
          <p:nvPr/>
        </p:nvSpPr>
        <p:spPr>
          <a:xfrm>
            <a:off x="1227918" y="4445169"/>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Separates the user interface from business logic and the database, for a more organized system.</a:t>
            </a:r>
            <a:endParaRPr lang="en-US" sz="1250"/>
          </a:p>
        </p:txBody>
      </p:sp>
      <p:sp>
        <p:nvSpPr>
          <p:cNvPr id="18" name="Shape 13"/>
          <p:cNvSpPr/>
          <p:nvPr/>
        </p:nvSpPr>
        <p:spPr>
          <a:xfrm>
            <a:off x="6689516" y="4028440"/>
            <a:ext cx="566928" cy="566928"/>
          </a:xfrm>
          <a:prstGeom prst="ellipse">
            <a:avLst/>
          </a:prstGeom>
          <a:solidFill>
            <a:srgbClr val="1C7293"/>
          </a:solidFill>
          <a:ln/>
        </p:spPr>
        <p:txBody>
          <a:bodyPr/>
          <a:lstStyle/>
          <a:p>
            <a:endParaRPr lang="en-US"/>
          </a:p>
        </p:txBody>
      </p:sp>
      <p:pic>
        <p:nvPicPr>
          <p:cNvPr id="19" name="Image 3" descr="/home/claude/work/icon_mobile_white.png"/>
          <p:cNvPicPr>
            <a:picLocks noChangeAspect="1"/>
          </p:cNvPicPr>
          <p:nvPr/>
        </p:nvPicPr>
        <p:blipFill>
          <a:blip r:embed="rId6"/>
          <a:stretch>
            <a:fillRect/>
          </a:stretch>
        </p:blipFill>
        <p:spPr>
          <a:xfrm>
            <a:off x="6852127" y="4169291"/>
            <a:ext cx="294803" cy="294803"/>
          </a:xfrm>
          <a:prstGeom prst="rect">
            <a:avLst/>
          </a:prstGeom>
        </p:spPr>
      </p:pic>
      <p:sp>
        <p:nvSpPr>
          <p:cNvPr id="20" name="Text 14"/>
          <p:cNvSpPr txBox="1"/>
          <p:nvPr/>
        </p:nvSpPr>
        <p:spPr>
          <a:xfrm>
            <a:off x="7332218" y="4028440"/>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Support for Multiple Applications</a:t>
            </a:r>
            <a:endParaRPr lang="en-US" sz="1600"/>
          </a:p>
        </p:txBody>
      </p:sp>
      <p:sp>
        <p:nvSpPr>
          <p:cNvPr id="21" name="Text 15"/>
          <p:cNvSpPr txBox="1"/>
          <p:nvPr/>
        </p:nvSpPr>
        <p:spPr>
          <a:xfrm>
            <a:off x="7332218" y="4464094"/>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The same API can serve a mobile app, a website, and other applications at once.</a:t>
            </a:r>
            <a:endParaRPr lang="en-US" sz="1250"/>
          </a:p>
        </p:txBody>
      </p:sp>
      <p:sp>
        <p:nvSpPr>
          <p:cNvPr id="22" name="Shape 16"/>
          <p:cNvSpPr/>
          <p:nvPr/>
        </p:nvSpPr>
        <p:spPr>
          <a:xfrm>
            <a:off x="489712" y="5769864"/>
            <a:ext cx="566928" cy="566928"/>
          </a:xfrm>
          <a:prstGeom prst="ellipse">
            <a:avLst/>
          </a:prstGeom>
          <a:solidFill>
            <a:srgbClr val="0B3D5C"/>
          </a:solidFill>
          <a:ln/>
        </p:spPr>
        <p:txBody>
          <a:bodyPr/>
          <a:lstStyle/>
          <a:p>
            <a:endParaRPr lang="en-US"/>
          </a:p>
        </p:txBody>
      </p:sp>
      <p:pic>
        <p:nvPicPr>
          <p:cNvPr id="23" name="Image 4" descr="/home/claude/work/icon_expand_white.png"/>
          <p:cNvPicPr>
            <a:picLocks noChangeAspect="1"/>
          </p:cNvPicPr>
          <p:nvPr/>
        </p:nvPicPr>
        <p:blipFill>
          <a:blip r:embed="rId7"/>
          <a:stretch>
            <a:fillRect/>
          </a:stretch>
        </p:blipFill>
        <p:spPr>
          <a:xfrm>
            <a:off x="632378" y="5905926"/>
            <a:ext cx="294803" cy="294803"/>
          </a:xfrm>
          <a:prstGeom prst="rect">
            <a:avLst/>
          </a:prstGeom>
        </p:spPr>
      </p:pic>
      <p:sp>
        <p:nvSpPr>
          <p:cNvPr id="24" name="Text 17"/>
          <p:cNvSpPr txBox="1"/>
          <p:nvPr/>
        </p:nvSpPr>
        <p:spPr>
          <a:xfrm>
            <a:off x="1152144" y="5687568"/>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Improved Scalability</a:t>
            </a:r>
            <a:endParaRPr lang="en-US" sz="1600"/>
          </a:p>
        </p:txBody>
      </p:sp>
      <p:sp>
        <p:nvSpPr>
          <p:cNvPr id="25" name="Text 18"/>
          <p:cNvSpPr txBox="1"/>
          <p:nvPr/>
        </p:nvSpPr>
        <p:spPr>
          <a:xfrm>
            <a:off x="1152144" y="6030468"/>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Good API design helps add new services without rebuilding the entire system.</a:t>
            </a:r>
            <a:endParaRPr lang="en-US" sz="12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Practical Example:</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3000" b="1">
                <a:solidFill>
                  <a:srgbClr val="0B3D5C"/>
                </a:solidFill>
                <a:latin typeface="Cambria" pitchFamily="34" charset="0"/>
                <a:ea typeface="Cambria" pitchFamily="34" charset="-122"/>
                <a:cs typeface="Cambria" pitchFamily="34" charset="-120"/>
              </a:rPr>
              <a:t>How Does an API Work? — E-commerce Example</a:t>
            </a:r>
            <a:endParaRPr lang="en-US" sz="3000"/>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5</a:t>
            </a:r>
            <a:endParaRPr lang="en-US" sz="1100"/>
          </a:p>
        </p:txBody>
      </p:sp>
      <p:sp>
        <p:nvSpPr>
          <p:cNvPr id="6" name="Text 4"/>
          <p:cNvSpPr txBox="1"/>
          <p:nvPr/>
        </p:nvSpPr>
        <p:spPr>
          <a:xfrm>
            <a:off x="640080" y="1783080"/>
            <a:ext cx="10908792" cy="365760"/>
          </a:xfrm>
          <a:prstGeom prst="rect">
            <a:avLst/>
          </a:prstGeom>
          <a:noFill/>
          <a:ln/>
        </p:spPr>
        <p:txBody>
          <a:bodyPr wrap="square" lIns="0" tIns="0" rIns="0" bIns="0" rtlCol="0" anchor="ctr"/>
          <a:lstStyle/>
          <a:p>
            <a:pPr marL="0" indent="0" algn="l" rtl="0">
              <a:buNone/>
            </a:pPr>
            <a:r>
              <a:rPr lang="en-US" sz="1500">
                <a:solidFill>
                  <a:srgbClr val="16324A"/>
                </a:solidFill>
                <a:latin typeface="Calibri" pitchFamily="34" charset="0"/>
                <a:ea typeface="Calibri" pitchFamily="34" charset="-122"/>
                <a:cs typeface="Calibri" pitchFamily="34" charset="-120"/>
              </a:rPr>
              <a:t>Suppose a user wants to view the product list in an e-commerce app:</a:t>
            </a:r>
            <a:endParaRPr lang="en-US" sz="1500"/>
          </a:p>
        </p:txBody>
      </p:sp>
      <p:sp>
        <p:nvSpPr>
          <p:cNvPr id="7" name="Shape 5"/>
          <p:cNvSpPr/>
          <p:nvPr/>
        </p:nvSpPr>
        <p:spPr>
          <a:xfrm>
            <a:off x="9079992" y="242316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0" name="Shape 7"/>
          <p:cNvSpPr/>
          <p:nvPr/>
        </p:nvSpPr>
        <p:spPr>
          <a:xfrm>
            <a:off x="11000232" y="2560320"/>
            <a:ext cx="365760" cy="365760"/>
          </a:xfrm>
          <a:prstGeom prst="ellipse">
            <a:avLst/>
          </a:prstGeom>
          <a:solidFill>
            <a:srgbClr val="F2A65A"/>
          </a:solidFill>
          <a:ln/>
        </p:spPr>
        <p:txBody>
          <a:bodyPr/>
          <a:lstStyle/>
          <a:p>
            <a:endParaRPr lang="en-US"/>
          </a:p>
        </p:txBody>
      </p:sp>
      <p:sp>
        <p:nvSpPr>
          <p:cNvPr id="11" name="Text 8"/>
          <p:cNvSpPr txBox="1"/>
          <p:nvPr/>
        </p:nvSpPr>
        <p:spPr>
          <a:xfrm>
            <a:off x="11000232" y="2560320"/>
            <a:ext cx="365760" cy="36576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a:t>
            </a:r>
            <a:endParaRPr lang="en-US" sz="1600"/>
          </a:p>
        </p:txBody>
      </p:sp>
      <p:sp>
        <p:nvSpPr>
          <p:cNvPr id="12" name="Text 9"/>
          <p:cNvSpPr txBox="1"/>
          <p:nvPr/>
        </p:nvSpPr>
        <p:spPr>
          <a:xfrm>
            <a:off x="9217152" y="3200400"/>
            <a:ext cx="2194560" cy="868680"/>
          </a:xfrm>
          <a:prstGeom prst="rect">
            <a:avLst/>
          </a:prstGeom>
          <a:noFill/>
          <a:ln/>
        </p:spPr>
        <p:txBody>
          <a:bodyPr wrap="square" lIns="0" tIns="0" rIns="0" bIns="0" rtlCol="0" anchor="t"/>
          <a:lstStyle/>
          <a:p>
            <a:r>
              <a:rPr lang="en-US" sz="1150">
                <a:solidFill>
                  <a:srgbClr val="16324A"/>
                </a:solidFill>
                <a:latin typeface="Calibri" pitchFamily="34" charset="0"/>
                <a:ea typeface="Calibri" pitchFamily="34" charset="-122"/>
                <a:cs typeface="Calibri" pitchFamily="34" charset="-120"/>
              </a:rPr>
              <a:t>Data is returned: Database → Server → API → Client</a:t>
            </a:r>
            <a:endParaRPr lang="en-US" sz="1150"/>
          </a:p>
          <a:p>
            <a:pPr marL="0" indent="0" algn="l" rtl="0">
              <a:buNone/>
            </a:pPr>
            <a:endParaRPr lang="en-US" sz="1150"/>
          </a:p>
        </p:txBody>
      </p:sp>
      <p:sp>
        <p:nvSpPr>
          <p:cNvPr id="14" name="Shape 11"/>
          <p:cNvSpPr/>
          <p:nvPr/>
        </p:nvSpPr>
        <p:spPr>
          <a:xfrm>
            <a:off x="6266688" y="242316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5" name="Shape 12"/>
          <p:cNvSpPr/>
          <p:nvPr/>
        </p:nvSpPr>
        <p:spPr>
          <a:xfrm>
            <a:off x="6431280" y="2587752"/>
            <a:ext cx="457200" cy="457200"/>
          </a:xfrm>
          <a:prstGeom prst="ellipse">
            <a:avLst/>
          </a:prstGeom>
          <a:solidFill>
            <a:srgbClr val="0B3D5C"/>
          </a:solidFill>
          <a:ln/>
        </p:spPr>
        <p:txBody>
          <a:bodyPr/>
          <a:lstStyle/>
          <a:p>
            <a:endParaRPr lang="en-US"/>
          </a:p>
        </p:txBody>
      </p:sp>
      <p:sp>
        <p:nvSpPr>
          <p:cNvPr id="17" name="Shape 13"/>
          <p:cNvSpPr/>
          <p:nvPr/>
        </p:nvSpPr>
        <p:spPr>
          <a:xfrm>
            <a:off x="8186928" y="2560320"/>
            <a:ext cx="365760" cy="365760"/>
          </a:xfrm>
          <a:prstGeom prst="ellipse">
            <a:avLst/>
          </a:prstGeom>
          <a:solidFill>
            <a:srgbClr val="F2A65A"/>
          </a:solidFill>
          <a:ln/>
        </p:spPr>
        <p:txBody>
          <a:bodyPr/>
          <a:lstStyle/>
          <a:p>
            <a:endParaRPr lang="en-US"/>
          </a:p>
        </p:txBody>
      </p:sp>
      <p:sp>
        <p:nvSpPr>
          <p:cNvPr id="18" name="Text 14"/>
          <p:cNvSpPr txBox="1"/>
          <p:nvPr/>
        </p:nvSpPr>
        <p:spPr>
          <a:xfrm>
            <a:off x="8186928" y="2560320"/>
            <a:ext cx="365760" cy="36576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19" name="Text 15"/>
          <p:cNvSpPr txBox="1"/>
          <p:nvPr/>
        </p:nvSpPr>
        <p:spPr>
          <a:xfrm>
            <a:off x="6403848" y="3200400"/>
            <a:ext cx="2194560" cy="868680"/>
          </a:xfrm>
          <a:prstGeom prst="rect">
            <a:avLst/>
          </a:prstGeom>
          <a:noFill/>
          <a:ln/>
        </p:spPr>
        <p:txBody>
          <a:bodyPr wrap="square" lIns="0" tIns="0" rIns="0" bIns="0" rtlCol="0" anchor="t"/>
          <a:lstStyle/>
          <a:p>
            <a:pPr marL="0" indent="0" algn="l" rtl="0">
              <a:buNone/>
            </a:pPr>
            <a:endParaRPr lang="en-US" sz="1150"/>
          </a:p>
        </p:txBody>
      </p:sp>
      <p:sp>
        <p:nvSpPr>
          <p:cNvPr id="21" name="Shape 17"/>
          <p:cNvSpPr/>
          <p:nvPr/>
        </p:nvSpPr>
        <p:spPr>
          <a:xfrm>
            <a:off x="3453384" y="242316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22" name="Shape 18"/>
          <p:cNvSpPr/>
          <p:nvPr/>
        </p:nvSpPr>
        <p:spPr>
          <a:xfrm>
            <a:off x="3578505" y="2538645"/>
            <a:ext cx="457200" cy="457200"/>
          </a:xfrm>
          <a:prstGeom prst="ellipse">
            <a:avLst/>
          </a:prstGeom>
          <a:solidFill>
            <a:srgbClr val="0B3D5C"/>
          </a:solidFill>
          <a:ln/>
        </p:spPr>
        <p:txBody>
          <a:bodyPr/>
          <a:lstStyle/>
          <a:p>
            <a:endParaRPr lang="en-US"/>
          </a:p>
        </p:txBody>
      </p:sp>
      <p:sp>
        <p:nvSpPr>
          <p:cNvPr id="24" name="Shape 19"/>
          <p:cNvSpPr/>
          <p:nvPr/>
        </p:nvSpPr>
        <p:spPr>
          <a:xfrm>
            <a:off x="5373624" y="2560320"/>
            <a:ext cx="365760" cy="365760"/>
          </a:xfrm>
          <a:prstGeom prst="ellipse">
            <a:avLst/>
          </a:prstGeom>
          <a:solidFill>
            <a:srgbClr val="F2A65A"/>
          </a:solidFill>
          <a:ln/>
        </p:spPr>
        <p:txBody>
          <a:bodyPr/>
          <a:lstStyle/>
          <a:p>
            <a:endParaRPr lang="en-US"/>
          </a:p>
        </p:txBody>
      </p:sp>
      <p:sp>
        <p:nvSpPr>
          <p:cNvPr id="25" name="Text 20"/>
          <p:cNvSpPr txBox="1"/>
          <p:nvPr/>
        </p:nvSpPr>
        <p:spPr>
          <a:xfrm>
            <a:off x="5373624" y="2560320"/>
            <a:ext cx="365760" cy="36576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26" name="Text 21"/>
          <p:cNvSpPr txBox="1"/>
          <p:nvPr/>
        </p:nvSpPr>
        <p:spPr>
          <a:xfrm>
            <a:off x="3590544" y="3200400"/>
            <a:ext cx="2194560" cy="868680"/>
          </a:xfrm>
          <a:prstGeom prst="rect">
            <a:avLst/>
          </a:prstGeom>
          <a:noFill/>
          <a:ln/>
        </p:spPr>
        <p:txBody>
          <a:bodyPr wrap="square" lIns="0" tIns="0" rIns="0" bIns="0" rtlCol="0" anchor="t"/>
          <a:lstStyle/>
          <a:p>
            <a:pPr marL="0" indent="0" algn="l" rtl="0">
              <a:buNone/>
            </a:pPr>
            <a:r>
              <a:rPr lang="en-US" sz="1150">
                <a:solidFill>
                  <a:srgbClr val="16324A"/>
                </a:solidFill>
                <a:latin typeface="Calibri" pitchFamily="34" charset="0"/>
                <a:ea typeface="Calibri" pitchFamily="34" charset="-122"/>
                <a:cs typeface="Calibri" pitchFamily="34" charset="-120"/>
              </a:rPr>
              <a:t>The API receives the request and sends it to the server for processing</a:t>
            </a:r>
            <a:endParaRPr lang="en-US" sz="1150"/>
          </a:p>
        </p:txBody>
      </p:sp>
      <p:sp>
        <p:nvSpPr>
          <p:cNvPr id="28" name="Shape 23"/>
          <p:cNvSpPr/>
          <p:nvPr/>
        </p:nvSpPr>
        <p:spPr>
          <a:xfrm>
            <a:off x="621945" y="2362539"/>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31" name="Shape 25"/>
          <p:cNvSpPr/>
          <p:nvPr/>
        </p:nvSpPr>
        <p:spPr>
          <a:xfrm>
            <a:off x="2560320" y="2560320"/>
            <a:ext cx="365760" cy="365760"/>
          </a:xfrm>
          <a:prstGeom prst="ellipse">
            <a:avLst/>
          </a:prstGeom>
          <a:solidFill>
            <a:srgbClr val="F2A65A"/>
          </a:solidFill>
          <a:ln/>
        </p:spPr>
        <p:txBody>
          <a:bodyPr/>
          <a:lstStyle/>
          <a:p>
            <a:endParaRPr lang="en-US"/>
          </a:p>
        </p:txBody>
      </p:sp>
      <p:sp>
        <p:nvSpPr>
          <p:cNvPr id="32" name="Text 26"/>
          <p:cNvSpPr txBox="1"/>
          <p:nvPr/>
        </p:nvSpPr>
        <p:spPr>
          <a:xfrm>
            <a:off x="2560320" y="2560320"/>
            <a:ext cx="365760" cy="36576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sp>
        <p:nvSpPr>
          <p:cNvPr id="33" name="Text 27"/>
          <p:cNvSpPr txBox="1"/>
          <p:nvPr/>
        </p:nvSpPr>
        <p:spPr>
          <a:xfrm>
            <a:off x="777240" y="3200400"/>
            <a:ext cx="2194560" cy="868680"/>
          </a:xfrm>
          <a:prstGeom prst="rect">
            <a:avLst/>
          </a:prstGeom>
          <a:noFill/>
          <a:ln/>
        </p:spPr>
        <p:txBody>
          <a:bodyPr wrap="square" lIns="0" tIns="0" rIns="0" bIns="0" rtlCol="0" anchor="t"/>
          <a:lstStyle/>
          <a:p>
            <a:pPr marL="0" indent="0" algn="l" rtl="0">
              <a:buNone/>
            </a:pPr>
            <a:r>
              <a:rPr lang="en-US" sz="1150"/>
              <a:t>The store app sends a GET/products request to the API</a:t>
            </a:r>
          </a:p>
        </p:txBody>
      </p:sp>
      <p:sp>
        <p:nvSpPr>
          <p:cNvPr id="34" name="Text 28"/>
          <p:cNvSpPr txBox="1"/>
          <p:nvPr/>
        </p:nvSpPr>
        <p:spPr>
          <a:xfrm>
            <a:off x="640080" y="4526280"/>
            <a:ext cx="10908792" cy="548640"/>
          </a:xfrm>
          <a:prstGeom prst="rect">
            <a:avLst/>
          </a:prstGeom>
          <a:noFill/>
          <a:ln/>
        </p:spPr>
        <p:txBody>
          <a:bodyPr wrap="square" lIns="0" tIns="0" rIns="0" bIns="0" rtlCol="0" anchor="ctr"/>
          <a:lstStyle/>
          <a:p>
            <a:pPr marL="0" indent="0" algn="l" rtl="0">
              <a:buNone/>
            </a:pPr>
            <a:r>
              <a:rPr lang="en-US" sz="1350" i="1">
                <a:solidFill>
                  <a:srgbClr val="5B7C8D"/>
                </a:solidFill>
                <a:latin typeface="Calibri" pitchFamily="34" charset="0"/>
                <a:ea typeface="Calibri" pitchFamily="34" charset="-122"/>
                <a:cs typeface="Calibri" pitchFamily="34" charset="-120"/>
              </a:rPr>
              <a:t>Result: the user sees, for example — Laptop, Smartphone, Headphones — without needing to know how the data is stored or how queries are executed internally.</a:t>
            </a:r>
            <a:endParaRPr lang="en-US" sz="1350"/>
          </a:p>
        </p:txBody>
      </p:sp>
      <p:sp>
        <p:nvSpPr>
          <p:cNvPr id="35" name="Shape 29"/>
          <p:cNvSpPr/>
          <p:nvPr/>
        </p:nvSpPr>
        <p:spPr>
          <a:xfrm>
            <a:off x="640080" y="5257800"/>
            <a:ext cx="1645920" cy="502920"/>
          </a:xfrm>
          <a:prstGeom prst="roundRect">
            <a:avLst>
              <a:gd name="adj" fmla="val 50909"/>
            </a:avLst>
          </a:prstGeom>
          <a:solidFill>
            <a:srgbClr val="F4F8FA"/>
          </a:solidFill>
          <a:ln w="12700">
            <a:solidFill>
              <a:srgbClr val="1C7293"/>
            </a:solidFill>
            <a:prstDash val="solid"/>
          </a:ln>
        </p:spPr>
        <p:txBody>
          <a:bodyPr/>
          <a:lstStyle/>
          <a:p>
            <a:endParaRPr lang="en-US"/>
          </a:p>
        </p:txBody>
      </p:sp>
      <p:sp>
        <p:nvSpPr>
          <p:cNvPr id="36" name="Text 30"/>
          <p:cNvSpPr txBox="1"/>
          <p:nvPr/>
        </p:nvSpPr>
        <p:spPr>
          <a:xfrm>
            <a:off x="640080" y="5257800"/>
            <a:ext cx="1645920" cy="502920"/>
          </a:xfrm>
          <a:prstGeom prst="rect">
            <a:avLst/>
          </a:prstGeom>
          <a:noFill/>
          <a:ln/>
        </p:spPr>
        <p:txBody>
          <a:bodyPr wrap="square" lIns="0" tIns="0" rIns="0" bIns="0" rtlCol="0" anchor="ctr"/>
          <a:lstStyle/>
          <a:p>
            <a:pPr marL="0" indent="0" algn="ctr">
              <a:buNone/>
            </a:pPr>
            <a:r>
              <a:rPr lang="en-US" sz="1200" b="1">
                <a:solidFill>
                  <a:srgbClr val="0B3D5C"/>
                </a:solidFill>
                <a:latin typeface="Calibri" pitchFamily="34" charset="0"/>
                <a:ea typeface="Calibri" pitchFamily="34" charset="-122"/>
                <a:cs typeface="Calibri" pitchFamily="34" charset="-120"/>
              </a:rPr>
              <a:t>Laptop</a:t>
            </a:r>
            <a:endParaRPr lang="en-US" sz="1200"/>
          </a:p>
        </p:txBody>
      </p:sp>
      <p:sp>
        <p:nvSpPr>
          <p:cNvPr id="37" name="Shape 31"/>
          <p:cNvSpPr/>
          <p:nvPr/>
        </p:nvSpPr>
        <p:spPr>
          <a:xfrm>
            <a:off x="2468880" y="5257800"/>
            <a:ext cx="1645920" cy="502920"/>
          </a:xfrm>
          <a:prstGeom prst="roundRect">
            <a:avLst>
              <a:gd name="adj" fmla="val 50909"/>
            </a:avLst>
          </a:prstGeom>
          <a:solidFill>
            <a:srgbClr val="F4F8FA"/>
          </a:solidFill>
          <a:ln w="12700">
            <a:solidFill>
              <a:srgbClr val="1C7293"/>
            </a:solidFill>
            <a:prstDash val="solid"/>
          </a:ln>
        </p:spPr>
        <p:txBody>
          <a:bodyPr/>
          <a:lstStyle/>
          <a:p>
            <a:endParaRPr lang="en-US"/>
          </a:p>
        </p:txBody>
      </p:sp>
      <p:sp>
        <p:nvSpPr>
          <p:cNvPr id="38" name="Text 32"/>
          <p:cNvSpPr txBox="1"/>
          <p:nvPr/>
        </p:nvSpPr>
        <p:spPr>
          <a:xfrm>
            <a:off x="2468880" y="5257800"/>
            <a:ext cx="1645920" cy="502920"/>
          </a:xfrm>
          <a:prstGeom prst="rect">
            <a:avLst/>
          </a:prstGeom>
          <a:noFill/>
          <a:ln/>
        </p:spPr>
        <p:txBody>
          <a:bodyPr wrap="square" lIns="0" tIns="0" rIns="0" bIns="0" rtlCol="0" anchor="ctr"/>
          <a:lstStyle/>
          <a:p>
            <a:pPr marL="0" indent="0" algn="ctr">
              <a:buNone/>
            </a:pPr>
            <a:r>
              <a:rPr lang="en-US" sz="1200" b="1">
                <a:solidFill>
                  <a:srgbClr val="0B3D5C"/>
                </a:solidFill>
                <a:latin typeface="Calibri" pitchFamily="34" charset="0"/>
                <a:ea typeface="Calibri" pitchFamily="34" charset="-122"/>
                <a:cs typeface="Calibri" pitchFamily="34" charset="-120"/>
              </a:rPr>
              <a:t>Smartphone</a:t>
            </a:r>
            <a:endParaRPr lang="en-US" sz="1200"/>
          </a:p>
        </p:txBody>
      </p:sp>
      <p:sp>
        <p:nvSpPr>
          <p:cNvPr id="39" name="Shape 33"/>
          <p:cNvSpPr/>
          <p:nvPr/>
        </p:nvSpPr>
        <p:spPr>
          <a:xfrm>
            <a:off x="4297680" y="5257800"/>
            <a:ext cx="1645920" cy="502920"/>
          </a:xfrm>
          <a:prstGeom prst="roundRect">
            <a:avLst>
              <a:gd name="adj" fmla="val 50909"/>
            </a:avLst>
          </a:prstGeom>
          <a:solidFill>
            <a:srgbClr val="F4F8FA"/>
          </a:solidFill>
          <a:ln w="12700">
            <a:solidFill>
              <a:srgbClr val="1C7293"/>
            </a:solidFill>
            <a:prstDash val="solid"/>
          </a:ln>
        </p:spPr>
        <p:txBody>
          <a:bodyPr/>
          <a:lstStyle/>
          <a:p>
            <a:endParaRPr lang="en-US"/>
          </a:p>
        </p:txBody>
      </p:sp>
      <p:sp>
        <p:nvSpPr>
          <p:cNvPr id="40" name="Text 34"/>
          <p:cNvSpPr txBox="1"/>
          <p:nvPr/>
        </p:nvSpPr>
        <p:spPr>
          <a:xfrm>
            <a:off x="4297680" y="5257800"/>
            <a:ext cx="1645920" cy="502920"/>
          </a:xfrm>
          <a:prstGeom prst="rect">
            <a:avLst/>
          </a:prstGeom>
          <a:noFill/>
          <a:ln/>
        </p:spPr>
        <p:txBody>
          <a:bodyPr wrap="square" lIns="0" tIns="0" rIns="0" bIns="0" rtlCol="0" anchor="ctr"/>
          <a:lstStyle/>
          <a:p>
            <a:pPr marL="0" indent="0" algn="ctr">
              <a:buNone/>
            </a:pPr>
            <a:r>
              <a:rPr lang="en-US" sz="1200" b="1">
                <a:solidFill>
                  <a:srgbClr val="0B3D5C"/>
                </a:solidFill>
                <a:latin typeface="Calibri" pitchFamily="34" charset="0"/>
                <a:ea typeface="Calibri" pitchFamily="34" charset="-122"/>
                <a:cs typeface="Calibri" pitchFamily="34" charset="-120"/>
              </a:rPr>
              <a:t>Headphones</a:t>
            </a:r>
            <a:endParaRPr lang="en-US" sz="1200"/>
          </a:p>
        </p:txBody>
      </p:sp>
      <p:sp>
        <p:nvSpPr>
          <p:cNvPr id="41" name="Shape 6">
            <a:extLst>
              <a:ext uri="{FF2B5EF4-FFF2-40B4-BE49-F238E27FC236}">
                <a16:creationId xmlns:a16="http://schemas.microsoft.com/office/drawing/2014/main" id="{4709DFD1-E289-9EB2-AB2A-A777C96D3A5D}"/>
              </a:ext>
            </a:extLst>
          </p:cNvPr>
          <p:cNvSpPr/>
          <p:nvPr/>
        </p:nvSpPr>
        <p:spPr>
          <a:xfrm>
            <a:off x="777240" y="2538645"/>
            <a:ext cx="457200" cy="457200"/>
          </a:xfrm>
          <a:prstGeom prst="ellipse">
            <a:avLst/>
          </a:prstGeom>
          <a:solidFill>
            <a:srgbClr val="0B3D5C"/>
          </a:solidFill>
          <a:ln/>
        </p:spPr>
        <p:txBody>
          <a:bodyPr/>
          <a:lstStyle/>
          <a:p>
            <a:endParaRPr lang="en-US"/>
          </a:p>
        </p:txBody>
      </p:sp>
      <p:pic>
        <p:nvPicPr>
          <p:cNvPr id="42" name="Image 0" descr="/home/claude/work/icon_laptop_white.png">
            <a:extLst>
              <a:ext uri="{FF2B5EF4-FFF2-40B4-BE49-F238E27FC236}">
                <a16:creationId xmlns:a16="http://schemas.microsoft.com/office/drawing/2014/main" id="{9B5AE9F9-5C90-CCDB-E8BC-BE0A59D97762}"/>
              </a:ext>
            </a:extLst>
          </p:cNvPr>
          <p:cNvPicPr>
            <a:picLocks noChangeAspect="1"/>
          </p:cNvPicPr>
          <p:nvPr/>
        </p:nvPicPr>
        <p:blipFill>
          <a:blip r:embed="rId3"/>
          <a:stretch>
            <a:fillRect/>
          </a:stretch>
        </p:blipFill>
        <p:spPr>
          <a:xfrm>
            <a:off x="892743" y="2636690"/>
            <a:ext cx="237744" cy="237744"/>
          </a:xfrm>
          <a:prstGeom prst="rect">
            <a:avLst/>
          </a:prstGeom>
        </p:spPr>
      </p:pic>
      <p:sp>
        <p:nvSpPr>
          <p:cNvPr id="43" name="Shape 24">
            <a:extLst>
              <a:ext uri="{FF2B5EF4-FFF2-40B4-BE49-F238E27FC236}">
                <a16:creationId xmlns:a16="http://schemas.microsoft.com/office/drawing/2014/main" id="{7875E2D8-9CB1-B795-B659-7E5E22C9B5B2}"/>
              </a:ext>
            </a:extLst>
          </p:cNvPr>
          <p:cNvSpPr/>
          <p:nvPr/>
        </p:nvSpPr>
        <p:spPr>
          <a:xfrm>
            <a:off x="9201912" y="2538645"/>
            <a:ext cx="457200" cy="457200"/>
          </a:xfrm>
          <a:prstGeom prst="ellipse">
            <a:avLst/>
          </a:prstGeom>
          <a:solidFill>
            <a:srgbClr val="0B3D5C"/>
          </a:solidFill>
          <a:ln/>
        </p:spPr>
        <p:txBody>
          <a:bodyPr/>
          <a:lstStyle/>
          <a:p>
            <a:endParaRPr lang="en-US"/>
          </a:p>
        </p:txBody>
      </p:sp>
      <p:pic>
        <p:nvPicPr>
          <p:cNvPr id="44" name="Image 3" descr="/home/claude/work/icon_database_white.png">
            <a:extLst>
              <a:ext uri="{FF2B5EF4-FFF2-40B4-BE49-F238E27FC236}">
                <a16:creationId xmlns:a16="http://schemas.microsoft.com/office/drawing/2014/main" id="{9F48ADAB-18DA-F0D5-A336-4308936F4EBC}"/>
              </a:ext>
            </a:extLst>
          </p:cNvPr>
          <p:cNvPicPr>
            <a:picLocks noChangeAspect="1"/>
          </p:cNvPicPr>
          <p:nvPr/>
        </p:nvPicPr>
        <p:blipFill>
          <a:blip r:embed="rId4"/>
          <a:stretch>
            <a:fillRect/>
          </a:stretch>
        </p:blipFill>
        <p:spPr>
          <a:xfrm>
            <a:off x="9323832" y="2665476"/>
            <a:ext cx="237744" cy="237744"/>
          </a:xfrm>
          <a:prstGeom prst="rect">
            <a:avLst/>
          </a:prstGeom>
        </p:spPr>
      </p:pic>
      <p:pic>
        <p:nvPicPr>
          <p:cNvPr id="45" name="Image 1" descr="/home/claude/work/icon_network_white.png">
            <a:extLst>
              <a:ext uri="{FF2B5EF4-FFF2-40B4-BE49-F238E27FC236}">
                <a16:creationId xmlns:a16="http://schemas.microsoft.com/office/drawing/2014/main" id="{0B508EF8-4922-2862-A245-B93310B5C424}"/>
              </a:ext>
            </a:extLst>
          </p:cNvPr>
          <p:cNvPicPr>
            <a:picLocks noChangeAspect="1"/>
          </p:cNvPicPr>
          <p:nvPr/>
        </p:nvPicPr>
        <p:blipFill>
          <a:blip r:embed="rId5"/>
          <a:stretch>
            <a:fillRect/>
          </a:stretch>
        </p:blipFill>
        <p:spPr>
          <a:xfrm>
            <a:off x="3657753" y="2648373"/>
            <a:ext cx="237744" cy="237744"/>
          </a:xfrm>
          <a:prstGeom prst="rect">
            <a:avLst/>
          </a:prstGeom>
        </p:spPr>
      </p:pic>
      <p:pic>
        <p:nvPicPr>
          <p:cNvPr id="46" name="Image 2" descr="/home/claude/work/icon_server_white.png">
            <a:extLst>
              <a:ext uri="{FF2B5EF4-FFF2-40B4-BE49-F238E27FC236}">
                <a16:creationId xmlns:a16="http://schemas.microsoft.com/office/drawing/2014/main" id="{21A479EC-46CA-59F5-DCF5-14B3AE9C7AB8}"/>
              </a:ext>
            </a:extLst>
          </p:cNvPr>
          <p:cNvPicPr>
            <a:picLocks noChangeAspect="1"/>
          </p:cNvPicPr>
          <p:nvPr/>
        </p:nvPicPr>
        <p:blipFill>
          <a:blip r:embed="rId6"/>
          <a:stretch>
            <a:fillRect/>
          </a:stretch>
        </p:blipFill>
        <p:spPr>
          <a:xfrm>
            <a:off x="6531864" y="2715768"/>
            <a:ext cx="237744" cy="237744"/>
          </a:xfrm>
          <a:prstGeom prst="rect">
            <a:avLst/>
          </a:prstGeom>
        </p:spPr>
      </p:pic>
      <p:sp>
        <p:nvSpPr>
          <p:cNvPr id="47" name="Text 21">
            <a:extLst>
              <a:ext uri="{FF2B5EF4-FFF2-40B4-BE49-F238E27FC236}">
                <a16:creationId xmlns:a16="http://schemas.microsoft.com/office/drawing/2014/main" id="{2ACAF9AC-8059-FBFE-9516-E62F50276D0B}"/>
              </a:ext>
            </a:extLst>
          </p:cNvPr>
          <p:cNvSpPr txBox="1"/>
          <p:nvPr/>
        </p:nvSpPr>
        <p:spPr>
          <a:xfrm>
            <a:off x="6472428" y="3246120"/>
            <a:ext cx="2194560" cy="868680"/>
          </a:xfrm>
          <a:prstGeom prst="rect">
            <a:avLst/>
          </a:prstGeom>
          <a:noFill/>
          <a:ln/>
        </p:spPr>
        <p:txBody>
          <a:bodyPr wrap="square" lIns="0" tIns="0" rIns="0" bIns="0" rtlCol="0" anchor="t"/>
          <a:lstStyle/>
          <a:p>
            <a:pPr marL="0" indent="0" algn="l" rtl="0">
              <a:buNone/>
            </a:pPr>
            <a:r>
              <a:rPr lang="en-US" sz="1150">
                <a:solidFill>
                  <a:srgbClr val="16324A"/>
                </a:solidFill>
                <a:latin typeface="Calibri" pitchFamily="34" charset="0"/>
                <a:ea typeface="Calibri" pitchFamily="34" charset="-122"/>
                <a:cs typeface="Calibri" pitchFamily="34" charset="-120"/>
              </a:rPr>
              <a:t>The  server accesses the database</a:t>
            </a:r>
            <a:endParaRPr lang="en-US" sz="1150"/>
          </a:p>
        </p:txBody>
      </p:sp>
      <p:sp>
        <p:nvSpPr>
          <p:cNvPr id="48" name="سهم: مخطط إلى اليمين 47">
            <a:extLst>
              <a:ext uri="{FF2B5EF4-FFF2-40B4-BE49-F238E27FC236}">
                <a16:creationId xmlns:a16="http://schemas.microsoft.com/office/drawing/2014/main" id="{F0F11F93-C701-9DB3-2284-89486BE0F54C}"/>
              </a:ext>
            </a:extLst>
          </p:cNvPr>
          <p:cNvSpPr/>
          <p:nvPr/>
        </p:nvSpPr>
        <p:spPr>
          <a:xfrm>
            <a:off x="5943600" y="3226139"/>
            <a:ext cx="330200" cy="321734"/>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سهم: مخطط إلى اليمين 48">
            <a:extLst>
              <a:ext uri="{FF2B5EF4-FFF2-40B4-BE49-F238E27FC236}">
                <a16:creationId xmlns:a16="http://schemas.microsoft.com/office/drawing/2014/main" id="{3D61BBAE-A74F-9CD3-EF75-6AD39867D937}"/>
              </a:ext>
            </a:extLst>
          </p:cNvPr>
          <p:cNvSpPr/>
          <p:nvPr/>
        </p:nvSpPr>
        <p:spPr>
          <a:xfrm>
            <a:off x="8738955" y="3222922"/>
            <a:ext cx="341037" cy="324951"/>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سهم: مخطط إلى اليمين 49">
            <a:extLst>
              <a:ext uri="{FF2B5EF4-FFF2-40B4-BE49-F238E27FC236}">
                <a16:creationId xmlns:a16="http://schemas.microsoft.com/office/drawing/2014/main" id="{CEAB06D6-9555-A654-06F8-C12A0A51F1B8}"/>
              </a:ext>
            </a:extLst>
          </p:cNvPr>
          <p:cNvSpPr/>
          <p:nvPr/>
        </p:nvSpPr>
        <p:spPr>
          <a:xfrm>
            <a:off x="3113769" y="3138678"/>
            <a:ext cx="339615" cy="397764"/>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a:extLst>
            <a:ext uri="{FF2B5EF4-FFF2-40B4-BE49-F238E27FC236}">
              <a16:creationId xmlns:a16="http://schemas.microsoft.com/office/drawing/2014/main" id="{F41E3B2D-6553-2DCD-A4EC-9F67657D48F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080FB15-B1D4-79A3-BE32-DA18A9B7FB6C}"/>
              </a:ext>
            </a:extLst>
          </p:cNvPr>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HTTP</a:t>
            </a:r>
            <a:endParaRPr lang="en-US" sz="2400" i="1"/>
          </a:p>
        </p:txBody>
      </p:sp>
      <p:sp>
        <p:nvSpPr>
          <p:cNvPr id="4" name="Shape 2">
            <a:extLst>
              <a:ext uri="{FF2B5EF4-FFF2-40B4-BE49-F238E27FC236}">
                <a16:creationId xmlns:a16="http://schemas.microsoft.com/office/drawing/2014/main" id="{265D2557-E771-8CF1-5048-76587E2171A2}"/>
              </a:ext>
            </a:extLst>
          </p:cNvPr>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a:extLst>
              <a:ext uri="{FF2B5EF4-FFF2-40B4-BE49-F238E27FC236}">
                <a16:creationId xmlns:a16="http://schemas.microsoft.com/office/drawing/2014/main" id="{536ED7E9-770B-D1D3-C9A4-E9CB35ECF6A7}"/>
              </a:ext>
            </a:extLst>
          </p:cNvPr>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6</a:t>
            </a:r>
            <a:endParaRPr lang="en-US" sz="1100"/>
          </a:p>
        </p:txBody>
      </p:sp>
      <p:sp>
        <p:nvSpPr>
          <p:cNvPr id="6" name="Text 4">
            <a:extLst>
              <a:ext uri="{FF2B5EF4-FFF2-40B4-BE49-F238E27FC236}">
                <a16:creationId xmlns:a16="http://schemas.microsoft.com/office/drawing/2014/main" id="{333FD1F4-834E-93F2-770E-BE0E9494191D}"/>
              </a:ext>
            </a:extLst>
          </p:cNvPr>
          <p:cNvSpPr txBox="1"/>
          <p:nvPr/>
        </p:nvSpPr>
        <p:spPr>
          <a:xfrm>
            <a:off x="640080" y="2179896"/>
            <a:ext cx="10908792" cy="3479027"/>
          </a:xfrm>
          <a:prstGeom prst="rect">
            <a:avLst/>
          </a:prstGeom>
          <a:noFill/>
          <a:ln/>
        </p:spPr>
        <p:txBody>
          <a:bodyPr wrap="square" lIns="0" tIns="0" rIns="0" bIns="0" rtlCol="0" anchor="ctr"/>
          <a:lstStyle/>
          <a:p>
            <a:pPr marL="0" indent="0" algn="l" rtl="0">
              <a:buNone/>
            </a:pPr>
            <a:r>
              <a:rPr lang="en-US">
                <a:solidFill>
                  <a:srgbClr val="16324A"/>
                </a:solidFill>
                <a:latin typeface="Calibri" pitchFamily="34" charset="0"/>
                <a:ea typeface="Calibri" pitchFamily="34" charset="-122"/>
                <a:cs typeface="Calibri" pitchFamily="34" charset="-120"/>
              </a:rPr>
              <a:t>HTTP is the protocol that defines how clients and servers exchange messages on the web. </a:t>
            </a:r>
          </a:p>
          <a:p>
            <a:pPr marL="0" indent="0" algn="l" rtl="0">
              <a:buNone/>
            </a:pPr>
            <a:endParaRPr lang="en-US">
              <a:solidFill>
                <a:srgbClr val="16324A"/>
              </a:solidFill>
              <a:latin typeface="Calibri" pitchFamily="34" charset="0"/>
              <a:ea typeface="Calibri" pitchFamily="34" charset="-122"/>
              <a:cs typeface="Calibri" pitchFamily="34" charset="-120"/>
            </a:endParaRPr>
          </a:p>
          <a:p>
            <a:pPr marL="0" indent="0" algn="l" rtl="0">
              <a:buNone/>
            </a:pPr>
            <a:r>
              <a:rPr lang="en-US">
                <a:solidFill>
                  <a:srgbClr val="16324A"/>
                </a:solidFill>
                <a:latin typeface="Calibri" pitchFamily="34" charset="0"/>
                <a:ea typeface="Calibri" pitchFamily="34" charset="-122"/>
                <a:cs typeface="Calibri" pitchFamily="34" charset="-120"/>
              </a:rPr>
              <a:t>A browser sends an HTTP request to a server, and the server sends back an HTTP response.</a:t>
            </a:r>
          </a:p>
          <a:p>
            <a:pPr marL="0" indent="0" algn="l" rtl="0">
              <a:buNone/>
            </a:pPr>
            <a:endParaRPr lang="en-US">
              <a:solidFill>
                <a:srgbClr val="16324A"/>
              </a:solidFill>
              <a:latin typeface="Calibri" pitchFamily="34" charset="0"/>
              <a:ea typeface="Calibri" pitchFamily="34" charset="-122"/>
              <a:cs typeface="Calibri" pitchFamily="34" charset="-120"/>
            </a:endParaRPr>
          </a:p>
          <a:p>
            <a:pPr marL="0" indent="0" algn="l" rtl="0">
              <a:buNone/>
            </a:pPr>
            <a:r>
              <a:rPr lang="en-US">
                <a:solidFill>
                  <a:srgbClr val="16324A"/>
                </a:solidFill>
                <a:latin typeface="Calibri" pitchFamily="34" charset="0"/>
                <a:ea typeface="Calibri" pitchFamily="34" charset="-122"/>
                <a:cs typeface="Calibri" pitchFamily="34" charset="-120"/>
              </a:rPr>
              <a:t>How it works</a:t>
            </a:r>
          </a:p>
          <a:p>
            <a:pPr marL="285750" indent="-285750" algn="l" rtl="0">
              <a:buFont typeface="Arial" panose="020B0604020202020204" pitchFamily="34" charset="0"/>
              <a:buChar char="•"/>
            </a:pPr>
            <a:r>
              <a:rPr lang="en-US">
                <a:solidFill>
                  <a:srgbClr val="16324A"/>
                </a:solidFill>
                <a:latin typeface="Calibri" pitchFamily="34" charset="0"/>
                <a:ea typeface="Calibri" pitchFamily="34" charset="-122"/>
                <a:cs typeface="Calibri" pitchFamily="34" charset="-120"/>
              </a:rPr>
              <a:t>Request-response:</a:t>
            </a:r>
          </a:p>
          <a:p>
            <a:pPr algn="l" rtl="0"/>
            <a:r>
              <a:rPr lang="en-US">
                <a:solidFill>
                  <a:srgbClr val="16324A"/>
                </a:solidFill>
                <a:latin typeface="Calibri" pitchFamily="34" charset="0"/>
                <a:ea typeface="Calibri" pitchFamily="34" charset="-122"/>
                <a:cs typeface="Calibri" pitchFamily="34" charset="-120"/>
              </a:rPr>
              <a:t>	The client always initiates, the server replies.</a:t>
            </a:r>
          </a:p>
          <a:p>
            <a:pPr marL="285750" indent="-285750" algn="l" rtl="0">
              <a:buFont typeface="Arial" panose="020B0604020202020204" pitchFamily="34" charset="0"/>
              <a:buChar char="•"/>
            </a:pPr>
            <a:r>
              <a:rPr lang="en-US">
                <a:solidFill>
                  <a:srgbClr val="16324A"/>
                </a:solidFill>
                <a:latin typeface="Calibri" pitchFamily="34" charset="0"/>
                <a:ea typeface="Calibri" pitchFamily="34" charset="-122"/>
                <a:cs typeface="Calibri" pitchFamily="34" charset="-120"/>
              </a:rPr>
              <a:t>Stateless: </a:t>
            </a:r>
          </a:p>
          <a:p>
            <a:pPr lvl="1"/>
            <a:r>
              <a:rPr lang="en-US">
                <a:solidFill>
                  <a:srgbClr val="16324A"/>
                </a:solidFill>
                <a:latin typeface="Calibri" pitchFamily="34" charset="0"/>
                <a:ea typeface="Calibri" pitchFamily="34" charset="-122"/>
                <a:cs typeface="Calibri" pitchFamily="34" charset="-120"/>
              </a:rPr>
              <a:t>	Each request is independent, and the server doesn't remember previous ones. </a:t>
            </a:r>
          </a:p>
          <a:p>
            <a:pPr lvl="1"/>
            <a:r>
              <a:rPr lang="en-US">
                <a:solidFill>
                  <a:srgbClr val="16324A"/>
                </a:solidFill>
                <a:latin typeface="Calibri" pitchFamily="34" charset="0"/>
                <a:ea typeface="Calibri" pitchFamily="34" charset="-122"/>
                <a:cs typeface="Calibri" pitchFamily="34" charset="-120"/>
              </a:rPr>
              <a:t>	Things like cookies, sessions, and tokens are layered on top to keep track of who you are.</a:t>
            </a:r>
          </a:p>
          <a:p>
            <a:pPr lvl="1"/>
            <a:endParaRPr lang="en-US">
              <a:solidFill>
                <a:srgbClr val="16324A"/>
              </a:solidFill>
              <a:latin typeface="Calibri" pitchFamily="34" charset="0"/>
              <a:ea typeface="Calibri" pitchFamily="34" charset="-122"/>
              <a:cs typeface="Calibri" pitchFamily="34" charset="-120"/>
            </a:endParaRPr>
          </a:p>
          <a:p>
            <a:pPr marL="285750" indent="-285750" algn="l" rtl="0">
              <a:buFont typeface="Arial" panose="020B0604020202020204" pitchFamily="34" charset="0"/>
              <a:buChar char="•"/>
            </a:pPr>
            <a:r>
              <a:rPr lang="en-US">
                <a:solidFill>
                  <a:srgbClr val="16324A"/>
                </a:solidFill>
                <a:latin typeface="Calibri" pitchFamily="34" charset="0"/>
                <a:ea typeface="Calibri" pitchFamily="34" charset="-122"/>
                <a:cs typeface="Calibri" pitchFamily="34" charset="-120"/>
              </a:rPr>
              <a:t>It runs on top of TCP (or QUIC in HTTP/3), usually on port 80.</a:t>
            </a:r>
          </a:p>
        </p:txBody>
      </p:sp>
    </p:spTree>
    <p:extLst>
      <p:ext uri="{BB962C8B-B14F-4D97-AF65-F5344CB8AC3E}">
        <p14:creationId xmlns:p14="http://schemas.microsoft.com/office/powerpoint/2010/main" val="18066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Basic Operations in an API:</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6</a:t>
            </a:r>
            <a:endParaRPr lang="en-US" sz="1100"/>
          </a:p>
        </p:txBody>
      </p:sp>
      <p:sp>
        <p:nvSpPr>
          <p:cNvPr id="6" name="Text 4"/>
          <p:cNvSpPr txBox="1"/>
          <p:nvPr/>
        </p:nvSpPr>
        <p:spPr>
          <a:xfrm>
            <a:off x="640080" y="1737360"/>
            <a:ext cx="10908792" cy="365760"/>
          </a:xfrm>
          <a:prstGeom prst="rect">
            <a:avLst/>
          </a:prstGeom>
          <a:noFill/>
          <a:ln/>
        </p:spPr>
        <p:txBody>
          <a:bodyPr wrap="square" lIns="0" tIns="0" rIns="0" bIns="0" rtlCol="0" anchor="ctr"/>
          <a:lstStyle/>
          <a:p>
            <a:pPr marL="0" indent="0" algn="l" rtl="0">
              <a:buNone/>
            </a:pPr>
            <a:r>
              <a:rPr lang="en-US">
                <a:solidFill>
                  <a:srgbClr val="16324A"/>
                </a:solidFill>
                <a:latin typeface="Calibri" pitchFamily="34" charset="0"/>
                <a:ea typeface="Calibri" pitchFamily="34" charset="-122"/>
                <a:cs typeface="Calibri" pitchFamily="34" charset="-120"/>
              </a:rPr>
              <a:t>Many APIs rely on basic HTTP operations to handle data:</a:t>
            </a:r>
            <a:endParaRPr lang="en-US"/>
          </a:p>
        </p:txBody>
      </p:sp>
      <p:sp>
        <p:nvSpPr>
          <p:cNvPr id="7" name="Shape 5"/>
          <p:cNvSpPr/>
          <p:nvPr/>
        </p:nvSpPr>
        <p:spPr>
          <a:xfrm>
            <a:off x="640080"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8" name="Shape 6"/>
          <p:cNvSpPr/>
          <p:nvPr/>
        </p:nvSpPr>
        <p:spPr>
          <a:xfrm>
            <a:off x="640080" y="2331720"/>
            <a:ext cx="2521458" cy="640080"/>
          </a:xfrm>
          <a:prstGeom prst="roundRect">
            <a:avLst>
              <a:gd name="adj" fmla="val 14286"/>
            </a:avLst>
          </a:prstGeom>
          <a:solidFill>
            <a:srgbClr val="0B3D5C"/>
          </a:solidFill>
          <a:ln/>
        </p:spPr>
        <p:txBody>
          <a:bodyPr/>
          <a:lstStyle/>
          <a:p>
            <a:endParaRPr lang="en-US"/>
          </a:p>
        </p:txBody>
      </p:sp>
      <p:sp>
        <p:nvSpPr>
          <p:cNvPr id="9" name="Shape 7"/>
          <p:cNvSpPr/>
          <p:nvPr/>
        </p:nvSpPr>
        <p:spPr>
          <a:xfrm>
            <a:off x="640080" y="2651760"/>
            <a:ext cx="2521458" cy="320040"/>
          </a:xfrm>
          <a:prstGeom prst="rect">
            <a:avLst/>
          </a:prstGeom>
          <a:solidFill>
            <a:srgbClr val="0B3D5C"/>
          </a:solidFill>
          <a:ln/>
        </p:spPr>
        <p:txBody>
          <a:bodyPr/>
          <a:lstStyle/>
          <a:p>
            <a:endParaRPr lang="en-US"/>
          </a:p>
        </p:txBody>
      </p:sp>
      <p:sp>
        <p:nvSpPr>
          <p:cNvPr id="10" name="Text 8"/>
          <p:cNvSpPr txBox="1"/>
          <p:nvPr/>
        </p:nvSpPr>
        <p:spPr>
          <a:xfrm>
            <a:off x="640080"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GET</a:t>
            </a:r>
            <a:endParaRPr lang="en-US" sz="1800"/>
          </a:p>
        </p:txBody>
      </p:sp>
      <p:sp>
        <p:nvSpPr>
          <p:cNvPr id="11" name="Text 9"/>
          <p:cNvSpPr txBox="1"/>
          <p:nvPr/>
        </p:nvSpPr>
        <p:spPr>
          <a:xfrm>
            <a:off x="777240"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Retrieve data</a:t>
            </a:r>
            <a:endParaRPr lang="en-US" sz="1300"/>
          </a:p>
        </p:txBody>
      </p:sp>
      <p:sp>
        <p:nvSpPr>
          <p:cNvPr id="12" name="Shape 10"/>
          <p:cNvSpPr/>
          <p:nvPr/>
        </p:nvSpPr>
        <p:spPr>
          <a:xfrm>
            <a:off x="777240" y="3840480"/>
            <a:ext cx="2247138" cy="457200"/>
          </a:xfrm>
          <a:prstGeom prst="roundRect">
            <a:avLst>
              <a:gd name="adj" fmla="val 12000"/>
            </a:avLst>
          </a:prstGeom>
          <a:solidFill>
            <a:srgbClr val="F4F8FA"/>
          </a:solidFill>
          <a:ln/>
        </p:spPr>
        <p:txBody>
          <a:bodyPr/>
          <a:lstStyle/>
          <a:p>
            <a:endParaRPr lang="en-US"/>
          </a:p>
        </p:txBody>
      </p:sp>
      <p:sp>
        <p:nvSpPr>
          <p:cNvPr id="13" name="Text 11"/>
          <p:cNvSpPr txBox="1"/>
          <p:nvPr/>
        </p:nvSpPr>
        <p:spPr>
          <a:xfrm>
            <a:off x="777240"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GET /products</a:t>
            </a:r>
            <a:endParaRPr lang="en-US" sz="1100"/>
          </a:p>
        </p:txBody>
      </p:sp>
      <p:sp>
        <p:nvSpPr>
          <p:cNvPr id="14" name="Text 12"/>
          <p:cNvSpPr txBox="1"/>
          <p:nvPr/>
        </p:nvSpPr>
        <p:spPr>
          <a:xfrm>
            <a:off x="777240"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Get the list of products</a:t>
            </a:r>
            <a:endParaRPr lang="en-US" sz="1100"/>
          </a:p>
        </p:txBody>
      </p:sp>
      <p:sp>
        <p:nvSpPr>
          <p:cNvPr id="15" name="Shape 13"/>
          <p:cNvSpPr/>
          <p:nvPr/>
        </p:nvSpPr>
        <p:spPr>
          <a:xfrm>
            <a:off x="3435858"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6" name="Shape 14"/>
          <p:cNvSpPr/>
          <p:nvPr/>
        </p:nvSpPr>
        <p:spPr>
          <a:xfrm>
            <a:off x="3435858" y="2331720"/>
            <a:ext cx="2521458" cy="640080"/>
          </a:xfrm>
          <a:prstGeom prst="roundRect">
            <a:avLst>
              <a:gd name="adj" fmla="val 14286"/>
            </a:avLst>
          </a:prstGeom>
          <a:solidFill>
            <a:srgbClr val="1C7293"/>
          </a:solidFill>
          <a:ln/>
        </p:spPr>
        <p:txBody>
          <a:bodyPr/>
          <a:lstStyle/>
          <a:p>
            <a:endParaRPr lang="en-US"/>
          </a:p>
        </p:txBody>
      </p:sp>
      <p:sp>
        <p:nvSpPr>
          <p:cNvPr id="17" name="Shape 15"/>
          <p:cNvSpPr/>
          <p:nvPr/>
        </p:nvSpPr>
        <p:spPr>
          <a:xfrm>
            <a:off x="3435858" y="2651760"/>
            <a:ext cx="2521458" cy="320040"/>
          </a:xfrm>
          <a:prstGeom prst="rect">
            <a:avLst/>
          </a:prstGeom>
          <a:solidFill>
            <a:srgbClr val="1C7293"/>
          </a:solidFill>
          <a:ln/>
        </p:spPr>
        <p:txBody>
          <a:bodyPr/>
          <a:lstStyle/>
          <a:p>
            <a:endParaRPr lang="en-US"/>
          </a:p>
        </p:txBody>
      </p:sp>
      <p:sp>
        <p:nvSpPr>
          <p:cNvPr id="18" name="Text 16"/>
          <p:cNvSpPr txBox="1"/>
          <p:nvPr/>
        </p:nvSpPr>
        <p:spPr>
          <a:xfrm>
            <a:off x="3435858"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POST</a:t>
            </a:r>
            <a:endParaRPr lang="en-US" sz="1800"/>
          </a:p>
        </p:txBody>
      </p:sp>
      <p:sp>
        <p:nvSpPr>
          <p:cNvPr id="19" name="Text 17"/>
          <p:cNvSpPr txBox="1"/>
          <p:nvPr/>
        </p:nvSpPr>
        <p:spPr>
          <a:xfrm>
            <a:off x="3573018"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Create new data</a:t>
            </a:r>
            <a:endParaRPr lang="en-US" sz="1300"/>
          </a:p>
        </p:txBody>
      </p:sp>
      <p:sp>
        <p:nvSpPr>
          <p:cNvPr id="20" name="Shape 18"/>
          <p:cNvSpPr/>
          <p:nvPr/>
        </p:nvSpPr>
        <p:spPr>
          <a:xfrm>
            <a:off x="3573018" y="3840480"/>
            <a:ext cx="2247138" cy="457200"/>
          </a:xfrm>
          <a:prstGeom prst="roundRect">
            <a:avLst>
              <a:gd name="adj" fmla="val 12000"/>
            </a:avLst>
          </a:prstGeom>
          <a:solidFill>
            <a:srgbClr val="F4F8FA"/>
          </a:solidFill>
          <a:ln/>
        </p:spPr>
        <p:txBody>
          <a:bodyPr/>
          <a:lstStyle/>
          <a:p>
            <a:endParaRPr lang="en-US"/>
          </a:p>
        </p:txBody>
      </p:sp>
      <p:sp>
        <p:nvSpPr>
          <p:cNvPr id="21" name="Text 19"/>
          <p:cNvSpPr txBox="1"/>
          <p:nvPr/>
        </p:nvSpPr>
        <p:spPr>
          <a:xfrm>
            <a:off x="3573018"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POST /products</a:t>
            </a:r>
            <a:endParaRPr lang="en-US" sz="1100"/>
          </a:p>
        </p:txBody>
      </p:sp>
      <p:sp>
        <p:nvSpPr>
          <p:cNvPr id="22" name="Text 20"/>
          <p:cNvSpPr txBox="1"/>
          <p:nvPr/>
        </p:nvSpPr>
        <p:spPr>
          <a:xfrm>
            <a:off x="3573018"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Add a new product</a:t>
            </a:r>
            <a:endParaRPr lang="en-US" sz="1100"/>
          </a:p>
        </p:txBody>
      </p:sp>
      <p:sp>
        <p:nvSpPr>
          <p:cNvPr id="23" name="Shape 21"/>
          <p:cNvSpPr/>
          <p:nvPr/>
        </p:nvSpPr>
        <p:spPr>
          <a:xfrm>
            <a:off x="6231636"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24" name="Shape 22"/>
          <p:cNvSpPr/>
          <p:nvPr/>
        </p:nvSpPr>
        <p:spPr>
          <a:xfrm>
            <a:off x="6231636" y="2331720"/>
            <a:ext cx="2521458" cy="640080"/>
          </a:xfrm>
          <a:prstGeom prst="roundRect">
            <a:avLst>
              <a:gd name="adj" fmla="val 14286"/>
            </a:avLst>
          </a:prstGeom>
          <a:solidFill>
            <a:srgbClr val="F2A65A"/>
          </a:solidFill>
          <a:ln/>
        </p:spPr>
        <p:txBody>
          <a:bodyPr/>
          <a:lstStyle/>
          <a:p>
            <a:endParaRPr lang="en-US"/>
          </a:p>
        </p:txBody>
      </p:sp>
      <p:sp>
        <p:nvSpPr>
          <p:cNvPr id="25" name="Shape 23"/>
          <p:cNvSpPr/>
          <p:nvPr/>
        </p:nvSpPr>
        <p:spPr>
          <a:xfrm>
            <a:off x="6231636" y="2651760"/>
            <a:ext cx="2521458" cy="320040"/>
          </a:xfrm>
          <a:prstGeom prst="rect">
            <a:avLst/>
          </a:prstGeom>
          <a:solidFill>
            <a:srgbClr val="F2A65A"/>
          </a:solidFill>
          <a:ln/>
        </p:spPr>
        <p:txBody>
          <a:bodyPr/>
          <a:lstStyle/>
          <a:p>
            <a:endParaRPr lang="en-US"/>
          </a:p>
        </p:txBody>
      </p:sp>
      <p:sp>
        <p:nvSpPr>
          <p:cNvPr id="26" name="Text 24"/>
          <p:cNvSpPr txBox="1"/>
          <p:nvPr/>
        </p:nvSpPr>
        <p:spPr>
          <a:xfrm>
            <a:off x="6231636"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PUT</a:t>
            </a:r>
            <a:endParaRPr lang="en-US" sz="1800"/>
          </a:p>
        </p:txBody>
      </p:sp>
      <p:sp>
        <p:nvSpPr>
          <p:cNvPr id="27" name="Text 25"/>
          <p:cNvSpPr txBox="1"/>
          <p:nvPr/>
        </p:nvSpPr>
        <p:spPr>
          <a:xfrm>
            <a:off x="6368796"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Update existing data</a:t>
            </a:r>
            <a:endParaRPr lang="en-US" sz="1300"/>
          </a:p>
        </p:txBody>
      </p:sp>
      <p:sp>
        <p:nvSpPr>
          <p:cNvPr id="28" name="Shape 26"/>
          <p:cNvSpPr/>
          <p:nvPr/>
        </p:nvSpPr>
        <p:spPr>
          <a:xfrm>
            <a:off x="6368796" y="3840480"/>
            <a:ext cx="2247138" cy="457200"/>
          </a:xfrm>
          <a:prstGeom prst="roundRect">
            <a:avLst>
              <a:gd name="adj" fmla="val 12000"/>
            </a:avLst>
          </a:prstGeom>
          <a:solidFill>
            <a:srgbClr val="F4F8FA"/>
          </a:solidFill>
          <a:ln/>
        </p:spPr>
        <p:txBody>
          <a:bodyPr/>
          <a:lstStyle/>
          <a:p>
            <a:endParaRPr lang="en-US"/>
          </a:p>
        </p:txBody>
      </p:sp>
      <p:sp>
        <p:nvSpPr>
          <p:cNvPr id="29" name="Text 27"/>
          <p:cNvSpPr txBox="1"/>
          <p:nvPr/>
        </p:nvSpPr>
        <p:spPr>
          <a:xfrm>
            <a:off x="6368796"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PUT /products/10</a:t>
            </a:r>
            <a:endParaRPr lang="en-US" sz="1100"/>
          </a:p>
        </p:txBody>
      </p:sp>
      <p:sp>
        <p:nvSpPr>
          <p:cNvPr id="30" name="Text 28"/>
          <p:cNvSpPr txBox="1"/>
          <p:nvPr/>
        </p:nvSpPr>
        <p:spPr>
          <a:xfrm>
            <a:off x="6368796"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Update product #10</a:t>
            </a:r>
            <a:endParaRPr lang="en-US" sz="1100"/>
          </a:p>
        </p:txBody>
      </p:sp>
      <p:sp>
        <p:nvSpPr>
          <p:cNvPr id="31" name="Shape 29"/>
          <p:cNvSpPr/>
          <p:nvPr/>
        </p:nvSpPr>
        <p:spPr>
          <a:xfrm>
            <a:off x="9027414"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32" name="Shape 30"/>
          <p:cNvSpPr/>
          <p:nvPr/>
        </p:nvSpPr>
        <p:spPr>
          <a:xfrm>
            <a:off x="9027414" y="2331720"/>
            <a:ext cx="2521458" cy="640080"/>
          </a:xfrm>
          <a:prstGeom prst="roundRect">
            <a:avLst>
              <a:gd name="adj" fmla="val 14286"/>
            </a:avLst>
          </a:prstGeom>
          <a:solidFill>
            <a:srgbClr val="9C3B3B"/>
          </a:solidFill>
          <a:ln/>
        </p:spPr>
        <p:txBody>
          <a:bodyPr/>
          <a:lstStyle/>
          <a:p>
            <a:endParaRPr lang="en-US"/>
          </a:p>
        </p:txBody>
      </p:sp>
      <p:sp>
        <p:nvSpPr>
          <p:cNvPr id="33" name="Shape 31"/>
          <p:cNvSpPr/>
          <p:nvPr/>
        </p:nvSpPr>
        <p:spPr>
          <a:xfrm>
            <a:off x="9027414" y="2651760"/>
            <a:ext cx="2521458" cy="320040"/>
          </a:xfrm>
          <a:prstGeom prst="rect">
            <a:avLst/>
          </a:prstGeom>
          <a:solidFill>
            <a:srgbClr val="9C3B3B"/>
          </a:solidFill>
          <a:ln/>
        </p:spPr>
        <p:txBody>
          <a:bodyPr/>
          <a:lstStyle/>
          <a:p>
            <a:endParaRPr lang="en-US"/>
          </a:p>
        </p:txBody>
      </p:sp>
      <p:sp>
        <p:nvSpPr>
          <p:cNvPr id="34" name="Text 32"/>
          <p:cNvSpPr txBox="1"/>
          <p:nvPr/>
        </p:nvSpPr>
        <p:spPr>
          <a:xfrm>
            <a:off x="9027414"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DELETE</a:t>
            </a:r>
            <a:endParaRPr lang="en-US" sz="1800"/>
          </a:p>
        </p:txBody>
      </p:sp>
      <p:sp>
        <p:nvSpPr>
          <p:cNvPr id="35" name="Text 33"/>
          <p:cNvSpPr txBox="1"/>
          <p:nvPr/>
        </p:nvSpPr>
        <p:spPr>
          <a:xfrm>
            <a:off x="9164574"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Delete data</a:t>
            </a:r>
            <a:endParaRPr lang="en-US" sz="1300"/>
          </a:p>
        </p:txBody>
      </p:sp>
      <p:sp>
        <p:nvSpPr>
          <p:cNvPr id="36" name="Shape 34"/>
          <p:cNvSpPr/>
          <p:nvPr/>
        </p:nvSpPr>
        <p:spPr>
          <a:xfrm>
            <a:off x="9164574" y="3840480"/>
            <a:ext cx="2247138" cy="457200"/>
          </a:xfrm>
          <a:prstGeom prst="roundRect">
            <a:avLst>
              <a:gd name="adj" fmla="val 12000"/>
            </a:avLst>
          </a:prstGeom>
          <a:solidFill>
            <a:srgbClr val="F4F8FA"/>
          </a:solidFill>
          <a:ln/>
        </p:spPr>
        <p:txBody>
          <a:bodyPr/>
          <a:lstStyle/>
          <a:p>
            <a:endParaRPr lang="en-US"/>
          </a:p>
        </p:txBody>
      </p:sp>
      <p:sp>
        <p:nvSpPr>
          <p:cNvPr id="37" name="Text 35"/>
          <p:cNvSpPr txBox="1"/>
          <p:nvPr/>
        </p:nvSpPr>
        <p:spPr>
          <a:xfrm>
            <a:off x="9164574"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DELETE /products/10</a:t>
            </a:r>
            <a:endParaRPr lang="en-US" sz="1100"/>
          </a:p>
        </p:txBody>
      </p:sp>
      <p:sp>
        <p:nvSpPr>
          <p:cNvPr id="38" name="Text 36"/>
          <p:cNvSpPr txBox="1"/>
          <p:nvPr/>
        </p:nvSpPr>
        <p:spPr>
          <a:xfrm>
            <a:off x="9164574"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Delete product #10</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p:cNvSpPr txBox="1"/>
          <p:nvPr/>
        </p:nvSpPr>
        <p:spPr>
          <a:xfrm>
            <a:off x="640080" y="278892"/>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Simplified Use Case Diagram of How an API Works: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7</a:t>
            </a:r>
            <a:endParaRPr lang="en-US" sz="1100"/>
          </a:p>
        </p:txBody>
      </p:sp>
      <p:sp>
        <p:nvSpPr>
          <p:cNvPr id="6" name="Shape 4"/>
          <p:cNvSpPr/>
          <p:nvPr/>
        </p:nvSpPr>
        <p:spPr>
          <a:xfrm>
            <a:off x="891540" y="1403887"/>
            <a:ext cx="7863840" cy="4869180"/>
          </a:xfrm>
          <a:prstGeom prst="rect">
            <a:avLst/>
          </a:prstGeom>
          <a:solidFill>
            <a:srgbClr val="FFFFFF"/>
          </a:solidFill>
          <a:ln w="19050">
            <a:solidFill>
              <a:srgbClr val="1C7293"/>
            </a:solidFill>
            <a:prstDash val="dash"/>
          </a:ln>
        </p:spPr>
        <p:txBody>
          <a:bodyPr/>
          <a:lstStyle/>
          <a:p>
            <a:endParaRPr lang="en-US"/>
          </a:p>
        </p:txBody>
      </p:sp>
      <p:sp>
        <p:nvSpPr>
          <p:cNvPr id="7" name="Text 5"/>
          <p:cNvSpPr txBox="1"/>
          <p:nvPr/>
        </p:nvSpPr>
        <p:spPr>
          <a:xfrm>
            <a:off x="1161288" y="1575054"/>
            <a:ext cx="6583680" cy="274320"/>
          </a:xfrm>
          <a:prstGeom prst="rect">
            <a:avLst/>
          </a:prstGeom>
          <a:noFill/>
          <a:ln/>
        </p:spPr>
        <p:txBody>
          <a:bodyPr wrap="square" lIns="0" tIns="0" rIns="0" bIns="0" rtlCol="0" anchor="ctr"/>
          <a:lstStyle/>
          <a:p>
            <a:pPr marL="0" indent="0" algn="l">
              <a:buNone/>
            </a:pPr>
            <a:r>
              <a:rPr lang="en-US" sz="1600" b="1">
                <a:solidFill>
                  <a:srgbClr val="1C7293"/>
                </a:solidFill>
                <a:latin typeface="Calibri" pitchFamily="34" charset="0"/>
                <a:ea typeface="Calibri" pitchFamily="34" charset="-122"/>
                <a:cs typeface="Calibri" pitchFamily="34" charset="-120"/>
              </a:rPr>
              <a:t>API System — Server</a:t>
            </a:r>
            <a:endParaRPr lang="en-US" sz="1600"/>
          </a:p>
        </p:txBody>
      </p:sp>
      <p:sp>
        <p:nvSpPr>
          <p:cNvPr id="8" name="Shape 6"/>
          <p:cNvSpPr/>
          <p:nvPr/>
        </p:nvSpPr>
        <p:spPr>
          <a:xfrm>
            <a:off x="9281160" y="3497580"/>
            <a:ext cx="822960" cy="822960"/>
          </a:xfrm>
          <a:prstGeom prst="ellipse">
            <a:avLst/>
          </a:prstGeom>
          <a:solidFill>
            <a:srgbClr val="0B3D5C"/>
          </a:solidFill>
          <a:ln/>
        </p:spPr>
        <p:txBody>
          <a:bodyPr/>
          <a:lstStyle/>
          <a:p>
            <a:endParaRPr lang="en-US"/>
          </a:p>
        </p:txBody>
      </p:sp>
      <p:pic>
        <p:nvPicPr>
          <p:cNvPr id="9" name="Image 0" descr="/home/claude/work/icon_user_white.png"/>
          <p:cNvPicPr>
            <a:picLocks noChangeAspect="1"/>
          </p:cNvPicPr>
          <p:nvPr/>
        </p:nvPicPr>
        <p:blipFill>
          <a:blip r:embed="rId3"/>
          <a:stretch>
            <a:fillRect/>
          </a:stretch>
        </p:blipFill>
        <p:spPr>
          <a:xfrm>
            <a:off x="9478670" y="3695090"/>
            <a:ext cx="427939" cy="427939"/>
          </a:xfrm>
          <a:prstGeom prst="rect">
            <a:avLst/>
          </a:prstGeom>
        </p:spPr>
      </p:pic>
      <p:sp>
        <p:nvSpPr>
          <p:cNvPr id="10" name="Text 7"/>
          <p:cNvSpPr txBox="1"/>
          <p:nvPr/>
        </p:nvSpPr>
        <p:spPr>
          <a:xfrm>
            <a:off x="8961120" y="4366260"/>
            <a:ext cx="1463040" cy="274320"/>
          </a:xfrm>
          <a:prstGeom prst="rect">
            <a:avLst/>
          </a:prstGeom>
          <a:noFill/>
          <a:ln/>
        </p:spPr>
        <p:txBody>
          <a:bodyPr wrap="square" lIns="0" tIns="0" rIns="0" bIns="0" rtlCol="0" anchor="ctr"/>
          <a:lstStyle/>
          <a:p>
            <a:pPr marL="0" indent="0" algn="ctr">
              <a:buNone/>
            </a:pPr>
            <a:r>
              <a:rPr lang="en-US" sz="1200" b="1">
                <a:solidFill>
                  <a:srgbClr val="0B3D5C"/>
                </a:solidFill>
                <a:latin typeface="Calibri" pitchFamily="34" charset="0"/>
                <a:ea typeface="Calibri" pitchFamily="34" charset="-122"/>
                <a:cs typeface="Calibri" pitchFamily="34" charset="-120"/>
              </a:rPr>
              <a:t>User</a:t>
            </a:r>
            <a:endParaRPr lang="en-US" sz="1200"/>
          </a:p>
        </p:txBody>
      </p:sp>
      <p:sp>
        <p:nvSpPr>
          <p:cNvPr id="11" name="Text 8"/>
          <p:cNvSpPr txBox="1"/>
          <p:nvPr/>
        </p:nvSpPr>
        <p:spPr>
          <a:xfrm>
            <a:off x="8961120" y="4613148"/>
            <a:ext cx="1463040" cy="228600"/>
          </a:xfrm>
          <a:prstGeom prst="rect">
            <a:avLst/>
          </a:prstGeom>
          <a:noFill/>
          <a:ln/>
        </p:spPr>
        <p:txBody>
          <a:bodyPr wrap="square" lIns="0" tIns="0" rIns="0" bIns="0" rtlCol="0" anchor="ctr"/>
          <a:lstStyle/>
          <a:p>
            <a:pPr marL="0" indent="0" algn="ctr">
              <a:buNone/>
            </a:pPr>
            <a:r>
              <a:rPr lang="en-US" sz="1000">
                <a:solidFill>
                  <a:srgbClr val="5B7C8D"/>
                </a:solidFill>
                <a:latin typeface="Calibri" pitchFamily="34" charset="0"/>
                <a:ea typeface="Calibri" pitchFamily="34" charset="-122"/>
                <a:cs typeface="Calibri" pitchFamily="34" charset="-120"/>
              </a:rPr>
              <a:t>(</a:t>
            </a:r>
            <a:r>
              <a:rPr lang="en-US" sz="1000" b="1">
                <a:solidFill>
                  <a:srgbClr val="5B7C8D"/>
                </a:solidFill>
                <a:latin typeface="Calibri" pitchFamily="34" charset="0"/>
                <a:ea typeface="Calibri" pitchFamily="34" charset="-122"/>
                <a:cs typeface="Calibri" pitchFamily="34" charset="-120"/>
              </a:rPr>
              <a:t>Client</a:t>
            </a:r>
            <a:r>
              <a:rPr lang="en-US" sz="1000">
                <a:solidFill>
                  <a:srgbClr val="5B7C8D"/>
                </a:solidFill>
                <a:latin typeface="Calibri" pitchFamily="34" charset="0"/>
                <a:ea typeface="Calibri" pitchFamily="34" charset="-122"/>
                <a:cs typeface="Calibri" pitchFamily="34" charset="-120"/>
              </a:rPr>
              <a:t>)</a:t>
            </a:r>
            <a:endParaRPr lang="en-US" sz="1000"/>
          </a:p>
        </p:txBody>
      </p:sp>
      <p:sp>
        <p:nvSpPr>
          <p:cNvPr id="12" name="Shape 9"/>
          <p:cNvSpPr/>
          <p:nvPr/>
        </p:nvSpPr>
        <p:spPr>
          <a:xfrm>
            <a:off x="4937760" y="2423160"/>
            <a:ext cx="3291840" cy="566928"/>
          </a:xfrm>
          <a:prstGeom prst="ellipse">
            <a:avLst/>
          </a:prstGeom>
          <a:solidFill>
            <a:srgbClr val="F2A65A"/>
          </a:solidFill>
          <a:ln/>
        </p:spPr>
        <p:txBody>
          <a:bodyPr/>
          <a:lstStyle/>
          <a:p>
            <a:endParaRPr lang="en-US"/>
          </a:p>
        </p:txBody>
      </p:sp>
      <p:sp>
        <p:nvSpPr>
          <p:cNvPr id="13" name="Text 10"/>
          <p:cNvSpPr txBox="1"/>
          <p:nvPr/>
        </p:nvSpPr>
        <p:spPr>
          <a:xfrm>
            <a:off x="5052060" y="2389153"/>
            <a:ext cx="3108960" cy="566928"/>
          </a:xfrm>
          <a:prstGeom prst="rect">
            <a:avLst/>
          </a:prstGeom>
          <a:noFill/>
          <a:ln/>
        </p:spPr>
        <p:txBody>
          <a:bodyPr wrap="square" lIns="0" tIns="0" rIns="0" bIns="0" rtlCol="0" anchor="ctr"/>
          <a:lstStyle/>
          <a:p>
            <a:pPr marL="0" indent="0" algn="ctr" rtl="0">
              <a:buNone/>
            </a:pPr>
            <a:r>
              <a:rPr lang="en-US" sz="1150" b="1">
                <a:solidFill>
                  <a:srgbClr val="FFFFFF"/>
                </a:solidFill>
                <a:latin typeface="Calibri" pitchFamily="34" charset="0"/>
                <a:ea typeface="Calibri" pitchFamily="34" charset="-122"/>
                <a:cs typeface="Calibri" pitchFamily="34" charset="-120"/>
              </a:rPr>
              <a:t>Send Request</a:t>
            </a:r>
            <a:endParaRPr lang="en-US" sz="1150"/>
          </a:p>
        </p:txBody>
      </p:sp>
      <p:sp>
        <p:nvSpPr>
          <p:cNvPr id="14" name="Shape 11"/>
          <p:cNvSpPr/>
          <p:nvPr/>
        </p:nvSpPr>
        <p:spPr>
          <a:xfrm>
            <a:off x="8302752" y="2560320"/>
            <a:ext cx="292608" cy="292608"/>
          </a:xfrm>
          <a:prstGeom prst="ellipse">
            <a:avLst/>
          </a:prstGeom>
          <a:solidFill>
            <a:srgbClr val="07293F"/>
          </a:solidFill>
          <a:ln/>
        </p:spPr>
        <p:txBody>
          <a:bodyPr/>
          <a:lstStyle/>
          <a:p>
            <a:endParaRPr lang="en-US"/>
          </a:p>
        </p:txBody>
      </p:sp>
      <p:sp>
        <p:nvSpPr>
          <p:cNvPr id="15" name="Text 12"/>
          <p:cNvSpPr txBox="1"/>
          <p:nvPr/>
        </p:nvSpPr>
        <p:spPr>
          <a:xfrm>
            <a:off x="8302752" y="2560320"/>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16" name="Shape 13"/>
          <p:cNvSpPr/>
          <p:nvPr/>
        </p:nvSpPr>
        <p:spPr>
          <a:xfrm>
            <a:off x="4937760" y="3211830"/>
            <a:ext cx="3291840" cy="566928"/>
          </a:xfrm>
          <a:prstGeom prst="ellipse">
            <a:avLst/>
          </a:prstGeom>
          <a:solidFill>
            <a:srgbClr val="0B3D5C"/>
          </a:solidFill>
          <a:ln/>
        </p:spPr>
        <p:txBody>
          <a:bodyPr/>
          <a:lstStyle/>
          <a:p>
            <a:endParaRPr lang="en-US"/>
          </a:p>
        </p:txBody>
      </p:sp>
      <p:sp>
        <p:nvSpPr>
          <p:cNvPr id="17" name="Text 14"/>
          <p:cNvSpPr txBox="1"/>
          <p:nvPr/>
        </p:nvSpPr>
        <p:spPr>
          <a:xfrm>
            <a:off x="5029200" y="3211830"/>
            <a:ext cx="3108960" cy="566928"/>
          </a:xfrm>
          <a:prstGeom prst="rect">
            <a:avLst/>
          </a:prstGeom>
          <a:noFill/>
          <a:ln/>
        </p:spPr>
        <p:txBody>
          <a:bodyPr wrap="square" lIns="0" tIns="0" rIns="0" bIns="0" rtlCol="0" anchor="ctr"/>
          <a:lstStyle/>
          <a:p>
            <a:pPr marL="0" indent="0" algn="ctr" rtl="0">
              <a:buNone/>
            </a:pPr>
            <a:r>
              <a:rPr lang="en-US" sz="1150" b="1">
                <a:solidFill>
                  <a:srgbClr val="FFFFFF"/>
                </a:solidFill>
                <a:latin typeface="Calibri" pitchFamily="34" charset="0"/>
                <a:ea typeface="Calibri" pitchFamily="34" charset="-122"/>
                <a:cs typeface="Calibri" pitchFamily="34" charset="-120"/>
              </a:rPr>
              <a:t>Receive and route the request</a:t>
            </a:r>
            <a:endParaRPr lang="en-US" sz="1150"/>
          </a:p>
        </p:txBody>
      </p:sp>
      <p:sp>
        <p:nvSpPr>
          <p:cNvPr id="18" name="Shape 15"/>
          <p:cNvSpPr/>
          <p:nvPr/>
        </p:nvSpPr>
        <p:spPr>
          <a:xfrm>
            <a:off x="8302752" y="3348990"/>
            <a:ext cx="292608" cy="292608"/>
          </a:xfrm>
          <a:prstGeom prst="ellipse">
            <a:avLst/>
          </a:prstGeom>
          <a:solidFill>
            <a:srgbClr val="07293F"/>
          </a:solidFill>
          <a:ln/>
        </p:spPr>
        <p:txBody>
          <a:bodyPr/>
          <a:lstStyle/>
          <a:p>
            <a:endParaRPr lang="en-US"/>
          </a:p>
        </p:txBody>
      </p:sp>
      <p:sp>
        <p:nvSpPr>
          <p:cNvPr id="19" name="Text 16"/>
          <p:cNvSpPr txBox="1"/>
          <p:nvPr/>
        </p:nvSpPr>
        <p:spPr>
          <a:xfrm>
            <a:off x="8302752" y="3348990"/>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20" name="Shape 17"/>
          <p:cNvSpPr/>
          <p:nvPr/>
        </p:nvSpPr>
        <p:spPr>
          <a:xfrm>
            <a:off x="4937760" y="4000500"/>
            <a:ext cx="3291840" cy="566928"/>
          </a:xfrm>
          <a:prstGeom prst="ellipse">
            <a:avLst/>
          </a:prstGeom>
          <a:solidFill>
            <a:srgbClr val="0B3D5C"/>
          </a:solidFill>
          <a:ln/>
        </p:spPr>
        <p:txBody>
          <a:bodyPr/>
          <a:lstStyle/>
          <a:p>
            <a:endParaRPr lang="en-US"/>
          </a:p>
        </p:txBody>
      </p:sp>
      <p:sp>
        <p:nvSpPr>
          <p:cNvPr id="21" name="Text 18"/>
          <p:cNvSpPr txBox="1"/>
          <p:nvPr/>
        </p:nvSpPr>
        <p:spPr>
          <a:xfrm>
            <a:off x="5029200" y="4000500"/>
            <a:ext cx="3108960" cy="566928"/>
          </a:xfrm>
          <a:prstGeom prst="rect">
            <a:avLst/>
          </a:prstGeom>
          <a:noFill/>
          <a:ln/>
        </p:spPr>
        <p:txBody>
          <a:bodyPr wrap="square" lIns="0" tIns="0" rIns="0" bIns="0" rtlCol="0" anchor="ctr"/>
          <a:lstStyle/>
          <a:p>
            <a:pPr marL="0" indent="0" algn="ctr" rtl="0">
              <a:buNone/>
            </a:pPr>
            <a:r>
              <a:rPr lang="en-US" sz="1150" b="1">
                <a:solidFill>
                  <a:srgbClr val="FFFFFF"/>
                </a:solidFill>
                <a:latin typeface="Calibri" pitchFamily="34" charset="0"/>
                <a:ea typeface="Calibri" pitchFamily="34" charset="-122"/>
                <a:cs typeface="Calibri" pitchFamily="34" charset="-120"/>
              </a:rPr>
              <a:t>Process the operation on the server</a:t>
            </a:r>
            <a:endParaRPr lang="en-US" sz="1150"/>
          </a:p>
        </p:txBody>
      </p:sp>
      <p:sp>
        <p:nvSpPr>
          <p:cNvPr id="22" name="Shape 19"/>
          <p:cNvSpPr/>
          <p:nvPr/>
        </p:nvSpPr>
        <p:spPr>
          <a:xfrm>
            <a:off x="8302752" y="4137660"/>
            <a:ext cx="292608" cy="292608"/>
          </a:xfrm>
          <a:prstGeom prst="ellipse">
            <a:avLst/>
          </a:prstGeom>
          <a:solidFill>
            <a:srgbClr val="07293F"/>
          </a:solidFill>
          <a:ln/>
        </p:spPr>
        <p:txBody>
          <a:bodyPr/>
          <a:lstStyle/>
          <a:p>
            <a:endParaRPr lang="en-US"/>
          </a:p>
        </p:txBody>
      </p:sp>
      <p:sp>
        <p:nvSpPr>
          <p:cNvPr id="23" name="Text 20"/>
          <p:cNvSpPr txBox="1"/>
          <p:nvPr/>
        </p:nvSpPr>
        <p:spPr>
          <a:xfrm>
            <a:off x="8302752" y="4137660"/>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24" name="Shape 21"/>
          <p:cNvSpPr/>
          <p:nvPr/>
        </p:nvSpPr>
        <p:spPr>
          <a:xfrm>
            <a:off x="4937760" y="4789170"/>
            <a:ext cx="3291840" cy="566928"/>
          </a:xfrm>
          <a:prstGeom prst="ellipse">
            <a:avLst/>
          </a:prstGeom>
          <a:solidFill>
            <a:srgbClr val="0B3D5C"/>
          </a:solidFill>
          <a:ln/>
        </p:spPr>
        <p:txBody>
          <a:bodyPr/>
          <a:lstStyle/>
          <a:p>
            <a:endParaRPr lang="en-US"/>
          </a:p>
        </p:txBody>
      </p:sp>
      <p:sp>
        <p:nvSpPr>
          <p:cNvPr id="25" name="Text 22"/>
          <p:cNvSpPr txBox="1"/>
          <p:nvPr/>
        </p:nvSpPr>
        <p:spPr>
          <a:xfrm>
            <a:off x="5029200" y="4789170"/>
            <a:ext cx="3108960" cy="566928"/>
          </a:xfrm>
          <a:prstGeom prst="rect">
            <a:avLst/>
          </a:prstGeom>
          <a:noFill/>
          <a:ln/>
        </p:spPr>
        <p:txBody>
          <a:bodyPr wrap="square" lIns="0" tIns="0" rIns="0" bIns="0" rtlCol="0" anchor="ctr"/>
          <a:lstStyle/>
          <a:p>
            <a:pPr marL="0" indent="0" algn="ctr" rtl="0">
              <a:buNone/>
            </a:pPr>
            <a:r>
              <a:rPr lang="en-US" sz="1150" b="1">
                <a:solidFill>
                  <a:srgbClr val="FFFFFF"/>
                </a:solidFill>
                <a:latin typeface="Calibri" pitchFamily="34" charset="0"/>
                <a:ea typeface="Calibri" pitchFamily="34" charset="-122"/>
                <a:cs typeface="Calibri" pitchFamily="34" charset="-120"/>
              </a:rPr>
              <a:t>Access the database</a:t>
            </a:r>
            <a:endParaRPr lang="en-US" sz="1150"/>
          </a:p>
        </p:txBody>
      </p:sp>
      <p:sp>
        <p:nvSpPr>
          <p:cNvPr id="26" name="Shape 23"/>
          <p:cNvSpPr/>
          <p:nvPr/>
        </p:nvSpPr>
        <p:spPr>
          <a:xfrm>
            <a:off x="8302752" y="4926330"/>
            <a:ext cx="292608" cy="292608"/>
          </a:xfrm>
          <a:prstGeom prst="ellipse">
            <a:avLst/>
          </a:prstGeom>
          <a:solidFill>
            <a:srgbClr val="07293F"/>
          </a:solidFill>
          <a:ln/>
        </p:spPr>
        <p:txBody>
          <a:bodyPr/>
          <a:lstStyle/>
          <a:p>
            <a:endParaRPr lang="en-US"/>
          </a:p>
        </p:txBody>
      </p:sp>
      <p:sp>
        <p:nvSpPr>
          <p:cNvPr id="27" name="Text 24"/>
          <p:cNvSpPr txBox="1"/>
          <p:nvPr/>
        </p:nvSpPr>
        <p:spPr>
          <a:xfrm>
            <a:off x="8302752" y="4926330"/>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28" name="Shape 25"/>
          <p:cNvSpPr/>
          <p:nvPr/>
        </p:nvSpPr>
        <p:spPr>
          <a:xfrm>
            <a:off x="4937760" y="5577840"/>
            <a:ext cx="3291840" cy="566928"/>
          </a:xfrm>
          <a:prstGeom prst="ellipse">
            <a:avLst/>
          </a:prstGeom>
          <a:solidFill>
            <a:srgbClr val="1C7293"/>
          </a:solidFill>
          <a:ln/>
        </p:spPr>
        <p:txBody>
          <a:bodyPr/>
          <a:lstStyle/>
          <a:p>
            <a:endParaRPr lang="en-US"/>
          </a:p>
        </p:txBody>
      </p:sp>
      <p:sp>
        <p:nvSpPr>
          <p:cNvPr id="29" name="Text 26"/>
          <p:cNvSpPr txBox="1"/>
          <p:nvPr/>
        </p:nvSpPr>
        <p:spPr>
          <a:xfrm>
            <a:off x="5029200" y="5577840"/>
            <a:ext cx="3108960" cy="566928"/>
          </a:xfrm>
          <a:prstGeom prst="rect">
            <a:avLst/>
          </a:prstGeom>
          <a:noFill/>
          <a:ln/>
        </p:spPr>
        <p:txBody>
          <a:bodyPr wrap="square" lIns="0" tIns="0" rIns="0" bIns="0" rtlCol="0" anchor="ctr"/>
          <a:lstStyle/>
          <a:p>
            <a:pPr marL="0" indent="0" algn="ctr" rtl="0">
              <a:buNone/>
            </a:pPr>
            <a:r>
              <a:rPr lang="en-US" sz="1150" b="1">
                <a:solidFill>
                  <a:srgbClr val="FFFFFF"/>
                </a:solidFill>
                <a:latin typeface="Calibri" pitchFamily="34" charset="0"/>
                <a:ea typeface="Calibri" pitchFamily="34" charset="-122"/>
                <a:cs typeface="Calibri" pitchFamily="34" charset="-120"/>
              </a:rPr>
              <a:t>Return the Response</a:t>
            </a:r>
            <a:endParaRPr lang="en-US" sz="1150"/>
          </a:p>
        </p:txBody>
      </p:sp>
      <p:sp>
        <p:nvSpPr>
          <p:cNvPr id="30" name="Shape 27"/>
          <p:cNvSpPr/>
          <p:nvPr/>
        </p:nvSpPr>
        <p:spPr>
          <a:xfrm>
            <a:off x="8302752" y="5715000"/>
            <a:ext cx="292608" cy="292608"/>
          </a:xfrm>
          <a:prstGeom prst="ellipse">
            <a:avLst/>
          </a:prstGeom>
          <a:solidFill>
            <a:srgbClr val="07293F"/>
          </a:solidFill>
          <a:ln/>
        </p:spPr>
        <p:txBody>
          <a:bodyPr/>
          <a:lstStyle/>
          <a:p>
            <a:endParaRPr lang="en-US"/>
          </a:p>
        </p:txBody>
      </p:sp>
      <p:sp>
        <p:nvSpPr>
          <p:cNvPr id="31" name="Text 28"/>
          <p:cNvSpPr txBox="1"/>
          <p:nvPr/>
        </p:nvSpPr>
        <p:spPr>
          <a:xfrm>
            <a:off x="8302752" y="5715000"/>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5</a:t>
            </a:r>
            <a:endParaRPr lang="en-US" sz="1200"/>
          </a:p>
        </p:txBody>
      </p:sp>
      <p:sp>
        <p:nvSpPr>
          <p:cNvPr id="32" name="Shape 29"/>
          <p:cNvSpPr/>
          <p:nvPr/>
        </p:nvSpPr>
        <p:spPr>
          <a:xfrm>
            <a:off x="8229600" y="2706624"/>
            <a:ext cx="1463040" cy="1202436"/>
          </a:xfrm>
          <a:prstGeom prst="line">
            <a:avLst/>
          </a:prstGeom>
          <a:noFill/>
          <a:ln w="19050">
            <a:solidFill>
              <a:srgbClr val="5B7C8D"/>
            </a:solidFill>
            <a:prstDash val="solid"/>
          </a:ln>
        </p:spPr>
        <p:txBody>
          <a:bodyPr/>
          <a:lstStyle/>
          <a:p>
            <a:endParaRPr lang="en-US"/>
          </a:p>
        </p:txBody>
      </p:sp>
      <p:sp>
        <p:nvSpPr>
          <p:cNvPr id="33" name="Shape 30"/>
          <p:cNvSpPr/>
          <p:nvPr/>
        </p:nvSpPr>
        <p:spPr>
          <a:xfrm>
            <a:off x="6583680" y="2990088"/>
            <a:ext cx="0" cy="221742"/>
          </a:xfrm>
          <a:prstGeom prst="line">
            <a:avLst/>
          </a:prstGeom>
          <a:noFill/>
          <a:ln w="25400">
            <a:solidFill>
              <a:srgbClr val="1C7293"/>
            </a:solidFill>
            <a:prstDash val="solid"/>
            <a:tailEnd type="triangle"/>
          </a:ln>
        </p:spPr>
        <p:txBody>
          <a:bodyPr/>
          <a:lstStyle/>
          <a:p>
            <a:endParaRPr lang="en-US"/>
          </a:p>
        </p:txBody>
      </p:sp>
      <p:sp>
        <p:nvSpPr>
          <p:cNvPr id="34" name="Shape 31"/>
          <p:cNvSpPr/>
          <p:nvPr/>
        </p:nvSpPr>
        <p:spPr>
          <a:xfrm>
            <a:off x="6583680" y="3778758"/>
            <a:ext cx="0" cy="221742"/>
          </a:xfrm>
          <a:prstGeom prst="line">
            <a:avLst/>
          </a:prstGeom>
          <a:noFill/>
          <a:ln w="25400">
            <a:solidFill>
              <a:srgbClr val="1C7293"/>
            </a:solidFill>
            <a:prstDash val="solid"/>
            <a:tailEnd type="triangle"/>
          </a:ln>
        </p:spPr>
        <p:txBody>
          <a:bodyPr/>
          <a:lstStyle/>
          <a:p>
            <a:endParaRPr lang="en-US"/>
          </a:p>
        </p:txBody>
      </p:sp>
      <p:sp>
        <p:nvSpPr>
          <p:cNvPr id="35" name="Shape 32"/>
          <p:cNvSpPr/>
          <p:nvPr/>
        </p:nvSpPr>
        <p:spPr>
          <a:xfrm>
            <a:off x="6583680" y="4567428"/>
            <a:ext cx="0" cy="221742"/>
          </a:xfrm>
          <a:prstGeom prst="line">
            <a:avLst/>
          </a:prstGeom>
          <a:noFill/>
          <a:ln w="25400">
            <a:solidFill>
              <a:srgbClr val="1C7293"/>
            </a:solidFill>
            <a:prstDash val="solid"/>
            <a:tailEnd type="triangle"/>
          </a:ln>
        </p:spPr>
        <p:txBody>
          <a:bodyPr/>
          <a:lstStyle/>
          <a:p>
            <a:endParaRPr lang="en-US"/>
          </a:p>
        </p:txBody>
      </p:sp>
      <p:sp>
        <p:nvSpPr>
          <p:cNvPr id="36" name="Shape 33"/>
          <p:cNvSpPr/>
          <p:nvPr/>
        </p:nvSpPr>
        <p:spPr>
          <a:xfrm>
            <a:off x="6583680" y="5356098"/>
            <a:ext cx="0" cy="221742"/>
          </a:xfrm>
          <a:prstGeom prst="line">
            <a:avLst/>
          </a:prstGeom>
          <a:noFill/>
          <a:ln w="25400">
            <a:solidFill>
              <a:srgbClr val="1C7293"/>
            </a:solidFill>
            <a:prstDash val="solid"/>
            <a:tailEnd type="triangle"/>
          </a:ln>
        </p:spPr>
        <p:txBody>
          <a:bodyPr/>
          <a:lstStyle/>
          <a:p>
            <a:endParaRPr lang="en-US"/>
          </a:p>
        </p:txBody>
      </p:sp>
      <p:sp>
        <p:nvSpPr>
          <p:cNvPr id="37" name="Shape 34"/>
          <p:cNvSpPr/>
          <p:nvPr/>
        </p:nvSpPr>
        <p:spPr>
          <a:xfrm>
            <a:off x="8229600" y="5861304"/>
            <a:ext cx="1463040" cy="0"/>
          </a:xfrm>
          <a:prstGeom prst="line">
            <a:avLst/>
          </a:prstGeom>
          <a:noFill/>
          <a:ln w="19050">
            <a:solidFill>
              <a:srgbClr val="5B7C8D"/>
            </a:solidFill>
            <a:prstDash val="dash"/>
          </a:ln>
        </p:spPr>
        <p:txBody>
          <a:bodyPr/>
          <a:lstStyle/>
          <a:p>
            <a:endParaRPr lang="en-US"/>
          </a:p>
        </p:txBody>
      </p:sp>
      <p:sp>
        <p:nvSpPr>
          <p:cNvPr id="38" name="Text 35"/>
          <p:cNvSpPr txBox="1"/>
          <p:nvPr/>
        </p:nvSpPr>
        <p:spPr>
          <a:xfrm>
            <a:off x="640080" y="6263640"/>
            <a:ext cx="10908792" cy="411480"/>
          </a:xfrm>
          <a:prstGeom prst="rect">
            <a:avLst/>
          </a:prstGeom>
          <a:noFill/>
          <a:ln/>
        </p:spPr>
        <p:txBody>
          <a:bodyPr wrap="square" lIns="0" tIns="0" rIns="0" bIns="0" rtlCol="0" anchor="ctr"/>
          <a:lstStyle/>
          <a:p>
            <a:pPr marL="0" indent="0" algn="l" rtl="0">
              <a:buNone/>
            </a:pPr>
            <a:r>
              <a:rPr lang="en-US" sz="1150" i="1">
                <a:solidFill>
                  <a:srgbClr val="5B7C8D"/>
                </a:solidFill>
                <a:latin typeface="Calibri" pitchFamily="34" charset="0"/>
                <a:ea typeface="Calibri" pitchFamily="34" charset="-122"/>
                <a:cs typeface="Calibri" pitchFamily="34" charset="-120"/>
              </a:rPr>
              <a:t>The diagram simplifies the client's interaction with the system: it starts with a Request from the user and ends with a Response, after passing through the API, the server, and the database.</a:t>
            </a:r>
            <a:endParaRPr lang="en-US" sz="11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REST?</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8</a:t>
            </a:r>
            <a:endParaRPr lang="en-US" sz="1100"/>
          </a:p>
        </p:txBody>
      </p:sp>
      <p:sp>
        <p:nvSpPr>
          <p:cNvPr id="6" name="Text 4"/>
          <p:cNvSpPr txBox="1"/>
          <p:nvPr/>
        </p:nvSpPr>
        <p:spPr>
          <a:xfrm>
            <a:off x="640080" y="1920240"/>
            <a:ext cx="10908792" cy="54864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REST stands for Representational State Transfer, a very common architectural style for designing Web APIs.</a:t>
            </a:r>
            <a:endParaRPr lang="en-US" sz="1600"/>
          </a:p>
        </p:txBody>
      </p:sp>
      <p:sp>
        <p:nvSpPr>
          <p:cNvPr id="7" name="Text 5"/>
          <p:cNvSpPr txBox="1"/>
          <p:nvPr/>
        </p:nvSpPr>
        <p:spPr>
          <a:xfrm>
            <a:off x="640080" y="2514600"/>
            <a:ext cx="10908792" cy="822960"/>
          </a:xfrm>
          <a:prstGeom prst="rect">
            <a:avLst/>
          </a:prstGeom>
          <a:noFill/>
          <a:ln/>
        </p:spPr>
        <p:txBody>
          <a:bodyPr wrap="square" lIns="0" tIns="0" rIns="0" bIns="0" rtlCol="0" anchor="ctr"/>
          <a:lstStyle/>
          <a:p>
            <a:pPr marL="0" indent="0" algn="l" rtl="0">
              <a:lnSpc>
                <a:spcPct val="125000"/>
              </a:lnSpc>
              <a:buNone/>
            </a:pPr>
            <a:r>
              <a:rPr lang="en-US" sz="1400">
                <a:solidFill>
                  <a:srgbClr val="16324A"/>
                </a:solidFill>
                <a:latin typeface="Calibri" pitchFamily="34" charset="0"/>
                <a:ea typeface="Calibri" pitchFamily="34" charset="-122"/>
                <a:cs typeface="Calibri" pitchFamily="34" charset="-120"/>
              </a:rPr>
              <a:t>REST relies primarily on the HTTP protocol, treating the data in the system as Resources that can be accessed using URLs and HTTP operations.</a:t>
            </a:r>
          </a:p>
          <a:p>
            <a:pPr marL="0" indent="0" algn="l" rtl="0">
              <a:lnSpc>
                <a:spcPct val="125000"/>
              </a:lnSpc>
              <a:buNone/>
            </a:pPr>
            <a:endParaRPr lang="en-US" sz="1400">
              <a:solidFill>
                <a:srgbClr val="16324A"/>
              </a:solidFill>
              <a:latin typeface="Calibri" pitchFamily="34" charset="0"/>
              <a:ea typeface="Calibri" pitchFamily="34" charset="-122"/>
              <a:cs typeface="Calibri" pitchFamily="34" charset="-120"/>
            </a:endParaRPr>
          </a:p>
          <a:p>
            <a:r>
              <a:rPr lang="en-US" sz="1400"/>
              <a:t>The core idea is that everything is a </a:t>
            </a:r>
            <a:r>
              <a:rPr lang="en-US" sz="1400" b="1"/>
              <a:t>resource</a:t>
            </a:r>
            <a:r>
              <a:rPr lang="en-US" sz="1400"/>
              <a:t> (a user, an order, a post) identified by a URL.</a:t>
            </a:r>
          </a:p>
        </p:txBody>
      </p:sp>
      <p:sp>
        <p:nvSpPr>
          <p:cNvPr id="8" name="Shape 6"/>
          <p:cNvSpPr/>
          <p:nvPr/>
        </p:nvSpPr>
        <p:spPr>
          <a:xfrm>
            <a:off x="640080" y="3520440"/>
            <a:ext cx="10908792" cy="2377440"/>
          </a:xfrm>
          <a:prstGeom prst="roundRect">
            <a:avLst>
              <a:gd name="adj" fmla="val 3077"/>
            </a:avLst>
          </a:prstGeom>
          <a:solidFill>
            <a:srgbClr val="07293F"/>
          </a:solidFill>
          <a:ln/>
        </p:spPr>
        <p:txBody>
          <a:bodyPr/>
          <a:lstStyle/>
          <a:p>
            <a:endParaRPr lang="en-US"/>
          </a:p>
        </p:txBody>
      </p:sp>
      <p:sp>
        <p:nvSpPr>
          <p:cNvPr id="9" name="Text 7"/>
          <p:cNvSpPr txBox="1"/>
          <p:nvPr/>
        </p:nvSpPr>
        <p:spPr>
          <a:xfrm>
            <a:off x="914400" y="3703320"/>
            <a:ext cx="10360152" cy="320040"/>
          </a:xfrm>
          <a:prstGeom prst="rect">
            <a:avLst/>
          </a:prstGeom>
          <a:noFill/>
          <a:ln/>
        </p:spPr>
        <p:txBody>
          <a:bodyPr wrap="square" lIns="0" tIns="0" rIns="0" bIns="0" rtlCol="0" anchor="ctr"/>
          <a:lstStyle/>
          <a:p>
            <a:pPr marL="0" indent="0" algn="l" rtl="0">
              <a:buNone/>
            </a:pPr>
            <a:r>
              <a:rPr lang="en-US" sz="1400" b="1">
                <a:solidFill>
                  <a:srgbClr val="F2A65A"/>
                </a:solidFill>
                <a:latin typeface="Calibri" pitchFamily="34" charset="0"/>
                <a:ea typeface="Calibri" pitchFamily="34" charset="-122"/>
                <a:cs typeface="Calibri" pitchFamily="34" charset="-120"/>
              </a:rPr>
              <a:t>Example in an e-commerce store:</a:t>
            </a:r>
            <a:endParaRPr lang="en-US" sz="1400"/>
          </a:p>
        </p:txBody>
      </p:sp>
      <p:sp>
        <p:nvSpPr>
          <p:cNvPr id="10" name="Text 8"/>
          <p:cNvSpPr txBox="1"/>
          <p:nvPr/>
        </p:nvSpPr>
        <p:spPr>
          <a:xfrm>
            <a:off x="1005840" y="4114800"/>
            <a:ext cx="1017727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GET /products — to get the products</a:t>
            </a:r>
            <a:endParaRPr lang="en-US" sz="1300"/>
          </a:p>
        </p:txBody>
      </p:sp>
      <p:sp>
        <p:nvSpPr>
          <p:cNvPr id="11" name="Text 9"/>
          <p:cNvSpPr txBox="1"/>
          <p:nvPr/>
        </p:nvSpPr>
        <p:spPr>
          <a:xfrm>
            <a:off x="1005840" y="4498848"/>
            <a:ext cx="1017727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GET /products/10 — to get a specific product</a:t>
            </a:r>
            <a:endParaRPr lang="en-US" sz="1300"/>
          </a:p>
        </p:txBody>
      </p:sp>
      <p:sp>
        <p:nvSpPr>
          <p:cNvPr id="12" name="Text 10"/>
          <p:cNvSpPr txBox="1"/>
          <p:nvPr/>
        </p:nvSpPr>
        <p:spPr>
          <a:xfrm>
            <a:off x="1005840" y="4882896"/>
            <a:ext cx="1017727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POST /products — to create a new product</a:t>
            </a:r>
            <a:endParaRPr lang="en-US" sz="1300"/>
          </a:p>
        </p:txBody>
      </p:sp>
      <p:sp>
        <p:nvSpPr>
          <p:cNvPr id="13" name="Text 11"/>
          <p:cNvSpPr txBox="1"/>
          <p:nvPr/>
        </p:nvSpPr>
        <p:spPr>
          <a:xfrm>
            <a:off x="1005840" y="5266944"/>
            <a:ext cx="1017727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DELETE /products/10 — to delete a specific product</a:t>
            </a:r>
            <a:endParaRPr lang="en-US" sz="13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40782"/>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How Does a REST API Work?</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9</a:t>
            </a:r>
            <a:endParaRPr lang="en-US" sz="1100"/>
          </a:p>
        </p:txBody>
      </p:sp>
      <p:sp>
        <p:nvSpPr>
          <p:cNvPr id="6" name="Text 4"/>
          <p:cNvSpPr txBox="1"/>
          <p:nvPr/>
        </p:nvSpPr>
        <p:spPr>
          <a:xfrm>
            <a:off x="640080" y="1828800"/>
            <a:ext cx="1828800" cy="320040"/>
          </a:xfrm>
          <a:prstGeom prst="rect">
            <a:avLst/>
          </a:prstGeom>
          <a:noFill/>
          <a:ln/>
        </p:spPr>
        <p:txBody>
          <a:bodyPr wrap="square" lIns="0" tIns="0" rIns="0" bIns="0" rtlCol="0" anchor="ctr"/>
          <a:lstStyle/>
          <a:p>
            <a:pPr marL="0" indent="0" algn="l" rtl="0">
              <a:buNone/>
            </a:pPr>
            <a:r>
              <a:rPr lang="en-US" sz="1300" b="1">
                <a:solidFill>
                  <a:srgbClr val="1C7293"/>
                </a:solidFill>
                <a:latin typeface="Calibri" pitchFamily="34" charset="0"/>
                <a:ea typeface="Calibri" pitchFamily="34" charset="-122"/>
                <a:cs typeface="Calibri" pitchFamily="34" charset="-120"/>
              </a:rPr>
              <a:t>Request:</a:t>
            </a:r>
            <a:endParaRPr lang="en-US" sz="1300"/>
          </a:p>
        </p:txBody>
      </p:sp>
      <p:sp>
        <p:nvSpPr>
          <p:cNvPr id="7" name="Shape 5"/>
          <p:cNvSpPr/>
          <p:nvPr/>
        </p:nvSpPr>
        <p:spPr>
          <a:xfrm>
            <a:off x="9628632" y="2194560"/>
            <a:ext cx="1920240" cy="594360"/>
          </a:xfrm>
          <a:prstGeom prst="roundRect">
            <a:avLst>
              <a:gd name="adj" fmla="val 46154"/>
            </a:avLst>
          </a:prstGeom>
          <a:solidFill>
            <a:srgbClr val="0B3D5C"/>
          </a:solidFill>
          <a:ln/>
        </p:spPr>
        <p:txBody>
          <a:bodyPr/>
          <a:lstStyle/>
          <a:p>
            <a:endParaRPr lang="en-US"/>
          </a:p>
        </p:txBody>
      </p:sp>
      <p:sp>
        <p:nvSpPr>
          <p:cNvPr id="8" name="Text 6"/>
          <p:cNvSpPr txBox="1"/>
          <p:nvPr/>
        </p:nvSpPr>
        <p:spPr>
          <a:xfrm>
            <a:off x="9628632"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Database</a:t>
            </a:r>
            <a:endParaRPr lang="en-US" sz="1200"/>
          </a:p>
        </p:txBody>
      </p:sp>
      <p:sp>
        <p:nvSpPr>
          <p:cNvPr id="10" name="Shape 8"/>
          <p:cNvSpPr/>
          <p:nvPr/>
        </p:nvSpPr>
        <p:spPr>
          <a:xfrm>
            <a:off x="7381494" y="2194560"/>
            <a:ext cx="1920240" cy="594360"/>
          </a:xfrm>
          <a:prstGeom prst="roundRect">
            <a:avLst>
              <a:gd name="adj" fmla="val 46154"/>
            </a:avLst>
          </a:prstGeom>
          <a:solidFill>
            <a:srgbClr val="0B3D5C"/>
          </a:solidFill>
          <a:ln/>
        </p:spPr>
        <p:txBody>
          <a:bodyPr/>
          <a:lstStyle/>
          <a:p>
            <a:endParaRPr lang="en-US"/>
          </a:p>
        </p:txBody>
      </p:sp>
      <p:sp>
        <p:nvSpPr>
          <p:cNvPr id="11" name="Text 9"/>
          <p:cNvSpPr txBox="1"/>
          <p:nvPr/>
        </p:nvSpPr>
        <p:spPr>
          <a:xfrm>
            <a:off x="7381494"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Server</a:t>
            </a:r>
            <a:endParaRPr lang="en-US" sz="1200"/>
          </a:p>
        </p:txBody>
      </p:sp>
      <p:sp>
        <p:nvSpPr>
          <p:cNvPr id="13" name="Shape 11"/>
          <p:cNvSpPr/>
          <p:nvPr/>
        </p:nvSpPr>
        <p:spPr>
          <a:xfrm>
            <a:off x="5134356" y="2194560"/>
            <a:ext cx="1920240" cy="594360"/>
          </a:xfrm>
          <a:prstGeom prst="roundRect">
            <a:avLst>
              <a:gd name="adj" fmla="val 46154"/>
            </a:avLst>
          </a:prstGeom>
          <a:solidFill>
            <a:srgbClr val="F2A65A"/>
          </a:solidFill>
          <a:ln/>
        </p:spPr>
        <p:txBody>
          <a:bodyPr/>
          <a:lstStyle/>
          <a:p>
            <a:endParaRPr lang="en-US"/>
          </a:p>
        </p:txBody>
      </p:sp>
      <p:sp>
        <p:nvSpPr>
          <p:cNvPr id="14" name="Text 12"/>
          <p:cNvSpPr txBox="1"/>
          <p:nvPr/>
        </p:nvSpPr>
        <p:spPr>
          <a:xfrm>
            <a:off x="5134356"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REST API</a:t>
            </a:r>
            <a:endParaRPr lang="en-US" sz="1200"/>
          </a:p>
        </p:txBody>
      </p:sp>
      <p:sp>
        <p:nvSpPr>
          <p:cNvPr id="16" name="Shape 14"/>
          <p:cNvSpPr/>
          <p:nvPr/>
        </p:nvSpPr>
        <p:spPr>
          <a:xfrm>
            <a:off x="2887218" y="2194560"/>
            <a:ext cx="1920240" cy="594360"/>
          </a:xfrm>
          <a:prstGeom prst="roundRect">
            <a:avLst>
              <a:gd name="adj" fmla="val 46154"/>
            </a:avLst>
          </a:prstGeom>
          <a:solidFill>
            <a:srgbClr val="0B3D5C"/>
          </a:solidFill>
          <a:ln/>
        </p:spPr>
        <p:txBody>
          <a:bodyPr/>
          <a:lstStyle/>
          <a:p>
            <a:endParaRPr lang="en-US"/>
          </a:p>
        </p:txBody>
      </p:sp>
      <p:sp>
        <p:nvSpPr>
          <p:cNvPr id="17" name="Text 15"/>
          <p:cNvSpPr txBox="1"/>
          <p:nvPr/>
        </p:nvSpPr>
        <p:spPr>
          <a:xfrm>
            <a:off x="2887218"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HTTP Request</a:t>
            </a:r>
            <a:endParaRPr lang="en-US" sz="1200"/>
          </a:p>
        </p:txBody>
      </p:sp>
      <p:sp>
        <p:nvSpPr>
          <p:cNvPr id="19" name="Shape 17"/>
          <p:cNvSpPr/>
          <p:nvPr/>
        </p:nvSpPr>
        <p:spPr>
          <a:xfrm>
            <a:off x="640080" y="2194560"/>
            <a:ext cx="1920240" cy="594360"/>
          </a:xfrm>
          <a:prstGeom prst="roundRect">
            <a:avLst>
              <a:gd name="adj" fmla="val 46154"/>
            </a:avLst>
          </a:prstGeom>
          <a:solidFill>
            <a:srgbClr val="0B3D5C"/>
          </a:solidFill>
          <a:ln/>
        </p:spPr>
        <p:txBody>
          <a:bodyPr/>
          <a:lstStyle/>
          <a:p>
            <a:endParaRPr lang="en-US"/>
          </a:p>
        </p:txBody>
      </p:sp>
      <p:sp>
        <p:nvSpPr>
          <p:cNvPr id="20" name="Text 18"/>
          <p:cNvSpPr txBox="1"/>
          <p:nvPr/>
        </p:nvSpPr>
        <p:spPr>
          <a:xfrm>
            <a:off x="640080"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Client</a:t>
            </a:r>
            <a:endParaRPr lang="en-US" sz="1200"/>
          </a:p>
        </p:txBody>
      </p:sp>
      <p:sp>
        <p:nvSpPr>
          <p:cNvPr id="21" name="Text 19"/>
          <p:cNvSpPr txBox="1"/>
          <p:nvPr/>
        </p:nvSpPr>
        <p:spPr>
          <a:xfrm>
            <a:off x="640080" y="3063240"/>
            <a:ext cx="1828800" cy="320040"/>
          </a:xfrm>
          <a:prstGeom prst="rect">
            <a:avLst/>
          </a:prstGeom>
          <a:noFill/>
          <a:ln/>
        </p:spPr>
        <p:txBody>
          <a:bodyPr wrap="square" lIns="0" tIns="0" rIns="0" bIns="0" rtlCol="0" anchor="ctr"/>
          <a:lstStyle/>
          <a:p>
            <a:pPr marL="0" indent="0" algn="l" rtl="0">
              <a:buNone/>
            </a:pPr>
            <a:r>
              <a:rPr lang="en-US" sz="1300" b="1">
                <a:solidFill>
                  <a:srgbClr val="1C7293"/>
                </a:solidFill>
                <a:latin typeface="Calibri" pitchFamily="34" charset="0"/>
                <a:ea typeface="Calibri" pitchFamily="34" charset="-122"/>
                <a:cs typeface="Calibri" pitchFamily="34" charset="-120"/>
              </a:rPr>
              <a:t>Response:</a:t>
            </a:r>
            <a:endParaRPr lang="en-US" sz="1300"/>
          </a:p>
        </p:txBody>
      </p:sp>
      <p:sp>
        <p:nvSpPr>
          <p:cNvPr id="22" name="Shape 20"/>
          <p:cNvSpPr/>
          <p:nvPr/>
        </p:nvSpPr>
        <p:spPr>
          <a:xfrm>
            <a:off x="9628632" y="3429000"/>
            <a:ext cx="1920240" cy="594360"/>
          </a:xfrm>
          <a:prstGeom prst="roundRect">
            <a:avLst>
              <a:gd name="adj" fmla="val 46154"/>
            </a:avLst>
          </a:prstGeom>
          <a:solidFill>
            <a:srgbClr val="1C7293"/>
          </a:solidFill>
          <a:ln/>
        </p:spPr>
        <p:txBody>
          <a:bodyPr/>
          <a:lstStyle/>
          <a:p>
            <a:endParaRPr lang="en-US"/>
          </a:p>
        </p:txBody>
      </p:sp>
      <p:sp>
        <p:nvSpPr>
          <p:cNvPr id="23" name="Text 21"/>
          <p:cNvSpPr txBox="1"/>
          <p:nvPr/>
        </p:nvSpPr>
        <p:spPr>
          <a:xfrm>
            <a:off x="9628632"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Client</a:t>
            </a:r>
            <a:endParaRPr lang="en-US" sz="1200"/>
          </a:p>
        </p:txBody>
      </p:sp>
      <p:sp>
        <p:nvSpPr>
          <p:cNvPr id="25" name="Shape 23"/>
          <p:cNvSpPr/>
          <p:nvPr/>
        </p:nvSpPr>
        <p:spPr>
          <a:xfrm>
            <a:off x="7381494" y="3429000"/>
            <a:ext cx="1920240" cy="594360"/>
          </a:xfrm>
          <a:prstGeom prst="roundRect">
            <a:avLst>
              <a:gd name="adj" fmla="val 46154"/>
            </a:avLst>
          </a:prstGeom>
          <a:solidFill>
            <a:srgbClr val="1C7293"/>
          </a:solidFill>
          <a:ln/>
        </p:spPr>
        <p:txBody>
          <a:bodyPr/>
          <a:lstStyle/>
          <a:p>
            <a:endParaRPr lang="en-US"/>
          </a:p>
        </p:txBody>
      </p:sp>
      <p:sp>
        <p:nvSpPr>
          <p:cNvPr id="26" name="Text 24"/>
          <p:cNvSpPr txBox="1"/>
          <p:nvPr/>
        </p:nvSpPr>
        <p:spPr>
          <a:xfrm>
            <a:off x="7381494"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HTTP Response</a:t>
            </a:r>
            <a:endParaRPr lang="en-US" sz="1200"/>
          </a:p>
        </p:txBody>
      </p:sp>
      <p:sp>
        <p:nvSpPr>
          <p:cNvPr id="28" name="Shape 26"/>
          <p:cNvSpPr/>
          <p:nvPr/>
        </p:nvSpPr>
        <p:spPr>
          <a:xfrm>
            <a:off x="5134356" y="3429000"/>
            <a:ext cx="1920240" cy="594360"/>
          </a:xfrm>
          <a:prstGeom prst="roundRect">
            <a:avLst>
              <a:gd name="adj" fmla="val 46154"/>
            </a:avLst>
          </a:prstGeom>
          <a:solidFill>
            <a:srgbClr val="F2A65A"/>
          </a:solidFill>
          <a:ln/>
        </p:spPr>
        <p:txBody>
          <a:bodyPr/>
          <a:lstStyle/>
          <a:p>
            <a:endParaRPr lang="en-US"/>
          </a:p>
        </p:txBody>
      </p:sp>
      <p:sp>
        <p:nvSpPr>
          <p:cNvPr id="29" name="Text 27"/>
          <p:cNvSpPr txBox="1"/>
          <p:nvPr/>
        </p:nvSpPr>
        <p:spPr>
          <a:xfrm>
            <a:off x="5134356"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REST API</a:t>
            </a:r>
            <a:endParaRPr lang="en-US" sz="1200"/>
          </a:p>
        </p:txBody>
      </p:sp>
      <p:sp>
        <p:nvSpPr>
          <p:cNvPr id="31" name="Shape 29"/>
          <p:cNvSpPr/>
          <p:nvPr/>
        </p:nvSpPr>
        <p:spPr>
          <a:xfrm>
            <a:off x="2887218" y="3429000"/>
            <a:ext cx="1920240" cy="594360"/>
          </a:xfrm>
          <a:prstGeom prst="roundRect">
            <a:avLst>
              <a:gd name="adj" fmla="val 46154"/>
            </a:avLst>
          </a:prstGeom>
          <a:solidFill>
            <a:srgbClr val="1C7293"/>
          </a:solidFill>
          <a:ln/>
        </p:spPr>
        <p:txBody>
          <a:bodyPr/>
          <a:lstStyle/>
          <a:p>
            <a:endParaRPr lang="en-US"/>
          </a:p>
        </p:txBody>
      </p:sp>
      <p:sp>
        <p:nvSpPr>
          <p:cNvPr id="32" name="Text 30"/>
          <p:cNvSpPr txBox="1"/>
          <p:nvPr/>
        </p:nvSpPr>
        <p:spPr>
          <a:xfrm>
            <a:off x="2887218"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Server</a:t>
            </a:r>
            <a:endParaRPr lang="en-US" sz="1200"/>
          </a:p>
        </p:txBody>
      </p:sp>
      <p:sp>
        <p:nvSpPr>
          <p:cNvPr id="34" name="Shape 32"/>
          <p:cNvSpPr/>
          <p:nvPr/>
        </p:nvSpPr>
        <p:spPr>
          <a:xfrm>
            <a:off x="640080" y="3429000"/>
            <a:ext cx="1920240" cy="594360"/>
          </a:xfrm>
          <a:prstGeom prst="roundRect">
            <a:avLst>
              <a:gd name="adj" fmla="val 46154"/>
            </a:avLst>
          </a:prstGeom>
          <a:solidFill>
            <a:srgbClr val="1C7293"/>
          </a:solidFill>
          <a:ln/>
        </p:spPr>
        <p:txBody>
          <a:bodyPr/>
          <a:lstStyle/>
          <a:p>
            <a:endParaRPr lang="en-US"/>
          </a:p>
        </p:txBody>
      </p:sp>
      <p:sp>
        <p:nvSpPr>
          <p:cNvPr id="35" name="Text 33"/>
          <p:cNvSpPr txBox="1"/>
          <p:nvPr/>
        </p:nvSpPr>
        <p:spPr>
          <a:xfrm>
            <a:off x="640080"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Database</a:t>
            </a:r>
            <a:endParaRPr lang="en-US" sz="1200"/>
          </a:p>
        </p:txBody>
      </p:sp>
      <p:sp>
        <p:nvSpPr>
          <p:cNvPr id="36" name="Text 34"/>
          <p:cNvSpPr txBox="1"/>
          <p:nvPr/>
        </p:nvSpPr>
        <p:spPr>
          <a:xfrm>
            <a:off x="640080" y="4343400"/>
            <a:ext cx="10908792" cy="457200"/>
          </a:xfrm>
          <a:prstGeom prst="rect">
            <a:avLst/>
          </a:prstGeom>
          <a:noFill/>
          <a:ln/>
        </p:spPr>
        <p:txBody>
          <a:bodyPr wrap="square" lIns="0" tIns="0" rIns="0" bIns="0" rtlCol="0" anchor="ctr"/>
          <a:lstStyle/>
          <a:p>
            <a:pPr marL="0" indent="0" algn="l" rtl="0">
              <a:buNone/>
            </a:pPr>
            <a:r>
              <a:rPr lang="en-US" sz="1400">
                <a:solidFill>
                  <a:srgbClr val="16324A"/>
                </a:solidFill>
                <a:latin typeface="Calibri" pitchFamily="34" charset="0"/>
                <a:ea typeface="Calibri" pitchFamily="34" charset="-122"/>
                <a:cs typeface="Calibri" pitchFamily="34" charset="-120"/>
              </a:rPr>
              <a:t>Data is typically exchanged using JSON format, allowing a mobile app or website to read and use the data.</a:t>
            </a:r>
            <a:endParaRPr lang="en-US" sz="1400"/>
          </a:p>
        </p:txBody>
      </p:sp>
      <p:sp>
        <p:nvSpPr>
          <p:cNvPr id="37" name="Shape 35"/>
          <p:cNvSpPr/>
          <p:nvPr/>
        </p:nvSpPr>
        <p:spPr>
          <a:xfrm>
            <a:off x="640080" y="4937760"/>
            <a:ext cx="4846320" cy="1417320"/>
          </a:xfrm>
          <a:prstGeom prst="roundRect">
            <a:avLst>
              <a:gd name="adj" fmla="val 5161"/>
            </a:avLst>
          </a:prstGeom>
          <a:solidFill>
            <a:srgbClr val="07293F"/>
          </a:solidFill>
          <a:ln/>
        </p:spPr>
        <p:txBody>
          <a:bodyPr/>
          <a:lstStyle/>
          <a:p>
            <a:endParaRPr lang="en-US"/>
          </a:p>
        </p:txBody>
      </p:sp>
      <p:sp>
        <p:nvSpPr>
          <p:cNvPr id="38" name="Text 36"/>
          <p:cNvSpPr txBox="1"/>
          <p:nvPr/>
        </p:nvSpPr>
        <p:spPr>
          <a:xfrm>
            <a:off x="868680" y="5029200"/>
            <a:ext cx="4389120" cy="274320"/>
          </a:xfrm>
          <a:prstGeom prst="rect">
            <a:avLst/>
          </a:prstGeom>
          <a:noFill/>
          <a:ln/>
        </p:spPr>
        <p:txBody>
          <a:bodyPr wrap="square" lIns="0" tIns="0" rIns="0" bIns="0" rtlCol="0" anchor="ctr"/>
          <a:lstStyle/>
          <a:p>
            <a:pPr marL="0" indent="0" algn="l" rtl="0">
              <a:buNone/>
            </a:pPr>
            <a:r>
              <a:rPr lang="en-US" sz="1200" b="1">
                <a:solidFill>
                  <a:srgbClr val="F2A65A"/>
                </a:solidFill>
                <a:latin typeface="Calibri" pitchFamily="34" charset="0"/>
                <a:ea typeface="Calibri" pitchFamily="34" charset="-122"/>
                <a:cs typeface="Calibri" pitchFamily="34" charset="-120"/>
              </a:rPr>
              <a:t>Example JSON response:</a:t>
            </a:r>
            <a:endParaRPr lang="en-US" sz="1200"/>
          </a:p>
        </p:txBody>
      </p:sp>
      <p:sp>
        <p:nvSpPr>
          <p:cNvPr id="39" name="Text 37"/>
          <p:cNvSpPr txBox="1"/>
          <p:nvPr/>
        </p:nvSpPr>
        <p:spPr>
          <a:xfrm>
            <a:off x="868680" y="5349240"/>
            <a:ext cx="4389120" cy="822960"/>
          </a:xfrm>
          <a:prstGeom prst="rect">
            <a:avLst/>
          </a:prstGeom>
          <a:noFill/>
          <a:ln/>
        </p:spPr>
        <p:txBody>
          <a:bodyPr wrap="square" lIns="0" tIns="0" rIns="0" bIns="0" rtlCol="0" anchor="t"/>
          <a:lstStyle/>
          <a:p>
            <a:pPr marL="0" indent="0" algn="l">
              <a:buNone/>
            </a:pPr>
            <a:r>
              <a:rPr lang="en-US" sz="1150">
                <a:solidFill>
                  <a:srgbClr val="E7F1F6"/>
                </a:solidFill>
                <a:latin typeface="Courier New" pitchFamily="34" charset="0"/>
                <a:ea typeface="Courier New" pitchFamily="34" charset="-122"/>
                <a:cs typeface="Courier New" pitchFamily="34" charset="-120"/>
              </a:rPr>
              <a:t>{ "id": 10, "name": "Laptop", "price": 3500 }</a:t>
            </a:r>
            <a:endParaRPr lang="en-US" sz="1150"/>
          </a:p>
        </p:txBody>
      </p:sp>
      <p:sp>
        <p:nvSpPr>
          <p:cNvPr id="40" name="سهم: لليمين 39">
            <a:extLst>
              <a:ext uri="{FF2B5EF4-FFF2-40B4-BE49-F238E27FC236}">
                <a16:creationId xmlns:a16="http://schemas.microsoft.com/office/drawing/2014/main" id="{F220E8A1-EED4-D2D6-21E8-6ABF3347BB86}"/>
              </a:ext>
            </a:extLst>
          </p:cNvPr>
          <p:cNvSpPr/>
          <p:nvPr/>
        </p:nvSpPr>
        <p:spPr>
          <a:xfrm>
            <a:off x="2599548" y="2382181"/>
            <a:ext cx="313267" cy="2905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سهم: لليمين 40">
            <a:extLst>
              <a:ext uri="{FF2B5EF4-FFF2-40B4-BE49-F238E27FC236}">
                <a16:creationId xmlns:a16="http://schemas.microsoft.com/office/drawing/2014/main" id="{984AACA4-10AE-0C8C-68AC-2FBA424684B8}"/>
              </a:ext>
            </a:extLst>
          </p:cNvPr>
          <p:cNvSpPr/>
          <p:nvPr/>
        </p:nvSpPr>
        <p:spPr>
          <a:xfrm>
            <a:off x="4807458" y="2369100"/>
            <a:ext cx="326898" cy="3167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سهم: لليمين 41">
            <a:extLst>
              <a:ext uri="{FF2B5EF4-FFF2-40B4-BE49-F238E27FC236}">
                <a16:creationId xmlns:a16="http://schemas.microsoft.com/office/drawing/2014/main" id="{FD12C7E1-5D55-F65E-310E-19C53FDD8351}"/>
              </a:ext>
            </a:extLst>
          </p:cNvPr>
          <p:cNvSpPr/>
          <p:nvPr/>
        </p:nvSpPr>
        <p:spPr>
          <a:xfrm>
            <a:off x="7093824" y="2390563"/>
            <a:ext cx="308822" cy="2971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سهم: لليمين 42">
            <a:extLst>
              <a:ext uri="{FF2B5EF4-FFF2-40B4-BE49-F238E27FC236}">
                <a16:creationId xmlns:a16="http://schemas.microsoft.com/office/drawing/2014/main" id="{9EDFA4D6-0EC0-9872-E9C2-773B13F16118}"/>
              </a:ext>
            </a:extLst>
          </p:cNvPr>
          <p:cNvSpPr/>
          <p:nvPr/>
        </p:nvSpPr>
        <p:spPr>
          <a:xfrm>
            <a:off x="9340962" y="2363893"/>
            <a:ext cx="287670" cy="3166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سهم: لليمين 43">
            <a:extLst>
              <a:ext uri="{FF2B5EF4-FFF2-40B4-BE49-F238E27FC236}">
                <a16:creationId xmlns:a16="http://schemas.microsoft.com/office/drawing/2014/main" id="{1F0DC2DA-8EFC-6092-7F18-282BADBF5184}"/>
              </a:ext>
            </a:extLst>
          </p:cNvPr>
          <p:cNvSpPr/>
          <p:nvPr/>
        </p:nvSpPr>
        <p:spPr>
          <a:xfrm>
            <a:off x="4846686" y="3546348"/>
            <a:ext cx="28767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سهم: لليمين 44">
            <a:extLst>
              <a:ext uri="{FF2B5EF4-FFF2-40B4-BE49-F238E27FC236}">
                <a16:creationId xmlns:a16="http://schemas.microsoft.com/office/drawing/2014/main" id="{0DA02EF1-9339-3F47-A531-466D6C0EF014}"/>
              </a:ext>
            </a:extLst>
          </p:cNvPr>
          <p:cNvSpPr/>
          <p:nvPr/>
        </p:nvSpPr>
        <p:spPr>
          <a:xfrm>
            <a:off x="2599351" y="3579876"/>
            <a:ext cx="287867" cy="3322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سهم: لليمين 45">
            <a:extLst>
              <a:ext uri="{FF2B5EF4-FFF2-40B4-BE49-F238E27FC236}">
                <a16:creationId xmlns:a16="http://schemas.microsoft.com/office/drawing/2014/main" id="{D7646A72-8BEB-D7EF-F467-854651E70384}"/>
              </a:ext>
            </a:extLst>
          </p:cNvPr>
          <p:cNvSpPr/>
          <p:nvPr/>
        </p:nvSpPr>
        <p:spPr>
          <a:xfrm>
            <a:off x="7093824" y="3546348"/>
            <a:ext cx="279400"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سهم: لليمين 46">
            <a:extLst>
              <a:ext uri="{FF2B5EF4-FFF2-40B4-BE49-F238E27FC236}">
                <a16:creationId xmlns:a16="http://schemas.microsoft.com/office/drawing/2014/main" id="{7A08EFAB-EFA2-92AB-7CD4-5ABE39066DA9}"/>
              </a:ext>
            </a:extLst>
          </p:cNvPr>
          <p:cNvSpPr/>
          <p:nvPr/>
        </p:nvSpPr>
        <p:spPr>
          <a:xfrm>
            <a:off x="9366165" y="3579876"/>
            <a:ext cx="262467" cy="3522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Key Characteristics of REST:</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10</a:t>
            </a:r>
            <a:endParaRPr lang="en-US" sz="1100"/>
          </a:p>
        </p:txBody>
      </p:sp>
      <p:sp>
        <p:nvSpPr>
          <p:cNvPr id="6" name="Shape 4"/>
          <p:cNvSpPr/>
          <p:nvPr/>
        </p:nvSpPr>
        <p:spPr>
          <a:xfrm>
            <a:off x="640080" y="1920240"/>
            <a:ext cx="5225796" cy="1783080"/>
          </a:xfrm>
          <a:prstGeom prst="roundRect">
            <a:avLst>
              <a:gd name="adj" fmla="val 4103"/>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5180076" y="2148840"/>
            <a:ext cx="457200" cy="457200"/>
          </a:xfrm>
          <a:prstGeom prst="ellipse">
            <a:avLst/>
          </a:prstGeom>
          <a:solidFill>
            <a:srgbClr val="0B3D5C"/>
          </a:solidFill>
          <a:ln/>
        </p:spPr>
        <p:txBody>
          <a:bodyPr/>
          <a:lstStyle/>
          <a:p>
            <a:endParaRPr lang="en-US"/>
          </a:p>
        </p:txBody>
      </p:sp>
      <p:pic>
        <p:nvPicPr>
          <p:cNvPr id="8" name="Image 0" descr="/home/claude/work/icon_times_white.png"/>
          <p:cNvPicPr>
            <a:picLocks noChangeAspect="1"/>
          </p:cNvPicPr>
          <p:nvPr/>
        </p:nvPicPr>
        <p:blipFill>
          <a:blip r:embed="rId3"/>
          <a:stretch>
            <a:fillRect/>
          </a:stretch>
        </p:blipFill>
        <p:spPr>
          <a:xfrm>
            <a:off x="5289804" y="2258568"/>
            <a:ext cx="237744" cy="237744"/>
          </a:xfrm>
          <a:prstGeom prst="rect">
            <a:avLst/>
          </a:prstGeom>
        </p:spPr>
      </p:pic>
      <p:sp>
        <p:nvSpPr>
          <p:cNvPr id="9" name="Text 6"/>
          <p:cNvSpPr txBox="1"/>
          <p:nvPr/>
        </p:nvSpPr>
        <p:spPr>
          <a:xfrm>
            <a:off x="822960" y="2148840"/>
            <a:ext cx="4265676" cy="365760"/>
          </a:xfrm>
          <a:prstGeom prst="rect">
            <a:avLst/>
          </a:prstGeom>
          <a:noFill/>
          <a:ln/>
        </p:spPr>
        <p:txBody>
          <a:bodyPr wrap="square" lIns="0" tIns="0" rIns="0" bIns="0" rtlCol="0" anchor="ctr"/>
          <a:lstStyle/>
          <a:p>
            <a:pPr marL="0" indent="0" algn="l" rtl="0">
              <a:buNone/>
            </a:pPr>
            <a:r>
              <a:rPr lang="en-US" sz="1500" b="1">
                <a:solidFill>
                  <a:srgbClr val="0B3D5C"/>
                </a:solidFill>
                <a:latin typeface="Calibri" pitchFamily="34" charset="0"/>
                <a:ea typeface="Calibri" pitchFamily="34" charset="-122"/>
                <a:cs typeface="Calibri" pitchFamily="34" charset="-120"/>
              </a:rPr>
              <a:t>Stateless</a:t>
            </a:r>
            <a:endParaRPr lang="en-US" sz="1500"/>
          </a:p>
        </p:txBody>
      </p:sp>
      <p:sp>
        <p:nvSpPr>
          <p:cNvPr id="10" name="Text 7"/>
          <p:cNvSpPr txBox="1"/>
          <p:nvPr/>
        </p:nvSpPr>
        <p:spPr>
          <a:xfrm>
            <a:off x="822960" y="2697480"/>
            <a:ext cx="4860036" cy="914400"/>
          </a:xfrm>
          <a:prstGeom prst="rect">
            <a:avLst/>
          </a:prstGeom>
          <a:noFill/>
          <a:ln/>
        </p:spPr>
        <p:txBody>
          <a:bodyPr wrap="square" lIns="0" tIns="0" rIns="0" bIns="0" rtlCol="0" anchor="t"/>
          <a:lstStyle/>
          <a:p>
            <a:pPr marL="0" indent="0" algn="l" rtl="0">
              <a:buNone/>
            </a:pPr>
            <a:r>
              <a:rPr lang="en-US" sz="1200">
                <a:solidFill>
                  <a:srgbClr val="5B7C8D"/>
                </a:solidFill>
                <a:latin typeface="Calibri" pitchFamily="34" charset="0"/>
                <a:ea typeface="Calibri" pitchFamily="34" charset="-122"/>
                <a:cs typeface="Calibri" pitchFamily="34" charset="-120"/>
              </a:rPr>
              <a:t>Every Request must contain the information needed to process it; REST does not rely on storing client state between requests.</a:t>
            </a:r>
            <a:endParaRPr lang="en-US" sz="1200"/>
          </a:p>
        </p:txBody>
      </p:sp>
      <p:sp>
        <p:nvSpPr>
          <p:cNvPr id="11" name="Shape 8"/>
          <p:cNvSpPr/>
          <p:nvPr/>
        </p:nvSpPr>
        <p:spPr>
          <a:xfrm>
            <a:off x="6323076" y="1920240"/>
            <a:ext cx="5225796" cy="1783080"/>
          </a:xfrm>
          <a:prstGeom prst="roundRect">
            <a:avLst>
              <a:gd name="adj" fmla="val 4103"/>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2" name="Shape 9"/>
          <p:cNvSpPr/>
          <p:nvPr/>
        </p:nvSpPr>
        <p:spPr>
          <a:xfrm>
            <a:off x="10863072" y="2148840"/>
            <a:ext cx="457200" cy="457200"/>
          </a:xfrm>
          <a:prstGeom prst="ellipse">
            <a:avLst/>
          </a:prstGeom>
          <a:solidFill>
            <a:srgbClr val="0B3D5C"/>
          </a:solidFill>
          <a:ln/>
        </p:spPr>
        <p:txBody>
          <a:bodyPr/>
          <a:lstStyle/>
          <a:p>
            <a:endParaRPr lang="en-US"/>
          </a:p>
        </p:txBody>
      </p:sp>
      <p:pic>
        <p:nvPicPr>
          <p:cNvPr id="13" name="Image 1" descr="/home/claude/work/icon_database_white.png"/>
          <p:cNvPicPr>
            <a:picLocks noChangeAspect="1"/>
          </p:cNvPicPr>
          <p:nvPr/>
        </p:nvPicPr>
        <p:blipFill>
          <a:blip r:embed="rId4"/>
          <a:stretch>
            <a:fillRect/>
          </a:stretch>
        </p:blipFill>
        <p:spPr>
          <a:xfrm>
            <a:off x="10972800" y="2258568"/>
            <a:ext cx="237744" cy="237744"/>
          </a:xfrm>
          <a:prstGeom prst="rect">
            <a:avLst/>
          </a:prstGeom>
        </p:spPr>
      </p:pic>
      <p:sp>
        <p:nvSpPr>
          <p:cNvPr id="14" name="Text 10"/>
          <p:cNvSpPr txBox="1"/>
          <p:nvPr/>
        </p:nvSpPr>
        <p:spPr>
          <a:xfrm>
            <a:off x="6505956" y="2148840"/>
            <a:ext cx="4265676" cy="365760"/>
          </a:xfrm>
          <a:prstGeom prst="rect">
            <a:avLst/>
          </a:prstGeom>
          <a:noFill/>
          <a:ln/>
        </p:spPr>
        <p:txBody>
          <a:bodyPr wrap="square" lIns="0" tIns="0" rIns="0" bIns="0" rtlCol="0" anchor="ctr"/>
          <a:lstStyle/>
          <a:p>
            <a:pPr marL="0" indent="0" algn="l" rtl="0">
              <a:buNone/>
            </a:pPr>
            <a:r>
              <a:rPr lang="en-US" sz="1500" b="1">
                <a:solidFill>
                  <a:srgbClr val="0B3D5C"/>
                </a:solidFill>
                <a:latin typeface="Calibri" pitchFamily="34" charset="0"/>
                <a:ea typeface="Calibri" pitchFamily="34" charset="-122"/>
                <a:cs typeface="Calibri" pitchFamily="34" charset="-120"/>
              </a:rPr>
              <a:t>Resource-Based</a:t>
            </a:r>
            <a:endParaRPr lang="en-US" sz="1500"/>
          </a:p>
        </p:txBody>
      </p:sp>
      <p:sp>
        <p:nvSpPr>
          <p:cNvPr id="15" name="Text 11"/>
          <p:cNvSpPr txBox="1"/>
          <p:nvPr/>
        </p:nvSpPr>
        <p:spPr>
          <a:xfrm>
            <a:off x="6505956" y="2697480"/>
            <a:ext cx="4860036" cy="914400"/>
          </a:xfrm>
          <a:prstGeom prst="rect">
            <a:avLst/>
          </a:prstGeom>
          <a:noFill/>
          <a:ln/>
        </p:spPr>
        <p:txBody>
          <a:bodyPr wrap="square" lIns="0" tIns="0" rIns="0" bIns="0" rtlCol="0" anchor="t"/>
          <a:lstStyle/>
          <a:p>
            <a:pPr marL="0" indent="0" algn="l" rtl="0">
              <a:buNone/>
            </a:pPr>
            <a:r>
              <a:rPr lang="en-US" sz="1200">
                <a:solidFill>
                  <a:srgbClr val="5B7C8D"/>
                </a:solidFill>
                <a:latin typeface="Calibri" pitchFamily="34" charset="0"/>
                <a:ea typeface="Calibri" pitchFamily="34" charset="-122"/>
                <a:cs typeface="Calibri" pitchFamily="34" charset="-120"/>
              </a:rPr>
              <a:t>REST treats data as resources, such as: Users, Products, Orders, Payments.</a:t>
            </a:r>
            <a:endParaRPr lang="en-US" sz="1200"/>
          </a:p>
        </p:txBody>
      </p:sp>
      <p:sp>
        <p:nvSpPr>
          <p:cNvPr id="16" name="Shape 12"/>
          <p:cNvSpPr/>
          <p:nvPr/>
        </p:nvSpPr>
        <p:spPr>
          <a:xfrm>
            <a:off x="640080" y="3931920"/>
            <a:ext cx="5225796" cy="1783080"/>
          </a:xfrm>
          <a:prstGeom prst="roundRect">
            <a:avLst>
              <a:gd name="adj" fmla="val 4103"/>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7" name="Shape 13"/>
          <p:cNvSpPr/>
          <p:nvPr/>
        </p:nvSpPr>
        <p:spPr>
          <a:xfrm>
            <a:off x="5180076" y="4160520"/>
            <a:ext cx="457200" cy="457200"/>
          </a:xfrm>
          <a:prstGeom prst="ellipse">
            <a:avLst/>
          </a:prstGeom>
          <a:solidFill>
            <a:srgbClr val="0B3D5C"/>
          </a:solidFill>
          <a:ln/>
        </p:spPr>
        <p:txBody>
          <a:bodyPr/>
          <a:lstStyle/>
          <a:p>
            <a:endParaRPr lang="en-US"/>
          </a:p>
        </p:txBody>
      </p:sp>
      <p:pic>
        <p:nvPicPr>
          <p:cNvPr id="18" name="Image 2" descr="/home/claude/work/icon_network_white.png"/>
          <p:cNvPicPr>
            <a:picLocks noChangeAspect="1"/>
          </p:cNvPicPr>
          <p:nvPr/>
        </p:nvPicPr>
        <p:blipFill>
          <a:blip r:embed="rId5"/>
          <a:stretch>
            <a:fillRect/>
          </a:stretch>
        </p:blipFill>
        <p:spPr>
          <a:xfrm>
            <a:off x="5289804" y="4270248"/>
            <a:ext cx="237744" cy="237744"/>
          </a:xfrm>
          <a:prstGeom prst="rect">
            <a:avLst/>
          </a:prstGeom>
        </p:spPr>
      </p:pic>
      <p:sp>
        <p:nvSpPr>
          <p:cNvPr id="19" name="Text 14"/>
          <p:cNvSpPr txBox="1"/>
          <p:nvPr/>
        </p:nvSpPr>
        <p:spPr>
          <a:xfrm>
            <a:off x="822960" y="4160520"/>
            <a:ext cx="4265676" cy="365760"/>
          </a:xfrm>
          <a:prstGeom prst="rect">
            <a:avLst/>
          </a:prstGeom>
          <a:noFill/>
          <a:ln/>
        </p:spPr>
        <p:txBody>
          <a:bodyPr wrap="square" lIns="0" tIns="0" rIns="0" bIns="0" rtlCol="0" anchor="ctr"/>
          <a:lstStyle/>
          <a:p>
            <a:pPr marL="0" indent="0" algn="l" rtl="0">
              <a:buNone/>
            </a:pPr>
            <a:r>
              <a:rPr lang="en-US" sz="1500" b="1">
                <a:solidFill>
                  <a:srgbClr val="0B3D5C"/>
                </a:solidFill>
                <a:latin typeface="Calibri" pitchFamily="34" charset="0"/>
                <a:ea typeface="Calibri" pitchFamily="34" charset="-122"/>
                <a:cs typeface="Calibri" pitchFamily="34" charset="-120"/>
              </a:rPr>
              <a:t>Uses HTTP</a:t>
            </a:r>
            <a:endParaRPr lang="en-US" sz="1500"/>
          </a:p>
        </p:txBody>
      </p:sp>
      <p:sp>
        <p:nvSpPr>
          <p:cNvPr id="20" name="Text 15"/>
          <p:cNvSpPr txBox="1"/>
          <p:nvPr/>
        </p:nvSpPr>
        <p:spPr>
          <a:xfrm>
            <a:off x="822960" y="4709160"/>
            <a:ext cx="4860036" cy="914400"/>
          </a:xfrm>
          <a:prstGeom prst="rect">
            <a:avLst/>
          </a:prstGeom>
          <a:noFill/>
          <a:ln/>
        </p:spPr>
        <p:txBody>
          <a:bodyPr wrap="square" lIns="0" tIns="0" rIns="0" bIns="0" rtlCol="0" anchor="t"/>
          <a:lstStyle/>
          <a:p>
            <a:pPr marL="0" indent="0" algn="l" rtl="0">
              <a:buNone/>
            </a:pPr>
            <a:r>
              <a:rPr lang="en-US" sz="1200">
                <a:solidFill>
                  <a:srgbClr val="5B7C8D"/>
                </a:solidFill>
                <a:latin typeface="Calibri" pitchFamily="34" charset="0"/>
                <a:ea typeface="Calibri" pitchFamily="34" charset="-122"/>
                <a:cs typeface="Calibri" pitchFamily="34" charset="-120"/>
              </a:rPr>
              <a:t>REST uses HTTP's basic operations, such as: GET, POST, PUT, DELETE.</a:t>
            </a:r>
            <a:endParaRPr lang="en-US" sz="1200"/>
          </a:p>
        </p:txBody>
      </p:sp>
      <p:sp>
        <p:nvSpPr>
          <p:cNvPr id="21" name="Shape 16"/>
          <p:cNvSpPr/>
          <p:nvPr/>
        </p:nvSpPr>
        <p:spPr>
          <a:xfrm>
            <a:off x="6323076" y="3931920"/>
            <a:ext cx="5225796" cy="1783080"/>
          </a:xfrm>
          <a:prstGeom prst="roundRect">
            <a:avLst>
              <a:gd name="adj" fmla="val 4103"/>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22" name="Shape 17"/>
          <p:cNvSpPr/>
          <p:nvPr/>
        </p:nvSpPr>
        <p:spPr>
          <a:xfrm>
            <a:off x="10863072" y="4160520"/>
            <a:ext cx="457200" cy="457200"/>
          </a:xfrm>
          <a:prstGeom prst="ellipse">
            <a:avLst/>
          </a:prstGeom>
          <a:solidFill>
            <a:srgbClr val="0B3D5C"/>
          </a:solidFill>
          <a:ln/>
        </p:spPr>
        <p:txBody>
          <a:bodyPr/>
          <a:lstStyle/>
          <a:p>
            <a:endParaRPr lang="en-US"/>
          </a:p>
        </p:txBody>
      </p:sp>
      <p:pic>
        <p:nvPicPr>
          <p:cNvPr id="23" name="Image 3" descr="/home/claude/work/icon_expand_white.png"/>
          <p:cNvPicPr>
            <a:picLocks noChangeAspect="1"/>
          </p:cNvPicPr>
          <p:nvPr/>
        </p:nvPicPr>
        <p:blipFill>
          <a:blip r:embed="rId6"/>
          <a:stretch>
            <a:fillRect/>
          </a:stretch>
        </p:blipFill>
        <p:spPr>
          <a:xfrm>
            <a:off x="10972800" y="4270248"/>
            <a:ext cx="237744" cy="237744"/>
          </a:xfrm>
          <a:prstGeom prst="rect">
            <a:avLst/>
          </a:prstGeom>
        </p:spPr>
      </p:pic>
      <p:sp>
        <p:nvSpPr>
          <p:cNvPr id="24" name="Text 18"/>
          <p:cNvSpPr txBox="1"/>
          <p:nvPr/>
        </p:nvSpPr>
        <p:spPr>
          <a:xfrm>
            <a:off x="6505956" y="4160520"/>
            <a:ext cx="4265676" cy="365760"/>
          </a:xfrm>
          <a:prstGeom prst="rect">
            <a:avLst/>
          </a:prstGeom>
          <a:noFill/>
          <a:ln/>
        </p:spPr>
        <p:txBody>
          <a:bodyPr wrap="square" lIns="0" tIns="0" rIns="0" bIns="0" rtlCol="0" anchor="ctr"/>
          <a:lstStyle/>
          <a:p>
            <a:pPr marL="0" indent="0" algn="l" rtl="0">
              <a:buNone/>
            </a:pPr>
            <a:r>
              <a:rPr lang="en-US" sz="1500" b="1">
                <a:solidFill>
                  <a:srgbClr val="0B3D5C"/>
                </a:solidFill>
                <a:latin typeface="Calibri" pitchFamily="34" charset="0"/>
                <a:ea typeface="Calibri" pitchFamily="34" charset="-122"/>
                <a:cs typeface="Calibri" pitchFamily="34" charset="-120"/>
              </a:rPr>
              <a:t>Scalability</a:t>
            </a:r>
            <a:endParaRPr lang="en-US" sz="1500"/>
          </a:p>
        </p:txBody>
      </p:sp>
      <p:sp>
        <p:nvSpPr>
          <p:cNvPr id="25" name="Text 19"/>
          <p:cNvSpPr txBox="1"/>
          <p:nvPr/>
        </p:nvSpPr>
        <p:spPr>
          <a:xfrm>
            <a:off x="6505956" y="4709160"/>
            <a:ext cx="4860036" cy="914400"/>
          </a:xfrm>
          <a:prstGeom prst="rect">
            <a:avLst/>
          </a:prstGeom>
          <a:noFill/>
          <a:ln/>
        </p:spPr>
        <p:txBody>
          <a:bodyPr wrap="square" lIns="0" tIns="0" rIns="0" bIns="0" rtlCol="0" anchor="t"/>
          <a:lstStyle/>
          <a:p>
            <a:pPr marL="0" indent="0" algn="l" rtl="0">
              <a:buNone/>
            </a:pPr>
            <a:r>
              <a:rPr lang="en-US" sz="1200">
                <a:solidFill>
                  <a:srgbClr val="5B7C8D"/>
                </a:solidFill>
                <a:latin typeface="Calibri" pitchFamily="34" charset="0"/>
                <a:ea typeface="Calibri" pitchFamily="34" charset="-122"/>
                <a:cs typeface="Calibri" pitchFamily="34" charset="-120"/>
              </a:rPr>
              <a:t>Statelessness helps build systems that can scale and handle a large number of requests.</a:t>
            </a:r>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Advantages and Disadvantages of REST:</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11</a:t>
            </a:r>
            <a:endParaRPr lang="en-US" sz="1100"/>
          </a:p>
        </p:txBody>
      </p:sp>
      <p:sp>
        <p:nvSpPr>
          <p:cNvPr id="6" name="Shape 4"/>
          <p:cNvSpPr/>
          <p:nvPr/>
        </p:nvSpPr>
        <p:spPr>
          <a:xfrm>
            <a:off x="640080"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868680" y="2103120"/>
            <a:ext cx="411480" cy="411480"/>
          </a:xfrm>
          <a:prstGeom prst="ellipse">
            <a:avLst/>
          </a:prstGeom>
          <a:solidFill>
            <a:srgbClr val="1E7D4C"/>
          </a:solidFill>
          <a:ln/>
        </p:spPr>
        <p:txBody>
          <a:bodyPr/>
          <a:lstStyle/>
          <a:p>
            <a:endParaRPr lang="en-US"/>
          </a:p>
        </p:txBody>
      </p:sp>
      <p:pic>
        <p:nvPicPr>
          <p:cNvPr id="8" name="Image 0" descr="/home/claude/work/icon_check_white.png"/>
          <p:cNvPicPr>
            <a:picLocks noChangeAspect="1"/>
          </p:cNvPicPr>
          <p:nvPr/>
        </p:nvPicPr>
        <p:blipFill>
          <a:blip r:embed="rId3"/>
          <a:stretch>
            <a:fillRect/>
          </a:stretch>
        </p:blipFill>
        <p:spPr>
          <a:xfrm>
            <a:off x="967435" y="2201875"/>
            <a:ext cx="213970" cy="213970"/>
          </a:xfrm>
          <a:prstGeom prst="rect">
            <a:avLst/>
          </a:prstGeom>
        </p:spPr>
      </p:pic>
      <p:sp>
        <p:nvSpPr>
          <p:cNvPr id="9" name="Text 6"/>
          <p:cNvSpPr txBox="1"/>
          <p:nvPr/>
        </p:nvSpPr>
        <p:spPr>
          <a:xfrm>
            <a:off x="1417320" y="2121408"/>
            <a:ext cx="4311396" cy="365760"/>
          </a:xfrm>
          <a:prstGeom prst="rect">
            <a:avLst/>
          </a:prstGeom>
          <a:noFill/>
          <a:ln/>
        </p:spPr>
        <p:txBody>
          <a:bodyPr wrap="square" lIns="0" tIns="0" rIns="0" bIns="0" rtlCol="0" anchor="ctr"/>
          <a:lstStyle/>
          <a:p>
            <a:pPr marL="0" indent="0" algn="l" rtl="0">
              <a:buNone/>
            </a:pPr>
            <a:r>
              <a:rPr lang="en-US" sz="1700" b="1">
                <a:solidFill>
                  <a:srgbClr val="1E7D4C"/>
                </a:solidFill>
                <a:latin typeface="Calibri" pitchFamily="34" charset="0"/>
                <a:ea typeface="Calibri" pitchFamily="34" charset="-122"/>
                <a:cs typeface="Calibri" pitchFamily="34" charset="-120"/>
              </a:rPr>
              <a:t>Advantages:</a:t>
            </a:r>
            <a:endParaRPr lang="en-US" sz="1700"/>
          </a:p>
        </p:txBody>
      </p:sp>
      <p:sp>
        <p:nvSpPr>
          <p:cNvPr id="10" name="Text 7"/>
          <p:cNvSpPr txBox="1"/>
          <p:nvPr/>
        </p:nvSpPr>
        <p:spPr>
          <a:xfrm>
            <a:off x="868680" y="26974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Easy to understand and learn</a:t>
            </a:r>
            <a:endParaRPr lang="en-US" sz="1250"/>
          </a:p>
        </p:txBody>
      </p:sp>
      <p:sp>
        <p:nvSpPr>
          <p:cNvPr id="11" name="Text 8"/>
          <p:cNvSpPr txBox="1"/>
          <p:nvPr/>
        </p:nvSpPr>
        <p:spPr>
          <a:xfrm>
            <a:off x="868680" y="320040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Direct use of HTTP</a:t>
            </a:r>
            <a:endParaRPr lang="en-US" sz="1250"/>
          </a:p>
        </p:txBody>
      </p:sp>
      <p:sp>
        <p:nvSpPr>
          <p:cNvPr id="12" name="Text 9"/>
          <p:cNvSpPr txBox="1"/>
          <p:nvPr/>
        </p:nvSpPr>
        <p:spPr>
          <a:xfrm>
            <a:off x="868680" y="370332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Easy integration with web and mobile apps</a:t>
            </a:r>
            <a:endParaRPr lang="en-US" sz="1250"/>
          </a:p>
        </p:txBody>
      </p:sp>
      <p:sp>
        <p:nvSpPr>
          <p:cNvPr id="13" name="Text 10"/>
          <p:cNvSpPr txBox="1"/>
          <p:nvPr/>
        </p:nvSpPr>
        <p:spPr>
          <a:xfrm>
            <a:off x="868680" y="420624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Wide support from programming languages and tools</a:t>
            </a:r>
            <a:endParaRPr lang="en-US" sz="1250"/>
          </a:p>
        </p:txBody>
      </p:sp>
      <p:sp>
        <p:nvSpPr>
          <p:cNvPr id="14" name="Text 11"/>
          <p:cNvSpPr txBox="1"/>
          <p:nvPr/>
        </p:nvSpPr>
        <p:spPr>
          <a:xfrm>
            <a:off x="868680" y="470916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Easy to test with tools like Postman</a:t>
            </a:r>
            <a:endParaRPr lang="en-US" sz="1250"/>
          </a:p>
        </p:txBody>
      </p:sp>
      <p:sp>
        <p:nvSpPr>
          <p:cNvPr id="15" name="Text 12"/>
          <p:cNvSpPr txBox="1"/>
          <p:nvPr/>
        </p:nvSpPr>
        <p:spPr>
          <a:xfrm>
            <a:off x="868680" y="52120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Good scalability</a:t>
            </a:r>
            <a:endParaRPr lang="en-US" sz="1250"/>
          </a:p>
        </p:txBody>
      </p:sp>
      <p:sp>
        <p:nvSpPr>
          <p:cNvPr id="16" name="Shape 13"/>
          <p:cNvSpPr/>
          <p:nvPr/>
        </p:nvSpPr>
        <p:spPr>
          <a:xfrm>
            <a:off x="6323076"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7" name="Shape 14"/>
          <p:cNvSpPr/>
          <p:nvPr/>
        </p:nvSpPr>
        <p:spPr>
          <a:xfrm>
            <a:off x="6551676" y="2103120"/>
            <a:ext cx="411480" cy="411480"/>
          </a:xfrm>
          <a:prstGeom prst="ellipse">
            <a:avLst/>
          </a:prstGeom>
          <a:solidFill>
            <a:srgbClr val="9C3B3B"/>
          </a:solidFill>
          <a:ln/>
        </p:spPr>
        <p:txBody>
          <a:bodyPr/>
          <a:lstStyle/>
          <a:p>
            <a:endParaRPr lang="en-US"/>
          </a:p>
        </p:txBody>
      </p:sp>
      <p:pic>
        <p:nvPicPr>
          <p:cNvPr id="18" name="Image 1" descr="/home/claude/work/icon_times_white.png"/>
          <p:cNvPicPr>
            <a:picLocks noChangeAspect="1"/>
          </p:cNvPicPr>
          <p:nvPr/>
        </p:nvPicPr>
        <p:blipFill>
          <a:blip r:embed="rId4"/>
          <a:stretch>
            <a:fillRect/>
          </a:stretch>
        </p:blipFill>
        <p:spPr>
          <a:xfrm>
            <a:off x="6650431" y="2201875"/>
            <a:ext cx="213970" cy="213970"/>
          </a:xfrm>
          <a:prstGeom prst="rect">
            <a:avLst/>
          </a:prstGeom>
        </p:spPr>
      </p:pic>
      <p:sp>
        <p:nvSpPr>
          <p:cNvPr id="19" name="Text 15"/>
          <p:cNvSpPr txBox="1"/>
          <p:nvPr/>
        </p:nvSpPr>
        <p:spPr>
          <a:xfrm>
            <a:off x="7100316" y="2121408"/>
            <a:ext cx="4311396" cy="365760"/>
          </a:xfrm>
          <a:prstGeom prst="rect">
            <a:avLst/>
          </a:prstGeom>
          <a:noFill/>
          <a:ln/>
        </p:spPr>
        <p:txBody>
          <a:bodyPr wrap="square" lIns="0" tIns="0" rIns="0" bIns="0" rtlCol="0" anchor="ctr"/>
          <a:lstStyle/>
          <a:p>
            <a:pPr marL="0" indent="0" algn="l" rtl="0">
              <a:buNone/>
            </a:pPr>
            <a:r>
              <a:rPr lang="en-US" sz="1700" b="1">
                <a:solidFill>
                  <a:srgbClr val="9C3B3B"/>
                </a:solidFill>
                <a:latin typeface="Calibri" pitchFamily="34" charset="0"/>
                <a:ea typeface="Calibri" pitchFamily="34" charset="-122"/>
                <a:cs typeface="Calibri" pitchFamily="34" charset="-120"/>
              </a:rPr>
              <a:t>Disadvantages:</a:t>
            </a:r>
            <a:endParaRPr lang="en-US" sz="1700"/>
          </a:p>
        </p:txBody>
      </p:sp>
      <p:sp>
        <p:nvSpPr>
          <p:cNvPr id="20" name="Text 16"/>
          <p:cNvSpPr txBox="1"/>
          <p:nvPr/>
        </p:nvSpPr>
        <p:spPr>
          <a:xfrm>
            <a:off x="6551676" y="2697480"/>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Over-fetching: more data than needed</a:t>
            </a:r>
            <a:endParaRPr lang="en-US" sz="1250"/>
          </a:p>
        </p:txBody>
      </p:sp>
      <p:sp>
        <p:nvSpPr>
          <p:cNvPr id="21" name="Text 17"/>
          <p:cNvSpPr txBox="1"/>
          <p:nvPr/>
        </p:nvSpPr>
        <p:spPr>
          <a:xfrm>
            <a:off x="6551676" y="3264408"/>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Under-fetching: multiple requests for different resources</a:t>
            </a:r>
          </a:p>
          <a:p>
            <a:pPr>
              <a:buSzPct val="100000"/>
            </a:pPr>
            <a:r>
              <a:rPr lang="en-US" sz="1250">
                <a:solidFill>
                  <a:srgbClr val="16324A"/>
                </a:solidFill>
                <a:latin typeface="Calibri" pitchFamily="34" charset="0"/>
                <a:ea typeface="Calibri" pitchFamily="34" charset="-122"/>
                <a:cs typeface="Calibri" pitchFamily="34" charset="-120"/>
              </a:rPr>
              <a:t>      You need several requests to assemble one screen (for example, user, then their posts, then each post's comments</a:t>
            </a:r>
          </a:p>
        </p:txBody>
      </p:sp>
      <p:sp>
        <p:nvSpPr>
          <p:cNvPr id="22" name="Text 18"/>
          <p:cNvSpPr txBox="1"/>
          <p:nvPr/>
        </p:nvSpPr>
        <p:spPr>
          <a:xfrm>
            <a:off x="6551676" y="3916392"/>
            <a:ext cx="4768596" cy="445296"/>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Many endpoints in large systems</a:t>
            </a:r>
            <a:endParaRPr lang="en-US" sz="1250"/>
          </a:p>
        </p:txBody>
      </p:sp>
      <p:sp>
        <p:nvSpPr>
          <p:cNvPr id="23" name="Text 19"/>
          <p:cNvSpPr txBox="1"/>
          <p:nvPr/>
        </p:nvSpPr>
        <p:spPr>
          <a:xfrm>
            <a:off x="6551676" y="4427076"/>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Limited flexibility for the client in choosing data</a:t>
            </a:r>
            <a:endParaRPr lang="en-US" sz="12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a:extLst>
            <a:ext uri="{FF2B5EF4-FFF2-40B4-BE49-F238E27FC236}">
              <a16:creationId xmlns:a16="http://schemas.microsoft.com/office/drawing/2014/main" id="{7A551E7B-E164-3728-BDA9-E812520366E2}"/>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FDAB86E-EDCE-A1E7-5BF0-92BE3A22E0E3}"/>
              </a:ext>
            </a:extLst>
          </p:cNvPr>
          <p:cNvPicPr>
            <a:picLocks noChangeAspect="1"/>
          </p:cNvPicPr>
          <p:nvPr/>
        </p:nvPicPr>
        <p:blipFill>
          <a:blip r:embed="rId3"/>
          <a:stretch>
            <a:fillRect/>
          </a:stretch>
        </p:blipFill>
        <p:spPr>
          <a:xfrm>
            <a:off x="952500" y="0"/>
            <a:ext cx="10287000" cy="6858000"/>
          </a:xfrm>
          <a:prstGeom prst="rect">
            <a:avLst/>
          </a:prstGeom>
        </p:spPr>
      </p:pic>
    </p:spTree>
    <p:extLst>
      <p:ext uri="{BB962C8B-B14F-4D97-AF65-F5344CB8AC3E}">
        <p14:creationId xmlns:p14="http://schemas.microsoft.com/office/powerpoint/2010/main" val="377267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GraphQL?</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12</a:t>
            </a:r>
            <a:endParaRPr lang="en-US" sz="1100"/>
          </a:p>
        </p:txBody>
      </p:sp>
      <p:sp>
        <p:nvSpPr>
          <p:cNvPr id="6" name="Text 4"/>
          <p:cNvSpPr txBox="1"/>
          <p:nvPr/>
        </p:nvSpPr>
        <p:spPr>
          <a:xfrm>
            <a:off x="640080" y="1920240"/>
            <a:ext cx="10908792" cy="64008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GraphQL is a query language and runtime used to build APIs, letting the client specify exactly the data it needs.</a:t>
            </a:r>
            <a:endParaRPr lang="en-US" sz="1600"/>
          </a:p>
        </p:txBody>
      </p:sp>
      <p:sp>
        <p:nvSpPr>
          <p:cNvPr id="7" name="Text 5"/>
          <p:cNvSpPr txBox="1"/>
          <p:nvPr/>
        </p:nvSpPr>
        <p:spPr>
          <a:xfrm>
            <a:off x="640080" y="2606040"/>
            <a:ext cx="10908792" cy="640080"/>
          </a:xfrm>
          <a:prstGeom prst="rect">
            <a:avLst/>
          </a:prstGeom>
          <a:noFill/>
          <a:ln/>
        </p:spPr>
        <p:txBody>
          <a:bodyPr wrap="square" lIns="0" tIns="0" rIns="0" bIns="0" rtlCol="0" anchor="ctr"/>
          <a:lstStyle/>
          <a:p>
            <a:pPr marL="0" indent="0" algn="l" rtl="0">
              <a:lnSpc>
                <a:spcPct val="125000"/>
              </a:lnSpc>
              <a:buNone/>
            </a:pPr>
            <a:r>
              <a:rPr lang="en-US" sz="1400">
                <a:solidFill>
                  <a:srgbClr val="16324A"/>
                </a:solidFill>
                <a:latin typeface="Calibri" pitchFamily="34" charset="0"/>
                <a:ea typeface="Calibri" pitchFamily="34" charset="-122"/>
                <a:cs typeface="Calibri" pitchFamily="34" charset="-120"/>
              </a:rPr>
              <a:t>Instead of the API relying on a large number of endpoints, the client can send a single query that precisely specifies the required data.</a:t>
            </a:r>
            <a:endParaRPr lang="en-US" sz="1400"/>
          </a:p>
        </p:txBody>
      </p:sp>
      <p:sp>
        <p:nvSpPr>
          <p:cNvPr id="8" name="Shape 6"/>
          <p:cNvSpPr/>
          <p:nvPr/>
        </p:nvSpPr>
        <p:spPr>
          <a:xfrm>
            <a:off x="640080" y="3429000"/>
            <a:ext cx="5120640" cy="2468880"/>
          </a:xfrm>
          <a:prstGeom prst="roundRect">
            <a:avLst>
              <a:gd name="adj" fmla="val 2963"/>
            </a:avLst>
          </a:prstGeom>
          <a:solidFill>
            <a:srgbClr val="07293F"/>
          </a:solidFill>
          <a:ln/>
        </p:spPr>
        <p:txBody>
          <a:bodyPr/>
          <a:lstStyle/>
          <a:p>
            <a:endParaRPr lang="en-US"/>
          </a:p>
        </p:txBody>
      </p:sp>
      <p:sp>
        <p:nvSpPr>
          <p:cNvPr id="9" name="Text 7"/>
          <p:cNvSpPr txBox="1"/>
          <p:nvPr/>
        </p:nvSpPr>
        <p:spPr>
          <a:xfrm>
            <a:off x="868680" y="3566160"/>
            <a:ext cx="4572000" cy="274320"/>
          </a:xfrm>
          <a:prstGeom prst="rect">
            <a:avLst/>
          </a:prstGeom>
          <a:noFill/>
          <a:ln/>
        </p:spPr>
        <p:txBody>
          <a:bodyPr wrap="square" lIns="0" tIns="0" rIns="0" bIns="0" rtlCol="0" anchor="ctr"/>
          <a:lstStyle/>
          <a:p>
            <a:pPr marL="0" indent="0" algn="l" rtl="0">
              <a:buNone/>
            </a:pPr>
            <a:r>
              <a:rPr lang="en-US" sz="1200" b="1">
                <a:solidFill>
                  <a:srgbClr val="F2A65A"/>
                </a:solidFill>
                <a:latin typeface="Calibri" pitchFamily="34" charset="0"/>
                <a:ea typeface="Calibri" pitchFamily="34" charset="-122"/>
                <a:cs typeface="Calibri" pitchFamily="34" charset="-120"/>
              </a:rPr>
              <a:t>Example:</a:t>
            </a:r>
            <a:endParaRPr lang="en-US" sz="1200"/>
          </a:p>
        </p:txBody>
      </p:sp>
      <p:sp>
        <p:nvSpPr>
          <p:cNvPr id="10" name="Text 8"/>
          <p:cNvSpPr txBox="1"/>
          <p:nvPr/>
        </p:nvSpPr>
        <p:spPr>
          <a:xfrm>
            <a:off x="868680" y="3886200"/>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query {</a:t>
            </a:r>
            <a:endParaRPr lang="en-US" sz="1250"/>
          </a:p>
        </p:txBody>
      </p:sp>
      <p:sp>
        <p:nvSpPr>
          <p:cNvPr id="11" name="Text 9"/>
          <p:cNvSpPr txBox="1"/>
          <p:nvPr/>
        </p:nvSpPr>
        <p:spPr>
          <a:xfrm>
            <a:off x="868680" y="4178808"/>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  product(id: 10) {</a:t>
            </a:r>
            <a:endParaRPr lang="en-US" sz="1250"/>
          </a:p>
        </p:txBody>
      </p:sp>
      <p:sp>
        <p:nvSpPr>
          <p:cNvPr id="12" name="Text 10"/>
          <p:cNvSpPr txBox="1"/>
          <p:nvPr/>
        </p:nvSpPr>
        <p:spPr>
          <a:xfrm>
            <a:off x="868680" y="4471416"/>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    name</a:t>
            </a:r>
            <a:endParaRPr lang="en-US" sz="1250"/>
          </a:p>
        </p:txBody>
      </p:sp>
      <p:sp>
        <p:nvSpPr>
          <p:cNvPr id="13" name="Text 11"/>
          <p:cNvSpPr txBox="1"/>
          <p:nvPr/>
        </p:nvSpPr>
        <p:spPr>
          <a:xfrm>
            <a:off x="868680" y="4764024"/>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    price</a:t>
            </a:r>
            <a:endParaRPr lang="en-US" sz="1250"/>
          </a:p>
        </p:txBody>
      </p:sp>
      <p:sp>
        <p:nvSpPr>
          <p:cNvPr id="14" name="Text 12"/>
          <p:cNvSpPr txBox="1"/>
          <p:nvPr/>
        </p:nvSpPr>
        <p:spPr>
          <a:xfrm>
            <a:off x="868680" y="5056632"/>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  }</a:t>
            </a:r>
            <a:endParaRPr lang="en-US" sz="1250"/>
          </a:p>
        </p:txBody>
      </p:sp>
      <p:sp>
        <p:nvSpPr>
          <p:cNvPr id="15" name="Text 13"/>
          <p:cNvSpPr txBox="1"/>
          <p:nvPr/>
        </p:nvSpPr>
        <p:spPr>
          <a:xfrm>
            <a:off x="868680" y="5349240"/>
            <a:ext cx="4663440" cy="274320"/>
          </a:xfrm>
          <a:prstGeom prst="rect">
            <a:avLst/>
          </a:prstGeom>
          <a:noFill/>
          <a:ln/>
        </p:spPr>
        <p:txBody>
          <a:bodyPr wrap="square" lIns="0" tIns="0" rIns="0" bIns="0" rtlCol="0" anchor="ctr"/>
          <a:lstStyle/>
          <a:p>
            <a:pPr marL="0" indent="0" algn="l">
              <a:buNone/>
            </a:pPr>
            <a:r>
              <a:rPr lang="en-US" sz="1250">
                <a:solidFill>
                  <a:srgbClr val="E7F1F6"/>
                </a:solidFill>
                <a:latin typeface="Courier New" pitchFamily="34" charset="0"/>
                <a:ea typeface="Courier New" pitchFamily="34" charset="-122"/>
                <a:cs typeface="Courier New" pitchFamily="34" charset="-120"/>
              </a:rPr>
              <a:t>}</a:t>
            </a:r>
            <a:endParaRPr lang="en-US" sz="1250"/>
          </a:p>
        </p:txBody>
      </p:sp>
      <p:sp>
        <p:nvSpPr>
          <p:cNvPr id="16" name="Text 14"/>
          <p:cNvSpPr txBox="1"/>
          <p:nvPr/>
        </p:nvSpPr>
        <p:spPr>
          <a:xfrm>
            <a:off x="5989320" y="3520440"/>
            <a:ext cx="5559552" cy="320040"/>
          </a:xfrm>
          <a:prstGeom prst="rect">
            <a:avLst/>
          </a:prstGeom>
          <a:noFill/>
          <a:ln/>
        </p:spPr>
        <p:txBody>
          <a:bodyPr wrap="square" lIns="0" tIns="0" rIns="0" bIns="0" rtlCol="0" anchor="ctr"/>
          <a:lstStyle/>
          <a:p>
            <a:pPr marL="0" indent="0" algn="l" rtl="0">
              <a:buNone/>
            </a:pPr>
            <a:r>
              <a:rPr lang="en-US" sz="1300" b="1">
                <a:solidFill>
                  <a:srgbClr val="0B3D5C"/>
                </a:solidFill>
                <a:latin typeface="Calibri" pitchFamily="34" charset="0"/>
                <a:ea typeface="Calibri" pitchFamily="34" charset="-122"/>
                <a:cs typeface="Calibri" pitchFamily="34" charset="-120"/>
              </a:rPr>
              <a:t>In this case, the client requests only:</a:t>
            </a:r>
            <a:endParaRPr lang="en-US" sz="1300"/>
          </a:p>
        </p:txBody>
      </p:sp>
      <p:sp>
        <p:nvSpPr>
          <p:cNvPr id="17" name="Shape 15"/>
          <p:cNvSpPr/>
          <p:nvPr/>
        </p:nvSpPr>
        <p:spPr>
          <a:xfrm>
            <a:off x="11219688" y="3931920"/>
            <a:ext cx="329184" cy="329184"/>
          </a:xfrm>
          <a:prstGeom prst="ellipse">
            <a:avLst/>
          </a:prstGeom>
          <a:solidFill>
            <a:srgbClr val="1E7D4C"/>
          </a:solidFill>
          <a:ln/>
        </p:spPr>
        <p:txBody>
          <a:bodyPr/>
          <a:lstStyle/>
          <a:p>
            <a:endParaRPr lang="en-US"/>
          </a:p>
        </p:txBody>
      </p:sp>
      <p:pic>
        <p:nvPicPr>
          <p:cNvPr id="18" name="Image 0" descr="/home/claude/work/icon_check_white.png"/>
          <p:cNvPicPr>
            <a:picLocks noChangeAspect="1"/>
          </p:cNvPicPr>
          <p:nvPr/>
        </p:nvPicPr>
        <p:blipFill>
          <a:blip r:embed="rId3"/>
          <a:stretch>
            <a:fillRect/>
          </a:stretch>
        </p:blipFill>
        <p:spPr>
          <a:xfrm>
            <a:off x="11298692" y="4010924"/>
            <a:ext cx="171176" cy="171176"/>
          </a:xfrm>
          <a:prstGeom prst="rect">
            <a:avLst/>
          </a:prstGeom>
        </p:spPr>
      </p:pic>
      <p:sp>
        <p:nvSpPr>
          <p:cNvPr id="19" name="Text 16"/>
          <p:cNvSpPr txBox="1"/>
          <p:nvPr/>
        </p:nvSpPr>
        <p:spPr>
          <a:xfrm>
            <a:off x="5989320" y="3950208"/>
            <a:ext cx="5148072" cy="365760"/>
          </a:xfrm>
          <a:prstGeom prst="rect">
            <a:avLst/>
          </a:prstGeom>
          <a:noFill/>
          <a:ln/>
        </p:spPr>
        <p:txBody>
          <a:bodyPr wrap="square" lIns="0" tIns="0" rIns="0" bIns="0" rtlCol="0" anchor="ctr"/>
          <a:lstStyle/>
          <a:p>
            <a:pPr marL="0" indent="0" algn="l" rtl="0">
              <a:buNone/>
            </a:pPr>
            <a:r>
              <a:rPr lang="en-US" sz="1300">
                <a:solidFill>
                  <a:srgbClr val="16324A"/>
                </a:solidFill>
                <a:latin typeface="Calibri" pitchFamily="34" charset="0"/>
                <a:ea typeface="Calibri" pitchFamily="34" charset="-122"/>
                <a:cs typeface="Calibri" pitchFamily="34" charset="-120"/>
              </a:rPr>
              <a:t>Product name</a:t>
            </a:r>
            <a:endParaRPr lang="en-US" sz="1300"/>
          </a:p>
        </p:txBody>
      </p:sp>
      <p:sp>
        <p:nvSpPr>
          <p:cNvPr id="20" name="Shape 17"/>
          <p:cNvSpPr/>
          <p:nvPr/>
        </p:nvSpPr>
        <p:spPr>
          <a:xfrm>
            <a:off x="11219688" y="4434840"/>
            <a:ext cx="329184" cy="329184"/>
          </a:xfrm>
          <a:prstGeom prst="ellipse">
            <a:avLst/>
          </a:prstGeom>
          <a:solidFill>
            <a:srgbClr val="1E7D4C"/>
          </a:solidFill>
          <a:ln/>
        </p:spPr>
        <p:txBody>
          <a:bodyPr/>
          <a:lstStyle/>
          <a:p>
            <a:endParaRPr lang="en-US"/>
          </a:p>
        </p:txBody>
      </p:sp>
      <p:pic>
        <p:nvPicPr>
          <p:cNvPr id="21" name="Image 1" descr="/home/claude/work/icon_check_white.png"/>
          <p:cNvPicPr>
            <a:picLocks noChangeAspect="1"/>
          </p:cNvPicPr>
          <p:nvPr/>
        </p:nvPicPr>
        <p:blipFill>
          <a:blip r:embed="rId3"/>
          <a:stretch>
            <a:fillRect/>
          </a:stretch>
        </p:blipFill>
        <p:spPr>
          <a:xfrm>
            <a:off x="11298692" y="4513844"/>
            <a:ext cx="171176" cy="171176"/>
          </a:xfrm>
          <a:prstGeom prst="rect">
            <a:avLst/>
          </a:prstGeom>
        </p:spPr>
      </p:pic>
      <p:sp>
        <p:nvSpPr>
          <p:cNvPr id="22" name="Text 18"/>
          <p:cNvSpPr txBox="1"/>
          <p:nvPr/>
        </p:nvSpPr>
        <p:spPr>
          <a:xfrm>
            <a:off x="5989320" y="4453128"/>
            <a:ext cx="5148072" cy="365760"/>
          </a:xfrm>
          <a:prstGeom prst="rect">
            <a:avLst/>
          </a:prstGeom>
          <a:noFill/>
          <a:ln/>
        </p:spPr>
        <p:txBody>
          <a:bodyPr wrap="square" lIns="0" tIns="0" rIns="0" bIns="0" rtlCol="0" anchor="ctr"/>
          <a:lstStyle/>
          <a:p>
            <a:pPr marL="0" indent="0" algn="l" rtl="0">
              <a:buNone/>
            </a:pPr>
            <a:r>
              <a:rPr lang="en-US" sz="1300">
                <a:solidFill>
                  <a:srgbClr val="16324A"/>
                </a:solidFill>
                <a:latin typeface="Calibri" pitchFamily="34" charset="0"/>
                <a:ea typeface="Calibri" pitchFamily="34" charset="-122"/>
                <a:cs typeface="Calibri" pitchFamily="34" charset="-120"/>
              </a:rPr>
              <a:t>Price</a:t>
            </a:r>
            <a:endParaRPr lang="en-US" sz="1300"/>
          </a:p>
        </p:txBody>
      </p:sp>
      <p:sp>
        <p:nvSpPr>
          <p:cNvPr id="23" name="Text 19"/>
          <p:cNvSpPr txBox="1"/>
          <p:nvPr/>
        </p:nvSpPr>
        <p:spPr>
          <a:xfrm>
            <a:off x="5989320" y="5074920"/>
            <a:ext cx="5559552" cy="731520"/>
          </a:xfrm>
          <a:prstGeom prst="rect">
            <a:avLst/>
          </a:prstGeom>
          <a:noFill/>
          <a:ln/>
        </p:spPr>
        <p:txBody>
          <a:bodyPr wrap="square" lIns="0" tIns="0" rIns="0" bIns="0" rtlCol="0" anchor="t"/>
          <a:lstStyle/>
          <a:p>
            <a:pPr marL="0" indent="0" algn="l" rtl="0">
              <a:buNone/>
            </a:pPr>
            <a:r>
              <a:rPr lang="en-US" sz="1200" i="1">
                <a:solidFill>
                  <a:srgbClr val="5B7C8D"/>
                </a:solidFill>
                <a:latin typeface="Calibri" pitchFamily="34" charset="0"/>
                <a:ea typeface="Calibri" pitchFamily="34" charset="-122"/>
                <a:cs typeface="Calibri" pitchFamily="34" charset="-120"/>
              </a:rPr>
              <a:t>This gives the client greater flexibility in specifying the required data, with no more and no less.</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a:extLst>
            <a:ext uri="{FF2B5EF4-FFF2-40B4-BE49-F238E27FC236}">
              <a16:creationId xmlns:a16="http://schemas.microsoft.com/office/drawing/2014/main" id="{CB823B60-4F33-FB1F-D0F9-D5DF6E097F0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8F5FE3B-559E-37B6-9C88-E48B5E71421D}"/>
              </a:ext>
            </a:extLst>
          </p:cNvPr>
          <p:cNvSpPr txBox="1"/>
          <p:nvPr/>
        </p:nvSpPr>
        <p:spPr>
          <a:xfrm>
            <a:off x="563477" y="1783080"/>
            <a:ext cx="10908792" cy="822960"/>
          </a:xfrm>
          <a:prstGeom prst="rect">
            <a:avLst/>
          </a:prstGeom>
          <a:noFill/>
          <a:ln/>
        </p:spPr>
        <p:txBody>
          <a:bodyPr wrap="square" lIns="0" tIns="0" rIns="0" bIns="0" rtlCol="0" anchor="ctr"/>
          <a:lstStyle/>
          <a:p>
            <a:r>
              <a:rPr lang="en-US" sz="1600" b="1">
                <a:solidFill>
                  <a:srgbClr val="0B3D5C"/>
                </a:solidFill>
                <a:latin typeface="Calibri" pitchFamily="34" charset="0"/>
                <a:ea typeface="Calibri" pitchFamily="34" charset="-122"/>
                <a:cs typeface="Calibri" pitchFamily="34" charset="-120"/>
              </a:rPr>
              <a:t>A </a:t>
            </a:r>
            <a:r>
              <a:rPr lang="en-US" sz="1600" b="1" err="1">
                <a:solidFill>
                  <a:srgbClr val="0B3D5C"/>
                </a:solidFill>
                <a:latin typeface="Calibri" pitchFamily="34" charset="0"/>
                <a:ea typeface="Calibri" pitchFamily="34" charset="-122"/>
                <a:cs typeface="Calibri" pitchFamily="34" charset="-120"/>
              </a:rPr>
              <a:t>GraphQL</a:t>
            </a:r>
            <a:r>
              <a:rPr lang="en-US" sz="1600" b="1">
                <a:solidFill>
                  <a:srgbClr val="0B3D5C"/>
                </a:solidFill>
                <a:latin typeface="Calibri" pitchFamily="34" charset="0"/>
                <a:ea typeface="Calibri" pitchFamily="34" charset="-122"/>
                <a:cs typeface="Calibri" pitchFamily="34" charset="-120"/>
              </a:rPr>
              <a:t> query is just an HTTP request. </a:t>
            </a:r>
          </a:p>
          <a:p>
            <a:endParaRPr lang="en-US" sz="1600" b="1">
              <a:solidFill>
                <a:srgbClr val="0B3D5C"/>
              </a:solidFill>
              <a:latin typeface="Calibri" pitchFamily="34" charset="0"/>
              <a:ea typeface="Calibri" pitchFamily="34" charset="-122"/>
              <a:cs typeface="Calibri" pitchFamily="34" charset="-120"/>
            </a:endParaRPr>
          </a:p>
          <a:p>
            <a:r>
              <a:rPr lang="en-US" sz="1600" b="1">
                <a:solidFill>
                  <a:srgbClr val="0B3D5C"/>
                </a:solidFill>
                <a:latin typeface="Calibri" pitchFamily="34" charset="0"/>
                <a:ea typeface="Calibri" pitchFamily="34" charset="-122"/>
                <a:cs typeface="Calibri" pitchFamily="34" charset="-120"/>
              </a:rPr>
              <a:t>At its simplest, POST JSON with a query field (and optional variables) to the server's single endpoint.</a:t>
            </a:r>
          </a:p>
        </p:txBody>
      </p:sp>
      <p:sp>
        <p:nvSpPr>
          <p:cNvPr id="6" name="Text 4">
            <a:extLst>
              <a:ext uri="{FF2B5EF4-FFF2-40B4-BE49-F238E27FC236}">
                <a16:creationId xmlns:a16="http://schemas.microsoft.com/office/drawing/2014/main" id="{0C3C2DA0-C018-BE18-C703-E5A3845B2CEC}"/>
              </a:ext>
            </a:extLst>
          </p:cNvPr>
          <p:cNvSpPr txBox="1"/>
          <p:nvPr/>
        </p:nvSpPr>
        <p:spPr>
          <a:xfrm>
            <a:off x="7341146" y="3175383"/>
            <a:ext cx="4131123" cy="822960"/>
          </a:xfrm>
          <a:prstGeom prst="rect">
            <a:avLst/>
          </a:prstGeom>
          <a:noFill/>
          <a:ln/>
        </p:spPr>
        <p:txBody>
          <a:bodyPr wrap="square" lIns="0" tIns="0" rIns="0" bIns="0" rtlCol="0" anchor="ctr"/>
          <a:lstStyle/>
          <a:p>
            <a:r>
              <a:rPr lang="en-US" sz="1600">
                <a:solidFill>
                  <a:srgbClr val="0B3D5C"/>
                </a:solidFill>
                <a:latin typeface="Calibri" pitchFamily="34" charset="0"/>
                <a:ea typeface="Calibri" pitchFamily="34" charset="-122"/>
                <a:cs typeface="Calibri" pitchFamily="34" charset="-120"/>
              </a:rPr>
              <a:t>curl -X POST http://localhost:4000/ \</a:t>
            </a:r>
          </a:p>
          <a:p>
            <a:r>
              <a:rPr lang="en-US" sz="1600">
                <a:solidFill>
                  <a:srgbClr val="0B3D5C"/>
                </a:solidFill>
                <a:latin typeface="Calibri" pitchFamily="34" charset="0"/>
                <a:ea typeface="Calibri" pitchFamily="34" charset="-122"/>
                <a:cs typeface="Calibri" pitchFamily="34" charset="-120"/>
              </a:rPr>
              <a:t>  -H "Content-Type: application/</a:t>
            </a:r>
            <a:r>
              <a:rPr lang="en-US" sz="1600" err="1">
                <a:solidFill>
                  <a:srgbClr val="0B3D5C"/>
                </a:solidFill>
                <a:latin typeface="Calibri" pitchFamily="34" charset="0"/>
                <a:ea typeface="Calibri" pitchFamily="34" charset="-122"/>
                <a:cs typeface="Calibri" pitchFamily="34" charset="-120"/>
              </a:rPr>
              <a:t>json</a:t>
            </a:r>
            <a:r>
              <a:rPr lang="en-US" sz="1600">
                <a:solidFill>
                  <a:srgbClr val="0B3D5C"/>
                </a:solidFill>
                <a:latin typeface="Calibri" pitchFamily="34" charset="0"/>
                <a:ea typeface="Calibri" pitchFamily="34" charset="-122"/>
                <a:cs typeface="Calibri" pitchFamily="34" charset="-120"/>
              </a:rPr>
              <a:t>" \</a:t>
            </a:r>
          </a:p>
          <a:p>
            <a:r>
              <a:rPr lang="en-US" sz="1600">
                <a:solidFill>
                  <a:srgbClr val="0B3D5C"/>
                </a:solidFill>
                <a:latin typeface="Calibri" pitchFamily="34" charset="0"/>
                <a:ea typeface="Calibri" pitchFamily="34" charset="-122"/>
                <a:cs typeface="Calibri" pitchFamily="34" charset="-120"/>
              </a:rPr>
              <a:t>  -d </a:t>
            </a:r>
            <a:r>
              <a:rPr lang="en-US" sz="1600">
                <a:solidFill>
                  <a:srgbClr val="0B3D5C"/>
                </a:solidFill>
                <a:highlight>
                  <a:srgbClr val="FFFF00"/>
                </a:highlight>
                <a:latin typeface="Calibri" pitchFamily="34" charset="0"/>
                <a:ea typeface="Calibri" pitchFamily="34" charset="-122"/>
                <a:cs typeface="Calibri" pitchFamily="34" charset="-120"/>
              </a:rPr>
              <a:t>'{"query":"{ posts { id title } }"}'</a:t>
            </a:r>
            <a:endParaRPr lang="en-US" sz="1600">
              <a:highlight>
                <a:srgbClr val="FFFF00"/>
              </a:highlight>
            </a:endParaRPr>
          </a:p>
        </p:txBody>
      </p:sp>
      <p:sp>
        <p:nvSpPr>
          <p:cNvPr id="25" name="Text 4">
            <a:extLst>
              <a:ext uri="{FF2B5EF4-FFF2-40B4-BE49-F238E27FC236}">
                <a16:creationId xmlns:a16="http://schemas.microsoft.com/office/drawing/2014/main" id="{07605A5F-F075-6CB7-100D-217044FA5511}"/>
              </a:ext>
            </a:extLst>
          </p:cNvPr>
          <p:cNvSpPr txBox="1"/>
          <p:nvPr/>
        </p:nvSpPr>
        <p:spPr>
          <a:xfrm>
            <a:off x="563477" y="2697479"/>
            <a:ext cx="5155835" cy="4009558"/>
          </a:xfrm>
          <a:prstGeom prst="rect">
            <a:avLst/>
          </a:prstGeom>
          <a:solidFill>
            <a:schemeClr val="accent6">
              <a:lumMod val="20000"/>
              <a:lumOff val="80000"/>
            </a:schemeClr>
          </a:solidFill>
          <a:ln/>
        </p:spPr>
        <p:txBody>
          <a:bodyPr wrap="square" lIns="0" tIns="0" rIns="0" bIns="0" rtlCol="0" anchor="ctr"/>
          <a:lstStyle/>
          <a:p>
            <a:r>
              <a:rPr lang="en-US" sz="1600"/>
              <a:t>const query = `</a:t>
            </a:r>
          </a:p>
          <a:p>
            <a:r>
              <a:rPr lang="en-US" sz="1600"/>
              <a:t>  </a:t>
            </a:r>
            <a:r>
              <a:rPr lang="en-US" sz="1600">
                <a:highlight>
                  <a:srgbClr val="FFFF00"/>
                </a:highlight>
              </a:rPr>
              <a:t>query </a:t>
            </a:r>
            <a:r>
              <a:rPr lang="en-US" sz="1600" err="1">
                <a:highlight>
                  <a:srgbClr val="FFFF00"/>
                </a:highlight>
              </a:rPr>
              <a:t>GetUser</a:t>
            </a:r>
            <a:r>
              <a:rPr lang="en-US" sz="1600">
                <a:highlight>
                  <a:srgbClr val="FFFF00"/>
                </a:highlight>
              </a:rPr>
              <a:t>($id: ID!) {</a:t>
            </a:r>
          </a:p>
          <a:p>
            <a:r>
              <a:rPr lang="en-US" sz="1600">
                <a:highlight>
                  <a:srgbClr val="FFFF00"/>
                </a:highlight>
              </a:rPr>
              <a:t>    user(id: $id) {</a:t>
            </a:r>
          </a:p>
          <a:p>
            <a:r>
              <a:rPr lang="en-US" sz="1600">
                <a:highlight>
                  <a:srgbClr val="FFFF00"/>
                </a:highlight>
              </a:rPr>
              <a:t>      name</a:t>
            </a:r>
          </a:p>
          <a:p>
            <a:r>
              <a:rPr lang="en-US" sz="1600">
                <a:highlight>
                  <a:srgbClr val="FFFF00"/>
                </a:highlight>
              </a:rPr>
              <a:t>      posts { title }</a:t>
            </a:r>
          </a:p>
          <a:p>
            <a:r>
              <a:rPr lang="en-US" sz="1600">
                <a:highlight>
                  <a:srgbClr val="FFFF00"/>
                </a:highlight>
              </a:rPr>
              <a:t>    }</a:t>
            </a:r>
          </a:p>
          <a:p>
            <a:r>
              <a:rPr lang="en-US" sz="1600">
                <a:highlight>
                  <a:srgbClr val="FFFF00"/>
                </a:highlight>
              </a:rPr>
              <a:t>  }</a:t>
            </a:r>
          </a:p>
          <a:p>
            <a:r>
              <a:rPr lang="en-US" sz="1600"/>
              <a:t>`;</a:t>
            </a:r>
          </a:p>
          <a:p>
            <a:endParaRPr lang="en-US" sz="1600"/>
          </a:p>
          <a:p>
            <a:r>
              <a:rPr lang="en-US" sz="1600"/>
              <a:t>const res = await fetch('http://localhost:4000/', {</a:t>
            </a:r>
          </a:p>
          <a:p>
            <a:r>
              <a:rPr lang="en-US" sz="1600"/>
              <a:t>  method: 'POST',</a:t>
            </a:r>
          </a:p>
          <a:p>
            <a:r>
              <a:rPr lang="en-US" sz="1600"/>
              <a:t>  headers: { 'Content-Type': 'application/</a:t>
            </a:r>
            <a:r>
              <a:rPr lang="en-US" sz="1600" err="1"/>
              <a:t>json</a:t>
            </a:r>
            <a:r>
              <a:rPr lang="en-US" sz="1600"/>
              <a:t>' },</a:t>
            </a:r>
          </a:p>
          <a:p>
            <a:r>
              <a:rPr lang="en-US" sz="1600"/>
              <a:t>  body: </a:t>
            </a:r>
            <a:r>
              <a:rPr lang="en-US" sz="1600" err="1"/>
              <a:t>JSON.stringify</a:t>
            </a:r>
            <a:r>
              <a:rPr lang="en-US" sz="1600"/>
              <a:t>({ query, variables: { id: '1' } }),</a:t>
            </a:r>
          </a:p>
          <a:p>
            <a:r>
              <a:rPr lang="en-US" sz="1600"/>
              <a:t>});</a:t>
            </a:r>
          </a:p>
          <a:p>
            <a:endParaRPr lang="en-US" sz="1600"/>
          </a:p>
          <a:p>
            <a:r>
              <a:rPr lang="en-US" sz="1600"/>
              <a:t>const { data, errors } = await </a:t>
            </a:r>
            <a:r>
              <a:rPr lang="en-US" sz="1600" err="1"/>
              <a:t>res.json</a:t>
            </a:r>
            <a:r>
              <a:rPr lang="en-US" sz="1600"/>
              <a:t>();</a:t>
            </a:r>
          </a:p>
          <a:p>
            <a:r>
              <a:rPr lang="en-US" sz="1600"/>
              <a:t>console.log(data.user.name);</a:t>
            </a:r>
          </a:p>
        </p:txBody>
      </p:sp>
      <p:sp>
        <p:nvSpPr>
          <p:cNvPr id="29" name="Text 1">
            <a:extLst>
              <a:ext uri="{FF2B5EF4-FFF2-40B4-BE49-F238E27FC236}">
                <a16:creationId xmlns:a16="http://schemas.microsoft.com/office/drawing/2014/main" id="{CEC481E7-4388-A03F-D345-59C53B761CB8}"/>
              </a:ext>
            </a:extLst>
          </p:cNvPr>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GraphQL?</a:t>
            </a:r>
            <a:endParaRPr lang="en-US" sz="2400" i="1"/>
          </a:p>
        </p:txBody>
      </p:sp>
      <p:sp>
        <p:nvSpPr>
          <p:cNvPr id="31" name="Shape 2">
            <a:extLst>
              <a:ext uri="{FF2B5EF4-FFF2-40B4-BE49-F238E27FC236}">
                <a16:creationId xmlns:a16="http://schemas.microsoft.com/office/drawing/2014/main" id="{B5EB90FD-8E8D-DE6A-4ED3-2326F84D0AFD}"/>
              </a:ext>
            </a:extLst>
          </p:cNvPr>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33" name="Shape 15">
            <a:extLst>
              <a:ext uri="{FF2B5EF4-FFF2-40B4-BE49-F238E27FC236}">
                <a16:creationId xmlns:a16="http://schemas.microsoft.com/office/drawing/2014/main" id="{716D0C79-925C-B3FE-4E6C-70E2DDCEAC2F}"/>
              </a:ext>
            </a:extLst>
          </p:cNvPr>
          <p:cNvSpPr/>
          <p:nvPr/>
        </p:nvSpPr>
        <p:spPr>
          <a:xfrm>
            <a:off x="5112185" y="2769942"/>
            <a:ext cx="607127" cy="510684"/>
          </a:xfrm>
          <a:prstGeom prst="ellipse">
            <a:avLst/>
          </a:prstGeom>
          <a:solidFill>
            <a:srgbClr val="1E7D4C"/>
          </a:solidFill>
          <a:ln/>
        </p:spPr>
        <p:txBody>
          <a:bodyPr/>
          <a:lstStyle/>
          <a:p>
            <a:pPr algn="ctr"/>
            <a:r>
              <a:rPr lang="en-US" b="1" err="1">
                <a:solidFill>
                  <a:schemeClr val="bg1"/>
                </a:solidFill>
              </a:rPr>
              <a:t>js</a:t>
            </a:r>
            <a:endParaRPr lang="en-US" b="1">
              <a:solidFill>
                <a:schemeClr val="bg1"/>
              </a:solidFill>
            </a:endParaRPr>
          </a:p>
        </p:txBody>
      </p:sp>
    </p:spTree>
    <p:extLst>
      <p:ext uri="{BB962C8B-B14F-4D97-AF65-F5344CB8AC3E}">
        <p14:creationId xmlns:p14="http://schemas.microsoft.com/office/powerpoint/2010/main" val="2262639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3000" b="1">
                <a:solidFill>
                  <a:srgbClr val="0B3D5C"/>
                </a:solidFill>
                <a:latin typeface="Cambria" pitchFamily="34" charset="0"/>
                <a:ea typeface="Cambria" pitchFamily="34" charset="-122"/>
                <a:cs typeface="Cambria" pitchFamily="34" charset="-120"/>
              </a:rPr>
              <a:t>How Does GraphQL Work?</a:t>
            </a:r>
            <a:endParaRPr lang="en-US" sz="3000"/>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13</a:t>
            </a:r>
            <a:endParaRPr lang="en-US" sz="1100"/>
          </a:p>
        </p:txBody>
      </p:sp>
      <p:sp>
        <p:nvSpPr>
          <p:cNvPr id="6" name="Shape 4"/>
          <p:cNvSpPr/>
          <p:nvPr/>
        </p:nvSpPr>
        <p:spPr>
          <a:xfrm>
            <a:off x="9628632" y="2194560"/>
            <a:ext cx="1920240" cy="594360"/>
          </a:xfrm>
          <a:prstGeom prst="roundRect">
            <a:avLst>
              <a:gd name="adj" fmla="val 46154"/>
            </a:avLst>
          </a:prstGeom>
          <a:solidFill>
            <a:srgbClr val="1C7293"/>
          </a:solidFill>
          <a:ln/>
        </p:spPr>
        <p:txBody>
          <a:bodyPr/>
          <a:lstStyle/>
          <a:p>
            <a:endParaRPr lang="en-US"/>
          </a:p>
        </p:txBody>
      </p:sp>
      <p:sp>
        <p:nvSpPr>
          <p:cNvPr id="7" name="Text 5"/>
          <p:cNvSpPr txBox="1"/>
          <p:nvPr/>
        </p:nvSpPr>
        <p:spPr>
          <a:xfrm>
            <a:off x="9628632" y="2194560"/>
            <a:ext cx="1920240" cy="59436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Data base</a:t>
            </a:r>
            <a:endParaRPr lang="en-US" sz="1150"/>
          </a:p>
        </p:txBody>
      </p:sp>
      <p:sp>
        <p:nvSpPr>
          <p:cNvPr id="9" name="Shape 7"/>
          <p:cNvSpPr/>
          <p:nvPr/>
        </p:nvSpPr>
        <p:spPr>
          <a:xfrm>
            <a:off x="7381494" y="2194560"/>
            <a:ext cx="1920240" cy="594360"/>
          </a:xfrm>
          <a:prstGeom prst="roundRect">
            <a:avLst>
              <a:gd name="adj" fmla="val 46154"/>
            </a:avLst>
          </a:prstGeom>
          <a:solidFill>
            <a:srgbClr val="1C7293"/>
          </a:solidFill>
          <a:ln/>
        </p:spPr>
        <p:txBody>
          <a:bodyPr/>
          <a:lstStyle/>
          <a:p>
            <a:endParaRPr lang="en-US"/>
          </a:p>
        </p:txBody>
      </p:sp>
      <p:sp>
        <p:nvSpPr>
          <p:cNvPr id="10" name="Text 8"/>
          <p:cNvSpPr txBox="1"/>
          <p:nvPr/>
        </p:nvSpPr>
        <p:spPr>
          <a:xfrm>
            <a:off x="7381494" y="2194560"/>
            <a:ext cx="1920240" cy="59436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Server</a:t>
            </a:r>
            <a:endParaRPr lang="en-US" sz="1150"/>
          </a:p>
        </p:txBody>
      </p:sp>
      <p:sp>
        <p:nvSpPr>
          <p:cNvPr id="12" name="Shape 10"/>
          <p:cNvSpPr/>
          <p:nvPr/>
        </p:nvSpPr>
        <p:spPr>
          <a:xfrm>
            <a:off x="5134356" y="2194560"/>
            <a:ext cx="1920240" cy="594360"/>
          </a:xfrm>
          <a:prstGeom prst="roundRect">
            <a:avLst>
              <a:gd name="adj" fmla="val 46154"/>
            </a:avLst>
          </a:prstGeom>
          <a:solidFill>
            <a:srgbClr val="F2A65A"/>
          </a:solidFill>
          <a:ln/>
        </p:spPr>
        <p:txBody>
          <a:bodyPr/>
          <a:lstStyle/>
          <a:p>
            <a:endParaRPr lang="en-US"/>
          </a:p>
        </p:txBody>
      </p:sp>
      <p:sp>
        <p:nvSpPr>
          <p:cNvPr id="13" name="Text 11"/>
          <p:cNvSpPr txBox="1"/>
          <p:nvPr/>
        </p:nvSpPr>
        <p:spPr>
          <a:xfrm>
            <a:off x="5134356" y="2194560"/>
            <a:ext cx="1920240" cy="59436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GraphQL API</a:t>
            </a:r>
            <a:endParaRPr lang="en-US" sz="1150"/>
          </a:p>
        </p:txBody>
      </p:sp>
      <p:sp>
        <p:nvSpPr>
          <p:cNvPr id="15" name="Shape 13"/>
          <p:cNvSpPr/>
          <p:nvPr/>
        </p:nvSpPr>
        <p:spPr>
          <a:xfrm>
            <a:off x="2887218" y="2194560"/>
            <a:ext cx="1920240" cy="594360"/>
          </a:xfrm>
          <a:prstGeom prst="roundRect">
            <a:avLst>
              <a:gd name="adj" fmla="val 46154"/>
            </a:avLst>
          </a:prstGeom>
          <a:solidFill>
            <a:srgbClr val="1C7293"/>
          </a:solidFill>
          <a:ln/>
        </p:spPr>
        <p:txBody>
          <a:bodyPr/>
          <a:lstStyle/>
          <a:p>
            <a:endParaRPr lang="en-US"/>
          </a:p>
        </p:txBody>
      </p:sp>
      <p:sp>
        <p:nvSpPr>
          <p:cNvPr id="16" name="Text 14"/>
          <p:cNvSpPr txBox="1"/>
          <p:nvPr/>
        </p:nvSpPr>
        <p:spPr>
          <a:xfrm>
            <a:off x="2887218" y="2194560"/>
            <a:ext cx="1920240" cy="59436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Graphql Query</a:t>
            </a:r>
            <a:endParaRPr lang="en-US" sz="1150"/>
          </a:p>
        </p:txBody>
      </p:sp>
      <p:sp>
        <p:nvSpPr>
          <p:cNvPr id="18" name="Shape 16"/>
          <p:cNvSpPr/>
          <p:nvPr/>
        </p:nvSpPr>
        <p:spPr>
          <a:xfrm>
            <a:off x="640080" y="2194560"/>
            <a:ext cx="1920240" cy="594360"/>
          </a:xfrm>
          <a:prstGeom prst="roundRect">
            <a:avLst>
              <a:gd name="adj" fmla="val 46154"/>
            </a:avLst>
          </a:prstGeom>
          <a:solidFill>
            <a:srgbClr val="1C7293"/>
          </a:solidFill>
          <a:ln/>
        </p:spPr>
        <p:txBody>
          <a:bodyPr/>
          <a:lstStyle/>
          <a:p>
            <a:endParaRPr lang="en-US"/>
          </a:p>
        </p:txBody>
      </p:sp>
      <p:sp>
        <p:nvSpPr>
          <p:cNvPr id="19" name="Text 17"/>
          <p:cNvSpPr txBox="1"/>
          <p:nvPr/>
        </p:nvSpPr>
        <p:spPr>
          <a:xfrm>
            <a:off x="640080" y="2194560"/>
            <a:ext cx="1920240" cy="594360"/>
          </a:xfrm>
          <a:prstGeom prst="rect">
            <a:avLst/>
          </a:prstGeom>
          <a:noFill/>
          <a:ln/>
        </p:spPr>
        <p:txBody>
          <a:bodyPr wrap="square" lIns="0" tIns="0" rIns="0" bIns="0" rtlCol="0" anchor="ctr"/>
          <a:lstStyle/>
          <a:p>
            <a:pPr marL="0" indent="0" algn="ctr">
              <a:buNone/>
            </a:pPr>
            <a:r>
              <a:rPr lang="en-US" sz="1150">
                <a:solidFill>
                  <a:schemeClr val="bg1"/>
                </a:solidFill>
              </a:rPr>
              <a:t>Client</a:t>
            </a:r>
          </a:p>
        </p:txBody>
      </p:sp>
      <p:sp>
        <p:nvSpPr>
          <p:cNvPr id="20" name="Text 18"/>
          <p:cNvSpPr txBox="1"/>
          <p:nvPr/>
        </p:nvSpPr>
        <p:spPr>
          <a:xfrm>
            <a:off x="640080" y="3017520"/>
            <a:ext cx="10908792" cy="457200"/>
          </a:xfrm>
          <a:prstGeom prst="rect">
            <a:avLst/>
          </a:prstGeom>
          <a:noFill/>
          <a:ln/>
        </p:spPr>
        <p:txBody>
          <a:bodyPr wrap="square" lIns="0" tIns="0" rIns="0" bIns="0" rtlCol="0" anchor="ctr"/>
          <a:lstStyle/>
          <a:p>
            <a:pPr marL="0" indent="0" algn="l" rtl="0">
              <a:buNone/>
            </a:pPr>
            <a:r>
              <a:rPr lang="en-US" sz="1400">
                <a:solidFill>
                  <a:srgbClr val="16324A"/>
                </a:solidFill>
                <a:latin typeface="Calibri" pitchFamily="34" charset="0"/>
                <a:ea typeface="Calibri" pitchFamily="34" charset="-122"/>
                <a:cs typeface="Calibri" pitchFamily="34" charset="-120"/>
              </a:rPr>
              <a:t>Only the requested data is returned via the same path in the opposite direction (Database → Server → GraphQL → Client).</a:t>
            </a:r>
            <a:endParaRPr lang="en-US" sz="1400"/>
          </a:p>
        </p:txBody>
      </p:sp>
      <p:sp>
        <p:nvSpPr>
          <p:cNvPr id="21" name="Shape 19"/>
          <p:cNvSpPr/>
          <p:nvPr/>
        </p:nvSpPr>
        <p:spPr>
          <a:xfrm>
            <a:off x="640080" y="3703320"/>
            <a:ext cx="10908792" cy="1234440"/>
          </a:xfrm>
          <a:prstGeom prst="roundRect">
            <a:avLst>
              <a:gd name="adj" fmla="val 5926"/>
            </a:avLst>
          </a:prstGeom>
          <a:solidFill>
            <a:srgbClr val="F4F8FA"/>
          </a:solidFill>
          <a:ln w="12700">
            <a:solidFill>
              <a:srgbClr val="DCE7EC"/>
            </a:solidFill>
            <a:prstDash val="solid"/>
          </a:ln>
        </p:spPr>
        <p:txBody>
          <a:bodyPr/>
          <a:lstStyle/>
          <a:p>
            <a:endParaRPr lang="en-US"/>
          </a:p>
        </p:txBody>
      </p:sp>
      <p:sp>
        <p:nvSpPr>
          <p:cNvPr id="22" name="Shape 20"/>
          <p:cNvSpPr/>
          <p:nvPr/>
        </p:nvSpPr>
        <p:spPr>
          <a:xfrm>
            <a:off x="10771632" y="3913632"/>
            <a:ext cx="640080" cy="640080"/>
          </a:xfrm>
          <a:prstGeom prst="ellipse">
            <a:avLst/>
          </a:prstGeom>
          <a:solidFill>
            <a:srgbClr val="F2A65A"/>
          </a:solidFill>
          <a:ln/>
        </p:spPr>
        <p:txBody>
          <a:bodyPr/>
          <a:lstStyle/>
          <a:p>
            <a:endParaRPr lang="en-US"/>
          </a:p>
        </p:txBody>
      </p:sp>
      <p:pic>
        <p:nvPicPr>
          <p:cNvPr id="23" name="Image 0" descr="/home/claude/work/icon_bulb_navy.png"/>
          <p:cNvPicPr>
            <a:picLocks noChangeAspect="1"/>
          </p:cNvPicPr>
          <p:nvPr/>
        </p:nvPicPr>
        <p:blipFill>
          <a:blip r:embed="rId3"/>
          <a:stretch>
            <a:fillRect/>
          </a:stretch>
        </p:blipFill>
        <p:spPr>
          <a:xfrm>
            <a:off x="10925251" y="4067251"/>
            <a:ext cx="332842" cy="332842"/>
          </a:xfrm>
          <a:prstGeom prst="rect">
            <a:avLst/>
          </a:prstGeom>
        </p:spPr>
      </p:pic>
      <p:sp>
        <p:nvSpPr>
          <p:cNvPr id="24" name="Text 21"/>
          <p:cNvSpPr txBox="1"/>
          <p:nvPr/>
        </p:nvSpPr>
        <p:spPr>
          <a:xfrm>
            <a:off x="640080" y="3703320"/>
            <a:ext cx="9902952" cy="1234440"/>
          </a:xfrm>
          <a:prstGeom prst="rect">
            <a:avLst/>
          </a:prstGeom>
          <a:noFill/>
          <a:ln/>
        </p:spPr>
        <p:txBody>
          <a:bodyPr wrap="square" lIns="0" tIns="0" rIns="0" bIns="0" rtlCol="0" anchor="ctr"/>
          <a:lstStyle/>
          <a:p>
            <a:pPr marL="0" indent="0" algn="l" rtl="0">
              <a:buNone/>
            </a:pPr>
            <a:r>
              <a:rPr lang="en-US" sz="1500" b="1">
                <a:solidFill>
                  <a:srgbClr val="0B3D5C"/>
                </a:solidFill>
                <a:latin typeface="Calibri" pitchFamily="34" charset="0"/>
                <a:ea typeface="Calibri" pitchFamily="34" charset="-122"/>
                <a:cs typeface="Calibri" pitchFamily="34" charset="-120"/>
              </a:rPr>
              <a:t>The key feature here is that the client — not the server — determines the shape of the requested data in the query.</a:t>
            </a:r>
            <a:endParaRPr lang="en-US" sz="1500"/>
          </a:p>
        </p:txBody>
      </p:sp>
      <p:sp>
        <p:nvSpPr>
          <p:cNvPr id="26" name="سهم: لليمين 25">
            <a:extLst>
              <a:ext uri="{FF2B5EF4-FFF2-40B4-BE49-F238E27FC236}">
                <a16:creationId xmlns:a16="http://schemas.microsoft.com/office/drawing/2014/main" id="{895C5CA1-EE1B-B1E6-183B-7462B9A21457}"/>
              </a:ext>
            </a:extLst>
          </p:cNvPr>
          <p:cNvSpPr/>
          <p:nvPr/>
        </p:nvSpPr>
        <p:spPr>
          <a:xfrm>
            <a:off x="2599548" y="2361185"/>
            <a:ext cx="279400" cy="29125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سهم: لليمين 26">
            <a:extLst>
              <a:ext uri="{FF2B5EF4-FFF2-40B4-BE49-F238E27FC236}">
                <a16:creationId xmlns:a16="http://schemas.microsoft.com/office/drawing/2014/main" id="{90901AB9-3E87-05F9-ABF9-0EAE8C3ADDCC}"/>
              </a:ext>
            </a:extLst>
          </p:cNvPr>
          <p:cNvSpPr/>
          <p:nvPr/>
        </p:nvSpPr>
        <p:spPr>
          <a:xfrm>
            <a:off x="4846687" y="2328587"/>
            <a:ext cx="287670" cy="33307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سهم: لليمين 27">
            <a:extLst>
              <a:ext uri="{FF2B5EF4-FFF2-40B4-BE49-F238E27FC236}">
                <a16:creationId xmlns:a16="http://schemas.microsoft.com/office/drawing/2014/main" id="{B49E75C2-EF6D-927A-17ED-AFEBCBA17482}"/>
              </a:ext>
            </a:extLst>
          </p:cNvPr>
          <p:cNvSpPr/>
          <p:nvPr/>
        </p:nvSpPr>
        <p:spPr>
          <a:xfrm>
            <a:off x="7093824" y="2363556"/>
            <a:ext cx="296333" cy="2821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سهم: لليمين 28">
            <a:extLst>
              <a:ext uri="{FF2B5EF4-FFF2-40B4-BE49-F238E27FC236}">
                <a16:creationId xmlns:a16="http://schemas.microsoft.com/office/drawing/2014/main" id="{D52A5ADE-E8F7-6680-7950-B4B9D5C395FD}"/>
              </a:ext>
            </a:extLst>
          </p:cNvPr>
          <p:cNvSpPr/>
          <p:nvPr/>
        </p:nvSpPr>
        <p:spPr>
          <a:xfrm>
            <a:off x="9337167" y="2361185"/>
            <a:ext cx="256032" cy="25501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p:cNvSpPr txBox="1"/>
          <p:nvPr/>
        </p:nvSpPr>
        <p:spPr>
          <a:xfrm>
            <a:off x="640080" y="630936"/>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Advantages and Disadvantages of GraphQL</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14</a:t>
            </a:r>
            <a:endParaRPr lang="en-US" sz="1100"/>
          </a:p>
        </p:txBody>
      </p:sp>
      <p:sp>
        <p:nvSpPr>
          <p:cNvPr id="6" name="Shape 4"/>
          <p:cNvSpPr/>
          <p:nvPr/>
        </p:nvSpPr>
        <p:spPr>
          <a:xfrm>
            <a:off x="640080"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868680" y="2103120"/>
            <a:ext cx="411480" cy="411480"/>
          </a:xfrm>
          <a:prstGeom prst="ellipse">
            <a:avLst/>
          </a:prstGeom>
          <a:solidFill>
            <a:srgbClr val="1E7D4C"/>
          </a:solidFill>
          <a:ln/>
        </p:spPr>
        <p:txBody>
          <a:bodyPr/>
          <a:lstStyle/>
          <a:p>
            <a:endParaRPr lang="en-US"/>
          </a:p>
        </p:txBody>
      </p:sp>
      <p:pic>
        <p:nvPicPr>
          <p:cNvPr id="8" name="Image 0" descr="/home/claude/work/icon_check_white.png"/>
          <p:cNvPicPr>
            <a:picLocks noChangeAspect="1"/>
          </p:cNvPicPr>
          <p:nvPr/>
        </p:nvPicPr>
        <p:blipFill>
          <a:blip r:embed="rId3"/>
          <a:stretch>
            <a:fillRect/>
          </a:stretch>
        </p:blipFill>
        <p:spPr>
          <a:xfrm>
            <a:off x="967435" y="2201875"/>
            <a:ext cx="213970" cy="213970"/>
          </a:xfrm>
          <a:prstGeom prst="rect">
            <a:avLst/>
          </a:prstGeom>
        </p:spPr>
      </p:pic>
      <p:sp>
        <p:nvSpPr>
          <p:cNvPr id="9" name="Text 6"/>
          <p:cNvSpPr txBox="1"/>
          <p:nvPr/>
        </p:nvSpPr>
        <p:spPr>
          <a:xfrm>
            <a:off x="1417320" y="2121408"/>
            <a:ext cx="4311396" cy="365760"/>
          </a:xfrm>
          <a:prstGeom prst="rect">
            <a:avLst/>
          </a:prstGeom>
          <a:noFill/>
          <a:ln/>
        </p:spPr>
        <p:txBody>
          <a:bodyPr wrap="square" lIns="0" tIns="0" rIns="0" bIns="0" rtlCol="0" anchor="ctr"/>
          <a:lstStyle/>
          <a:p>
            <a:pPr marL="0" indent="0" algn="l" rtl="0">
              <a:buNone/>
            </a:pPr>
            <a:r>
              <a:rPr lang="en-US" sz="1700" b="1">
                <a:solidFill>
                  <a:srgbClr val="1E7D4C"/>
                </a:solidFill>
                <a:latin typeface="Calibri" pitchFamily="34" charset="0"/>
                <a:ea typeface="Calibri" pitchFamily="34" charset="-122"/>
                <a:cs typeface="Calibri" pitchFamily="34" charset="-120"/>
              </a:rPr>
              <a:t>Advantages</a:t>
            </a:r>
            <a:endParaRPr lang="en-US" sz="1700"/>
          </a:p>
        </p:txBody>
      </p:sp>
      <p:sp>
        <p:nvSpPr>
          <p:cNvPr id="10" name="Text 7"/>
          <p:cNvSpPr txBox="1"/>
          <p:nvPr/>
        </p:nvSpPr>
        <p:spPr>
          <a:xfrm>
            <a:off x="868680" y="26974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Precise control over the requested data</a:t>
            </a:r>
            <a:endParaRPr lang="en-US" sz="1250"/>
          </a:p>
        </p:txBody>
      </p:sp>
      <p:sp>
        <p:nvSpPr>
          <p:cNvPr id="11" name="Text 8"/>
          <p:cNvSpPr txBox="1"/>
          <p:nvPr/>
        </p:nvSpPr>
        <p:spPr>
          <a:xfrm>
            <a:off x="868680" y="320040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Reduces the over-fetching problem</a:t>
            </a:r>
            <a:endParaRPr lang="en-US" sz="1250"/>
          </a:p>
        </p:txBody>
      </p:sp>
      <p:sp>
        <p:nvSpPr>
          <p:cNvPr id="12" name="Text 9"/>
          <p:cNvSpPr txBox="1"/>
          <p:nvPr/>
        </p:nvSpPr>
        <p:spPr>
          <a:xfrm>
            <a:off x="868680" y="370332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Reduces the under-fetching problem</a:t>
            </a:r>
            <a:endParaRPr lang="en-US" sz="1250"/>
          </a:p>
        </p:txBody>
      </p:sp>
      <p:sp>
        <p:nvSpPr>
          <p:cNvPr id="13" name="Text 10"/>
          <p:cNvSpPr txBox="1"/>
          <p:nvPr/>
        </p:nvSpPr>
        <p:spPr>
          <a:xfrm>
            <a:off x="868680" y="420624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Combines data from multiple sources in a single query</a:t>
            </a:r>
            <a:endParaRPr lang="en-US" sz="1250"/>
          </a:p>
        </p:txBody>
      </p:sp>
      <p:sp>
        <p:nvSpPr>
          <p:cNvPr id="14" name="Text 11"/>
          <p:cNvSpPr txBox="1"/>
          <p:nvPr/>
        </p:nvSpPr>
        <p:spPr>
          <a:xfrm>
            <a:off x="868680" y="470916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Suitable for applications with flexible, complex data</a:t>
            </a:r>
            <a:endParaRPr lang="en-US" sz="1250"/>
          </a:p>
        </p:txBody>
      </p:sp>
      <p:sp>
        <p:nvSpPr>
          <p:cNvPr id="15" name="Text 12"/>
          <p:cNvSpPr txBox="1"/>
          <p:nvPr/>
        </p:nvSpPr>
        <p:spPr>
          <a:xfrm>
            <a:off x="868680" y="52120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A clear schema for data types and operations</a:t>
            </a:r>
            <a:endParaRPr lang="en-US" sz="1250"/>
          </a:p>
        </p:txBody>
      </p:sp>
      <p:sp>
        <p:nvSpPr>
          <p:cNvPr id="16" name="Shape 13"/>
          <p:cNvSpPr/>
          <p:nvPr/>
        </p:nvSpPr>
        <p:spPr>
          <a:xfrm>
            <a:off x="6323076"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7" name="Shape 14"/>
          <p:cNvSpPr/>
          <p:nvPr/>
        </p:nvSpPr>
        <p:spPr>
          <a:xfrm>
            <a:off x="6551676" y="2103120"/>
            <a:ext cx="411480" cy="411480"/>
          </a:xfrm>
          <a:prstGeom prst="ellipse">
            <a:avLst/>
          </a:prstGeom>
          <a:solidFill>
            <a:srgbClr val="9C3B3B"/>
          </a:solidFill>
          <a:ln/>
        </p:spPr>
        <p:txBody>
          <a:bodyPr/>
          <a:lstStyle/>
          <a:p>
            <a:endParaRPr lang="en-US"/>
          </a:p>
        </p:txBody>
      </p:sp>
      <p:pic>
        <p:nvPicPr>
          <p:cNvPr id="18" name="Image 1" descr="/home/claude/work/icon_times_white.png"/>
          <p:cNvPicPr>
            <a:picLocks noChangeAspect="1"/>
          </p:cNvPicPr>
          <p:nvPr/>
        </p:nvPicPr>
        <p:blipFill>
          <a:blip r:embed="rId4"/>
          <a:stretch>
            <a:fillRect/>
          </a:stretch>
        </p:blipFill>
        <p:spPr>
          <a:xfrm>
            <a:off x="6650431" y="2201875"/>
            <a:ext cx="213970" cy="213970"/>
          </a:xfrm>
          <a:prstGeom prst="rect">
            <a:avLst/>
          </a:prstGeom>
        </p:spPr>
      </p:pic>
      <p:sp>
        <p:nvSpPr>
          <p:cNvPr id="19" name="Text 15"/>
          <p:cNvSpPr txBox="1"/>
          <p:nvPr/>
        </p:nvSpPr>
        <p:spPr>
          <a:xfrm>
            <a:off x="7100316" y="2121408"/>
            <a:ext cx="4311396" cy="365760"/>
          </a:xfrm>
          <a:prstGeom prst="rect">
            <a:avLst/>
          </a:prstGeom>
          <a:noFill/>
          <a:ln/>
        </p:spPr>
        <p:txBody>
          <a:bodyPr wrap="square" lIns="0" tIns="0" rIns="0" bIns="0" rtlCol="0" anchor="ctr"/>
          <a:lstStyle/>
          <a:p>
            <a:pPr marL="0" indent="0" algn="l" rtl="0">
              <a:buNone/>
            </a:pPr>
            <a:r>
              <a:rPr lang="en-US" sz="1700" b="1">
                <a:solidFill>
                  <a:srgbClr val="9C3B3B"/>
                </a:solidFill>
                <a:latin typeface="Calibri" pitchFamily="34" charset="0"/>
                <a:ea typeface="Calibri" pitchFamily="34" charset="-122"/>
                <a:cs typeface="Calibri" pitchFamily="34" charset="-120"/>
              </a:rPr>
              <a:t>Disadvantages</a:t>
            </a:r>
            <a:endParaRPr lang="en-US" sz="1700"/>
          </a:p>
        </p:txBody>
      </p:sp>
      <p:sp>
        <p:nvSpPr>
          <p:cNvPr id="20" name="Text 16"/>
          <p:cNvSpPr txBox="1"/>
          <p:nvPr/>
        </p:nvSpPr>
        <p:spPr>
          <a:xfrm>
            <a:off x="6551676" y="2697480"/>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More complex than REST in some systems</a:t>
            </a:r>
            <a:endParaRPr lang="en-US" sz="1250"/>
          </a:p>
        </p:txBody>
      </p:sp>
      <p:sp>
        <p:nvSpPr>
          <p:cNvPr id="21" name="Text 17"/>
          <p:cNvSpPr txBox="1"/>
          <p:nvPr/>
        </p:nvSpPr>
        <p:spPr>
          <a:xfrm>
            <a:off x="6551676" y="3264408"/>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Requires careful management of complex queries (performance)</a:t>
            </a:r>
            <a:endParaRPr lang="en-US" sz="1250"/>
          </a:p>
        </p:txBody>
      </p:sp>
      <p:sp>
        <p:nvSpPr>
          <p:cNvPr id="22" name="Text 18"/>
          <p:cNvSpPr txBox="1"/>
          <p:nvPr/>
        </p:nvSpPr>
        <p:spPr>
          <a:xfrm>
            <a:off x="6551676" y="3831336"/>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Requires good schema design</a:t>
            </a:r>
            <a:endParaRPr lang="en-US" sz="1250"/>
          </a:p>
        </p:txBody>
      </p:sp>
      <p:sp>
        <p:nvSpPr>
          <p:cNvPr id="23" name="Text 19"/>
          <p:cNvSpPr txBox="1"/>
          <p:nvPr/>
        </p:nvSpPr>
        <p:spPr>
          <a:xfrm>
            <a:off x="6551676" y="4398264"/>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Caching is more complex compared to some REST implementations</a:t>
            </a:r>
            <a:endParaRPr lang="en-US" sz="12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p:cNvSpPr txBox="1"/>
          <p:nvPr/>
        </p:nvSpPr>
        <p:spPr>
          <a:xfrm>
            <a:off x="640080" y="4114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What is gRPC?</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15</a:t>
            </a:r>
            <a:endParaRPr lang="en-US" sz="1100"/>
          </a:p>
        </p:txBody>
      </p:sp>
      <p:sp>
        <p:nvSpPr>
          <p:cNvPr id="6" name="Text 4"/>
          <p:cNvSpPr txBox="1"/>
          <p:nvPr/>
        </p:nvSpPr>
        <p:spPr>
          <a:xfrm>
            <a:off x="640080" y="1920240"/>
            <a:ext cx="10908792" cy="822960"/>
          </a:xfrm>
          <a:prstGeom prst="rect">
            <a:avLst/>
          </a:prstGeom>
          <a:noFill/>
          <a:ln/>
        </p:spPr>
        <p:txBody>
          <a:bodyPr wrap="square" lIns="0" tIns="0" rIns="0" bIns="0" rtlCol="0" anchor="ctr"/>
          <a:lstStyle/>
          <a:p>
            <a:pPr marL="0" indent="0" algn="l" rtl="0">
              <a:lnSpc>
                <a:spcPct val="120000"/>
              </a:lnSpc>
              <a:buNone/>
            </a:pPr>
            <a:r>
              <a:rPr lang="en-US" sz="1600" b="1">
                <a:solidFill>
                  <a:srgbClr val="0B3D5C"/>
                </a:solidFill>
                <a:latin typeface="Calibri" pitchFamily="34" charset="0"/>
                <a:ea typeface="Calibri" pitchFamily="34" charset="-122"/>
                <a:cs typeface="Calibri" pitchFamily="34" charset="-120"/>
              </a:rPr>
              <a:t>gRPC is a Remote Procedure Call framework developed by Google, widely used for communication between services in distributed systems and microservices environments.</a:t>
            </a:r>
            <a:endParaRPr lang="en-US" sz="1600"/>
          </a:p>
        </p:txBody>
      </p:sp>
      <p:sp>
        <p:nvSpPr>
          <p:cNvPr id="7" name="Text 5"/>
          <p:cNvSpPr txBox="1"/>
          <p:nvPr/>
        </p:nvSpPr>
        <p:spPr>
          <a:xfrm>
            <a:off x="640080" y="2834640"/>
            <a:ext cx="10908792" cy="914400"/>
          </a:xfrm>
          <a:prstGeom prst="rect">
            <a:avLst/>
          </a:prstGeom>
          <a:noFill/>
          <a:ln/>
        </p:spPr>
        <p:txBody>
          <a:bodyPr wrap="square" lIns="0" tIns="0" rIns="0" bIns="0" rtlCol="0" anchor="ctr"/>
          <a:lstStyle/>
          <a:p>
            <a:pPr marL="0" indent="0" algn="l" rtl="0">
              <a:lnSpc>
                <a:spcPct val="125000"/>
              </a:lnSpc>
              <a:buNone/>
            </a:pPr>
            <a:r>
              <a:rPr lang="en-US" sz="1400">
                <a:solidFill>
                  <a:srgbClr val="16324A"/>
                </a:solidFill>
                <a:latin typeface="Calibri" pitchFamily="34" charset="0"/>
                <a:ea typeface="Calibri" pitchFamily="34" charset="-122"/>
                <a:cs typeface="Calibri" pitchFamily="34" charset="-120"/>
              </a:rPr>
              <a:t>gRPC relies on HTTP/2 and typically uses Protocol Buffers (Protobuf) to define services and messages. Instead of thinking only in terms of Resources and HTTP Methods, gRPC lets you define operations the client calls directly on the server.</a:t>
            </a:r>
            <a:endParaRPr lang="en-US" sz="1400"/>
          </a:p>
        </p:txBody>
      </p:sp>
      <p:sp>
        <p:nvSpPr>
          <p:cNvPr id="8" name="Shape 6"/>
          <p:cNvSpPr/>
          <p:nvPr/>
        </p:nvSpPr>
        <p:spPr>
          <a:xfrm>
            <a:off x="640080" y="3977640"/>
            <a:ext cx="10908792" cy="1920240"/>
          </a:xfrm>
          <a:prstGeom prst="roundRect">
            <a:avLst>
              <a:gd name="adj" fmla="val 3810"/>
            </a:avLst>
          </a:prstGeom>
          <a:solidFill>
            <a:srgbClr val="07293F"/>
          </a:solidFill>
          <a:ln/>
        </p:spPr>
        <p:txBody>
          <a:bodyPr/>
          <a:lstStyle/>
          <a:p>
            <a:endParaRPr lang="en-US"/>
          </a:p>
        </p:txBody>
      </p:sp>
      <p:sp>
        <p:nvSpPr>
          <p:cNvPr id="9" name="Text 7"/>
          <p:cNvSpPr txBox="1"/>
          <p:nvPr/>
        </p:nvSpPr>
        <p:spPr>
          <a:xfrm>
            <a:off x="914400" y="4114800"/>
            <a:ext cx="10360152" cy="320040"/>
          </a:xfrm>
          <a:prstGeom prst="rect">
            <a:avLst/>
          </a:prstGeom>
          <a:noFill/>
          <a:ln/>
        </p:spPr>
        <p:txBody>
          <a:bodyPr wrap="square" lIns="0" tIns="0" rIns="0" bIns="0" rtlCol="0" anchor="ctr"/>
          <a:lstStyle/>
          <a:p>
            <a:pPr marL="0" indent="0" algn="l" rtl="0">
              <a:buNone/>
            </a:pPr>
            <a:r>
              <a:rPr lang="en-US" sz="1300" b="1">
                <a:solidFill>
                  <a:srgbClr val="F2A65A"/>
                </a:solidFill>
                <a:latin typeface="Calibri" pitchFamily="34" charset="0"/>
                <a:ea typeface="Calibri" pitchFamily="34" charset="-122"/>
                <a:cs typeface="Calibri" pitchFamily="34" charset="-120"/>
              </a:rPr>
              <a:t>Defining a service using a .proto file:</a:t>
            </a:r>
            <a:endParaRPr lang="en-US" sz="1300"/>
          </a:p>
        </p:txBody>
      </p:sp>
      <p:sp>
        <p:nvSpPr>
          <p:cNvPr id="10" name="Text 8"/>
          <p:cNvSpPr txBox="1"/>
          <p:nvPr/>
        </p:nvSpPr>
        <p:spPr>
          <a:xfrm>
            <a:off x="1051560" y="4526280"/>
            <a:ext cx="1008583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service ProductService {</a:t>
            </a:r>
            <a:endParaRPr lang="en-US" sz="1300"/>
          </a:p>
        </p:txBody>
      </p:sp>
      <p:sp>
        <p:nvSpPr>
          <p:cNvPr id="11" name="Text 9"/>
          <p:cNvSpPr txBox="1"/>
          <p:nvPr/>
        </p:nvSpPr>
        <p:spPr>
          <a:xfrm>
            <a:off x="1051560" y="4892040"/>
            <a:ext cx="1008583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  rpc GetProduct (ProductRequest) returns (Product);</a:t>
            </a:r>
            <a:endParaRPr lang="en-US" sz="1300"/>
          </a:p>
        </p:txBody>
      </p:sp>
      <p:sp>
        <p:nvSpPr>
          <p:cNvPr id="12" name="Text 10"/>
          <p:cNvSpPr txBox="1"/>
          <p:nvPr/>
        </p:nvSpPr>
        <p:spPr>
          <a:xfrm>
            <a:off x="1051560" y="5257800"/>
            <a:ext cx="10085832" cy="347472"/>
          </a:xfrm>
          <a:prstGeom prst="rect">
            <a:avLst/>
          </a:prstGeom>
          <a:noFill/>
          <a:ln/>
        </p:spPr>
        <p:txBody>
          <a:bodyPr wrap="square" lIns="0" tIns="0" rIns="0" bIns="0" rtlCol="0" anchor="ctr"/>
          <a:lstStyle/>
          <a:p>
            <a:pPr marL="0" indent="0" algn="l">
              <a:buNone/>
            </a:pPr>
            <a:r>
              <a:rPr lang="en-US" sz="1300">
                <a:solidFill>
                  <a:srgbClr val="E7F1F6"/>
                </a:solidFill>
                <a:latin typeface="Courier New" pitchFamily="34" charset="0"/>
                <a:ea typeface="Courier New" pitchFamily="34" charset="-122"/>
                <a:cs typeface="Courier New" pitchFamily="34" charset="-120"/>
              </a:rPr>
              <a:t>}</a:t>
            </a:r>
            <a:endParaRPr lang="en-US" sz="1300"/>
          </a:p>
        </p:txBody>
      </p:sp>
      <p:sp>
        <p:nvSpPr>
          <p:cNvPr id="13" name="Text 11"/>
          <p:cNvSpPr txBox="1"/>
          <p:nvPr/>
        </p:nvSpPr>
        <p:spPr>
          <a:xfrm>
            <a:off x="914400" y="5623560"/>
            <a:ext cx="10360152" cy="274320"/>
          </a:xfrm>
          <a:prstGeom prst="rect">
            <a:avLst/>
          </a:prstGeom>
          <a:noFill/>
          <a:ln/>
        </p:spPr>
        <p:txBody>
          <a:bodyPr wrap="square" lIns="0" tIns="0" rIns="0" bIns="0" rtlCol="0" anchor="ctr"/>
          <a:lstStyle/>
          <a:p>
            <a:pPr marL="0" indent="0" algn="l" rtl="0">
              <a:buNone/>
            </a:pPr>
            <a:r>
              <a:rPr lang="en-US" sz="1150" i="1">
                <a:solidFill>
                  <a:srgbClr val="9FC4D6"/>
                </a:solidFill>
                <a:latin typeface="Calibri" pitchFamily="34" charset="0"/>
                <a:ea typeface="Calibri" pitchFamily="34" charset="-122"/>
                <a:cs typeface="Calibri" pitchFamily="34" charset="-120"/>
              </a:rPr>
              <a:t>This means there is a service called ProductService containing an operation called GetProduct.</a:t>
            </a:r>
            <a:endParaRPr lang="en-US" sz="11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p:cNvSpPr txBox="1"/>
          <p:nvPr/>
        </p:nvSpPr>
        <p:spPr>
          <a:xfrm>
            <a:off x="640080" y="466345"/>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How Does gRPC Work?</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16</a:t>
            </a:r>
            <a:endParaRPr lang="en-US" sz="1100"/>
          </a:p>
        </p:txBody>
      </p:sp>
      <p:sp>
        <p:nvSpPr>
          <p:cNvPr id="6" name="Shape 4"/>
          <p:cNvSpPr/>
          <p:nvPr/>
        </p:nvSpPr>
        <p:spPr>
          <a:xfrm>
            <a:off x="9079992" y="210312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10040112" y="2286000"/>
            <a:ext cx="548640" cy="548640"/>
          </a:xfrm>
          <a:prstGeom prst="ellipse">
            <a:avLst/>
          </a:prstGeom>
          <a:solidFill>
            <a:srgbClr val="0B3D5C"/>
          </a:solidFill>
          <a:ln/>
        </p:spPr>
        <p:txBody>
          <a:bodyPr/>
          <a:lstStyle/>
          <a:p>
            <a:endParaRPr lang="en-US"/>
          </a:p>
        </p:txBody>
      </p:sp>
      <p:sp>
        <p:nvSpPr>
          <p:cNvPr id="9" name="Text 6"/>
          <p:cNvSpPr txBox="1"/>
          <p:nvPr/>
        </p:nvSpPr>
        <p:spPr>
          <a:xfrm>
            <a:off x="9079992" y="2926080"/>
            <a:ext cx="2468880" cy="274320"/>
          </a:xfrm>
          <a:prstGeom prst="rect">
            <a:avLst/>
          </a:prstGeom>
          <a:noFill/>
          <a:ln/>
        </p:spPr>
        <p:txBody>
          <a:bodyPr wrap="square" lIns="0" tIns="0" rIns="0" bIns="0" rtlCol="0" anchor="ctr"/>
          <a:lstStyle/>
          <a:p>
            <a:pPr marL="0" indent="0" algn="ctr">
              <a:buNone/>
            </a:pPr>
            <a:r>
              <a:rPr lang="en-US" sz="1300" b="1">
                <a:solidFill>
                  <a:srgbClr val="0B3D5C"/>
                </a:solidFill>
                <a:latin typeface="Calibri" pitchFamily="34" charset="0"/>
                <a:ea typeface="Calibri" pitchFamily="34" charset="-122"/>
                <a:cs typeface="Calibri" pitchFamily="34" charset="-120"/>
              </a:rPr>
              <a:t>Server</a:t>
            </a:r>
            <a:endParaRPr lang="en-US" sz="1300"/>
          </a:p>
        </p:txBody>
      </p:sp>
      <p:sp>
        <p:nvSpPr>
          <p:cNvPr id="10" name="Text 7"/>
          <p:cNvSpPr txBox="1"/>
          <p:nvPr/>
        </p:nvSpPr>
        <p:spPr>
          <a:xfrm>
            <a:off x="9189720" y="3218688"/>
            <a:ext cx="2249424" cy="548640"/>
          </a:xfrm>
          <a:prstGeom prst="rect">
            <a:avLst/>
          </a:prstGeom>
          <a:noFill/>
          <a:ln/>
        </p:spPr>
        <p:txBody>
          <a:bodyPr wrap="square" lIns="0" tIns="0" rIns="0" bIns="0" rtlCol="0" anchor="t"/>
          <a:lstStyle/>
          <a:p>
            <a:pPr marL="0" indent="0" algn="ctr" rtl="0">
              <a:buNone/>
            </a:pPr>
            <a:r>
              <a:rPr lang="en-US" sz="1050">
                <a:solidFill>
                  <a:srgbClr val="5B7C8D"/>
                </a:solidFill>
                <a:latin typeface="Calibri" pitchFamily="34" charset="0"/>
                <a:ea typeface="Calibri" pitchFamily="34" charset="-122"/>
                <a:cs typeface="Calibri" pitchFamily="34" charset="-120"/>
              </a:rPr>
              <a:t>The server executes the operation and returns</a:t>
            </a:r>
            <a:endParaRPr lang="en-US" sz="1050"/>
          </a:p>
        </p:txBody>
      </p:sp>
      <p:sp>
        <p:nvSpPr>
          <p:cNvPr id="12" name="Shape 9"/>
          <p:cNvSpPr/>
          <p:nvPr/>
        </p:nvSpPr>
        <p:spPr>
          <a:xfrm>
            <a:off x="6266688" y="210312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3" name="Shape 10"/>
          <p:cNvSpPr/>
          <p:nvPr/>
        </p:nvSpPr>
        <p:spPr>
          <a:xfrm>
            <a:off x="7226808" y="2286000"/>
            <a:ext cx="548640" cy="548640"/>
          </a:xfrm>
          <a:prstGeom prst="ellipse">
            <a:avLst/>
          </a:prstGeom>
          <a:solidFill>
            <a:srgbClr val="0B3D5C"/>
          </a:solidFill>
          <a:ln/>
        </p:spPr>
        <p:txBody>
          <a:bodyPr/>
          <a:lstStyle/>
          <a:p>
            <a:endParaRPr lang="en-US"/>
          </a:p>
        </p:txBody>
      </p:sp>
      <p:sp>
        <p:nvSpPr>
          <p:cNvPr id="15" name="Text 11"/>
          <p:cNvSpPr txBox="1"/>
          <p:nvPr/>
        </p:nvSpPr>
        <p:spPr>
          <a:xfrm>
            <a:off x="6266688" y="2926080"/>
            <a:ext cx="2468880" cy="274320"/>
          </a:xfrm>
          <a:prstGeom prst="rect">
            <a:avLst/>
          </a:prstGeom>
          <a:noFill/>
          <a:ln/>
        </p:spPr>
        <p:txBody>
          <a:bodyPr wrap="square" lIns="0" tIns="0" rIns="0" bIns="0" rtlCol="0" anchor="ctr"/>
          <a:lstStyle/>
          <a:p>
            <a:pPr marL="0" indent="0" algn="ctr">
              <a:buNone/>
            </a:pPr>
            <a:r>
              <a:rPr lang="en-US" sz="1300" b="1">
                <a:solidFill>
                  <a:srgbClr val="0B3D5C"/>
                </a:solidFill>
                <a:latin typeface="Calibri" pitchFamily="34" charset="0"/>
                <a:ea typeface="Calibri" pitchFamily="34" charset="-122"/>
                <a:cs typeface="Calibri" pitchFamily="34" charset="-120"/>
              </a:rPr>
              <a:t>Service</a:t>
            </a:r>
            <a:endParaRPr lang="en-US" sz="1300"/>
          </a:p>
        </p:txBody>
      </p:sp>
      <p:sp>
        <p:nvSpPr>
          <p:cNvPr id="16" name="Text 12"/>
          <p:cNvSpPr txBox="1"/>
          <p:nvPr/>
        </p:nvSpPr>
        <p:spPr>
          <a:xfrm>
            <a:off x="6376416" y="3218688"/>
            <a:ext cx="2249424" cy="548640"/>
          </a:xfrm>
          <a:prstGeom prst="rect">
            <a:avLst/>
          </a:prstGeom>
          <a:noFill/>
          <a:ln/>
        </p:spPr>
        <p:txBody>
          <a:bodyPr wrap="square" lIns="0" tIns="0" rIns="0" bIns="0" rtlCol="0" anchor="t"/>
          <a:lstStyle/>
          <a:p>
            <a:pPr marL="0" indent="0" algn="ctr" rtl="0">
              <a:buNone/>
            </a:pPr>
            <a:r>
              <a:rPr lang="en-US" sz="1050">
                <a:solidFill>
                  <a:srgbClr val="5B7C8D"/>
                </a:solidFill>
                <a:latin typeface="Calibri" pitchFamily="34" charset="0"/>
                <a:ea typeface="Calibri" pitchFamily="34" charset="-122"/>
                <a:cs typeface="Calibri" pitchFamily="34" charset="-120"/>
              </a:rPr>
              <a:t>The service determines the operation to be executed</a:t>
            </a:r>
            <a:endParaRPr lang="en-US" sz="1050"/>
          </a:p>
        </p:txBody>
      </p:sp>
      <p:sp>
        <p:nvSpPr>
          <p:cNvPr id="18" name="Shape 14"/>
          <p:cNvSpPr/>
          <p:nvPr/>
        </p:nvSpPr>
        <p:spPr>
          <a:xfrm>
            <a:off x="3453384" y="210312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9" name="Shape 15"/>
          <p:cNvSpPr/>
          <p:nvPr/>
        </p:nvSpPr>
        <p:spPr>
          <a:xfrm>
            <a:off x="4413504" y="2286000"/>
            <a:ext cx="548640" cy="548640"/>
          </a:xfrm>
          <a:prstGeom prst="ellipse">
            <a:avLst/>
          </a:prstGeom>
          <a:solidFill>
            <a:srgbClr val="0B3D5C"/>
          </a:solidFill>
          <a:ln/>
        </p:spPr>
        <p:txBody>
          <a:bodyPr/>
          <a:lstStyle/>
          <a:p>
            <a:endParaRPr lang="en-US"/>
          </a:p>
        </p:txBody>
      </p:sp>
      <p:sp>
        <p:nvSpPr>
          <p:cNvPr id="21" name="Text 16"/>
          <p:cNvSpPr txBox="1"/>
          <p:nvPr/>
        </p:nvSpPr>
        <p:spPr>
          <a:xfrm>
            <a:off x="3453384" y="2926080"/>
            <a:ext cx="2468880" cy="274320"/>
          </a:xfrm>
          <a:prstGeom prst="rect">
            <a:avLst/>
          </a:prstGeom>
          <a:noFill/>
          <a:ln/>
        </p:spPr>
        <p:txBody>
          <a:bodyPr wrap="square" lIns="0" tIns="0" rIns="0" bIns="0" rtlCol="0" anchor="ctr"/>
          <a:lstStyle/>
          <a:p>
            <a:pPr marL="0" indent="0" algn="ctr">
              <a:buNone/>
            </a:pPr>
            <a:r>
              <a:rPr lang="en-US" sz="1300" b="1">
                <a:solidFill>
                  <a:srgbClr val="0B3D5C"/>
                </a:solidFill>
                <a:latin typeface="Calibri" pitchFamily="34" charset="0"/>
                <a:ea typeface="Calibri" pitchFamily="34" charset="-122"/>
                <a:cs typeface="Calibri" pitchFamily="34" charset="-120"/>
              </a:rPr>
              <a:t>gRPC Request</a:t>
            </a:r>
            <a:endParaRPr lang="en-US" sz="1300"/>
          </a:p>
        </p:txBody>
      </p:sp>
      <p:sp>
        <p:nvSpPr>
          <p:cNvPr id="22" name="Text 17"/>
          <p:cNvSpPr txBox="1"/>
          <p:nvPr/>
        </p:nvSpPr>
        <p:spPr>
          <a:xfrm>
            <a:off x="3563112" y="3218688"/>
            <a:ext cx="2249424" cy="548640"/>
          </a:xfrm>
          <a:prstGeom prst="rect">
            <a:avLst/>
          </a:prstGeom>
          <a:noFill/>
          <a:ln/>
        </p:spPr>
        <p:txBody>
          <a:bodyPr wrap="square" lIns="0" tIns="0" rIns="0" bIns="0" rtlCol="0" anchor="t"/>
          <a:lstStyle/>
          <a:p>
            <a:pPr algn="ctr"/>
            <a:r>
              <a:rPr lang="en-US" sz="1050">
                <a:solidFill>
                  <a:srgbClr val="5B7C8D"/>
                </a:solidFill>
                <a:latin typeface="Calibri" pitchFamily="34" charset="0"/>
                <a:ea typeface="Calibri" pitchFamily="34" charset="-122"/>
                <a:cs typeface="Calibri" pitchFamily="34" charset="-120"/>
              </a:rPr>
              <a:t>The request is sent over HTTP/2 in Protobuf format</a:t>
            </a:r>
            <a:endParaRPr lang="en-US" sz="1050"/>
          </a:p>
          <a:p>
            <a:pPr marL="0" indent="0" algn="ctr" rtl="0">
              <a:buNone/>
            </a:pPr>
            <a:endParaRPr lang="en-US" sz="1050"/>
          </a:p>
        </p:txBody>
      </p:sp>
      <p:sp>
        <p:nvSpPr>
          <p:cNvPr id="24" name="Shape 19"/>
          <p:cNvSpPr/>
          <p:nvPr/>
        </p:nvSpPr>
        <p:spPr>
          <a:xfrm>
            <a:off x="640080" y="2103120"/>
            <a:ext cx="2468880" cy="173736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25" name="Shape 20"/>
          <p:cNvSpPr/>
          <p:nvPr/>
        </p:nvSpPr>
        <p:spPr>
          <a:xfrm>
            <a:off x="1600200" y="2286000"/>
            <a:ext cx="548640" cy="548640"/>
          </a:xfrm>
          <a:prstGeom prst="ellipse">
            <a:avLst/>
          </a:prstGeom>
          <a:solidFill>
            <a:srgbClr val="0B3D5C"/>
          </a:solidFill>
          <a:ln/>
        </p:spPr>
        <p:txBody>
          <a:bodyPr/>
          <a:lstStyle/>
          <a:p>
            <a:endParaRPr lang="en-US"/>
          </a:p>
        </p:txBody>
      </p:sp>
      <p:sp>
        <p:nvSpPr>
          <p:cNvPr id="27" name="Text 21"/>
          <p:cNvSpPr txBox="1"/>
          <p:nvPr/>
        </p:nvSpPr>
        <p:spPr>
          <a:xfrm>
            <a:off x="640080" y="2926080"/>
            <a:ext cx="2468880" cy="274320"/>
          </a:xfrm>
          <a:prstGeom prst="rect">
            <a:avLst/>
          </a:prstGeom>
          <a:noFill/>
          <a:ln/>
        </p:spPr>
        <p:txBody>
          <a:bodyPr wrap="square" lIns="0" tIns="0" rIns="0" bIns="0" rtlCol="0" anchor="ctr"/>
          <a:lstStyle/>
          <a:p>
            <a:pPr marL="0" indent="0" algn="ctr">
              <a:buNone/>
            </a:pPr>
            <a:r>
              <a:rPr lang="en-US" sz="1300"/>
              <a:t>Client</a:t>
            </a:r>
          </a:p>
        </p:txBody>
      </p:sp>
      <p:sp>
        <p:nvSpPr>
          <p:cNvPr id="28" name="Text 22"/>
          <p:cNvSpPr txBox="1"/>
          <p:nvPr/>
        </p:nvSpPr>
        <p:spPr>
          <a:xfrm>
            <a:off x="749808" y="3218688"/>
            <a:ext cx="2249424" cy="548640"/>
          </a:xfrm>
          <a:prstGeom prst="rect">
            <a:avLst/>
          </a:prstGeom>
          <a:noFill/>
          <a:ln/>
        </p:spPr>
        <p:txBody>
          <a:bodyPr wrap="square" lIns="0" tIns="0" rIns="0" bIns="0" rtlCol="0" anchor="t"/>
          <a:lstStyle/>
          <a:p>
            <a:pPr algn="ctr"/>
            <a:r>
              <a:rPr lang="en-US" sz="1050">
                <a:solidFill>
                  <a:srgbClr val="5B7C8D"/>
                </a:solidFill>
                <a:latin typeface="Calibri" pitchFamily="34" charset="0"/>
                <a:ea typeface="Calibri" pitchFamily="34" charset="-122"/>
                <a:cs typeface="Calibri" pitchFamily="34" charset="-120"/>
              </a:rPr>
              <a:t>The client starts by calling a remote procedure</a:t>
            </a:r>
            <a:endParaRPr lang="en-US" sz="1050"/>
          </a:p>
        </p:txBody>
      </p:sp>
      <p:sp>
        <p:nvSpPr>
          <p:cNvPr id="29" name="Text 23"/>
          <p:cNvSpPr txBox="1"/>
          <p:nvPr/>
        </p:nvSpPr>
        <p:spPr>
          <a:xfrm>
            <a:off x="640080" y="4251960"/>
            <a:ext cx="10908792" cy="640080"/>
          </a:xfrm>
          <a:prstGeom prst="rect">
            <a:avLst/>
          </a:prstGeom>
          <a:noFill/>
          <a:ln/>
        </p:spPr>
        <p:txBody>
          <a:bodyPr wrap="square" lIns="0" tIns="0" rIns="0" bIns="0" rtlCol="0" anchor="ctr"/>
          <a:lstStyle/>
          <a:p>
            <a:pPr marL="0" indent="0" algn="l" rtl="0">
              <a:buNone/>
            </a:pPr>
            <a:r>
              <a:rPr lang="en-US" sz="1400">
                <a:solidFill>
                  <a:srgbClr val="16324A"/>
                </a:solidFill>
                <a:latin typeface="Calibri" pitchFamily="34" charset="0"/>
                <a:ea typeface="Calibri" pitchFamily="34" charset="-122"/>
                <a:cs typeface="Calibri" pitchFamily="34" charset="-120"/>
              </a:rPr>
              <a:t>The result then returns via the reverse path: Server → gRPC Response → Client. Services and messages are defined using a .proto file.</a:t>
            </a:r>
            <a:endParaRPr lang="en-US" sz="1400"/>
          </a:p>
        </p:txBody>
      </p:sp>
      <p:sp>
        <p:nvSpPr>
          <p:cNvPr id="30" name="Text 24"/>
          <p:cNvSpPr txBox="1"/>
          <p:nvPr/>
        </p:nvSpPr>
        <p:spPr>
          <a:xfrm>
            <a:off x="640080" y="5029200"/>
            <a:ext cx="10908792" cy="1005840"/>
          </a:xfrm>
          <a:prstGeom prst="rect">
            <a:avLst/>
          </a:prstGeom>
          <a:noFill/>
          <a:ln/>
        </p:spPr>
        <p:txBody>
          <a:bodyPr wrap="square" lIns="0" tIns="0" rIns="0" bIns="0" rtlCol="0" anchor="ctr"/>
          <a:lstStyle/>
          <a:p>
            <a:pPr marL="0" indent="0" algn="l" rtl="0">
              <a:buNone/>
            </a:pPr>
            <a:r>
              <a:rPr lang="en-US" sz="1200">
                <a:solidFill>
                  <a:srgbClr val="0B3D5C"/>
                </a:solidFill>
                <a:latin typeface="Courier New" pitchFamily="34" charset="0"/>
                <a:ea typeface="Courier New" pitchFamily="34" charset="-122"/>
                <a:cs typeface="Courier New" pitchFamily="34" charset="-120"/>
              </a:rPr>
              <a:t>Simple example:</a:t>
            </a:r>
          </a:p>
          <a:p>
            <a:pPr marL="0" indent="0" algn="l" rtl="0">
              <a:buNone/>
            </a:pPr>
            <a:r>
              <a:rPr lang="en-US" sz="1200">
                <a:solidFill>
                  <a:srgbClr val="0B3D5C"/>
                </a:solidFill>
                <a:latin typeface="Courier New" pitchFamily="34" charset="0"/>
                <a:ea typeface="Courier New" pitchFamily="34" charset="-122"/>
                <a:cs typeface="Courier New" pitchFamily="34" charset="-120"/>
              </a:rPr>
              <a:t> service ProductService { rpc GetProduct (ProductRequest) returns (Product); }</a:t>
            </a:r>
            <a:endParaRPr lang="en-US" sz="1200"/>
          </a:p>
        </p:txBody>
      </p:sp>
      <p:pic>
        <p:nvPicPr>
          <p:cNvPr id="31" name="Image 0" descr="/home/claude/work/icon_laptop_white.png">
            <a:extLst>
              <a:ext uri="{FF2B5EF4-FFF2-40B4-BE49-F238E27FC236}">
                <a16:creationId xmlns:a16="http://schemas.microsoft.com/office/drawing/2014/main" id="{31884FD6-ACDD-1116-79CE-662E305F3397}"/>
              </a:ext>
            </a:extLst>
          </p:cNvPr>
          <p:cNvPicPr>
            <a:picLocks noChangeAspect="1"/>
          </p:cNvPicPr>
          <p:nvPr/>
        </p:nvPicPr>
        <p:blipFill>
          <a:blip r:embed="rId3"/>
          <a:stretch>
            <a:fillRect/>
          </a:stretch>
        </p:blipFill>
        <p:spPr>
          <a:xfrm>
            <a:off x="1713155" y="2408666"/>
            <a:ext cx="285293" cy="285293"/>
          </a:xfrm>
          <a:prstGeom prst="rect">
            <a:avLst/>
          </a:prstGeom>
        </p:spPr>
      </p:pic>
      <p:pic>
        <p:nvPicPr>
          <p:cNvPr id="32" name="Image 3" descr="/home/claude/work/icon_server_white.png">
            <a:extLst>
              <a:ext uri="{FF2B5EF4-FFF2-40B4-BE49-F238E27FC236}">
                <a16:creationId xmlns:a16="http://schemas.microsoft.com/office/drawing/2014/main" id="{45E338D3-8A13-BDC4-66BA-72C23EC2C8EA}"/>
              </a:ext>
            </a:extLst>
          </p:cNvPr>
          <p:cNvPicPr>
            <a:picLocks noChangeAspect="1"/>
          </p:cNvPicPr>
          <p:nvPr/>
        </p:nvPicPr>
        <p:blipFill>
          <a:blip r:embed="rId4"/>
          <a:stretch>
            <a:fillRect/>
          </a:stretch>
        </p:blipFill>
        <p:spPr>
          <a:xfrm>
            <a:off x="10193552" y="2415845"/>
            <a:ext cx="285293" cy="285293"/>
          </a:xfrm>
          <a:prstGeom prst="rect">
            <a:avLst/>
          </a:prstGeom>
        </p:spPr>
      </p:pic>
      <p:pic>
        <p:nvPicPr>
          <p:cNvPr id="33" name="Image 1" descr="/home/claude/work/icon_grpc_white.png">
            <a:extLst>
              <a:ext uri="{FF2B5EF4-FFF2-40B4-BE49-F238E27FC236}">
                <a16:creationId xmlns:a16="http://schemas.microsoft.com/office/drawing/2014/main" id="{219EC9B0-9B58-514B-D8E6-07ECBAD12337}"/>
              </a:ext>
            </a:extLst>
          </p:cNvPr>
          <p:cNvPicPr>
            <a:picLocks noChangeAspect="1"/>
          </p:cNvPicPr>
          <p:nvPr/>
        </p:nvPicPr>
        <p:blipFill>
          <a:blip r:embed="rId5"/>
          <a:stretch>
            <a:fillRect/>
          </a:stretch>
        </p:blipFill>
        <p:spPr>
          <a:xfrm>
            <a:off x="4589158" y="2427935"/>
            <a:ext cx="285293" cy="285293"/>
          </a:xfrm>
          <a:prstGeom prst="rect">
            <a:avLst/>
          </a:prstGeom>
        </p:spPr>
      </p:pic>
      <p:pic>
        <p:nvPicPr>
          <p:cNvPr id="34" name="Image 2" descr="/home/claude/work/icon_cogs_white.png">
            <a:extLst>
              <a:ext uri="{FF2B5EF4-FFF2-40B4-BE49-F238E27FC236}">
                <a16:creationId xmlns:a16="http://schemas.microsoft.com/office/drawing/2014/main" id="{ED75918B-4EB7-AB9D-E0AF-B1408D9D41B5}"/>
              </a:ext>
            </a:extLst>
          </p:cNvPr>
          <p:cNvPicPr>
            <a:picLocks noChangeAspect="1"/>
          </p:cNvPicPr>
          <p:nvPr/>
        </p:nvPicPr>
        <p:blipFill>
          <a:blip r:embed="rId6"/>
          <a:stretch>
            <a:fillRect/>
          </a:stretch>
        </p:blipFill>
        <p:spPr>
          <a:xfrm>
            <a:off x="7373341" y="2407615"/>
            <a:ext cx="285293" cy="285293"/>
          </a:xfrm>
          <a:prstGeom prst="rect">
            <a:avLst/>
          </a:prstGeom>
        </p:spPr>
      </p:pic>
      <p:sp>
        <p:nvSpPr>
          <p:cNvPr id="35" name="سهم: بشكل رتبة عسكرية 34">
            <a:extLst>
              <a:ext uri="{FF2B5EF4-FFF2-40B4-BE49-F238E27FC236}">
                <a16:creationId xmlns:a16="http://schemas.microsoft.com/office/drawing/2014/main" id="{96ACCE5A-F676-6E66-1C2C-3A29855CB64B}"/>
              </a:ext>
            </a:extLst>
          </p:cNvPr>
          <p:cNvSpPr/>
          <p:nvPr/>
        </p:nvSpPr>
        <p:spPr>
          <a:xfrm>
            <a:off x="5922265" y="2926080"/>
            <a:ext cx="344424" cy="228600"/>
          </a:xfrm>
          <a:prstGeom prst="chevron">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
        <p:nvSpPr>
          <p:cNvPr id="36" name="سهم: بشكل رتبة عسكرية 35">
            <a:extLst>
              <a:ext uri="{FF2B5EF4-FFF2-40B4-BE49-F238E27FC236}">
                <a16:creationId xmlns:a16="http://schemas.microsoft.com/office/drawing/2014/main" id="{A628AD67-648C-8466-BF91-9A276F861FFA}"/>
              </a:ext>
            </a:extLst>
          </p:cNvPr>
          <p:cNvSpPr/>
          <p:nvPr/>
        </p:nvSpPr>
        <p:spPr>
          <a:xfrm>
            <a:off x="8688415" y="2926081"/>
            <a:ext cx="391578" cy="228600"/>
          </a:xfrm>
          <a:prstGeom prst="chevron">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37" name="سهم: بشكل رتبة عسكرية 36">
            <a:extLst>
              <a:ext uri="{FF2B5EF4-FFF2-40B4-BE49-F238E27FC236}">
                <a16:creationId xmlns:a16="http://schemas.microsoft.com/office/drawing/2014/main" id="{EA13548A-8D04-9DEF-972E-11FE573A926F}"/>
              </a:ext>
            </a:extLst>
          </p:cNvPr>
          <p:cNvSpPr/>
          <p:nvPr/>
        </p:nvSpPr>
        <p:spPr>
          <a:xfrm>
            <a:off x="3108960" y="2926080"/>
            <a:ext cx="373888" cy="228600"/>
          </a:xfrm>
          <a:prstGeom prst="chevron">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a:extLst>
            <a:ext uri="{FF2B5EF4-FFF2-40B4-BE49-F238E27FC236}">
              <a16:creationId xmlns:a16="http://schemas.microsoft.com/office/drawing/2014/main" id="{145ADE7C-6348-128E-021D-B8EA11E700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5DC7514-F5EC-17E8-32C3-B7B7BE806930}"/>
              </a:ext>
            </a:extLst>
          </p:cNvPr>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a:extLst>
              <a:ext uri="{FF2B5EF4-FFF2-40B4-BE49-F238E27FC236}">
                <a16:creationId xmlns:a16="http://schemas.microsoft.com/office/drawing/2014/main" id="{2AF0F65A-12AD-4742-C7C8-5EBB6530B351}"/>
              </a:ext>
            </a:extLst>
          </p:cNvPr>
          <p:cNvSpPr txBox="1"/>
          <p:nvPr/>
        </p:nvSpPr>
        <p:spPr>
          <a:xfrm>
            <a:off x="640080" y="466345"/>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Types of </a:t>
            </a:r>
            <a:r>
              <a:rPr lang="en-US" sz="2400" b="1" i="1" err="1">
                <a:solidFill>
                  <a:srgbClr val="0B3D5C"/>
                </a:solidFill>
                <a:latin typeface="Cambria" pitchFamily="34" charset="0"/>
                <a:ea typeface="Cambria" pitchFamily="34" charset="-122"/>
                <a:cs typeface="Cambria" pitchFamily="34" charset="-120"/>
              </a:rPr>
              <a:t>gRPC</a:t>
            </a:r>
            <a:r>
              <a:rPr lang="en-US" sz="2400" b="1" i="1">
                <a:solidFill>
                  <a:srgbClr val="0B3D5C"/>
                </a:solidFill>
                <a:latin typeface="Cambria" pitchFamily="34" charset="0"/>
                <a:ea typeface="Cambria" pitchFamily="34" charset="-122"/>
                <a:cs typeface="Cambria" pitchFamily="34" charset="-120"/>
              </a:rPr>
              <a:t> Calls</a:t>
            </a:r>
            <a:endParaRPr lang="en-US" sz="2400" i="1"/>
          </a:p>
        </p:txBody>
      </p:sp>
      <p:sp>
        <p:nvSpPr>
          <p:cNvPr id="4" name="Shape 2">
            <a:extLst>
              <a:ext uri="{FF2B5EF4-FFF2-40B4-BE49-F238E27FC236}">
                <a16:creationId xmlns:a16="http://schemas.microsoft.com/office/drawing/2014/main" id="{9B028A4F-B782-9B79-3941-00B3873F5942}"/>
              </a:ext>
            </a:extLst>
          </p:cNvPr>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a:extLst>
              <a:ext uri="{FF2B5EF4-FFF2-40B4-BE49-F238E27FC236}">
                <a16:creationId xmlns:a16="http://schemas.microsoft.com/office/drawing/2014/main" id="{78E69B1D-64A5-CE44-B5FD-AD62F2DAB784}"/>
              </a:ext>
            </a:extLst>
          </p:cNvPr>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16</a:t>
            </a:r>
            <a:endParaRPr lang="en-US" sz="1100"/>
          </a:p>
        </p:txBody>
      </p:sp>
      <p:sp>
        <p:nvSpPr>
          <p:cNvPr id="24" name="Shape 19">
            <a:extLst>
              <a:ext uri="{FF2B5EF4-FFF2-40B4-BE49-F238E27FC236}">
                <a16:creationId xmlns:a16="http://schemas.microsoft.com/office/drawing/2014/main" id="{67D4DF2A-6D60-0EA0-71CA-479C298990F2}"/>
              </a:ext>
            </a:extLst>
          </p:cNvPr>
          <p:cNvSpPr/>
          <p:nvPr/>
        </p:nvSpPr>
        <p:spPr>
          <a:xfrm>
            <a:off x="640079" y="1801195"/>
            <a:ext cx="5217257" cy="2338907"/>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pPr marL="342900" indent="-342900">
              <a:buAutoNum type="arabicPeriod"/>
            </a:pPr>
            <a:r>
              <a:rPr lang="en-US"/>
              <a:t>Unary RPC</a:t>
            </a:r>
          </a:p>
          <a:p>
            <a:r>
              <a:rPr lang="en-US"/>
              <a:t>Client ───── Request ─────► Server</a:t>
            </a:r>
          </a:p>
          <a:p>
            <a:r>
              <a:rPr lang="en-US"/>
              <a:t>Client ◄──── Response ───── Server</a:t>
            </a:r>
          </a:p>
        </p:txBody>
      </p:sp>
      <p:sp>
        <p:nvSpPr>
          <p:cNvPr id="11" name="Shape 19">
            <a:extLst>
              <a:ext uri="{FF2B5EF4-FFF2-40B4-BE49-F238E27FC236}">
                <a16:creationId xmlns:a16="http://schemas.microsoft.com/office/drawing/2014/main" id="{BA21170F-4138-728C-0039-FA09ED3EA50B}"/>
              </a:ext>
            </a:extLst>
          </p:cNvPr>
          <p:cNvSpPr/>
          <p:nvPr/>
        </p:nvSpPr>
        <p:spPr>
          <a:xfrm>
            <a:off x="658368" y="4198246"/>
            <a:ext cx="5217257" cy="2166380"/>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r>
              <a:rPr lang="en-US"/>
              <a:t>2. Server streaming</a:t>
            </a:r>
            <a:br>
              <a:rPr lang="en-US"/>
            </a:br>
            <a:r>
              <a:rPr lang="en-US"/>
              <a:t>Client ───── Request ─────► Server</a:t>
            </a:r>
          </a:p>
          <a:p>
            <a:endParaRPr lang="en-US"/>
          </a:p>
          <a:p>
            <a:r>
              <a:rPr lang="en-US"/>
              <a:t>Client ◄──── Student 1 ──── Server</a:t>
            </a:r>
          </a:p>
          <a:p>
            <a:r>
              <a:rPr lang="en-US"/>
              <a:t>Client ◄──── Student 2 ──── Server</a:t>
            </a:r>
          </a:p>
          <a:p>
            <a:r>
              <a:rPr lang="en-US"/>
              <a:t>Client ◄──── Student 3 ──── Server</a:t>
            </a:r>
          </a:p>
          <a:p>
            <a:r>
              <a:rPr lang="en-US"/>
              <a:t>Client ◄──── Student 4 ──── Server</a:t>
            </a:r>
          </a:p>
        </p:txBody>
      </p:sp>
      <p:sp>
        <p:nvSpPr>
          <p:cNvPr id="17" name="Shape 19">
            <a:extLst>
              <a:ext uri="{FF2B5EF4-FFF2-40B4-BE49-F238E27FC236}">
                <a16:creationId xmlns:a16="http://schemas.microsoft.com/office/drawing/2014/main" id="{D034BE06-BA3F-2887-E169-D63DEA83ECB3}"/>
              </a:ext>
            </a:extLst>
          </p:cNvPr>
          <p:cNvSpPr/>
          <p:nvPr/>
        </p:nvSpPr>
        <p:spPr>
          <a:xfrm>
            <a:off x="6334666" y="1801195"/>
            <a:ext cx="5217257" cy="2244593"/>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r>
              <a:rPr lang="en-US"/>
              <a:t>3. Client streaming</a:t>
            </a:r>
          </a:p>
          <a:p>
            <a:r>
              <a:rPr lang="en-US"/>
              <a:t>Client ───── Student 1 ───► Server</a:t>
            </a:r>
          </a:p>
          <a:p>
            <a:r>
              <a:rPr lang="en-US"/>
              <a:t>Client ───── Student 2 ───► Server</a:t>
            </a:r>
          </a:p>
          <a:p>
            <a:r>
              <a:rPr lang="en-US"/>
              <a:t>Client ───── Student 3 ───► Server</a:t>
            </a:r>
          </a:p>
          <a:p>
            <a:r>
              <a:rPr lang="en-US"/>
              <a:t>Client ───── Student 4 ───► Server</a:t>
            </a:r>
          </a:p>
          <a:p>
            <a:endParaRPr lang="en-US"/>
          </a:p>
          <a:p>
            <a:r>
              <a:rPr lang="en-US"/>
              <a:t>Client ◄──── Result ─────── Server</a:t>
            </a:r>
          </a:p>
          <a:p>
            <a:pPr marL="342900" indent="-342900">
              <a:buAutoNum type="arabicPeriod"/>
            </a:pPr>
            <a:endParaRPr lang="en-US"/>
          </a:p>
        </p:txBody>
      </p:sp>
      <p:sp>
        <p:nvSpPr>
          <p:cNvPr id="23" name="Shape 19">
            <a:extLst>
              <a:ext uri="{FF2B5EF4-FFF2-40B4-BE49-F238E27FC236}">
                <a16:creationId xmlns:a16="http://schemas.microsoft.com/office/drawing/2014/main" id="{BD04EC09-2867-1CC9-357C-BFCBA2FF7CA7}"/>
              </a:ext>
            </a:extLst>
          </p:cNvPr>
          <p:cNvSpPr/>
          <p:nvPr/>
        </p:nvSpPr>
        <p:spPr>
          <a:xfrm>
            <a:off x="6316377" y="4140104"/>
            <a:ext cx="5217257" cy="2166379"/>
          </a:xfrm>
          <a:prstGeom prst="roundRect">
            <a:avLst>
              <a:gd name="adj" fmla="val 4211"/>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r>
              <a:rPr lang="en-US"/>
              <a:t>4.  Bidirectional streaming</a:t>
            </a:r>
            <a:br>
              <a:rPr lang="en-US"/>
            </a:br>
            <a:r>
              <a:rPr lang="en-US"/>
              <a:t>Client ───────► Server</a:t>
            </a:r>
          </a:p>
          <a:p>
            <a:r>
              <a:rPr lang="en-US"/>
              <a:t>       ◄───────</a:t>
            </a:r>
          </a:p>
          <a:p>
            <a:r>
              <a:rPr lang="en-US"/>
              <a:t>       ───────►</a:t>
            </a:r>
          </a:p>
          <a:p>
            <a:r>
              <a:rPr lang="en-US"/>
              <a:t>       ◄───────</a:t>
            </a:r>
          </a:p>
          <a:p>
            <a:r>
              <a:rPr lang="en-US"/>
              <a:t>       ───────►</a:t>
            </a:r>
          </a:p>
          <a:p>
            <a:r>
              <a:rPr lang="en-US"/>
              <a:t>       ◄───────</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03ADA7B-580D-92D5-AAAC-B43128A05247}"/>
                  </a:ext>
                </a:extLst>
              </p14:cNvPr>
              <p14:cNvContentPartPr/>
              <p14:nvPr/>
            </p14:nvContentPartPr>
            <p14:xfrm>
              <a:off x="1249560" y="2088360"/>
              <a:ext cx="7513560" cy="3245760"/>
            </p14:xfrm>
          </p:contentPart>
        </mc:Choice>
        <mc:Fallback xmlns="">
          <p:pic>
            <p:nvPicPr>
              <p:cNvPr id="6" name="Ink 5">
                <a:extLst>
                  <a:ext uri="{FF2B5EF4-FFF2-40B4-BE49-F238E27FC236}">
                    <a16:creationId xmlns:a16="http://schemas.microsoft.com/office/drawing/2014/main" id="{003ADA7B-580D-92D5-AAAC-B43128A05247}"/>
                  </a:ext>
                </a:extLst>
              </p:cNvPr>
              <p:cNvPicPr/>
              <p:nvPr/>
            </p:nvPicPr>
            <p:blipFill>
              <a:blip r:embed="rId4"/>
              <a:stretch>
                <a:fillRect/>
              </a:stretch>
            </p:blipFill>
            <p:spPr>
              <a:xfrm>
                <a:off x="1240200" y="2079000"/>
                <a:ext cx="7532280" cy="3264480"/>
              </a:xfrm>
              <a:prstGeom prst="rect">
                <a:avLst/>
              </a:prstGeom>
            </p:spPr>
          </p:pic>
        </mc:Fallback>
      </mc:AlternateContent>
    </p:spTree>
    <p:extLst>
      <p:ext uri="{BB962C8B-B14F-4D97-AF65-F5344CB8AC3E}">
        <p14:creationId xmlns:p14="http://schemas.microsoft.com/office/powerpoint/2010/main" val="3004916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endParaRPr lang="en-US" sz="1300"/>
          </a:p>
        </p:txBody>
      </p:sp>
      <p:sp>
        <p:nvSpPr>
          <p:cNvPr id="3" name="Text 1"/>
          <p:cNvSpPr txBox="1"/>
          <p:nvPr/>
        </p:nvSpPr>
        <p:spPr>
          <a:xfrm>
            <a:off x="640080" y="544068"/>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Advantages and Disadvantages of gRPC:</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17</a:t>
            </a:r>
            <a:endParaRPr lang="en-US" sz="1100"/>
          </a:p>
        </p:txBody>
      </p:sp>
      <p:sp>
        <p:nvSpPr>
          <p:cNvPr id="6" name="Shape 4"/>
          <p:cNvSpPr/>
          <p:nvPr/>
        </p:nvSpPr>
        <p:spPr>
          <a:xfrm>
            <a:off x="640080"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868680" y="2103120"/>
            <a:ext cx="411480" cy="411480"/>
          </a:xfrm>
          <a:prstGeom prst="ellipse">
            <a:avLst/>
          </a:prstGeom>
          <a:solidFill>
            <a:srgbClr val="1E7D4C"/>
          </a:solidFill>
          <a:ln/>
        </p:spPr>
        <p:txBody>
          <a:bodyPr/>
          <a:lstStyle/>
          <a:p>
            <a:endParaRPr lang="en-US"/>
          </a:p>
        </p:txBody>
      </p:sp>
      <p:pic>
        <p:nvPicPr>
          <p:cNvPr id="8" name="Image 0" descr="/home/claude/work/icon_check_white.png"/>
          <p:cNvPicPr>
            <a:picLocks noChangeAspect="1"/>
          </p:cNvPicPr>
          <p:nvPr/>
        </p:nvPicPr>
        <p:blipFill>
          <a:blip r:embed="rId3"/>
          <a:stretch>
            <a:fillRect/>
          </a:stretch>
        </p:blipFill>
        <p:spPr>
          <a:xfrm>
            <a:off x="967435" y="2201875"/>
            <a:ext cx="213970" cy="213970"/>
          </a:xfrm>
          <a:prstGeom prst="rect">
            <a:avLst/>
          </a:prstGeom>
        </p:spPr>
      </p:pic>
      <p:sp>
        <p:nvSpPr>
          <p:cNvPr id="9" name="Text 6"/>
          <p:cNvSpPr txBox="1"/>
          <p:nvPr/>
        </p:nvSpPr>
        <p:spPr>
          <a:xfrm>
            <a:off x="1417320" y="2121408"/>
            <a:ext cx="4311396" cy="365760"/>
          </a:xfrm>
          <a:prstGeom prst="rect">
            <a:avLst/>
          </a:prstGeom>
          <a:noFill/>
          <a:ln/>
        </p:spPr>
        <p:txBody>
          <a:bodyPr wrap="square" lIns="0" tIns="0" rIns="0" bIns="0" rtlCol="0" anchor="ctr"/>
          <a:lstStyle/>
          <a:p>
            <a:pPr marL="0" indent="0" algn="l" rtl="0">
              <a:buNone/>
            </a:pPr>
            <a:r>
              <a:rPr lang="en-US" sz="1700" b="1">
                <a:solidFill>
                  <a:srgbClr val="1E7D4C"/>
                </a:solidFill>
                <a:latin typeface="Calibri" pitchFamily="34" charset="0"/>
                <a:ea typeface="Calibri" pitchFamily="34" charset="-122"/>
                <a:cs typeface="Calibri" pitchFamily="34" charset="-120"/>
              </a:rPr>
              <a:t>Advantages:</a:t>
            </a:r>
            <a:endParaRPr lang="en-US" sz="1700"/>
          </a:p>
        </p:txBody>
      </p:sp>
      <p:sp>
        <p:nvSpPr>
          <p:cNvPr id="10" name="Text 7"/>
          <p:cNvSpPr txBox="1"/>
          <p:nvPr/>
        </p:nvSpPr>
        <p:spPr>
          <a:xfrm>
            <a:off x="868680" y="26974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High performance</a:t>
            </a:r>
            <a:endParaRPr lang="en-US" sz="1250"/>
          </a:p>
        </p:txBody>
      </p:sp>
      <p:sp>
        <p:nvSpPr>
          <p:cNvPr id="11" name="Text 8"/>
          <p:cNvSpPr txBox="1"/>
          <p:nvPr/>
        </p:nvSpPr>
        <p:spPr>
          <a:xfrm>
            <a:off x="868680" y="320040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Uses HTTP/2</a:t>
            </a:r>
            <a:endParaRPr lang="en-US" sz="1250"/>
          </a:p>
        </p:txBody>
      </p:sp>
      <p:sp>
        <p:nvSpPr>
          <p:cNvPr id="12" name="Text 9"/>
          <p:cNvSpPr txBox="1"/>
          <p:nvPr/>
        </p:nvSpPr>
        <p:spPr>
          <a:xfrm>
            <a:off x="868680" y="370332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Protocol Buffers for an efficient binary data format</a:t>
            </a:r>
            <a:endParaRPr lang="en-US" sz="1250"/>
          </a:p>
        </p:txBody>
      </p:sp>
      <p:sp>
        <p:nvSpPr>
          <p:cNvPr id="13" name="Text 10"/>
          <p:cNvSpPr txBox="1"/>
          <p:nvPr/>
        </p:nvSpPr>
        <p:spPr>
          <a:xfrm>
            <a:off x="868680" y="420624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Very suitable for communication between microservices</a:t>
            </a:r>
            <a:endParaRPr lang="en-US" sz="1250"/>
          </a:p>
        </p:txBody>
      </p:sp>
      <p:sp>
        <p:nvSpPr>
          <p:cNvPr id="14" name="Text 11"/>
          <p:cNvSpPr txBox="1"/>
          <p:nvPr/>
        </p:nvSpPr>
        <p:spPr>
          <a:xfrm>
            <a:off x="868680" y="470916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Supports different types of communication, such as streaming</a:t>
            </a:r>
            <a:endParaRPr lang="en-US" sz="1250"/>
          </a:p>
        </p:txBody>
      </p:sp>
      <p:sp>
        <p:nvSpPr>
          <p:cNvPr id="15" name="Text 12"/>
          <p:cNvSpPr txBox="1"/>
          <p:nvPr/>
        </p:nvSpPr>
        <p:spPr>
          <a:xfrm>
            <a:off x="868680" y="52120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Clear definition of services and messages</a:t>
            </a:r>
            <a:endParaRPr lang="en-US" sz="1250"/>
          </a:p>
        </p:txBody>
      </p:sp>
      <p:sp>
        <p:nvSpPr>
          <p:cNvPr id="16" name="Shape 13"/>
          <p:cNvSpPr/>
          <p:nvPr/>
        </p:nvSpPr>
        <p:spPr>
          <a:xfrm>
            <a:off x="6323076"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7" name="Shape 14"/>
          <p:cNvSpPr/>
          <p:nvPr/>
        </p:nvSpPr>
        <p:spPr>
          <a:xfrm>
            <a:off x="6551676" y="2103120"/>
            <a:ext cx="411480" cy="411480"/>
          </a:xfrm>
          <a:prstGeom prst="ellipse">
            <a:avLst/>
          </a:prstGeom>
          <a:solidFill>
            <a:srgbClr val="9C3B3B"/>
          </a:solidFill>
          <a:ln/>
        </p:spPr>
        <p:txBody>
          <a:bodyPr/>
          <a:lstStyle/>
          <a:p>
            <a:endParaRPr lang="en-US"/>
          </a:p>
        </p:txBody>
      </p:sp>
      <p:pic>
        <p:nvPicPr>
          <p:cNvPr id="18" name="Image 1" descr="/home/claude/work/icon_times_white.png"/>
          <p:cNvPicPr>
            <a:picLocks noChangeAspect="1"/>
          </p:cNvPicPr>
          <p:nvPr/>
        </p:nvPicPr>
        <p:blipFill>
          <a:blip r:embed="rId4"/>
          <a:stretch>
            <a:fillRect/>
          </a:stretch>
        </p:blipFill>
        <p:spPr>
          <a:xfrm>
            <a:off x="6650431" y="2201875"/>
            <a:ext cx="213970" cy="213970"/>
          </a:xfrm>
          <a:prstGeom prst="rect">
            <a:avLst/>
          </a:prstGeom>
        </p:spPr>
      </p:pic>
      <p:sp>
        <p:nvSpPr>
          <p:cNvPr id="19" name="Text 15"/>
          <p:cNvSpPr txBox="1"/>
          <p:nvPr/>
        </p:nvSpPr>
        <p:spPr>
          <a:xfrm>
            <a:off x="7100316" y="2121408"/>
            <a:ext cx="4311396" cy="365760"/>
          </a:xfrm>
          <a:prstGeom prst="rect">
            <a:avLst/>
          </a:prstGeom>
          <a:noFill/>
          <a:ln/>
        </p:spPr>
        <p:txBody>
          <a:bodyPr wrap="square" lIns="0" tIns="0" rIns="0" bIns="0" rtlCol="0" anchor="ctr"/>
          <a:lstStyle/>
          <a:p>
            <a:pPr marL="0" indent="0" algn="l" rtl="0">
              <a:buNone/>
            </a:pPr>
            <a:r>
              <a:rPr lang="en-US" sz="1700" b="1">
                <a:solidFill>
                  <a:srgbClr val="9C3B3B"/>
                </a:solidFill>
                <a:latin typeface="Calibri" pitchFamily="34" charset="0"/>
                <a:ea typeface="Calibri" pitchFamily="34" charset="-122"/>
                <a:cs typeface="Calibri" pitchFamily="34" charset="-120"/>
              </a:rPr>
              <a:t>Disadvantages:</a:t>
            </a:r>
            <a:endParaRPr lang="en-US" sz="1700"/>
          </a:p>
        </p:txBody>
      </p:sp>
      <p:sp>
        <p:nvSpPr>
          <p:cNvPr id="20" name="Text 16"/>
          <p:cNvSpPr txBox="1"/>
          <p:nvPr/>
        </p:nvSpPr>
        <p:spPr>
          <a:xfrm>
            <a:off x="6551676" y="2697480"/>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More complex than REST for beginners</a:t>
            </a:r>
            <a:endParaRPr lang="en-US" sz="1250"/>
          </a:p>
        </p:txBody>
      </p:sp>
      <p:sp>
        <p:nvSpPr>
          <p:cNvPr id="21" name="Text 17"/>
          <p:cNvSpPr txBox="1"/>
          <p:nvPr/>
        </p:nvSpPr>
        <p:spPr>
          <a:xfrm>
            <a:off x="6551676" y="3264408"/>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Less convenient for direct use from a browser</a:t>
            </a:r>
            <a:endParaRPr lang="en-US" sz="1250"/>
          </a:p>
        </p:txBody>
      </p:sp>
      <p:sp>
        <p:nvSpPr>
          <p:cNvPr id="22" name="Text 18"/>
          <p:cNvSpPr txBox="1"/>
          <p:nvPr/>
        </p:nvSpPr>
        <p:spPr>
          <a:xfrm>
            <a:off x="6551676" y="3831336"/>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Requires special tools and setup for Protocol Buffers</a:t>
            </a:r>
            <a:endParaRPr lang="en-US" sz="1250"/>
          </a:p>
        </p:txBody>
      </p:sp>
      <p:sp>
        <p:nvSpPr>
          <p:cNvPr id="23" name="Text 19"/>
          <p:cNvSpPr txBox="1"/>
          <p:nvPr/>
        </p:nvSpPr>
        <p:spPr>
          <a:xfrm>
            <a:off x="6551676" y="4398264"/>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May not be the best fit for all general-purpose Web APIs</a:t>
            </a:r>
            <a:endParaRPr lang="en-US" sz="1250"/>
          </a:p>
        </p:txBody>
      </p:sp>
      <p:sp>
        <p:nvSpPr>
          <p:cNvPr id="24" name="Text 20"/>
          <p:cNvSpPr txBox="1"/>
          <p:nvPr/>
        </p:nvSpPr>
        <p:spPr>
          <a:xfrm>
            <a:off x="6551676" y="4965192"/>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Developers need additional understanding of HTTP/2 and Protobuf</a:t>
            </a:r>
            <a:endParaRPr lang="en-US" sz="12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Comparison:</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REST vs. GraphQL vs. gRPC:</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18</a:t>
            </a:r>
            <a:endParaRPr lang="en-US" sz="1100"/>
          </a:p>
        </p:txBody>
      </p:sp>
      <p:sp>
        <p:nvSpPr>
          <p:cNvPr id="6" name="Shape 4"/>
          <p:cNvSpPr/>
          <p:nvPr/>
        </p:nvSpPr>
        <p:spPr>
          <a:xfrm>
            <a:off x="1110996" y="1783080"/>
            <a:ext cx="2377440" cy="420624"/>
          </a:xfrm>
          <a:prstGeom prst="rect">
            <a:avLst/>
          </a:prstGeom>
          <a:solidFill>
            <a:srgbClr val="0B3D5C"/>
          </a:solidFill>
          <a:ln w="9525">
            <a:solidFill>
              <a:srgbClr val="DCE7EC"/>
            </a:solidFill>
            <a:prstDash val="solid"/>
          </a:ln>
        </p:spPr>
        <p:txBody>
          <a:bodyPr/>
          <a:lstStyle/>
          <a:p>
            <a:endParaRPr lang="en-US"/>
          </a:p>
        </p:txBody>
      </p:sp>
      <p:sp>
        <p:nvSpPr>
          <p:cNvPr id="7" name="Text 5"/>
          <p:cNvSpPr txBox="1"/>
          <p:nvPr/>
        </p:nvSpPr>
        <p:spPr>
          <a:xfrm>
            <a:off x="1110996" y="1783080"/>
            <a:ext cx="2377440" cy="420624"/>
          </a:xfrm>
          <a:prstGeom prst="rect">
            <a:avLst/>
          </a:prstGeom>
          <a:noFill/>
          <a:ln/>
        </p:spPr>
        <p:txBody>
          <a:bodyPr wrap="square" lIns="0" tIns="0" rIns="0" bIns="0" rtlCol="0" anchor="ctr"/>
          <a:lstStyle/>
          <a:p>
            <a:pPr marL="0" indent="0" algn="ctr" rtl="0">
              <a:buNone/>
            </a:pPr>
            <a:r>
              <a:rPr lang="en-US" sz="1300" b="1">
                <a:solidFill>
                  <a:srgbClr val="FFFFFF"/>
                </a:solidFill>
                <a:latin typeface="Calibri" pitchFamily="34" charset="0"/>
                <a:ea typeface="Calibri" pitchFamily="34" charset="-122"/>
                <a:cs typeface="Calibri" pitchFamily="34" charset="-120"/>
              </a:rPr>
              <a:t>Aspect</a:t>
            </a:r>
            <a:endParaRPr lang="en-US" sz="1300"/>
          </a:p>
        </p:txBody>
      </p:sp>
      <p:sp>
        <p:nvSpPr>
          <p:cNvPr id="8" name="Shape 6"/>
          <p:cNvSpPr/>
          <p:nvPr/>
        </p:nvSpPr>
        <p:spPr>
          <a:xfrm>
            <a:off x="3488436" y="1783080"/>
            <a:ext cx="2286000" cy="420624"/>
          </a:xfrm>
          <a:prstGeom prst="rect">
            <a:avLst/>
          </a:prstGeom>
          <a:solidFill>
            <a:srgbClr val="0B3D5C"/>
          </a:solidFill>
          <a:ln w="9525">
            <a:solidFill>
              <a:srgbClr val="DCE7EC"/>
            </a:solidFill>
            <a:prstDash val="solid"/>
          </a:ln>
        </p:spPr>
        <p:txBody>
          <a:bodyPr/>
          <a:lstStyle/>
          <a:p>
            <a:endParaRPr lang="en-US"/>
          </a:p>
        </p:txBody>
      </p:sp>
      <p:sp>
        <p:nvSpPr>
          <p:cNvPr id="9" name="Text 7"/>
          <p:cNvSpPr txBox="1"/>
          <p:nvPr/>
        </p:nvSpPr>
        <p:spPr>
          <a:xfrm>
            <a:off x="3488436" y="1783080"/>
            <a:ext cx="2286000" cy="420624"/>
          </a:xfrm>
          <a:prstGeom prst="rect">
            <a:avLst/>
          </a:prstGeom>
          <a:noFill/>
          <a:ln/>
        </p:spPr>
        <p:txBody>
          <a:bodyPr wrap="square" lIns="0" tIns="0" rIns="0" bIns="0" rtlCol="0" anchor="ctr"/>
          <a:lstStyle/>
          <a:p>
            <a:pPr marL="0" indent="0" algn="ctr" rtl="0">
              <a:buNone/>
            </a:pPr>
            <a:r>
              <a:rPr lang="en-US" sz="1300" b="1">
                <a:solidFill>
                  <a:srgbClr val="FFFFFF"/>
                </a:solidFill>
                <a:latin typeface="Calibri" pitchFamily="34" charset="0"/>
                <a:ea typeface="Calibri" pitchFamily="34" charset="-122"/>
                <a:cs typeface="Calibri" pitchFamily="34" charset="-120"/>
              </a:rPr>
              <a:t>REST</a:t>
            </a:r>
            <a:endParaRPr lang="en-US" sz="1300"/>
          </a:p>
        </p:txBody>
      </p:sp>
      <p:sp>
        <p:nvSpPr>
          <p:cNvPr id="10" name="Shape 8"/>
          <p:cNvSpPr/>
          <p:nvPr/>
        </p:nvSpPr>
        <p:spPr>
          <a:xfrm>
            <a:off x="5774436" y="1783080"/>
            <a:ext cx="2834640" cy="420624"/>
          </a:xfrm>
          <a:prstGeom prst="rect">
            <a:avLst/>
          </a:prstGeom>
          <a:solidFill>
            <a:srgbClr val="0B3D5C"/>
          </a:solidFill>
          <a:ln w="9525">
            <a:solidFill>
              <a:srgbClr val="DCE7EC"/>
            </a:solidFill>
            <a:prstDash val="solid"/>
          </a:ln>
        </p:spPr>
        <p:txBody>
          <a:bodyPr/>
          <a:lstStyle/>
          <a:p>
            <a:endParaRPr lang="en-US"/>
          </a:p>
        </p:txBody>
      </p:sp>
      <p:sp>
        <p:nvSpPr>
          <p:cNvPr id="11" name="Text 9"/>
          <p:cNvSpPr txBox="1"/>
          <p:nvPr/>
        </p:nvSpPr>
        <p:spPr>
          <a:xfrm>
            <a:off x="5774436" y="1783080"/>
            <a:ext cx="2834640" cy="420624"/>
          </a:xfrm>
          <a:prstGeom prst="rect">
            <a:avLst/>
          </a:prstGeom>
          <a:noFill/>
          <a:ln/>
        </p:spPr>
        <p:txBody>
          <a:bodyPr wrap="square" lIns="0" tIns="0" rIns="0" bIns="0" rtlCol="0" anchor="ctr"/>
          <a:lstStyle/>
          <a:p>
            <a:pPr marL="0" indent="0" algn="ctr" rtl="0">
              <a:buNone/>
            </a:pPr>
            <a:r>
              <a:rPr lang="en-US" sz="1300" b="1">
                <a:solidFill>
                  <a:srgbClr val="FFFFFF"/>
                </a:solidFill>
                <a:latin typeface="Calibri" pitchFamily="34" charset="0"/>
                <a:ea typeface="Calibri" pitchFamily="34" charset="-122"/>
                <a:cs typeface="Calibri" pitchFamily="34" charset="-120"/>
              </a:rPr>
              <a:t>GraphQL</a:t>
            </a:r>
            <a:endParaRPr lang="en-US" sz="1300"/>
          </a:p>
        </p:txBody>
      </p:sp>
      <p:sp>
        <p:nvSpPr>
          <p:cNvPr id="12" name="Shape 10"/>
          <p:cNvSpPr/>
          <p:nvPr/>
        </p:nvSpPr>
        <p:spPr>
          <a:xfrm>
            <a:off x="8609076" y="1783080"/>
            <a:ext cx="2468880" cy="420624"/>
          </a:xfrm>
          <a:prstGeom prst="rect">
            <a:avLst/>
          </a:prstGeom>
          <a:solidFill>
            <a:srgbClr val="0B3D5C"/>
          </a:solidFill>
          <a:ln w="9525">
            <a:solidFill>
              <a:srgbClr val="DCE7EC"/>
            </a:solidFill>
            <a:prstDash val="solid"/>
          </a:ln>
        </p:spPr>
        <p:txBody>
          <a:bodyPr/>
          <a:lstStyle/>
          <a:p>
            <a:endParaRPr lang="en-US"/>
          </a:p>
        </p:txBody>
      </p:sp>
      <p:sp>
        <p:nvSpPr>
          <p:cNvPr id="13" name="Text 11"/>
          <p:cNvSpPr txBox="1"/>
          <p:nvPr/>
        </p:nvSpPr>
        <p:spPr>
          <a:xfrm>
            <a:off x="8609076" y="1783080"/>
            <a:ext cx="2468880" cy="420624"/>
          </a:xfrm>
          <a:prstGeom prst="rect">
            <a:avLst/>
          </a:prstGeom>
          <a:noFill/>
          <a:ln/>
        </p:spPr>
        <p:txBody>
          <a:bodyPr wrap="square" lIns="0" tIns="0" rIns="0" bIns="0" rtlCol="0" anchor="ctr"/>
          <a:lstStyle/>
          <a:p>
            <a:pPr marL="0" indent="0" algn="ctr" rtl="0">
              <a:buNone/>
            </a:pPr>
            <a:r>
              <a:rPr lang="en-US" sz="1300" b="1">
                <a:solidFill>
                  <a:srgbClr val="FFFFFF"/>
                </a:solidFill>
                <a:latin typeface="Calibri" pitchFamily="34" charset="0"/>
                <a:ea typeface="Calibri" pitchFamily="34" charset="-122"/>
                <a:cs typeface="Calibri" pitchFamily="34" charset="-120"/>
              </a:rPr>
              <a:t>gRPC</a:t>
            </a:r>
            <a:endParaRPr lang="en-US" sz="1300"/>
          </a:p>
        </p:txBody>
      </p:sp>
      <p:sp>
        <p:nvSpPr>
          <p:cNvPr id="14" name="Shape 12"/>
          <p:cNvSpPr/>
          <p:nvPr/>
        </p:nvSpPr>
        <p:spPr>
          <a:xfrm>
            <a:off x="1110996" y="2203704"/>
            <a:ext cx="2377440" cy="420624"/>
          </a:xfrm>
          <a:prstGeom prst="rect">
            <a:avLst/>
          </a:prstGeom>
          <a:solidFill>
            <a:srgbClr val="FFFFFF"/>
          </a:solidFill>
          <a:ln w="9525">
            <a:solidFill>
              <a:srgbClr val="DCE7EC"/>
            </a:solidFill>
            <a:prstDash val="solid"/>
          </a:ln>
        </p:spPr>
        <p:txBody>
          <a:bodyPr/>
          <a:lstStyle/>
          <a:p>
            <a:endParaRPr lang="en-US"/>
          </a:p>
        </p:txBody>
      </p:sp>
      <p:sp>
        <p:nvSpPr>
          <p:cNvPr id="15" name="Text 13"/>
          <p:cNvSpPr txBox="1"/>
          <p:nvPr/>
        </p:nvSpPr>
        <p:spPr>
          <a:xfrm>
            <a:off x="1110996" y="2203704"/>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Style</a:t>
            </a:r>
            <a:endParaRPr lang="en-US" sz="1150"/>
          </a:p>
        </p:txBody>
      </p:sp>
      <p:sp>
        <p:nvSpPr>
          <p:cNvPr id="16" name="Shape 14"/>
          <p:cNvSpPr/>
          <p:nvPr/>
        </p:nvSpPr>
        <p:spPr>
          <a:xfrm>
            <a:off x="3488436" y="2203704"/>
            <a:ext cx="2286000" cy="420624"/>
          </a:xfrm>
          <a:prstGeom prst="rect">
            <a:avLst/>
          </a:prstGeom>
          <a:solidFill>
            <a:srgbClr val="FFFFFF"/>
          </a:solidFill>
          <a:ln w="9525">
            <a:solidFill>
              <a:srgbClr val="DCE7EC"/>
            </a:solidFill>
            <a:prstDash val="solid"/>
          </a:ln>
        </p:spPr>
        <p:txBody>
          <a:bodyPr/>
          <a:lstStyle/>
          <a:p>
            <a:endParaRPr lang="en-US"/>
          </a:p>
        </p:txBody>
      </p:sp>
      <p:sp>
        <p:nvSpPr>
          <p:cNvPr id="17" name="Text 15"/>
          <p:cNvSpPr txBox="1"/>
          <p:nvPr/>
        </p:nvSpPr>
        <p:spPr>
          <a:xfrm>
            <a:off x="3488436" y="2203704"/>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Architectural Style</a:t>
            </a:r>
            <a:endParaRPr lang="en-US" sz="1150"/>
          </a:p>
        </p:txBody>
      </p:sp>
      <p:sp>
        <p:nvSpPr>
          <p:cNvPr id="18" name="Shape 16"/>
          <p:cNvSpPr/>
          <p:nvPr/>
        </p:nvSpPr>
        <p:spPr>
          <a:xfrm>
            <a:off x="5774436" y="2203704"/>
            <a:ext cx="2834640" cy="420624"/>
          </a:xfrm>
          <a:prstGeom prst="rect">
            <a:avLst/>
          </a:prstGeom>
          <a:solidFill>
            <a:srgbClr val="FFFFFF"/>
          </a:solidFill>
          <a:ln w="9525">
            <a:solidFill>
              <a:srgbClr val="DCE7EC"/>
            </a:solidFill>
            <a:prstDash val="solid"/>
          </a:ln>
        </p:spPr>
        <p:txBody>
          <a:bodyPr/>
          <a:lstStyle/>
          <a:p>
            <a:endParaRPr lang="en-US"/>
          </a:p>
        </p:txBody>
      </p:sp>
      <p:sp>
        <p:nvSpPr>
          <p:cNvPr id="19" name="Text 17"/>
          <p:cNvSpPr txBox="1"/>
          <p:nvPr/>
        </p:nvSpPr>
        <p:spPr>
          <a:xfrm>
            <a:off x="5774436" y="2203704"/>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Query Language + Runtime</a:t>
            </a:r>
            <a:endParaRPr lang="en-US" sz="1150"/>
          </a:p>
        </p:txBody>
      </p:sp>
      <p:sp>
        <p:nvSpPr>
          <p:cNvPr id="20" name="Shape 18"/>
          <p:cNvSpPr/>
          <p:nvPr/>
        </p:nvSpPr>
        <p:spPr>
          <a:xfrm>
            <a:off x="8609076" y="2203704"/>
            <a:ext cx="2468880" cy="420624"/>
          </a:xfrm>
          <a:prstGeom prst="rect">
            <a:avLst/>
          </a:prstGeom>
          <a:solidFill>
            <a:srgbClr val="FFFFFF"/>
          </a:solidFill>
          <a:ln w="9525">
            <a:solidFill>
              <a:srgbClr val="DCE7EC"/>
            </a:solidFill>
            <a:prstDash val="solid"/>
          </a:ln>
        </p:spPr>
        <p:txBody>
          <a:bodyPr/>
          <a:lstStyle/>
          <a:p>
            <a:endParaRPr lang="en-US"/>
          </a:p>
        </p:txBody>
      </p:sp>
      <p:sp>
        <p:nvSpPr>
          <p:cNvPr id="21" name="Text 19"/>
          <p:cNvSpPr txBox="1"/>
          <p:nvPr/>
        </p:nvSpPr>
        <p:spPr>
          <a:xfrm>
            <a:off x="8609076" y="2203704"/>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RPC Framework</a:t>
            </a:r>
            <a:endParaRPr lang="en-US" sz="1150"/>
          </a:p>
        </p:txBody>
      </p:sp>
      <p:sp>
        <p:nvSpPr>
          <p:cNvPr id="22" name="Shape 20"/>
          <p:cNvSpPr/>
          <p:nvPr/>
        </p:nvSpPr>
        <p:spPr>
          <a:xfrm>
            <a:off x="1110996" y="2624328"/>
            <a:ext cx="2377440" cy="420624"/>
          </a:xfrm>
          <a:prstGeom prst="rect">
            <a:avLst/>
          </a:prstGeom>
          <a:solidFill>
            <a:srgbClr val="F4F8FA"/>
          </a:solidFill>
          <a:ln w="9525">
            <a:solidFill>
              <a:srgbClr val="DCE7EC"/>
            </a:solidFill>
            <a:prstDash val="solid"/>
          </a:ln>
        </p:spPr>
        <p:txBody>
          <a:bodyPr/>
          <a:lstStyle/>
          <a:p>
            <a:endParaRPr lang="en-US"/>
          </a:p>
        </p:txBody>
      </p:sp>
      <p:sp>
        <p:nvSpPr>
          <p:cNvPr id="23" name="Text 21"/>
          <p:cNvSpPr txBox="1"/>
          <p:nvPr/>
        </p:nvSpPr>
        <p:spPr>
          <a:xfrm>
            <a:off x="1110996" y="2624328"/>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Request Method</a:t>
            </a:r>
            <a:endParaRPr lang="en-US" sz="1150"/>
          </a:p>
        </p:txBody>
      </p:sp>
      <p:sp>
        <p:nvSpPr>
          <p:cNvPr id="24" name="Shape 22"/>
          <p:cNvSpPr/>
          <p:nvPr/>
        </p:nvSpPr>
        <p:spPr>
          <a:xfrm>
            <a:off x="3488436" y="2624328"/>
            <a:ext cx="2286000" cy="420624"/>
          </a:xfrm>
          <a:prstGeom prst="rect">
            <a:avLst/>
          </a:prstGeom>
          <a:solidFill>
            <a:srgbClr val="F4F8FA"/>
          </a:solidFill>
          <a:ln w="9525">
            <a:solidFill>
              <a:srgbClr val="DCE7EC"/>
            </a:solidFill>
            <a:prstDash val="solid"/>
          </a:ln>
        </p:spPr>
        <p:txBody>
          <a:bodyPr/>
          <a:lstStyle/>
          <a:p>
            <a:endParaRPr lang="en-US"/>
          </a:p>
        </p:txBody>
      </p:sp>
      <p:sp>
        <p:nvSpPr>
          <p:cNvPr id="25" name="Text 23"/>
          <p:cNvSpPr txBox="1"/>
          <p:nvPr/>
        </p:nvSpPr>
        <p:spPr>
          <a:xfrm>
            <a:off x="3488436" y="2624328"/>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HTTP Methods</a:t>
            </a:r>
            <a:endParaRPr lang="en-US" sz="1150"/>
          </a:p>
        </p:txBody>
      </p:sp>
      <p:sp>
        <p:nvSpPr>
          <p:cNvPr id="26" name="Shape 24"/>
          <p:cNvSpPr/>
          <p:nvPr/>
        </p:nvSpPr>
        <p:spPr>
          <a:xfrm>
            <a:off x="5774436" y="2624328"/>
            <a:ext cx="2834640" cy="420624"/>
          </a:xfrm>
          <a:prstGeom prst="rect">
            <a:avLst/>
          </a:prstGeom>
          <a:solidFill>
            <a:srgbClr val="F4F8FA"/>
          </a:solidFill>
          <a:ln w="9525">
            <a:solidFill>
              <a:srgbClr val="DCE7EC"/>
            </a:solidFill>
            <a:prstDash val="solid"/>
          </a:ln>
        </p:spPr>
        <p:txBody>
          <a:bodyPr/>
          <a:lstStyle/>
          <a:p>
            <a:endParaRPr lang="en-US"/>
          </a:p>
        </p:txBody>
      </p:sp>
      <p:sp>
        <p:nvSpPr>
          <p:cNvPr id="27" name="Text 25"/>
          <p:cNvSpPr txBox="1"/>
          <p:nvPr/>
        </p:nvSpPr>
        <p:spPr>
          <a:xfrm>
            <a:off x="5774436" y="2624328"/>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Queries / Mutations</a:t>
            </a:r>
            <a:endParaRPr lang="en-US" sz="1150"/>
          </a:p>
        </p:txBody>
      </p:sp>
      <p:sp>
        <p:nvSpPr>
          <p:cNvPr id="28" name="Shape 26"/>
          <p:cNvSpPr/>
          <p:nvPr/>
        </p:nvSpPr>
        <p:spPr>
          <a:xfrm>
            <a:off x="8609076" y="2624328"/>
            <a:ext cx="2468880" cy="420624"/>
          </a:xfrm>
          <a:prstGeom prst="rect">
            <a:avLst/>
          </a:prstGeom>
          <a:solidFill>
            <a:srgbClr val="F4F8FA"/>
          </a:solidFill>
          <a:ln w="9525">
            <a:solidFill>
              <a:srgbClr val="DCE7EC"/>
            </a:solidFill>
            <a:prstDash val="solid"/>
          </a:ln>
        </p:spPr>
        <p:txBody>
          <a:bodyPr/>
          <a:lstStyle/>
          <a:p>
            <a:endParaRPr lang="en-US"/>
          </a:p>
        </p:txBody>
      </p:sp>
      <p:sp>
        <p:nvSpPr>
          <p:cNvPr id="29" name="Text 27"/>
          <p:cNvSpPr txBox="1"/>
          <p:nvPr/>
        </p:nvSpPr>
        <p:spPr>
          <a:xfrm>
            <a:off x="8609076" y="2624328"/>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Remote Procedure Calls</a:t>
            </a:r>
            <a:endParaRPr lang="en-US" sz="1150"/>
          </a:p>
        </p:txBody>
      </p:sp>
      <p:sp>
        <p:nvSpPr>
          <p:cNvPr id="30" name="Shape 28"/>
          <p:cNvSpPr/>
          <p:nvPr/>
        </p:nvSpPr>
        <p:spPr>
          <a:xfrm>
            <a:off x="1110996" y="3044952"/>
            <a:ext cx="2377440" cy="420624"/>
          </a:xfrm>
          <a:prstGeom prst="rect">
            <a:avLst/>
          </a:prstGeom>
          <a:solidFill>
            <a:srgbClr val="FFFFFF"/>
          </a:solidFill>
          <a:ln w="9525">
            <a:solidFill>
              <a:srgbClr val="DCE7EC"/>
            </a:solidFill>
            <a:prstDash val="solid"/>
          </a:ln>
        </p:spPr>
        <p:txBody>
          <a:bodyPr/>
          <a:lstStyle/>
          <a:p>
            <a:endParaRPr lang="en-US"/>
          </a:p>
        </p:txBody>
      </p:sp>
      <p:sp>
        <p:nvSpPr>
          <p:cNvPr id="31" name="Text 29"/>
          <p:cNvSpPr txBox="1"/>
          <p:nvPr/>
        </p:nvSpPr>
        <p:spPr>
          <a:xfrm>
            <a:off x="1110996" y="3044952"/>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Common Protocol</a:t>
            </a:r>
            <a:endParaRPr lang="en-US" sz="1150"/>
          </a:p>
        </p:txBody>
      </p:sp>
      <p:sp>
        <p:nvSpPr>
          <p:cNvPr id="32" name="Shape 30"/>
          <p:cNvSpPr/>
          <p:nvPr/>
        </p:nvSpPr>
        <p:spPr>
          <a:xfrm>
            <a:off x="3488436" y="3044952"/>
            <a:ext cx="2286000" cy="420624"/>
          </a:xfrm>
          <a:prstGeom prst="rect">
            <a:avLst/>
          </a:prstGeom>
          <a:solidFill>
            <a:srgbClr val="FFFFFF"/>
          </a:solidFill>
          <a:ln w="9525">
            <a:solidFill>
              <a:srgbClr val="DCE7EC"/>
            </a:solidFill>
            <a:prstDash val="solid"/>
          </a:ln>
        </p:spPr>
        <p:txBody>
          <a:bodyPr/>
          <a:lstStyle/>
          <a:p>
            <a:endParaRPr lang="en-US"/>
          </a:p>
        </p:txBody>
      </p:sp>
      <p:sp>
        <p:nvSpPr>
          <p:cNvPr id="33" name="Text 31"/>
          <p:cNvSpPr txBox="1"/>
          <p:nvPr/>
        </p:nvSpPr>
        <p:spPr>
          <a:xfrm>
            <a:off x="3488436" y="3044952"/>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HTTP</a:t>
            </a:r>
            <a:endParaRPr lang="en-US" sz="1150"/>
          </a:p>
        </p:txBody>
      </p:sp>
      <p:sp>
        <p:nvSpPr>
          <p:cNvPr id="34" name="Shape 32"/>
          <p:cNvSpPr/>
          <p:nvPr/>
        </p:nvSpPr>
        <p:spPr>
          <a:xfrm>
            <a:off x="5774436" y="3044952"/>
            <a:ext cx="2834640" cy="420624"/>
          </a:xfrm>
          <a:prstGeom prst="rect">
            <a:avLst/>
          </a:prstGeom>
          <a:solidFill>
            <a:srgbClr val="FFFFFF"/>
          </a:solidFill>
          <a:ln w="9525">
            <a:solidFill>
              <a:srgbClr val="DCE7EC"/>
            </a:solidFill>
            <a:prstDash val="solid"/>
          </a:ln>
        </p:spPr>
        <p:txBody>
          <a:bodyPr/>
          <a:lstStyle/>
          <a:p>
            <a:endParaRPr lang="en-US"/>
          </a:p>
        </p:txBody>
      </p:sp>
      <p:sp>
        <p:nvSpPr>
          <p:cNvPr id="35" name="Text 33"/>
          <p:cNvSpPr txBox="1"/>
          <p:nvPr/>
        </p:nvSpPr>
        <p:spPr>
          <a:xfrm>
            <a:off x="5774436" y="3044952"/>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HTTP</a:t>
            </a:r>
            <a:endParaRPr lang="en-US" sz="1150"/>
          </a:p>
        </p:txBody>
      </p:sp>
      <p:sp>
        <p:nvSpPr>
          <p:cNvPr id="36" name="Shape 34"/>
          <p:cNvSpPr/>
          <p:nvPr/>
        </p:nvSpPr>
        <p:spPr>
          <a:xfrm>
            <a:off x="8609076" y="3044952"/>
            <a:ext cx="2468880" cy="420624"/>
          </a:xfrm>
          <a:prstGeom prst="rect">
            <a:avLst/>
          </a:prstGeom>
          <a:solidFill>
            <a:srgbClr val="FFFFFF"/>
          </a:solidFill>
          <a:ln w="9525">
            <a:solidFill>
              <a:srgbClr val="DCE7EC"/>
            </a:solidFill>
            <a:prstDash val="solid"/>
          </a:ln>
        </p:spPr>
        <p:txBody>
          <a:bodyPr/>
          <a:lstStyle/>
          <a:p>
            <a:endParaRPr lang="en-US"/>
          </a:p>
        </p:txBody>
      </p:sp>
      <p:sp>
        <p:nvSpPr>
          <p:cNvPr id="37" name="Text 35"/>
          <p:cNvSpPr txBox="1"/>
          <p:nvPr/>
        </p:nvSpPr>
        <p:spPr>
          <a:xfrm>
            <a:off x="8609076" y="3044952"/>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HTTP/2</a:t>
            </a:r>
            <a:endParaRPr lang="en-US" sz="1150"/>
          </a:p>
        </p:txBody>
      </p:sp>
      <p:sp>
        <p:nvSpPr>
          <p:cNvPr id="38" name="Shape 36"/>
          <p:cNvSpPr/>
          <p:nvPr/>
        </p:nvSpPr>
        <p:spPr>
          <a:xfrm>
            <a:off x="1110996" y="3465576"/>
            <a:ext cx="2377440" cy="420624"/>
          </a:xfrm>
          <a:prstGeom prst="rect">
            <a:avLst/>
          </a:prstGeom>
          <a:solidFill>
            <a:srgbClr val="F4F8FA"/>
          </a:solidFill>
          <a:ln w="9525">
            <a:solidFill>
              <a:srgbClr val="DCE7EC"/>
            </a:solidFill>
            <a:prstDash val="solid"/>
          </a:ln>
        </p:spPr>
        <p:txBody>
          <a:bodyPr/>
          <a:lstStyle/>
          <a:p>
            <a:endParaRPr lang="en-US"/>
          </a:p>
        </p:txBody>
      </p:sp>
      <p:sp>
        <p:nvSpPr>
          <p:cNvPr id="39" name="Text 37"/>
          <p:cNvSpPr txBox="1"/>
          <p:nvPr/>
        </p:nvSpPr>
        <p:spPr>
          <a:xfrm>
            <a:off x="1110996" y="3465576"/>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Data Format</a:t>
            </a:r>
            <a:endParaRPr lang="en-US" sz="1150"/>
          </a:p>
        </p:txBody>
      </p:sp>
      <p:sp>
        <p:nvSpPr>
          <p:cNvPr id="40" name="Shape 38"/>
          <p:cNvSpPr/>
          <p:nvPr/>
        </p:nvSpPr>
        <p:spPr>
          <a:xfrm>
            <a:off x="3488436" y="3465576"/>
            <a:ext cx="2286000" cy="420624"/>
          </a:xfrm>
          <a:prstGeom prst="rect">
            <a:avLst/>
          </a:prstGeom>
          <a:solidFill>
            <a:srgbClr val="F4F8FA"/>
          </a:solidFill>
          <a:ln w="9525">
            <a:solidFill>
              <a:srgbClr val="DCE7EC"/>
            </a:solidFill>
            <a:prstDash val="solid"/>
          </a:ln>
        </p:spPr>
        <p:txBody>
          <a:bodyPr/>
          <a:lstStyle/>
          <a:p>
            <a:endParaRPr lang="en-US"/>
          </a:p>
        </p:txBody>
      </p:sp>
      <p:sp>
        <p:nvSpPr>
          <p:cNvPr id="41" name="Text 39"/>
          <p:cNvSpPr txBox="1"/>
          <p:nvPr/>
        </p:nvSpPr>
        <p:spPr>
          <a:xfrm>
            <a:off x="3488436" y="3465576"/>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JSON</a:t>
            </a:r>
            <a:endParaRPr lang="en-US" sz="1150"/>
          </a:p>
        </p:txBody>
      </p:sp>
      <p:sp>
        <p:nvSpPr>
          <p:cNvPr id="42" name="Shape 40"/>
          <p:cNvSpPr/>
          <p:nvPr/>
        </p:nvSpPr>
        <p:spPr>
          <a:xfrm>
            <a:off x="5774436" y="3465576"/>
            <a:ext cx="2834640" cy="420624"/>
          </a:xfrm>
          <a:prstGeom prst="rect">
            <a:avLst/>
          </a:prstGeom>
          <a:solidFill>
            <a:srgbClr val="F4F8FA"/>
          </a:solidFill>
          <a:ln w="9525">
            <a:solidFill>
              <a:srgbClr val="DCE7EC"/>
            </a:solidFill>
            <a:prstDash val="solid"/>
          </a:ln>
        </p:spPr>
        <p:txBody>
          <a:bodyPr/>
          <a:lstStyle/>
          <a:p>
            <a:endParaRPr lang="en-US"/>
          </a:p>
        </p:txBody>
      </p:sp>
      <p:sp>
        <p:nvSpPr>
          <p:cNvPr id="43" name="Text 41"/>
          <p:cNvSpPr txBox="1"/>
          <p:nvPr/>
        </p:nvSpPr>
        <p:spPr>
          <a:xfrm>
            <a:off x="5774436" y="3465576"/>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JSON</a:t>
            </a:r>
            <a:endParaRPr lang="en-US" sz="1150"/>
          </a:p>
        </p:txBody>
      </p:sp>
      <p:sp>
        <p:nvSpPr>
          <p:cNvPr id="44" name="Shape 42"/>
          <p:cNvSpPr/>
          <p:nvPr/>
        </p:nvSpPr>
        <p:spPr>
          <a:xfrm>
            <a:off x="8609076" y="3465576"/>
            <a:ext cx="2468880" cy="420624"/>
          </a:xfrm>
          <a:prstGeom prst="rect">
            <a:avLst/>
          </a:prstGeom>
          <a:solidFill>
            <a:srgbClr val="F4F8FA"/>
          </a:solidFill>
          <a:ln w="9525">
            <a:solidFill>
              <a:srgbClr val="DCE7EC"/>
            </a:solidFill>
            <a:prstDash val="solid"/>
          </a:ln>
        </p:spPr>
        <p:txBody>
          <a:bodyPr/>
          <a:lstStyle/>
          <a:p>
            <a:endParaRPr lang="en-US"/>
          </a:p>
        </p:txBody>
      </p:sp>
      <p:sp>
        <p:nvSpPr>
          <p:cNvPr id="45" name="Text 43"/>
          <p:cNvSpPr txBox="1"/>
          <p:nvPr/>
        </p:nvSpPr>
        <p:spPr>
          <a:xfrm>
            <a:off x="8609076" y="3465576"/>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Protocol Buffers</a:t>
            </a:r>
            <a:endParaRPr lang="en-US" sz="1150"/>
          </a:p>
        </p:txBody>
      </p:sp>
      <p:sp>
        <p:nvSpPr>
          <p:cNvPr id="46" name="Shape 44"/>
          <p:cNvSpPr/>
          <p:nvPr/>
        </p:nvSpPr>
        <p:spPr>
          <a:xfrm>
            <a:off x="1110996" y="3886200"/>
            <a:ext cx="2377440" cy="420624"/>
          </a:xfrm>
          <a:prstGeom prst="rect">
            <a:avLst/>
          </a:prstGeom>
          <a:solidFill>
            <a:srgbClr val="FFFFFF"/>
          </a:solidFill>
          <a:ln w="9525">
            <a:solidFill>
              <a:srgbClr val="DCE7EC"/>
            </a:solidFill>
            <a:prstDash val="solid"/>
          </a:ln>
        </p:spPr>
        <p:txBody>
          <a:bodyPr/>
          <a:lstStyle/>
          <a:p>
            <a:endParaRPr lang="en-US"/>
          </a:p>
        </p:txBody>
      </p:sp>
      <p:sp>
        <p:nvSpPr>
          <p:cNvPr id="47" name="Text 45"/>
          <p:cNvSpPr txBox="1"/>
          <p:nvPr/>
        </p:nvSpPr>
        <p:spPr>
          <a:xfrm>
            <a:off x="1110996" y="3886200"/>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Flexibility</a:t>
            </a:r>
            <a:endParaRPr lang="en-US" sz="1150"/>
          </a:p>
        </p:txBody>
      </p:sp>
      <p:sp>
        <p:nvSpPr>
          <p:cNvPr id="48" name="Shape 46"/>
          <p:cNvSpPr/>
          <p:nvPr/>
        </p:nvSpPr>
        <p:spPr>
          <a:xfrm>
            <a:off x="3488436" y="3886200"/>
            <a:ext cx="2286000" cy="420624"/>
          </a:xfrm>
          <a:prstGeom prst="rect">
            <a:avLst/>
          </a:prstGeom>
          <a:solidFill>
            <a:srgbClr val="FFFFFF"/>
          </a:solidFill>
          <a:ln w="9525">
            <a:solidFill>
              <a:srgbClr val="DCE7EC"/>
            </a:solidFill>
            <a:prstDash val="solid"/>
          </a:ln>
        </p:spPr>
        <p:txBody>
          <a:bodyPr/>
          <a:lstStyle/>
          <a:p>
            <a:endParaRPr lang="en-US"/>
          </a:p>
        </p:txBody>
      </p:sp>
      <p:sp>
        <p:nvSpPr>
          <p:cNvPr id="49" name="Text 47"/>
          <p:cNvSpPr txBox="1"/>
          <p:nvPr/>
        </p:nvSpPr>
        <p:spPr>
          <a:xfrm>
            <a:off x="3488436" y="3886200"/>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Good</a:t>
            </a:r>
            <a:endParaRPr lang="en-US" sz="1150"/>
          </a:p>
        </p:txBody>
      </p:sp>
      <p:sp>
        <p:nvSpPr>
          <p:cNvPr id="50" name="Shape 48"/>
          <p:cNvSpPr/>
          <p:nvPr/>
        </p:nvSpPr>
        <p:spPr>
          <a:xfrm>
            <a:off x="5774436" y="3886200"/>
            <a:ext cx="2834640" cy="420624"/>
          </a:xfrm>
          <a:prstGeom prst="rect">
            <a:avLst/>
          </a:prstGeom>
          <a:solidFill>
            <a:srgbClr val="FFFFFF"/>
          </a:solidFill>
          <a:ln w="9525">
            <a:solidFill>
              <a:srgbClr val="DCE7EC"/>
            </a:solidFill>
            <a:prstDash val="solid"/>
          </a:ln>
        </p:spPr>
        <p:txBody>
          <a:bodyPr/>
          <a:lstStyle/>
          <a:p>
            <a:endParaRPr lang="en-US"/>
          </a:p>
        </p:txBody>
      </p:sp>
      <p:sp>
        <p:nvSpPr>
          <p:cNvPr id="51" name="Text 49"/>
          <p:cNvSpPr txBox="1"/>
          <p:nvPr/>
        </p:nvSpPr>
        <p:spPr>
          <a:xfrm>
            <a:off x="5774436" y="3886200"/>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Very High</a:t>
            </a:r>
            <a:endParaRPr lang="en-US" sz="1150"/>
          </a:p>
        </p:txBody>
      </p:sp>
      <p:sp>
        <p:nvSpPr>
          <p:cNvPr id="52" name="Shape 50"/>
          <p:cNvSpPr/>
          <p:nvPr/>
        </p:nvSpPr>
        <p:spPr>
          <a:xfrm>
            <a:off x="8609076" y="3886200"/>
            <a:ext cx="2468880" cy="420624"/>
          </a:xfrm>
          <a:prstGeom prst="rect">
            <a:avLst/>
          </a:prstGeom>
          <a:solidFill>
            <a:srgbClr val="FFFFFF"/>
          </a:solidFill>
          <a:ln w="9525">
            <a:solidFill>
              <a:srgbClr val="DCE7EC"/>
            </a:solidFill>
            <a:prstDash val="solid"/>
          </a:ln>
        </p:spPr>
        <p:txBody>
          <a:bodyPr/>
          <a:lstStyle/>
          <a:p>
            <a:endParaRPr lang="en-US"/>
          </a:p>
        </p:txBody>
      </p:sp>
      <p:sp>
        <p:nvSpPr>
          <p:cNvPr id="53" name="Text 51"/>
          <p:cNvSpPr txBox="1"/>
          <p:nvPr/>
        </p:nvSpPr>
        <p:spPr>
          <a:xfrm>
            <a:off x="8609076" y="3886200"/>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Moderate</a:t>
            </a:r>
            <a:endParaRPr lang="en-US" sz="1150"/>
          </a:p>
        </p:txBody>
      </p:sp>
      <p:sp>
        <p:nvSpPr>
          <p:cNvPr id="54" name="Shape 52"/>
          <p:cNvSpPr/>
          <p:nvPr/>
        </p:nvSpPr>
        <p:spPr>
          <a:xfrm>
            <a:off x="1110996" y="4306824"/>
            <a:ext cx="2377440" cy="420624"/>
          </a:xfrm>
          <a:prstGeom prst="rect">
            <a:avLst/>
          </a:prstGeom>
          <a:solidFill>
            <a:srgbClr val="F4F8FA"/>
          </a:solidFill>
          <a:ln w="9525">
            <a:solidFill>
              <a:srgbClr val="DCE7EC"/>
            </a:solidFill>
            <a:prstDash val="solid"/>
          </a:ln>
        </p:spPr>
        <p:txBody>
          <a:bodyPr/>
          <a:lstStyle/>
          <a:p>
            <a:endParaRPr lang="en-US"/>
          </a:p>
        </p:txBody>
      </p:sp>
      <p:sp>
        <p:nvSpPr>
          <p:cNvPr id="55" name="Text 53"/>
          <p:cNvSpPr txBox="1"/>
          <p:nvPr/>
        </p:nvSpPr>
        <p:spPr>
          <a:xfrm>
            <a:off x="1110996" y="4306824"/>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Performance</a:t>
            </a:r>
            <a:endParaRPr lang="en-US" sz="1150"/>
          </a:p>
        </p:txBody>
      </p:sp>
      <p:sp>
        <p:nvSpPr>
          <p:cNvPr id="56" name="Shape 54"/>
          <p:cNvSpPr/>
          <p:nvPr/>
        </p:nvSpPr>
        <p:spPr>
          <a:xfrm>
            <a:off x="3488436" y="4306824"/>
            <a:ext cx="2286000" cy="420624"/>
          </a:xfrm>
          <a:prstGeom prst="rect">
            <a:avLst/>
          </a:prstGeom>
          <a:solidFill>
            <a:srgbClr val="F4F8FA"/>
          </a:solidFill>
          <a:ln w="9525">
            <a:solidFill>
              <a:srgbClr val="DCE7EC"/>
            </a:solidFill>
            <a:prstDash val="solid"/>
          </a:ln>
        </p:spPr>
        <p:txBody>
          <a:bodyPr/>
          <a:lstStyle/>
          <a:p>
            <a:endParaRPr lang="en-US"/>
          </a:p>
        </p:txBody>
      </p:sp>
      <p:sp>
        <p:nvSpPr>
          <p:cNvPr id="57" name="Text 55"/>
          <p:cNvSpPr txBox="1"/>
          <p:nvPr/>
        </p:nvSpPr>
        <p:spPr>
          <a:xfrm>
            <a:off x="3488436" y="4306824"/>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Good</a:t>
            </a:r>
            <a:endParaRPr lang="en-US" sz="1150"/>
          </a:p>
        </p:txBody>
      </p:sp>
      <p:sp>
        <p:nvSpPr>
          <p:cNvPr id="58" name="Shape 56"/>
          <p:cNvSpPr/>
          <p:nvPr/>
        </p:nvSpPr>
        <p:spPr>
          <a:xfrm>
            <a:off x="5774436" y="4306824"/>
            <a:ext cx="2834640" cy="420624"/>
          </a:xfrm>
          <a:prstGeom prst="rect">
            <a:avLst/>
          </a:prstGeom>
          <a:solidFill>
            <a:srgbClr val="F4F8FA"/>
          </a:solidFill>
          <a:ln w="9525">
            <a:solidFill>
              <a:srgbClr val="DCE7EC"/>
            </a:solidFill>
            <a:prstDash val="solid"/>
          </a:ln>
        </p:spPr>
        <p:txBody>
          <a:bodyPr/>
          <a:lstStyle/>
          <a:p>
            <a:endParaRPr lang="en-US"/>
          </a:p>
        </p:txBody>
      </p:sp>
      <p:sp>
        <p:nvSpPr>
          <p:cNvPr id="59" name="Text 57"/>
          <p:cNvSpPr txBox="1"/>
          <p:nvPr/>
        </p:nvSpPr>
        <p:spPr>
          <a:xfrm>
            <a:off x="5774436" y="4306824"/>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Good, depending on the query</a:t>
            </a:r>
            <a:endParaRPr lang="en-US" sz="1150"/>
          </a:p>
        </p:txBody>
      </p:sp>
      <p:sp>
        <p:nvSpPr>
          <p:cNvPr id="60" name="Shape 58"/>
          <p:cNvSpPr/>
          <p:nvPr/>
        </p:nvSpPr>
        <p:spPr>
          <a:xfrm>
            <a:off x="8609076" y="4306824"/>
            <a:ext cx="2468880" cy="420624"/>
          </a:xfrm>
          <a:prstGeom prst="rect">
            <a:avLst/>
          </a:prstGeom>
          <a:solidFill>
            <a:srgbClr val="F4F8FA"/>
          </a:solidFill>
          <a:ln w="9525">
            <a:solidFill>
              <a:srgbClr val="DCE7EC"/>
            </a:solidFill>
            <a:prstDash val="solid"/>
          </a:ln>
        </p:spPr>
        <p:txBody>
          <a:bodyPr/>
          <a:lstStyle/>
          <a:p>
            <a:endParaRPr lang="en-US"/>
          </a:p>
        </p:txBody>
      </p:sp>
      <p:sp>
        <p:nvSpPr>
          <p:cNvPr id="61" name="Text 59"/>
          <p:cNvSpPr txBox="1"/>
          <p:nvPr/>
        </p:nvSpPr>
        <p:spPr>
          <a:xfrm>
            <a:off x="8609076" y="4306824"/>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High</a:t>
            </a:r>
            <a:endParaRPr lang="en-US" sz="1150"/>
          </a:p>
        </p:txBody>
      </p:sp>
      <p:sp>
        <p:nvSpPr>
          <p:cNvPr id="62" name="Shape 60"/>
          <p:cNvSpPr/>
          <p:nvPr/>
        </p:nvSpPr>
        <p:spPr>
          <a:xfrm>
            <a:off x="1110996" y="4727448"/>
            <a:ext cx="2377440" cy="420624"/>
          </a:xfrm>
          <a:prstGeom prst="rect">
            <a:avLst/>
          </a:prstGeom>
          <a:solidFill>
            <a:srgbClr val="FFFFFF"/>
          </a:solidFill>
          <a:ln w="9525">
            <a:solidFill>
              <a:srgbClr val="DCE7EC"/>
            </a:solidFill>
            <a:prstDash val="solid"/>
          </a:ln>
        </p:spPr>
        <p:txBody>
          <a:bodyPr/>
          <a:lstStyle/>
          <a:p>
            <a:endParaRPr lang="en-US"/>
          </a:p>
        </p:txBody>
      </p:sp>
      <p:sp>
        <p:nvSpPr>
          <p:cNvPr id="63" name="Text 61"/>
          <p:cNvSpPr txBox="1"/>
          <p:nvPr/>
        </p:nvSpPr>
        <p:spPr>
          <a:xfrm>
            <a:off x="1110996" y="4727448"/>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Ease of Learning</a:t>
            </a:r>
            <a:endParaRPr lang="en-US" sz="1150"/>
          </a:p>
        </p:txBody>
      </p:sp>
      <p:sp>
        <p:nvSpPr>
          <p:cNvPr id="64" name="Shape 62"/>
          <p:cNvSpPr/>
          <p:nvPr/>
        </p:nvSpPr>
        <p:spPr>
          <a:xfrm>
            <a:off x="3488436" y="4727448"/>
            <a:ext cx="2286000" cy="420624"/>
          </a:xfrm>
          <a:prstGeom prst="rect">
            <a:avLst/>
          </a:prstGeom>
          <a:solidFill>
            <a:srgbClr val="FFFFFF"/>
          </a:solidFill>
          <a:ln w="9525">
            <a:solidFill>
              <a:srgbClr val="DCE7EC"/>
            </a:solidFill>
            <a:prstDash val="solid"/>
          </a:ln>
        </p:spPr>
        <p:txBody>
          <a:bodyPr/>
          <a:lstStyle/>
          <a:p>
            <a:endParaRPr lang="en-US"/>
          </a:p>
        </p:txBody>
      </p:sp>
      <p:sp>
        <p:nvSpPr>
          <p:cNvPr id="65" name="Text 63"/>
          <p:cNvSpPr txBox="1"/>
          <p:nvPr/>
        </p:nvSpPr>
        <p:spPr>
          <a:xfrm>
            <a:off x="3488436" y="4727448"/>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Easy</a:t>
            </a:r>
            <a:endParaRPr lang="en-US" sz="1150"/>
          </a:p>
        </p:txBody>
      </p:sp>
      <p:sp>
        <p:nvSpPr>
          <p:cNvPr id="66" name="Shape 64"/>
          <p:cNvSpPr/>
          <p:nvPr/>
        </p:nvSpPr>
        <p:spPr>
          <a:xfrm>
            <a:off x="5774436" y="4727448"/>
            <a:ext cx="2834640" cy="420624"/>
          </a:xfrm>
          <a:prstGeom prst="rect">
            <a:avLst/>
          </a:prstGeom>
          <a:solidFill>
            <a:srgbClr val="FFFFFF"/>
          </a:solidFill>
          <a:ln w="9525">
            <a:solidFill>
              <a:srgbClr val="DCE7EC"/>
            </a:solidFill>
            <a:prstDash val="solid"/>
          </a:ln>
        </p:spPr>
        <p:txBody>
          <a:bodyPr/>
          <a:lstStyle/>
          <a:p>
            <a:endParaRPr lang="en-US"/>
          </a:p>
        </p:txBody>
      </p:sp>
      <p:sp>
        <p:nvSpPr>
          <p:cNvPr id="67" name="Text 65"/>
          <p:cNvSpPr txBox="1"/>
          <p:nvPr/>
        </p:nvSpPr>
        <p:spPr>
          <a:xfrm>
            <a:off x="5774436" y="4727448"/>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Moderate</a:t>
            </a:r>
            <a:endParaRPr lang="en-US" sz="1150"/>
          </a:p>
        </p:txBody>
      </p:sp>
      <p:sp>
        <p:nvSpPr>
          <p:cNvPr id="68" name="Shape 66"/>
          <p:cNvSpPr/>
          <p:nvPr/>
        </p:nvSpPr>
        <p:spPr>
          <a:xfrm>
            <a:off x="8609076" y="4727448"/>
            <a:ext cx="2468880" cy="420624"/>
          </a:xfrm>
          <a:prstGeom prst="rect">
            <a:avLst/>
          </a:prstGeom>
          <a:solidFill>
            <a:srgbClr val="FFFFFF"/>
          </a:solidFill>
          <a:ln w="9525">
            <a:solidFill>
              <a:srgbClr val="DCE7EC"/>
            </a:solidFill>
            <a:prstDash val="solid"/>
          </a:ln>
        </p:spPr>
        <p:txBody>
          <a:bodyPr/>
          <a:lstStyle/>
          <a:p>
            <a:endParaRPr lang="en-US"/>
          </a:p>
        </p:txBody>
      </p:sp>
      <p:sp>
        <p:nvSpPr>
          <p:cNvPr id="69" name="Text 67"/>
          <p:cNvSpPr txBox="1"/>
          <p:nvPr/>
        </p:nvSpPr>
        <p:spPr>
          <a:xfrm>
            <a:off x="8609076" y="4727448"/>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More Complex</a:t>
            </a:r>
            <a:endParaRPr lang="en-US" sz="1150"/>
          </a:p>
        </p:txBody>
      </p:sp>
      <p:sp>
        <p:nvSpPr>
          <p:cNvPr id="70" name="Shape 68"/>
          <p:cNvSpPr/>
          <p:nvPr/>
        </p:nvSpPr>
        <p:spPr>
          <a:xfrm>
            <a:off x="1110996" y="5148072"/>
            <a:ext cx="2377440" cy="420624"/>
          </a:xfrm>
          <a:prstGeom prst="rect">
            <a:avLst/>
          </a:prstGeom>
          <a:solidFill>
            <a:srgbClr val="F4F8FA"/>
          </a:solidFill>
          <a:ln w="9525">
            <a:solidFill>
              <a:srgbClr val="DCE7EC"/>
            </a:solidFill>
            <a:prstDash val="solid"/>
          </a:ln>
        </p:spPr>
        <p:txBody>
          <a:bodyPr/>
          <a:lstStyle/>
          <a:p>
            <a:endParaRPr lang="en-US"/>
          </a:p>
        </p:txBody>
      </p:sp>
      <p:sp>
        <p:nvSpPr>
          <p:cNvPr id="71" name="Text 69"/>
          <p:cNvSpPr txBox="1"/>
          <p:nvPr/>
        </p:nvSpPr>
        <p:spPr>
          <a:xfrm>
            <a:off x="1110996" y="5148072"/>
            <a:ext cx="2377440" cy="420624"/>
          </a:xfrm>
          <a:prstGeom prst="rect">
            <a:avLst/>
          </a:prstGeom>
          <a:noFill/>
          <a:ln/>
        </p:spPr>
        <p:txBody>
          <a:bodyPr wrap="square" lIns="0" tIns="0" rIns="0" bIns="0" rtlCol="0" anchor="ctr"/>
          <a:lstStyle/>
          <a:p>
            <a:pPr marL="0" indent="0" algn="ctr" rtl="0">
              <a:buNone/>
            </a:pPr>
            <a:r>
              <a:rPr lang="en-US" sz="1150" b="1">
                <a:solidFill>
                  <a:srgbClr val="0B3D5C"/>
                </a:solidFill>
                <a:latin typeface="Calibri" pitchFamily="34" charset="0"/>
                <a:ea typeface="Calibri" pitchFamily="34" charset="-122"/>
                <a:cs typeface="Calibri" pitchFamily="34" charset="-120"/>
              </a:rPr>
              <a:t>Common Use</a:t>
            </a:r>
            <a:endParaRPr lang="en-US" sz="1150"/>
          </a:p>
        </p:txBody>
      </p:sp>
      <p:sp>
        <p:nvSpPr>
          <p:cNvPr id="72" name="Shape 70"/>
          <p:cNvSpPr/>
          <p:nvPr/>
        </p:nvSpPr>
        <p:spPr>
          <a:xfrm>
            <a:off x="3488436" y="5148072"/>
            <a:ext cx="2286000" cy="420624"/>
          </a:xfrm>
          <a:prstGeom prst="rect">
            <a:avLst/>
          </a:prstGeom>
          <a:solidFill>
            <a:srgbClr val="F4F8FA"/>
          </a:solidFill>
          <a:ln w="9525">
            <a:solidFill>
              <a:srgbClr val="DCE7EC"/>
            </a:solidFill>
            <a:prstDash val="solid"/>
          </a:ln>
        </p:spPr>
        <p:txBody>
          <a:bodyPr/>
          <a:lstStyle/>
          <a:p>
            <a:endParaRPr lang="en-US"/>
          </a:p>
        </p:txBody>
      </p:sp>
      <p:sp>
        <p:nvSpPr>
          <p:cNvPr id="73" name="Text 71"/>
          <p:cNvSpPr txBox="1"/>
          <p:nvPr/>
        </p:nvSpPr>
        <p:spPr>
          <a:xfrm>
            <a:off x="3488436" y="5148072"/>
            <a:ext cx="228600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Web APIs</a:t>
            </a:r>
            <a:endParaRPr lang="en-US" sz="1150"/>
          </a:p>
        </p:txBody>
      </p:sp>
      <p:sp>
        <p:nvSpPr>
          <p:cNvPr id="74" name="Shape 72"/>
          <p:cNvSpPr/>
          <p:nvPr/>
        </p:nvSpPr>
        <p:spPr>
          <a:xfrm>
            <a:off x="5774436" y="5148072"/>
            <a:ext cx="2834640" cy="420624"/>
          </a:xfrm>
          <a:prstGeom prst="rect">
            <a:avLst/>
          </a:prstGeom>
          <a:solidFill>
            <a:srgbClr val="F4F8FA"/>
          </a:solidFill>
          <a:ln w="9525">
            <a:solidFill>
              <a:srgbClr val="DCE7EC"/>
            </a:solidFill>
            <a:prstDash val="solid"/>
          </a:ln>
        </p:spPr>
        <p:txBody>
          <a:bodyPr/>
          <a:lstStyle/>
          <a:p>
            <a:endParaRPr lang="en-US"/>
          </a:p>
        </p:txBody>
      </p:sp>
      <p:sp>
        <p:nvSpPr>
          <p:cNvPr id="75" name="Text 73"/>
          <p:cNvSpPr txBox="1"/>
          <p:nvPr/>
        </p:nvSpPr>
        <p:spPr>
          <a:xfrm>
            <a:off x="5774436" y="5148072"/>
            <a:ext cx="283464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Flexible, complex data</a:t>
            </a:r>
            <a:endParaRPr lang="en-US" sz="1150"/>
          </a:p>
        </p:txBody>
      </p:sp>
      <p:sp>
        <p:nvSpPr>
          <p:cNvPr id="76" name="Shape 74"/>
          <p:cNvSpPr/>
          <p:nvPr/>
        </p:nvSpPr>
        <p:spPr>
          <a:xfrm>
            <a:off x="8609076" y="5148072"/>
            <a:ext cx="2468880" cy="420624"/>
          </a:xfrm>
          <a:prstGeom prst="rect">
            <a:avLst/>
          </a:prstGeom>
          <a:solidFill>
            <a:srgbClr val="F4F8FA"/>
          </a:solidFill>
          <a:ln w="9525">
            <a:solidFill>
              <a:srgbClr val="DCE7EC"/>
            </a:solidFill>
            <a:prstDash val="solid"/>
          </a:ln>
        </p:spPr>
        <p:txBody>
          <a:bodyPr/>
          <a:lstStyle/>
          <a:p>
            <a:endParaRPr lang="en-US"/>
          </a:p>
        </p:txBody>
      </p:sp>
      <p:sp>
        <p:nvSpPr>
          <p:cNvPr id="77" name="Text 75"/>
          <p:cNvSpPr txBox="1"/>
          <p:nvPr/>
        </p:nvSpPr>
        <p:spPr>
          <a:xfrm>
            <a:off x="8609076" y="5148072"/>
            <a:ext cx="2468880" cy="420624"/>
          </a:xfrm>
          <a:prstGeom prst="rect">
            <a:avLst/>
          </a:prstGeom>
          <a:noFill/>
          <a:ln/>
        </p:spPr>
        <p:txBody>
          <a:bodyPr wrap="square" lIns="0" tIns="0" rIns="0" bIns="0" rtlCol="0" anchor="ctr"/>
          <a:lstStyle/>
          <a:p>
            <a:pPr marL="0" indent="0" algn="ctr" rtl="0">
              <a:buNone/>
            </a:pPr>
            <a:r>
              <a:rPr lang="en-US" sz="1150">
                <a:solidFill>
                  <a:srgbClr val="16324A"/>
                </a:solidFill>
                <a:latin typeface="Calibri" pitchFamily="34" charset="0"/>
                <a:ea typeface="Calibri" pitchFamily="34" charset="-122"/>
                <a:cs typeface="Calibri" pitchFamily="34" charset="-120"/>
              </a:rPr>
              <a:t>Microservices</a:t>
            </a:r>
            <a:endParaRPr lang="en-US" sz="11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Optimal Choice:</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When to Use Each Technology?</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19</a:t>
            </a:r>
            <a:endParaRPr lang="en-US" sz="1100"/>
          </a:p>
        </p:txBody>
      </p:sp>
      <p:sp>
        <p:nvSpPr>
          <p:cNvPr id="6" name="Shape 4"/>
          <p:cNvSpPr/>
          <p:nvPr/>
        </p:nvSpPr>
        <p:spPr>
          <a:xfrm>
            <a:off x="640080"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7" name="Shape 5"/>
          <p:cNvSpPr/>
          <p:nvPr/>
        </p:nvSpPr>
        <p:spPr>
          <a:xfrm>
            <a:off x="640080" y="1920240"/>
            <a:ext cx="3453384" cy="822960"/>
          </a:xfrm>
          <a:prstGeom prst="roundRect">
            <a:avLst>
              <a:gd name="adj" fmla="val 11111"/>
            </a:avLst>
          </a:prstGeom>
          <a:solidFill>
            <a:srgbClr val="0B3D5C"/>
          </a:solidFill>
          <a:ln/>
        </p:spPr>
        <p:txBody>
          <a:bodyPr/>
          <a:lstStyle/>
          <a:p>
            <a:endParaRPr lang="en-US"/>
          </a:p>
        </p:txBody>
      </p:sp>
      <p:sp>
        <p:nvSpPr>
          <p:cNvPr id="8" name="Shape 6"/>
          <p:cNvSpPr/>
          <p:nvPr/>
        </p:nvSpPr>
        <p:spPr>
          <a:xfrm>
            <a:off x="640080" y="2331720"/>
            <a:ext cx="3453384" cy="411480"/>
          </a:xfrm>
          <a:prstGeom prst="rect">
            <a:avLst/>
          </a:prstGeom>
          <a:solidFill>
            <a:srgbClr val="0B3D5C"/>
          </a:solidFill>
          <a:ln/>
        </p:spPr>
        <p:txBody>
          <a:bodyPr/>
          <a:lstStyle/>
          <a:p>
            <a:endParaRPr lang="en-US"/>
          </a:p>
        </p:txBody>
      </p:sp>
      <p:sp>
        <p:nvSpPr>
          <p:cNvPr id="9" name="Shape 7"/>
          <p:cNvSpPr/>
          <p:nvPr/>
        </p:nvSpPr>
        <p:spPr>
          <a:xfrm>
            <a:off x="2110740" y="2057400"/>
            <a:ext cx="512064" cy="512064"/>
          </a:xfrm>
          <a:prstGeom prst="ellipse">
            <a:avLst/>
          </a:prstGeom>
          <a:solidFill>
            <a:srgbClr val="FFFFFF"/>
          </a:solidFill>
          <a:ln/>
        </p:spPr>
        <p:txBody>
          <a:bodyPr/>
          <a:lstStyle/>
          <a:p>
            <a:endParaRPr lang="en-US"/>
          </a:p>
        </p:txBody>
      </p:sp>
      <p:pic>
        <p:nvPicPr>
          <p:cNvPr id="10" name="Image 0" descr="/home/claude/work/icon_rest_white.png"/>
          <p:cNvPicPr>
            <a:picLocks noChangeAspect="1"/>
          </p:cNvPicPr>
          <p:nvPr/>
        </p:nvPicPr>
        <p:blipFill>
          <a:blip r:embed="rId3"/>
          <a:stretch>
            <a:fillRect/>
          </a:stretch>
        </p:blipFill>
        <p:spPr>
          <a:xfrm>
            <a:off x="2233635" y="2180295"/>
            <a:ext cx="266273" cy="266273"/>
          </a:xfrm>
          <a:prstGeom prst="rect">
            <a:avLst/>
          </a:prstGeom>
        </p:spPr>
      </p:pic>
      <p:sp>
        <p:nvSpPr>
          <p:cNvPr id="11" name="Text 8"/>
          <p:cNvSpPr txBox="1"/>
          <p:nvPr/>
        </p:nvSpPr>
        <p:spPr>
          <a:xfrm>
            <a:off x="640080" y="2788920"/>
            <a:ext cx="3453384" cy="365760"/>
          </a:xfrm>
          <a:prstGeom prst="rect">
            <a:avLst/>
          </a:prstGeom>
          <a:noFill/>
          <a:ln/>
        </p:spPr>
        <p:txBody>
          <a:bodyPr wrap="square" lIns="0" tIns="0" rIns="0" bIns="0" rtlCol="0" anchor="ctr"/>
          <a:lstStyle/>
          <a:p>
            <a:pPr marL="0" indent="0" algn="ctr">
              <a:buNone/>
            </a:pPr>
            <a:r>
              <a:rPr lang="en-US" sz="1700" b="1">
                <a:solidFill>
                  <a:srgbClr val="0B3D5C"/>
                </a:solidFill>
                <a:latin typeface="Cambria" pitchFamily="34" charset="0"/>
                <a:ea typeface="Cambria" pitchFamily="34" charset="-122"/>
                <a:cs typeface="Cambria" pitchFamily="34" charset="-120"/>
              </a:rPr>
              <a:t>REST</a:t>
            </a:r>
            <a:endParaRPr lang="en-US" sz="1700"/>
          </a:p>
        </p:txBody>
      </p:sp>
      <p:sp>
        <p:nvSpPr>
          <p:cNvPr id="12" name="Text 9"/>
          <p:cNvSpPr txBox="1"/>
          <p:nvPr/>
        </p:nvSpPr>
        <p:spPr>
          <a:xfrm>
            <a:off x="822960"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Simple, clear Web API</a:t>
            </a:r>
            <a:endParaRPr lang="en-US" sz="1150"/>
          </a:p>
        </p:txBody>
      </p:sp>
      <p:sp>
        <p:nvSpPr>
          <p:cNvPr id="13" name="Text 10"/>
          <p:cNvSpPr txBox="1"/>
          <p:nvPr/>
        </p:nvSpPr>
        <p:spPr>
          <a:xfrm>
            <a:off x="822960"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Easy integration with different applications</a:t>
            </a:r>
            <a:endParaRPr lang="en-US" sz="1150"/>
          </a:p>
        </p:txBody>
      </p:sp>
      <p:sp>
        <p:nvSpPr>
          <p:cNvPr id="14" name="Text 11"/>
          <p:cNvSpPr txBox="1"/>
          <p:nvPr/>
        </p:nvSpPr>
        <p:spPr>
          <a:xfrm>
            <a:off x="822960"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A system based on resources</a:t>
            </a:r>
            <a:endParaRPr lang="en-US" sz="1150"/>
          </a:p>
        </p:txBody>
      </p:sp>
      <p:sp>
        <p:nvSpPr>
          <p:cNvPr id="15" name="Text 12"/>
          <p:cNvSpPr txBox="1"/>
          <p:nvPr/>
        </p:nvSpPr>
        <p:spPr>
          <a:xfrm>
            <a:off x="822960" y="5157216"/>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Easy to develop and test</a:t>
            </a:r>
            <a:endParaRPr lang="en-US" sz="1150"/>
          </a:p>
        </p:txBody>
      </p:sp>
      <p:sp>
        <p:nvSpPr>
          <p:cNvPr id="16" name="Shape 13"/>
          <p:cNvSpPr/>
          <p:nvPr/>
        </p:nvSpPr>
        <p:spPr>
          <a:xfrm>
            <a:off x="4367784"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7" name="Shape 14"/>
          <p:cNvSpPr/>
          <p:nvPr/>
        </p:nvSpPr>
        <p:spPr>
          <a:xfrm>
            <a:off x="4367784" y="1920240"/>
            <a:ext cx="3453384" cy="822960"/>
          </a:xfrm>
          <a:prstGeom prst="roundRect">
            <a:avLst>
              <a:gd name="adj" fmla="val 11111"/>
            </a:avLst>
          </a:prstGeom>
          <a:solidFill>
            <a:srgbClr val="1C7293"/>
          </a:solidFill>
          <a:ln/>
        </p:spPr>
        <p:txBody>
          <a:bodyPr/>
          <a:lstStyle/>
          <a:p>
            <a:endParaRPr lang="en-US"/>
          </a:p>
        </p:txBody>
      </p:sp>
      <p:sp>
        <p:nvSpPr>
          <p:cNvPr id="18" name="Shape 15"/>
          <p:cNvSpPr/>
          <p:nvPr/>
        </p:nvSpPr>
        <p:spPr>
          <a:xfrm>
            <a:off x="4367784" y="2331720"/>
            <a:ext cx="3453384" cy="411480"/>
          </a:xfrm>
          <a:prstGeom prst="rect">
            <a:avLst/>
          </a:prstGeom>
          <a:solidFill>
            <a:srgbClr val="1C7293"/>
          </a:solidFill>
          <a:ln/>
        </p:spPr>
        <p:txBody>
          <a:bodyPr/>
          <a:lstStyle/>
          <a:p>
            <a:endParaRPr lang="en-US"/>
          </a:p>
        </p:txBody>
      </p:sp>
      <p:sp>
        <p:nvSpPr>
          <p:cNvPr id="19" name="Shape 16"/>
          <p:cNvSpPr/>
          <p:nvPr/>
        </p:nvSpPr>
        <p:spPr>
          <a:xfrm>
            <a:off x="5838444" y="2057400"/>
            <a:ext cx="512064" cy="512064"/>
          </a:xfrm>
          <a:prstGeom prst="ellipse">
            <a:avLst/>
          </a:prstGeom>
          <a:solidFill>
            <a:srgbClr val="FFFFFF"/>
          </a:solidFill>
          <a:ln/>
        </p:spPr>
        <p:txBody>
          <a:bodyPr/>
          <a:lstStyle/>
          <a:p>
            <a:endParaRPr lang="en-US"/>
          </a:p>
        </p:txBody>
      </p:sp>
      <p:pic>
        <p:nvPicPr>
          <p:cNvPr id="20" name="Image 1" descr="/home/claude/work/icon_graphql_white.png"/>
          <p:cNvPicPr>
            <a:picLocks noChangeAspect="1"/>
          </p:cNvPicPr>
          <p:nvPr/>
        </p:nvPicPr>
        <p:blipFill>
          <a:blip r:embed="rId4"/>
          <a:stretch>
            <a:fillRect/>
          </a:stretch>
        </p:blipFill>
        <p:spPr>
          <a:xfrm>
            <a:off x="5961339" y="2180295"/>
            <a:ext cx="266273" cy="266273"/>
          </a:xfrm>
          <a:prstGeom prst="rect">
            <a:avLst/>
          </a:prstGeom>
        </p:spPr>
      </p:pic>
      <p:sp>
        <p:nvSpPr>
          <p:cNvPr id="21" name="Text 17"/>
          <p:cNvSpPr txBox="1"/>
          <p:nvPr/>
        </p:nvSpPr>
        <p:spPr>
          <a:xfrm>
            <a:off x="4367784" y="2788920"/>
            <a:ext cx="3453384" cy="365760"/>
          </a:xfrm>
          <a:prstGeom prst="rect">
            <a:avLst/>
          </a:prstGeom>
          <a:noFill/>
          <a:ln/>
        </p:spPr>
        <p:txBody>
          <a:bodyPr wrap="square" lIns="0" tIns="0" rIns="0" bIns="0" rtlCol="0" anchor="ctr"/>
          <a:lstStyle/>
          <a:p>
            <a:pPr marL="0" indent="0" algn="ctr">
              <a:buNone/>
            </a:pPr>
            <a:r>
              <a:rPr lang="en-US" sz="1700" b="1">
                <a:solidFill>
                  <a:srgbClr val="1C7293"/>
                </a:solidFill>
                <a:latin typeface="Cambria" pitchFamily="34" charset="0"/>
                <a:ea typeface="Cambria" pitchFamily="34" charset="-122"/>
                <a:cs typeface="Cambria" pitchFamily="34" charset="-120"/>
              </a:rPr>
              <a:t>GraphQL</a:t>
            </a:r>
            <a:endParaRPr lang="en-US" sz="1700"/>
          </a:p>
        </p:txBody>
      </p:sp>
      <p:sp>
        <p:nvSpPr>
          <p:cNvPr id="22" name="Text 18"/>
          <p:cNvSpPr txBox="1"/>
          <p:nvPr/>
        </p:nvSpPr>
        <p:spPr>
          <a:xfrm>
            <a:off x="4550664"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The client needs to choose its own data</a:t>
            </a:r>
            <a:endParaRPr lang="en-US" sz="1150"/>
          </a:p>
        </p:txBody>
      </p:sp>
      <p:sp>
        <p:nvSpPr>
          <p:cNvPr id="23" name="Text 19"/>
          <p:cNvSpPr txBox="1"/>
          <p:nvPr/>
        </p:nvSpPr>
        <p:spPr>
          <a:xfrm>
            <a:off x="4550664"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Interconnected, complex data</a:t>
            </a:r>
            <a:endParaRPr lang="en-US" sz="1150"/>
          </a:p>
        </p:txBody>
      </p:sp>
      <p:sp>
        <p:nvSpPr>
          <p:cNvPr id="24" name="Text 20"/>
          <p:cNvSpPr txBox="1"/>
          <p:nvPr/>
        </p:nvSpPr>
        <p:spPr>
          <a:xfrm>
            <a:off x="4550664"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Multiple applications need different shapes of data</a:t>
            </a:r>
            <a:endParaRPr lang="en-US" sz="1150"/>
          </a:p>
        </p:txBody>
      </p:sp>
      <p:sp>
        <p:nvSpPr>
          <p:cNvPr id="25" name="Shape 21"/>
          <p:cNvSpPr/>
          <p:nvPr/>
        </p:nvSpPr>
        <p:spPr>
          <a:xfrm>
            <a:off x="8095488"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26" name="Shape 22"/>
          <p:cNvSpPr/>
          <p:nvPr/>
        </p:nvSpPr>
        <p:spPr>
          <a:xfrm>
            <a:off x="8095488" y="1920240"/>
            <a:ext cx="3453384" cy="822960"/>
          </a:xfrm>
          <a:prstGeom prst="roundRect">
            <a:avLst>
              <a:gd name="adj" fmla="val 11111"/>
            </a:avLst>
          </a:prstGeom>
          <a:solidFill>
            <a:srgbClr val="F2A65A"/>
          </a:solidFill>
          <a:ln/>
        </p:spPr>
        <p:txBody>
          <a:bodyPr/>
          <a:lstStyle/>
          <a:p>
            <a:endParaRPr lang="en-US"/>
          </a:p>
        </p:txBody>
      </p:sp>
      <p:sp>
        <p:nvSpPr>
          <p:cNvPr id="27" name="Shape 23"/>
          <p:cNvSpPr/>
          <p:nvPr/>
        </p:nvSpPr>
        <p:spPr>
          <a:xfrm>
            <a:off x="8095488" y="2331720"/>
            <a:ext cx="3453384" cy="411480"/>
          </a:xfrm>
          <a:prstGeom prst="rect">
            <a:avLst/>
          </a:prstGeom>
          <a:solidFill>
            <a:srgbClr val="F2A65A"/>
          </a:solidFill>
          <a:ln/>
        </p:spPr>
        <p:txBody>
          <a:bodyPr/>
          <a:lstStyle/>
          <a:p>
            <a:endParaRPr lang="en-US"/>
          </a:p>
        </p:txBody>
      </p:sp>
      <p:sp>
        <p:nvSpPr>
          <p:cNvPr id="28" name="Shape 24"/>
          <p:cNvSpPr/>
          <p:nvPr/>
        </p:nvSpPr>
        <p:spPr>
          <a:xfrm>
            <a:off x="9566148" y="2057400"/>
            <a:ext cx="512064" cy="512064"/>
          </a:xfrm>
          <a:prstGeom prst="ellipse">
            <a:avLst/>
          </a:prstGeom>
          <a:solidFill>
            <a:srgbClr val="FFFFFF"/>
          </a:solidFill>
          <a:ln/>
        </p:spPr>
        <p:txBody>
          <a:bodyPr/>
          <a:lstStyle/>
          <a:p>
            <a:endParaRPr lang="en-US"/>
          </a:p>
        </p:txBody>
      </p:sp>
      <p:pic>
        <p:nvPicPr>
          <p:cNvPr id="29" name="Image 2" descr="/home/claude/work/icon_grpc_navy.png"/>
          <p:cNvPicPr>
            <a:picLocks noChangeAspect="1"/>
          </p:cNvPicPr>
          <p:nvPr/>
        </p:nvPicPr>
        <p:blipFill>
          <a:blip r:embed="rId5"/>
          <a:stretch>
            <a:fillRect/>
          </a:stretch>
        </p:blipFill>
        <p:spPr>
          <a:xfrm>
            <a:off x="9689043" y="2180295"/>
            <a:ext cx="266273" cy="266273"/>
          </a:xfrm>
          <a:prstGeom prst="rect">
            <a:avLst/>
          </a:prstGeom>
        </p:spPr>
      </p:pic>
      <p:sp>
        <p:nvSpPr>
          <p:cNvPr id="30" name="Text 25"/>
          <p:cNvSpPr txBox="1"/>
          <p:nvPr/>
        </p:nvSpPr>
        <p:spPr>
          <a:xfrm>
            <a:off x="8095488" y="2788920"/>
            <a:ext cx="3453384" cy="365760"/>
          </a:xfrm>
          <a:prstGeom prst="rect">
            <a:avLst/>
          </a:prstGeom>
          <a:noFill/>
          <a:ln/>
        </p:spPr>
        <p:txBody>
          <a:bodyPr wrap="square" lIns="0" tIns="0" rIns="0" bIns="0" rtlCol="0" anchor="ctr"/>
          <a:lstStyle/>
          <a:p>
            <a:pPr marL="0" indent="0" algn="ctr">
              <a:buNone/>
            </a:pPr>
            <a:r>
              <a:rPr lang="en-US" sz="1700" b="1">
                <a:solidFill>
                  <a:srgbClr val="F2A65A"/>
                </a:solidFill>
                <a:latin typeface="Cambria" pitchFamily="34" charset="0"/>
                <a:ea typeface="Cambria" pitchFamily="34" charset="-122"/>
                <a:cs typeface="Cambria" pitchFamily="34" charset="-120"/>
              </a:rPr>
              <a:t>gRPC</a:t>
            </a:r>
            <a:endParaRPr lang="en-US" sz="1700"/>
          </a:p>
        </p:txBody>
      </p:sp>
      <p:sp>
        <p:nvSpPr>
          <p:cNvPr id="31" name="Text 26"/>
          <p:cNvSpPr txBox="1"/>
          <p:nvPr/>
        </p:nvSpPr>
        <p:spPr>
          <a:xfrm>
            <a:off x="8278368"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Performance and connection speed matter</a:t>
            </a:r>
            <a:endParaRPr lang="en-US" sz="1150"/>
          </a:p>
        </p:txBody>
      </p:sp>
      <p:sp>
        <p:nvSpPr>
          <p:cNvPr id="32" name="Text 27"/>
          <p:cNvSpPr txBox="1"/>
          <p:nvPr/>
        </p:nvSpPr>
        <p:spPr>
          <a:xfrm>
            <a:off x="8278368"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Communication between microservices</a:t>
            </a:r>
            <a:endParaRPr lang="en-US" sz="1150"/>
          </a:p>
        </p:txBody>
      </p:sp>
      <p:sp>
        <p:nvSpPr>
          <p:cNvPr id="33" name="Text 28"/>
          <p:cNvSpPr txBox="1"/>
          <p:nvPr/>
        </p:nvSpPr>
        <p:spPr>
          <a:xfrm>
            <a:off x="8278368"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Services need streaming</a:t>
            </a:r>
            <a:endParaRPr lang="en-US" sz="1150"/>
          </a:p>
        </p:txBody>
      </p:sp>
      <p:sp>
        <p:nvSpPr>
          <p:cNvPr id="34" name="Text 29"/>
          <p:cNvSpPr txBox="1"/>
          <p:nvPr/>
        </p:nvSpPr>
        <p:spPr>
          <a:xfrm>
            <a:off x="8278368" y="5157216"/>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We need a strong, structured protocol for data exchange</a:t>
            </a:r>
            <a:endParaRPr lang="en-US" sz="11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39A34F32-D5D9-1B03-8B57-E98C8CC05C49}"/>
              </a:ext>
            </a:extLst>
          </p:cNvPr>
          <p:cNvSpPr txBox="1"/>
          <p:nvPr/>
        </p:nvSpPr>
        <p:spPr>
          <a:xfrm>
            <a:off x="707010" y="970961"/>
            <a:ext cx="10821971" cy="461665"/>
          </a:xfrm>
          <a:prstGeom prst="rect">
            <a:avLst/>
          </a:prstGeom>
          <a:noFill/>
        </p:spPr>
        <p:txBody>
          <a:bodyPr wrap="square" rtlCol="0">
            <a:spAutoFit/>
          </a:bodyPr>
          <a:lstStyle/>
          <a:p>
            <a:r>
              <a:rPr lang="en-US" sz="2400" b="1" i="1">
                <a:solidFill>
                  <a:srgbClr val="002060"/>
                </a:solidFill>
              </a:rPr>
              <a:t>Practical Case Study: E-Commerce Platform:</a:t>
            </a:r>
          </a:p>
        </p:txBody>
      </p:sp>
      <p:sp>
        <p:nvSpPr>
          <p:cNvPr id="4" name="مربع نص 3">
            <a:extLst>
              <a:ext uri="{FF2B5EF4-FFF2-40B4-BE49-F238E27FC236}">
                <a16:creationId xmlns:a16="http://schemas.microsoft.com/office/drawing/2014/main" id="{CEC0C637-0705-0063-5966-7E8B03225A35}"/>
              </a:ext>
            </a:extLst>
          </p:cNvPr>
          <p:cNvSpPr txBox="1"/>
          <p:nvPr/>
        </p:nvSpPr>
        <p:spPr>
          <a:xfrm>
            <a:off x="707010" y="1508288"/>
            <a:ext cx="9539925" cy="1138773"/>
          </a:xfrm>
          <a:prstGeom prst="rect">
            <a:avLst/>
          </a:prstGeom>
          <a:noFill/>
        </p:spPr>
        <p:txBody>
          <a:bodyPr wrap="square" rtlCol="0">
            <a:spAutoFit/>
          </a:bodyPr>
          <a:lstStyle/>
          <a:p>
            <a:r>
              <a:rPr lang="en-US" sz="2000" b="1" i="1">
                <a:solidFill>
                  <a:srgbClr val="002060"/>
                </a:solidFill>
              </a:rPr>
              <a:t>Scenario:</a:t>
            </a:r>
          </a:p>
          <a:p>
            <a:r>
              <a:rPr lang="en-US" sz="1600"/>
              <a:t>An e-commerce platform supports web and mobile applications and needs APIs to</a:t>
            </a:r>
          </a:p>
          <a:p>
            <a:r>
              <a:rPr lang="en-US" sz="1600"/>
              <a:t>Communicate with different services.</a:t>
            </a:r>
          </a:p>
          <a:p>
            <a:endParaRPr lang="en-US" sz="1600"/>
          </a:p>
        </p:txBody>
      </p:sp>
      <p:sp>
        <p:nvSpPr>
          <p:cNvPr id="5" name="مربع نص 4">
            <a:extLst>
              <a:ext uri="{FF2B5EF4-FFF2-40B4-BE49-F238E27FC236}">
                <a16:creationId xmlns:a16="http://schemas.microsoft.com/office/drawing/2014/main" id="{84F19986-8179-6B25-A45A-6FBDE4D2ACB2}"/>
              </a:ext>
            </a:extLst>
          </p:cNvPr>
          <p:cNvSpPr txBox="1"/>
          <p:nvPr/>
        </p:nvSpPr>
        <p:spPr>
          <a:xfrm>
            <a:off x="707010" y="2543614"/>
            <a:ext cx="6872141" cy="4093428"/>
          </a:xfrm>
          <a:prstGeom prst="rect">
            <a:avLst/>
          </a:prstGeom>
          <a:noFill/>
        </p:spPr>
        <p:txBody>
          <a:bodyPr wrap="square" rtlCol="0">
            <a:spAutoFit/>
          </a:bodyPr>
          <a:lstStyle/>
          <a:p>
            <a:r>
              <a:rPr lang="en-US" sz="2000" b="1" i="1"/>
              <a:t>How the technologies can be used:</a:t>
            </a:r>
          </a:p>
          <a:p>
            <a:r>
              <a:rPr lang="en-US" sz="2000" b="1" i="1"/>
              <a:t>REST API:</a:t>
            </a:r>
          </a:p>
          <a:p>
            <a:pPr marL="285750" indent="-285750">
              <a:buFontTx/>
              <a:buChar char="-"/>
            </a:pPr>
            <a:r>
              <a:rPr lang="en-US"/>
              <a:t>Products</a:t>
            </a:r>
          </a:p>
          <a:p>
            <a:pPr marL="285750" indent="-285750">
              <a:buFontTx/>
              <a:buChar char="-"/>
            </a:pPr>
            <a:r>
              <a:rPr lang="en-US"/>
              <a:t>Orders</a:t>
            </a:r>
          </a:p>
          <a:p>
            <a:pPr marL="285750" indent="-285750">
              <a:buFontTx/>
              <a:buChar char="-"/>
            </a:pPr>
            <a:r>
              <a:rPr lang="en-US"/>
              <a:t>Payments</a:t>
            </a:r>
          </a:p>
          <a:p>
            <a:pPr marL="285750" indent="-285750">
              <a:buFontTx/>
              <a:buChar char="-"/>
            </a:pPr>
            <a:r>
              <a:rPr lang="en-US"/>
              <a:t>Common operations such as (GET,POST,PUT,DELETE) </a:t>
            </a:r>
            <a:endParaRPr lang="en-US" sz="2000"/>
          </a:p>
          <a:p>
            <a:r>
              <a:rPr lang="en-US" sz="2000"/>
              <a:t> </a:t>
            </a:r>
            <a:r>
              <a:rPr lang="en-US" sz="2000" b="1" i="1"/>
              <a:t>GraphQL:</a:t>
            </a:r>
          </a:p>
          <a:p>
            <a:pPr marL="285750" indent="-285750">
              <a:buFontTx/>
              <a:buChar char="-"/>
            </a:pPr>
            <a:r>
              <a:rPr lang="en-US"/>
              <a:t>Allows the client to request exactly the data it needs.</a:t>
            </a:r>
          </a:p>
          <a:p>
            <a:pPr marL="285750" indent="-285750">
              <a:buFontTx/>
              <a:buChar char="-"/>
            </a:pPr>
            <a:r>
              <a:rPr lang="en-US"/>
              <a:t>Useful when web and mobile applications require different data.</a:t>
            </a:r>
          </a:p>
          <a:p>
            <a:r>
              <a:rPr lang="en-US"/>
              <a:t>  </a:t>
            </a:r>
            <a:r>
              <a:rPr lang="en-US" sz="2000" b="1" i="1"/>
              <a:t>gRPC:</a:t>
            </a:r>
          </a:p>
          <a:p>
            <a:pPr marL="285750" indent="-285750">
              <a:buFontTx/>
              <a:buChar char="-"/>
            </a:pPr>
            <a:r>
              <a:rPr lang="en-US"/>
              <a:t>Used for communication between internal services.</a:t>
            </a:r>
          </a:p>
          <a:p>
            <a:pPr marL="285750" indent="-285750">
              <a:buFontTx/>
              <a:buChar char="-"/>
            </a:pPr>
            <a:r>
              <a:rPr lang="en-US"/>
              <a:t>Suitable for high-performance communication between microservices.</a:t>
            </a:r>
          </a:p>
          <a:p>
            <a:endParaRPr lang="en-US"/>
          </a:p>
        </p:txBody>
      </p:sp>
    </p:spTree>
    <p:extLst>
      <p:ext uri="{BB962C8B-B14F-4D97-AF65-F5344CB8AC3E}">
        <p14:creationId xmlns:p14="http://schemas.microsoft.com/office/powerpoint/2010/main" val="3641313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07293F"/>
        </a:solidFill>
        <a:effectLst/>
      </p:bgPr>
    </p:bg>
    <p:spTree>
      <p:nvGrpSpPr>
        <p:cNvPr id="1" name=""/>
        <p:cNvGrpSpPr/>
        <p:nvPr/>
      </p:nvGrpSpPr>
      <p:grpSpPr>
        <a:xfrm>
          <a:off x="0" y="0"/>
          <a:ext cx="0" cy="0"/>
          <a:chOff x="0" y="0"/>
          <a:chExt cx="0" cy="0"/>
        </a:xfrm>
      </p:grpSpPr>
      <p:sp>
        <p:nvSpPr>
          <p:cNvPr id="2" name="Shape 0"/>
          <p:cNvSpPr/>
          <p:nvPr/>
        </p:nvSpPr>
        <p:spPr>
          <a:xfrm>
            <a:off x="-1963673" y="3749040"/>
            <a:ext cx="5029200" cy="5029200"/>
          </a:xfrm>
          <a:prstGeom prst="ellipse">
            <a:avLst/>
          </a:prstGeom>
          <a:solidFill>
            <a:srgbClr val="0E4E70"/>
          </a:solidFill>
          <a:ln/>
        </p:spPr>
        <p:txBody>
          <a:bodyPr/>
          <a:lstStyle/>
          <a:p>
            <a:endParaRPr lang="en-US"/>
          </a:p>
        </p:txBody>
      </p:sp>
      <p:sp>
        <p:nvSpPr>
          <p:cNvPr id="3" name="Shape 1"/>
          <p:cNvSpPr/>
          <p:nvPr/>
        </p:nvSpPr>
        <p:spPr>
          <a:xfrm>
            <a:off x="9902952" y="-1300163"/>
            <a:ext cx="3354324" cy="3200400"/>
          </a:xfrm>
          <a:prstGeom prst="ellipse">
            <a:avLst/>
          </a:prstGeom>
          <a:solidFill>
            <a:srgbClr val="0E4E70"/>
          </a:solidFill>
          <a:ln/>
        </p:spPr>
        <p:txBody>
          <a:bodyPr/>
          <a:lstStyle/>
          <a:p>
            <a:endParaRPr lang="en-US"/>
          </a:p>
        </p:txBody>
      </p:sp>
      <p:sp>
        <p:nvSpPr>
          <p:cNvPr id="4" name="Text 2"/>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9FC4D6"/>
                </a:solidFill>
                <a:latin typeface="Calibri" pitchFamily="34" charset="0"/>
                <a:ea typeface="Calibri" pitchFamily="34" charset="-122"/>
                <a:cs typeface="Calibri" pitchFamily="34" charset="-120"/>
              </a:rPr>
              <a:t>20</a:t>
            </a:r>
            <a:endParaRPr lang="en-US" sz="1100"/>
          </a:p>
        </p:txBody>
      </p:sp>
      <p:sp>
        <p:nvSpPr>
          <p:cNvPr id="5" name="Text 3"/>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F2A65A"/>
                </a:solidFill>
                <a:latin typeface="Calibri" pitchFamily="34" charset="0"/>
                <a:ea typeface="Calibri" pitchFamily="34" charset="-122"/>
                <a:cs typeface="Calibri" pitchFamily="34" charset="-120"/>
              </a:rPr>
              <a:t>Summary</a:t>
            </a:r>
            <a:endParaRPr lang="en-US" sz="2400" i="1"/>
          </a:p>
        </p:txBody>
      </p:sp>
      <p:sp>
        <p:nvSpPr>
          <p:cNvPr id="6" name="Text 4"/>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000" b="1">
                <a:solidFill>
                  <a:srgbClr val="FFFFFF"/>
                </a:solidFill>
                <a:latin typeface="Cambria" pitchFamily="34" charset="0"/>
                <a:ea typeface="Cambria" pitchFamily="34" charset="-122"/>
                <a:cs typeface="Cambria" pitchFamily="34" charset="-120"/>
              </a:rPr>
              <a:t>No single technology is the best choice in every case</a:t>
            </a:r>
            <a:endParaRPr lang="en-US" sz="2000"/>
          </a:p>
        </p:txBody>
      </p:sp>
      <p:sp>
        <p:nvSpPr>
          <p:cNvPr id="7" name="Shape 5"/>
          <p:cNvSpPr/>
          <p:nvPr/>
        </p:nvSpPr>
        <p:spPr>
          <a:xfrm>
            <a:off x="2074164" y="1783080"/>
            <a:ext cx="585216" cy="585216"/>
          </a:xfrm>
          <a:prstGeom prst="ellipse">
            <a:avLst/>
          </a:prstGeom>
          <a:solidFill>
            <a:srgbClr val="F2A65A"/>
          </a:solidFill>
          <a:ln/>
        </p:spPr>
        <p:txBody>
          <a:bodyPr/>
          <a:lstStyle/>
          <a:p>
            <a:endParaRPr lang="en-US"/>
          </a:p>
        </p:txBody>
      </p:sp>
      <p:pic>
        <p:nvPicPr>
          <p:cNvPr id="8" name="Image 0" descr="/home/claude/work/icon_rest_navy.png"/>
          <p:cNvPicPr>
            <a:picLocks noChangeAspect="1"/>
          </p:cNvPicPr>
          <p:nvPr/>
        </p:nvPicPr>
        <p:blipFill>
          <a:blip r:embed="rId3"/>
          <a:stretch>
            <a:fillRect/>
          </a:stretch>
        </p:blipFill>
        <p:spPr>
          <a:xfrm>
            <a:off x="2214616" y="1923532"/>
            <a:ext cx="304312" cy="304312"/>
          </a:xfrm>
          <a:prstGeom prst="rect">
            <a:avLst/>
          </a:prstGeom>
        </p:spPr>
      </p:pic>
      <p:sp>
        <p:nvSpPr>
          <p:cNvPr id="9" name="Text 6"/>
          <p:cNvSpPr txBox="1"/>
          <p:nvPr/>
        </p:nvSpPr>
        <p:spPr>
          <a:xfrm>
            <a:off x="640080" y="2496312"/>
            <a:ext cx="3453384" cy="27432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REST</a:t>
            </a:r>
            <a:endParaRPr lang="en-US" sz="1400"/>
          </a:p>
        </p:txBody>
      </p:sp>
      <p:sp>
        <p:nvSpPr>
          <p:cNvPr id="10" name="Text 7"/>
          <p:cNvSpPr txBox="1"/>
          <p:nvPr/>
        </p:nvSpPr>
        <p:spPr>
          <a:xfrm>
            <a:off x="731520" y="2788920"/>
            <a:ext cx="3270504" cy="502920"/>
          </a:xfrm>
          <a:prstGeom prst="rect">
            <a:avLst/>
          </a:prstGeom>
          <a:noFill/>
          <a:ln/>
        </p:spPr>
        <p:txBody>
          <a:bodyPr wrap="square" lIns="0" tIns="0" rIns="0" bIns="0" rtlCol="0" anchor="t"/>
          <a:lstStyle/>
          <a:p>
            <a:pPr marL="0" indent="0" algn="ctr" rtl="0">
              <a:buNone/>
            </a:pPr>
            <a:r>
              <a:rPr lang="en-US" sz="1050">
                <a:solidFill>
                  <a:srgbClr val="9FC4D6"/>
                </a:solidFill>
                <a:latin typeface="Calibri" pitchFamily="34" charset="0"/>
                <a:ea typeface="Calibri" pitchFamily="34" charset="-122"/>
                <a:cs typeface="Calibri" pitchFamily="34" charset="-120"/>
              </a:rPr>
              <a:t>Simplicity, wide adoption, and easy integration with web applications</a:t>
            </a:r>
            <a:endParaRPr lang="en-US" sz="1050"/>
          </a:p>
        </p:txBody>
      </p:sp>
      <p:sp>
        <p:nvSpPr>
          <p:cNvPr id="11" name="Shape 8"/>
          <p:cNvSpPr/>
          <p:nvPr/>
        </p:nvSpPr>
        <p:spPr>
          <a:xfrm>
            <a:off x="5801868" y="1783080"/>
            <a:ext cx="585216" cy="585216"/>
          </a:xfrm>
          <a:prstGeom prst="ellipse">
            <a:avLst/>
          </a:prstGeom>
          <a:solidFill>
            <a:srgbClr val="F2A65A"/>
          </a:solidFill>
          <a:ln/>
        </p:spPr>
        <p:txBody>
          <a:bodyPr/>
          <a:lstStyle/>
          <a:p>
            <a:endParaRPr lang="en-US"/>
          </a:p>
        </p:txBody>
      </p:sp>
      <p:pic>
        <p:nvPicPr>
          <p:cNvPr id="12" name="Image 1" descr="/home/claude/work/icon_graphql_navy.png"/>
          <p:cNvPicPr>
            <a:picLocks noChangeAspect="1"/>
          </p:cNvPicPr>
          <p:nvPr/>
        </p:nvPicPr>
        <p:blipFill>
          <a:blip r:embed="rId4"/>
          <a:stretch>
            <a:fillRect/>
          </a:stretch>
        </p:blipFill>
        <p:spPr>
          <a:xfrm>
            <a:off x="5942320" y="1923532"/>
            <a:ext cx="304312" cy="304312"/>
          </a:xfrm>
          <a:prstGeom prst="rect">
            <a:avLst/>
          </a:prstGeom>
        </p:spPr>
      </p:pic>
      <p:sp>
        <p:nvSpPr>
          <p:cNvPr id="13" name="Text 9"/>
          <p:cNvSpPr txBox="1"/>
          <p:nvPr/>
        </p:nvSpPr>
        <p:spPr>
          <a:xfrm>
            <a:off x="4367784" y="2496312"/>
            <a:ext cx="3453384" cy="27432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GraphQL</a:t>
            </a:r>
            <a:endParaRPr lang="en-US" sz="1400"/>
          </a:p>
        </p:txBody>
      </p:sp>
      <p:sp>
        <p:nvSpPr>
          <p:cNvPr id="14" name="Text 10"/>
          <p:cNvSpPr txBox="1"/>
          <p:nvPr/>
        </p:nvSpPr>
        <p:spPr>
          <a:xfrm>
            <a:off x="4459224" y="2788920"/>
            <a:ext cx="3270504" cy="502920"/>
          </a:xfrm>
          <a:prstGeom prst="rect">
            <a:avLst/>
          </a:prstGeom>
          <a:noFill/>
          <a:ln/>
        </p:spPr>
        <p:txBody>
          <a:bodyPr wrap="square" lIns="0" tIns="0" rIns="0" bIns="0" rtlCol="0" anchor="t"/>
          <a:lstStyle/>
          <a:p>
            <a:pPr marL="0" indent="0" algn="ctr" rtl="0">
              <a:buNone/>
            </a:pPr>
            <a:r>
              <a:rPr lang="en-US" sz="1050">
                <a:solidFill>
                  <a:srgbClr val="9FC4D6"/>
                </a:solidFill>
                <a:latin typeface="Calibri" pitchFamily="34" charset="0"/>
                <a:ea typeface="Calibri" pitchFamily="34" charset="-122"/>
                <a:cs typeface="Calibri" pitchFamily="34" charset="-120"/>
              </a:rPr>
              <a:t>Great flexibility for the client in specifying the required data</a:t>
            </a:r>
            <a:endParaRPr lang="en-US" sz="1050"/>
          </a:p>
        </p:txBody>
      </p:sp>
      <p:sp>
        <p:nvSpPr>
          <p:cNvPr id="15" name="Shape 11"/>
          <p:cNvSpPr/>
          <p:nvPr/>
        </p:nvSpPr>
        <p:spPr>
          <a:xfrm>
            <a:off x="9529572" y="1783080"/>
            <a:ext cx="585216" cy="585216"/>
          </a:xfrm>
          <a:prstGeom prst="ellipse">
            <a:avLst/>
          </a:prstGeom>
          <a:solidFill>
            <a:srgbClr val="F2A65A"/>
          </a:solidFill>
          <a:ln/>
        </p:spPr>
        <p:txBody>
          <a:bodyPr/>
          <a:lstStyle/>
          <a:p>
            <a:endParaRPr lang="en-US"/>
          </a:p>
        </p:txBody>
      </p:sp>
      <p:pic>
        <p:nvPicPr>
          <p:cNvPr id="16" name="Image 2" descr="/home/claude/work/icon_grpc_navy.png"/>
          <p:cNvPicPr>
            <a:picLocks noChangeAspect="1"/>
          </p:cNvPicPr>
          <p:nvPr/>
        </p:nvPicPr>
        <p:blipFill>
          <a:blip r:embed="rId5"/>
          <a:stretch>
            <a:fillRect/>
          </a:stretch>
        </p:blipFill>
        <p:spPr>
          <a:xfrm>
            <a:off x="9670024" y="1923532"/>
            <a:ext cx="304312" cy="304312"/>
          </a:xfrm>
          <a:prstGeom prst="rect">
            <a:avLst/>
          </a:prstGeom>
        </p:spPr>
      </p:pic>
      <p:sp>
        <p:nvSpPr>
          <p:cNvPr id="17" name="Text 12"/>
          <p:cNvSpPr txBox="1"/>
          <p:nvPr/>
        </p:nvSpPr>
        <p:spPr>
          <a:xfrm>
            <a:off x="8095488" y="2496312"/>
            <a:ext cx="3453384" cy="27432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gRPC</a:t>
            </a:r>
            <a:endParaRPr lang="en-US" sz="1400"/>
          </a:p>
        </p:txBody>
      </p:sp>
      <p:sp>
        <p:nvSpPr>
          <p:cNvPr id="18" name="Text 13"/>
          <p:cNvSpPr txBox="1"/>
          <p:nvPr/>
        </p:nvSpPr>
        <p:spPr>
          <a:xfrm>
            <a:off x="8186928" y="2788920"/>
            <a:ext cx="3270504" cy="502920"/>
          </a:xfrm>
          <a:prstGeom prst="rect">
            <a:avLst/>
          </a:prstGeom>
          <a:noFill/>
          <a:ln/>
        </p:spPr>
        <p:txBody>
          <a:bodyPr wrap="square" lIns="0" tIns="0" rIns="0" bIns="0" rtlCol="0" anchor="t"/>
          <a:lstStyle/>
          <a:p>
            <a:pPr marL="0" indent="0" algn="ctr" rtl="0">
              <a:buNone/>
            </a:pPr>
            <a:r>
              <a:rPr lang="en-US" sz="1050">
                <a:solidFill>
                  <a:srgbClr val="9FC4D6"/>
                </a:solidFill>
                <a:latin typeface="Calibri" pitchFamily="34" charset="0"/>
                <a:ea typeface="Calibri" pitchFamily="34" charset="-122"/>
                <a:cs typeface="Calibri" pitchFamily="34" charset="-120"/>
              </a:rPr>
              <a:t>High performance and efficient communication between microservices</a:t>
            </a:r>
            <a:endParaRPr lang="en-US" sz="1050"/>
          </a:p>
        </p:txBody>
      </p:sp>
      <p:sp>
        <p:nvSpPr>
          <p:cNvPr id="19" name="Shape 14"/>
          <p:cNvSpPr/>
          <p:nvPr/>
        </p:nvSpPr>
        <p:spPr>
          <a:xfrm>
            <a:off x="640080" y="3246120"/>
            <a:ext cx="10908792" cy="0"/>
          </a:xfrm>
          <a:prstGeom prst="line">
            <a:avLst/>
          </a:prstGeom>
          <a:noFill/>
          <a:ln w="12700">
            <a:solidFill>
              <a:srgbClr val="1E5A78"/>
            </a:solidFill>
            <a:prstDash val="solid"/>
          </a:ln>
        </p:spPr>
        <p:txBody>
          <a:bodyPr/>
          <a:lstStyle/>
          <a:p>
            <a:endParaRPr lang="en-US"/>
          </a:p>
        </p:txBody>
      </p:sp>
      <p:sp>
        <p:nvSpPr>
          <p:cNvPr id="20" name="Text 15"/>
          <p:cNvSpPr txBox="1"/>
          <p:nvPr/>
        </p:nvSpPr>
        <p:spPr>
          <a:xfrm>
            <a:off x="640080" y="3429000"/>
            <a:ext cx="10908792" cy="365760"/>
          </a:xfrm>
          <a:prstGeom prst="rect">
            <a:avLst/>
          </a:prstGeom>
          <a:noFill/>
          <a:ln/>
        </p:spPr>
        <p:txBody>
          <a:bodyPr wrap="square" lIns="0" tIns="0" rIns="0" bIns="0" rtlCol="0" anchor="ctr"/>
          <a:lstStyle/>
          <a:p>
            <a:pPr marL="0" indent="0" algn="l" rtl="0">
              <a:buNone/>
            </a:pPr>
            <a:r>
              <a:rPr lang="en-US" sz="1400" b="1">
                <a:solidFill>
                  <a:srgbClr val="CADCFC"/>
                </a:solidFill>
                <a:latin typeface="Calibri" pitchFamily="34" charset="0"/>
                <a:ea typeface="Calibri" pitchFamily="34" charset="-122"/>
                <a:cs typeface="Calibri" pitchFamily="34" charset="-120"/>
              </a:rPr>
              <a:t>API management doesn't stop at design — it extends to operations, maintenance, and continuous development:</a:t>
            </a:r>
            <a:endParaRPr lang="en-US" sz="1400"/>
          </a:p>
        </p:txBody>
      </p:sp>
      <p:sp>
        <p:nvSpPr>
          <p:cNvPr id="21" name="Shape 16"/>
          <p:cNvSpPr/>
          <p:nvPr/>
        </p:nvSpPr>
        <p:spPr>
          <a:xfrm>
            <a:off x="640080" y="3931920"/>
            <a:ext cx="2035454" cy="2148840"/>
          </a:xfrm>
          <a:prstGeom prst="roundRect">
            <a:avLst>
              <a:gd name="adj" fmla="val 4492"/>
            </a:avLst>
          </a:prstGeom>
          <a:solidFill>
            <a:srgbClr val="0E4E70"/>
          </a:solidFill>
          <a:ln/>
        </p:spPr>
        <p:txBody>
          <a:bodyPr/>
          <a:lstStyle/>
          <a:p>
            <a:endParaRPr lang="en-US"/>
          </a:p>
        </p:txBody>
      </p:sp>
      <p:sp>
        <p:nvSpPr>
          <p:cNvPr id="22" name="Shape 17"/>
          <p:cNvSpPr/>
          <p:nvPr/>
        </p:nvSpPr>
        <p:spPr>
          <a:xfrm>
            <a:off x="1383487" y="4160520"/>
            <a:ext cx="548640" cy="548640"/>
          </a:xfrm>
          <a:prstGeom prst="ellipse">
            <a:avLst/>
          </a:prstGeom>
          <a:solidFill>
            <a:srgbClr val="F2A65A"/>
          </a:solidFill>
          <a:ln/>
        </p:spPr>
        <p:txBody>
          <a:bodyPr/>
          <a:lstStyle/>
          <a:p>
            <a:endParaRPr lang="en-US"/>
          </a:p>
        </p:txBody>
      </p:sp>
      <p:pic>
        <p:nvPicPr>
          <p:cNvPr id="23" name="Image 3" descr="/home/claude/work/icon_key_navy.png"/>
          <p:cNvPicPr>
            <a:picLocks noChangeAspect="1"/>
          </p:cNvPicPr>
          <p:nvPr/>
        </p:nvPicPr>
        <p:blipFill>
          <a:blip r:embed="rId6"/>
          <a:stretch>
            <a:fillRect/>
          </a:stretch>
        </p:blipFill>
        <p:spPr>
          <a:xfrm>
            <a:off x="1515161" y="4292194"/>
            <a:ext cx="285293" cy="285293"/>
          </a:xfrm>
          <a:prstGeom prst="rect">
            <a:avLst/>
          </a:prstGeom>
        </p:spPr>
      </p:pic>
      <p:sp>
        <p:nvSpPr>
          <p:cNvPr id="24" name="Text 18"/>
          <p:cNvSpPr txBox="1"/>
          <p:nvPr/>
        </p:nvSpPr>
        <p:spPr>
          <a:xfrm>
            <a:off x="694944" y="4846320"/>
            <a:ext cx="1925726" cy="3200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Authentication</a:t>
            </a:r>
            <a:endParaRPr lang="en-US" sz="1150"/>
          </a:p>
        </p:txBody>
      </p:sp>
      <p:sp>
        <p:nvSpPr>
          <p:cNvPr id="25" name="Text 19"/>
          <p:cNvSpPr txBox="1"/>
          <p:nvPr/>
        </p:nvSpPr>
        <p:spPr>
          <a:xfrm>
            <a:off x="713232" y="5212080"/>
            <a:ext cx="1889150" cy="731520"/>
          </a:xfrm>
          <a:prstGeom prst="rect">
            <a:avLst/>
          </a:prstGeom>
          <a:noFill/>
          <a:ln/>
        </p:spPr>
        <p:txBody>
          <a:bodyPr wrap="square" lIns="0" tIns="0" rIns="0" bIns="0" rtlCol="0" anchor="t"/>
          <a:lstStyle/>
          <a:p>
            <a:pPr marL="0" indent="0" algn="ctr" rtl="0">
              <a:buNone/>
            </a:pPr>
            <a:r>
              <a:rPr lang="en-US" sz="950">
                <a:solidFill>
                  <a:srgbClr val="9FC4D6"/>
                </a:solidFill>
                <a:latin typeface="Calibri" pitchFamily="34" charset="0"/>
                <a:ea typeface="Calibri" pitchFamily="34" charset="-122"/>
                <a:cs typeface="Calibri" pitchFamily="34" charset="-120"/>
              </a:rPr>
              <a:t>Verifying identity</a:t>
            </a:r>
            <a:endParaRPr lang="en-US" sz="950"/>
          </a:p>
        </p:txBody>
      </p:sp>
      <p:sp>
        <p:nvSpPr>
          <p:cNvPr id="26" name="Shape 20"/>
          <p:cNvSpPr/>
          <p:nvPr/>
        </p:nvSpPr>
        <p:spPr>
          <a:xfrm>
            <a:off x="2858414" y="3931920"/>
            <a:ext cx="2035454" cy="2148840"/>
          </a:xfrm>
          <a:prstGeom prst="roundRect">
            <a:avLst>
              <a:gd name="adj" fmla="val 4492"/>
            </a:avLst>
          </a:prstGeom>
          <a:solidFill>
            <a:srgbClr val="0E4E70"/>
          </a:solidFill>
          <a:ln/>
        </p:spPr>
        <p:txBody>
          <a:bodyPr/>
          <a:lstStyle/>
          <a:p>
            <a:endParaRPr lang="en-US"/>
          </a:p>
        </p:txBody>
      </p:sp>
      <p:sp>
        <p:nvSpPr>
          <p:cNvPr id="27" name="Shape 21"/>
          <p:cNvSpPr/>
          <p:nvPr/>
        </p:nvSpPr>
        <p:spPr>
          <a:xfrm>
            <a:off x="3601822" y="4160520"/>
            <a:ext cx="548640" cy="548640"/>
          </a:xfrm>
          <a:prstGeom prst="ellipse">
            <a:avLst/>
          </a:prstGeom>
          <a:solidFill>
            <a:srgbClr val="F2A65A"/>
          </a:solidFill>
          <a:ln/>
        </p:spPr>
        <p:txBody>
          <a:bodyPr/>
          <a:lstStyle/>
          <a:p>
            <a:endParaRPr lang="en-US"/>
          </a:p>
        </p:txBody>
      </p:sp>
      <p:pic>
        <p:nvPicPr>
          <p:cNvPr id="28" name="Image 4" descr="/home/claude/work/icon_shield_navy.png"/>
          <p:cNvPicPr>
            <a:picLocks noChangeAspect="1"/>
          </p:cNvPicPr>
          <p:nvPr/>
        </p:nvPicPr>
        <p:blipFill>
          <a:blip r:embed="rId7"/>
          <a:stretch>
            <a:fillRect/>
          </a:stretch>
        </p:blipFill>
        <p:spPr>
          <a:xfrm>
            <a:off x="3733495" y="4292194"/>
            <a:ext cx="285293" cy="285293"/>
          </a:xfrm>
          <a:prstGeom prst="rect">
            <a:avLst/>
          </a:prstGeom>
        </p:spPr>
      </p:pic>
      <p:sp>
        <p:nvSpPr>
          <p:cNvPr id="29" name="Text 22"/>
          <p:cNvSpPr txBox="1"/>
          <p:nvPr/>
        </p:nvSpPr>
        <p:spPr>
          <a:xfrm>
            <a:off x="2913278" y="4846320"/>
            <a:ext cx="1925726" cy="3200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Security</a:t>
            </a:r>
            <a:endParaRPr lang="en-US" sz="1150"/>
          </a:p>
        </p:txBody>
      </p:sp>
      <p:sp>
        <p:nvSpPr>
          <p:cNvPr id="30" name="Text 23"/>
          <p:cNvSpPr txBox="1"/>
          <p:nvPr/>
        </p:nvSpPr>
        <p:spPr>
          <a:xfrm>
            <a:off x="2931566" y="5212080"/>
            <a:ext cx="1889150" cy="731520"/>
          </a:xfrm>
          <a:prstGeom prst="rect">
            <a:avLst/>
          </a:prstGeom>
          <a:noFill/>
          <a:ln/>
        </p:spPr>
        <p:txBody>
          <a:bodyPr wrap="square" lIns="0" tIns="0" rIns="0" bIns="0" rtlCol="0" anchor="t"/>
          <a:lstStyle/>
          <a:p>
            <a:pPr marL="0" indent="0" algn="ctr" rtl="0">
              <a:buNone/>
            </a:pPr>
            <a:r>
              <a:rPr lang="en-US" sz="950">
                <a:solidFill>
                  <a:srgbClr val="9FC4D6"/>
                </a:solidFill>
                <a:latin typeface="Calibri" pitchFamily="34" charset="0"/>
                <a:ea typeface="Calibri" pitchFamily="34" charset="-122"/>
                <a:cs typeface="Calibri" pitchFamily="34" charset="-120"/>
              </a:rPr>
              <a:t>Protection from attacks</a:t>
            </a:r>
            <a:endParaRPr lang="en-US" sz="950"/>
          </a:p>
        </p:txBody>
      </p:sp>
      <p:sp>
        <p:nvSpPr>
          <p:cNvPr id="31" name="Shape 24"/>
          <p:cNvSpPr/>
          <p:nvPr/>
        </p:nvSpPr>
        <p:spPr>
          <a:xfrm>
            <a:off x="5076749" y="3931920"/>
            <a:ext cx="2035454" cy="2148840"/>
          </a:xfrm>
          <a:prstGeom prst="roundRect">
            <a:avLst>
              <a:gd name="adj" fmla="val 4492"/>
            </a:avLst>
          </a:prstGeom>
          <a:solidFill>
            <a:srgbClr val="0E4E70"/>
          </a:solidFill>
          <a:ln/>
        </p:spPr>
        <p:txBody>
          <a:bodyPr/>
          <a:lstStyle/>
          <a:p>
            <a:endParaRPr lang="en-US"/>
          </a:p>
        </p:txBody>
      </p:sp>
      <p:sp>
        <p:nvSpPr>
          <p:cNvPr id="32" name="Shape 25"/>
          <p:cNvSpPr/>
          <p:nvPr/>
        </p:nvSpPr>
        <p:spPr>
          <a:xfrm>
            <a:off x="5820156" y="4160520"/>
            <a:ext cx="548640" cy="548640"/>
          </a:xfrm>
          <a:prstGeom prst="ellipse">
            <a:avLst/>
          </a:prstGeom>
          <a:solidFill>
            <a:srgbClr val="F2A65A"/>
          </a:solidFill>
          <a:ln/>
        </p:spPr>
        <p:txBody>
          <a:bodyPr/>
          <a:lstStyle/>
          <a:p>
            <a:endParaRPr lang="en-US"/>
          </a:p>
        </p:txBody>
      </p:sp>
      <p:pic>
        <p:nvPicPr>
          <p:cNvPr id="33" name="Image 5" descr="/home/claude/work/icon_gauge_navy.png"/>
          <p:cNvPicPr>
            <a:picLocks noChangeAspect="1"/>
          </p:cNvPicPr>
          <p:nvPr/>
        </p:nvPicPr>
        <p:blipFill>
          <a:blip r:embed="rId8"/>
          <a:stretch>
            <a:fillRect/>
          </a:stretch>
        </p:blipFill>
        <p:spPr>
          <a:xfrm>
            <a:off x="5951830" y="4292194"/>
            <a:ext cx="285293" cy="285293"/>
          </a:xfrm>
          <a:prstGeom prst="rect">
            <a:avLst/>
          </a:prstGeom>
        </p:spPr>
      </p:pic>
      <p:sp>
        <p:nvSpPr>
          <p:cNvPr id="34" name="Text 26"/>
          <p:cNvSpPr txBox="1"/>
          <p:nvPr/>
        </p:nvSpPr>
        <p:spPr>
          <a:xfrm>
            <a:off x="5131613" y="4846320"/>
            <a:ext cx="1925726" cy="3200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Rate Limiting</a:t>
            </a:r>
            <a:endParaRPr lang="en-US" sz="1150"/>
          </a:p>
        </p:txBody>
      </p:sp>
      <p:sp>
        <p:nvSpPr>
          <p:cNvPr id="35" name="Text 27"/>
          <p:cNvSpPr txBox="1"/>
          <p:nvPr/>
        </p:nvSpPr>
        <p:spPr>
          <a:xfrm>
            <a:off x="5149901" y="5212080"/>
            <a:ext cx="1889150" cy="731520"/>
          </a:xfrm>
          <a:prstGeom prst="rect">
            <a:avLst/>
          </a:prstGeom>
          <a:noFill/>
          <a:ln/>
        </p:spPr>
        <p:txBody>
          <a:bodyPr wrap="square" lIns="0" tIns="0" rIns="0" bIns="0" rtlCol="0" anchor="t"/>
          <a:lstStyle/>
          <a:p>
            <a:pPr marL="0" indent="0" algn="ctr" rtl="0">
              <a:buNone/>
            </a:pPr>
            <a:r>
              <a:rPr lang="en-US" sz="950">
                <a:solidFill>
                  <a:srgbClr val="9FC4D6"/>
                </a:solidFill>
                <a:latin typeface="Calibri" pitchFamily="34" charset="0"/>
                <a:ea typeface="Calibri" pitchFamily="34" charset="-122"/>
                <a:cs typeface="Calibri" pitchFamily="34" charset="-120"/>
              </a:rPr>
              <a:t>Controlling requests</a:t>
            </a:r>
            <a:endParaRPr lang="en-US" sz="950"/>
          </a:p>
        </p:txBody>
      </p:sp>
      <p:sp>
        <p:nvSpPr>
          <p:cNvPr id="36" name="Shape 28"/>
          <p:cNvSpPr/>
          <p:nvPr/>
        </p:nvSpPr>
        <p:spPr>
          <a:xfrm>
            <a:off x="7295083" y="3931920"/>
            <a:ext cx="2035454" cy="2148840"/>
          </a:xfrm>
          <a:prstGeom prst="roundRect">
            <a:avLst>
              <a:gd name="adj" fmla="val 4492"/>
            </a:avLst>
          </a:prstGeom>
          <a:solidFill>
            <a:srgbClr val="0E4E70"/>
          </a:solidFill>
          <a:ln/>
        </p:spPr>
        <p:txBody>
          <a:bodyPr/>
          <a:lstStyle/>
          <a:p>
            <a:endParaRPr lang="en-US"/>
          </a:p>
        </p:txBody>
      </p:sp>
      <p:sp>
        <p:nvSpPr>
          <p:cNvPr id="37" name="Shape 29"/>
          <p:cNvSpPr/>
          <p:nvPr/>
        </p:nvSpPr>
        <p:spPr>
          <a:xfrm>
            <a:off x="8038490" y="4160520"/>
            <a:ext cx="548640" cy="548640"/>
          </a:xfrm>
          <a:prstGeom prst="ellipse">
            <a:avLst/>
          </a:prstGeom>
          <a:solidFill>
            <a:srgbClr val="F2A65A"/>
          </a:solidFill>
          <a:ln/>
        </p:spPr>
        <p:txBody>
          <a:bodyPr/>
          <a:lstStyle/>
          <a:p>
            <a:endParaRPr lang="en-US"/>
          </a:p>
        </p:txBody>
      </p:sp>
      <p:pic>
        <p:nvPicPr>
          <p:cNvPr id="38" name="Image 6" descr="/home/claude/work/icon_chart_navy.png"/>
          <p:cNvPicPr>
            <a:picLocks noChangeAspect="1"/>
          </p:cNvPicPr>
          <p:nvPr/>
        </p:nvPicPr>
        <p:blipFill>
          <a:blip r:embed="rId9"/>
          <a:stretch>
            <a:fillRect/>
          </a:stretch>
        </p:blipFill>
        <p:spPr>
          <a:xfrm>
            <a:off x="8170164" y="4292194"/>
            <a:ext cx="285293" cy="285293"/>
          </a:xfrm>
          <a:prstGeom prst="rect">
            <a:avLst/>
          </a:prstGeom>
        </p:spPr>
      </p:pic>
      <p:sp>
        <p:nvSpPr>
          <p:cNvPr id="39" name="Text 30"/>
          <p:cNvSpPr txBox="1"/>
          <p:nvPr/>
        </p:nvSpPr>
        <p:spPr>
          <a:xfrm>
            <a:off x="7349947" y="4846320"/>
            <a:ext cx="1925726" cy="3200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Monitoring</a:t>
            </a:r>
            <a:endParaRPr lang="en-US" sz="1150"/>
          </a:p>
        </p:txBody>
      </p:sp>
      <p:sp>
        <p:nvSpPr>
          <p:cNvPr id="40" name="Text 31"/>
          <p:cNvSpPr txBox="1"/>
          <p:nvPr/>
        </p:nvSpPr>
        <p:spPr>
          <a:xfrm>
            <a:off x="7368235" y="5212080"/>
            <a:ext cx="1889150" cy="731520"/>
          </a:xfrm>
          <a:prstGeom prst="rect">
            <a:avLst/>
          </a:prstGeom>
          <a:noFill/>
          <a:ln/>
        </p:spPr>
        <p:txBody>
          <a:bodyPr wrap="square" lIns="0" tIns="0" rIns="0" bIns="0" rtlCol="0" anchor="t"/>
          <a:lstStyle/>
          <a:p>
            <a:pPr marL="0" indent="0" algn="ctr" rtl="0">
              <a:buNone/>
            </a:pPr>
            <a:r>
              <a:rPr lang="en-US" sz="950">
                <a:solidFill>
                  <a:srgbClr val="9FC4D6"/>
                </a:solidFill>
                <a:latin typeface="Calibri" pitchFamily="34" charset="0"/>
                <a:ea typeface="Calibri" pitchFamily="34" charset="-122"/>
                <a:cs typeface="Calibri" pitchFamily="34" charset="-120"/>
              </a:rPr>
              <a:t>Tracking performance</a:t>
            </a:r>
            <a:endParaRPr lang="en-US" sz="950"/>
          </a:p>
        </p:txBody>
      </p:sp>
      <p:sp>
        <p:nvSpPr>
          <p:cNvPr id="41" name="Shape 32"/>
          <p:cNvSpPr/>
          <p:nvPr/>
        </p:nvSpPr>
        <p:spPr>
          <a:xfrm>
            <a:off x="9513418" y="3931920"/>
            <a:ext cx="2035454" cy="2148840"/>
          </a:xfrm>
          <a:prstGeom prst="roundRect">
            <a:avLst>
              <a:gd name="adj" fmla="val 4492"/>
            </a:avLst>
          </a:prstGeom>
          <a:solidFill>
            <a:srgbClr val="0E4E70"/>
          </a:solidFill>
          <a:ln/>
        </p:spPr>
        <p:txBody>
          <a:bodyPr/>
          <a:lstStyle/>
          <a:p>
            <a:endParaRPr lang="en-US"/>
          </a:p>
        </p:txBody>
      </p:sp>
      <p:sp>
        <p:nvSpPr>
          <p:cNvPr id="42" name="Shape 33"/>
          <p:cNvSpPr/>
          <p:nvPr/>
        </p:nvSpPr>
        <p:spPr>
          <a:xfrm>
            <a:off x="10256825" y="4160520"/>
            <a:ext cx="548640" cy="548640"/>
          </a:xfrm>
          <a:prstGeom prst="ellipse">
            <a:avLst/>
          </a:prstGeom>
          <a:solidFill>
            <a:srgbClr val="F2A65A"/>
          </a:solidFill>
          <a:ln/>
        </p:spPr>
        <p:txBody>
          <a:bodyPr/>
          <a:lstStyle/>
          <a:p>
            <a:endParaRPr lang="en-US"/>
          </a:p>
        </p:txBody>
      </p:sp>
      <p:pic>
        <p:nvPicPr>
          <p:cNvPr id="43" name="Image 7" descr="/home/claude/work/icon_branch_navy.png"/>
          <p:cNvPicPr>
            <a:picLocks noChangeAspect="1"/>
          </p:cNvPicPr>
          <p:nvPr/>
        </p:nvPicPr>
        <p:blipFill>
          <a:blip r:embed="rId10"/>
          <a:stretch>
            <a:fillRect/>
          </a:stretch>
        </p:blipFill>
        <p:spPr>
          <a:xfrm>
            <a:off x="10388498" y="4292194"/>
            <a:ext cx="285293" cy="285293"/>
          </a:xfrm>
          <a:prstGeom prst="rect">
            <a:avLst/>
          </a:prstGeom>
        </p:spPr>
      </p:pic>
      <p:sp>
        <p:nvSpPr>
          <p:cNvPr id="44" name="Text 34"/>
          <p:cNvSpPr txBox="1"/>
          <p:nvPr/>
        </p:nvSpPr>
        <p:spPr>
          <a:xfrm>
            <a:off x="9568282" y="4846320"/>
            <a:ext cx="1925726" cy="3200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Versioning</a:t>
            </a:r>
            <a:endParaRPr lang="en-US" sz="1150"/>
          </a:p>
        </p:txBody>
      </p:sp>
      <p:sp>
        <p:nvSpPr>
          <p:cNvPr id="45" name="Text 35"/>
          <p:cNvSpPr txBox="1"/>
          <p:nvPr/>
        </p:nvSpPr>
        <p:spPr>
          <a:xfrm>
            <a:off x="9586570" y="5212080"/>
            <a:ext cx="1889150" cy="731520"/>
          </a:xfrm>
          <a:prstGeom prst="rect">
            <a:avLst/>
          </a:prstGeom>
          <a:noFill/>
          <a:ln/>
        </p:spPr>
        <p:txBody>
          <a:bodyPr wrap="square" lIns="0" tIns="0" rIns="0" bIns="0" rtlCol="0" anchor="t"/>
          <a:lstStyle/>
          <a:p>
            <a:pPr marL="0" indent="0" algn="ctr" rtl="0">
              <a:buNone/>
            </a:pPr>
            <a:r>
              <a:rPr lang="en-US" sz="950">
                <a:solidFill>
                  <a:srgbClr val="9FC4D6"/>
                </a:solidFill>
                <a:latin typeface="Calibri" pitchFamily="34" charset="0"/>
                <a:ea typeface="Calibri" pitchFamily="34" charset="-122"/>
                <a:cs typeface="Calibri" pitchFamily="34" charset="-120"/>
              </a:rPr>
              <a:t>Managing updates</a:t>
            </a:r>
            <a:endParaRPr lang="en-US" sz="950"/>
          </a:p>
        </p:txBody>
      </p:sp>
      <p:sp>
        <p:nvSpPr>
          <p:cNvPr id="46" name="Text 36"/>
          <p:cNvSpPr txBox="1"/>
          <p:nvPr/>
        </p:nvSpPr>
        <p:spPr>
          <a:xfrm>
            <a:off x="640080" y="6263640"/>
            <a:ext cx="10908792" cy="411480"/>
          </a:xfrm>
          <a:prstGeom prst="rect">
            <a:avLst/>
          </a:prstGeom>
          <a:noFill/>
          <a:ln/>
        </p:spPr>
        <p:txBody>
          <a:bodyPr wrap="square" lIns="0" tIns="0" rIns="0" bIns="0" rtlCol="0" anchor="ctr"/>
          <a:lstStyle/>
          <a:p>
            <a:pPr marL="0" indent="0" algn="l" rtl="0">
              <a:buNone/>
            </a:pPr>
            <a:r>
              <a:rPr lang="en-US" sz="1150" i="1">
                <a:solidFill>
                  <a:srgbClr val="9FC4D6"/>
                </a:solidFill>
                <a:latin typeface="Calibri" pitchFamily="34" charset="0"/>
                <a:ea typeface="Calibri" pitchFamily="34" charset="-122"/>
                <a:cs typeface="Calibri" pitchFamily="34" charset="-120"/>
              </a:rPr>
              <a:t>The right choice depends on the system's requirements, data volume, required performance, the nature of the communication, and scalability.</a:t>
            </a:r>
            <a:endParaRPr lang="en-US" sz="11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Classification:</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HTTP Status Codes: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22</a:t>
            </a:r>
            <a:endParaRPr lang="en-US" sz="1100"/>
          </a:p>
        </p:txBody>
      </p:sp>
      <p:sp>
        <p:nvSpPr>
          <p:cNvPr id="6" name="Text 4"/>
          <p:cNvSpPr txBox="1"/>
          <p:nvPr/>
        </p:nvSpPr>
        <p:spPr>
          <a:xfrm>
            <a:off x="640080" y="1783080"/>
            <a:ext cx="10908792" cy="365760"/>
          </a:xfrm>
          <a:prstGeom prst="rect">
            <a:avLst/>
          </a:prstGeom>
          <a:noFill/>
          <a:ln/>
        </p:spPr>
        <p:txBody>
          <a:bodyPr wrap="square" lIns="0" tIns="0" rIns="0" bIns="0" rtlCol="0" anchor="ctr"/>
          <a:lstStyle/>
          <a:p>
            <a:pPr marL="0" indent="0" algn="l" rtl="0">
              <a:buNone/>
            </a:pPr>
            <a:r>
              <a:rPr lang="en-US" sz="1500">
                <a:solidFill>
                  <a:srgbClr val="16324A"/>
                </a:solidFill>
                <a:latin typeface="Calibri" pitchFamily="34" charset="0"/>
                <a:ea typeface="Calibri" pitchFamily="34" charset="-122"/>
                <a:cs typeface="Calibri" pitchFamily="34" charset="-120"/>
              </a:rPr>
              <a:t>Every API response includes a status code that indicates the result of the request, classified into five main categories:</a:t>
            </a:r>
            <a:endParaRPr lang="en-US" sz="1500"/>
          </a:p>
        </p:txBody>
      </p:sp>
      <p:sp>
        <p:nvSpPr>
          <p:cNvPr id="7" name="Shape 5"/>
          <p:cNvSpPr/>
          <p:nvPr/>
        </p:nvSpPr>
        <p:spPr>
          <a:xfrm>
            <a:off x="640080"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8" name="Shape 6"/>
          <p:cNvSpPr/>
          <p:nvPr/>
        </p:nvSpPr>
        <p:spPr>
          <a:xfrm>
            <a:off x="640080" y="2331720"/>
            <a:ext cx="2521458" cy="640080"/>
          </a:xfrm>
          <a:prstGeom prst="roundRect">
            <a:avLst>
              <a:gd name="adj" fmla="val 14286"/>
            </a:avLst>
          </a:prstGeom>
          <a:solidFill>
            <a:srgbClr val="0B3D5C"/>
          </a:solidFill>
          <a:ln/>
        </p:spPr>
        <p:txBody>
          <a:bodyPr/>
          <a:lstStyle/>
          <a:p>
            <a:endParaRPr lang="en-US"/>
          </a:p>
        </p:txBody>
      </p:sp>
      <p:sp>
        <p:nvSpPr>
          <p:cNvPr id="9" name="Shape 7"/>
          <p:cNvSpPr/>
          <p:nvPr/>
        </p:nvSpPr>
        <p:spPr>
          <a:xfrm>
            <a:off x="640080" y="2651760"/>
            <a:ext cx="2521458" cy="320040"/>
          </a:xfrm>
          <a:prstGeom prst="rect">
            <a:avLst/>
          </a:prstGeom>
          <a:solidFill>
            <a:srgbClr val="0B3D5C"/>
          </a:solidFill>
          <a:ln/>
        </p:spPr>
        <p:txBody>
          <a:bodyPr/>
          <a:lstStyle/>
          <a:p>
            <a:endParaRPr lang="en-US"/>
          </a:p>
        </p:txBody>
      </p:sp>
      <p:sp>
        <p:nvSpPr>
          <p:cNvPr id="10" name="Text 8"/>
          <p:cNvSpPr txBox="1"/>
          <p:nvPr/>
        </p:nvSpPr>
        <p:spPr>
          <a:xfrm>
            <a:off x="640080"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2xx</a:t>
            </a:r>
            <a:endParaRPr lang="en-US" sz="1800"/>
          </a:p>
        </p:txBody>
      </p:sp>
      <p:sp>
        <p:nvSpPr>
          <p:cNvPr id="11" name="Text 9"/>
          <p:cNvSpPr txBox="1"/>
          <p:nvPr/>
        </p:nvSpPr>
        <p:spPr>
          <a:xfrm>
            <a:off x="777240"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Success</a:t>
            </a:r>
            <a:endParaRPr lang="en-US" sz="1300"/>
          </a:p>
        </p:txBody>
      </p:sp>
      <p:sp>
        <p:nvSpPr>
          <p:cNvPr id="12" name="Shape 10"/>
          <p:cNvSpPr/>
          <p:nvPr/>
        </p:nvSpPr>
        <p:spPr>
          <a:xfrm>
            <a:off x="777240" y="3840480"/>
            <a:ext cx="2247138" cy="457200"/>
          </a:xfrm>
          <a:prstGeom prst="roundRect">
            <a:avLst>
              <a:gd name="adj" fmla="val 12000"/>
            </a:avLst>
          </a:prstGeom>
          <a:solidFill>
            <a:srgbClr val="F4F8FA"/>
          </a:solidFill>
          <a:ln/>
        </p:spPr>
        <p:txBody>
          <a:bodyPr/>
          <a:lstStyle/>
          <a:p>
            <a:endParaRPr lang="en-US"/>
          </a:p>
        </p:txBody>
      </p:sp>
      <p:sp>
        <p:nvSpPr>
          <p:cNvPr id="13" name="Text 11"/>
          <p:cNvSpPr txBox="1"/>
          <p:nvPr/>
        </p:nvSpPr>
        <p:spPr>
          <a:xfrm>
            <a:off x="777240"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200 OK</a:t>
            </a:r>
            <a:endParaRPr lang="en-US" sz="1100"/>
          </a:p>
        </p:txBody>
      </p:sp>
      <p:sp>
        <p:nvSpPr>
          <p:cNvPr id="14" name="Text 12"/>
          <p:cNvSpPr txBox="1"/>
          <p:nvPr/>
        </p:nvSpPr>
        <p:spPr>
          <a:xfrm>
            <a:off x="777240"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The operation completed successfully and the requested data was returned</a:t>
            </a:r>
            <a:endParaRPr lang="en-US" sz="1100"/>
          </a:p>
        </p:txBody>
      </p:sp>
      <p:sp>
        <p:nvSpPr>
          <p:cNvPr id="15" name="Shape 13"/>
          <p:cNvSpPr/>
          <p:nvPr/>
        </p:nvSpPr>
        <p:spPr>
          <a:xfrm>
            <a:off x="3435858"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6" name="Shape 14"/>
          <p:cNvSpPr/>
          <p:nvPr/>
        </p:nvSpPr>
        <p:spPr>
          <a:xfrm>
            <a:off x="3435858" y="2331720"/>
            <a:ext cx="2521458" cy="640080"/>
          </a:xfrm>
          <a:prstGeom prst="roundRect">
            <a:avLst>
              <a:gd name="adj" fmla="val 14286"/>
            </a:avLst>
          </a:prstGeom>
          <a:solidFill>
            <a:srgbClr val="1C7293"/>
          </a:solidFill>
          <a:ln/>
        </p:spPr>
        <p:txBody>
          <a:bodyPr/>
          <a:lstStyle/>
          <a:p>
            <a:endParaRPr lang="en-US"/>
          </a:p>
        </p:txBody>
      </p:sp>
      <p:sp>
        <p:nvSpPr>
          <p:cNvPr id="17" name="Shape 15"/>
          <p:cNvSpPr/>
          <p:nvPr/>
        </p:nvSpPr>
        <p:spPr>
          <a:xfrm>
            <a:off x="3435858" y="2651760"/>
            <a:ext cx="2521458" cy="320040"/>
          </a:xfrm>
          <a:prstGeom prst="rect">
            <a:avLst/>
          </a:prstGeom>
          <a:solidFill>
            <a:srgbClr val="1C7293"/>
          </a:solidFill>
          <a:ln/>
        </p:spPr>
        <p:txBody>
          <a:bodyPr/>
          <a:lstStyle/>
          <a:p>
            <a:endParaRPr lang="en-US"/>
          </a:p>
        </p:txBody>
      </p:sp>
      <p:sp>
        <p:nvSpPr>
          <p:cNvPr id="18" name="Text 16"/>
          <p:cNvSpPr txBox="1"/>
          <p:nvPr/>
        </p:nvSpPr>
        <p:spPr>
          <a:xfrm>
            <a:off x="3435858"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3xx</a:t>
            </a:r>
            <a:endParaRPr lang="en-US" sz="1800"/>
          </a:p>
        </p:txBody>
      </p:sp>
      <p:sp>
        <p:nvSpPr>
          <p:cNvPr id="19" name="Text 17"/>
          <p:cNvSpPr txBox="1"/>
          <p:nvPr/>
        </p:nvSpPr>
        <p:spPr>
          <a:xfrm>
            <a:off x="3573018"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Redirection</a:t>
            </a:r>
            <a:endParaRPr lang="en-US" sz="1300"/>
          </a:p>
        </p:txBody>
      </p:sp>
      <p:sp>
        <p:nvSpPr>
          <p:cNvPr id="20" name="Shape 18"/>
          <p:cNvSpPr/>
          <p:nvPr/>
        </p:nvSpPr>
        <p:spPr>
          <a:xfrm>
            <a:off x="3573018" y="3840480"/>
            <a:ext cx="2247138" cy="457200"/>
          </a:xfrm>
          <a:prstGeom prst="roundRect">
            <a:avLst>
              <a:gd name="adj" fmla="val 12000"/>
            </a:avLst>
          </a:prstGeom>
          <a:solidFill>
            <a:srgbClr val="F4F8FA"/>
          </a:solidFill>
          <a:ln/>
        </p:spPr>
        <p:txBody>
          <a:bodyPr/>
          <a:lstStyle/>
          <a:p>
            <a:endParaRPr lang="en-US"/>
          </a:p>
        </p:txBody>
      </p:sp>
      <p:sp>
        <p:nvSpPr>
          <p:cNvPr id="21" name="Text 19"/>
          <p:cNvSpPr txBox="1"/>
          <p:nvPr/>
        </p:nvSpPr>
        <p:spPr>
          <a:xfrm>
            <a:off x="3573018"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301 Moved</a:t>
            </a:r>
            <a:endParaRPr lang="en-US" sz="1100"/>
          </a:p>
        </p:txBody>
      </p:sp>
      <p:sp>
        <p:nvSpPr>
          <p:cNvPr id="22" name="Text 20"/>
          <p:cNvSpPr txBox="1"/>
          <p:nvPr/>
        </p:nvSpPr>
        <p:spPr>
          <a:xfrm>
            <a:off x="3573018"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The resource has moved, and the request must follow the new address</a:t>
            </a:r>
            <a:endParaRPr lang="en-US" sz="1100"/>
          </a:p>
        </p:txBody>
      </p:sp>
      <p:sp>
        <p:nvSpPr>
          <p:cNvPr id="23" name="Shape 21"/>
          <p:cNvSpPr/>
          <p:nvPr/>
        </p:nvSpPr>
        <p:spPr>
          <a:xfrm>
            <a:off x="6231636"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24" name="Shape 22"/>
          <p:cNvSpPr/>
          <p:nvPr/>
        </p:nvSpPr>
        <p:spPr>
          <a:xfrm>
            <a:off x="6231636" y="2331720"/>
            <a:ext cx="2521458" cy="640080"/>
          </a:xfrm>
          <a:prstGeom prst="roundRect">
            <a:avLst>
              <a:gd name="adj" fmla="val 14286"/>
            </a:avLst>
          </a:prstGeom>
          <a:solidFill>
            <a:srgbClr val="F2A65A"/>
          </a:solidFill>
          <a:ln/>
        </p:spPr>
        <p:txBody>
          <a:bodyPr/>
          <a:lstStyle/>
          <a:p>
            <a:endParaRPr lang="en-US"/>
          </a:p>
        </p:txBody>
      </p:sp>
      <p:sp>
        <p:nvSpPr>
          <p:cNvPr id="25" name="Shape 23"/>
          <p:cNvSpPr/>
          <p:nvPr/>
        </p:nvSpPr>
        <p:spPr>
          <a:xfrm>
            <a:off x="6231636" y="2651760"/>
            <a:ext cx="2521458" cy="320040"/>
          </a:xfrm>
          <a:prstGeom prst="rect">
            <a:avLst/>
          </a:prstGeom>
          <a:solidFill>
            <a:srgbClr val="F2A65A"/>
          </a:solidFill>
          <a:ln/>
        </p:spPr>
        <p:txBody>
          <a:bodyPr/>
          <a:lstStyle/>
          <a:p>
            <a:endParaRPr lang="en-US"/>
          </a:p>
        </p:txBody>
      </p:sp>
      <p:sp>
        <p:nvSpPr>
          <p:cNvPr id="26" name="Text 24"/>
          <p:cNvSpPr txBox="1"/>
          <p:nvPr/>
        </p:nvSpPr>
        <p:spPr>
          <a:xfrm>
            <a:off x="6231636"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4xx</a:t>
            </a:r>
            <a:endParaRPr lang="en-US" sz="1800"/>
          </a:p>
        </p:txBody>
      </p:sp>
      <p:sp>
        <p:nvSpPr>
          <p:cNvPr id="27" name="Text 25"/>
          <p:cNvSpPr txBox="1"/>
          <p:nvPr/>
        </p:nvSpPr>
        <p:spPr>
          <a:xfrm>
            <a:off x="6368796"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Client Error</a:t>
            </a:r>
            <a:endParaRPr lang="en-US" sz="1300"/>
          </a:p>
        </p:txBody>
      </p:sp>
      <p:sp>
        <p:nvSpPr>
          <p:cNvPr id="28" name="Shape 26"/>
          <p:cNvSpPr/>
          <p:nvPr/>
        </p:nvSpPr>
        <p:spPr>
          <a:xfrm>
            <a:off x="6368796" y="3840480"/>
            <a:ext cx="2247138" cy="457200"/>
          </a:xfrm>
          <a:prstGeom prst="roundRect">
            <a:avLst>
              <a:gd name="adj" fmla="val 12000"/>
            </a:avLst>
          </a:prstGeom>
          <a:solidFill>
            <a:srgbClr val="F4F8FA"/>
          </a:solidFill>
          <a:ln/>
        </p:spPr>
        <p:txBody>
          <a:bodyPr/>
          <a:lstStyle/>
          <a:p>
            <a:endParaRPr lang="en-US"/>
          </a:p>
        </p:txBody>
      </p:sp>
      <p:sp>
        <p:nvSpPr>
          <p:cNvPr id="29" name="Text 27"/>
          <p:cNvSpPr txBox="1"/>
          <p:nvPr/>
        </p:nvSpPr>
        <p:spPr>
          <a:xfrm>
            <a:off x="6368796"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404 Not Found</a:t>
            </a:r>
            <a:endParaRPr lang="en-US" sz="1100"/>
          </a:p>
        </p:txBody>
      </p:sp>
      <p:sp>
        <p:nvSpPr>
          <p:cNvPr id="30" name="Text 28"/>
          <p:cNvSpPr txBox="1"/>
          <p:nvPr/>
        </p:nvSpPr>
        <p:spPr>
          <a:xfrm>
            <a:off x="6368796"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An error in the request itself, such as a resource that doesn't exist</a:t>
            </a:r>
            <a:endParaRPr lang="en-US" sz="1100"/>
          </a:p>
        </p:txBody>
      </p:sp>
      <p:sp>
        <p:nvSpPr>
          <p:cNvPr id="31" name="Shape 29"/>
          <p:cNvSpPr/>
          <p:nvPr/>
        </p:nvSpPr>
        <p:spPr>
          <a:xfrm>
            <a:off x="9027414" y="2331720"/>
            <a:ext cx="2521458" cy="3291840"/>
          </a:xfrm>
          <a:prstGeom prst="roundRect">
            <a:avLst>
              <a:gd name="adj" fmla="val 3626"/>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32" name="Shape 30"/>
          <p:cNvSpPr/>
          <p:nvPr/>
        </p:nvSpPr>
        <p:spPr>
          <a:xfrm>
            <a:off x="9027414" y="2331720"/>
            <a:ext cx="2521458" cy="640080"/>
          </a:xfrm>
          <a:prstGeom prst="roundRect">
            <a:avLst>
              <a:gd name="adj" fmla="val 14286"/>
            </a:avLst>
          </a:prstGeom>
          <a:solidFill>
            <a:srgbClr val="9C3B3B"/>
          </a:solidFill>
          <a:ln/>
        </p:spPr>
        <p:txBody>
          <a:bodyPr/>
          <a:lstStyle/>
          <a:p>
            <a:endParaRPr lang="en-US"/>
          </a:p>
        </p:txBody>
      </p:sp>
      <p:sp>
        <p:nvSpPr>
          <p:cNvPr id="33" name="Shape 31"/>
          <p:cNvSpPr/>
          <p:nvPr/>
        </p:nvSpPr>
        <p:spPr>
          <a:xfrm>
            <a:off x="9027414" y="2651760"/>
            <a:ext cx="2521458" cy="320040"/>
          </a:xfrm>
          <a:prstGeom prst="rect">
            <a:avLst/>
          </a:prstGeom>
          <a:solidFill>
            <a:srgbClr val="9C3B3B"/>
          </a:solidFill>
          <a:ln/>
        </p:spPr>
        <p:txBody>
          <a:bodyPr/>
          <a:lstStyle/>
          <a:p>
            <a:endParaRPr lang="en-US"/>
          </a:p>
        </p:txBody>
      </p:sp>
      <p:sp>
        <p:nvSpPr>
          <p:cNvPr id="34" name="Text 32"/>
          <p:cNvSpPr txBox="1"/>
          <p:nvPr/>
        </p:nvSpPr>
        <p:spPr>
          <a:xfrm>
            <a:off x="9027414" y="2331720"/>
            <a:ext cx="2521458" cy="64008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5xx</a:t>
            </a:r>
            <a:endParaRPr lang="en-US" sz="1800"/>
          </a:p>
        </p:txBody>
      </p:sp>
      <p:sp>
        <p:nvSpPr>
          <p:cNvPr id="35" name="Text 33"/>
          <p:cNvSpPr txBox="1"/>
          <p:nvPr/>
        </p:nvSpPr>
        <p:spPr>
          <a:xfrm>
            <a:off x="9164574" y="3154680"/>
            <a:ext cx="2247138" cy="548640"/>
          </a:xfrm>
          <a:prstGeom prst="rect">
            <a:avLst/>
          </a:prstGeom>
          <a:noFill/>
          <a:ln/>
        </p:spPr>
        <p:txBody>
          <a:bodyPr wrap="square" lIns="0" tIns="0" rIns="0" bIns="0" rtlCol="0" anchor="t"/>
          <a:lstStyle/>
          <a:p>
            <a:pPr marL="0" indent="0" algn="ctr" rtl="0">
              <a:buNone/>
            </a:pPr>
            <a:r>
              <a:rPr lang="en-US" sz="1300" b="1">
                <a:solidFill>
                  <a:srgbClr val="0B3D5C"/>
                </a:solidFill>
                <a:latin typeface="Calibri" pitchFamily="34" charset="0"/>
                <a:ea typeface="Calibri" pitchFamily="34" charset="-122"/>
                <a:cs typeface="Calibri" pitchFamily="34" charset="-120"/>
              </a:rPr>
              <a:t>Server Error</a:t>
            </a:r>
            <a:endParaRPr lang="en-US" sz="1300"/>
          </a:p>
        </p:txBody>
      </p:sp>
      <p:sp>
        <p:nvSpPr>
          <p:cNvPr id="36" name="Shape 34"/>
          <p:cNvSpPr/>
          <p:nvPr/>
        </p:nvSpPr>
        <p:spPr>
          <a:xfrm>
            <a:off x="9164574" y="3840480"/>
            <a:ext cx="2247138" cy="457200"/>
          </a:xfrm>
          <a:prstGeom prst="roundRect">
            <a:avLst>
              <a:gd name="adj" fmla="val 12000"/>
            </a:avLst>
          </a:prstGeom>
          <a:solidFill>
            <a:srgbClr val="F4F8FA"/>
          </a:solidFill>
          <a:ln/>
        </p:spPr>
        <p:txBody>
          <a:bodyPr/>
          <a:lstStyle/>
          <a:p>
            <a:endParaRPr lang="en-US"/>
          </a:p>
        </p:txBody>
      </p:sp>
      <p:sp>
        <p:nvSpPr>
          <p:cNvPr id="37" name="Text 35"/>
          <p:cNvSpPr txBox="1"/>
          <p:nvPr/>
        </p:nvSpPr>
        <p:spPr>
          <a:xfrm>
            <a:off x="9164574" y="3840480"/>
            <a:ext cx="2247138" cy="457200"/>
          </a:xfrm>
          <a:prstGeom prst="rect">
            <a:avLst/>
          </a:prstGeom>
          <a:noFill/>
          <a:ln/>
        </p:spPr>
        <p:txBody>
          <a:bodyPr wrap="square" lIns="0" tIns="0" rIns="0" bIns="0" rtlCol="0" anchor="ctr"/>
          <a:lstStyle/>
          <a:p>
            <a:pPr marL="0" indent="0" algn="ctr">
              <a:buNone/>
            </a:pPr>
            <a:r>
              <a:rPr lang="en-US" sz="1100">
                <a:solidFill>
                  <a:srgbClr val="16324A"/>
                </a:solidFill>
                <a:latin typeface="Courier New" pitchFamily="34" charset="0"/>
                <a:ea typeface="Courier New" pitchFamily="34" charset="-122"/>
                <a:cs typeface="Courier New" pitchFamily="34" charset="-120"/>
              </a:rPr>
              <a:t>500 Internal Error</a:t>
            </a:r>
            <a:endParaRPr lang="en-US" sz="1100"/>
          </a:p>
        </p:txBody>
      </p:sp>
      <p:sp>
        <p:nvSpPr>
          <p:cNvPr id="38" name="Text 36"/>
          <p:cNvSpPr txBox="1"/>
          <p:nvPr/>
        </p:nvSpPr>
        <p:spPr>
          <a:xfrm>
            <a:off x="9164574" y="4434840"/>
            <a:ext cx="2247138" cy="640080"/>
          </a:xfrm>
          <a:prstGeom prst="rect">
            <a:avLst/>
          </a:prstGeom>
          <a:noFill/>
          <a:ln/>
        </p:spPr>
        <p:txBody>
          <a:bodyPr wrap="square" lIns="0" tIns="0" rIns="0" bIns="0" rtlCol="0" anchor="t"/>
          <a:lstStyle/>
          <a:p>
            <a:pPr marL="0" indent="0" algn="ctr" rtl="0">
              <a:buNone/>
            </a:pPr>
            <a:r>
              <a:rPr lang="en-US" sz="1100">
                <a:solidFill>
                  <a:srgbClr val="5B7C8D"/>
                </a:solidFill>
                <a:latin typeface="Calibri" pitchFamily="34" charset="0"/>
                <a:ea typeface="Calibri" pitchFamily="34" charset="-122"/>
                <a:cs typeface="Calibri" pitchFamily="34" charset="-120"/>
              </a:rPr>
              <a:t>An internal server failure occurred during processing</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Documentation:</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Documenting APIs — OpenAPI / Swagger:</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23</a:t>
            </a:r>
            <a:endParaRPr lang="en-US" sz="1100"/>
          </a:p>
        </p:txBody>
      </p:sp>
      <p:sp>
        <p:nvSpPr>
          <p:cNvPr id="6" name="Shape 4"/>
          <p:cNvSpPr/>
          <p:nvPr/>
        </p:nvSpPr>
        <p:spPr>
          <a:xfrm>
            <a:off x="594360" y="2198735"/>
            <a:ext cx="566928" cy="566928"/>
          </a:xfrm>
          <a:prstGeom prst="ellipse">
            <a:avLst/>
          </a:prstGeom>
          <a:solidFill>
            <a:srgbClr val="0B3D5C"/>
          </a:solidFill>
          <a:ln/>
        </p:spPr>
        <p:txBody>
          <a:bodyPr/>
          <a:lstStyle/>
          <a:p>
            <a:endParaRPr lang="en-US"/>
          </a:p>
        </p:txBody>
      </p:sp>
      <p:pic>
        <p:nvPicPr>
          <p:cNvPr id="7" name="Image 0" descr="/home/claude/work/icon_check_white.png"/>
          <p:cNvPicPr>
            <a:picLocks noChangeAspect="1"/>
          </p:cNvPicPr>
          <p:nvPr/>
        </p:nvPicPr>
        <p:blipFill>
          <a:blip r:embed="rId2"/>
          <a:stretch>
            <a:fillRect/>
          </a:stretch>
        </p:blipFill>
        <p:spPr>
          <a:xfrm>
            <a:off x="730422" y="2334797"/>
            <a:ext cx="294803" cy="294803"/>
          </a:xfrm>
          <a:prstGeom prst="rect">
            <a:avLst/>
          </a:prstGeom>
        </p:spPr>
      </p:pic>
      <p:sp>
        <p:nvSpPr>
          <p:cNvPr id="8" name="Text 5"/>
          <p:cNvSpPr txBox="1"/>
          <p:nvPr/>
        </p:nvSpPr>
        <p:spPr>
          <a:xfrm>
            <a:off x="1347216" y="2203704"/>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A unified, clear contract (Schema)</a:t>
            </a:r>
            <a:endParaRPr lang="en-US" sz="1600"/>
          </a:p>
        </p:txBody>
      </p:sp>
      <p:sp>
        <p:nvSpPr>
          <p:cNvPr id="9" name="Text 6"/>
          <p:cNvSpPr txBox="1"/>
          <p:nvPr/>
        </p:nvSpPr>
        <p:spPr>
          <a:xfrm>
            <a:off x="1347216" y="2638044"/>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OpenAPI describes every endpoint, its data types, and its inputs with full precision.</a:t>
            </a:r>
            <a:endParaRPr lang="en-US" sz="1250"/>
          </a:p>
        </p:txBody>
      </p:sp>
      <p:sp>
        <p:nvSpPr>
          <p:cNvPr id="10" name="Shape 7"/>
          <p:cNvSpPr/>
          <p:nvPr/>
        </p:nvSpPr>
        <p:spPr>
          <a:xfrm>
            <a:off x="6683580" y="2198735"/>
            <a:ext cx="566928" cy="566928"/>
          </a:xfrm>
          <a:prstGeom prst="ellipse">
            <a:avLst/>
          </a:prstGeom>
          <a:solidFill>
            <a:srgbClr val="0B3D5C"/>
          </a:solidFill>
          <a:ln/>
        </p:spPr>
        <p:txBody>
          <a:bodyPr/>
          <a:lstStyle/>
          <a:p>
            <a:endParaRPr lang="en-US"/>
          </a:p>
        </p:txBody>
      </p:sp>
      <p:pic>
        <p:nvPicPr>
          <p:cNvPr id="11" name="Image 1" descr="/home/claude/work/icon_cogs_white.png"/>
          <p:cNvPicPr>
            <a:picLocks noChangeAspect="1"/>
          </p:cNvPicPr>
          <p:nvPr/>
        </p:nvPicPr>
        <p:blipFill>
          <a:blip r:embed="rId3"/>
          <a:stretch>
            <a:fillRect/>
          </a:stretch>
        </p:blipFill>
        <p:spPr>
          <a:xfrm>
            <a:off x="6819642" y="2334797"/>
            <a:ext cx="294803" cy="294803"/>
          </a:xfrm>
          <a:prstGeom prst="rect">
            <a:avLst/>
          </a:prstGeom>
        </p:spPr>
      </p:pic>
      <p:sp>
        <p:nvSpPr>
          <p:cNvPr id="12" name="Text 8"/>
          <p:cNvSpPr txBox="1"/>
          <p:nvPr/>
        </p:nvSpPr>
        <p:spPr>
          <a:xfrm>
            <a:off x="7386571" y="2198735"/>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Automatic code generation</a:t>
            </a:r>
            <a:endParaRPr lang="en-US" sz="1600"/>
          </a:p>
        </p:txBody>
      </p:sp>
      <p:sp>
        <p:nvSpPr>
          <p:cNvPr id="13" name="Text 9"/>
          <p:cNvSpPr txBox="1"/>
          <p:nvPr/>
        </p:nvSpPr>
        <p:spPr>
          <a:xfrm>
            <a:off x="7386571" y="2638044"/>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API clients and SDKs can be generated directly and ready-made from the documentation file.</a:t>
            </a:r>
            <a:endParaRPr lang="en-US" sz="1250"/>
          </a:p>
        </p:txBody>
      </p:sp>
      <p:sp>
        <p:nvSpPr>
          <p:cNvPr id="14" name="Shape 10"/>
          <p:cNvSpPr/>
          <p:nvPr/>
        </p:nvSpPr>
        <p:spPr>
          <a:xfrm>
            <a:off x="594359" y="3784356"/>
            <a:ext cx="566928" cy="566928"/>
          </a:xfrm>
          <a:prstGeom prst="ellipse">
            <a:avLst/>
          </a:prstGeom>
          <a:solidFill>
            <a:srgbClr val="1C7293"/>
          </a:solidFill>
          <a:ln/>
        </p:spPr>
        <p:txBody>
          <a:bodyPr/>
          <a:lstStyle/>
          <a:p>
            <a:endParaRPr lang="en-US"/>
          </a:p>
        </p:txBody>
      </p:sp>
      <p:pic>
        <p:nvPicPr>
          <p:cNvPr id="15" name="Image 2" descr="/home/claude/work/icon_layers_white.png"/>
          <p:cNvPicPr>
            <a:picLocks noChangeAspect="1"/>
          </p:cNvPicPr>
          <p:nvPr/>
        </p:nvPicPr>
        <p:blipFill>
          <a:blip r:embed="rId4"/>
          <a:stretch>
            <a:fillRect/>
          </a:stretch>
        </p:blipFill>
        <p:spPr>
          <a:xfrm>
            <a:off x="730421" y="3965884"/>
            <a:ext cx="294803" cy="294803"/>
          </a:xfrm>
          <a:prstGeom prst="rect">
            <a:avLst/>
          </a:prstGeom>
        </p:spPr>
      </p:pic>
      <p:sp>
        <p:nvSpPr>
          <p:cNvPr id="16" name="Text 11"/>
          <p:cNvSpPr txBox="1"/>
          <p:nvPr/>
        </p:nvSpPr>
        <p:spPr>
          <a:xfrm>
            <a:off x="1347216" y="3734226"/>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Interactive experience</a:t>
            </a:r>
            <a:endParaRPr lang="en-US" sz="1600"/>
          </a:p>
        </p:txBody>
      </p:sp>
      <p:sp>
        <p:nvSpPr>
          <p:cNvPr id="17" name="Text 12"/>
          <p:cNvSpPr txBox="1"/>
          <p:nvPr/>
        </p:nvSpPr>
        <p:spPr>
          <a:xfrm>
            <a:off x="1344168" y="4189689"/>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Swagger UI lets you test requests directly from the documentation page.</a:t>
            </a:r>
            <a:endParaRPr lang="en-US" sz="1250"/>
          </a:p>
        </p:txBody>
      </p:sp>
      <p:sp>
        <p:nvSpPr>
          <p:cNvPr id="18" name="Shape 13"/>
          <p:cNvSpPr/>
          <p:nvPr/>
        </p:nvSpPr>
        <p:spPr>
          <a:xfrm>
            <a:off x="6683580" y="3734226"/>
            <a:ext cx="566928" cy="566928"/>
          </a:xfrm>
          <a:prstGeom prst="ellipse">
            <a:avLst/>
          </a:prstGeom>
          <a:solidFill>
            <a:srgbClr val="1C7293"/>
          </a:solidFill>
          <a:ln/>
        </p:spPr>
        <p:txBody>
          <a:bodyPr/>
          <a:lstStyle/>
          <a:p>
            <a:endParaRPr lang="en-US"/>
          </a:p>
        </p:txBody>
      </p:sp>
      <p:pic>
        <p:nvPicPr>
          <p:cNvPr id="19" name="Image 3" descr="/home/claude/work/icon_sync_white.png"/>
          <p:cNvPicPr>
            <a:picLocks noChangeAspect="1"/>
          </p:cNvPicPr>
          <p:nvPr/>
        </p:nvPicPr>
        <p:blipFill>
          <a:blip r:embed="rId5"/>
          <a:stretch>
            <a:fillRect/>
          </a:stretch>
        </p:blipFill>
        <p:spPr>
          <a:xfrm>
            <a:off x="6819641" y="3870288"/>
            <a:ext cx="294803" cy="294803"/>
          </a:xfrm>
          <a:prstGeom prst="rect">
            <a:avLst/>
          </a:prstGeom>
        </p:spPr>
      </p:pic>
      <p:sp>
        <p:nvSpPr>
          <p:cNvPr id="20" name="Text 14"/>
          <p:cNvSpPr txBox="1"/>
          <p:nvPr/>
        </p:nvSpPr>
        <p:spPr>
          <a:xfrm>
            <a:off x="7386571" y="3734226"/>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Continuous sync with the code</a:t>
            </a:r>
            <a:endParaRPr lang="en-US" sz="1600"/>
          </a:p>
        </p:txBody>
      </p:sp>
      <p:sp>
        <p:nvSpPr>
          <p:cNvPr id="21" name="Text 15"/>
          <p:cNvSpPr txBox="1"/>
          <p:nvPr/>
        </p:nvSpPr>
        <p:spPr>
          <a:xfrm>
            <a:off x="7386571" y="4189689"/>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The documentation stays automatically up to date with every change in the API definition.</a:t>
            </a:r>
            <a:endParaRPr lang="en-US" sz="1250"/>
          </a:p>
        </p:txBody>
      </p:sp>
      <p:sp>
        <p:nvSpPr>
          <p:cNvPr id="22" name="Shape 16"/>
          <p:cNvSpPr/>
          <p:nvPr/>
        </p:nvSpPr>
        <p:spPr>
          <a:xfrm>
            <a:off x="594358" y="5166360"/>
            <a:ext cx="566928" cy="566928"/>
          </a:xfrm>
          <a:prstGeom prst="ellipse">
            <a:avLst/>
          </a:prstGeom>
          <a:solidFill>
            <a:srgbClr val="0B3D5C"/>
          </a:solidFill>
          <a:ln/>
        </p:spPr>
        <p:txBody>
          <a:bodyPr/>
          <a:lstStyle/>
          <a:p>
            <a:endParaRPr lang="en-US"/>
          </a:p>
        </p:txBody>
      </p:sp>
      <p:pic>
        <p:nvPicPr>
          <p:cNvPr id="23" name="Image 4" descr="/home/claude/work/icon_puzzle_white.png"/>
          <p:cNvPicPr>
            <a:picLocks noChangeAspect="1"/>
          </p:cNvPicPr>
          <p:nvPr/>
        </p:nvPicPr>
        <p:blipFill>
          <a:blip r:embed="rId6"/>
          <a:stretch>
            <a:fillRect/>
          </a:stretch>
        </p:blipFill>
        <p:spPr>
          <a:xfrm>
            <a:off x="730422" y="5349240"/>
            <a:ext cx="294803" cy="294803"/>
          </a:xfrm>
          <a:prstGeom prst="rect">
            <a:avLst/>
          </a:prstGeom>
        </p:spPr>
      </p:pic>
      <p:sp>
        <p:nvSpPr>
          <p:cNvPr id="24" name="Text 17"/>
          <p:cNvSpPr txBox="1"/>
          <p:nvPr/>
        </p:nvSpPr>
        <p:spPr>
          <a:xfrm>
            <a:off x="1344168" y="5166360"/>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Easier integration between teams</a:t>
            </a:r>
            <a:endParaRPr lang="en-US" sz="1600"/>
          </a:p>
        </p:txBody>
      </p:sp>
      <p:sp>
        <p:nvSpPr>
          <p:cNvPr id="25" name="Text 18"/>
          <p:cNvSpPr txBox="1"/>
          <p:nvPr/>
        </p:nvSpPr>
        <p:spPr>
          <a:xfrm>
            <a:off x="1344168" y="5532120"/>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Any external team can understand how to use the API without additional explanation.</a:t>
            </a:r>
            <a:endParaRPr lang="en-US" sz="12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Security:</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Authentication and Authorization :</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24</a:t>
            </a:r>
            <a:endParaRPr lang="en-US" sz="1100"/>
          </a:p>
        </p:txBody>
      </p:sp>
      <p:sp>
        <p:nvSpPr>
          <p:cNvPr id="8" name="Text 5"/>
          <p:cNvSpPr txBox="1"/>
          <p:nvPr/>
        </p:nvSpPr>
        <p:spPr>
          <a:xfrm>
            <a:off x="1460212" y="2304288"/>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Authentication</a:t>
            </a:r>
            <a:endParaRPr lang="en-US" sz="1600"/>
          </a:p>
        </p:txBody>
      </p:sp>
      <p:sp>
        <p:nvSpPr>
          <p:cNvPr id="9" name="Text 6"/>
          <p:cNvSpPr txBox="1"/>
          <p:nvPr/>
        </p:nvSpPr>
        <p:spPr>
          <a:xfrm>
            <a:off x="1460212" y="2784347"/>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Verifying the identity of the party sending the request before granting access.</a:t>
            </a:r>
            <a:endParaRPr lang="en-US" sz="1250"/>
          </a:p>
        </p:txBody>
      </p:sp>
      <p:sp>
        <p:nvSpPr>
          <p:cNvPr id="12" name="Text 8"/>
          <p:cNvSpPr txBox="1"/>
          <p:nvPr/>
        </p:nvSpPr>
        <p:spPr>
          <a:xfrm>
            <a:off x="7670292" y="2303063"/>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Authorization</a:t>
            </a:r>
            <a:endParaRPr lang="en-US" sz="1600"/>
          </a:p>
        </p:txBody>
      </p:sp>
      <p:sp>
        <p:nvSpPr>
          <p:cNvPr id="13" name="Text 9"/>
          <p:cNvSpPr txBox="1"/>
          <p:nvPr/>
        </p:nvSpPr>
        <p:spPr>
          <a:xfrm>
            <a:off x="7670292" y="2784348"/>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Determining the permissions allowed for each user or role (RBAC).</a:t>
            </a:r>
            <a:endParaRPr lang="en-US" sz="1250"/>
          </a:p>
        </p:txBody>
      </p:sp>
      <p:sp>
        <p:nvSpPr>
          <p:cNvPr id="16" name="Text 11"/>
          <p:cNvSpPr txBox="1"/>
          <p:nvPr/>
        </p:nvSpPr>
        <p:spPr>
          <a:xfrm>
            <a:off x="1460212" y="4135373"/>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API Keys</a:t>
            </a:r>
            <a:endParaRPr lang="en-US" sz="1600"/>
          </a:p>
        </p:txBody>
      </p:sp>
      <p:sp>
        <p:nvSpPr>
          <p:cNvPr id="17" name="Text 12"/>
          <p:cNvSpPr txBox="1"/>
          <p:nvPr/>
        </p:nvSpPr>
        <p:spPr>
          <a:xfrm>
            <a:off x="1460212" y="4631436"/>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 fixed key sent with the request to identify the application calling the service.</a:t>
            </a:r>
            <a:endParaRPr lang="en-US" sz="1250"/>
          </a:p>
        </p:txBody>
      </p:sp>
      <p:sp>
        <p:nvSpPr>
          <p:cNvPr id="20" name="Text 14"/>
          <p:cNvSpPr txBox="1"/>
          <p:nvPr/>
        </p:nvSpPr>
        <p:spPr>
          <a:xfrm>
            <a:off x="6323076" y="3995928"/>
            <a:ext cx="4521708" cy="365760"/>
          </a:xfrm>
          <a:prstGeom prst="rect">
            <a:avLst/>
          </a:prstGeom>
          <a:noFill/>
          <a:ln/>
        </p:spPr>
        <p:txBody>
          <a:bodyPr wrap="square" lIns="0" tIns="0" rIns="0" bIns="0" rtlCol="0" anchor="ctr"/>
          <a:lstStyle/>
          <a:p>
            <a:pPr marL="0" indent="0" algn="l" rtl="0">
              <a:buNone/>
            </a:pPr>
            <a:endParaRPr lang="en-US" sz="1600"/>
          </a:p>
        </p:txBody>
      </p:sp>
      <p:sp>
        <p:nvSpPr>
          <p:cNvPr id="21" name="Text 15"/>
          <p:cNvSpPr txBox="1"/>
          <p:nvPr/>
        </p:nvSpPr>
        <p:spPr>
          <a:xfrm>
            <a:off x="6323076" y="4379976"/>
            <a:ext cx="4521708" cy="685800"/>
          </a:xfrm>
          <a:prstGeom prst="rect">
            <a:avLst/>
          </a:prstGeom>
          <a:noFill/>
          <a:ln/>
        </p:spPr>
        <p:txBody>
          <a:bodyPr wrap="square" lIns="0" tIns="0" rIns="0" bIns="0" rtlCol="0" anchor="t"/>
          <a:lstStyle/>
          <a:p>
            <a:pPr marL="0" indent="0" algn="l" rtl="0">
              <a:buNone/>
            </a:pPr>
            <a:endParaRPr lang="en-US" sz="1250"/>
          </a:p>
        </p:txBody>
      </p:sp>
      <p:sp>
        <p:nvSpPr>
          <p:cNvPr id="24" name="Text 17"/>
          <p:cNvSpPr txBox="1"/>
          <p:nvPr/>
        </p:nvSpPr>
        <p:spPr>
          <a:xfrm>
            <a:off x="7670292" y="4187952"/>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JWT — JSON Web Token</a:t>
            </a:r>
            <a:endParaRPr lang="en-US" sz="1600"/>
          </a:p>
        </p:txBody>
      </p:sp>
      <p:sp>
        <p:nvSpPr>
          <p:cNvPr id="25" name="Text 18"/>
          <p:cNvSpPr txBox="1"/>
          <p:nvPr/>
        </p:nvSpPr>
        <p:spPr>
          <a:xfrm>
            <a:off x="7670292" y="4631436"/>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A digitally signed token carrying identity data, verified without returning to the database.</a:t>
            </a:r>
            <a:endParaRPr lang="en-US" sz="1250"/>
          </a:p>
        </p:txBody>
      </p:sp>
      <p:sp>
        <p:nvSpPr>
          <p:cNvPr id="26" name="سهم: لليمين 25">
            <a:extLst>
              <a:ext uri="{FF2B5EF4-FFF2-40B4-BE49-F238E27FC236}">
                <a16:creationId xmlns:a16="http://schemas.microsoft.com/office/drawing/2014/main" id="{346A30D4-8F9D-81C6-6B7D-94072D86FCF2}"/>
              </a:ext>
            </a:extLst>
          </p:cNvPr>
          <p:cNvSpPr/>
          <p:nvPr/>
        </p:nvSpPr>
        <p:spPr>
          <a:xfrm>
            <a:off x="820133" y="2371643"/>
            <a:ext cx="433633" cy="2984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سهم: لليمين 26">
            <a:extLst>
              <a:ext uri="{FF2B5EF4-FFF2-40B4-BE49-F238E27FC236}">
                <a16:creationId xmlns:a16="http://schemas.microsoft.com/office/drawing/2014/main" id="{FC5201EC-6535-C931-65F5-CED36EEB69D8}"/>
              </a:ext>
            </a:extLst>
          </p:cNvPr>
          <p:cNvSpPr/>
          <p:nvPr/>
        </p:nvSpPr>
        <p:spPr>
          <a:xfrm>
            <a:off x="7088957" y="2371643"/>
            <a:ext cx="414779" cy="2984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سهم: لليمين 27">
            <a:extLst>
              <a:ext uri="{FF2B5EF4-FFF2-40B4-BE49-F238E27FC236}">
                <a16:creationId xmlns:a16="http://schemas.microsoft.com/office/drawing/2014/main" id="{2613B869-9410-010D-3904-72E13D75B3D9}"/>
              </a:ext>
            </a:extLst>
          </p:cNvPr>
          <p:cNvSpPr/>
          <p:nvPr/>
        </p:nvSpPr>
        <p:spPr>
          <a:xfrm>
            <a:off x="7088957" y="4266926"/>
            <a:ext cx="405353" cy="2867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سهم: لليمين 28">
            <a:extLst>
              <a:ext uri="{FF2B5EF4-FFF2-40B4-BE49-F238E27FC236}">
                <a16:creationId xmlns:a16="http://schemas.microsoft.com/office/drawing/2014/main" id="{253C1264-C500-90A2-01DC-89F449DF9321}"/>
              </a:ext>
            </a:extLst>
          </p:cNvPr>
          <p:cNvSpPr/>
          <p:nvPr/>
        </p:nvSpPr>
        <p:spPr>
          <a:xfrm>
            <a:off x="820133" y="4175786"/>
            <a:ext cx="433633" cy="298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Security:</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Securing APIs — Best Practices: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25</a:t>
            </a:r>
            <a:endParaRPr lang="en-US" sz="1100"/>
          </a:p>
        </p:txBody>
      </p:sp>
      <p:sp>
        <p:nvSpPr>
          <p:cNvPr id="6" name="Shape 4"/>
          <p:cNvSpPr/>
          <p:nvPr/>
        </p:nvSpPr>
        <p:spPr>
          <a:xfrm>
            <a:off x="640080"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7" name="Shape 5"/>
          <p:cNvSpPr/>
          <p:nvPr/>
        </p:nvSpPr>
        <p:spPr>
          <a:xfrm>
            <a:off x="868680" y="2103120"/>
            <a:ext cx="411480" cy="411480"/>
          </a:xfrm>
          <a:prstGeom prst="ellipse">
            <a:avLst/>
          </a:prstGeom>
          <a:solidFill>
            <a:srgbClr val="1E7D4C"/>
          </a:solidFill>
          <a:ln/>
        </p:spPr>
        <p:txBody>
          <a:bodyPr/>
          <a:lstStyle/>
          <a:p>
            <a:endParaRPr lang="en-US"/>
          </a:p>
        </p:txBody>
      </p:sp>
      <p:pic>
        <p:nvPicPr>
          <p:cNvPr id="8" name="Image 0" descr="/home/claude/work/icon_check_white.png"/>
          <p:cNvPicPr>
            <a:picLocks noChangeAspect="1"/>
          </p:cNvPicPr>
          <p:nvPr/>
        </p:nvPicPr>
        <p:blipFill>
          <a:blip r:embed="rId2"/>
          <a:stretch>
            <a:fillRect/>
          </a:stretch>
        </p:blipFill>
        <p:spPr>
          <a:xfrm>
            <a:off x="967435" y="2201875"/>
            <a:ext cx="213970" cy="213970"/>
          </a:xfrm>
          <a:prstGeom prst="rect">
            <a:avLst/>
          </a:prstGeom>
        </p:spPr>
      </p:pic>
      <p:sp>
        <p:nvSpPr>
          <p:cNvPr id="9" name="Text 6"/>
          <p:cNvSpPr txBox="1"/>
          <p:nvPr/>
        </p:nvSpPr>
        <p:spPr>
          <a:xfrm>
            <a:off x="1417320" y="2121408"/>
            <a:ext cx="4311396" cy="365760"/>
          </a:xfrm>
          <a:prstGeom prst="rect">
            <a:avLst/>
          </a:prstGeom>
          <a:noFill/>
          <a:ln/>
        </p:spPr>
        <p:txBody>
          <a:bodyPr wrap="square" lIns="0" tIns="0" rIns="0" bIns="0" rtlCol="0" anchor="ctr"/>
          <a:lstStyle/>
          <a:p>
            <a:pPr marL="0" indent="0" algn="l" rtl="0">
              <a:buNone/>
            </a:pPr>
            <a:r>
              <a:rPr lang="en-US" sz="2000" b="1" i="1">
                <a:solidFill>
                  <a:srgbClr val="1E7D4C"/>
                </a:solidFill>
                <a:latin typeface="Calibri" pitchFamily="34" charset="0"/>
                <a:ea typeface="Calibri" pitchFamily="34" charset="-122"/>
                <a:cs typeface="Calibri" pitchFamily="34" charset="-120"/>
              </a:rPr>
              <a:t>Best Practices:</a:t>
            </a:r>
            <a:endParaRPr lang="en-US" sz="2000" i="1"/>
          </a:p>
        </p:txBody>
      </p:sp>
      <p:sp>
        <p:nvSpPr>
          <p:cNvPr id="10" name="Text 7"/>
          <p:cNvSpPr txBox="1"/>
          <p:nvPr/>
        </p:nvSpPr>
        <p:spPr>
          <a:xfrm>
            <a:off x="868680" y="26974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Enforce HTTPS/TLS on all connections</a:t>
            </a:r>
            <a:endParaRPr lang="en-US" sz="1250"/>
          </a:p>
        </p:txBody>
      </p:sp>
      <p:sp>
        <p:nvSpPr>
          <p:cNvPr id="11" name="Text 8"/>
          <p:cNvSpPr txBox="1"/>
          <p:nvPr/>
        </p:nvSpPr>
        <p:spPr>
          <a:xfrm>
            <a:off x="868680" y="320040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Strict input validation</a:t>
            </a:r>
            <a:endParaRPr lang="en-US" sz="1250"/>
          </a:p>
        </p:txBody>
      </p:sp>
      <p:sp>
        <p:nvSpPr>
          <p:cNvPr id="12" name="Text 9"/>
          <p:cNvSpPr txBox="1"/>
          <p:nvPr/>
        </p:nvSpPr>
        <p:spPr>
          <a:xfrm>
            <a:off x="868680" y="370332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Apply the principle of least privilege</a:t>
            </a:r>
            <a:endParaRPr lang="en-US" sz="1250"/>
          </a:p>
        </p:txBody>
      </p:sp>
      <p:sp>
        <p:nvSpPr>
          <p:cNvPr id="13" name="Text 10"/>
          <p:cNvSpPr txBox="1"/>
          <p:nvPr/>
        </p:nvSpPr>
        <p:spPr>
          <a:xfrm>
            <a:off x="868680" y="420624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Securely manage secrets and API keys</a:t>
            </a:r>
            <a:endParaRPr lang="en-US" sz="1250"/>
          </a:p>
        </p:txBody>
      </p:sp>
      <p:sp>
        <p:nvSpPr>
          <p:cNvPr id="14" name="Text 11"/>
          <p:cNvSpPr txBox="1"/>
          <p:nvPr/>
        </p:nvSpPr>
        <p:spPr>
          <a:xfrm>
            <a:off x="868680" y="470916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Rate limiting to prevent abuse</a:t>
            </a:r>
            <a:endParaRPr lang="en-US" sz="1250"/>
          </a:p>
        </p:txBody>
      </p:sp>
      <p:sp>
        <p:nvSpPr>
          <p:cNvPr id="15" name="Text 12"/>
          <p:cNvSpPr txBox="1"/>
          <p:nvPr/>
        </p:nvSpPr>
        <p:spPr>
          <a:xfrm>
            <a:off x="868680" y="5212080"/>
            <a:ext cx="4768596" cy="457200"/>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Log and monitor suspicious access attempts</a:t>
            </a:r>
            <a:endParaRPr lang="en-US" sz="1250"/>
          </a:p>
        </p:txBody>
      </p:sp>
      <p:sp>
        <p:nvSpPr>
          <p:cNvPr id="16" name="Shape 13"/>
          <p:cNvSpPr/>
          <p:nvPr/>
        </p:nvSpPr>
        <p:spPr>
          <a:xfrm>
            <a:off x="6323076" y="1874520"/>
            <a:ext cx="5225796" cy="4206240"/>
          </a:xfrm>
          <a:prstGeom prst="roundRect">
            <a:avLst>
              <a:gd name="adj" fmla="val 1739"/>
            </a:avLst>
          </a:prstGeom>
          <a:solidFill>
            <a:srgbClr val="FFFFFF"/>
          </a:solidFill>
          <a:ln w="12700">
            <a:solidFill>
              <a:srgbClr val="DCE7EC"/>
            </a:solidFill>
            <a:prstDash val="solid"/>
          </a:ln>
          <a:effectLst>
            <a:outerShdw blurRad="63500" dist="25400" dir="5400000" algn="bl" rotWithShape="0">
              <a:srgbClr val="1B2A3D">
                <a:alpha val="10000"/>
              </a:srgbClr>
            </a:outerShdw>
          </a:effectLst>
        </p:spPr>
        <p:txBody>
          <a:bodyPr/>
          <a:lstStyle/>
          <a:p>
            <a:endParaRPr lang="en-US"/>
          </a:p>
        </p:txBody>
      </p:sp>
      <p:sp>
        <p:nvSpPr>
          <p:cNvPr id="17" name="Shape 14"/>
          <p:cNvSpPr/>
          <p:nvPr/>
        </p:nvSpPr>
        <p:spPr>
          <a:xfrm>
            <a:off x="6551676" y="2103120"/>
            <a:ext cx="411480" cy="411480"/>
          </a:xfrm>
          <a:prstGeom prst="ellipse">
            <a:avLst/>
          </a:prstGeom>
          <a:solidFill>
            <a:srgbClr val="9C3B3B"/>
          </a:solidFill>
          <a:ln/>
        </p:spPr>
        <p:txBody>
          <a:bodyPr/>
          <a:lstStyle/>
          <a:p>
            <a:endParaRPr lang="en-US"/>
          </a:p>
        </p:txBody>
      </p:sp>
      <p:pic>
        <p:nvPicPr>
          <p:cNvPr id="18" name="Image 1" descr="/home/claude/work/icon_times_white.png"/>
          <p:cNvPicPr>
            <a:picLocks noChangeAspect="1"/>
          </p:cNvPicPr>
          <p:nvPr/>
        </p:nvPicPr>
        <p:blipFill>
          <a:blip r:embed="rId3"/>
          <a:stretch>
            <a:fillRect/>
          </a:stretch>
        </p:blipFill>
        <p:spPr>
          <a:xfrm>
            <a:off x="6650431" y="2201875"/>
            <a:ext cx="213970" cy="213970"/>
          </a:xfrm>
          <a:prstGeom prst="rect">
            <a:avLst/>
          </a:prstGeom>
        </p:spPr>
      </p:pic>
      <p:sp>
        <p:nvSpPr>
          <p:cNvPr id="19" name="Text 15"/>
          <p:cNvSpPr txBox="1"/>
          <p:nvPr/>
        </p:nvSpPr>
        <p:spPr>
          <a:xfrm>
            <a:off x="7100316" y="2121408"/>
            <a:ext cx="4311396" cy="365760"/>
          </a:xfrm>
          <a:prstGeom prst="rect">
            <a:avLst/>
          </a:prstGeom>
          <a:noFill/>
          <a:ln/>
        </p:spPr>
        <p:txBody>
          <a:bodyPr wrap="square" lIns="0" tIns="0" rIns="0" bIns="0" rtlCol="0" anchor="ctr"/>
          <a:lstStyle/>
          <a:p>
            <a:pPr marL="0" indent="0" algn="l" rtl="0">
              <a:buNone/>
            </a:pPr>
            <a:r>
              <a:rPr lang="en-US" sz="2000" b="1" i="1">
                <a:solidFill>
                  <a:srgbClr val="9C3B3B"/>
                </a:solidFill>
                <a:latin typeface="Calibri" pitchFamily="34" charset="0"/>
                <a:ea typeface="Calibri" pitchFamily="34" charset="-122"/>
                <a:cs typeface="Calibri" pitchFamily="34" charset="-120"/>
              </a:rPr>
              <a:t>Common Risks:</a:t>
            </a:r>
            <a:endParaRPr lang="en-US" sz="2000" i="1"/>
          </a:p>
        </p:txBody>
      </p:sp>
      <p:sp>
        <p:nvSpPr>
          <p:cNvPr id="20" name="Text 16"/>
          <p:cNvSpPr txBox="1"/>
          <p:nvPr/>
        </p:nvSpPr>
        <p:spPr>
          <a:xfrm>
            <a:off x="6551676" y="2697480"/>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Code injection (SQL / Injection Attacks)</a:t>
            </a:r>
            <a:endParaRPr lang="en-US" sz="1250"/>
          </a:p>
        </p:txBody>
      </p:sp>
      <p:sp>
        <p:nvSpPr>
          <p:cNvPr id="21" name="Text 17"/>
          <p:cNvSpPr txBox="1"/>
          <p:nvPr/>
        </p:nvSpPr>
        <p:spPr>
          <a:xfrm>
            <a:off x="6551676" y="3264408"/>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Exposing sensitive data in responses (Excessive Data Exposure)</a:t>
            </a:r>
            <a:endParaRPr lang="en-US" sz="1250"/>
          </a:p>
        </p:txBody>
      </p:sp>
      <p:sp>
        <p:nvSpPr>
          <p:cNvPr id="22" name="Text 18"/>
          <p:cNvSpPr txBox="1"/>
          <p:nvPr/>
        </p:nvSpPr>
        <p:spPr>
          <a:xfrm>
            <a:off x="6551676" y="3831336"/>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Weak authentication (Broken Authentication)</a:t>
            </a:r>
            <a:endParaRPr lang="en-US" sz="1250"/>
          </a:p>
        </p:txBody>
      </p:sp>
      <p:sp>
        <p:nvSpPr>
          <p:cNvPr id="23" name="Text 19"/>
          <p:cNvSpPr txBox="1"/>
          <p:nvPr/>
        </p:nvSpPr>
        <p:spPr>
          <a:xfrm>
            <a:off x="6551676" y="4398264"/>
            <a:ext cx="4768596" cy="530352"/>
          </a:xfrm>
          <a:prstGeom prst="rect">
            <a:avLst/>
          </a:prstGeom>
          <a:noFill/>
          <a:ln/>
        </p:spPr>
        <p:txBody>
          <a:bodyPr wrap="square" lIns="0" tIns="0" rIns="0" bIns="0" rtlCol="0" anchor="t"/>
          <a:lstStyle/>
          <a:p>
            <a:pPr marL="177800" indent="-177800" algn="l" rtl="0">
              <a:buSzPct val="100000"/>
              <a:buChar char="•"/>
            </a:pPr>
            <a:r>
              <a:rPr lang="en-US" sz="1250">
                <a:solidFill>
                  <a:srgbClr val="16324A"/>
                </a:solidFill>
                <a:latin typeface="Calibri" pitchFamily="34" charset="0"/>
                <a:ea typeface="Calibri" pitchFamily="34" charset="-122"/>
                <a:cs typeface="Calibri" pitchFamily="34" charset="-120"/>
              </a:rPr>
              <a:t>DDoS attacks and brute-force attempts</a:t>
            </a:r>
            <a:endParaRPr lang="en-US" sz="12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Management:</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API Versions — Versioning Strategies: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27</a:t>
            </a:r>
            <a:endParaRPr lang="en-US" sz="1100"/>
          </a:p>
        </p:txBody>
      </p:sp>
      <p:sp>
        <p:nvSpPr>
          <p:cNvPr id="6" name="Shape 4"/>
          <p:cNvSpPr/>
          <p:nvPr/>
        </p:nvSpPr>
        <p:spPr>
          <a:xfrm>
            <a:off x="640080"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7" name="Shape 5"/>
          <p:cNvSpPr/>
          <p:nvPr/>
        </p:nvSpPr>
        <p:spPr>
          <a:xfrm>
            <a:off x="640080" y="1920240"/>
            <a:ext cx="3453384" cy="822960"/>
          </a:xfrm>
          <a:prstGeom prst="roundRect">
            <a:avLst>
              <a:gd name="adj" fmla="val 11111"/>
            </a:avLst>
          </a:prstGeom>
          <a:solidFill>
            <a:srgbClr val="0B3D5C"/>
          </a:solidFill>
          <a:ln/>
        </p:spPr>
        <p:txBody>
          <a:bodyPr/>
          <a:lstStyle/>
          <a:p>
            <a:endParaRPr lang="en-US"/>
          </a:p>
        </p:txBody>
      </p:sp>
      <p:sp>
        <p:nvSpPr>
          <p:cNvPr id="8" name="Shape 6"/>
          <p:cNvSpPr/>
          <p:nvPr/>
        </p:nvSpPr>
        <p:spPr>
          <a:xfrm>
            <a:off x="640080" y="2331720"/>
            <a:ext cx="3453384" cy="411480"/>
          </a:xfrm>
          <a:prstGeom prst="rect">
            <a:avLst/>
          </a:prstGeom>
          <a:solidFill>
            <a:srgbClr val="0B3D5C"/>
          </a:solidFill>
          <a:ln/>
        </p:spPr>
        <p:txBody>
          <a:bodyPr/>
          <a:lstStyle/>
          <a:p>
            <a:endParaRPr lang="en-US"/>
          </a:p>
        </p:txBody>
      </p:sp>
      <p:sp>
        <p:nvSpPr>
          <p:cNvPr id="9" name="Shape 7"/>
          <p:cNvSpPr/>
          <p:nvPr/>
        </p:nvSpPr>
        <p:spPr>
          <a:xfrm>
            <a:off x="2110740" y="2057400"/>
            <a:ext cx="512064" cy="512064"/>
          </a:xfrm>
          <a:prstGeom prst="ellipse">
            <a:avLst/>
          </a:prstGeom>
          <a:solidFill>
            <a:srgbClr val="FFFFFF"/>
          </a:solidFill>
          <a:ln/>
        </p:spPr>
        <p:txBody>
          <a:bodyPr/>
          <a:lstStyle/>
          <a:p>
            <a:endParaRPr lang="en-US"/>
          </a:p>
        </p:txBody>
      </p:sp>
      <p:pic>
        <p:nvPicPr>
          <p:cNvPr id="10" name="Image 0" descr="/home/claude/work/icon_network_white.png"/>
          <p:cNvPicPr>
            <a:picLocks noChangeAspect="1"/>
          </p:cNvPicPr>
          <p:nvPr/>
        </p:nvPicPr>
        <p:blipFill>
          <a:blip r:embed="rId2"/>
          <a:stretch>
            <a:fillRect/>
          </a:stretch>
        </p:blipFill>
        <p:spPr>
          <a:xfrm>
            <a:off x="2233635" y="2180295"/>
            <a:ext cx="266273" cy="266273"/>
          </a:xfrm>
          <a:prstGeom prst="rect">
            <a:avLst/>
          </a:prstGeom>
        </p:spPr>
      </p:pic>
      <p:sp>
        <p:nvSpPr>
          <p:cNvPr id="11" name="Text 8"/>
          <p:cNvSpPr txBox="1"/>
          <p:nvPr/>
        </p:nvSpPr>
        <p:spPr>
          <a:xfrm>
            <a:off x="640080" y="2788920"/>
            <a:ext cx="3453384" cy="365760"/>
          </a:xfrm>
          <a:prstGeom prst="rect">
            <a:avLst/>
          </a:prstGeom>
          <a:noFill/>
          <a:ln/>
        </p:spPr>
        <p:txBody>
          <a:bodyPr wrap="square" lIns="0" tIns="0" rIns="0" bIns="0" rtlCol="0" anchor="ctr"/>
          <a:lstStyle/>
          <a:p>
            <a:pPr marL="0" indent="0" algn="ctr">
              <a:buNone/>
            </a:pPr>
            <a:r>
              <a:rPr lang="en-US" sz="1700" b="1">
                <a:solidFill>
                  <a:srgbClr val="0B3D5C"/>
                </a:solidFill>
                <a:latin typeface="Cambria" pitchFamily="34" charset="0"/>
                <a:ea typeface="Cambria" pitchFamily="34" charset="-122"/>
                <a:cs typeface="Cambria" pitchFamily="34" charset="-120"/>
              </a:rPr>
              <a:t>URI Path</a:t>
            </a:r>
            <a:endParaRPr lang="en-US" sz="1700"/>
          </a:p>
        </p:txBody>
      </p:sp>
      <p:sp>
        <p:nvSpPr>
          <p:cNvPr id="12" name="Text 9"/>
          <p:cNvSpPr txBox="1"/>
          <p:nvPr/>
        </p:nvSpPr>
        <p:spPr>
          <a:xfrm>
            <a:off x="822960"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/v1/products</a:t>
            </a:r>
            <a:endParaRPr lang="en-US" sz="1150"/>
          </a:p>
        </p:txBody>
      </p:sp>
      <p:sp>
        <p:nvSpPr>
          <p:cNvPr id="13" name="Text 10"/>
          <p:cNvSpPr txBox="1"/>
          <p:nvPr/>
        </p:nvSpPr>
        <p:spPr>
          <a:xfrm>
            <a:off x="822960"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The version number is included in the URL</a:t>
            </a:r>
            <a:endParaRPr lang="en-US" sz="1150"/>
          </a:p>
        </p:txBody>
      </p:sp>
      <p:sp>
        <p:nvSpPr>
          <p:cNvPr id="14" name="Text 11"/>
          <p:cNvSpPr txBox="1"/>
          <p:nvPr/>
        </p:nvSpPr>
        <p:spPr>
          <a:xfrm>
            <a:off x="822960"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Clear and widely used</a:t>
            </a:r>
            <a:endParaRPr lang="en-US" sz="1150"/>
          </a:p>
        </p:txBody>
      </p:sp>
      <p:sp>
        <p:nvSpPr>
          <p:cNvPr id="16" name="Shape 13"/>
          <p:cNvSpPr/>
          <p:nvPr/>
        </p:nvSpPr>
        <p:spPr>
          <a:xfrm>
            <a:off x="4367784"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17" name="Shape 14"/>
          <p:cNvSpPr/>
          <p:nvPr/>
        </p:nvSpPr>
        <p:spPr>
          <a:xfrm>
            <a:off x="4367784" y="1920240"/>
            <a:ext cx="3453384" cy="822960"/>
          </a:xfrm>
          <a:prstGeom prst="roundRect">
            <a:avLst>
              <a:gd name="adj" fmla="val 11111"/>
            </a:avLst>
          </a:prstGeom>
          <a:solidFill>
            <a:srgbClr val="1C7293"/>
          </a:solidFill>
          <a:ln/>
        </p:spPr>
        <p:txBody>
          <a:bodyPr/>
          <a:lstStyle/>
          <a:p>
            <a:endParaRPr lang="en-US"/>
          </a:p>
        </p:txBody>
      </p:sp>
      <p:sp>
        <p:nvSpPr>
          <p:cNvPr id="18" name="Shape 15"/>
          <p:cNvSpPr/>
          <p:nvPr/>
        </p:nvSpPr>
        <p:spPr>
          <a:xfrm>
            <a:off x="4367784" y="2331720"/>
            <a:ext cx="3453384" cy="411480"/>
          </a:xfrm>
          <a:prstGeom prst="rect">
            <a:avLst/>
          </a:prstGeom>
          <a:solidFill>
            <a:srgbClr val="1C7293"/>
          </a:solidFill>
          <a:ln/>
        </p:spPr>
        <p:txBody>
          <a:bodyPr/>
          <a:lstStyle/>
          <a:p>
            <a:endParaRPr lang="en-US"/>
          </a:p>
        </p:txBody>
      </p:sp>
      <p:sp>
        <p:nvSpPr>
          <p:cNvPr id="19" name="Shape 16"/>
          <p:cNvSpPr/>
          <p:nvPr/>
        </p:nvSpPr>
        <p:spPr>
          <a:xfrm>
            <a:off x="5838444" y="2057400"/>
            <a:ext cx="512064" cy="512064"/>
          </a:xfrm>
          <a:prstGeom prst="ellipse">
            <a:avLst/>
          </a:prstGeom>
          <a:solidFill>
            <a:srgbClr val="FFFFFF"/>
          </a:solidFill>
          <a:ln/>
        </p:spPr>
        <p:txBody>
          <a:bodyPr/>
          <a:lstStyle/>
          <a:p>
            <a:endParaRPr lang="en-US"/>
          </a:p>
        </p:txBody>
      </p:sp>
      <p:pic>
        <p:nvPicPr>
          <p:cNvPr id="20" name="Image 1" descr="/home/claude/work/icon_layers_white.png"/>
          <p:cNvPicPr>
            <a:picLocks noChangeAspect="1"/>
          </p:cNvPicPr>
          <p:nvPr/>
        </p:nvPicPr>
        <p:blipFill>
          <a:blip r:embed="rId3"/>
          <a:stretch>
            <a:fillRect/>
          </a:stretch>
        </p:blipFill>
        <p:spPr>
          <a:xfrm>
            <a:off x="5961339" y="2180295"/>
            <a:ext cx="266273" cy="266273"/>
          </a:xfrm>
          <a:prstGeom prst="rect">
            <a:avLst/>
          </a:prstGeom>
        </p:spPr>
      </p:pic>
      <p:sp>
        <p:nvSpPr>
          <p:cNvPr id="21" name="Text 17"/>
          <p:cNvSpPr txBox="1"/>
          <p:nvPr/>
        </p:nvSpPr>
        <p:spPr>
          <a:xfrm>
            <a:off x="4367784" y="2788920"/>
            <a:ext cx="3453384" cy="365760"/>
          </a:xfrm>
          <a:prstGeom prst="rect">
            <a:avLst/>
          </a:prstGeom>
          <a:noFill/>
          <a:ln/>
        </p:spPr>
        <p:txBody>
          <a:bodyPr wrap="square" lIns="0" tIns="0" rIns="0" bIns="0" rtlCol="0" anchor="ctr"/>
          <a:lstStyle/>
          <a:p>
            <a:pPr marL="0" indent="0" algn="ctr">
              <a:buNone/>
            </a:pPr>
            <a:r>
              <a:rPr lang="en-US" sz="1700" b="1">
                <a:solidFill>
                  <a:srgbClr val="1C7293"/>
                </a:solidFill>
                <a:latin typeface="Cambria" pitchFamily="34" charset="0"/>
                <a:ea typeface="Cambria" pitchFamily="34" charset="-122"/>
                <a:cs typeface="Cambria" pitchFamily="34" charset="-120"/>
              </a:rPr>
              <a:t>Header Versioning</a:t>
            </a:r>
            <a:endParaRPr lang="en-US" sz="1700"/>
          </a:p>
        </p:txBody>
      </p:sp>
      <p:sp>
        <p:nvSpPr>
          <p:cNvPr id="22" name="Text 18"/>
          <p:cNvSpPr txBox="1"/>
          <p:nvPr/>
        </p:nvSpPr>
        <p:spPr>
          <a:xfrm>
            <a:off x="4550664"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Accept-Version: v2</a:t>
            </a:r>
            <a:endParaRPr lang="en-US" sz="1150"/>
          </a:p>
        </p:txBody>
      </p:sp>
      <p:sp>
        <p:nvSpPr>
          <p:cNvPr id="23" name="Text 19"/>
          <p:cNvSpPr txBox="1"/>
          <p:nvPr/>
        </p:nvSpPr>
        <p:spPr>
          <a:xfrm>
            <a:off x="4550664"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The version number is included in the HTTP header</a:t>
            </a:r>
            <a:endParaRPr lang="en-US" sz="1150"/>
          </a:p>
        </p:txBody>
      </p:sp>
      <p:sp>
        <p:nvSpPr>
          <p:cNvPr id="24" name="Text 20"/>
          <p:cNvSpPr txBox="1"/>
          <p:nvPr/>
        </p:nvSpPr>
        <p:spPr>
          <a:xfrm>
            <a:off x="4550664"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Keeps the URL unchanged</a:t>
            </a:r>
            <a:endParaRPr lang="en-US" sz="1150"/>
          </a:p>
        </p:txBody>
      </p:sp>
      <p:sp>
        <p:nvSpPr>
          <p:cNvPr id="25" name="Shape 21"/>
          <p:cNvSpPr/>
          <p:nvPr/>
        </p:nvSpPr>
        <p:spPr>
          <a:xfrm>
            <a:off x="8095488" y="1920240"/>
            <a:ext cx="3453384" cy="4206240"/>
          </a:xfrm>
          <a:prstGeom prst="roundRect">
            <a:avLst>
              <a:gd name="adj" fmla="val 2648"/>
            </a:avLst>
          </a:prstGeom>
          <a:solidFill>
            <a:srgbClr val="FFFFFF"/>
          </a:solidFill>
          <a:ln w="12700">
            <a:solidFill>
              <a:srgbClr val="DCE7EC"/>
            </a:solidFill>
            <a:prstDash val="solid"/>
          </a:ln>
          <a:effectLst>
            <a:outerShdw blurRad="76200" dist="25400" dir="5400000" algn="bl" rotWithShape="0">
              <a:srgbClr val="1B2A3D">
                <a:alpha val="12000"/>
              </a:srgbClr>
            </a:outerShdw>
          </a:effectLst>
        </p:spPr>
        <p:txBody>
          <a:bodyPr/>
          <a:lstStyle/>
          <a:p>
            <a:endParaRPr lang="en-US"/>
          </a:p>
        </p:txBody>
      </p:sp>
      <p:sp>
        <p:nvSpPr>
          <p:cNvPr id="26" name="Shape 22"/>
          <p:cNvSpPr/>
          <p:nvPr/>
        </p:nvSpPr>
        <p:spPr>
          <a:xfrm>
            <a:off x="8095488" y="1920240"/>
            <a:ext cx="3453384" cy="822960"/>
          </a:xfrm>
          <a:prstGeom prst="roundRect">
            <a:avLst>
              <a:gd name="adj" fmla="val 11111"/>
            </a:avLst>
          </a:prstGeom>
          <a:solidFill>
            <a:srgbClr val="F2A65A"/>
          </a:solidFill>
          <a:ln/>
        </p:spPr>
        <p:txBody>
          <a:bodyPr/>
          <a:lstStyle/>
          <a:p>
            <a:endParaRPr lang="en-US"/>
          </a:p>
        </p:txBody>
      </p:sp>
      <p:sp>
        <p:nvSpPr>
          <p:cNvPr id="27" name="Shape 23"/>
          <p:cNvSpPr/>
          <p:nvPr/>
        </p:nvSpPr>
        <p:spPr>
          <a:xfrm>
            <a:off x="8095488" y="2331720"/>
            <a:ext cx="3453384" cy="411480"/>
          </a:xfrm>
          <a:prstGeom prst="rect">
            <a:avLst/>
          </a:prstGeom>
          <a:solidFill>
            <a:srgbClr val="F2A65A"/>
          </a:solidFill>
          <a:ln/>
        </p:spPr>
        <p:txBody>
          <a:bodyPr/>
          <a:lstStyle/>
          <a:p>
            <a:endParaRPr lang="en-US"/>
          </a:p>
        </p:txBody>
      </p:sp>
      <p:sp>
        <p:nvSpPr>
          <p:cNvPr id="28" name="Shape 24"/>
          <p:cNvSpPr/>
          <p:nvPr/>
        </p:nvSpPr>
        <p:spPr>
          <a:xfrm>
            <a:off x="9566148" y="2057400"/>
            <a:ext cx="512064" cy="512064"/>
          </a:xfrm>
          <a:prstGeom prst="ellipse">
            <a:avLst/>
          </a:prstGeom>
          <a:solidFill>
            <a:srgbClr val="FFFFFF"/>
          </a:solidFill>
          <a:ln/>
        </p:spPr>
        <p:txBody>
          <a:bodyPr/>
          <a:lstStyle/>
          <a:p>
            <a:endParaRPr lang="en-US"/>
          </a:p>
        </p:txBody>
      </p:sp>
      <p:pic>
        <p:nvPicPr>
          <p:cNvPr id="29" name="Image 2" descr="/home/claude/work/icon_branch_navy.png"/>
          <p:cNvPicPr>
            <a:picLocks noChangeAspect="1"/>
          </p:cNvPicPr>
          <p:nvPr/>
        </p:nvPicPr>
        <p:blipFill>
          <a:blip r:embed="rId4"/>
          <a:stretch>
            <a:fillRect/>
          </a:stretch>
        </p:blipFill>
        <p:spPr>
          <a:xfrm>
            <a:off x="9689043" y="2180295"/>
            <a:ext cx="266273" cy="266273"/>
          </a:xfrm>
          <a:prstGeom prst="rect">
            <a:avLst/>
          </a:prstGeom>
        </p:spPr>
      </p:pic>
      <p:sp>
        <p:nvSpPr>
          <p:cNvPr id="30" name="Text 25"/>
          <p:cNvSpPr txBox="1"/>
          <p:nvPr/>
        </p:nvSpPr>
        <p:spPr>
          <a:xfrm>
            <a:off x="8095488" y="2788920"/>
            <a:ext cx="3453384" cy="365760"/>
          </a:xfrm>
          <a:prstGeom prst="rect">
            <a:avLst/>
          </a:prstGeom>
          <a:noFill/>
          <a:ln/>
        </p:spPr>
        <p:txBody>
          <a:bodyPr wrap="square" lIns="0" tIns="0" rIns="0" bIns="0" rtlCol="0" anchor="ctr"/>
          <a:lstStyle/>
          <a:p>
            <a:pPr marL="0" indent="0" algn="ctr">
              <a:buNone/>
            </a:pPr>
            <a:r>
              <a:rPr lang="en-US" sz="1700" b="1">
                <a:solidFill>
                  <a:srgbClr val="F2A65A"/>
                </a:solidFill>
                <a:latin typeface="Cambria" pitchFamily="34" charset="0"/>
                <a:ea typeface="Cambria" pitchFamily="34" charset="-122"/>
                <a:cs typeface="Cambria" pitchFamily="34" charset="-120"/>
              </a:rPr>
              <a:t>Query Parameter</a:t>
            </a:r>
            <a:endParaRPr lang="en-US" sz="1700"/>
          </a:p>
        </p:txBody>
      </p:sp>
      <p:sp>
        <p:nvSpPr>
          <p:cNvPr id="31" name="Text 26"/>
          <p:cNvSpPr txBox="1"/>
          <p:nvPr/>
        </p:nvSpPr>
        <p:spPr>
          <a:xfrm>
            <a:off x="8278368" y="3291840"/>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?version=2</a:t>
            </a:r>
            <a:endParaRPr lang="en-US" sz="1150"/>
          </a:p>
        </p:txBody>
      </p:sp>
      <p:sp>
        <p:nvSpPr>
          <p:cNvPr id="32" name="Text 27"/>
          <p:cNvSpPr txBox="1"/>
          <p:nvPr/>
        </p:nvSpPr>
        <p:spPr>
          <a:xfrm>
            <a:off x="8278368" y="3913632"/>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The version number is included as URL parameter</a:t>
            </a:r>
            <a:endParaRPr lang="en-US" sz="1150"/>
          </a:p>
        </p:txBody>
      </p:sp>
      <p:sp>
        <p:nvSpPr>
          <p:cNvPr id="33" name="Text 28"/>
          <p:cNvSpPr txBox="1"/>
          <p:nvPr/>
        </p:nvSpPr>
        <p:spPr>
          <a:xfrm>
            <a:off x="8278368" y="4535424"/>
            <a:ext cx="3087624" cy="594360"/>
          </a:xfrm>
          <a:prstGeom prst="rect">
            <a:avLst/>
          </a:prstGeom>
          <a:noFill/>
          <a:ln/>
        </p:spPr>
        <p:txBody>
          <a:bodyPr wrap="square" lIns="0" tIns="0" rIns="0" bIns="0" rtlCol="0" anchor="t"/>
          <a:lstStyle/>
          <a:p>
            <a:pPr marL="177800" indent="-177800" algn="l" rtl="0">
              <a:buSzPct val="100000"/>
              <a:buChar char="•"/>
            </a:pPr>
            <a:r>
              <a:rPr lang="en-US" sz="1150">
                <a:solidFill>
                  <a:srgbClr val="16324A"/>
                </a:solidFill>
                <a:latin typeface="Calibri" pitchFamily="34" charset="0"/>
                <a:ea typeface="Calibri" pitchFamily="34" charset="-122"/>
                <a:cs typeface="Calibri" pitchFamily="34" charset="-120"/>
              </a:rPr>
              <a:t>Easy to switch between versions</a:t>
            </a:r>
            <a:endParaRPr lang="en-US" sz="115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365760"/>
          </a:xfrm>
          <a:prstGeom prst="rect">
            <a:avLst/>
          </a:prstGeom>
          <a:noFill/>
          <a:ln/>
        </p:spPr>
        <p:txBody>
          <a:bodyPr wrap="square" lIns="0" tIns="0" rIns="0" bIns="0" rtlCol="0" anchor="ctr"/>
          <a:lstStyle/>
          <a:p>
            <a:pPr marL="0" indent="0" algn="l" rtl="0">
              <a:buNone/>
            </a:pPr>
            <a:r>
              <a:rPr lang="en-US" sz="2400" b="1" i="1" kern="0" spc="100">
                <a:solidFill>
                  <a:srgbClr val="1C7293"/>
                </a:solidFill>
                <a:latin typeface="Calibri" pitchFamily="34" charset="0"/>
                <a:ea typeface="Calibri" pitchFamily="34" charset="-122"/>
                <a:cs typeface="Calibri" pitchFamily="34" charset="-120"/>
              </a:rPr>
              <a:t>Performance:</a:t>
            </a:r>
            <a:endParaRPr lang="en-US" sz="2400" i="1"/>
          </a:p>
        </p:txBody>
      </p:sp>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Caching in APIs:</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28</a:t>
            </a:r>
            <a:endParaRPr lang="en-US" sz="1100"/>
          </a:p>
        </p:txBody>
      </p:sp>
      <p:sp>
        <p:nvSpPr>
          <p:cNvPr id="8" name="Text 5"/>
          <p:cNvSpPr txBox="1"/>
          <p:nvPr/>
        </p:nvSpPr>
        <p:spPr>
          <a:xfrm>
            <a:off x="637032" y="2304288"/>
            <a:ext cx="4524756"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1-Cache-Control Headers</a:t>
            </a:r>
            <a:endParaRPr lang="en-US" sz="1600"/>
          </a:p>
        </p:txBody>
      </p:sp>
      <p:sp>
        <p:nvSpPr>
          <p:cNvPr id="9" name="Text 6"/>
          <p:cNvSpPr txBox="1"/>
          <p:nvPr/>
        </p:nvSpPr>
        <p:spPr>
          <a:xfrm>
            <a:off x="777240" y="2812003"/>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      Cache Duration</a:t>
            </a:r>
          </a:p>
          <a:p>
            <a:pPr marL="0" indent="0" algn="l" rtl="0">
              <a:buNone/>
            </a:pPr>
            <a:r>
              <a:rPr lang="en-US" sz="1250">
                <a:solidFill>
                  <a:srgbClr val="5B7C8D"/>
                </a:solidFill>
                <a:latin typeface="Calibri" pitchFamily="34" charset="0"/>
                <a:ea typeface="Calibri" pitchFamily="34" charset="-122"/>
                <a:cs typeface="Calibri" pitchFamily="34" charset="-120"/>
              </a:rPr>
              <a:t>       Specifies how long cached data remains valid.</a:t>
            </a:r>
            <a:endParaRPr lang="en-US" sz="1250"/>
          </a:p>
        </p:txBody>
      </p:sp>
      <p:sp>
        <p:nvSpPr>
          <p:cNvPr id="12" name="Text 8"/>
          <p:cNvSpPr txBox="1"/>
          <p:nvPr/>
        </p:nvSpPr>
        <p:spPr>
          <a:xfrm>
            <a:off x="6323076" y="2304288"/>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2-ETag and Conditional Requests</a:t>
            </a:r>
            <a:endParaRPr lang="en-US" sz="1600"/>
          </a:p>
        </p:txBody>
      </p:sp>
      <p:sp>
        <p:nvSpPr>
          <p:cNvPr id="13" name="Text 9"/>
          <p:cNvSpPr txBox="1"/>
          <p:nvPr/>
        </p:nvSpPr>
        <p:spPr>
          <a:xfrm>
            <a:off x="6473905" y="2812003"/>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        Data Validation</a:t>
            </a:r>
          </a:p>
          <a:p>
            <a:pPr marL="0" indent="0" algn="l" rtl="0">
              <a:buNone/>
            </a:pPr>
            <a:r>
              <a:rPr lang="en-US" sz="1250">
                <a:solidFill>
                  <a:srgbClr val="5B7C8D"/>
                </a:solidFill>
                <a:latin typeface="Calibri" pitchFamily="34" charset="0"/>
                <a:ea typeface="Calibri" pitchFamily="34" charset="-122"/>
                <a:cs typeface="Calibri" pitchFamily="34" charset="-120"/>
              </a:rPr>
              <a:t>        Checks if data has changed before downloading.</a:t>
            </a:r>
            <a:endParaRPr lang="en-US" sz="1250"/>
          </a:p>
        </p:txBody>
      </p:sp>
      <p:sp>
        <p:nvSpPr>
          <p:cNvPr id="16" name="Text 11"/>
          <p:cNvSpPr txBox="1"/>
          <p:nvPr/>
        </p:nvSpPr>
        <p:spPr>
          <a:xfrm>
            <a:off x="637032" y="3886200"/>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3-CDN — Content Delivery Network</a:t>
            </a:r>
            <a:endParaRPr lang="en-US" sz="1600"/>
          </a:p>
        </p:txBody>
      </p:sp>
      <p:sp>
        <p:nvSpPr>
          <p:cNvPr id="17" name="Text 12"/>
          <p:cNvSpPr txBox="1"/>
          <p:nvPr/>
        </p:nvSpPr>
        <p:spPr>
          <a:xfrm>
            <a:off x="640080" y="4379976"/>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          Faster Access</a:t>
            </a:r>
          </a:p>
          <a:p>
            <a:pPr marL="0" indent="0" algn="l" rtl="0">
              <a:buNone/>
            </a:pPr>
            <a:r>
              <a:rPr lang="en-US" sz="1250">
                <a:solidFill>
                  <a:srgbClr val="5B7C8D"/>
                </a:solidFill>
                <a:latin typeface="Calibri" pitchFamily="34" charset="0"/>
                <a:ea typeface="Calibri" pitchFamily="34" charset="-122"/>
                <a:cs typeface="Calibri" pitchFamily="34" charset="-120"/>
              </a:rPr>
              <a:t>          Stores data closer to users for faster access.</a:t>
            </a:r>
            <a:endParaRPr lang="en-US" sz="1250"/>
          </a:p>
        </p:txBody>
      </p:sp>
      <p:sp>
        <p:nvSpPr>
          <p:cNvPr id="20" name="Text 14"/>
          <p:cNvSpPr txBox="1"/>
          <p:nvPr/>
        </p:nvSpPr>
        <p:spPr>
          <a:xfrm>
            <a:off x="6323076" y="3995928"/>
            <a:ext cx="4521708" cy="365760"/>
          </a:xfrm>
          <a:prstGeom prst="rect">
            <a:avLst/>
          </a:prstGeom>
          <a:noFill/>
          <a:ln/>
        </p:spPr>
        <p:txBody>
          <a:bodyPr wrap="square" lIns="0" tIns="0" rIns="0" bIns="0" rtlCol="0" anchor="ctr"/>
          <a:lstStyle/>
          <a:p>
            <a:pPr marL="0" indent="0" algn="l" rtl="0">
              <a:buNone/>
            </a:pPr>
            <a:r>
              <a:rPr lang="en-US" sz="1600" b="1">
                <a:solidFill>
                  <a:srgbClr val="0B3D5C"/>
                </a:solidFill>
                <a:latin typeface="Calibri" pitchFamily="34" charset="0"/>
                <a:ea typeface="Calibri" pitchFamily="34" charset="-122"/>
                <a:cs typeface="Calibri" pitchFamily="34" charset="-120"/>
              </a:rPr>
              <a:t>4-Browser or Client-Side Caching</a:t>
            </a:r>
            <a:endParaRPr lang="en-US" sz="1600"/>
          </a:p>
        </p:txBody>
      </p:sp>
      <p:sp>
        <p:nvSpPr>
          <p:cNvPr id="21" name="Text 15"/>
          <p:cNvSpPr txBox="1"/>
          <p:nvPr/>
        </p:nvSpPr>
        <p:spPr>
          <a:xfrm>
            <a:off x="6473905" y="4379976"/>
            <a:ext cx="4521708" cy="685800"/>
          </a:xfrm>
          <a:prstGeom prst="rect">
            <a:avLst/>
          </a:prstGeom>
          <a:noFill/>
          <a:ln/>
        </p:spPr>
        <p:txBody>
          <a:bodyPr wrap="square" lIns="0" tIns="0" rIns="0" bIns="0" rtlCol="0" anchor="t"/>
          <a:lstStyle/>
          <a:p>
            <a:pPr marL="0" indent="0" algn="l" rtl="0">
              <a:buNone/>
            </a:pPr>
            <a:r>
              <a:rPr lang="en-US" sz="1250">
                <a:solidFill>
                  <a:srgbClr val="5B7C8D"/>
                </a:solidFill>
                <a:latin typeface="Calibri" pitchFamily="34" charset="0"/>
                <a:ea typeface="Calibri" pitchFamily="34" charset="-122"/>
                <a:cs typeface="Calibri" pitchFamily="34" charset="-120"/>
              </a:rPr>
              <a:t>    Local Cache</a:t>
            </a:r>
          </a:p>
          <a:p>
            <a:pPr marL="0" indent="0" algn="l" rtl="0">
              <a:buNone/>
            </a:pPr>
            <a:r>
              <a:rPr lang="en-US" sz="1250">
                <a:solidFill>
                  <a:srgbClr val="5B7C8D"/>
                </a:solidFill>
                <a:latin typeface="Calibri" pitchFamily="34" charset="0"/>
                <a:ea typeface="Calibri" pitchFamily="34" charset="-122"/>
                <a:cs typeface="Calibri" pitchFamily="34" charset="-120"/>
              </a:rPr>
              <a:t>    Reduces repeated requests to the server.</a:t>
            </a:r>
            <a:endParaRPr lang="en-US" sz="1250"/>
          </a:p>
        </p:txBody>
      </p:sp>
      <p:sp>
        <p:nvSpPr>
          <p:cNvPr id="25" name="Text 18"/>
          <p:cNvSpPr txBox="1"/>
          <p:nvPr/>
        </p:nvSpPr>
        <p:spPr>
          <a:xfrm>
            <a:off x="640080" y="6071616"/>
            <a:ext cx="4521708" cy="685800"/>
          </a:xfrm>
          <a:prstGeom prst="rect">
            <a:avLst/>
          </a:prstGeom>
          <a:noFill/>
          <a:ln/>
        </p:spPr>
        <p:txBody>
          <a:bodyPr wrap="square" lIns="0" tIns="0" rIns="0" bIns="0" rtlCol="0" anchor="t"/>
          <a:lstStyle/>
          <a:p>
            <a:pPr marL="0" indent="0" algn="l" rtl="0">
              <a:buNone/>
            </a:pPr>
            <a:endParaRPr lang="en-US" sz="1250"/>
          </a:p>
        </p:txBody>
      </p:sp>
      <p:sp>
        <p:nvSpPr>
          <p:cNvPr id="28" name="مثلث متساوي الساقين 27">
            <a:extLst>
              <a:ext uri="{FF2B5EF4-FFF2-40B4-BE49-F238E27FC236}">
                <a16:creationId xmlns:a16="http://schemas.microsoft.com/office/drawing/2014/main" id="{7BB7DED3-57E4-2F1D-F45D-ABD9ACC7C211}"/>
              </a:ext>
            </a:extLst>
          </p:cNvPr>
          <p:cNvSpPr/>
          <p:nvPr/>
        </p:nvSpPr>
        <p:spPr>
          <a:xfrm>
            <a:off x="777240" y="2803626"/>
            <a:ext cx="156014" cy="18467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مثلث متساوي الساقين 28">
            <a:extLst>
              <a:ext uri="{FF2B5EF4-FFF2-40B4-BE49-F238E27FC236}">
                <a16:creationId xmlns:a16="http://schemas.microsoft.com/office/drawing/2014/main" id="{B34728BC-1256-F41F-1640-94F3928ABF2F}"/>
              </a:ext>
            </a:extLst>
          </p:cNvPr>
          <p:cNvSpPr/>
          <p:nvPr/>
        </p:nvSpPr>
        <p:spPr>
          <a:xfrm>
            <a:off x="6538243" y="2777589"/>
            <a:ext cx="156014" cy="21070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مثلث متساوي الساقين 29">
            <a:extLst>
              <a:ext uri="{FF2B5EF4-FFF2-40B4-BE49-F238E27FC236}">
                <a16:creationId xmlns:a16="http://schemas.microsoft.com/office/drawing/2014/main" id="{0E8CC5CD-2EAF-5834-59EB-A8E67662DD0E}"/>
              </a:ext>
            </a:extLst>
          </p:cNvPr>
          <p:cNvSpPr/>
          <p:nvPr/>
        </p:nvSpPr>
        <p:spPr>
          <a:xfrm>
            <a:off x="682972" y="4361688"/>
            <a:ext cx="188536" cy="1613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مثلث متساوي الساقين 30">
            <a:extLst>
              <a:ext uri="{FF2B5EF4-FFF2-40B4-BE49-F238E27FC236}">
                <a16:creationId xmlns:a16="http://schemas.microsoft.com/office/drawing/2014/main" id="{D81C2331-B9EE-8396-DB8B-131976C1088E}"/>
              </a:ext>
            </a:extLst>
          </p:cNvPr>
          <p:cNvSpPr/>
          <p:nvPr/>
        </p:nvSpPr>
        <p:spPr>
          <a:xfrm>
            <a:off x="6249972" y="4361689"/>
            <a:ext cx="223934" cy="16132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bg>
      <p:bgPr>
        <a:solidFill>
          <a:srgbClr val="F4F8FA"/>
        </a:solidFill>
        <a:effectLst/>
      </p:bgPr>
    </p:bg>
    <p:spTree>
      <p:nvGrpSpPr>
        <p:cNvPr id="1" name=""/>
        <p:cNvGrpSpPr/>
        <p:nvPr/>
      </p:nvGrpSpPr>
      <p:grpSpPr>
        <a:xfrm>
          <a:off x="0" y="0"/>
          <a:ext cx="0" cy="0"/>
          <a:chOff x="0" y="0"/>
          <a:chExt cx="0" cy="0"/>
        </a:xfrm>
      </p:grpSpPr>
      <p:sp>
        <p:nvSpPr>
          <p:cNvPr id="3" name="Text 1"/>
          <p:cNvSpPr txBox="1"/>
          <p:nvPr/>
        </p:nvSpPr>
        <p:spPr>
          <a:xfrm>
            <a:off x="640080" y="868680"/>
            <a:ext cx="10908792" cy="822960"/>
          </a:xfrm>
          <a:prstGeom prst="rect">
            <a:avLst/>
          </a:prstGeom>
          <a:noFill/>
          <a:ln/>
        </p:spPr>
        <p:txBody>
          <a:bodyPr wrap="square" lIns="0" tIns="0" rIns="0" bIns="0" rtlCol="0" anchor="ctr"/>
          <a:lstStyle/>
          <a:p>
            <a:pPr marL="0" indent="0" algn="l" rtl="0">
              <a:buNone/>
            </a:pPr>
            <a:r>
              <a:rPr lang="en-US" sz="2400" b="1" i="1">
                <a:solidFill>
                  <a:srgbClr val="0B3D5C"/>
                </a:solidFill>
                <a:latin typeface="Cambria" pitchFamily="34" charset="0"/>
                <a:ea typeface="Cambria" pitchFamily="34" charset="-122"/>
                <a:cs typeface="Cambria" pitchFamily="34" charset="-120"/>
              </a:rPr>
              <a:t>API Gateway and Its Role:</a:t>
            </a:r>
            <a:endParaRPr lang="en-US" sz="2400" i="1"/>
          </a:p>
        </p:txBody>
      </p:sp>
      <p:sp>
        <p:nvSpPr>
          <p:cNvPr id="4" name="Shape 2"/>
          <p:cNvSpPr/>
          <p:nvPr/>
        </p:nvSpPr>
        <p:spPr>
          <a:xfrm>
            <a:off x="658368" y="1691640"/>
            <a:ext cx="1005840" cy="0"/>
          </a:xfrm>
          <a:prstGeom prst="line">
            <a:avLst/>
          </a:prstGeom>
          <a:noFill/>
          <a:ln w="38100">
            <a:solidFill>
              <a:srgbClr val="F2A65A"/>
            </a:solidFill>
            <a:prstDash val="solid"/>
          </a:ln>
        </p:spPr>
        <p:txBody>
          <a:bodyPr/>
          <a:lstStyle/>
          <a:p>
            <a:endParaRPr lang="en-US"/>
          </a:p>
        </p:txBody>
      </p:sp>
      <p:sp>
        <p:nvSpPr>
          <p:cNvPr id="5" name="Text 3"/>
          <p:cNvSpPr txBox="1"/>
          <p:nvPr/>
        </p:nvSpPr>
        <p:spPr>
          <a:xfrm>
            <a:off x="11548872" y="6400800"/>
            <a:ext cx="365760" cy="274320"/>
          </a:xfrm>
          <a:prstGeom prst="rect">
            <a:avLst/>
          </a:prstGeom>
          <a:noFill/>
          <a:ln/>
        </p:spPr>
        <p:txBody>
          <a:bodyPr wrap="square" lIns="0" tIns="0" rIns="0" bIns="0" rtlCol="0" anchor="ctr"/>
          <a:lstStyle/>
          <a:p>
            <a:pPr marL="0" indent="0" algn="r">
              <a:buNone/>
            </a:pPr>
            <a:r>
              <a:rPr lang="en-US" sz="1100">
                <a:solidFill>
                  <a:srgbClr val="5B7C8D"/>
                </a:solidFill>
                <a:latin typeface="Calibri" pitchFamily="34" charset="0"/>
                <a:ea typeface="Calibri" pitchFamily="34" charset="-122"/>
                <a:cs typeface="Calibri" pitchFamily="34" charset="-120"/>
              </a:rPr>
              <a:t>30</a:t>
            </a:r>
            <a:endParaRPr lang="en-US" sz="1100"/>
          </a:p>
        </p:txBody>
      </p:sp>
      <p:sp>
        <p:nvSpPr>
          <p:cNvPr id="6" name="Text 4"/>
          <p:cNvSpPr txBox="1"/>
          <p:nvPr/>
        </p:nvSpPr>
        <p:spPr>
          <a:xfrm>
            <a:off x="640080" y="1828800"/>
            <a:ext cx="1828800" cy="320040"/>
          </a:xfrm>
          <a:prstGeom prst="rect">
            <a:avLst/>
          </a:prstGeom>
          <a:noFill/>
          <a:ln/>
        </p:spPr>
        <p:txBody>
          <a:bodyPr wrap="square" lIns="0" tIns="0" rIns="0" bIns="0" rtlCol="0" anchor="ctr"/>
          <a:lstStyle/>
          <a:p>
            <a:pPr marL="0" indent="0" algn="l" rtl="0">
              <a:buNone/>
            </a:pPr>
            <a:r>
              <a:rPr lang="en-US" sz="1300" b="1">
                <a:solidFill>
                  <a:srgbClr val="1C7293"/>
                </a:solidFill>
                <a:latin typeface="Calibri" pitchFamily="34" charset="0"/>
                <a:ea typeface="Calibri" pitchFamily="34" charset="-122"/>
                <a:cs typeface="Calibri" pitchFamily="34" charset="-120"/>
              </a:rPr>
              <a:t>Request:</a:t>
            </a:r>
            <a:endParaRPr lang="en-US" sz="1300"/>
          </a:p>
        </p:txBody>
      </p:sp>
      <p:sp>
        <p:nvSpPr>
          <p:cNvPr id="7" name="Shape 5"/>
          <p:cNvSpPr/>
          <p:nvPr/>
        </p:nvSpPr>
        <p:spPr>
          <a:xfrm>
            <a:off x="9628632" y="2194560"/>
            <a:ext cx="1920240" cy="594360"/>
          </a:xfrm>
          <a:prstGeom prst="roundRect">
            <a:avLst>
              <a:gd name="adj" fmla="val 46154"/>
            </a:avLst>
          </a:prstGeom>
          <a:solidFill>
            <a:srgbClr val="0B3D5C"/>
          </a:solidFill>
          <a:ln/>
        </p:spPr>
        <p:txBody>
          <a:bodyPr/>
          <a:lstStyle/>
          <a:p>
            <a:endParaRPr lang="en-US"/>
          </a:p>
        </p:txBody>
      </p:sp>
      <p:sp>
        <p:nvSpPr>
          <p:cNvPr id="8" name="Text 6"/>
          <p:cNvSpPr txBox="1"/>
          <p:nvPr/>
        </p:nvSpPr>
        <p:spPr>
          <a:xfrm>
            <a:off x="9628632"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Database</a:t>
            </a:r>
            <a:endParaRPr lang="en-US" sz="1200"/>
          </a:p>
        </p:txBody>
      </p:sp>
      <p:sp>
        <p:nvSpPr>
          <p:cNvPr id="10" name="Shape 8"/>
          <p:cNvSpPr/>
          <p:nvPr/>
        </p:nvSpPr>
        <p:spPr>
          <a:xfrm>
            <a:off x="7381494" y="2194560"/>
            <a:ext cx="1920240" cy="594360"/>
          </a:xfrm>
          <a:prstGeom prst="roundRect">
            <a:avLst>
              <a:gd name="adj" fmla="val 46154"/>
            </a:avLst>
          </a:prstGeom>
          <a:solidFill>
            <a:srgbClr val="0B3D5C"/>
          </a:solidFill>
          <a:ln/>
        </p:spPr>
        <p:txBody>
          <a:bodyPr/>
          <a:lstStyle/>
          <a:p>
            <a:endParaRPr lang="en-US"/>
          </a:p>
        </p:txBody>
      </p:sp>
      <p:sp>
        <p:nvSpPr>
          <p:cNvPr id="11" name="Text 9"/>
          <p:cNvSpPr txBox="1"/>
          <p:nvPr/>
        </p:nvSpPr>
        <p:spPr>
          <a:xfrm>
            <a:off x="7381494"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Microservice</a:t>
            </a:r>
            <a:endParaRPr lang="en-US" sz="1200"/>
          </a:p>
        </p:txBody>
      </p:sp>
      <p:sp>
        <p:nvSpPr>
          <p:cNvPr id="13" name="Shape 11"/>
          <p:cNvSpPr/>
          <p:nvPr/>
        </p:nvSpPr>
        <p:spPr>
          <a:xfrm>
            <a:off x="5134356" y="2194560"/>
            <a:ext cx="1920240" cy="594360"/>
          </a:xfrm>
          <a:prstGeom prst="roundRect">
            <a:avLst>
              <a:gd name="adj" fmla="val 46154"/>
            </a:avLst>
          </a:prstGeom>
          <a:solidFill>
            <a:srgbClr val="F2A65A"/>
          </a:solidFill>
          <a:ln/>
        </p:spPr>
        <p:txBody>
          <a:bodyPr/>
          <a:lstStyle/>
          <a:p>
            <a:endParaRPr lang="en-US"/>
          </a:p>
        </p:txBody>
      </p:sp>
      <p:sp>
        <p:nvSpPr>
          <p:cNvPr id="14" name="Text 12"/>
          <p:cNvSpPr txBox="1"/>
          <p:nvPr/>
        </p:nvSpPr>
        <p:spPr>
          <a:xfrm>
            <a:off x="5134356"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API Gateway</a:t>
            </a:r>
            <a:endParaRPr lang="en-US" sz="1200"/>
          </a:p>
        </p:txBody>
      </p:sp>
      <p:sp>
        <p:nvSpPr>
          <p:cNvPr id="16" name="Shape 14"/>
          <p:cNvSpPr/>
          <p:nvPr/>
        </p:nvSpPr>
        <p:spPr>
          <a:xfrm>
            <a:off x="2887218" y="2194560"/>
            <a:ext cx="1920240" cy="594360"/>
          </a:xfrm>
          <a:prstGeom prst="roundRect">
            <a:avLst>
              <a:gd name="adj" fmla="val 46154"/>
            </a:avLst>
          </a:prstGeom>
          <a:solidFill>
            <a:srgbClr val="0B3D5C"/>
          </a:solidFill>
          <a:ln/>
        </p:spPr>
        <p:txBody>
          <a:bodyPr/>
          <a:lstStyle/>
          <a:p>
            <a:endParaRPr lang="en-US"/>
          </a:p>
        </p:txBody>
      </p:sp>
      <p:sp>
        <p:nvSpPr>
          <p:cNvPr id="17" name="Text 15"/>
          <p:cNvSpPr txBox="1"/>
          <p:nvPr/>
        </p:nvSpPr>
        <p:spPr>
          <a:xfrm>
            <a:off x="2887218"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Request</a:t>
            </a:r>
            <a:endParaRPr lang="en-US" sz="1200"/>
          </a:p>
        </p:txBody>
      </p:sp>
      <p:sp>
        <p:nvSpPr>
          <p:cNvPr id="19" name="Shape 17"/>
          <p:cNvSpPr/>
          <p:nvPr/>
        </p:nvSpPr>
        <p:spPr>
          <a:xfrm>
            <a:off x="640080" y="2194560"/>
            <a:ext cx="1920240" cy="594360"/>
          </a:xfrm>
          <a:prstGeom prst="roundRect">
            <a:avLst>
              <a:gd name="adj" fmla="val 46154"/>
            </a:avLst>
          </a:prstGeom>
          <a:solidFill>
            <a:srgbClr val="0B3D5C"/>
          </a:solidFill>
          <a:ln/>
        </p:spPr>
        <p:txBody>
          <a:bodyPr/>
          <a:lstStyle/>
          <a:p>
            <a:endParaRPr lang="en-US"/>
          </a:p>
        </p:txBody>
      </p:sp>
      <p:sp>
        <p:nvSpPr>
          <p:cNvPr id="20" name="Text 18"/>
          <p:cNvSpPr txBox="1"/>
          <p:nvPr/>
        </p:nvSpPr>
        <p:spPr>
          <a:xfrm>
            <a:off x="640080" y="219456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Client</a:t>
            </a:r>
            <a:endParaRPr lang="en-US" sz="1200"/>
          </a:p>
        </p:txBody>
      </p:sp>
      <p:sp>
        <p:nvSpPr>
          <p:cNvPr id="21" name="Text 19"/>
          <p:cNvSpPr txBox="1"/>
          <p:nvPr/>
        </p:nvSpPr>
        <p:spPr>
          <a:xfrm>
            <a:off x="640080" y="3063240"/>
            <a:ext cx="1828800" cy="320040"/>
          </a:xfrm>
          <a:prstGeom prst="rect">
            <a:avLst/>
          </a:prstGeom>
          <a:noFill/>
          <a:ln/>
        </p:spPr>
        <p:txBody>
          <a:bodyPr wrap="square" lIns="0" tIns="0" rIns="0" bIns="0" rtlCol="0" anchor="ctr"/>
          <a:lstStyle/>
          <a:p>
            <a:pPr marL="0" indent="0" algn="l" rtl="0">
              <a:buNone/>
            </a:pPr>
            <a:r>
              <a:rPr lang="en-US" sz="1300" b="1">
                <a:solidFill>
                  <a:srgbClr val="1C7293"/>
                </a:solidFill>
                <a:latin typeface="Calibri" pitchFamily="34" charset="0"/>
                <a:ea typeface="Calibri" pitchFamily="34" charset="-122"/>
                <a:cs typeface="Calibri" pitchFamily="34" charset="-120"/>
              </a:rPr>
              <a:t>Response:</a:t>
            </a:r>
            <a:endParaRPr lang="en-US" sz="1300"/>
          </a:p>
        </p:txBody>
      </p:sp>
      <p:sp>
        <p:nvSpPr>
          <p:cNvPr id="22" name="Shape 20"/>
          <p:cNvSpPr/>
          <p:nvPr/>
        </p:nvSpPr>
        <p:spPr>
          <a:xfrm>
            <a:off x="9628632" y="3429000"/>
            <a:ext cx="1920240" cy="594360"/>
          </a:xfrm>
          <a:prstGeom prst="roundRect">
            <a:avLst>
              <a:gd name="adj" fmla="val 46154"/>
            </a:avLst>
          </a:prstGeom>
          <a:solidFill>
            <a:srgbClr val="1C7293"/>
          </a:solidFill>
          <a:ln/>
        </p:spPr>
        <p:txBody>
          <a:bodyPr/>
          <a:lstStyle/>
          <a:p>
            <a:endParaRPr lang="en-US"/>
          </a:p>
        </p:txBody>
      </p:sp>
      <p:sp>
        <p:nvSpPr>
          <p:cNvPr id="23" name="Text 21"/>
          <p:cNvSpPr txBox="1"/>
          <p:nvPr/>
        </p:nvSpPr>
        <p:spPr>
          <a:xfrm>
            <a:off x="9628632"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Database</a:t>
            </a:r>
            <a:endParaRPr lang="en-US" sz="1200"/>
          </a:p>
        </p:txBody>
      </p:sp>
      <p:sp>
        <p:nvSpPr>
          <p:cNvPr id="24" name="Shape 22"/>
          <p:cNvSpPr/>
          <p:nvPr/>
        </p:nvSpPr>
        <p:spPr>
          <a:xfrm>
            <a:off x="9340962" y="3648456"/>
            <a:ext cx="248442" cy="164592"/>
          </a:xfrm>
          <a:prstGeom prst="leftArrow">
            <a:avLst/>
          </a:prstGeom>
          <a:solidFill>
            <a:srgbClr val="5B7C8D"/>
          </a:solidFill>
          <a:ln/>
        </p:spPr>
        <p:txBody>
          <a:bodyPr/>
          <a:lstStyle/>
          <a:p>
            <a:endParaRPr lang="en-US"/>
          </a:p>
        </p:txBody>
      </p:sp>
      <p:sp>
        <p:nvSpPr>
          <p:cNvPr id="25" name="Shape 23"/>
          <p:cNvSpPr/>
          <p:nvPr/>
        </p:nvSpPr>
        <p:spPr>
          <a:xfrm>
            <a:off x="7381494" y="3429000"/>
            <a:ext cx="1920240" cy="594360"/>
          </a:xfrm>
          <a:prstGeom prst="roundRect">
            <a:avLst>
              <a:gd name="adj" fmla="val 46154"/>
            </a:avLst>
          </a:prstGeom>
          <a:solidFill>
            <a:srgbClr val="1C7293"/>
          </a:solidFill>
          <a:ln/>
        </p:spPr>
        <p:txBody>
          <a:bodyPr/>
          <a:lstStyle/>
          <a:p>
            <a:endParaRPr lang="en-US"/>
          </a:p>
        </p:txBody>
      </p:sp>
      <p:sp>
        <p:nvSpPr>
          <p:cNvPr id="26" name="Text 24"/>
          <p:cNvSpPr txBox="1"/>
          <p:nvPr/>
        </p:nvSpPr>
        <p:spPr>
          <a:xfrm>
            <a:off x="7381494"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Microservice</a:t>
            </a:r>
            <a:endParaRPr lang="en-US" sz="1200"/>
          </a:p>
        </p:txBody>
      </p:sp>
      <p:sp>
        <p:nvSpPr>
          <p:cNvPr id="27" name="Shape 25"/>
          <p:cNvSpPr/>
          <p:nvPr/>
        </p:nvSpPr>
        <p:spPr>
          <a:xfrm>
            <a:off x="7093824" y="3648456"/>
            <a:ext cx="248442" cy="164592"/>
          </a:xfrm>
          <a:prstGeom prst="leftArrow">
            <a:avLst/>
          </a:prstGeom>
          <a:solidFill>
            <a:srgbClr val="5B7C8D"/>
          </a:solidFill>
          <a:ln/>
        </p:spPr>
        <p:txBody>
          <a:bodyPr/>
          <a:lstStyle/>
          <a:p>
            <a:endParaRPr lang="en-US"/>
          </a:p>
        </p:txBody>
      </p:sp>
      <p:sp>
        <p:nvSpPr>
          <p:cNvPr id="28" name="Shape 26"/>
          <p:cNvSpPr/>
          <p:nvPr/>
        </p:nvSpPr>
        <p:spPr>
          <a:xfrm>
            <a:off x="5134356" y="3429000"/>
            <a:ext cx="1920240" cy="594360"/>
          </a:xfrm>
          <a:prstGeom prst="roundRect">
            <a:avLst>
              <a:gd name="adj" fmla="val 46154"/>
            </a:avLst>
          </a:prstGeom>
          <a:solidFill>
            <a:srgbClr val="F2A65A"/>
          </a:solidFill>
          <a:ln/>
        </p:spPr>
        <p:txBody>
          <a:bodyPr/>
          <a:lstStyle/>
          <a:p>
            <a:endParaRPr lang="en-US"/>
          </a:p>
        </p:txBody>
      </p:sp>
      <p:sp>
        <p:nvSpPr>
          <p:cNvPr id="29" name="Text 27"/>
          <p:cNvSpPr txBox="1"/>
          <p:nvPr/>
        </p:nvSpPr>
        <p:spPr>
          <a:xfrm>
            <a:off x="5134356"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API Gateway</a:t>
            </a:r>
            <a:endParaRPr lang="en-US" sz="1200"/>
          </a:p>
        </p:txBody>
      </p:sp>
      <p:sp>
        <p:nvSpPr>
          <p:cNvPr id="30" name="Shape 28"/>
          <p:cNvSpPr/>
          <p:nvPr/>
        </p:nvSpPr>
        <p:spPr>
          <a:xfrm>
            <a:off x="4846686" y="3648456"/>
            <a:ext cx="248442" cy="164592"/>
          </a:xfrm>
          <a:prstGeom prst="leftArrow">
            <a:avLst/>
          </a:prstGeom>
          <a:solidFill>
            <a:srgbClr val="5B7C8D"/>
          </a:solidFill>
          <a:ln/>
        </p:spPr>
        <p:txBody>
          <a:bodyPr/>
          <a:lstStyle/>
          <a:p>
            <a:endParaRPr lang="en-US"/>
          </a:p>
        </p:txBody>
      </p:sp>
      <p:sp>
        <p:nvSpPr>
          <p:cNvPr id="31" name="Shape 29"/>
          <p:cNvSpPr/>
          <p:nvPr/>
        </p:nvSpPr>
        <p:spPr>
          <a:xfrm>
            <a:off x="2887218" y="3429000"/>
            <a:ext cx="1920240" cy="594360"/>
          </a:xfrm>
          <a:prstGeom prst="roundRect">
            <a:avLst>
              <a:gd name="adj" fmla="val 46154"/>
            </a:avLst>
          </a:prstGeom>
          <a:solidFill>
            <a:srgbClr val="1C7293"/>
          </a:solidFill>
          <a:ln/>
        </p:spPr>
        <p:txBody>
          <a:bodyPr/>
          <a:lstStyle/>
          <a:p>
            <a:endParaRPr lang="en-US"/>
          </a:p>
        </p:txBody>
      </p:sp>
      <p:sp>
        <p:nvSpPr>
          <p:cNvPr id="32" name="Text 30"/>
          <p:cNvSpPr txBox="1"/>
          <p:nvPr/>
        </p:nvSpPr>
        <p:spPr>
          <a:xfrm>
            <a:off x="2887218"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Response</a:t>
            </a:r>
            <a:endParaRPr lang="en-US" sz="1200"/>
          </a:p>
        </p:txBody>
      </p:sp>
      <p:sp>
        <p:nvSpPr>
          <p:cNvPr id="33" name="Shape 31"/>
          <p:cNvSpPr/>
          <p:nvPr/>
        </p:nvSpPr>
        <p:spPr>
          <a:xfrm>
            <a:off x="2599548" y="3648456"/>
            <a:ext cx="248442" cy="164592"/>
          </a:xfrm>
          <a:prstGeom prst="leftArrow">
            <a:avLst/>
          </a:prstGeom>
          <a:solidFill>
            <a:srgbClr val="5B7C8D"/>
          </a:solidFill>
          <a:ln/>
        </p:spPr>
        <p:txBody>
          <a:bodyPr/>
          <a:lstStyle/>
          <a:p>
            <a:endParaRPr lang="en-US"/>
          </a:p>
        </p:txBody>
      </p:sp>
      <p:sp>
        <p:nvSpPr>
          <p:cNvPr id="34" name="Shape 32"/>
          <p:cNvSpPr/>
          <p:nvPr/>
        </p:nvSpPr>
        <p:spPr>
          <a:xfrm>
            <a:off x="640080" y="3429000"/>
            <a:ext cx="1920240" cy="594360"/>
          </a:xfrm>
          <a:prstGeom prst="roundRect">
            <a:avLst>
              <a:gd name="adj" fmla="val 46154"/>
            </a:avLst>
          </a:prstGeom>
          <a:solidFill>
            <a:srgbClr val="1C7293"/>
          </a:solidFill>
          <a:ln/>
        </p:spPr>
        <p:txBody>
          <a:bodyPr/>
          <a:lstStyle/>
          <a:p>
            <a:endParaRPr lang="en-US"/>
          </a:p>
        </p:txBody>
      </p:sp>
      <p:sp>
        <p:nvSpPr>
          <p:cNvPr id="35" name="Text 33"/>
          <p:cNvSpPr txBox="1"/>
          <p:nvPr/>
        </p:nvSpPr>
        <p:spPr>
          <a:xfrm>
            <a:off x="640080" y="3429000"/>
            <a:ext cx="1920240" cy="5943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Client</a:t>
            </a:r>
            <a:endParaRPr lang="en-US" sz="1200"/>
          </a:p>
        </p:txBody>
      </p:sp>
      <p:sp>
        <p:nvSpPr>
          <p:cNvPr id="36" name="Text 34"/>
          <p:cNvSpPr txBox="1"/>
          <p:nvPr/>
        </p:nvSpPr>
        <p:spPr>
          <a:xfrm>
            <a:off x="640080" y="4343400"/>
            <a:ext cx="10908792" cy="457200"/>
          </a:xfrm>
          <a:prstGeom prst="rect">
            <a:avLst/>
          </a:prstGeom>
          <a:noFill/>
          <a:ln/>
        </p:spPr>
        <p:txBody>
          <a:bodyPr wrap="square" lIns="0" tIns="0" rIns="0" bIns="0" rtlCol="0" anchor="ctr"/>
          <a:lstStyle/>
          <a:p>
            <a:pPr marL="0" indent="0" algn="l" rtl="0">
              <a:buNone/>
            </a:pPr>
            <a:r>
              <a:rPr lang="en-US" sz="1400">
                <a:solidFill>
                  <a:srgbClr val="16324A"/>
                </a:solidFill>
                <a:latin typeface="Calibri" pitchFamily="34" charset="0"/>
                <a:ea typeface="Calibri" pitchFamily="34" charset="-122"/>
                <a:cs typeface="Calibri" pitchFamily="34" charset="-120"/>
              </a:rPr>
              <a:t>The API Gateway acts as a unified entry point for all requests coming from clients, handling authentication and routing before the request reaches the appropriate internal services.</a:t>
            </a:r>
            <a:endParaRPr lang="en-US" sz="1400"/>
          </a:p>
        </p:txBody>
      </p:sp>
      <p:sp>
        <p:nvSpPr>
          <p:cNvPr id="37" name="Shape 35"/>
          <p:cNvSpPr/>
          <p:nvPr/>
        </p:nvSpPr>
        <p:spPr>
          <a:xfrm>
            <a:off x="640080" y="4937760"/>
            <a:ext cx="4846320" cy="1417320"/>
          </a:xfrm>
          <a:prstGeom prst="roundRect">
            <a:avLst>
              <a:gd name="adj" fmla="val 5161"/>
            </a:avLst>
          </a:prstGeom>
          <a:solidFill>
            <a:srgbClr val="07293F"/>
          </a:solidFill>
          <a:ln/>
        </p:spPr>
        <p:txBody>
          <a:bodyPr/>
          <a:lstStyle/>
          <a:p>
            <a:endParaRPr lang="en-US"/>
          </a:p>
        </p:txBody>
      </p:sp>
      <p:sp>
        <p:nvSpPr>
          <p:cNvPr id="38" name="Text 36"/>
          <p:cNvSpPr txBox="1"/>
          <p:nvPr/>
        </p:nvSpPr>
        <p:spPr>
          <a:xfrm>
            <a:off x="868680" y="5029200"/>
            <a:ext cx="4389120" cy="274320"/>
          </a:xfrm>
          <a:prstGeom prst="rect">
            <a:avLst/>
          </a:prstGeom>
          <a:noFill/>
          <a:ln/>
        </p:spPr>
        <p:txBody>
          <a:bodyPr wrap="square" lIns="0" tIns="0" rIns="0" bIns="0" rtlCol="0" anchor="ctr"/>
          <a:lstStyle/>
          <a:p>
            <a:pPr marL="0" indent="0" algn="l" rtl="0">
              <a:buNone/>
            </a:pPr>
            <a:r>
              <a:rPr lang="en-US" sz="1200" b="1">
                <a:solidFill>
                  <a:srgbClr val="F2A65A"/>
                </a:solidFill>
                <a:latin typeface="Calibri" pitchFamily="34" charset="0"/>
                <a:ea typeface="Calibri" pitchFamily="34" charset="-122"/>
                <a:cs typeface="Calibri" pitchFamily="34" charset="-120"/>
              </a:rPr>
              <a:t>Among its key tasks:</a:t>
            </a:r>
            <a:endParaRPr lang="en-US" sz="1200"/>
          </a:p>
        </p:txBody>
      </p:sp>
      <p:sp>
        <p:nvSpPr>
          <p:cNvPr id="39" name="Text 37"/>
          <p:cNvSpPr txBox="1"/>
          <p:nvPr/>
        </p:nvSpPr>
        <p:spPr>
          <a:xfrm>
            <a:off x="868680" y="5349240"/>
            <a:ext cx="4389120" cy="822960"/>
          </a:xfrm>
          <a:prstGeom prst="rect">
            <a:avLst/>
          </a:prstGeom>
          <a:noFill/>
          <a:ln/>
        </p:spPr>
        <p:txBody>
          <a:bodyPr wrap="square" lIns="0" tIns="0" rIns="0" bIns="0" rtlCol="0" anchor="t"/>
          <a:lstStyle/>
          <a:p>
            <a:pPr marL="0" indent="0" algn="l">
              <a:buNone/>
            </a:pPr>
            <a:r>
              <a:rPr lang="en-US" sz="1150">
                <a:solidFill>
                  <a:srgbClr val="E7F1F6"/>
                </a:solidFill>
                <a:latin typeface="Courier New" pitchFamily="34" charset="0"/>
                <a:ea typeface="Courier New" pitchFamily="34" charset="-122"/>
                <a:cs typeface="Courier New" pitchFamily="34" charset="-120"/>
              </a:rPr>
              <a:t>Authentication • Rate Limiting • Routing • Load Balancing • Logging</a:t>
            </a:r>
            <a:endParaRPr lang="en-US" sz="1150"/>
          </a:p>
        </p:txBody>
      </p:sp>
      <p:sp>
        <p:nvSpPr>
          <p:cNvPr id="40" name="سهم: لليمين 39">
            <a:extLst>
              <a:ext uri="{FF2B5EF4-FFF2-40B4-BE49-F238E27FC236}">
                <a16:creationId xmlns:a16="http://schemas.microsoft.com/office/drawing/2014/main" id="{44B43A6D-5C4A-758A-B2A8-499F61EE419D}"/>
              </a:ext>
            </a:extLst>
          </p:cNvPr>
          <p:cNvSpPr/>
          <p:nvPr/>
        </p:nvSpPr>
        <p:spPr>
          <a:xfrm>
            <a:off x="2573700" y="2325357"/>
            <a:ext cx="300138" cy="305712"/>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1" name="سهم: لليمين 40">
            <a:extLst>
              <a:ext uri="{FF2B5EF4-FFF2-40B4-BE49-F238E27FC236}">
                <a16:creationId xmlns:a16="http://schemas.microsoft.com/office/drawing/2014/main" id="{C8C06CDE-5EAB-1071-AAE8-2B2C5967EB8B}"/>
              </a:ext>
            </a:extLst>
          </p:cNvPr>
          <p:cNvSpPr/>
          <p:nvPr/>
        </p:nvSpPr>
        <p:spPr>
          <a:xfrm>
            <a:off x="4846686" y="2322576"/>
            <a:ext cx="254524" cy="36576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2" name="سهم: لليمين 41">
            <a:extLst>
              <a:ext uri="{FF2B5EF4-FFF2-40B4-BE49-F238E27FC236}">
                <a16:creationId xmlns:a16="http://schemas.microsoft.com/office/drawing/2014/main" id="{25B4F946-8D05-7A37-1FDC-FB8253B075DE}"/>
              </a:ext>
            </a:extLst>
          </p:cNvPr>
          <p:cNvSpPr/>
          <p:nvPr/>
        </p:nvSpPr>
        <p:spPr>
          <a:xfrm>
            <a:off x="7074210" y="2322576"/>
            <a:ext cx="287670" cy="36576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3" name="سهم: لليمين 42">
            <a:extLst>
              <a:ext uri="{FF2B5EF4-FFF2-40B4-BE49-F238E27FC236}">
                <a16:creationId xmlns:a16="http://schemas.microsoft.com/office/drawing/2014/main" id="{19D24E1C-89C0-89D0-1835-00B370D819F0}"/>
              </a:ext>
            </a:extLst>
          </p:cNvPr>
          <p:cNvSpPr/>
          <p:nvPr/>
        </p:nvSpPr>
        <p:spPr>
          <a:xfrm>
            <a:off x="9328494" y="2322576"/>
            <a:ext cx="273377" cy="36576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EC61F002-B534-51B7-62E5-AC1F367B517E}"/>
              </a:ext>
            </a:extLst>
          </p:cNvPr>
          <p:cNvSpPr txBox="1"/>
          <p:nvPr/>
        </p:nvSpPr>
        <p:spPr>
          <a:xfrm>
            <a:off x="716437" y="1668546"/>
            <a:ext cx="9304256" cy="461665"/>
          </a:xfrm>
          <a:prstGeom prst="rect">
            <a:avLst/>
          </a:prstGeom>
          <a:noFill/>
        </p:spPr>
        <p:txBody>
          <a:bodyPr wrap="square" rtlCol="0">
            <a:spAutoFit/>
          </a:bodyPr>
          <a:lstStyle/>
          <a:p>
            <a:r>
              <a:rPr lang="en-US" sz="2400" b="1" i="1">
                <a:solidFill>
                  <a:schemeClr val="accent1"/>
                </a:solidFill>
              </a:rPr>
              <a:t>References:</a:t>
            </a:r>
          </a:p>
        </p:txBody>
      </p:sp>
      <p:sp>
        <p:nvSpPr>
          <p:cNvPr id="3" name="مربع نص 2">
            <a:extLst>
              <a:ext uri="{FF2B5EF4-FFF2-40B4-BE49-F238E27FC236}">
                <a16:creationId xmlns:a16="http://schemas.microsoft.com/office/drawing/2014/main" id="{F2B717D3-2619-C294-7CD0-03486FD69CF9}"/>
              </a:ext>
            </a:extLst>
          </p:cNvPr>
          <p:cNvSpPr txBox="1"/>
          <p:nvPr/>
        </p:nvSpPr>
        <p:spPr>
          <a:xfrm>
            <a:off x="819676" y="2587411"/>
            <a:ext cx="11008530" cy="2246769"/>
          </a:xfrm>
          <a:prstGeom prst="rect">
            <a:avLst/>
          </a:prstGeom>
          <a:noFill/>
        </p:spPr>
        <p:txBody>
          <a:bodyPr wrap="square" rtlCol="0">
            <a:spAutoFit/>
          </a:bodyPr>
          <a:lstStyle/>
          <a:p>
            <a:r>
              <a:rPr lang="en-US" sz="2000" b="1"/>
              <a:t>1- API Design Patterns (JJ Geewex ) ch.1-3 .</a:t>
            </a:r>
          </a:p>
          <a:p>
            <a:r>
              <a:rPr lang="en-US" sz="2000" b="1"/>
              <a:t>2- Designing Web APIs –Brenda Jin , Saurabh Sahni ,Amir Shevat .</a:t>
            </a:r>
          </a:p>
          <a:p>
            <a:r>
              <a:rPr lang="en-US" sz="2000" b="1"/>
              <a:t>3- Microsoft Learn – Azure API Management Documentation :Official documentation covering</a:t>
            </a:r>
          </a:p>
          <a:p>
            <a:r>
              <a:rPr lang="en-US" sz="2000" b="1"/>
              <a:t>    API publishing , security , API gateways , policies , monitoring , and API lifecycle management . </a:t>
            </a:r>
          </a:p>
          <a:p>
            <a:r>
              <a:rPr lang="en-US" sz="2000" b="1"/>
              <a:t>4- Microsoft Learn – API Design , Azure Architecture Center .</a:t>
            </a:r>
          </a:p>
          <a:p>
            <a:r>
              <a:rPr lang="en-US" sz="2000" b="1"/>
              <a:t>5- Online Resources : Official documentation and educational websites were consulted for</a:t>
            </a:r>
          </a:p>
          <a:p>
            <a:r>
              <a:rPr lang="en-US" sz="2000" b="1"/>
              <a:t>     additional information about REST , GraphQL , gRPC , API Design , and API management .</a:t>
            </a:r>
          </a:p>
        </p:txBody>
      </p:sp>
    </p:spTree>
    <p:extLst>
      <p:ext uri="{BB962C8B-B14F-4D97-AF65-F5344CB8AC3E}">
        <p14:creationId xmlns:p14="http://schemas.microsoft.com/office/powerpoint/2010/main" val="1732884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934929" y="2861187"/>
            <a:ext cx="7049729" cy="1386349"/>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a:solidFill>
                  <a:srgbClr val="002060"/>
                </a:solidFill>
              </a:rPr>
              <a:t> </a:t>
            </a:r>
            <a:r>
              <a:rPr lang="en-US" sz="5400" b="1" i="1">
                <a:solidFill>
                  <a:srgbClr val="002060"/>
                </a:solidFill>
              </a:rPr>
              <a:t>Thank you…..!</a:t>
            </a:r>
            <a:endParaRPr lang="en-US" sz="5400">
              <a:solidFill>
                <a:srgbClr val="002060"/>
              </a:solidFill>
            </a:endParaRPr>
          </a:p>
        </p:txBody>
      </p:sp>
    </p:spTree>
    <p:extLst>
      <p:ext uri="{BB962C8B-B14F-4D97-AF65-F5344CB8AC3E}">
        <p14:creationId xmlns:p14="http://schemas.microsoft.com/office/powerpoint/2010/main" val="4254894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474BC495226A4DA390799C92E36619" ma:contentTypeVersion="3" ma:contentTypeDescription="Create a new document." ma:contentTypeScope="" ma:versionID="4a73b9420067643082b04fd5dc376804">
  <xsd:schema xmlns:xsd="http://www.w3.org/2001/XMLSchema" xmlns:xs="http://www.w3.org/2001/XMLSchema" xmlns:p="http://schemas.microsoft.com/office/2006/metadata/properties" xmlns:ns2="989db138-9486-4683-8f51-7f10e453a2b1" targetNamespace="http://schemas.microsoft.com/office/2006/metadata/properties" ma:root="true" ma:fieldsID="9e51b845acc3af0fc0e9af9baecfd305" ns2:_="">
    <xsd:import namespace="989db138-9486-4683-8f51-7f10e453a2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9db138-9486-4683-8f51-7f10e453a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A924B6-F34A-47E4-8880-2EAEB124B6D4}">
  <ds:schemaRefs>
    <ds:schemaRef ds:uri="http://schemas.microsoft.com/sharepoint/v3/contenttype/forms"/>
  </ds:schemaRefs>
</ds:datastoreItem>
</file>

<file path=customXml/itemProps2.xml><?xml version="1.0" encoding="utf-8"?>
<ds:datastoreItem xmlns:ds="http://schemas.openxmlformats.org/officeDocument/2006/customXml" ds:itemID="{8DD61C84-D492-4DF8-9E56-959177D61E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9db138-9486-4683-8f51-7f10e453a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33583E-F709-4B0C-982A-53CCDF6DA0B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Retrospect</Template>
  <TotalTime>1</TotalTime>
  <Words>3157</Words>
  <Application>Microsoft Office PowerPoint</Application>
  <PresentationFormat>Widescreen</PresentationFormat>
  <Paragraphs>546</Paragraphs>
  <Slides>36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SHAKIL HOSSAIN</cp:lastModifiedBy>
  <cp:revision>2</cp:revision>
  <dcterms:created xsi:type="dcterms:W3CDTF">2026-09-17T19:13:54Z</dcterms:created>
  <dcterms:modified xsi:type="dcterms:W3CDTF">2026-10-29T16:35:42Z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a7bb9f1-9883-4332-bf35-f95eaa385458_Enabled">
    <vt:lpwstr>true</vt:lpwstr>
  </property>
  <property fmtid="{D5CDD505-2E9C-101B-9397-08002B2CF9AE}" pid="3" name="MSIP_Label_fa7bb9f1-9883-4332-bf35-f95eaa385458_SetDate">
    <vt:lpwstr>2026-10-07T06:45:56Z</vt:lpwstr>
  </property>
  <property fmtid="{D5CDD505-2E9C-101B-9397-08002B2CF9AE}" pid="4" name="MSIP_Label_fa7bb9f1-9883-4332-bf35-f95eaa385458_Method">
    <vt:lpwstr>Standard</vt:lpwstr>
  </property>
  <property fmtid="{D5CDD505-2E9C-101B-9397-08002B2CF9AE}" pid="5" name="MSIP_Label_fa7bb9f1-9883-4332-bf35-f95eaa385458_Name">
    <vt:lpwstr>Documents(Restricted - مقيد)</vt:lpwstr>
  </property>
  <property fmtid="{D5CDD505-2E9C-101B-9397-08002B2CF9AE}" pid="6" name="MSIP_Label_fa7bb9f1-9883-4332-bf35-f95eaa385458_SiteId">
    <vt:lpwstr>c2b04da6-8487-41cc-8803-90321048a772</vt:lpwstr>
  </property>
  <property fmtid="{D5CDD505-2E9C-101B-9397-08002B2CF9AE}" pid="7" name="MSIP_Label_fa7bb9f1-9883-4332-bf35-f95eaa385458_ActionId">
    <vt:lpwstr>2a794a1b-7e80-4abd-9867-41af6d9ac769</vt:lpwstr>
  </property>
  <property fmtid="{D5CDD505-2E9C-101B-9397-08002B2CF9AE}" pid="8" name="MSIP_Label_fa7bb9f1-9883-4332-bf35-f95eaa385458_ContentBits">
    <vt:lpwstr>2</vt:lpwstr>
  </property>
  <property fmtid="{D5CDD505-2E9C-101B-9397-08002B2CF9AE}" pid="9" name="MSIP_Label_fa7bb9f1-9883-4332-bf35-f95eaa385458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Restricted - مقيد</vt:lpwstr>
  </property>
  <property fmtid="{D5CDD505-2E9C-101B-9397-08002B2CF9AE}" pid="12" name="ContentTypeId">
    <vt:lpwstr>0x0101007F474BC495226A4DA390799C92E36619</vt:lpwstr>
  </property>
</Properties>
</file>