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411480" cy="4114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320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حاضنة ابتكار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Innovation Incubator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A-Grid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AI-Blockchain Smart Grid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System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BBDD"/>
                </a:solidFill>
              </a:rPr>
              <a:t>Millisecond fault detection · Tamper-proof audit trails · Real-time anomaly intelligence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219456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37033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$96B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0352" y="40416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DD"/>
                </a:solidFill>
              </a:rPr>
              <a:t>Annual NTL losses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ABBDD"/>
                </a:solidFill>
              </a:rPr>
              <a:t>worldwide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17520" y="3657600"/>
            <a:ext cx="219456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0672" y="37033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&lt;2s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090672" y="40416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DD"/>
                </a:solidFill>
              </a:rPr>
              <a:t>Blockchain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ABBDD"/>
                </a:solidFill>
              </a:rPr>
              <a:t>finality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577840" y="3657600"/>
            <a:ext cx="2194560" cy="86868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50992" y="37033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</a:rPr>
              <a:t>&gt;70%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650992" y="40416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DD"/>
                </a:solidFill>
              </a:rPr>
              <a:t>Storage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AABBDD"/>
                </a:solidFill>
              </a:rPr>
              <a:t>reduction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58000" y="274320"/>
            <a:ext cx="457200" cy="640080"/>
          </a:xfrm>
          <a:prstGeom prst="rect">
            <a:avLst/>
          </a:prstGeom>
          <a:solidFill>
            <a:srgbClr val="00A896">
              <a:alpha val="30000"/>
            </a:srgbClr>
          </a:solidFill>
          <a:ln w="381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24928" y="274320"/>
            <a:ext cx="457200" cy="640080"/>
          </a:xfrm>
          <a:prstGeom prst="rect">
            <a:avLst/>
          </a:prstGeom>
          <a:solidFill>
            <a:srgbClr val="00A896">
              <a:alpha val="10000"/>
            </a:srgbClr>
          </a:solidFill>
          <a:ln w="381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91856" y="274320"/>
            <a:ext cx="457200" cy="640080"/>
          </a:xfrm>
          <a:prstGeom prst="rect">
            <a:avLst/>
          </a:prstGeom>
          <a:solidFill>
            <a:srgbClr val="00A896">
              <a:alpha val="10000"/>
            </a:srgbClr>
          </a:solidFill>
          <a:ln w="381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58784" y="274320"/>
            <a:ext cx="457200" cy="640080"/>
          </a:xfrm>
          <a:prstGeom prst="rect">
            <a:avLst/>
          </a:prstGeom>
          <a:solidFill>
            <a:srgbClr val="00A896">
              <a:alpha val="30000"/>
            </a:srgbClr>
          </a:solidFill>
          <a:ln w="381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1051560"/>
            <a:ext cx="457200" cy="640080"/>
          </a:xfrm>
          <a:prstGeom prst="rect">
            <a:avLst/>
          </a:prstGeom>
          <a:solidFill>
            <a:srgbClr val="00A896">
              <a:alpha val="10000"/>
            </a:srgbClr>
          </a:solidFill>
          <a:ln w="381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24928" y="1051560"/>
            <a:ext cx="457200" cy="640080"/>
          </a:xfrm>
          <a:prstGeom prst="rect">
            <a:avLst/>
          </a:prstGeom>
          <a:solidFill>
            <a:srgbClr val="00A896">
              <a:alpha val="30000"/>
            </a:srgbClr>
          </a:solidFill>
          <a:ln w="381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91856" y="1051560"/>
            <a:ext cx="457200" cy="640080"/>
          </a:xfrm>
          <a:prstGeom prst="rect">
            <a:avLst/>
          </a:prstGeom>
          <a:solidFill>
            <a:srgbClr val="00A896">
              <a:alpha val="30000"/>
            </a:srgbClr>
          </a:solidFill>
          <a:ln w="381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58784" y="1051560"/>
            <a:ext cx="457200" cy="640080"/>
          </a:xfrm>
          <a:prstGeom prst="rect">
            <a:avLst/>
          </a:prstGeom>
          <a:solidFill>
            <a:srgbClr val="00A896">
              <a:alpha val="10000"/>
            </a:srgbClr>
          </a:solidFill>
          <a:ln w="381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0" y="1828800"/>
            <a:ext cx="457200" cy="640080"/>
          </a:xfrm>
          <a:prstGeom prst="rect">
            <a:avLst/>
          </a:prstGeom>
          <a:solidFill>
            <a:srgbClr val="00A896">
              <a:alpha val="10000"/>
            </a:srgbClr>
          </a:solidFill>
          <a:ln w="381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24928" y="1828800"/>
            <a:ext cx="457200" cy="640080"/>
          </a:xfrm>
          <a:prstGeom prst="rect">
            <a:avLst/>
          </a:prstGeom>
          <a:solidFill>
            <a:srgbClr val="00A896">
              <a:alpha val="30000"/>
            </a:srgbClr>
          </a:solidFill>
          <a:ln w="381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91856" y="1828800"/>
            <a:ext cx="457200" cy="640080"/>
          </a:xfrm>
          <a:prstGeom prst="rect">
            <a:avLst/>
          </a:prstGeom>
          <a:solidFill>
            <a:srgbClr val="00A896">
              <a:alpha val="30000"/>
            </a:srgbClr>
          </a:solidFill>
          <a:ln w="381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58784" y="1828800"/>
            <a:ext cx="457200" cy="640080"/>
          </a:xfrm>
          <a:prstGeom prst="rect">
            <a:avLst/>
          </a:prstGeom>
          <a:solidFill>
            <a:srgbClr val="00A896">
              <a:alpha val="10000"/>
            </a:srgbClr>
          </a:solidFill>
          <a:ln w="381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0" y="2606040"/>
            <a:ext cx="457200" cy="640080"/>
          </a:xfrm>
          <a:prstGeom prst="rect">
            <a:avLst/>
          </a:prstGeom>
          <a:solidFill>
            <a:srgbClr val="00A896">
              <a:alpha val="10000"/>
            </a:srgbClr>
          </a:solidFill>
          <a:ln w="381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24928" y="2606040"/>
            <a:ext cx="457200" cy="640080"/>
          </a:xfrm>
          <a:prstGeom prst="rect">
            <a:avLst/>
          </a:prstGeom>
          <a:solidFill>
            <a:srgbClr val="00A896">
              <a:alpha val="30000"/>
            </a:srgbClr>
          </a:solidFill>
          <a:ln w="381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91856" y="2606040"/>
            <a:ext cx="457200" cy="640080"/>
          </a:xfrm>
          <a:prstGeom prst="rect">
            <a:avLst/>
          </a:prstGeom>
          <a:solidFill>
            <a:srgbClr val="00A896">
              <a:alpha val="30000"/>
            </a:srgbClr>
          </a:solidFill>
          <a:ln w="381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58784" y="2606040"/>
            <a:ext cx="457200" cy="640080"/>
          </a:xfrm>
          <a:prstGeom prst="rect">
            <a:avLst/>
          </a:prstGeom>
          <a:solidFill>
            <a:srgbClr val="00A896">
              <a:alpha val="10000"/>
            </a:srgbClr>
          </a:solidFill>
          <a:ln w="381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0" y="3383280"/>
            <a:ext cx="457200" cy="640080"/>
          </a:xfrm>
          <a:prstGeom prst="rect">
            <a:avLst/>
          </a:prstGeom>
          <a:solidFill>
            <a:srgbClr val="00A896">
              <a:alpha val="10000"/>
            </a:srgbClr>
          </a:solidFill>
          <a:ln w="381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24928" y="3383280"/>
            <a:ext cx="457200" cy="640080"/>
          </a:xfrm>
          <a:prstGeom prst="rect">
            <a:avLst/>
          </a:prstGeom>
          <a:solidFill>
            <a:srgbClr val="00A896">
              <a:alpha val="30000"/>
            </a:srgbClr>
          </a:solidFill>
          <a:ln w="381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91856" y="3383280"/>
            <a:ext cx="457200" cy="640080"/>
          </a:xfrm>
          <a:prstGeom prst="rect">
            <a:avLst/>
          </a:prstGeom>
          <a:solidFill>
            <a:srgbClr val="00A896">
              <a:alpha val="30000"/>
            </a:srgbClr>
          </a:solidFill>
          <a:ln w="381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58784" y="3383280"/>
            <a:ext cx="457200" cy="640080"/>
          </a:xfrm>
          <a:prstGeom prst="rect">
            <a:avLst/>
          </a:prstGeom>
          <a:solidFill>
            <a:srgbClr val="00A896">
              <a:alpha val="30000"/>
            </a:srgbClr>
          </a:solidFill>
          <a:ln w="381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0" y="4160520"/>
            <a:ext cx="457200" cy="640080"/>
          </a:xfrm>
          <a:prstGeom prst="rect">
            <a:avLst/>
          </a:prstGeom>
          <a:solidFill>
            <a:srgbClr val="00A896">
              <a:alpha val="30000"/>
            </a:srgbClr>
          </a:solidFill>
          <a:ln w="381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24928" y="4160520"/>
            <a:ext cx="457200" cy="640080"/>
          </a:xfrm>
          <a:prstGeom prst="rect">
            <a:avLst/>
          </a:prstGeom>
          <a:solidFill>
            <a:srgbClr val="00A896">
              <a:alpha val="10000"/>
            </a:srgbClr>
          </a:solidFill>
          <a:ln w="381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91856" y="4160520"/>
            <a:ext cx="457200" cy="640080"/>
          </a:xfrm>
          <a:prstGeom prst="rect">
            <a:avLst/>
          </a:prstGeom>
          <a:solidFill>
            <a:srgbClr val="00A896">
              <a:alpha val="10000"/>
            </a:srgbClr>
          </a:solidFill>
          <a:ln w="381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58784" y="4160520"/>
            <a:ext cx="457200" cy="640080"/>
          </a:xfrm>
          <a:prstGeom prst="rect">
            <a:avLst/>
          </a:prstGeom>
          <a:solidFill>
            <a:srgbClr val="00A896">
              <a:alpha val="30000"/>
            </a:srgbClr>
          </a:solidFill>
          <a:ln w="381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91440"/>
            <a:ext cx="320040" cy="3200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91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حاضنة ابتكار  Innovation Incubator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D1B4B"/>
                </a:solidFill>
              </a:rPr>
              <a:t>:المشكلة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8412480" cy="548640"/>
          </a:xfrm>
          <a:prstGeom prst="rect">
            <a:avLst/>
          </a:prstGeom>
          <a:solidFill>
            <a:srgbClr val="0D1B4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1155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Global utilities lose </a:t>
            </a:r>
            <a:pPr algn="ctr" indent="0" marL="0">
              <a:buNone/>
            </a:pPr>
            <a:r>
              <a:rPr lang="en-US" sz="2000" b="1" dirty="0">
                <a:solidFill>
                  <a:srgbClr val="FFD166"/>
                </a:solidFill>
              </a:rPr>
              <a:t>$96B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annually to Non-Technical Loss (NTL) and undetected faults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40233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74520"/>
            <a:ext cx="64008" cy="1234440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476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24128" y="19476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</a:rPr>
              <a:t>Data Integrity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3500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5252"/>
                </a:solidFill>
              </a:rPr>
              <a:t>90%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" y="2715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meter data can be manipulated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874520"/>
            <a:ext cx="40233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874520"/>
            <a:ext cx="64008" cy="12344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9476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21808" y="19476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</a:rPr>
              <a:t>Response Latency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23500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A500"/>
                </a:solidFill>
              </a:rPr>
              <a:t>Minutes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00600" y="2715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vs millisecond damage window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246120"/>
            <a:ext cx="40233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246120"/>
            <a:ext cx="64008" cy="12344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3192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24128" y="33192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</a:rPr>
              <a:t>Trusted Records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3721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</a:rPr>
              <a:t>Zero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02920" y="4087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tamper-proof audit systems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246120"/>
            <a:ext cx="40233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246120"/>
            <a:ext cx="64008" cy="12344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33192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321808" y="33192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</a:rPr>
              <a:t>Scalability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00600" y="37216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A1B9A"/>
                </a:solidFill>
              </a:rPr>
              <a:t>Fails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800600" y="4087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at real-time processing scale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91440"/>
            <a:ext cx="320040" cy="3200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91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حاضنة ابتكار  Innovation Incubator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D1B4B"/>
                </a:solidFill>
              </a:rPr>
              <a:t>:الحل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</a:rPr>
              <a:t>A hybrid AI-Blockchain smart grid monitoring system built on three tightly coupled layers: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841248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63040"/>
            <a:ext cx="73152" cy="1024128"/>
          </a:xfrm>
          <a:prstGeom prst="rect">
            <a:avLst/>
          </a:prstGeom>
          <a:solidFill>
            <a:srgbClr val="E0525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3619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15361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Edge Intelligence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15544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</a:rPr>
              <a:t>— Core Innovation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98080" y="1517904"/>
            <a:ext cx="1005840" cy="256032"/>
          </a:xfrm>
          <a:prstGeom prst="rect">
            <a:avLst/>
          </a:prstGeom>
          <a:solidFill>
            <a:srgbClr val="E05252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15179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5252"/>
                </a:solidFill>
              </a:rPr>
              <a:t>Layer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97280" y="1865376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Isolation Forest + LSTM models detect voltage anomalies, energy theft patterns, and equipment faults in milliseconds — directly at the edge device, before data leaves the source.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624328"/>
            <a:ext cx="841248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624328"/>
            <a:ext cx="73152" cy="10241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69748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2697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Data Trust Layer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27157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</a:rPr>
              <a:t>— TEE-Ready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98080" y="2679192"/>
            <a:ext cx="1005840" cy="256032"/>
          </a:xfrm>
          <a:prstGeom prst="rect">
            <a:avLst/>
          </a:prstGeom>
          <a:solidFill>
            <a:srgbClr val="00A896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0" y="26791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Layer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" y="3026664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Software-based validation verifies sensor data integrity before blockchain submission. TEE-ready design allows optional hardware-level trust anchoring without day-one hardware requirements.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785616"/>
            <a:ext cx="841248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785616"/>
            <a:ext cx="73152" cy="1024128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85876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⛓️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97280" y="38587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Blockchain Trust Layer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387705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</a:rPr>
              <a:t>— Purechain PoA²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98080" y="3840480"/>
            <a:ext cx="1005840" cy="256032"/>
          </a:xfrm>
          <a:prstGeom prst="rect">
            <a:avLst/>
          </a:prstGeom>
          <a:solidFill>
            <a:srgbClr val="6A1B9A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0" y="38404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A1B9A"/>
                </a:solidFill>
              </a:rPr>
              <a:t>Layer 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" y="4187952"/>
            <a:ext cx="7406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Purechain's PoA² consensus creates an immutable record of verified data and fault events — enabling full forensic audit trails and tamper-proof accountability with &lt;2-3s finality.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91440"/>
            <a:ext cx="320040" cy="3200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91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حاضنة ابتكار  Innovation Incubator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D1B4B"/>
                </a:solidFill>
              </a:rPr>
              <a:t>:القيمة التنافسية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1417320" cy="777240"/>
          </a:xfrm>
          <a:prstGeom prst="rect">
            <a:avLst/>
          </a:prstGeom>
          <a:solidFill>
            <a:srgbClr val="0D1B4B"/>
          </a:solidFill>
          <a:ln w="10160">
            <a:solidFill>
              <a:srgbClr val="0D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17043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51790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IoT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92808" y="1490472"/>
            <a:ext cx="201168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Shape 9"/>
          <p:cNvSpPr/>
          <p:nvPr/>
        </p:nvSpPr>
        <p:spPr>
          <a:xfrm>
            <a:off x="2121408" y="1143000"/>
            <a:ext cx="14173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21408" y="117043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21408" y="151790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4B"/>
                </a:solidFill>
              </a:rPr>
              <a:t>Edge AI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57016" y="1490472"/>
            <a:ext cx="201168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Shape 13"/>
          <p:cNvSpPr/>
          <p:nvPr/>
        </p:nvSpPr>
        <p:spPr>
          <a:xfrm>
            <a:off x="3785616" y="1143000"/>
            <a:ext cx="14173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85616" y="117043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785616" y="151790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4B"/>
                </a:solidFill>
              </a:rPr>
              <a:t>Storage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21224" y="1490472"/>
            <a:ext cx="201168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Shape 17"/>
          <p:cNvSpPr/>
          <p:nvPr/>
        </p:nvSpPr>
        <p:spPr>
          <a:xfrm>
            <a:off x="5449824" y="1143000"/>
            <a:ext cx="14173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49824" y="117043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⛓️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49824" y="151790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4B"/>
                </a:solidFill>
              </a:rPr>
              <a:t>Blockchain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85432" y="1490472"/>
            <a:ext cx="201168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Shape 21"/>
          <p:cNvSpPr/>
          <p:nvPr/>
        </p:nvSpPr>
        <p:spPr>
          <a:xfrm>
            <a:off x="7114032" y="1143000"/>
            <a:ext cx="14173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14032" y="117043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14032" y="151790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4B"/>
                </a:solidFill>
              </a:rPr>
              <a:t>Dashboard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084832"/>
            <a:ext cx="841248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215798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IoT / Data Layer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2487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</a:rPr>
              <a:t>Smart meters (or simulated devices) measuring energy production, consumption, voltage, and current in real time. Feeds data into the Edge AI middleware for processing and anomaly detection.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383280"/>
            <a:ext cx="2606040" cy="320040"/>
          </a:xfrm>
          <a:prstGeom prst="rect">
            <a:avLst/>
          </a:prstGeom>
          <a:solidFill>
            <a:srgbClr val="00A896">
              <a:alpha val="12000"/>
            </a:srgbClr>
          </a:solidFill>
          <a:ln w="762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3832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896"/>
                </a:solidFill>
              </a:rPr>
              <a:t>Millisecond fault detection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72968" y="3383280"/>
            <a:ext cx="2606040" cy="320040"/>
          </a:xfrm>
          <a:prstGeom prst="rect">
            <a:avLst/>
          </a:prstGeom>
          <a:solidFill>
            <a:srgbClr val="00A896">
              <a:alpha val="12000"/>
            </a:srgbClr>
          </a:solidFill>
          <a:ln w="762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72968" y="33832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896"/>
                </a:solidFill>
              </a:rPr>
              <a:t>&lt;2-3s blockchain finality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80176" y="3383280"/>
            <a:ext cx="2606040" cy="320040"/>
          </a:xfrm>
          <a:prstGeom prst="rect">
            <a:avLst/>
          </a:prstGeom>
          <a:solidFill>
            <a:srgbClr val="00A896">
              <a:alpha val="12000"/>
            </a:srgbClr>
          </a:solidFill>
          <a:ln w="7620">
            <a:solidFill>
              <a:srgbClr val="00A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0176" y="33832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896"/>
                </a:solidFill>
              </a:rPr>
              <a:t>&gt;70% storage reduction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91440"/>
            <a:ext cx="320040" cy="3200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91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حاضنة ابتكار  Innovation Incubator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D1B4B"/>
                </a:solidFill>
              </a:rPr>
              <a:t>:حجم السوق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$103.4B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17556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</a:rPr>
              <a:t>Global Smart Grid Market by 2030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03320" y="1188720"/>
            <a:ext cx="1188720" cy="292608"/>
          </a:xfrm>
          <a:prstGeom prst="rect">
            <a:avLst/>
          </a:prstGeom>
          <a:solidFill>
            <a:srgbClr val="00A896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11887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</a:rPr>
              <a:t>↑ 17.2% CAGR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1234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</a:rPr>
              <a:t>from $33.9B in 2023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240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Grid Monitoring &amp; Faults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97480" y="2295144"/>
            <a:ext cx="4754880" cy="164592"/>
          </a:xfrm>
          <a:prstGeom prst="rect">
            <a:avLst/>
          </a:prstGeom>
          <a:solidFill>
            <a:srgbClr val="E0E4EF"/>
          </a:solidFill>
          <a:ln/>
        </p:spPr>
      </p:sp>
      <p:sp>
        <p:nvSpPr>
          <p:cNvPr id="14" name="Shape 12"/>
          <p:cNvSpPr/>
          <p:nvPr/>
        </p:nvSpPr>
        <p:spPr>
          <a:xfrm>
            <a:off x="2697480" y="2295144"/>
            <a:ext cx="4659782" cy="164592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5" name="Text 13"/>
          <p:cNvSpPr/>
          <p:nvPr/>
        </p:nvSpPr>
        <p:spPr>
          <a:xfrm>
            <a:off x="7543800" y="2240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$12.1B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6243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AI in Energy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97480" y="2679192"/>
            <a:ext cx="4754880" cy="164592"/>
          </a:xfrm>
          <a:prstGeom prst="rect">
            <a:avLst/>
          </a:prstGeom>
          <a:solidFill>
            <a:srgbClr val="E0E4EF"/>
          </a:solidFill>
          <a:ln/>
        </p:spPr>
      </p:sp>
      <p:sp>
        <p:nvSpPr>
          <p:cNvPr id="18" name="Shape 16"/>
          <p:cNvSpPr/>
          <p:nvPr/>
        </p:nvSpPr>
        <p:spPr>
          <a:xfrm>
            <a:off x="2697480" y="2679192"/>
            <a:ext cx="3043123" cy="1645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26243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$7.9B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0083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Blockchain in Energy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97480" y="3063240"/>
            <a:ext cx="4754880" cy="164592"/>
          </a:xfrm>
          <a:prstGeom prst="rect">
            <a:avLst/>
          </a:prstGeom>
          <a:solidFill>
            <a:srgbClr val="E0E4EF"/>
          </a:solidFill>
          <a:ln/>
        </p:spPr>
      </p:sp>
      <p:sp>
        <p:nvSpPr>
          <p:cNvPr id="22" name="Shape 20"/>
          <p:cNvSpPr/>
          <p:nvPr/>
        </p:nvSpPr>
        <p:spPr>
          <a:xfrm>
            <a:off x="2697480" y="3063240"/>
            <a:ext cx="2377440" cy="16459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3" name="Text 21"/>
          <p:cNvSpPr/>
          <p:nvPr/>
        </p:nvSpPr>
        <p:spPr>
          <a:xfrm>
            <a:off x="7543800" y="30083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$6.2B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3924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Energy Theft Detection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97480" y="3447288"/>
            <a:ext cx="4754880" cy="164592"/>
          </a:xfrm>
          <a:prstGeom prst="rect">
            <a:avLst/>
          </a:prstGeom>
          <a:solidFill>
            <a:srgbClr val="E0E4EF"/>
          </a:solidFill>
          <a:ln/>
        </p:spPr>
      </p:sp>
      <p:sp>
        <p:nvSpPr>
          <p:cNvPr id="26" name="Shape 24"/>
          <p:cNvSpPr/>
          <p:nvPr/>
        </p:nvSpPr>
        <p:spPr>
          <a:xfrm>
            <a:off x="2697480" y="3447288"/>
            <a:ext cx="1901952" cy="16459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7" name="Text 25"/>
          <p:cNvSpPr/>
          <p:nvPr/>
        </p:nvSpPr>
        <p:spPr>
          <a:xfrm>
            <a:off x="7543800" y="339242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$4.8B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840480"/>
            <a:ext cx="4114800" cy="822960"/>
          </a:xfrm>
          <a:prstGeom prst="rect">
            <a:avLst/>
          </a:prstGeom>
          <a:solidFill>
            <a:srgbClr val="0D1B4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39136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</a:rPr>
              <a:t>🏙 GCC &amp; MENA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13308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DD"/>
                </a:solidFill>
              </a:rPr>
              <a:t>Saudi Vision 2030 investments exceed $20B — A-Grid aligns directly with NEOM and SEC grid modernization.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384048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00600" y="39136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🌍 Global Drivers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413308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Energy digitalization mandates, renewable integration, and grid modernization programs worldwide.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91440"/>
            <a:ext cx="320040" cy="3200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91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حاضنة ابتكار  Innovation Incubator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D1B4B"/>
                </a:solidFill>
              </a:rPr>
              <a:t>:المنافسين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0789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A"/>
                </a:solidFill>
              </a:rPr>
              <a:t>A-Grid sits at the intersection of three markets — no single competitor covers all three layers simultaneously.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2743200" cy="29260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63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Competitor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08960" y="1463040"/>
            <a:ext cx="1280160" cy="29260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1463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Edge AI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1463040"/>
            <a:ext cx="1645920" cy="29260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1463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Blockchain Trust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1645920" cy="29260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463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Real-Time Faults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680960" y="1463040"/>
            <a:ext cx="1463040" cy="29260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0" y="14630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Validation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1773936"/>
            <a:ext cx="2743200" cy="438912"/>
          </a:xfrm>
          <a:prstGeom prst="rect">
            <a:avLst/>
          </a:prstGeom>
          <a:solidFill>
            <a:srgbClr val="F5F7FB"/>
          </a:solidFill>
          <a:ln w="3810">
            <a:solidFill>
              <a:srgbClr val="E0E4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773936"/>
            <a:ext cx="2743200" cy="43891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4B"/>
                </a:solidFill>
              </a:rPr>
              <a:t>ABB / Siemens / Schneider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08960" y="1773936"/>
            <a:ext cx="1280160" cy="438912"/>
          </a:xfrm>
          <a:prstGeom prst="rect">
            <a:avLst/>
          </a:prstGeom>
          <a:solidFill>
            <a:srgbClr val="F5F7FB"/>
          </a:solidFill>
          <a:ln w="3810">
            <a:solidFill>
              <a:srgbClr val="E0E4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0" y="1773936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1773936"/>
            <a:ext cx="1645920" cy="438912"/>
          </a:xfrm>
          <a:prstGeom prst="rect">
            <a:avLst/>
          </a:prstGeom>
          <a:solidFill>
            <a:srgbClr val="F5F7FB"/>
          </a:solidFill>
          <a:ln w="3810">
            <a:solidFill>
              <a:srgbClr val="E0E4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177393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1773936"/>
            <a:ext cx="1645920" cy="438912"/>
          </a:xfrm>
          <a:prstGeom prst="rect">
            <a:avLst/>
          </a:prstGeom>
          <a:solidFill>
            <a:srgbClr val="F5F7FB"/>
          </a:solidFill>
          <a:ln w="3810">
            <a:solidFill>
              <a:srgbClr val="E0E4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177393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A500"/>
                </a:solidFill>
              </a:rPr>
              <a:t>∼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80960" y="1773936"/>
            <a:ext cx="1463040" cy="438912"/>
          </a:xfrm>
          <a:prstGeom prst="rect">
            <a:avLst/>
          </a:prstGeom>
          <a:solidFill>
            <a:srgbClr val="F5F7FB"/>
          </a:solidFill>
          <a:ln w="3810">
            <a:solidFill>
              <a:srgbClr val="E0E4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177393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✕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249424"/>
            <a:ext cx="27432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249424"/>
            <a:ext cx="2743200" cy="43891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4B"/>
                </a:solidFill>
              </a:rPr>
              <a:t>Power Ledger / Grid+ / WePower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08960" y="2249424"/>
            <a:ext cx="128016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224942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✕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89120" y="2249424"/>
            <a:ext cx="16459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0" y="224942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</a:rPr>
              <a:t>✓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035040" y="2249424"/>
            <a:ext cx="16459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224942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✕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80960" y="2249424"/>
            <a:ext cx="14630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E0E4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224942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✕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2724912"/>
            <a:ext cx="2743200" cy="438912"/>
          </a:xfrm>
          <a:prstGeom prst="rect">
            <a:avLst/>
          </a:prstGeom>
          <a:solidFill>
            <a:srgbClr val="F5F7FB"/>
          </a:solidFill>
          <a:ln w="3810">
            <a:solidFill>
              <a:srgbClr val="E0E4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2724912"/>
            <a:ext cx="2743200" cy="43891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1B4B"/>
                </a:solidFill>
              </a:rPr>
              <a:t>Utilidata / AutoGrid / Awesense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108960" y="2724912"/>
            <a:ext cx="1280160" cy="438912"/>
          </a:xfrm>
          <a:prstGeom prst="rect">
            <a:avLst/>
          </a:prstGeom>
          <a:solidFill>
            <a:srgbClr val="F5F7FB"/>
          </a:solidFill>
          <a:ln w="3810">
            <a:solidFill>
              <a:srgbClr val="E0E4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08960" y="272491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</a:rPr>
              <a:t>✓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389120" y="2724912"/>
            <a:ext cx="1645920" cy="438912"/>
          </a:xfrm>
          <a:prstGeom prst="rect">
            <a:avLst/>
          </a:prstGeom>
          <a:solidFill>
            <a:srgbClr val="F5F7FB"/>
          </a:solidFill>
          <a:ln w="3810">
            <a:solidFill>
              <a:srgbClr val="E0E4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0" y="272491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BBBB"/>
                </a:solidFill>
              </a:rPr>
              <a:t>✕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035040" y="2724912"/>
            <a:ext cx="1645920" cy="438912"/>
          </a:xfrm>
          <a:prstGeom prst="rect">
            <a:avLst/>
          </a:prstGeom>
          <a:solidFill>
            <a:srgbClr val="F5F7FB"/>
          </a:solidFill>
          <a:ln w="3810">
            <a:solidFill>
              <a:srgbClr val="E0E4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35040" y="272491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</a:rPr>
              <a:t>✓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680960" y="2724912"/>
            <a:ext cx="1463040" cy="438912"/>
          </a:xfrm>
          <a:prstGeom prst="rect">
            <a:avLst/>
          </a:prstGeom>
          <a:solidFill>
            <a:srgbClr val="F5F7FB"/>
          </a:solidFill>
          <a:ln w="3810">
            <a:solidFill>
              <a:srgbClr val="E0E4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80960" y="272491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A500"/>
                </a:solidFill>
              </a:rPr>
              <a:t>∼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65760" y="3200400"/>
            <a:ext cx="2743200" cy="438912"/>
          </a:xfrm>
          <a:prstGeom prst="rect">
            <a:avLst/>
          </a:prstGeom>
          <a:solidFill>
            <a:srgbClr val="E8F9F6"/>
          </a:solidFill>
          <a:ln w="3810">
            <a:solidFill>
              <a:srgbClr val="E0E4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32004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✦ A-Grid (Our Solution)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108960" y="3200400"/>
            <a:ext cx="1280160" cy="438912"/>
          </a:xfrm>
          <a:prstGeom prst="rect">
            <a:avLst/>
          </a:prstGeom>
          <a:solidFill>
            <a:srgbClr val="E8F9F6"/>
          </a:solidFill>
          <a:ln w="3810">
            <a:solidFill>
              <a:srgbClr val="E0E4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08960" y="320040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4389120" y="3200400"/>
            <a:ext cx="1645920" cy="438912"/>
          </a:xfrm>
          <a:prstGeom prst="rect">
            <a:avLst/>
          </a:prstGeom>
          <a:solidFill>
            <a:srgbClr val="E8F9F6"/>
          </a:solidFill>
          <a:ln w="3810">
            <a:solidFill>
              <a:srgbClr val="E0E4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89120" y="32004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6035040" y="3200400"/>
            <a:ext cx="1645920" cy="438912"/>
          </a:xfrm>
          <a:prstGeom prst="rect">
            <a:avLst/>
          </a:prstGeom>
          <a:solidFill>
            <a:srgbClr val="E8F9F6"/>
          </a:solidFill>
          <a:ln w="3810">
            <a:solidFill>
              <a:srgbClr val="E0E4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35040" y="32004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7680960" y="3200400"/>
            <a:ext cx="1463040" cy="438912"/>
          </a:xfrm>
          <a:prstGeom prst="rect">
            <a:avLst/>
          </a:prstGeom>
          <a:solidFill>
            <a:srgbClr val="E8F9F6"/>
          </a:solidFill>
          <a:ln w="3810">
            <a:solidFill>
              <a:srgbClr val="E0E4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80960" y="32004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✓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365760" y="4617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✓ Yes   ✕ No   ∼ Partial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91440"/>
            <a:ext cx="320040" cy="3200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91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حاضنة ابتكار  Innovation Incubator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D1B4B"/>
                </a:solidFill>
              </a:rPr>
              <a:t>:الخطة المستقبلية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2606040" cy="3154680"/>
          </a:xfrm>
          <a:prstGeom prst="rect">
            <a:avLst/>
          </a:prstGeom>
          <a:solidFill>
            <a:srgbClr val="0D1B4B"/>
          </a:solidFill>
          <a:ln w="6350">
            <a:solidFill>
              <a:srgbClr val="E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298448"/>
            <a:ext cx="822960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29844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Year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16642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Prototype to Pilot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08483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BDD"/>
                </a:solidFill>
              </a:rPr>
              <a:t>Edge AI + blockchain integration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58775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BDD"/>
                </a:solidFill>
              </a:rPr>
              <a:t>Pilot with KSA/GCC utility partner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0906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ABBDD"/>
                </a:solidFill>
              </a:rPr>
              <a:t>Publish benchmarks: latency, TPS, NTL accuracy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72968" y="1143000"/>
            <a:ext cx="2606040" cy="3154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10128" y="1298448"/>
            <a:ext cx="822960" cy="237744"/>
          </a:xfrm>
          <a:prstGeom prst="rect">
            <a:avLst/>
          </a:prstGeom>
          <a:solidFill>
            <a:srgbClr val="00A896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310128" y="129844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Year 2–3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82696" y="16642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Commercialization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10128" y="208483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A6A8A"/>
                </a:solidFill>
              </a:rPr>
              <a:t>Launch Forensic-as-a-Service (FaaS)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258775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A6A8A"/>
                </a:solidFill>
              </a:rPr>
              <a:t>Energy Trust Score for prosumers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0128" y="30906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A6A8A"/>
                </a:solidFill>
              </a:rPr>
              <a:t>3+ MENA utility deployments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80176" y="1143000"/>
            <a:ext cx="260604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17336" y="1298448"/>
            <a:ext cx="822960" cy="237744"/>
          </a:xfrm>
          <a:prstGeom prst="rect">
            <a:avLst/>
          </a:prstGeom>
          <a:solidFill>
            <a:srgbClr val="F0A500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117336" y="1298448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A500"/>
                </a:solidFill>
              </a:rPr>
              <a:t>Year 4+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89904" y="16642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Scale &amp; Research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17336" y="208483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A6A8A"/>
                </a:solidFill>
              </a:rPr>
              <a:t>Federated learning across grid nodes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17336" y="258775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A6A8A"/>
                </a:solidFill>
              </a:rPr>
              <a:t>Hardware TEE integration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17336" y="30906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A6A8A"/>
                </a:solidFill>
              </a:rPr>
              <a:t>IEEE &amp; IEC standardization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36576"/>
          </a:xfrm>
          <a:prstGeom prst="rect">
            <a:avLst/>
          </a:prstGeom>
          <a:solidFill>
            <a:srgbClr val="E0E4EF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572000"/>
            <a:ext cx="2743200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0" name="Shape 28"/>
          <p:cNvSpPr/>
          <p:nvPr/>
        </p:nvSpPr>
        <p:spPr>
          <a:xfrm>
            <a:off x="393192" y="4544568"/>
            <a:ext cx="128016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Shape 29"/>
          <p:cNvSpPr/>
          <p:nvPr/>
        </p:nvSpPr>
        <p:spPr>
          <a:xfrm>
            <a:off x="3136392" y="4544568"/>
            <a:ext cx="128016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2" name="Shape 30"/>
          <p:cNvSpPr/>
          <p:nvPr/>
        </p:nvSpPr>
        <p:spPr>
          <a:xfrm>
            <a:off x="5879592" y="4544568"/>
            <a:ext cx="128016" cy="91440"/>
          </a:xfrm>
          <a:prstGeom prst="ellipse">
            <a:avLst/>
          </a:prstGeom>
          <a:solidFill>
            <a:srgbClr val="E0E4EF"/>
          </a:solidFill>
          <a:ln/>
        </p:spPr>
      </p:sp>
      <p:sp>
        <p:nvSpPr>
          <p:cNvPr id="33" name="Shape 31"/>
          <p:cNvSpPr/>
          <p:nvPr/>
        </p:nvSpPr>
        <p:spPr>
          <a:xfrm>
            <a:off x="8622792" y="4544568"/>
            <a:ext cx="128016" cy="91440"/>
          </a:xfrm>
          <a:prstGeom prst="ellipse">
            <a:avLst/>
          </a:prstGeom>
          <a:solidFill>
            <a:srgbClr val="E0E4EF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91440"/>
            <a:ext cx="320040" cy="32004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21792" y="91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حاضنة ابتكار  Innovation Incubator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0D1B4B"/>
                </a:solidFill>
              </a:rPr>
              <a:t>:الفريق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0233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325880"/>
            <a:ext cx="640080" cy="640080"/>
          </a:xfrm>
          <a:prstGeom prst="ellipse">
            <a:avLst/>
          </a:prstGeom>
          <a:solidFill>
            <a:srgbClr val="E0F5F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</a:rPr>
              <a:t>AA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3533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</a:rPr>
              <a:t>Ali Ahmad Bukar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164592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0A896"/>
                </a:solidFill>
              </a:rPr>
              <a:t>BACKEND &amp; SYSTEMS ENGINEER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199339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Core architecture, backend infrastructure, and AI-blockchain integration.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40233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325880"/>
            <a:ext cx="640080" cy="640080"/>
          </a:xfrm>
          <a:prstGeom prst="ellipse">
            <a:avLst/>
          </a:prstGeom>
          <a:solidFill>
            <a:srgbClr val="EDE7F6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325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1B9A"/>
                </a:solidFill>
              </a:rPr>
              <a:t>AH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77840" y="13533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</a:rPr>
              <a:t>Alhassan Hashim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77840" y="164592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6A1B9A"/>
                </a:solidFill>
              </a:rPr>
              <a:t>BLOCKCHAIN ARCHITECT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00600" y="199339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Designs PoA² consensus on Purechain — immutable fault recording and audit trails.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40233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154680"/>
            <a:ext cx="640080" cy="640080"/>
          </a:xfrm>
          <a:prstGeom prst="ellipse">
            <a:avLst/>
          </a:prstGeom>
          <a:solidFill>
            <a:srgbClr val="FFE4E4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5252"/>
                </a:solidFill>
              </a:rPr>
              <a:t>UF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1821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</a:rPr>
              <a:t>Umar Faruk Ibrahim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80160" y="347472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E05252"/>
                </a:solidFill>
              </a:rPr>
              <a:t>AI &amp; ML ENGINEER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2920" y="382219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Trains Isolation Forest + LSTM models for millisecond anomaly detection at the edge.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017520"/>
            <a:ext cx="40233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154680"/>
            <a:ext cx="640080" cy="640080"/>
          </a:xfrm>
          <a:prstGeom prst="ellipse">
            <a:avLst/>
          </a:prstGeom>
          <a:solidFill>
            <a:srgbClr val="FFF3E0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</a:rPr>
              <a:t>MS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77840" y="31821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</a:rPr>
              <a:t>Md Shakil Hossain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77840" y="347472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F0A500"/>
                </a:solidFill>
              </a:rPr>
              <a:t>DATA &amp; VALIDATION ENGINEER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00600" y="382219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</a:rPr>
              <a:t>Data trust pipeline, TEE-ready design, and IPFS-blockchain hybrid storage (&gt;70% reduction).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320040"/>
            <a:ext cx="411480" cy="41148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320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حاضنة ابتكار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Innovation Incubator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896"/>
                </a:solidFill>
              </a:rPr>
              <a:t>شكراً جزيلاً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BBDD"/>
                </a:solidFill>
              </a:rPr>
              <a:t>A-Grid — AI-Blockchain Smart Grid Monitoring 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0" y="274320"/>
            <a:ext cx="475488" cy="658368"/>
          </a:xfrm>
          <a:prstGeom prst="rect">
            <a:avLst/>
          </a:prstGeom>
          <a:solidFill>
            <a:srgbClr val="00A896">
              <a:alpha val="8000"/>
            </a:srgbClr>
          </a:solidFill>
          <a:ln w="381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78040" y="274320"/>
            <a:ext cx="475488" cy="658368"/>
          </a:xfrm>
          <a:prstGeom prst="rect">
            <a:avLst/>
          </a:prstGeom>
          <a:solidFill>
            <a:srgbClr val="00A896">
              <a:alpha val="8000"/>
            </a:srgbClr>
          </a:solidFill>
          <a:ln w="381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0" y="274320"/>
            <a:ext cx="475488" cy="658368"/>
          </a:xfrm>
          <a:prstGeom prst="rect">
            <a:avLst/>
          </a:prstGeom>
          <a:solidFill>
            <a:srgbClr val="00A896">
              <a:alpha val="8000"/>
            </a:srgbClr>
          </a:solidFill>
          <a:ln w="381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66760" y="274320"/>
            <a:ext cx="475488" cy="658368"/>
          </a:xfrm>
          <a:prstGeom prst="rect">
            <a:avLst/>
          </a:prstGeom>
          <a:solidFill>
            <a:srgbClr val="00A896">
              <a:alpha val="8000"/>
            </a:srgbClr>
          </a:solidFill>
          <a:ln w="381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1051560"/>
            <a:ext cx="475488" cy="658368"/>
          </a:xfrm>
          <a:prstGeom prst="rect">
            <a:avLst/>
          </a:prstGeom>
          <a:solidFill>
            <a:srgbClr val="00A896">
              <a:alpha val="8000"/>
            </a:srgbClr>
          </a:solidFill>
          <a:ln w="381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78040" y="1051560"/>
            <a:ext cx="475488" cy="658368"/>
          </a:xfrm>
          <a:prstGeom prst="rect">
            <a:avLst/>
          </a:prstGeom>
          <a:solidFill>
            <a:srgbClr val="00A896">
              <a:alpha val="8000"/>
            </a:srgbClr>
          </a:solidFill>
          <a:ln w="381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1051560"/>
            <a:ext cx="475488" cy="658368"/>
          </a:xfrm>
          <a:prstGeom prst="rect">
            <a:avLst/>
          </a:prstGeom>
          <a:solidFill>
            <a:srgbClr val="00A896">
              <a:alpha val="8000"/>
            </a:srgbClr>
          </a:solidFill>
          <a:ln w="381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051560"/>
            <a:ext cx="475488" cy="658368"/>
          </a:xfrm>
          <a:prstGeom prst="rect">
            <a:avLst/>
          </a:prstGeom>
          <a:solidFill>
            <a:srgbClr val="00A896">
              <a:alpha val="8000"/>
            </a:srgbClr>
          </a:solidFill>
          <a:ln w="381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1828800"/>
            <a:ext cx="475488" cy="658368"/>
          </a:xfrm>
          <a:prstGeom prst="rect">
            <a:avLst/>
          </a:prstGeom>
          <a:solidFill>
            <a:srgbClr val="00A896">
              <a:alpha val="8000"/>
            </a:srgbClr>
          </a:solidFill>
          <a:ln w="381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78040" y="1828800"/>
            <a:ext cx="475488" cy="658368"/>
          </a:xfrm>
          <a:prstGeom prst="rect">
            <a:avLst/>
          </a:prstGeom>
          <a:solidFill>
            <a:srgbClr val="00A896">
              <a:alpha val="8000"/>
            </a:srgbClr>
          </a:solidFill>
          <a:ln w="381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1828800"/>
            <a:ext cx="475488" cy="658368"/>
          </a:xfrm>
          <a:prstGeom prst="rect">
            <a:avLst/>
          </a:prstGeom>
          <a:solidFill>
            <a:srgbClr val="00A896">
              <a:alpha val="8000"/>
            </a:srgbClr>
          </a:solidFill>
          <a:ln w="381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66760" y="1828800"/>
            <a:ext cx="475488" cy="658368"/>
          </a:xfrm>
          <a:prstGeom prst="rect">
            <a:avLst/>
          </a:prstGeom>
          <a:solidFill>
            <a:srgbClr val="00A896">
              <a:alpha val="8000"/>
            </a:srgbClr>
          </a:solidFill>
          <a:ln w="381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2606040"/>
            <a:ext cx="475488" cy="658368"/>
          </a:xfrm>
          <a:prstGeom prst="rect">
            <a:avLst/>
          </a:prstGeom>
          <a:solidFill>
            <a:srgbClr val="00A896">
              <a:alpha val="8000"/>
            </a:srgbClr>
          </a:solidFill>
          <a:ln w="381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78040" y="2606040"/>
            <a:ext cx="475488" cy="658368"/>
          </a:xfrm>
          <a:prstGeom prst="rect">
            <a:avLst/>
          </a:prstGeom>
          <a:solidFill>
            <a:srgbClr val="00A896">
              <a:alpha val="8000"/>
            </a:srgbClr>
          </a:solidFill>
          <a:ln w="381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2606040"/>
            <a:ext cx="475488" cy="658368"/>
          </a:xfrm>
          <a:prstGeom prst="rect">
            <a:avLst/>
          </a:prstGeom>
          <a:solidFill>
            <a:srgbClr val="00A896">
              <a:alpha val="8000"/>
            </a:srgbClr>
          </a:solidFill>
          <a:ln w="381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66760" y="2606040"/>
            <a:ext cx="475488" cy="658368"/>
          </a:xfrm>
          <a:prstGeom prst="rect">
            <a:avLst/>
          </a:prstGeom>
          <a:solidFill>
            <a:srgbClr val="00A896">
              <a:alpha val="8000"/>
            </a:srgbClr>
          </a:solidFill>
          <a:ln w="381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3383280"/>
            <a:ext cx="475488" cy="658368"/>
          </a:xfrm>
          <a:prstGeom prst="rect">
            <a:avLst/>
          </a:prstGeom>
          <a:solidFill>
            <a:srgbClr val="00A896">
              <a:alpha val="8000"/>
            </a:srgbClr>
          </a:solidFill>
          <a:ln w="381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78040" y="3383280"/>
            <a:ext cx="475488" cy="658368"/>
          </a:xfrm>
          <a:prstGeom prst="rect">
            <a:avLst/>
          </a:prstGeom>
          <a:solidFill>
            <a:srgbClr val="00A896">
              <a:alpha val="8000"/>
            </a:srgbClr>
          </a:solidFill>
          <a:ln w="381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3383280"/>
            <a:ext cx="475488" cy="658368"/>
          </a:xfrm>
          <a:prstGeom prst="rect">
            <a:avLst/>
          </a:prstGeom>
          <a:solidFill>
            <a:srgbClr val="00A896">
              <a:alpha val="8000"/>
            </a:srgbClr>
          </a:solidFill>
          <a:ln w="381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66760" y="3383280"/>
            <a:ext cx="475488" cy="658368"/>
          </a:xfrm>
          <a:prstGeom prst="rect">
            <a:avLst/>
          </a:prstGeom>
          <a:solidFill>
            <a:srgbClr val="00A896">
              <a:alpha val="8000"/>
            </a:srgbClr>
          </a:solidFill>
          <a:ln w="381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0" y="4160520"/>
            <a:ext cx="475488" cy="658368"/>
          </a:xfrm>
          <a:prstGeom prst="rect">
            <a:avLst/>
          </a:prstGeom>
          <a:solidFill>
            <a:srgbClr val="00A896">
              <a:alpha val="8000"/>
            </a:srgbClr>
          </a:solidFill>
          <a:ln w="381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78040" y="4160520"/>
            <a:ext cx="475488" cy="658368"/>
          </a:xfrm>
          <a:prstGeom prst="rect">
            <a:avLst/>
          </a:prstGeom>
          <a:solidFill>
            <a:srgbClr val="00A896">
              <a:alpha val="8000"/>
            </a:srgbClr>
          </a:solidFill>
          <a:ln w="381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0" y="4160520"/>
            <a:ext cx="475488" cy="658368"/>
          </a:xfrm>
          <a:prstGeom prst="rect">
            <a:avLst/>
          </a:prstGeom>
          <a:solidFill>
            <a:srgbClr val="00A896">
              <a:alpha val="8000"/>
            </a:srgbClr>
          </a:solidFill>
          <a:ln w="381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66760" y="4160520"/>
            <a:ext cx="475488" cy="658368"/>
          </a:xfrm>
          <a:prstGeom prst="rect">
            <a:avLst/>
          </a:prstGeom>
          <a:solidFill>
            <a:srgbClr val="00A896">
              <a:alpha val="8000"/>
            </a:srgbClr>
          </a:solidFill>
          <a:ln w="3810">
            <a:solidFill>
              <a:srgbClr val="00A896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A-Grid Smart Grid Monitoring System</dc:title>
  <dc:subject>PptxGenJS Presentation</dc:subject>
  <dc:creator>PptxGenJS</dc:creator>
  <cp:lastModifiedBy>PptxGenJS</cp:lastModifiedBy>
  <cp:revision>1</cp:revision>
  <dcterms:created xsi:type="dcterms:W3CDTF">2026-05-16T08:42:18Z</dcterms:created>
  <dcterms:modified xsi:type="dcterms:W3CDTF">2026-05-16T08:42:18Z</dcterms:modified>
</cp:coreProperties>
</file>